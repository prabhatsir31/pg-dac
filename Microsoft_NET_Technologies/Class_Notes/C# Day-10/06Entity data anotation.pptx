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dyanidhi school" initials="vs" lastIdx="1" clrIdx="0">
    <p:extLst>
      <p:ext uri="{19B8F6BF-5375-455C-9EA6-DF929625EA0E}">
        <p15:presenceInfo xmlns:p15="http://schemas.microsoft.com/office/powerpoint/2012/main" userId="f0e35445803ac15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2886F-5DE3-05BD-44B2-F218F947D2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0904773-B3E9-0495-DD03-A87D74D68F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B73846B-5990-28BE-5F72-87071989E761}"/>
              </a:ext>
            </a:extLst>
          </p:cNvPr>
          <p:cNvSpPr>
            <a:spLocks noGrp="1"/>
          </p:cNvSpPr>
          <p:nvPr>
            <p:ph type="dt" sz="half" idx="10"/>
          </p:nvPr>
        </p:nvSpPr>
        <p:spPr/>
        <p:txBody>
          <a:bodyPr/>
          <a:lstStyle/>
          <a:p>
            <a:fld id="{5C0A4A5A-17E8-40AC-9CE0-59F84A740E7B}" type="datetimeFigureOut">
              <a:rPr lang="en-IN" smtClean="0"/>
              <a:t>15-04-2025</a:t>
            </a:fld>
            <a:endParaRPr lang="en-IN"/>
          </a:p>
        </p:txBody>
      </p:sp>
      <p:sp>
        <p:nvSpPr>
          <p:cNvPr id="5" name="Footer Placeholder 4">
            <a:extLst>
              <a:ext uri="{FF2B5EF4-FFF2-40B4-BE49-F238E27FC236}">
                <a16:creationId xmlns:a16="http://schemas.microsoft.com/office/drawing/2014/main" id="{5291A0B6-C7FE-CE42-FEE9-55213BB694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DEFE2F-842F-38EF-8C84-7D945B2BCEFA}"/>
              </a:ext>
            </a:extLst>
          </p:cNvPr>
          <p:cNvSpPr>
            <a:spLocks noGrp="1"/>
          </p:cNvSpPr>
          <p:nvPr>
            <p:ph type="sldNum" sz="quarter" idx="12"/>
          </p:nvPr>
        </p:nvSpPr>
        <p:spPr/>
        <p:txBody>
          <a:bodyPr/>
          <a:lstStyle/>
          <a:p>
            <a:fld id="{81347FE5-CDC1-45D1-9BF8-A3A5E00F7CCC}" type="slidenum">
              <a:rPr lang="en-IN" smtClean="0"/>
              <a:t>‹#›</a:t>
            </a:fld>
            <a:endParaRPr lang="en-IN"/>
          </a:p>
        </p:txBody>
      </p:sp>
    </p:spTree>
    <p:extLst>
      <p:ext uri="{BB962C8B-B14F-4D97-AF65-F5344CB8AC3E}">
        <p14:creationId xmlns:p14="http://schemas.microsoft.com/office/powerpoint/2010/main" val="1343655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595F9-E3CB-53CC-4626-E8C6ED09865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FB2790D-312C-F690-E51D-F235BCAA9F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70F234-6D32-9886-E58B-04873B653F8C}"/>
              </a:ext>
            </a:extLst>
          </p:cNvPr>
          <p:cNvSpPr>
            <a:spLocks noGrp="1"/>
          </p:cNvSpPr>
          <p:nvPr>
            <p:ph type="dt" sz="half" idx="10"/>
          </p:nvPr>
        </p:nvSpPr>
        <p:spPr/>
        <p:txBody>
          <a:bodyPr/>
          <a:lstStyle/>
          <a:p>
            <a:fld id="{5C0A4A5A-17E8-40AC-9CE0-59F84A740E7B}" type="datetimeFigureOut">
              <a:rPr lang="en-IN" smtClean="0"/>
              <a:t>15-04-2025</a:t>
            </a:fld>
            <a:endParaRPr lang="en-IN"/>
          </a:p>
        </p:txBody>
      </p:sp>
      <p:sp>
        <p:nvSpPr>
          <p:cNvPr id="5" name="Footer Placeholder 4">
            <a:extLst>
              <a:ext uri="{FF2B5EF4-FFF2-40B4-BE49-F238E27FC236}">
                <a16:creationId xmlns:a16="http://schemas.microsoft.com/office/drawing/2014/main" id="{357777F9-2432-45C3-AAFF-AF840E30AF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F9D65A-5E76-7E0D-CA84-1A80C8A27224}"/>
              </a:ext>
            </a:extLst>
          </p:cNvPr>
          <p:cNvSpPr>
            <a:spLocks noGrp="1"/>
          </p:cNvSpPr>
          <p:nvPr>
            <p:ph type="sldNum" sz="quarter" idx="12"/>
          </p:nvPr>
        </p:nvSpPr>
        <p:spPr/>
        <p:txBody>
          <a:bodyPr/>
          <a:lstStyle/>
          <a:p>
            <a:fld id="{81347FE5-CDC1-45D1-9BF8-A3A5E00F7CCC}" type="slidenum">
              <a:rPr lang="en-IN" smtClean="0"/>
              <a:t>‹#›</a:t>
            </a:fld>
            <a:endParaRPr lang="en-IN"/>
          </a:p>
        </p:txBody>
      </p:sp>
    </p:spTree>
    <p:extLst>
      <p:ext uri="{BB962C8B-B14F-4D97-AF65-F5344CB8AC3E}">
        <p14:creationId xmlns:p14="http://schemas.microsoft.com/office/powerpoint/2010/main" val="1862182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96DE9-B5D0-A826-452A-740694AB54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53669CE-BA9E-2D58-BB5A-FE38DE5EC7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14A4CE-477D-E837-1A25-F3D8FB57FB55}"/>
              </a:ext>
            </a:extLst>
          </p:cNvPr>
          <p:cNvSpPr>
            <a:spLocks noGrp="1"/>
          </p:cNvSpPr>
          <p:nvPr>
            <p:ph type="dt" sz="half" idx="10"/>
          </p:nvPr>
        </p:nvSpPr>
        <p:spPr/>
        <p:txBody>
          <a:bodyPr/>
          <a:lstStyle/>
          <a:p>
            <a:fld id="{5C0A4A5A-17E8-40AC-9CE0-59F84A740E7B}" type="datetimeFigureOut">
              <a:rPr lang="en-IN" smtClean="0"/>
              <a:t>15-04-2025</a:t>
            </a:fld>
            <a:endParaRPr lang="en-IN"/>
          </a:p>
        </p:txBody>
      </p:sp>
      <p:sp>
        <p:nvSpPr>
          <p:cNvPr id="5" name="Footer Placeholder 4">
            <a:extLst>
              <a:ext uri="{FF2B5EF4-FFF2-40B4-BE49-F238E27FC236}">
                <a16:creationId xmlns:a16="http://schemas.microsoft.com/office/drawing/2014/main" id="{0E3BF06C-CC98-7925-7EE3-374DA8F1D5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D26413-4CE9-AF41-DF5E-069CDC45A33F}"/>
              </a:ext>
            </a:extLst>
          </p:cNvPr>
          <p:cNvSpPr>
            <a:spLocks noGrp="1"/>
          </p:cNvSpPr>
          <p:nvPr>
            <p:ph type="sldNum" sz="quarter" idx="12"/>
          </p:nvPr>
        </p:nvSpPr>
        <p:spPr/>
        <p:txBody>
          <a:bodyPr/>
          <a:lstStyle/>
          <a:p>
            <a:fld id="{81347FE5-CDC1-45D1-9BF8-A3A5E00F7CCC}" type="slidenum">
              <a:rPr lang="en-IN" smtClean="0"/>
              <a:t>‹#›</a:t>
            </a:fld>
            <a:endParaRPr lang="en-IN"/>
          </a:p>
        </p:txBody>
      </p:sp>
    </p:spTree>
    <p:extLst>
      <p:ext uri="{BB962C8B-B14F-4D97-AF65-F5344CB8AC3E}">
        <p14:creationId xmlns:p14="http://schemas.microsoft.com/office/powerpoint/2010/main" val="14443449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71493-8639-E89A-2B64-CC4232CEDD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6EF0E49-1FAA-3F67-5F42-3F4C6E22E1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B029584-8829-BD55-964B-575F7689DB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6E8006-B922-055D-D4D8-6783F5DE87A4}"/>
              </a:ext>
            </a:extLst>
          </p:cNvPr>
          <p:cNvSpPr>
            <a:spLocks noGrp="1"/>
          </p:cNvSpPr>
          <p:nvPr>
            <p:ph type="dt" sz="half" idx="10"/>
          </p:nvPr>
        </p:nvSpPr>
        <p:spPr/>
        <p:txBody>
          <a:bodyPr/>
          <a:lstStyle/>
          <a:p>
            <a:fld id="{5C0A4A5A-17E8-40AC-9CE0-59F84A740E7B}" type="datetimeFigureOut">
              <a:rPr lang="en-IN" smtClean="0"/>
              <a:t>15-04-2025</a:t>
            </a:fld>
            <a:endParaRPr lang="en-IN"/>
          </a:p>
        </p:txBody>
      </p:sp>
      <p:sp>
        <p:nvSpPr>
          <p:cNvPr id="6" name="Footer Placeholder 5">
            <a:extLst>
              <a:ext uri="{FF2B5EF4-FFF2-40B4-BE49-F238E27FC236}">
                <a16:creationId xmlns:a16="http://schemas.microsoft.com/office/drawing/2014/main" id="{3048C21C-2A6A-01DB-C28B-C4DB0E89E6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99F7E3-302F-CAD6-D978-1E819725BD3D}"/>
              </a:ext>
            </a:extLst>
          </p:cNvPr>
          <p:cNvSpPr>
            <a:spLocks noGrp="1"/>
          </p:cNvSpPr>
          <p:nvPr>
            <p:ph type="sldNum" sz="quarter" idx="12"/>
          </p:nvPr>
        </p:nvSpPr>
        <p:spPr/>
        <p:txBody>
          <a:bodyPr/>
          <a:lstStyle/>
          <a:p>
            <a:fld id="{81347FE5-CDC1-45D1-9BF8-A3A5E00F7CCC}" type="slidenum">
              <a:rPr lang="en-IN" smtClean="0"/>
              <a:t>‹#›</a:t>
            </a:fld>
            <a:endParaRPr lang="en-IN"/>
          </a:p>
        </p:txBody>
      </p:sp>
    </p:spTree>
    <p:extLst>
      <p:ext uri="{BB962C8B-B14F-4D97-AF65-F5344CB8AC3E}">
        <p14:creationId xmlns:p14="http://schemas.microsoft.com/office/powerpoint/2010/main" val="2878876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6BB1C-E86C-5D6C-A63E-3C4DAE5B064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408B4C7-52E0-1C60-CFD6-EBB39F6EC0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21C01C-C043-5B84-3D91-FE60C934B3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DF386BF-6A16-EEF6-08A2-64CF2DE3A5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0B713F-EC95-5827-DD8D-1D20B53FFA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28130FD-8FE7-CDA8-E4DF-752F26524979}"/>
              </a:ext>
            </a:extLst>
          </p:cNvPr>
          <p:cNvSpPr>
            <a:spLocks noGrp="1"/>
          </p:cNvSpPr>
          <p:nvPr>
            <p:ph type="dt" sz="half" idx="10"/>
          </p:nvPr>
        </p:nvSpPr>
        <p:spPr/>
        <p:txBody>
          <a:bodyPr/>
          <a:lstStyle/>
          <a:p>
            <a:fld id="{5C0A4A5A-17E8-40AC-9CE0-59F84A740E7B}" type="datetimeFigureOut">
              <a:rPr lang="en-IN" smtClean="0"/>
              <a:t>15-04-2025</a:t>
            </a:fld>
            <a:endParaRPr lang="en-IN"/>
          </a:p>
        </p:txBody>
      </p:sp>
      <p:sp>
        <p:nvSpPr>
          <p:cNvPr id="8" name="Footer Placeholder 7">
            <a:extLst>
              <a:ext uri="{FF2B5EF4-FFF2-40B4-BE49-F238E27FC236}">
                <a16:creationId xmlns:a16="http://schemas.microsoft.com/office/drawing/2014/main" id="{4B1AE35A-D0A5-9055-C172-594ACF1981D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ECE0BC8-6082-1349-6615-B7D1E0938847}"/>
              </a:ext>
            </a:extLst>
          </p:cNvPr>
          <p:cNvSpPr>
            <a:spLocks noGrp="1"/>
          </p:cNvSpPr>
          <p:nvPr>
            <p:ph type="sldNum" sz="quarter" idx="12"/>
          </p:nvPr>
        </p:nvSpPr>
        <p:spPr/>
        <p:txBody>
          <a:bodyPr/>
          <a:lstStyle/>
          <a:p>
            <a:fld id="{81347FE5-CDC1-45D1-9BF8-A3A5E00F7CCC}" type="slidenum">
              <a:rPr lang="en-IN" smtClean="0"/>
              <a:t>‹#›</a:t>
            </a:fld>
            <a:endParaRPr lang="en-IN"/>
          </a:p>
        </p:txBody>
      </p:sp>
    </p:spTree>
    <p:extLst>
      <p:ext uri="{BB962C8B-B14F-4D97-AF65-F5344CB8AC3E}">
        <p14:creationId xmlns:p14="http://schemas.microsoft.com/office/powerpoint/2010/main" val="2016773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6F089-6C17-6AD3-7850-074B062F921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7906A15-7AA3-8623-631C-417C891A1D9B}"/>
              </a:ext>
            </a:extLst>
          </p:cNvPr>
          <p:cNvSpPr>
            <a:spLocks noGrp="1"/>
          </p:cNvSpPr>
          <p:nvPr>
            <p:ph type="dt" sz="half" idx="10"/>
          </p:nvPr>
        </p:nvSpPr>
        <p:spPr/>
        <p:txBody>
          <a:bodyPr/>
          <a:lstStyle/>
          <a:p>
            <a:fld id="{5C0A4A5A-17E8-40AC-9CE0-59F84A740E7B}" type="datetimeFigureOut">
              <a:rPr lang="en-IN" smtClean="0"/>
              <a:t>15-04-2025</a:t>
            </a:fld>
            <a:endParaRPr lang="en-IN"/>
          </a:p>
        </p:txBody>
      </p:sp>
      <p:sp>
        <p:nvSpPr>
          <p:cNvPr id="4" name="Footer Placeholder 3">
            <a:extLst>
              <a:ext uri="{FF2B5EF4-FFF2-40B4-BE49-F238E27FC236}">
                <a16:creationId xmlns:a16="http://schemas.microsoft.com/office/drawing/2014/main" id="{54CF53BC-E4D3-922E-6DBA-82C2DDC0E3F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A3D33BA-E8FB-6A56-A6F6-C1AB430DF640}"/>
              </a:ext>
            </a:extLst>
          </p:cNvPr>
          <p:cNvSpPr>
            <a:spLocks noGrp="1"/>
          </p:cNvSpPr>
          <p:nvPr>
            <p:ph type="sldNum" sz="quarter" idx="12"/>
          </p:nvPr>
        </p:nvSpPr>
        <p:spPr/>
        <p:txBody>
          <a:bodyPr/>
          <a:lstStyle/>
          <a:p>
            <a:fld id="{81347FE5-CDC1-45D1-9BF8-A3A5E00F7CCC}" type="slidenum">
              <a:rPr lang="en-IN" smtClean="0"/>
              <a:t>‹#›</a:t>
            </a:fld>
            <a:endParaRPr lang="en-IN"/>
          </a:p>
        </p:txBody>
      </p:sp>
    </p:spTree>
    <p:extLst>
      <p:ext uri="{BB962C8B-B14F-4D97-AF65-F5344CB8AC3E}">
        <p14:creationId xmlns:p14="http://schemas.microsoft.com/office/powerpoint/2010/main" val="26130408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8392F4-1A5E-64DB-A906-065EA0623C18}"/>
              </a:ext>
            </a:extLst>
          </p:cNvPr>
          <p:cNvSpPr>
            <a:spLocks noGrp="1"/>
          </p:cNvSpPr>
          <p:nvPr>
            <p:ph type="dt" sz="half" idx="10"/>
          </p:nvPr>
        </p:nvSpPr>
        <p:spPr/>
        <p:txBody>
          <a:bodyPr/>
          <a:lstStyle/>
          <a:p>
            <a:fld id="{5C0A4A5A-17E8-40AC-9CE0-59F84A740E7B}" type="datetimeFigureOut">
              <a:rPr lang="en-IN" smtClean="0"/>
              <a:t>15-04-2025</a:t>
            </a:fld>
            <a:endParaRPr lang="en-IN"/>
          </a:p>
        </p:txBody>
      </p:sp>
      <p:sp>
        <p:nvSpPr>
          <p:cNvPr id="3" name="Footer Placeholder 2">
            <a:extLst>
              <a:ext uri="{FF2B5EF4-FFF2-40B4-BE49-F238E27FC236}">
                <a16:creationId xmlns:a16="http://schemas.microsoft.com/office/drawing/2014/main" id="{7EF50727-60AC-1796-7F12-A66233C67F8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A750999-F283-200D-A82B-DB2220CF4022}"/>
              </a:ext>
            </a:extLst>
          </p:cNvPr>
          <p:cNvSpPr>
            <a:spLocks noGrp="1"/>
          </p:cNvSpPr>
          <p:nvPr>
            <p:ph type="sldNum" sz="quarter" idx="12"/>
          </p:nvPr>
        </p:nvSpPr>
        <p:spPr/>
        <p:txBody>
          <a:bodyPr/>
          <a:lstStyle/>
          <a:p>
            <a:fld id="{81347FE5-CDC1-45D1-9BF8-A3A5E00F7CCC}" type="slidenum">
              <a:rPr lang="en-IN" smtClean="0"/>
              <a:t>‹#›</a:t>
            </a:fld>
            <a:endParaRPr lang="en-IN"/>
          </a:p>
        </p:txBody>
      </p:sp>
    </p:spTree>
    <p:extLst>
      <p:ext uri="{BB962C8B-B14F-4D97-AF65-F5344CB8AC3E}">
        <p14:creationId xmlns:p14="http://schemas.microsoft.com/office/powerpoint/2010/main" val="3757827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64F4A-024B-11F2-D1B4-0B73006685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3F16DE1-8FE6-E2E5-E7D5-FE13135468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91770F5-C672-7063-BB1C-96EEFC5BC6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0E9CCA-4EBB-1C1F-3A3B-86E659951547}"/>
              </a:ext>
            </a:extLst>
          </p:cNvPr>
          <p:cNvSpPr>
            <a:spLocks noGrp="1"/>
          </p:cNvSpPr>
          <p:nvPr>
            <p:ph type="dt" sz="half" idx="10"/>
          </p:nvPr>
        </p:nvSpPr>
        <p:spPr/>
        <p:txBody>
          <a:bodyPr/>
          <a:lstStyle/>
          <a:p>
            <a:fld id="{5C0A4A5A-17E8-40AC-9CE0-59F84A740E7B}" type="datetimeFigureOut">
              <a:rPr lang="en-IN" smtClean="0"/>
              <a:t>15-04-2025</a:t>
            </a:fld>
            <a:endParaRPr lang="en-IN"/>
          </a:p>
        </p:txBody>
      </p:sp>
      <p:sp>
        <p:nvSpPr>
          <p:cNvPr id="6" name="Footer Placeholder 5">
            <a:extLst>
              <a:ext uri="{FF2B5EF4-FFF2-40B4-BE49-F238E27FC236}">
                <a16:creationId xmlns:a16="http://schemas.microsoft.com/office/drawing/2014/main" id="{8B9487F9-51A7-4136-0A7F-C85A7517715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ACA7063-AB03-E4DB-FC48-81AABFE02F60}"/>
              </a:ext>
            </a:extLst>
          </p:cNvPr>
          <p:cNvSpPr>
            <a:spLocks noGrp="1"/>
          </p:cNvSpPr>
          <p:nvPr>
            <p:ph type="sldNum" sz="quarter" idx="12"/>
          </p:nvPr>
        </p:nvSpPr>
        <p:spPr/>
        <p:txBody>
          <a:bodyPr/>
          <a:lstStyle/>
          <a:p>
            <a:fld id="{81347FE5-CDC1-45D1-9BF8-A3A5E00F7CCC}" type="slidenum">
              <a:rPr lang="en-IN" smtClean="0"/>
              <a:t>‹#›</a:t>
            </a:fld>
            <a:endParaRPr lang="en-IN"/>
          </a:p>
        </p:txBody>
      </p:sp>
    </p:spTree>
    <p:extLst>
      <p:ext uri="{BB962C8B-B14F-4D97-AF65-F5344CB8AC3E}">
        <p14:creationId xmlns:p14="http://schemas.microsoft.com/office/powerpoint/2010/main" val="1605702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27EEC-7557-6795-430E-728E12A15D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FB3DE96-CB88-A8C0-3871-5C9C36B3F9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CBC8DC3-36A6-0B42-0CC5-33F0DA1CF5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9E7D5E-4162-E721-6432-BFF712F67353}"/>
              </a:ext>
            </a:extLst>
          </p:cNvPr>
          <p:cNvSpPr>
            <a:spLocks noGrp="1"/>
          </p:cNvSpPr>
          <p:nvPr>
            <p:ph type="dt" sz="half" idx="10"/>
          </p:nvPr>
        </p:nvSpPr>
        <p:spPr/>
        <p:txBody>
          <a:bodyPr/>
          <a:lstStyle/>
          <a:p>
            <a:fld id="{5C0A4A5A-17E8-40AC-9CE0-59F84A740E7B}" type="datetimeFigureOut">
              <a:rPr lang="en-IN" smtClean="0"/>
              <a:t>15-04-2025</a:t>
            </a:fld>
            <a:endParaRPr lang="en-IN"/>
          </a:p>
        </p:txBody>
      </p:sp>
      <p:sp>
        <p:nvSpPr>
          <p:cNvPr id="6" name="Footer Placeholder 5">
            <a:extLst>
              <a:ext uri="{FF2B5EF4-FFF2-40B4-BE49-F238E27FC236}">
                <a16:creationId xmlns:a16="http://schemas.microsoft.com/office/drawing/2014/main" id="{6A41E09B-AD40-F084-C8E4-39545A730D2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C1AF204-DD62-93A8-023A-12B4F5033311}"/>
              </a:ext>
            </a:extLst>
          </p:cNvPr>
          <p:cNvSpPr>
            <a:spLocks noGrp="1"/>
          </p:cNvSpPr>
          <p:nvPr>
            <p:ph type="sldNum" sz="quarter" idx="12"/>
          </p:nvPr>
        </p:nvSpPr>
        <p:spPr/>
        <p:txBody>
          <a:bodyPr/>
          <a:lstStyle/>
          <a:p>
            <a:fld id="{81347FE5-CDC1-45D1-9BF8-A3A5E00F7CCC}" type="slidenum">
              <a:rPr lang="en-IN" smtClean="0"/>
              <a:t>‹#›</a:t>
            </a:fld>
            <a:endParaRPr lang="en-IN"/>
          </a:p>
        </p:txBody>
      </p:sp>
    </p:spTree>
    <p:extLst>
      <p:ext uri="{BB962C8B-B14F-4D97-AF65-F5344CB8AC3E}">
        <p14:creationId xmlns:p14="http://schemas.microsoft.com/office/powerpoint/2010/main" val="42920952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782F0-127A-0500-EE46-6CEAFF7C1B2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5E074EA-8C34-AA99-6F5B-837FE8A605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646A19-B395-454D-C725-4D493D7B6AB9}"/>
              </a:ext>
            </a:extLst>
          </p:cNvPr>
          <p:cNvSpPr>
            <a:spLocks noGrp="1"/>
          </p:cNvSpPr>
          <p:nvPr>
            <p:ph type="dt" sz="half" idx="10"/>
          </p:nvPr>
        </p:nvSpPr>
        <p:spPr/>
        <p:txBody>
          <a:bodyPr/>
          <a:lstStyle/>
          <a:p>
            <a:fld id="{5C0A4A5A-17E8-40AC-9CE0-59F84A740E7B}" type="datetimeFigureOut">
              <a:rPr lang="en-IN" smtClean="0"/>
              <a:t>15-04-2025</a:t>
            </a:fld>
            <a:endParaRPr lang="en-IN"/>
          </a:p>
        </p:txBody>
      </p:sp>
      <p:sp>
        <p:nvSpPr>
          <p:cNvPr id="5" name="Footer Placeholder 4">
            <a:extLst>
              <a:ext uri="{FF2B5EF4-FFF2-40B4-BE49-F238E27FC236}">
                <a16:creationId xmlns:a16="http://schemas.microsoft.com/office/drawing/2014/main" id="{32A03017-46D3-A57B-A070-9CCDB571EC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0BF2BB-5920-D00A-EF3D-86B54A1AB94A}"/>
              </a:ext>
            </a:extLst>
          </p:cNvPr>
          <p:cNvSpPr>
            <a:spLocks noGrp="1"/>
          </p:cNvSpPr>
          <p:nvPr>
            <p:ph type="sldNum" sz="quarter" idx="12"/>
          </p:nvPr>
        </p:nvSpPr>
        <p:spPr/>
        <p:txBody>
          <a:bodyPr/>
          <a:lstStyle/>
          <a:p>
            <a:fld id="{81347FE5-CDC1-45D1-9BF8-A3A5E00F7CCC}" type="slidenum">
              <a:rPr lang="en-IN" smtClean="0"/>
              <a:t>‹#›</a:t>
            </a:fld>
            <a:endParaRPr lang="en-IN"/>
          </a:p>
        </p:txBody>
      </p:sp>
    </p:spTree>
    <p:extLst>
      <p:ext uri="{BB962C8B-B14F-4D97-AF65-F5344CB8AC3E}">
        <p14:creationId xmlns:p14="http://schemas.microsoft.com/office/powerpoint/2010/main" val="1616391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61C313-A687-2A20-1EF4-B43A583CA27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D64AD3-5774-1143-26B8-FEF447B966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ED4F56-81B1-2A53-3652-E69E9FB373D3}"/>
              </a:ext>
            </a:extLst>
          </p:cNvPr>
          <p:cNvSpPr>
            <a:spLocks noGrp="1"/>
          </p:cNvSpPr>
          <p:nvPr>
            <p:ph type="dt" sz="half" idx="10"/>
          </p:nvPr>
        </p:nvSpPr>
        <p:spPr/>
        <p:txBody>
          <a:bodyPr/>
          <a:lstStyle/>
          <a:p>
            <a:fld id="{5C0A4A5A-17E8-40AC-9CE0-59F84A740E7B}" type="datetimeFigureOut">
              <a:rPr lang="en-IN" smtClean="0"/>
              <a:t>15-04-2025</a:t>
            </a:fld>
            <a:endParaRPr lang="en-IN"/>
          </a:p>
        </p:txBody>
      </p:sp>
      <p:sp>
        <p:nvSpPr>
          <p:cNvPr id="5" name="Footer Placeholder 4">
            <a:extLst>
              <a:ext uri="{FF2B5EF4-FFF2-40B4-BE49-F238E27FC236}">
                <a16:creationId xmlns:a16="http://schemas.microsoft.com/office/drawing/2014/main" id="{61DDEAF8-477C-E7D0-311C-06F7D14017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2E0DAA-8DC8-B105-0E96-5A5FEFA9BC1C}"/>
              </a:ext>
            </a:extLst>
          </p:cNvPr>
          <p:cNvSpPr>
            <a:spLocks noGrp="1"/>
          </p:cNvSpPr>
          <p:nvPr>
            <p:ph type="sldNum" sz="quarter" idx="12"/>
          </p:nvPr>
        </p:nvSpPr>
        <p:spPr/>
        <p:txBody>
          <a:bodyPr/>
          <a:lstStyle/>
          <a:p>
            <a:fld id="{81347FE5-CDC1-45D1-9BF8-A3A5E00F7CCC}" type="slidenum">
              <a:rPr lang="en-IN" smtClean="0"/>
              <a:t>‹#›</a:t>
            </a:fld>
            <a:endParaRPr lang="en-IN"/>
          </a:p>
        </p:txBody>
      </p:sp>
    </p:spTree>
    <p:extLst>
      <p:ext uri="{BB962C8B-B14F-4D97-AF65-F5344CB8AC3E}">
        <p14:creationId xmlns:p14="http://schemas.microsoft.com/office/powerpoint/2010/main" val="916174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F08FEF-C17D-12E1-F224-25C72421AD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8E510D-8E76-C24A-DED3-B1674107E3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15A60B-FA72-BBEB-BAE6-C922AC473D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0A4A5A-17E8-40AC-9CE0-59F84A740E7B}" type="datetimeFigureOut">
              <a:rPr lang="en-IN" smtClean="0"/>
              <a:t>15-04-2025</a:t>
            </a:fld>
            <a:endParaRPr lang="en-IN"/>
          </a:p>
        </p:txBody>
      </p:sp>
      <p:sp>
        <p:nvSpPr>
          <p:cNvPr id="5" name="Footer Placeholder 4">
            <a:extLst>
              <a:ext uri="{FF2B5EF4-FFF2-40B4-BE49-F238E27FC236}">
                <a16:creationId xmlns:a16="http://schemas.microsoft.com/office/drawing/2014/main" id="{08C94373-9F60-243D-CB3C-CC6E3F4E9B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D695B3E-980A-C7DD-1205-5686F96E87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347FE5-CDC1-45D1-9BF8-A3A5E00F7CCC}" type="slidenum">
              <a:rPr lang="en-IN" smtClean="0"/>
              <a:t>‹#›</a:t>
            </a:fld>
            <a:endParaRPr lang="en-IN"/>
          </a:p>
        </p:txBody>
      </p:sp>
    </p:spTree>
    <p:extLst>
      <p:ext uri="{BB962C8B-B14F-4D97-AF65-F5344CB8AC3E}">
        <p14:creationId xmlns:p14="http://schemas.microsoft.com/office/powerpoint/2010/main" val="760018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learnentityframeworkcore.com/configuration/fluent-api/isconcurrencytoken-method"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learnentityframeworkcore.com/configuration/fluent-api/hasforeignkey-method"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learnentityframeworkcore.com/conventions#primary-key"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learnentityframeworkcore.com/configuration/fluent-api/ignore-method"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learnentityframeworkcore.com/configuration/fluent-api/hasmaxlength-method" TargetMode="External"/><Relationship Id="rId2" Type="http://schemas.openxmlformats.org/officeDocument/2006/relationships/hyperlink" Target="https://www.learnentityframeworkcore.com/configuration/data-annotation-attributes/maxlength-attribute"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03109A7-F372-C47D-059A-7815B54291A6}"/>
              </a:ext>
            </a:extLst>
          </p:cNvPr>
          <p:cNvSpPr txBox="1"/>
          <p:nvPr/>
        </p:nvSpPr>
        <p:spPr>
          <a:xfrm>
            <a:off x="200712" y="369332"/>
            <a:ext cx="11658599" cy="1754326"/>
          </a:xfrm>
          <a:prstGeom prst="rect">
            <a:avLst/>
          </a:prstGeom>
          <a:noFill/>
        </p:spPr>
        <p:txBody>
          <a:bodyPr wrap="square">
            <a:spAutoFit/>
          </a:bodyPr>
          <a:lstStyle/>
          <a:p>
            <a:r>
              <a:rPr lang="en-US" dirty="0"/>
              <a:t>Configuration enables you to override EF Core's default </a:t>
            </a:r>
            <a:r>
              <a:rPr lang="en-US" dirty="0" err="1"/>
              <a:t>behaviour</a:t>
            </a:r>
            <a:r>
              <a:rPr lang="en-US" dirty="0"/>
              <a:t>. Configuration can be applied in two ways, using the Fluent API, and through </a:t>
            </a:r>
            <a:r>
              <a:rPr lang="en-US" dirty="0" err="1"/>
              <a:t>DataAnnotation</a:t>
            </a:r>
            <a:r>
              <a:rPr lang="en-US" dirty="0"/>
              <a:t> attributes.</a:t>
            </a:r>
          </a:p>
          <a:p>
            <a:endParaRPr lang="en-US" dirty="0"/>
          </a:p>
          <a:p>
            <a:r>
              <a:rPr lang="en-US" dirty="0"/>
              <a:t>Attributes are a kind of tag that you can place on a class or property to specify metadata about that class or property. Entity Framework Core makes use of attributes defined in the </a:t>
            </a:r>
            <a:r>
              <a:rPr lang="en-US" dirty="0" err="1"/>
              <a:t>System.ComponentModel.DataAnnotations.Schema</a:t>
            </a:r>
            <a:r>
              <a:rPr lang="en-US" dirty="0"/>
              <a:t> and </a:t>
            </a:r>
            <a:r>
              <a:rPr lang="en-US" dirty="0" err="1"/>
              <a:t>System.ComponentModel.DataAnnotations</a:t>
            </a:r>
            <a:r>
              <a:rPr lang="en-US" dirty="0"/>
              <a:t> namespaces.</a:t>
            </a:r>
            <a:endParaRPr lang="en-IN" dirty="0"/>
          </a:p>
        </p:txBody>
      </p:sp>
      <p:sp>
        <p:nvSpPr>
          <p:cNvPr id="7" name="TextBox 6">
            <a:extLst>
              <a:ext uri="{FF2B5EF4-FFF2-40B4-BE49-F238E27FC236}">
                <a16:creationId xmlns:a16="http://schemas.microsoft.com/office/drawing/2014/main" id="{5F810188-8285-2AB4-F861-D3BF2175F576}"/>
              </a:ext>
            </a:extLst>
          </p:cNvPr>
          <p:cNvSpPr txBox="1"/>
          <p:nvPr/>
        </p:nvSpPr>
        <p:spPr>
          <a:xfrm>
            <a:off x="3650530" y="0"/>
            <a:ext cx="6094428" cy="369332"/>
          </a:xfrm>
          <a:prstGeom prst="rect">
            <a:avLst/>
          </a:prstGeom>
          <a:noFill/>
        </p:spPr>
        <p:txBody>
          <a:bodyPr wrap="square">
            <a:spAutoFit/>
          </a:bodyPr>
          <a:lstStyle/>
          <a:p>
            <a:pPr algn="l"/>
            <a:r>
              <a:rPr lang="en-IN" b="0" i="0" dirty="0">
                <a:solidFill>
                  <a:srgbClr val="004867"/>
                </a:solidFill>
                <a:effectLst/>
                <a:latin typeface="Roboto" panose="02000000000000000000" pitchFamily="2" charset="0"/>
              </a:rPr>
              <a:t>Data Annotations Attributes</a:t>
            </a:r>
          </a:p>
        </p:txBody>
      </p:sp>
      <p:graphicFrame>
        <p:nvGraphicFramePr>
          <p:cNvPr id="10" name="Table 9">
            <a:extLst>
              <a:ext uri="{FF2B5EF4-FFF2-40B4-BE49-F238E27FC236}">
                <a16:creationId xmlns:a16="http://schemas.microsoft.com/office/drawing/2014/main" id="{0AABD138-2E86-97DE-2E2B-46E6C6FF63DE}"/>
              </a:ext>
            </a:extLst>
          </p:cNvPr>
          <p:cNvGraphicFramePr>
            <a:graphicFrameLocks noGrp="1"/>
          </p:cNvGraphicFramePr>
          <p:nvPr>
            <p:extLst>
              <p:ext uri="{D42A27DB-BD31-4B8C-83A1-F6EECF244321}">
                <p14:modId xmlns:p14="http://schemas.microsoft.com/office/powerpoint/2010/main" val="3412925546"/>
              </p:ext>
            </p:extLst>
          </p:nvPr>
        </p:nvGraphicFramePr>
        <p:xfrm>
          <a:off x="6697744" y="2518288"/>
          <a:ext cx="5293544" cy="4366392"/>
        </p:xfrm>
        <a:graphic>
          <a:graphicData uri="http://schemas.openxmlformats.org/drawingml/2006/table">
            <a:tbl>
              <a:tblPr/>
              <a:tblGrid>
                <a:gridCol w="1809442">
                  <a:extLst>
                    <a:ext uri="{9D8B030D-6E8A-4147-A177-3AD203B41FA5}">
                      <a16:colId xmlns:a16="http://schemas.microsoft.com/office/drawing/2014/main" val="513609072"/>
                    </a:ext>
                  </a:extLst>
                </a:gridCol>
                <a:gridCol w="3484102">
                  <a:extLst>
                    <a:ext uri="{9D8B030D-6E8A-4147-A177-3AD203B41FA5}">
                      <a16:colId xmlns:a16="http://schemas.microsoft.com/office/drawing/2014/main" val="190695555"/>
                    </a:ext>
                  </a:extLst>
                </a:gridCol>
              </a:tblGrid>
              <a:tr h="305770">
                <a:tc>
                  <a:txBody>
                    <a:bodyPr/>
                    <a:lstStyle/>
                    <a:p>
                      <a:pPr algn="l" fontAlgn="b"/>
                      <a:r>
                        <a:rPr lang="en-IN" sz="1400">
                          <a:effectLst/>
                        </a:rPr>
                        <a:t>Attribute</a:t>
                      </a:r>
                    </a:p>
                  </a:txBody>
                  <a:tcPr marL="47041" marR="47041" marT="47041" marB="47041" anchor="b">
                    <a:lnL>
                      <a:noFill/>
                    </a:lnL>
                    <a:lnR>
                      <a:noFill/>
                    </a:lnR>
                    <a:lnT>
                      <a:noFill/>
                    </a:lnT>
                    <a:lnB w="7620" cap="flat" cmpd="sng" algn="ctr">
                      <a:solidFill>
                        <a:srgbClr val="DDDDDD"/>
                      </a:solidFill>
                      <a:prstDash val="solid"/>
                      <a:round/>
                      <a:headEnd type="none" w="med" len="med"/>
                      <a:tailEnd type="none" w="med" len="med"/>
                    </a:lnB>
                    <a:solidFill>
                      <a:srgbClr val="FFFFFF"/>
                    </a:solidFill>
                  </a:tcPr>
                </a:tc>
                <a:tc>
                  <a:txBody>
                    <a:bodyPr/>
                    <a:lstStyle/>
                    <a:p>
                      <a:pPr algn="l" fontAlgn="b"/>
                      <a:r>
                        <a:rPr lang="en-IN" sz="1400">
                          <a:effectLst/>
                        </a:rPr>
                        <a:t>Description</a:t>
                      </a:r>
                    </a:p>
                  </a:txBody>
                  <a:tcPr marL="47041" marR="47041" marT="47041" marB="47041" anchor="b">
                    <a:lnL>
                      <a:noFill/>
                    </a:lnL>
                    <a:lnR>
                      <a:noFill/>
                    </a:lnR>
                    <a:lnT>
                      <a:noFill/>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562646892"/>
                  </a:ext>
                </a:extLst>
              </a:tr>
              <a:tr h="517456">
                <a:tc>
                  <a:txBody>
                    <a:bodyPr/>
                    <a:lstStyle/>
                    <a:p>
                      <a:pPr algn="l" fontAlgn="t"/>
                      <a:r>
                        <a:rPr lang="en-IN" sz="1400" b="1" u="sng" dirty="0">
                          <a:solidFill>
                            <a:srgbClr val="000000"/>
                          </a:solidFill>
                          <a:effectLst/>
                        </a:rPr>
                        <a:t>Table</a:t>
                      </a:r>
                      <a:endParaRPr lang="en-IN" sz="1400" dirty="0">
                        <a:effectLst/>
                      </a:endParaRPr>
                    </a:p>
                  </a:txBody>
                  <a:tcPr marL="47041" marR="47041" marT="47041" marB="47041">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400">
                          <a:effectLst/>
                        </a:rPr>
                        <a:t>The database table and/or schema that a class is mapped to.</a:t>
                      </a:r>
                    </a:p>
                  </a:txBody>
                  <a:tcPr marL="47041" marR="47041" marT="47041" marB="47041">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584272902"/>
                  </a:ext>
                </a:extLst>
              </a:tr>
              <a:tr h="517456">
                <a:tc>
                  <a:txBody>
                    <a:bodyPr/>
                    <a:lstStyle/>
                    <a:p>
                      <a:pPr algn="l" fontAlgn="t"/>
                      <a:r>
                        <a:rPr lang="en-IN" sz="1400" b="1" u="sng" dirty="0">
                          <a:solidFill>
                            <a:srgbClr val="000000"/>
                          </a:solidFill>
                          <a:effectLst/>
                        </a:rPr>
                        <a:t>Column</a:t>
                      </a:r>
                      <a:endParaRPr lang="en-IN" sz="1400" dirty="0">
                        <a:effectLst/>
                      </a:endParaRPr>
                    </a:p>
                  </a:txBody>
                  <a:tcPr marL="47041" marR="47041" marT="47041" marB="47041">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400" dirty="0">
                          <a:effectLst/>
                        </a:rPr>
                        <a:t>The database column that a property is mapped to.</a:t>
                      </a:r>
                    </a:p>
                  </a:txBody>
                  <a:tcPr marL="47041" marR="47041" marT="47041" marB="47041">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445735190"/>
                  </a:ext>
                </a:extLst>
              </a:tr>
              <a:tr h="517456">
                <a:tc>
                  <a:txBody>
                    <a:bodyPr/>
                    <a:lstStyle/>
                    <a:p>
                      <a:pPr algn="l" fontAlgn="t"/>
                      <a:r>
                        <a:rPr lang="en-IN" sz="1400" b="1" u="sng" dirty="0" err="1">
                          <a:solidFill>
                            <a:srgbClr val="000000"/>
                          </a:solidFill>
                          <a:effectLst/>
                        </a:rPr>
                        <a:t>ForeignKey</a:t>
                      </a:r>
                      <a:endParaRPr lang="en-IN" sz="1400" dirty="0">
                        <a:effectLst/>
                      </a:endParaRPr>
                    </a:p>
                  </a:txBody>
                  <a:tcPr marL="47041" marR="47041" marT="47041" marB="47041">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400">
                          <a:effectLst/>
                        </a:rPr>
                        <a:t>Specifies the property is used as a foreign key in a relationship.</a:t>
                      </a:r>
                    </a:p>
                  </a:txBody>
                  <a:tcPr marL="47041" marR="47041" marT="47041" marB="47041">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413717721"/>
                  </a:ext>
                </a:extLst>
              </a:tr>
              <a:tr h="517456">
                <a:tc>
                  <a:txBody>
                    <a:bodyPr/>
                    <a:lstStyle/>
                    <a:p>
                      <a:pPr algn="l" fontAlgn="t"/>
                      <a:r>
                        <a:rPr lang="en-IN" sz="1400" b="1" u="sng" dirty="0" err="1">
                          <a:solidFill>
                            <a:srgbClr val="000000"/>
                          </a:solidFill>
                          <a:effectLst/>
                        </a:rPr>
                        <a:t>DatabaseGenerated</a:t>
                      </a:r>
                      <a:endParaRPr lang="en-IN" sz="1400" dirty="0">
                        <a:effectLst/>
                      </a:endParaRPr>
                    </a:p>
                  </a:txBody>
                  <a:tcPr marL="47041" marR="47041" marT="47041" marB="47041">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400">
                          <a:effectLst/>
                        </a:rPr>
                        <a:t>Specifies how the database generates values for a property.</a:t>
                      </a:r>
                    </a:p>
                  </a:txBody>
                  <a:tcPr marL="47041" marR="47041" marT="47041" marB="47041">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13013935"/>
                  </a:ext>
                </a:extLst>
              </a:tr>
              <a:tr h="729143">
                <a:tc>
                  <a:txBody>
                    <a:bodyPr/>
                    <a:lstStyle/>
                    <a:p>
                      <a:pPr algn="l" fontAlgn="t"/>
                      <a:r>
                        <a:rPr lang="en-IN" sz="1400" b="1" u="sng" dirty="0" err="1">
                          <a:solidFill>
                            <a:srgbClr val="000000"/>
                          </a:solidFill>
                          <a:effectLst/>
                        </a:rPr>
                        <a:t>NotMapped</a:t>
                      </a:r>
                      <a:endParaRPr lang="en-IN" sz="1400" dirty="0">
                        <a:effectLst/>
                      </a:endParaRPr>
                    </a:p>
                  </a:txBody>
                  <a:tcPr marL="47041" marR="47041" marT="47041" marB="47041">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400">
                          <a:effectLst/>
                        </a:rPr>
                        <a:t>Applied to properties or classes that are to be excluded from database mapping.</a:t>
                      </a:r>
                    </a:p>
                  </a:txBody>
                  <a:tcPr marL="47041" marR="47041" marT="47041" marB="47041">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522709162"/>
                  </a:ext>
                </a:extLst>
              </a:tr>
              <a:tr h="517456">
                <a:tc>
                  <a:txBody>
                    <a:bodyPr/>
                    <a:lstStyle/>
                    <a:p>
                      <a:pPr algn="l" fontAlgn="t"/>
                      <a:r>
                        <a:rPr lang="en-IN" sz="1400" b="1" u="sng" dirty="0" err="1">
                          <a:solidFill>
                            <a:srgbClr val="000000"/>
                          </a:solidFill>
                          <a:effectLst/>
                        </a:rPr>
                        <a:t>InverseProperty</a:t>
                      </a:r>
                      <a:endParaRPr lang="en-IN" sz="1400" dirty="0">
                        <a:effectLst/>
                      </a:endParaRPr>
                    </a:p>
                  </a:txBody>
                  <a:tcPr marL="47041" marR="47041" marT="47041" marB="47041">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400">
                          <a:effectLst/>
                        </a:rPr>
                        <a:t>Specifies the inverse of a navigation property</a:t>
                      </a:r>
                    </a:p>
                  </a:txBody>
                  <a:tcPr marL="47041" marR="47041" marT="47041" marB="47041">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023780087"/>
                  </a:ext>
                </a:extLst>
              </a:tr>
              <a:tr h="729143">
                <a:tc>
                  <a:txBody>
                    <a:bodyPr/>
                    <a:lstStyle/>
                    <a:p>
                      <a:pPr algn="l" fontAlgn="t"/>
                      <a:r>
                        <a:rPr lang="en-IN" sz="1400" b="1" u="sng" dirty="0" err="1">
                          <a:solidFill>
                            <a:srgbClr val="000000"/>
                          </a:solidFill>
                          <a:effectLst/>
                        </a:rPr>
                        <a:t>ComplexType</a:t>
                      </a:r>
                      <a:endParaRPr lang="en-IN" sz="1400" dirty="0">
                        <a:effectLst/>
                      </a:endParaRPr>
                    </a:p>
                  </a:txBody>
                  <a:tcPr marL="47041" marR="47041" marT="47041" marB="47041">
                    <a:lnL>
                      <a:noFill/>
                    </a:lnL>
                    <a:lnR>
                      <a:noFill/>
                    </a:lnR>
                    <a:lnT w="7620" cap="flat" cmpd="sng" algn="ctr">
                      <a:solidFill>
                        <a:srgbClr val="DDDDDD"/>
                      </a:solidFill>
                      <a:prstDash val="solid"/>
                      <a:round/>
                      <a:headEnd type="none" w="med" len="med"/>
                      <a:tailEnd type="none" w="med" len="med"/>
                    </a:lnT>
                    <a:lnB>
                      <a:noFill/>
                    </a:lnB>
                    <a:solidFill>
                      <a:srgbClr val="FFFFFF"/>
                    </a:solidFill>
                  </a:tcPr>
                </a:tc>
                <a:tc>
                  <a:txBody>
                    <a:bodyPr/>
                    <a:lstStyle/>
                    <a:p>
                      <a:pPr algn="l" fontAlgn="t"/>
                      <a:r>
                        <a:rPr lang="en-US" sz="1400" dirty="0">
                          <a:effectLst/>
                        </a:rPr>
                        <a:t>Denotes that the class is a complex type. *Not currently implemented in EF Core.</a:t>
                      </a:r>
                    </a:p>
                  </a:txBody>
                  <a:tcPr marL="47041" marR="47041" marT="47041" marB="47041">
                    <a:lnL>
                      <a:noFill/>
                    </a:lnL>
                    <a:lnR>
                      <a:noFill/>
                    </a:lnR>
                    <a:lnT w="7620" cap="flat" cmpd="sng" algn="ctr">
                      <a:solidFill>
                        <a:srgbClr val="DDDDDD"/>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837026108"/>
                  </a:ext>
                </a:extLst>
              </a:tr>
            </a:tbl>
          </a:graphicData>
        </a:graphic>
      </p:graphicFrame>
      <p:graphicFrame>
        <p:nvGraphicFramePr>
          <p:cNvPr id="11" name="Table 10">
            <a:extLst>
              <a:ext uri="{FF2B5EF4-FFF2-40B4-BE49-F238E27FC236}">
                <a16:creationId xmlns:a16="http://schemas.microsoft.com/office/drawing/2014/main" id="{1148293B-014D-A216-390D-4072E65E5976}"/>
              </a:ext>
            </a:extLst>
          </p:cNvPr>
          <p:cNvGraphicFramePr>
            <a:graphicFrameLocks noGrp="1"/>
          </p:cNvGraphicFramePr>
          <p:nvPr>
            <p:extLst>
              <p:ext uri="{D42A27DB-BD31-4B8C-83A1-F6EECF244321}">
                <p14:modId xmlns:p14="http://schemas.microsoft.com/office/powerpoint/2010/main" val="2284616929"/>
              </p:ext>
            </p:extLst>
          </p:nvPr>
        </p:nvGraphicFramePr>
        <p:xfrm>
          <a:off x="125301" y="2492990"/>
          <a:ext cx="5806234" cy="4376415"/>
        </p:xfrm>
        <a:graphic>
          <a:graphicData uri="http://schemas.openxmlformats.org/drawingml/2006/table">
            <a:tbl>
              <a:tblPr/>
              <a:tblGrid>
                <a:gridCol w="2080571">
                  <a:extLst>
                    <a:ext uri="{9D8B030D-6E8A-4147-A177-3AD203B41FA5}">
                      <a16:colId xmlns:a16="http://schemas.microsoft.com/office/drawing/2014/main" val="3664673656"/>
                    </a:ext>
                  </a:extLst>
                </a:gridCol>
                <a:gridCol w="3725663">
                  <a:extLst>
                    <a:ext uri="{9D8B030D-6E8A-4147-A177-3AD203B41FA5}">
                      <a16:colId xmlns:a16="http://schemas.microsoft.com/office/drawing/2014/main" val="106611669"/>
                    </a:ext>
                  </a:extLst>
                </a:gridCol>
              </a:tblGrid>
              <a:tr h="347039">
                <a:tc>
                  <a:txBody>
                    <a:bodyPr/>
                    <a:lstStyle/>
                    <a:p>
                      <a:pPr algn="l" fontAlgn="b"/>
                      <a:r>
                        <a:rPr lang="en-IN" sz="1600">
                          <a:effectLst/>
                        </a:rPr>
                        <a:t>Attribute</a:t>
                      </a:r>
                    </a:p>
                  </a:txBody>
                  <a:tcPr marL="53391" marR="53391" marT="53391" marB="53391" anchor="b">
                    <a:lnL>
                      <a:noFill/>
                    </a:lnL>
                    <a:lnR>
                      <a:noFill/>
                    </a:lnR>
                    <a:lnT>
                      <a:noFill/>
                    </a:lnT>
                    <a:lnB w="7620" cap="flat" cmpd="sng" algn="ctr">
                      <a:solidFill>
                        <a:srgbClr val="DDDDDD"/>
                      </a:solidFill>
                      <a:prstDash val="solid"/>
                      <a:round/>
                      <a:headEnd type="none" w="med" len="med"/>
                      <a:tailEnd type="none" w="med" len="med"/>
                    </a:lnB>
                    <a:solidFill>
                      <a:srgbClr val="FFFFFF"/>
                    </a:solidFill>
                  </a:tcPr>
                </a:tc>
                <a:tc>
                  <a:txBody>
                    <a:bodyPr/>
                    <a:lstStyle/>
                    <a:p>
                      <a:pPr algn="l" fontAlgn="b"/>
                      <a:r>
                        <a:rPr lang="en-IN" sz="1600">
                          <a:effectLst/>
                        </a:rPr>
                        <a:t>Description</a:t>
                      </a:r>
                    </a:p>
                  </a:txBody>
                  <a:tcPr marL="53391" marR="53391" marT="53391" marB="53391" anchor="b">
                    <a:lnL>
                      <a:noFill/>
                    </a:lnL>
                    <a:lnR>
                      <a:noFill/>
                    </a:lnR>
                    <a:lnT>
                      <a:noFill/>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826208565"/>
                  </a:ext>
                </a:extLst>
              </a:tr>
              <a:tr h="587297">
                <a:tc>
                  <a:txBody>
                    <a:bodyPr/>
                    <a:lstStyle/>
                    <a:p>
                      <a:pPr algn="l" fontAlgn="t"/>
                      <a:r>
                        <a:rPr lang="en-IN" sz="1600" b="1" u="sng" dirty="0">
                          <a:solidFill>
                            <a:srgbClr val="000000"/>
                          </a:solidFill>
                          <a:effectLst/>
                        </a:rPr>
                        <a:t>Key</a:t>
                      </a:r>
                      <a:endParaRPr lang="en-IN" sz="1600" dirty="0">
                        <a:effectLst/>
                      </a:endParaRPr>
                    </a:p>
                  </a:txBody>
                  <a:tcPr marL="53391" marR="53391" marT="53391" marB="53391">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dirty="0">
                          <a:effectLst/>
                        </a:rPr>
                        <a:t>Identifies one or more properties as a Key</a:t>
                      </a:r>
                    </a:p>
                  </a:txBody>
                  <a:tcPr marL="53391" marR="53391" marT="53391" marB="53391">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4148766843"/>
                  </a:ext>
                </a:extLst>
              </a:tr>
              <a:tr h="587297">
                <a:tc>
                  <a:txBody>
                    <a:bodyPr/>
                    <a:lstStyle/>
                    <a:p>
                      <a:pPr algn="l" fontAlgn="t"/>
                      <a:r>
                        <a:rPr lang="en-IN" sz="1600" b="1" u="sng" dirty="0">
                          <a:solidFill>
                            <a:srgbClr val="000000"/>
                          </a:solidFill>
                          <a:effectLst/>
                        </a:rPr>
                        <a:t>Timestamp</a:t>
                      </a:r>
                      <a:endParaRPr lang="en-IN" sz="1600" dirty="0">
                        <a:effectLst/>
                      </a:endParaRPr>
                    </a:p>
                  </a:txBody>
                  <a:tcPr marL="53391" marR="53391" marT="53391" marB="53391">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a:effectLst/>
                        </a:rPr>
                        <a:t>Specifies the data type of the database column as rowversion</a:t>
                      </a:r>
                    </a:p>
                  </a:txBody>
                  <a:tcPr marL="53391" marR="53391" marT="53391" marB="53391">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492896271"/>
                  </a:ext>
                </a:extLst>
              </a:tr>
              <a:tr h="587297">
                <a:tc>
                  <a:txBody>
                    <a:bodyPr/>
                    <a:lstStyle/>
                    <a:p>
                      <a:pPr algn="l" fontAlgn="t"/>
                      <a:r>
                        <a:rPr lang="en-IN" sz="1600" b="1" u="sng" dirty="0" err="1">
                          <a:solidFill>
                            <a:srgbClr val="000000"/>
                          </a:solidFill>
                          <a:effectLst/>
                        </a:rPr>
                        <a:t>ConcurrencyCheck</a:t>
                      </a:r>
                      <a:endParaRPr lang="en-IN" sz="1600" dirty="0">
                        <a:effectLst/>
                      </a:endParaRPr>
                    </a:p>
                  </a:txBody>
                  <a:tcPr marL="53391" marR="53391" marT="53391" marB="53391">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a:effectLst/>
                        </a:rPr>
                        <a:t>Specifies that the property is included in concurrency checks</a:t>
                      </a:r>
                    </a:p>
                  </a:txBody>
                  <a:tcPr marL="53391" marR="53391" marT="53391" marB="53391">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388578552"/>
                  </a:ext>
                </a:extLst>
              </a:tr>
              <a:tr h="587297">
                <a:tc>
                  <a:txBody>
                    <a:bodyPr/>
                    <a:lstStyle/>
                    <a:p>
                      <a:pPr algn="l" fontAlgn="t"/>
                      <a:r>
                        <a:rPr lang="en-IN" sz="1600" b="1" u="sng" dirty="0">
                          <a:solidFill>
                            <a:srgbClr val="000000"/>
                          </a:solidFill>
                          <a:effectLst/>
                        </a:rPr>
                        <a:t>Required</a:t>
                      </a:r>
                      <a:endParaRPr lang="en-IN" sz="1600" dirty="0">
                        <a:effectLst/>
                      </a:endParaRPr>
                    </a:p>
                  </a:txBody>
                  <a:tcPr marL="53391" marR="53391" marT="53391" marB="53391">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a:effectLst/>
                        </a:rPr>
                        <a:t>Specifies that the property's value is required</a:t>
                      </a:r>
                    </a:p>
                  </a:txBody>
                  <a:tcPr marL="53391" marR="53391" marT="53391" marB="53391">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589103667"/>
                  </a:ext>
                </a:extLst>
              </a:tr>
              <a:tr h="827555">
                <a:tc>
                  <a:txBody>
                    <a:bodyPr/>
                    <a:lstStyle/>
                    <a:p>
                      <a:pPr algn="l" fontAlgn="t"/>
                      <a:r>
                        <a:rPr lang="en-IN" sz="1600" b="1" u="sng" dirty="0" err="1">
                          <a:solidFill>
                            <a:srgbClr val="000000"/>
                          </a:solidFill>
                          <a:effectLst/>
                        </a:rPr>
                        <a:t>MaxLength</a:t>
                      </a:r>
                      <a:endParaRPr lang="en-IN" sz="1600" dirty="0">
                        <a:effectLst/>
                      </a:endParaRPr>
                    </a:p>
                  </a:txBody>
                  <a:tcPr marL="53391" marR="53391" marT="53391" marB="53391">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a:effectLst/>
                        </a:rPr>
                        <a:t>Sets the maximum allowed length of the property value (string or array)</a:t>
                      </a:r>
                    </a:p>
                  </a:txBody>
                  <a:tcPr marL="53391" marR="53391" marT="53391" marB="53391">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4065768715"/>
                  </a:ext>
                </a:extLst>
              </a:tr>
              <a:tr h="827555">
                <a:tc>
                  <a:txBody>
                    <a:bodyPr/>
                    <a:lstStyle/>
                    <a:p>
                      <a:pPr algn="l" fontAlgn="t"/>
                      <a:r>
                        <a:rPr lang="en-IN" sz="1600" b="1" u="sng" dirty="0" err="1">
                          <a:solidFill>
                            <a:srgbClr val="000000"/>
                          </a:solidFill>
                          <a:effectLst/>
                        </a:rPr>
                        <a:t>StringLength</a:t>
                      </a:r>
                      <a:endParaRPr lang="en-IN" sz="1600" dirty="0">
                        <a:effectLst/>
                      </a:endParaRPr>
                    </a:p>
                  </a:txBody>
                  <a:tcPr marL="53391" marR="53391" marT="53391" marB="53391">
                    <a:lnL>
                      <a:noFill/>
                    </a:lnL>
                    <a:lnR>
                      <a:noFill/>
                    </a:lnR>
                    <a:lnT w="7620" cap="flat" cmpd="sng" algn="ctr">
                      <a:solidFill>
                        <a:srgbClr val="DDDDDD"/>
                      </a:solidFill>
                      <a:prstDash val="solid"/>
                      <a:round/>
                      <a:headEnd type="none" w="med" len="med"/>
                      <a:tailEnd type="none" w="med" len="med"/>
                    </a:lnT>
                    <a:lnB>
                      <a:noFill/>
                    </a:lnB>
                    <a:solidFill>
                      <a:srgbClr val="FFFFFF"/>
                    </a:solidFill>
                  </a:tcPr>
                </a:tc>
                <a:tc>
                  <a:txBody>
                    <a:bodyPr/>
                    <a:lstStyle/>
                    <a:p>
                      <a:pPr algn="l" fontAlgn="t"/>
                      <a:r>
                        <a:rPr lang="en-US" sz="1600" dirty="0">
                          <a:effectLst/>
                        </a:rPr>
                        <a:t>Sets the maximum allowed length of the property value (string or array)</a:t>
                      </a:r>
                    </a:p>
                  </a:txBody>
                  <a:tcPr marL="53391" marR="53391" marT="53391" marB="53391">
                    <a:lnL>
                      <a:noFill/>
                    </a:lnL>
                    <a:lnR>
                      <a:noFill/>
                    </a:lnR>
                    <a:lnT w="7620" cap="flat" cmpd="sng" algn="ctr">
                      <a:solidFill>
                        <a:srgbClr val="DDDDDD"/>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007944621"/>
                  </a:ext>
                </a:extLst>
              </a:tr>
            </a:tbl>
          </a:graphicData>
        </a:graphic>
      </p:graphicFrame>
      <p:sp>
        <p:nvSpPr>
          <p:cNvPr id="12" name="Rectangle 1">
            <a:extLst>
              <a:ext uri="{FF2B5EF4-FFF2-40B4-BE49-F238E27FC236}">
                <a16:creationId xmlns:a16="http://schemas.microsoft.com/office/drawing/2014/main" id="{79AD7F12-CE42-744D-8061-87480DEF21C7}"/>
              </a:ext>
            </a:extLst>
          </p:cNvPr>
          <p:cNvSpPr>
            <a:spLocks noChangeArrowheads="1"/>
          </p:cNvSpPr>
          <p:nvPr/>
        </p:nvSpPr>
        <p:spPr bwMode="auto">
          <a:xfrm>
            <a:off x="131977" y="1730273"/>
            <a:ext cx="11859311" cy="669353"/>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26960" rIns="9144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err="1">
                <a:ln>
                  <a:noFill/>
                </a:ln>
                <a:solidFill>
                  <a:srgbClr val="004867"/>
                </a:solidFill>
                <a:effectLst/>
                <a:latin typeface="Roboto" panose="02000000000000000000" pitchFamily="2" charset="0"/>
              </a:rPr>
              <a:t>System.ComponentModel.DataAnnotations.Schema</a:t>
            </a:r>
            <a:r>
              <a:rPr kumimoji="0" lang="en-US" altLang="en-US" sz="1300" b="0" i="0" u="none" strike="noStrike" cap="none" normalizeH="0" baseline="0" dirty="0">
                <a:ln>
                  <a:noFill/>
                </a:ln>
                <a:solidFill>
                  <a:srgbClr val="004867"/>
                </a:solidFill>
                <a:effectLst/>
                <a:latin typeface="Roboto" panose="02000000000000000000" pitchFamily="2" charset="0"/>
              </a:rPr>
              <a:t> attributes			</a:t>
            </a:r>
            <a:r>
              <a:rPr kumimoji="0" lang="en-US" altLang="en-US" sz="1300" b="0" i="0" u="none" strike="noStrike" cap="none" normalizeH="0" baseline="0" dirty="0" err="1">
                <a:ln>
                  <a:noFill/>
                </a:ln>
                <a:solidFill>
                  <a:srgbClr val="004867"/>
                </a:solidFill>
                <a:effectLst/>
                <a:latin typeface="Roboto" panose="02000000000000000000" pitchFamily="2" charset="0"/>
              </a:rPr>
              <a:t>System.ComponentModel.Annotations</a:t>
            </a:r>
            <a:r>
              <a:rPr kumimoji="0" lang="en-US" altLang="en-US" sz="1300" b="0" i="0" u="none" strike="noStrike" cap="none" normalizeH="0" baseline="0" dirty="0">
                <a:ln>
                  <a:noFill/>
                </a:ln>
                <a:solidFill>
                  <a:srgbClr val="004867"/>
                </a:solidFill>
                <a:effectLst/>
                <a:latin typeface="Roboto" panose="02000000000000000000" pitchFamily="2" charset="0"/>
              </a:rPr>
              <a:t> attributes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76078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D472365-90EC-90FD-D751-A3539FAB2217}"/>
              </a:ext>
            </a:extLst>
          </p:cNvPr>
          <p:cNvSpPr txBox="1"/>
          <p:nvPr/>
        </p:nvSpPr>
        <p:spPr>
          <a:xfrm>
            <a:off x="4696906" y="0"/>
            <a:ext cx="3306451" cy="373203"/>
          </a:xfrm>
          <a:prstGeom prst="rect">
            <a:avLst/>
          </a:prstGeom>
          <a:noFill/>
        </p:spPr>
        <p:txBody>
          <a:bodyPr wrap="square">
            <a:spAutoFit/>
          </a:bodyPr>
          <a:lstStyle/>
          <a:p>
            <a:r>
              <a:rPr lang="en-IN" dirty="0"/>
              <a:t>The Column Attribute</a:t>
            </a:r>
          </a:p>
        </p:txBody>
      </p:sp>
      <p:sp>
        <p:nvSpPr>
          <p:cNvPr id="6" name="Rectangle 1">
            <a:extLst>
              <a:ext uri="{FF2B5EF4-FFF2-40B4-BE49-F238E27FC236}">
                <a16:creationId xmlns:a16="http://schemas.microsoft.com/office/drawing/2014/main" id="{CD161C35-06AC-76AD-22EC-DC20EC05CF6A}"/>
              </a:ext>
            </a:extLst>
          </p:cNvPr>
          <p:cNvSpPr>
            <a:spLocks noChangeArrowheads="1"/>
          </p:cNvSpPr>
          <p:nvPr/>
        </p:nvSpPr>
        <p:spPr bwMode="auto">
          <a:xfrm>
            <a:off x="0" y="397138"/>
            <a:ext cx="12083845" cy="923330"/>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a:t>
            </a:r>
            <a:r>
              <a:rPr kumimoji="0" lang="en-US" altLang="en-US" sz="1600" b="0" i="0" u="none" strike="noStrike" cap="none" normalizeH="0" baseline="0" dirty="0">
                <a:ln>
                  <a:noFill/>
                </a:ln>
                <a:solidFill>
                  <a:srgbClr val="C7254E"/>
                </a:solidFill>
                <a:effectLst/>
                <a:latin typeface="Menlo"/>
              </a:rPr>
              <a:t>Column</a:t>
            </a:r>
            <a:r>
              <a:rPr kumimoji="0" lang="en-US" altLang="en-US"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attribute is applied to a property to specify the database column that the property should map to when the entity's property name and the database column name differ. The following example maps the </a:t>
            </a:r>
            <a:r>
              <a:rPr kumimoji="0" lang="en-US" altLang="en-US" sz="1600" b="0" i="0" u="none" strike="noStrike" cap="none" normalizeH="0" baseline="0" dirty="0">
                <a:ln>
                  <a:noFill/>
                </a:ln>
                <a:solidFill>
                  <a:srgbClr val="C7254E"/>
                </a:solidFill>
                <a:effectLst/>
                <a:latin typeface="Menlo"/>
              </a:rPr>
              <a:t>Title</a:t>
            </a:r>
            <a:r>
              <a:rPr kumimoji="0" lang="en-US" altLang="en-US"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property in the </a:t>
            </a:r>
            <a:r>
              <a:rPr kumimoji="0" lang="en-US" altLang="en-US" sz="1600" b="0" i="0" u="none" strike="noStrike" cap="none" normalizeH="0" baseline="0" dirty="0">
                <a:ln>
                  <a:noFill/>
                </a:ln>
                <a:solidFill>
                  <a:srgbClr val="C7254E"/>
                </a:solidFill>
                <a:effectLst/>
                <a:latin typeface="Menlo"/>
              </a:rPr>
              <a:t>Book</a:t>
            </a:r>
            <a:r>
              <a:rPr kumimoji="0" lang="en-US" altLang="en-US"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entity to a database column named </a:t>
            </a:r>
            <a:r>
              <a:rPr kumimoji="0" lang="en-US" altLang="en-US" sz="1600" b="0" i="0" u="none" strike="noStrike" cap="none" normalizeH="0" baseline="0" dirty="0">
                <a:ln>
                  <a:noFill/>
                </a:ln>
                <a:solidFill>
                  <a:srgbClr val="C7254E"/>
                </a:solidFill>
                <a:effectLst/>
                <a:latin typeface="Menlo"/>
              </a:rPr>
              <a:t>Description</a:t>
            </a:r>
            <a:r>
              <a:rPr kumimoji="0" lang="en-US" altLang="en-US"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a:t>
            </a:r>
            <a:r>
              <a:rPr kumimoji="0" lang="en-US" altLang="en-US" sz="1400" b="0" i="0" u="none" strike="noStrike" cap="none" normalizeH="0" baseline="0" dirty="0">
                <a:ln>
                  <a:noFill/>
                </a:ln>
                <a:solidFill>
                  <a:schemeClr val="tx1"/>
                </a:solidFill>
                <a:effectLst/>
              </a:rPr>
              <a:t> </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4A8C5C05-ED71-028B-B92B-4EBB3E4B18FA}"/>
              </a:ext>
            </a:extLst>
          </p:cNvPr>
          <p:cNvSpPr>
            <a:spLocks noChangeArrowheads="1"/>
          </p:cNvSpPr>
          <p:nvPr/>
        </p:nvSpPr>
        <p:spPr bwMode="auto">
          <a:xfrm>
            <a:off x="278005" y="1562755"/>
            <a:ext cx="4243196" cy="3108543"/>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eaLnBrk="0" fontAlgn="base" hangingPunct="0">
              <a:spcBef>
                <a:spcPct val="0"/>
              </a:spcBef>
              <a:spcAft>
                <a:spcPct val="0"/>
              </a:spcAft>
              <a:buFontTx/>
              <a:buAutoNum type="arabicPeriod"/>
            </a:pP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555555"/>
                </a:solidFill>
                <a:effectLst/>
                <a:latin typeface="Menlo"/>
              </a:rPr>
              <a:t>Table</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A52A2A"/>
                </a:solidFill>
                <a:effectLst/>
                <a:latin typeface="Menlo"/>
              </a:rPr>
              <a:t>“Books"</a:t>
            </a:r>
            <a:r>
              <a:rPr kumimoji="0" lang="en-US" altLang="en-US" sz="1400" b="0" i="0" u="none" strike="noStrike" cap="none" normalizeH="0" baseline="0" dirty="0">
                <a:ln>
                  <a:noFill/>
                </a:ln>
                <a:solidFill>
                  <a:srgbClr val="666600"/>
                </a:solidFill>
                <a:effectLst/>
                <a:latin typeface="Menlo"/>
              </a:rPr>
              <a:t>)]// table name Books</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altLang="en-US" sz="1400" b="0" i="0" u="none" strike="noStrike" cap="none" normalizeH="0" baseline="0" dirty="0">
              <a:ln>
                <a:noFill/>
              </a:ln>
              <a:solidFill>
                <a:srgbClr val="0000FF"/>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000000"/>
                </a:solidFill>
                <a:effectLst/>
                <a:latin typeface="Menlo"/>
              </a:rPr>
              <a:t>My</a:t>
            </a:r>
            <a:r>
              <a:rPr kumimoji="0" lang="en-US" altLang="en-US" sz="1400" b="0" i="0" u="none" strike="noStrike" cap="none" normalizeH="0" baseline="0" dirty="0" err="1">
                <a:ln>
                  <a:noFill/>
                </a:ln>
                <a:solidFill>
                  <a:srgbClr val="555555"/>
                </a:solidFill>
                <a:effectLst/>
                <a:latin typeface="Menlo"/>
              </a:rPr>
              <a:t>Book</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a:ln>
                  <a:noFill/>
                </a:ln>
                <a:solidFill>
                  <a:srgbClr val="666600"/>
                </a:solidFill>
                <a:effectLst/>
                <a:latin typeface="Menlo"/>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lang="en-US" altLang="en-US" sz="1200" dirty="0">
                <a:solidFill>
                  <a:srgbClr val="666600"/>
                </a:solidFill>
                <a:latin typeface="Menlo"/>
              </a:rPr>
              <a:t>[Key]//primary key</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BookId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555555"/>
                </a:solidFill>
                <a:effectLst/>
                <a:latin typeface="Menlo"/>
              </a:rPr>
              <a:t>Column</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A52A2A"/>
                </a:solidFill>
                <a:effectLst/>
                <a:latin typeface="Menlo"/>
              </a:rPr>
              <a:t>"Description"</a:t>
            </a:r>
            <a:r>
              <a:rPr kumimoji="0" lang="en-US" altLang="en-US" sz="1400" b="0" i="0" u="none" strike="noStrike" cap="none" normalizeH="0" baseline="0" dirty="0">
                <a:ln>
                  <a:noFill/>
                </a:ln>
                <a:solidFill>
                  <a:srgbClr val="666600"/>
                </a:solidFill>
                <a:effectLst/>
                <a:latin typeface="Menlo"/>
              </a:rPr>
              <a:t>)]//column name in </a:t>
            </a:r>
            <a:r>
              <a:rPr kumimoji="0" lang="en-US" altLang="en-US" sz="1400" b="0" i="0" u="none" strike="noStrike" cap="none" normalizeH="0" baseline="0" dirty="0" err="1">
                <a:ln>
                  <a:noFill/>
                </a:ln>
                <a:solidFill>
                  <a:srgbClr val="666600"/>
                </a:solidFill>
                <a:effectLst/>
                <a:latin typeface="Menlo"/>
              </a:rPr>
              <a:t>db</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Title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Author</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Author</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p>
          <a:p>
            <a:pPr eaLnBrk="0" fontAlgn="base" hangingPunct="0">
              <a:spcBef>
                <a:spcPct val="0"/>
              </a:spcBef>
              <a:spcAft>
                <a:spcPct val="0"/>
              </a:spcAft>
              <a:buFontTx/>
              <a:buAutoNum type="arabicPeriod" startAt="6"/>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string Email</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p>
          <a:p>
            <a:pPr eaLnBrk="0" fontAlgn="base" hangingPunct="0">
              <a:spcBef>
                <a:spcPct val="0"/>
              </a:spcBef>
              <a:spcAft>
                <a:spcPct val="0"/>
              </a:spcAft>
              <a:buFontTx/>
              <a:buAutoNum type="arabicPeriod" startAt="6"/>
            </a:pPr>
            <a:r>
              <a:rPr lang="en-US" altLang="en-US" sz="1400" dirty="0">
                <a:solidFill>
                  <a:srgbClr val="666600"/>
                </a:solidFill>
                <a:latin typeface="Menlo"/>
              </a:rPr>
              <a:t>[</a:t>
            </a:r>
            <a:r>
              <a:rPr lang="en-IN" sz="1400" b="1" u="sng" dirty="0" err="1">
                <a:solidFill>
                  <a:srgbClr val="000000"/>
                </a:solidFill>
                <a:effectLst/>
              </a:rPr>
              <a:t>NotMapped</a:t>
            </a:r>
            <a:r>
              <a:rPr lang="en-US" altLang="en-US" sz="1400" dirty="0">
                <a:solidFill>
                  <a:srgbClr val="666600"/>
                </a:solidFill>
                <a:latin typeface="Menlo"/>
              </a:rPr>
              <a:t>]</a:t>
            </a:r>
            <a:endParaRPr kumimoji="0" lang="en-US" altLang="en-US" sz="1400" b="0" i="0" u="none" strike="noStrike" cap="none" normalizeH="0" baseline="0" dirty="0">
              <a:ln>
                <a:noFill/>
              </a:ln>
              <a:solidFill>
                <a:srgbClr val="666600"/>
              </a:solidFill>
              <a:effectLst/>
              <a:latin typeface="Menlo"/>
            </a:endParaRPr>
          </a:p>
          <a:p>
            <a:pPr eaLnBrk="0" fontAlgn="base" hangingPunct="0">
              <a:spcBef>
                <a:spcPct val="0"/>
              </a:spcBef>
              <a:spcAft>
                <a:spcPct val="0"/>
              </a:spcAft>
              <a:buFontTx/>
              <a:buAutoNum type="arabicPeriod" startAt="6"/>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string </a:t>
            </a:r>
            <a:r>
              <a:rPr kumimoji="0" lang="en-US" altLang="en-US" sz="1200" b="0" i="0" u="none" strike="noStrike" cap="none" normalizeH="0" baseline="0" dirty="0" err="1">
                <a:ln>
                  <a:noFill/>
                </a:ln>
                <a:solidFill>
                  <a:srgbClr val="555555"/>
                </a:solidFill>
                <a:effectLst/>
                <a:latin typeface="Menlo"/>
              </a:rPr>
              <a:t>confirm_email</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endParaRPr lang="en-US" altLang="en-US" sz="1200" dirty="0">
              <a:solidFill>
                <a:srgbClr val="666600"/>
              </a:solidFill>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4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p:txBody>
      </p:sp>
      <p:sp>
        <p:nvSpPr>
          <p:cNvPr id="8" name="Rectangle 3">
            <a:extLst>
              <a:ext uri="{FF2B5EF4-FFF2-40B4-BE49-F238E27FC236}">
                <a16:creationId xmlns:a16="http://schemas.microsoft.com/office/drawing/2014/main" id="{49DD2A5E-4A13-1880-0C71-E99BCB85164C}"/>
              </a:ext>
            </a:extLst>
          </p:cNvPr>
          <p:cNvSpPr>
            <a:spLocks noChangeArrowheads="1"/>
          </p:cNvSpPr>
          <p:nvPr/>
        </p:nvSpPr>
        <p:spPr bwMode="auto">
          <a:xfrm>
            <a:off x="216815" y="4791997"/>
            <a:ext cx="5011167" cy="1477328"/>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You can also use the </a:t>
            </a:r>
            <a:r>
              <a:rPr kumimoji="0" lang="en-US" altLang="en-US" sz="1600" b="0" i="0" u="none" strike="noStrike" cap="none" normalizeH="0" baseline="0" dirty="0">
                <a:ln>
                  <a:noFill/>
                </a:ln>
                <a:solidFill>
                  <a:srgbClr val="C7254E"/>
                </a:solidFill>
                <a:effectLst/>
                <a:latin typeface="Menlo"/>
              </a:rPr>
              <a:t>Column</a:t>
            </a:r>
            <a:r>
              <a:rPr kumimoji="0" lang="en-US" altLang="en-US"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attribute to specify the ordinal position (</a:t>
            </a:r>
            <a:r>
              <a:rPr kumimoji="0" lang="en-US" altLang="en-US" sz="1600" b="0" i="0" u="none" strike="noStrike" cap="none" normalizeH="0" baseline="0" dirty="0">
                <a:ln>
                  <a:noFill/>
                </a:ln>
                <a:solidFill>
                  <a:srgbClr val="C7254E"/>
                </a:solidFill>
                <a:effectLst/>
                <a:latin typeface="Menlo"/>
              </a:rPr>
              <a:t>Order</a:t>
            </a:r>
            <a:r>
              <a:rPr kumimoji="0" lang="en-US" altLang="en-US"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property) of the column in the resulting table, and its database-specific data type (</a:t>
            </a:r>
            <a:r>
              <a:rPr kumimoji="0" lang="en-US" altLang="en-US" sz="1600" b="0" i="0" u="none" strike="noStrike" cap="none" normalizeH="0" baseline="0" dirty="0">
                <a:ln>
                  <a:noFill/>
                </a:ln>
                <a:solidFill>
                  <a:srgbClr val="C7254E"/>
                </a:solidFill>
                <a:effectLst/>
                <a:latin typeface="Menlo"/>
              </a:rPr>
              <a:t>TypeName</a:t>
            </a:r>
            <a:r>
              <a:rPr kumimoji="0" lang="en-US" altLang="en-US"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property):</a:t>
            </a:r>
            <a:r>
              <a:rPr kumimoji="0" lang="en-US" altLang="en-US" sz="1400" b="0" i="0" u="none" strike="noStrike" cap="none" normalizeH="0" baseline="0" dirty="0">
                <a:ln>
                  <a:noFill/>
                </a:ln>
                <a:solidFill>
                  <a:schemeClr val="tx1"/>
                </a:solidFill>
                <a:effectLst/>
              </a:rPr>
              <a:t> </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
        <p:nvSpPr>
          <p:cNvPr id="9" name="Rectangle 4">
            <a:extLst>
              <a:ext uri="{FF2B5EF4-FFF2-40B4-BE49-F238E27FC236}">
                <a16:creationId xmlns:a16="http://schemas.microsoft.com/office/drawing/2014/main" id="{34120B95-5F85-38A3-7538-EBA6FBC0F19E}"/>
              </a:ext>
            </a:extLst>
          </p:cNvPr>
          <p:cNvSpPr>
            <a:spLocks noChangeArrowheads="1"/>
          </p:cNvSpPr>
          <p:nvPr/>
        </p:nvSpPr>
        <p:spPr bwMode="auto">
          <a:xfrm>
            <a:off x="6214622" y="1700827"/>
            <a:ext cx="5399201" cy="2523768"/>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class</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Book</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int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BookId</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555555"/>
                </a:solidFill>
                <a:effectLst/>
                <a:latin typeface="Menlo"/>
              </a:rPr>
              <a:t>Column</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A52A2A"/>
                </a:solidFill>
                <a:effectLst/>
                <a:latin typeface="Menlo"/>
              </a:rPr>
              <a:t>"Description"</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Order</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lang="en-US" altLang="en-US" sz="1600" dirty="0">
                <a:solidFill>
                  <a:srgbClr val="000000"/>
                </a:solidFill>
                <a:latin typeface="Menlo"/>
              </a:rPr>
              <a:t>2</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TypeName</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A52A2A"/>
                </a:solidFill>
                <a:effectLst/>
                <a:latin typeface="Menlo"/>
              </a:rPr>
              <a:t>"</a:t>
            </a:r>
            <a:r>
              <a:rPr kumimoji="0" lang="en-US" altLang="en-US" sz="1600" b="0" i="0" u="none" strike="noStrike" cap="none" normalizeH="0" baseline="0" dirty="0" err="1">
                <a:ln>
                  <a:noFill/>
                </a:ln>
                <a:solidFill>
                  <a:srgbClr val="A52A2A"/>
                </a:solidFill>
                <a:effectLst/>
                <a:latin typeface="Menlo"/>
              </a:rPr>
              <a:t>nvarchar</a:t>
            </a:r>
            <a:r>
              <a:rPr kumimoji="0" lang="en-US" altLang="en-US" sz="1600" b="0" i="0" u="none" strike="noStrike" cap="none" normalizeH="0" baseline="0" dirty="0">
                <a:ln>
                  <a:noFill/>
                </a:ln>
                <a:solidFill>
                  <a:srgbClr val="A52A2A"/>
                </a:solidFill>
                <a:effectLst/>
                <a:latin typeface="Menlo"/>
              </a:rPr>
              <a:t>(100)"</a:t>
            </a:r>
            <a:r>
              <a:rPr kumimoji="0" lang="en-US" altLang="en-US" sz="16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string</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Title</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600" b="0" i="0" u="none" strike="noStrike" cap="none" normalizeH="0" baseline="0" dirty="0">
                <a:ln>
                  <a:noFill/>
                </a:ln>
                <a:solidFill>
                  <a:srgbClr val="0000FF"/>
                </a:solidFill>
                <a:effectLst/>
                <a:latin typeface="Menlo"/>
              </a:rPr>
              <a:t>public</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555555"/>
                </a:solidFill>
                <a:effectLst/>
                <a:latin typeface="Menlo"/>
              </a:rPr>
              <a:t>Author</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err="1">
                <a:ln>
                  <a:noFill/>
                </a:ln>
                <a:solidFill>
                  <a:srgbClr val="555555"/>
                </a:solidFill>
                <a:effectLst/>
                <a:latin typeface="Menlo"/>
              </a:rPr>
              <a:t>Author</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get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0000FF"/>
                </a:solidFill>
                <a:effectLst/>
                <a:latin typeface="Menlo"/>
              </a:rPr>
              <a:t>set</a:t>
            </a:r>
            <a:r>
              <a:rPr kumimoji="0" lang="en-US" altLang="en-US" sz="1600" b="0" i="0" u="none" strike="noStrike" cap="none" normalizeH="0" baseline="0" dirty="0">
                <a:ln>
                  <a:noFill/>
                </a:ln>
                <a:solidFill>
                  <a:srgbClr val="666600"/>
                </a:solidFill>
                <a:effectLst/>
                <a:latin typeface="Menlo"/>
              </a:rPr>
              <a:t>;</a:t>
            </a:r>
            <a:r>
              <a:rPr kumimoji="0" lang="en-US" altLang="en-US" sz="1600" b="0" i="0" u="none" strike="noStrike" cap="none" normalizeH="0" baseline="0" dirty="0">
                <a:ln>
                  <a:noFill/>
                </a:ln>
                <a:solidFill>
                  <a:srgbClr val="000000"/>
                </a:solidFill>
                <a:effectLst/>
                <a:latin typeface="Menlo"/>
              </a:rPr>
              <a:t> </a:t>
            </a:r>
            <a:r>
              <a:rPr kumimoji="0" lang="en-US" altLang="en-US" sz="16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6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
        <p:nvSpPr>
          <p:cNvPr id="10" name="Rectangle 5">
            <a:extLst>
              <a:ext uri="{FF2B5EF4-FFF2-40B4-BE49-F238E27FC236}">
                <a16:creationId xmlns:a16="http://schemas.microsoft.com/office/drawing/2014/main" id="{0AEBD291-B1A4-E213-9AF6-9F86A5938BF6}"/>
              </a:ext>
            </a:extLst>
          </p:cNvPr>
          <p:cNvSpPr>
            <a:spLocks noChangeArrowheads="1"/>
          </p:cNvSpPr>
          <p:nvPr/>
        </p:nvSpPr>
        <p:spPr bwMode="auto">
          <a:xfrm>
            <a:off x="5829300" y="4339501"/>
            <a:ext cx="5334519" cy="114640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26960" rIns="9144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4867"/>
                </a:solidFill>
                <a:effectLst/>
                <a:latin typeface="Roboto" panose="02000000000000000000" pitchFamily="2" charset="0"/>
              </a:rPr>
              <a:t>Fluent API</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Fluent API equivalent to the </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Column</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attribute is </a:t>
            </a:r>
            <a:r>
              <a:rPr kumimoji="0" lang="en-US" altLang="en-US" sz="1400" b="1" i="0" u="sng" strike="noStrike" cap="none" normalizeH="0" baseline="0" dirty="0" err="1">
                <a:ln>
                  <a:noFill/>
                </a:ln>
                <a:solidFill>
                  <a:srgbClr val="23527C"/>
                </a:solidFill>
                <a:effectLst/>
                <a:latin typeface="Open Sans" panose="020B0606030504020204" pitchFamily="34" charset="0"/>
                <a:cs typeface="Open Sans" panose="020B0606030504020204" pitchFamily="34" charset="0"/>
              </a:rPr>
              <a:t>HasColumnName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The Fluent API equivalent to specifying the </a:t>
            </a:r>
            <a:r>
              <a:rPr kumimoji="0" lang="en-US" altLang="en-US"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data</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type is </a:t>
            </a:r>
            <a:r>
              <a:rPr kumimoji="0" lang="en-US" altLang="en-US" sz="1400" b="1" i="0" u="sng" strike="noStrike" cap="none" normalizeH="0" baseline="0" dirty="0">
                <a:ln>
                  <a:noFill/>
                </a:ln>
                <a:solidFill>
                  <a:srgbClr val="000000"/>
                </a:solidFill>
                <a:effectLst/>
                <a:latin typeface="Open Sans" panose="020B0606030504020204" pitchFamily="34" charset="0"/>
                <a:cs typeface="Open Sans" panose="020B0606030504020204" pitchFamily="34" charset="0"/>
              </a:rPr>
              <a:t>HasColumnType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Column ordering is not implemented in Fluent API.</a:t>
            </a:r>
            <a:endParaRPr kumimoji="0" lang="en-US" altLang="en-US" sz="1400" b="0" i="0" u="none" strike="noStrike" cap="none" normalizeH="0" baseline="0" dirty="0">
              <a:ln>
                <a:noFill/>
              </a:ln>
              <a:solidFill>
                <a:schemeClr val="tx1"/>
              </a:solidFill>
              <a:effectLst/>
            </a:endParaRPr>
          </a:p>
        </p:txBody>
      </p:sp>
      <p:graphicFrame>
        <p:nvGraphicFramePr>
          <p:cNvPr id="2" name="Table 1"/>
          <p:cNvGraphicFramePr>
            <a:graphicFrameLocks noGrp="1"/>
          </p:cNvGraphicFramePr>
          <p:nvPr>
            <p:extLst>
              <p:ext uri="{D42A27DB-BD31-4B8C-83A1-F6EECF244321}">
                <p14:modId xmlns:p14="http://schemas.microsoft.com/office/powerpoint/2010/main" val="3312866101"/>
              </p:ext>
            </p:extLst>
          </p:nvPr>
        </p:nvGraphicFramePr>
        <p:xfrm>
          <a:off x="5613401" y="5953125"/>
          <a:ext cx="4464051" cy="1000125"/>
        </p:xfrm>
        <a:graphic>
          <a:graphicData uri="http://schemas.openxmlformats.org/drawingml/2006/table">
            <a:tbl>
              <a:tblPr firstRow="1" bandRow="1">
                <a:tableStyleId>{5C22544A-7EE6-4342-B048-85BDC9FD1C3A}</a:tableStyleId>
              </a:tblPr>
              <a:tblGrid>
                <a:gridCol w="1488017">
                  <a:extLst>
                    <a:ext uri="{9D8B030D-6E8A-4147-A177-3AD203B41FA5}">
                      <a16:colId xmlns:a16="http://schemas.microsoft.com/office/drawing/2014/main" val="20000"/>
                    </a:ext>
                  </a:extLst>
                </a:gridCol>
                <a:gridCol w="1488017">
                  <a:extLst>
                    <a:ext uri="{9D8B030D-6E8A-4147-A177-3AD203B41FA5}">
                      <a16:colId xmlns:a16="http://schemas.microsoft.com/office/drawing/2014/main" val="20001"/>
                    </a:ext>
                  </a:extLst>
                </a:gridCol>
                <a:gridCol w="1488017">
                  <a:extLst>
                    <a:ext uri="{9D8B030D-6E8A-4147-A177-3AD203B41FA5}">
                      <a16:colId xmlns:a16="http://schemas.microsoft.com/office/drawing/2014/main" val="20002"/>
                    </a:ext>
                  </a:extLst>
                </a:gridCol>
              </a:tblGrid>
              <a:tr h="617008">
                <a:tc>
                  <a:txBody>
                    <a:bodyPr/>
                    <a:lstStyle/>
                    <a:p>
                      <a:r>
                        <a:rPr lang="en-US" dirty="0"/>
                        <a:t>Id[0]</a:t>
                      </a:r>
                      <a:r>
                        <a:rPr lang="en-US" dirty="0">
                          <a:sym typeface="Wingdings" panose="05000000000000000000" pitchFamily="2" charset="2"/>
                        </a:rPr>
                        <a:t>1</a:t>
                      </a:r>
                      <a:endParaRPr lang="en-IN" dirty="0"/>
                    </a:p>
                  </a:txBody>
                  <a:tcPr/>
                </a:tc>
                <a:tc>
                  <a:txBody>
                    <a:bodyPr/>
                    <a:lstStyle/>
                    <a:p>
                      <a:r>
                        <a:rPr lang="en-US" dirty="0"/>
                        <a:t>Title[1]</a:t>
                      </a:r>
                      <a:r>
                        <a:rPr lang="en-US" dirty="0">
                          <a:sym typeface="Wingdings" panose="05000000000000000000" pitchFamily="2" charset="2"/>
                        </a:rPr>
                        <a:t>2</a:t>
                      </a:r>
                      <a:endParaRPr lang="en-IN" dirty="0"/>
                    </a:p>
                  </a:txBody>
                  <a:tcPr/>
                </a:tc>
                <a:tc>
                  <a:txBody>
                    <a:bodyPr/>
                    <a:lstStyle/>
                    <a:p>
                      <a:r>
                        <a:rPr lang="en-US" dirty="0"/>
                        <a:t>Name[2]</a:t>
                      </a:r>
                      <a:r>
                        <a:rPr lang="en-US" dirty="0">
                          <a:sym typeface="Wingdings" panose="05000000000000000000" pitchFamily="2" charset="2"/>
                        </a:rPr>
                        <a:t>3</a:t>
                      </a:r>
                      <a:endParaRPr lang="en-IN" dirty="0"/>
                    </a:p>
                  </a:txBody>
                  <a:tcPr/>
                </a:tc>
                <a:extLst>
                  <a:ext uri="{0D108BD9-81ED-4DB2-BD59-A6C34878D82A}">
                    <a16:rowId xmlns:a16="http://schemas.microsoft.com/office/drawing/2014/main" val="10000"/>
                  </a:ext>
                </a:extLst>
              </a:tr>
              <a:tr h="383117">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99046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2DD7D02-7CC4-CA14-28B4-FA40D6BBFE84}"/>
              </a:ext>
            </a:extLst>
          </p:cNvPr>
          <p:cNvSpPr txBox="1"/>
          <p:nvPr/>
        </p:nvSpPr>
        <p:spPr>
          <a:xfrm>
            <a:off x="3386580" y="0"/>
            <a:ext cx="6094428" cy="369332"/>
          </a:xfrm>
          <a:prstGeom prst="rect">
            <a:avLst/>
          </a:prstGeom>
          <a:noFill/>
        </p:spPr>
        <p:txBody>
          <a:bodyPr wrap="square">
            <a:spAutoFit/>
          </a:bodyPr>
          <a:lstStyle/>
          <a:p>
            <a:pPr algn="l"/>
            <a:r>
              <a:rPr lang="en-IN" b="0" i="0" dirty="0">
                <a:solidFill>
                  <a:srgbClr val="004867"/>
                </a:solidFill>
                <a:effectLst/>
                <a:latin typeface="Roboto" panose="02000000000000000000" pitchFamily="2" charset="0"/>
              </a:rPr>
              <a:t>The </a:t>
            </a:r>
            <a:r>
              <a:rPr lang="en-IN" b="0" i="0" dirty="0" err="1">
                <a:solidFill>
                  <a:srgbClr val="004867"/>
                </a:solidFill>
                <a:effectLst/>
                <a:latin typeface="Roboto" panose="02000000000000000000" pitchFamily="2" charset="0"/>
              </a:rPr>
              <a:t>ConcurrencyCheck</a:t>
            </a:r>
            <a:r>
              <a:rPr lang="en-IN" b="0" i="0" dirty="0">
                <a:solidFill>
                  <a:srgbClr val="004867"/>
                </a:solidFill>
                <a:effectLst/>
                <a:latin typeface="Roboto" panose="02000000000000000000" pitchFamily="2" charset="0"/>
              </a:rPr>
              <a:t> Attribute</a:t>
            </a:r>
          </a:p>
        </p:txBody>
      </p:sp>
      <p:sp>
        <p:nvSpPr>
          <p:cNvPr id="8" name="Rectangle 1">
            <a:extLst>
              <a:ext uri="{FF2B5EF4-FFF2-40B4-BE49-F238E27FC236}">
                <a16:creationId xmlns:a16="http://schemas.microsoft.com/office/drawing/2014/main" id="{96DCD583-9ECE-0524-A825-E6D58FC1A46F}"/>
              </a:ext>
            </a:extLst>
          </p:cNvPr>
          <p:cNvSpPr>
            <a:spLocks noChangeArrowheads="1"/>
          </p:cNvSpPr>
          <p:nvPr/>
        </p:nvSpPr>
        <p:spPr bwMode="auto">
          <a:xfrm>
            <a:off x="304800" y="570426"/>
            <a:ext cx="11729302" cy="5847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a:t>
            </a:r>
            <a:r>
              <a:rPr kumimoji="0" lang="en-US" altLang="en-US" sz="1400" b="0" i="0" u="none" strike="noStrike" cap="none" normalizeH="0" baseline="0" dirty="0" err="1">
                <a:ln>
                  <a:noFill/>
                </a:ln>
                <a:solidFill>
                  <a:srgbClr val="C7254E"/>
                </a:solidFill>
                <a:effectLst/>
                <a:latin typeface="Menlo"/>
              </a:rPr>
              <a:t>ConcurrencyCheck</a:t>
            </a:r>
            <a:r>
              <a:rPr kumimoji="0" lang="en-US" altLang="en-US"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attribute is used to specify that a property should be included in a </a:t>
            </a:r>
            <a:r>
              <a:rPr kumimoji="0" lang="en-US" altLang="en-US" sz="1400" b="0" i="0" u="none" strike="noStrike" cap="none" normalizeH="0" baseline="0" dirty="0">
                <a:ln>
                  <a:noFill/>
                </a:ln>
                <a:solidFill>
                  <a:srgbClr val="C7254E"/>
                </a:solidFill>
                <a:effectLst/>
                <a:latin typeface="Menlo"/>
              </a:rPr>
              <a:t>WHERE</a:t>
            </a:r>
            <a:r>
              <a:rPr kumimoji="0" lang="en-US" altLang="en-US"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clause in an </a:t>
            </a:r>
            <a:r>
              <a:rPr kumimoji="0" lang="en-US" altLang="en-US" sz="1400" b="0" i="0" u="none" strike="noStrike" cap="none" normalizeH="0" baseline="0" dirty="0">
                <a:ln>
                  <a:noFill/>
                </a:ln>
                <a:solidFill>
                  <a:srgbClr val="C7254E"/>
                </a:solidFill>
                <a:effectLst/>
                <a:latin typeface="Menlo"/>
              </a:rPr>
              <a:t>UPDATE</a:t>
            </a:r>
            <a:r>
              <a:rPr kumimoji="0" lang="en-US" altLang="en-US"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or </a:t>
            </a:r>
            <a:r>
              <a:rPr kumimoji="0" lang="en-US" altLang="en-US" sz="1400" b="0" i="0" u="none" strike="noStrike" cap="none" normalizeH="0" baseline="0" dirty="0">
                <a:ln>
                  <a:noFill/>
                </a:ln>
                <a:solidFill>
                  <a:srgbClr val="C7254E"/>
                </a:solidFill>
                <a:effectLst/>
                <a:latin typeface="Menlo"/>
              </a:rPr>
              <a:t>DELETE</a:t>
            </a:r>
            <a:r>
              <a:rPr kumimoji="0" lang="en-US" altLang="en-US"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statement as part of </a:t>
            </a:r>
            <a:r>
              <a:rPr kumimoji="0" lang="en-US" altLang="en-US" sz="1600" b="1" i="0" u="sng" strike="noStrike" cap="none" normalizeH="0" baseline="0" dirty="0">
                <a:ln>
                  <a:noFill/>
                </a:ln>
                <a:solidFill>
                  <a:srgbClr val="000000"/>
                </a:solidFill>
                <a:effectLst/>
                <a:latin typeface="Open Sans" panose="020B0606030504020204" pitchFamily="34" charset="0"/>
                <a:cs typeface="Open Sans" panose="020B0606030504020204" pitchFamily="34" charset="0"/>
              </a:rPr>
              <a:t>concurrency management</a:t>
            </a:r>
            <a:r>
              <a:rPr kumimoji="0" lang="en-US" altLang="en-US"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a:t>
            </a:r>
            <a:r>
              <a:rPr kumimoji="0" lang="en-US" altLang="en-US" sz="1200" b="0" i="0" u="none" strike="noStrike" cap="none" normalizeH="0" baseline="0" dirty="0">
                <a:ln>
                  <a:noFill/>
                </a:ln>
                <a:solidFill>
                  <a:schemeClr val="tx1"/>
                </a:solidFill>
                <a:effectLst/>
              </a:rPr>
              <a:t> </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0491F61F-6921-A5D4-9CCB-51ED0DA6A48A}"/>
              </a:ext>
            </a:extLst>
          </p:cNvPr>
          <p:cNvSpPr>
            <a:spLocks noChangeArrowheads="1"/>
          </p:cNvSpPr>
          <p:nvPr/>
        </p:nvSpPr>
        <p:spPr bwMode="auto">
          <a:xfrm>
            <a:off x="304800" y="1500743"/>
            <a:ext cx="5791200" cy="2369880"/>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Author</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AuthorId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err="1">
                <a:ln>
                  <a:noFill/>
                </a:ln>
                <a:solidFill>
                  <a:srgbClr val="555555"/>
                </a:solidFill>
                <a:effectLst/>
                <a:latin typeface="Menlo"/>
              </a:rPr>
              <a:t>ConcurrencyCheck</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FirstName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err="1">
                <a:ln>
                  <a:noFill/>
                </a:ln>
                <a:solidFill>
                  <a:srgbClr val="555555"/>
                </a:solidFill>
                <a:effectLst/>
                <a:latin typeface="Menlo"/>
              </a:rPr>
              <a:t>ConcurrencyCheck</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LastName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Biography</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ICollection</a:t>
            </a:r>
            <a:r>
              <a:rPr kumimoji="0" lang="en-US" altLang="en-US" sz="1400" b="0" i="0" u="none" strike="noStrike" cap="none" normalizeH="0" baseline="0" dirty="0">
                <a:ln>
                  <a:noFill/>
                </a:ln>
                <a:solidFill>
                  <a:srgbClr val="666600"/>
                </a:solidFill>
                <a:effectLst/>
                <a:latin typeface="Menlo"/>
              </a:rPr>
              <a:t>&lt;</a:t>
            </a:r>
            <a:r>
              <a:rPr kumimoji="0" lang="en-US" altLang="en-US" sz="1400" b="0" i="0" u="none" strike="noStrike" cap="none" normalizeH="0" baseline="0" dirty="0">
                <a:ln>
                  <a:noFill/>
                </a:ln>
                <a:solidFill>
                  <a:srgbClr val="555555"/>
                </a:solidFill>
                <a:effectLst/>
                <a:latin typeface="Menlo"/>
              </a:rPr>
              <a:t>Book</a:t>
            </a:r>
            <a:r>
              <a:rPr kumimoji="0" lang="en-US" altLang="en-US" sz="1400" b="0" i="0" u="none" strike="noStrike" cap="none" normalizeH="0" baseline="0" dirty="0">
                <a:ln>
                  <a:noFill/>
                </a:ln>
                <a:solidFill>
                  <a:srgbClr val="666600"/>
                </a:solidFill>
                <a:effectLst/>
                <a:latin typeface="Menlo"/>
              </a:rPr>
              <a:t>&gt;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Books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0" name="Rectangle 3">
            <a:extLst>
              <a:ext uri="{FF2B5EF4-FFF2-40B4-BE49-F238E27FC236}">
                <a16:creationId xmlns:a16="http://schemas.microsoft.com/office/drawing/2014/main" id="{6852469F-4C0A-2154-DA70-8ACF4EC83D75}"/>
              </a:ext>
            </a:extLst>
          </p:cNvPr>
          <p:cNvSpPr>
            <a:spLocks noChangeArrowheads="1"/>
          </p:cNvSpPr>
          <p:nvPr/>
        </p:nvSpPr>
        <p:spPr bwMode="auto">
          <a:xfrm>
            <a:off x="386498" y="4508552"/>
            <a:ext cx="11138752" cy="123874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26960" rIns="9144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4867"/>
                </a:solidFill>
                <a:effectLst/>
                <a:latin typeface="Roboto" panose="02000000000000000000" pitchFamily="2" charset="0"/>
              </a:rPr>
              <a:t>Fluent API</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rgbClr val="004867"/>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Fluent API equivalent to the </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ConcurrencyCheck</a:t>
            </a:r>
            <a:r>
              <a:rPr kumimoji="0" lang="en-US" altLang="en-US"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attribute is the </a:t>
            </a:r>
            <a:r>
              <a:rPr kumimoji="0" lang="en-US" altLang="en-US" sz="1600" b="1" i="0" u="sng" strike="noStrike" cap="none" normalizeH="0" baseline="0" dirty="0" err="1">
                <a:ln>
                  <a:noFill/>
                </a:ln>
                <a:solidFill>
                  <a:srgbClr val="000000"/>
                </a:solidFill>
                <a:effectLst/>
                <a:latin typeface="Open Sans" panose="020B0606030504020204" pitchFamily="34" charset="0"/>
                <a:cs typeface="Open Sans" panose="020B0606030504020204" pitchFamily="34" charset="0"/>
              </a:rPr>
              <a:t>IsConcurrencyToken</a:t>
            </a:r>
            <a:r>
              <a:rPr kumimoji="0" lang="en-US" altLang="en-US" sz="1600" b="1" i="0" u="sng" strike="noStrike" cap="none" normalizeH="0" baseline="0" dirty="0">
                <a:ln>
                  <a:noFill/>
                </a:ln>
                <a:solidFill>
                  <a:srgbClr val="000000"/>
                </a:solidFill>
                <a:effectLst/>
                <a:latin typeface="Open Sans" panose="020B0606030504020204" pitchFamily="34" charset="0"/>
                <a:cs typeface="Open Sans" panose="020B0606030504020204" pitchFamily="34" charset="0"/>
                <a:hlinkClick r:id="rId2"/>
              </a:rPr>
              <a:t> method</a:t>
            </a:r>
            <a:r>
              <a:rPr kumimoji="0" lang="en-US" altLang="en-US"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17432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288BE5F-E901-3B20-72D7-2141268DEE40}"/>
              </a:ext>
            </a:extLst>
          </p:cNvPr>
          <p:cNvSpPr txBox="1"/>
          <p:nvPr/>
        </p:nvSpPr>
        <p:spPr>
          <a:xfrm>
            <a:off x="3933335" y="-5557"/>
            <a:ext cx="6094428" cy="369332"/>
          </a:xfrm>
          <a:prstGeom prst="rect">
            <a:avLst/>
          </a:prstGeom>
          <a:noFill/>
        </p:spPr>
        <p:txBody>
          <a:bodyPr wrap="square">
            <a:spAutoFit/>
          </a:bodyPr>
          <a:lstStyle/>
          <a:p>
            <a:pPr algn="l"/>
            <a:r>
              <a:rPr lang="en-IN" b="0" i="0" dirty="0">
                <a:solidFill>
                  <a:srgbClr val="004867"/>
                </a:solidFill>
                <a:effectLst/>
                <a:latin typeface="Roboto" panose="02000000000000000000" pitchFamily="2" charset="0"/>
              </a:rPr>
              <a:t>The </a:t>
            </a:r>
            <a:r>
              <a:rPr lang="en-IN" b="0" i="0" dirty="0" err="1">
                <a:solidFill>
                  <a:srgbClr val="004867"/>
                </a:solidFill>
                <a:effectLst/>
                <a:latin typeface="Roboto" panose="02000000000000000000" pitchFamily="2" charset="0"/>
              </a:rPr>
              <a:t>DatabaseGenerated</a:t>
            </a:r>
            <a:r>
              <a:rPr lang="en-IN" b="0" i="0" dirty="0">
                <a:solidFill>
                  <a:srgbClr val="004867"/>
                </a:solidFill>
                <a:effectLst/>
                <a:latin typeface="Roboto" panose="02000000000000000000" pitchFamily="2" charset="0"/>
              </a:rPr>
              <a:t> Attribute</a:t>
            </a:r>
          </a:p>
        </p:txBody>
      </p:sp>
      <p:sp>
        <p:nvSpPr>
          <p:cNvPr id="6" name="Rectangle 1">
            <a:extLst>
              <a:ext uri="{FF2B5EF4-FFF2-40B4-BE49-F238E27FC236}">
                <a16:creationId xmlns:a16="http://schemas.microsoft.com/office/drawing/2014/main" id="{82C6CEB2-7607-300B-AD78-4D449C020401}"/>
              </a:ext>
            </a:extLst>
          </p:cNvPr>
          <p:cNvSpPr>
            <a:spLocks noChangeArrowheads="1"/>
          </p:cNvSpPr>
          <p:nvPr/>
        </p:nvSpPr>
        <p:spPr bwMode="auto">
          <a:xfrm>
            <a:off x="179110" y="259643"/>
            <a:ext cx="5476972" cy="200309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DatabaseGenerated</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attribute specifies how values are generated for a property by the database.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attribute takes a </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DatabaseGeneratedOption</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enumeration value, which can be one of three values:</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Computed</a:t>
            </a:r>
            <a:endPar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Identity</a:t>
            </a:r>
            <a:endPar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None</a:t>
            </a:r>
            <a:endPar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Values can be generated by the database when data is added to the database, or when it is added </a:t>
            </a:r>
            <a:r>
              <a:rPr kumimoji="0" lang="en-US" altLang="en-US" sz="1400" b="0" i="1"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or</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updated (saved).</a:t>
            </a:r>
            <a:endParaRPr kumimoji="0" lang="en-US" altLang="en-US" sz="1400" b="0" i="0" u="none" strike="noStrike" cap="none" normalizeH="0" baseline="0" dirty="0">
              <a:ln>
                <a:noFill/>
              </a:ln>
              <a:solidFill>
                <a:schemeClr val="tx1"/>
              </a:solidFill>
              <a:effectLst/>
            </a:endParaRPr>
          </a:p>
        </p:txBody>
      </p:sp>
      <p:sp>
        <p:nvSpPr>
          <p:cNvPr id="8" name="TextBox 7">
            <a:extLst>
              <a:ext uri="{FF2B5EF4-FFF2-40B4-BE49-F238E27FC236}">
                <a16:creationId xmlns:a16="http://schemas.microsoft.com/office/drawing/2014/main" id="{03932D37-3CDD-4704-100F-FE21F096383F}"/>
              </a:ext>
            </a:extLst>
          </p:cNvPr>
          <p:cNvSpPr txBox="1"/>
          <p:nvPr/>
        </p:nvSpPr>
        <p:spPr>
          <a:xfrm>
            <a:off x="320511" y="2220721"/>
            <a:ext cx="4744040" cy="369332"/>
          </a:xfrm>
          <a:prstGeom prst="rect">
            <a:avLst/>
          </a:prstGeom>
          <a:noFill/>
        </p:spPr>
        <p:txBody>
          <a:bodyPr wrap="square">
            <a:spAutoFit/>
          </a:bodyPr>
          <a:lstStyle/>
          <a:p>
            <a:pPr algn="ctr"/>
            <a:r>
              <a:rPr lang="en-IN" b="0" i="0" dirty="0">
                <a:solidFill>
                  <a:srgbClr val="004867"/>
                </a:solidFill>
                <a:effectLst/>
                <a:latin typeface="Roboto" panose="02000000000000000000" pitchFamily="2" charset="0"/>
              </a:rPr>
              <a:t>Computed</a:t>
            </a:r>
          </a:p>
        </p:txBody>
      </p:sp>
      <p:sp>
        <p:nvSpPr>
          <p:cNvPr id="9" name="Rectangle 2">
            <a:extLst>
              <a:ext uri="{FF2B5EF4-FFF2-40B4-BE49-F238E27FC236}">
                <a16:creationId xmlns:a16="http://schemas.microsoft.com/office/drawing/2014/main" id="{D91249DB-912E-D111-BD3C-2BD8662C7657}"/>
              </a:ext>
            </a:extLst>
          </p:cNvPr>
          <p:cNvSpPr>
            <a:spLocks noChangeArrowheads="1"/>
          </p:cNvSpPr>
          <p:nvPr/>
        </p:nvSpPr>
        <p:spPr bwMode="auto">
          <a:xfrm>
            <a:off x="40988" y="2521472"/>
            <a:ext cx="6718031" cy="2246769"/>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Computed</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option specifies that the property's value will be generated </a:t>
            </a:r>
            <a:r>
              <a:rPr kumimoji="0" lang="en-US" altLang="en-US" sz="1400" b="0" i="1"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by the database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when the value is first saved, and subsequently regenerated every time the value is updated. The practical effect of this is that Entity Framework will not include the property in INSERT or UPDATE statements, but will obtain the computed value from the database on retrieval.</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Entity Framework Core will not implement a value generation strategy. Database providers differ in the way that values are automatically generated. Some will generate values for selected data types such as </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Identity</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rowversion</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GUID</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Others may require manual configuration such as setting default values or triggers, or configuring the column as Computed.</a:t>
            </a:r>
            <a:endParaRPr kumimoji="0" lang="en-US" altLang="en-US" sz="1400" b="0" i="0" u="none" strike="noStrike" cap="none" normalizeH="0" baseline="0" dirty="0">
              <a:ln>
                <a:noFill/>
              </a:ln>
              <a:solidFill>
                <a:schemeClr val="tx1"/>
              </a:solidFill>
              <a:effectLst/>
            </a:endParaRPr>
          </a:p>
        </p:txBody>
      </p:sp>
      <p:sp>
        <p:nvSpPr>
          <p:cNvPr id="10" name="Rectangle 3">
            <a:extLst>
              <a:ext uri="{FF2B5EF4-FFF2-40B4-BE49-F238E27FC236}">
                <a16:creationId xmlns:a16="http://schemas.microsoft.com/office/drawing/2014/main" id="{F561BFC5-CB2F-4425-52F8-879C3DD55E03}"/>
              </a:ext>
            </a:extLst>
          </p:cNvPr>
          <p:cNvSpPr>
            <a:spLocks noChangeArrowheads="1"/>
          </p:cNvSpPr>
          <p:nvPr/>
        </p:nvSpPr>
        <p:spPr bwMode="auto">
          <a:xfrm>
            <a:off x="162613" y="5110570"/>
            <a:ext cx="4001678" cy="2154436"/>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Contact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FullName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Email</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err="1">
                <a:ln>
                  <a:noFill/>
                </a:ln>
                <a:solidFill>
                  <a:srgbClr val="555555"/>
                </a:solidFill>
                <a:effectLst/>
                <a:latin typeface="Menlo"/>
              </a:rPr>
              <a:t>DatabaseGenerated</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err="1">
                <a:ln>
                  <a:noFill/>
                </a:ln>
                <a:solidFill>
                  <a:srgbClr val="555555"/>
                </a:solidFill>
                <a:effectLst/>
                <a:latin typeface="Menlo"/>
              </a:rPr>
              <a:t>DatabaseGeneratedOption</a:t>
            </a:r>
            <a:r>
              <a:rPr kumimoji="0" lang="en-US" altLang="en-US" sz="1400" b="0" i="0" u="none" strike="noStrike" cap="none" normalizeH="0" baseline="0" dirty="0" err="1">
                <a:ln>
                  <a:noFill/>
                </a:ln>
                <a:solidFill>
                  <a:srgbClr val="666600"/>
                </a:solidFill>
                <a:effectLst/>
                <a:latin typeface="Menlo"/>
              </a:rPr>
              <a:t>.</a:t>
            </a:r>
            <a:r>
              <a:rPr kumimoji="0" lang="en-US" altLang="en-US" sz="1400" b="0" i="0" u="none" strike="noStrike" cap="none" normalizeH="0" baseline="0" dirty="0" err="1">
                <a:ln>
                  <a:noFill/>
                </a:ln>
                <a:solidFill>
                  <a:srgbClr val="555555"/>
                </a:solidFill>
                <a:effectLst/>
                <a:latin typeface="Menlo"/>
              </a:rPr>
              <a:t>Computed</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DateTime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LastAccessed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91A14595-4D5B-96AC-E60E-E58D75820C58}"/>
              </a:ext>
            </a:extLst>
          </p:cNvPr>
          <p:cNvSpPr txBox="1"/>
          <p:nvPr/>
        </p:nvSpPr>
        <p:spPr>
          <a:xfrm>
            <a:off x="7942083" y="259643"/>
            <a:ext cx="4171360" cy="369332"/>
          </a:xfrm>
          <a:prstGeom prst="rect">
            <a:avLst/>
          </a:prstGeom>
          <a:noFill/>
        </p:spPr>
        <p:txBody>
          <a:bodyPr wrap="square">
            <a:spAutoFit/>
          </a:bodyPr>
          <a:lstStyle/>
          <a:p>
            <a:pPr algn="ctr"/>
            <a:r>
              <a:rPr lang="en-IN" b="0" i="0" dirty="0">
                <a:solidFill>
                  <a:srgbClr val="004867"/>
                </a:solidFill>
                <a:effectLst/>
                <a:latin typeface="Roboto" panose="02000000000000000000" pitchFamily="2" charset="0"/>
              </a:rPr>
              <a:t>Identity</a:t>
            </a:r>
          </a:p>
        </p:txBody>
      </p:sp>
      <p:sp>
        <p:nvSpPr>
          <p:cNvPr id="13" name="Rectangle 4">
            <a:extLst>
              <a:ext uri="{FF2B5EF4-FFF2-40B4-BE49-F238E27FC236}">
                <a16:creationId xmlns:a16="http://schemas.microsoft.com/office/drawing/2014/main" id="{E99E04E0-460F-68DC-1408-A1FA5CE7EDBA}"/>
              </a:ext>
            </a:extLst>
          </p:cNvPr>
          <p:cNvSpPr>
            <a:spLocks noChangeArrowheads="1"/>
          </p:cNvSpPr>
          <p:nvPr/>
        </p:nvSpPr>
        <p:spPr bwMode="auto">
          <a:xfrm>
            <a:off x="7262569" y="4303454"/>
            <a:ext cx="4571213" cy="2154436"/>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Contact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FullName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Email</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err="1">
                <a:ln>
                  <a:noFill/>
                </a:ln>
                <a:solidFill>
                  <a:srgbClr val="555555"/>
                </a:solidFill>
                <a:effectLst/>
                <a:latin typeface="Menlo"/>
              </a:rPr>
              <a:t>DatabaseGenerated</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err="1">
                <a:ln>
                  <a:noFill/>
                </a:ln>
                <a:solidFill>
                  <a:srgbClr val="555555"/>
                </a:solidFill>
                <a:effectLst/>
                <a:latin typeface="Menlo"/>
              </a:rPr>
              <a:t>DatabaseGeneratedOption</a:t>
            </a:r>
            <a:r>
              <a:rPr kumimoji="0" lang="en-US" altLang="en-US" sz="1400" b="0" i="0" u="none" strike="noStrike" cap="none" normalizeH="0" baseline="0" dirty="0" err="1">
                <a:ln>
                  <a:noFill/>
                </a:ln>
                <a:solidFill>
                  <a:srgbClr val="666600"/>
                </a:solidFill>
                <a:effectLst/>
                <a:latin typeface="Menlo"/>
              </a:rPr>
              <a:t>.</a:t>
            </a:r>
            <a:r>
              <a:rPr kumimoji="0" lang="en-US" altLang="en-US" sz="1400" b="0" i="0" u="none" strike="noStrike" cap="none" normalizeH="0" baseline="0" dirty="0" err="1">
                <a:ln>
                  <a:noFill/>
                </a:ln>
                <a:solidFill>
                  <a:srgbClr val="555555"/>
                </a:solidFill>
                <a:effectLst/>
                <a:latin typeface="Menlo"/>
              </a:rPr>
              <a:t>Identity</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DateTime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Created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DateTime</a:t>
            </a:r>
            <a:r>
              <a:rPr kumimoji="0" lang="en-US" altLang="en-US" sz="1400" b="0" i="0" u="none" strike="noStrike" cap="none" normalizeH="0" baseline="0" dirty="0" err="1">
                <a:ln>
                  <a:noFill/>
                </a:ln>
                <a:solidFill>
                  <a:srgbClr val="666600"/>
                </a:solidFill>
                <a:effectLst/>
                <a:latin typeface="Menlo"/>
              </a:rPr>
              <a:t>.</a:t>
            </a:r>
            <a:r>
              <a:rPr kumimoji="0" lang="en-US" altLang="en-US" sz="1400" b="0" i="0" u="none" strike="noStrike" cap="none" normalizeH="0" baseline="0" dirty="0" err="1">
                <a:ln>
                  <a:noFill/>
                </a:ln>
                <a:solidFill>
                  <a:srgbClr val="555555"/>
                </a:solidFill>
                <a:effectLst/>
                <a:latin typeface="Menlo"/>
              </a:rPr>
              <a:t>UtcNow</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4" name="Rectangle 5">
            <a:extLst>
              <a:ext uri="{FF2B5EF4-FFF2-40B4-BE49-F238E27FC236}">
                <a16:creationId xmlns:a16="http://schemas.microsoft.com/office/drawing/2014/main" id="{78639088-CA3C-F472-FF30-5AA1E02CC336}"/>
              </a:ext>
            </a:extLst>
          </p:cNvPr>
          <p:cNvSpPr>
            <a:spLocks noChangeArrowheads="1"/>
          </p:cNvSpPr>
          <p:nvPr/>
        </p:nvSpPr>
        <p:spPr bwMode="auto">
          <a:xfrm>
            <a:off x="7180084" y="628975"/>
            <a:ext cx="4832806" cy="3539430"/>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Identity</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option specifies that the value will only be generated by the database when a value is first added to the database. Thereafter, the property will not be included in UPDATE statements by Entity Framework.</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Again, Entity Framework Core will not implement a value generation strategy. Database providers differ in the way that values are automatically generated. Some will generate values for selected data types such as </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Identity</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rowversion</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GUID</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In the following example, the annotation is used to configure the </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Created</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property in the </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Contact</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entity. Since the property is required, Entity Framework will configure a default value of </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DateTime.MinValue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You can override this by setting a default value in the entity's constructor or by initializing an auto-implemented property (as illustrated here):</a:t>
            </a:r>
            <a:endParaRPr kumimoji="0" lang="en-US" altLang="en-US" sz="1400" b="0" i="0" u="none" strike="noStrike" cap="none" normalizeH="0" baseline="0" dirty="0">
              <a:ln>
                <a:noFill/>
              </a:ln>
              <a:solidFill>
                <a:schemeClr val="tx1"/>
              </a:solidFill>
              <a:effectLst/>
            </a:endParaRPr>
          </a:p>
        </p:txBody>
      </p:sp>
      <p:sp>
        <p:nvSpPr>
          <p:cNvPr id="16" name="TextBox 15">
            <a:extLst>
              <a:ext uri="{FF2B5EF4-FFF2-40B4-BE49-F238E27FC236}">
                <a16:creationId xmlns:a16="http://schemas.microsoft.com/office/drawing/2014/main" id="{AB9FA93A-D98E-EA2B-FA52-6A9DFC5C1014}"/>
              </a:ext>
            </a:extLst>
          </p:cNvPr>
          <p:cNvSpPr txBox="1"/>
          <p:nvPr/>
        </p:nvSpPr>
        <p:spPr>
          <a:xfrm>
            <a:off x="6327743" y="6439753"/>
            <a:ext cx="6094428" cy="307777"/>
          </a:xfrm>
          <a:prstGeom prst="rect">
            <a:avLst/>
          </a:prstGeom>
          <a:noFill/>
        </p:spPr>
        <p:txBody>
          <a:bodyPr wrap="square">
            <a:spAutoFit/>
          </a:bodyPr>
          <a:lstStyle/>
          <a:p>
            <a:r>
              <a:rPr lang="en-US" sz="1400" b="0" i="0" dirty="0">
                <a:solidFill>
                  <a:srgbClr val="333333"/>
                </a:solidFill>
                <a:effectLst/>
                <a:latin typeface="Open Sans" panose="020B0606030504020204" pitchFamily="34" charset="0"/>
              </a:rPr>
              <a:t>Alternatively, you can configure a default value in the database itself.</a:t>
            </a:r>
            <a:endParaRPr lang="en-IN" sz="1400" dirty="0"/>
          </a:p>
        </p:txBody>
      </p:sp>
    </p:spTree>
    <p:extLst>
      <p:ext uri="{BB962C8B-B14F-4D97-AF65-F5344CB8AC3E}">
        <p14:creationId xmlns:p14="http://schemas.microsoft.com/office/powerpoint/2010/main" val="822360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0CE619-631F-14B0-9389-5CE5AD372B71}"/>
              </a:ext>
            </a:extLst>
          </p:cNvPr>
          <p:cNvSpPr txBox="1"/>
          <p:nvPr/>
        </p:nvSpPr>
        <p:spPr>
          <a:xfrm>
            <a:off x="4442382" y="154698"/>
            <a:ext cx="2175235" cy="369332"/>
          </a:xfrm>
          <a:prstGeom prst="rect">
            <a:avLst/>
          </a:prstGeom>
          <a:noFill/>
        </p:spPr>
        <p:txBody>
          <a:bodyPr wrap="square">
            <a:spAutoFit/>
          </a:bodyPr>
          <a:lstStyle/>
          <a:p>
            <a:pPr algn="ctr"/>
            <a:r>
              <a:rPr lang="en-IN" b="0" i="0" dirty="0">
                <a:solidFill>
                  <a:srgbClr val="004867"/>
                </a:solidFill>
                <a:effectLst/>
                <a:latin typeface="Roboto" panose="02000000000000000000" pitchFamily="2" charset="0"/>
              </a:rPr>
              <a:t>None</a:t>
            </a:r>
          </a:p>
        </p:txBody>
      </p:sp>
      <p:sp>
        <p:nvSpPr>
          <p:cNvPr id="6" name="Rectangle 1">
            <a:extLst>
              <a:ext uri="{FF2B5EF4-FFF2-40B4-BE49-F238E27FC236}">
                <a16:creationId xmlns:a16="http://schemas.microsoft.com/office/drawing/2014/main" id="{E276EEC1-677A-BBF5-7EFB-515B155EF5D1}"/>
              </a:ext>
            </a:extLst>
          </p:cNvPr>
          <p:cNvSpPr>
            <a:spLocks noChangeArrowheads="1"/>
          </p:cNvSpPr>
          <p:nvPr/>
        </p:nvSpPr>
        <p:spPr bwMode="auto">
          <a:xfrm>
            <a:off x="-1" y="529747"/>
            <a:ext cx="12049126" cy="738664"/>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a:t>
            </a:r>
            <a:r>
              <a:rPr kumimoji="0" lang="en-US" altLang="en-US" sz="1400" b="0" i="0" u="none" strike="noStrike" cap="none" normalizeH="0" baseline="0" dirty="0">
                <a:ln>
                  <a:noFill/>
                </a:ln>
                <a:solidFill>
                  <a:srgbClr val="C7254E"/>
                </a:solidFill>
                <a:effectLst/>
                <a:latin typeface="Menlo"/>
              </a:rPr>
              <a:t>None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option prevents values from being generated by the database automatically in cases where they would otherwise be created. Convention specifies that a property named 'Id' with a data type of </a:t>
            </a:r>
            <a:r>
              <a:rPr kumimoji="0" lang="en-US" altLang="en-US" sz="1400" b="0" i="0" u="none" strike="noStrike" cap="none" normalizeH="0" baseline="0" dirty="0" err="1">
                <a:ln>
                  <a:noFill/>
                </a:ln>
                <a:solidFill>
                  <a:srgbClr val="C7254E"/>
                </a:solidFill>
                <a:effectLst/>
                <a:latin typeface="Menlo"/>
              </a:rPr>
              <a:t>int</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will be configured as the primary key for an entity, and will be mapped to an </a:t>
            </a:r>
            <a:r>
              <a:rPr kumimoji="0" lang="en-US" altLang="en-US" sz="1400" b="0" i="0" u="none" strike="noStrike" cap="none" normalizeH="0" baseline="0" dirty="0">
                <a:ln>
                  <a:noFill/>
                </a:ln>
                <a:solidFill>
                  <a:srgbClr val="C7254E"/>
                </a:solidFill>
                <a:effectLst/>
                <a:latin typeface="Menlo"/>
              </a:rPr>
              <a:t>Identity</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column in SQL Server, which automatically generates values when data is added. If you want to implement your own value generation strategy and override the default </a:t>
            </a:r>
            <a:r>
              <a:rPr kumimoji="0" lang="en-US" altLang="en-US" sz="1400" b="0" i="0" u="none" strike="noStrike" cap="none" normalizeH="0" baseline="0" dirty="0" err="1">
                <a:ln>
                  <a:noFill/>
                </a:ln>
                <a:solidFill>
                  <a:srgbClr val="333333"/>
                </a:solidFill>
                <a:effectLst/>
                <a:latin typeface="Open Sans" panose="020B0606030504020204" pitchFamily="34" charset="0"/>
                <a:cs typeface="Open Sans" panose="020B0606030504020204" pitchFamily="34" charset="0"/>
              </a:rPr>
              <a:t>behaviour</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you will use the </a:t>
            </a:r>
            <a:r>
              <a:rPr kumimoji="0" lang="en-US" altLang="en-US" sz="1400" b="0" i="0" u="none" strike="noStrike" cap="none" normalizeH="0" baseline="0" dirty="0">
                <a:ln>
                  <a:noFill/>
                </a:ln>
                <a:solidFill>
                  <a:srgbClr val="C7254E"/>
                </a:solidFill>
                <a:effectLst/>
                <a:latin typeface="Menlo"/>
              </a:rPr>
              <a:t>None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option:</a:t>
            </a:r>
            <a:r>
              <a:rPr kumimoji="0" lang="en-US" altLang="en-US" sz="1400" b="0" i="0" u="none" strike="noStrike" cap="none" normalizeH="0" baseline="0" dirty="0">
                <a:ln>
                  <a:noFill/>
                </a:ln>
                <a:solidFill>
                  <a:schemeClr val="tx1"/>
                </a:solidFill>
                <a:effectLst/>
              </a:rPr>
              <a:t> </a:t>
            </a:r>
          </a:p>
        </p:txBody>
      </p:sp>
      <p:sp>
        <p:nvSpPr>
          <p:cNvPr id="7" name="Rectangle 2">
            <a:extLst>
              <a:ext uri="{FF2B5EF4-FFF2-40B4-BE49-F238E27FC236}">
                <a16:creationId xmlns:a16="http://schemas.microsoft.com/office/drawing/2014/main" id="{D9C4F93A-D253-C832-655E-EA1823533AD9}"/>
              </a:ext>
            </a:extLst>
          </p:cNvPr>
          <p:cNvSpPr>
            <a:spLocks noChangeArrowheads="1"/>
          </p:cNvSpPr>
          <p:nvPr/>
        </p:nvSpPr>
        <p:spPr bwMode="auto">
          <a:xfrm>
            <a:off x="94267" y="1863164"/>
            <a:ext cx="5165889" cy="193899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a:ln>
                  <a:noFill/>
                </a:ln>
                <a:solidFill>
                  <a:srgbClr val="0000FF"/>
                </a:solidFill>
                <a:effectLst/>
                <a:latin typeface="Menlo"/>
              </a:rPr>
              <a:t>public</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class</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555555"/>
                </a:solidFill>
                <a:effectLst/>
                <a:latin typeface="Menlo"/>
              </a:rPr>
              <a:t>Car</a:t>
            </a:r>
            <a:endParaRPr kumimoji="0" lang="en-US" altLang="en-US" sz="1400" b="0" i="0" u="none" strike="noStrike" cap="none" normalizeH="0" baseline="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a:ln>
                  <a:noFill/>
                </a:ln>
                <a:solidFill>
                  <a:srgbClr val="666600"/>
                </a:solidFill>
                <a:effectLst/>
                <a:latin typeface="Menlo"/>
              </a:rPr>
              <a:t>{</a:t>
            </a:r>
            <a:endParaRPr kumimoji="0" lang="en-US" altLang="en-US" sz="1400" b="0" i="0" u="none" strike="noStrike" cap="none" normalizeH="0" baseline="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555555"/>
                </a:solidFill>
                <a:effectLst/>
                <a:latin typeface="Menlo"/>
              </a:rPr>
              <a:t>DatabaseGenerated</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555555"/>
                </a:solidFill>
                <a:effectLst/>
                <a:latin typeface="Menlo"/>
              </a:rPr>
              <a:t>DatabaseGeneratedOption</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FF"/>
                </a:solidFill>
                <a:effectLst/>
                <a:latin typeface="Menlo"/>
              </a:rPr>
              <a:t>None</a:t>
            </a:r>
            <a:r>
              <a:rPr kumimoji="0" lang="en-US" altLang="en-US" sz="1400" b="0" i="0" u="none" strike="noStrike" cap="none" normalizeH="0" baseline="0">
                <a:ln>
                  <a:noFill/>
                </a:ln>
                <a:solidFill>
                  <a:srgbClr val="666600"/>
                </a:solidFill>
                <a:effectLst/>
                <a:latin typeface="Menlo"/>
              </a:rPr>
              <a:t>)]</a:t>
            </a:r>
            <a:endParaRPr kumimoji="0" lang="en-US" altLang="en-US" sz="1400" b="0" i="0" u="none" strike="noStrike" cap="none" normalizeH="0" baseline="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0" i="0" u="none" strike="noStrike" cap="none" normalizeH="0" baseline="0">
                <a:ln>
                  <a:noFill/>
                </a:ln>
                <a:solidFill>
                  <a:srgbClr val="0000FF"/>
                </a:solidFill>
                <a:effectLst/>
                <a:latin typeface="Menlo"/>
              </a:rPr>
              <a:t>public</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int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555555"/>
                </a:solidFill>
                <a:effectLst/>
                <a:latin typeface="Menlo"/>
              </a:rPr>
              <a:t>Id</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get</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set</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666600"/>
                </a:solidFill>
                <a:effectLst/>
                <a:latin typeface="Menlo"/>
              </a:rPr>
              <a:t>}</a:t>
            </a:r>
            <a:endParaRPr kumimoji="0" lang="en-US" altLang="en-US" sz="1400" b="0" i="0" u="none" strike="noStrike" cap="none" normalizeH="0" baseline="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400" b="0" i="0" u="none" strike="noStrike" cap="none" normalizeH="0" baseline="0">
                <a:ln>
                  <a:noFill/>
                </a:ln>
                <a:solidFill>
                  <a:srgbClr val="0000FF"/>
                </a:solidFill>
                <a:effectLst/>
                <a:latin typeface="Menlo"/>
              </a:rPr>
              <a:t>public</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string</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555555"/>
                </a:solidFill>
                <a:effectLst/>
                <a:latin typeface="Menlo"/>
              </a:rPr>
              <a:t>Model</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get</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set</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666600"/>
                </a:solidFill>
                <a:effectLst/>
                <a:latin typeface="Menlo"/>
              </a:rPr>
              <a:t>}</a:t>
            </a:r>
            <a:endParaRPr kumimoji="0" lang="en-US" altLang="en-US" sz="1400" b="0" i="0" u="none" strike="noStrike" cap="none" normalizeH="0" baseline="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400" b="0" i="0" u="none" strike="noStrike" cap="none" normalizeH="0" baseline="0">
                <a:ln>
                  <a:noFill/>
                </a:ln>
                <a:solidFill>
                  <a:srgbClr val="0000FF"/>
                </a:solidFill>
                <a:effectLst/>
                <a:latin typeface="Menlo"/>
              </a:rPr>
              <a:t>public</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555555"/>
                </a:solidFill>
                <a:effectLst/>
                <a:latin typeface="Menlo"/>
              </a:rPr>
              <a:t>DateTime</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555555"/>
                </a:solidFill>
                <a:effectLst/>
                <a:latin typeface="Menlo"/>
              </a:rPr>
              <a:t>Registered</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get</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set</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666600"/>
                </a:solidFill>
                <a:effectLst/>
                <a:latin typeface="Menlo"/>
              </a:rPr>
              <a:t>}</a:t>
            </a:r>
            <a:endParaRPr kumimoji="0" lang="en-US" altLang="en-US" sz="1400" b="0" i="0" u="none" strike="noStrike" cap="none" normalizeH="0" baseline="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400" b="0" i="0" u="none" strike="noStrike" cap="none" normalizeH="0" baseline="0">
                <a:ln>
                  <a:noFill/>
                </a:ln>
                <a:solidFill>
                  <a:srgbClr val="666600"/>
                </a:solidFill>
                <a:effectLst/>
                <a:latin typeface="Menlo"/>
              </a:rPr>
              <a:t>}</a:t>
            </a:r>
            <a:endParaRPr kumimoji="0" lang="en-US" altLang="en-US" sz="1400" b="0" i="0" u="none" strike="noStrike" cap="none" normalizeH="0" baseline="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6C132818-4E18-7A48-CD9C-A3D76F50BCAD}"/>
              </a:ext>
            </a:extLst>
          </p:cNvPr>
          <p:cNvSpPr>
            <a:spLocks noChangeArrowheads="1"/>
          </p:cNvSpPr>
          <p:nvPr/>
        </p:nvSpPr>
        <p:spPr bwMode="auto">
          <a:xfrm>
            <a:off x="405353" y="4908971"/>
            <a:ext cx="8062372" cy="160298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4867"/>
                </a:solidFill>
                <a:effectLst/>
                <a:latin typeface="Roboto" panose="02000000000000000000" pitchFamily="2" charset="0"/>
              </a:rPr>
              <a:t>Fluent API</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04867"/>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Fluent API equivalent </a:t>
            </a:r>
            <a:r>
              <a:rPr kumimoji="0" lang="en-US" altLang="en-US" sz="1100" b="0" i="0" u="none" strike="noStrike" cap="none" normalizeH="0" baseline="0" dirty="0" err="1">
                <a:ln>
                  <a:noFill/>
                </a:ln>
                <a:solidFill>
                  <a:srgbClr val="333333"/>
                </a:solidFill>
                <a:effectLst/>
                <a:latin typeface="Open Sans" panose="020B0606030504020204" pitchFamily="34" charset="0"/>
                <a:cs typeface="Open Sans" panose="020B0606030504020204" pitchFamily="34" charset="0"/>
              </a:rPr>
              <a:t>mehtods</a:t>
            </a:r>
            <a:r>
              <a:rPr kumimoji="0" lang="en-US" altLang="en-US" sz="11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for the </a:t>
            </a:r>
            <a:r>
              <a:rPr kumimoji="0" lang="en-US" altLang="en-US" sz="1050" b="0" i="0" u="none" strike="noStrike" cap="none" normalizeH="0" baseline="0" dirty="0" err="1">
                <a:ln>
                  <a:noFill/>
                </a:ln>
                <a:solidFill>
                  <a:srgbClr val="C7254E"/>
                </a:solidFill>
                <a:effectLst/>
                <a:latin typeface="Menlo"/>
                <a:cs typeface="Open Sans" panose="020B0606030504020204" pitchFamily="34" charset="0"/>
              </a:rPr>
              <a:t>DatabaseGenerated</a:t>
            </a:r>
            <a:r>
              <a:rPr kumimoji="0" lang="en-US" altLang="en-US" sz="11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attribute are</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rgbClr val="C7254E"/>
                </a:solidFill>
                <a:effectLst/>
                <a:latin typeface="Menlo"/>
                <a:cs typeface="Open Sans" panose="020B0606030504020204" pitchFamily="34" charset="0"/>
              </a:rPr>
              <a:t>Computed</a:t>
            </a:r>
            <a:r>
              <a:rPr kumimoji="0" lang="en-US" altLang="en-US" sz="11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
            </a:r>
            <a:r>
              <a:rPr kumimoji="0" lang="en-US" altLang="en-US" sz="1100" b="1" i="0" u="sng" strike="noStrike" cap="none" normalizeH="0" baseline="0" dirty="0" err="1">
                <a:ln>
                  <a:noFill/>
                </a:ln>
                <a:solidFill>
                  <a:srgbClr val="000000"/>
                </a:solidFill>
                <a:effectLst/>
                <a:latin typeface="Open Sans" panose="020B0606030504020204" pitchFamily="34" charset="0"/>
                <a:cs typeface="Open Sans" panose="020B0606030504020204" pitchFamily="34" charset="0"/>
              </a:rPr>
              <a:t>ValueGeneratedOnAddOrUpdate</a:t>
            </a:r>
            <a:endParaRPr kumimoji="0" lang="en-US" altLang="en-US" sz="11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rgbClr val="C7254E"/>
                </a:solidFill>
                <a:effectLst/>
                <a:latin typeface="Menlo"/>
                <a:cs typeface="Open Sans" panose="020B0606030504020204" pitchFamily="34" charset="0"/>
              </a:rPr>
              <a:t>Identity</a:t>
            </a:r>
            <a:r>
              <a:rPr kumimoji="0" lang="en-US" altLang="en-US" sz="11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
            </a:r>
            <a:r>
              <a:rPr kumimoji="0" lang="en-US" altLang="en-US" sz="1100" b="1" i="0" u="sng" strike="noStrike" cap="none" normalizeH="0" baseline="0" dirty="0">
                <a:ln>
                  <a:noFill/>
                </a:ln>
                <a:solidFill>
                  <a:srgbClr val="000000"/>
                </a:solidFill>
                <a:effectLst/>
                <a:latin typeface="Open Sans" panose="020B0606030504020204" pitchFamily="34" charset="0"/>
                <a:cs typeface="Open Sans" panose="020B0606030504020204" pitchFamily="34" charset="0"/>
              </a:rPr>
              <a:t>ValueGeneratedOnAdd</a:t>
            </a:r>
            <a:endParaRPr kumimoji="0" lang="en-US" altLang="en-US" sz="11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rgbClr val="C7254E"/>
                </a:solidFill>
                <a:effectLst/>
                <a:latin typeface="Menlo"/>
                <a:cs typeface="Open Sans" panose="020B0606030504020204" pitchFamily="34" charset="0"/>
              </a:rPr>
              <a:t>None</a:t>
            </a:r>
            <a:r>
              <a:rPr kumimoji="0" lang="en-US" altLang="en-US" sz="11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
            </a:r>
            <a:r>
              <a:rPr kumimoji="0" lang="en-US" altLang="en-US" sz="1100" b="1" i="0" u="sng" strike="noStrike" cap="none" normalizeH="0" baseline="0" dirty="0">
                <a:ln>
                  <a:noFill/>
                </a:ln>
                <a:solidFill>
                  <a:srgbClr val="000000"/>
                </a:solidFill>
                <a:effectLst/>
                <a:latin typeface="Open Sans" panose="020B0606030504020204" pitchFamily="34" charset="0"/>
                <a:cs typeface="Open Sans" panose="020B0606030504020204" pitchFamily="34" charset="0"/>
              </a:rPr>
              <a:t>ValueGeneratedNever</a:t>
            </a:r>
            <a:endParaRPr kumimoji="0" lang="en-US" altLang="en-US" sz="11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77754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02EEF17-F868-2D28-ADFC-4A69EFF27271}"/>
              </a:ext>
            </a:extLst>
          </p:cNvPr>
          <p:cNvSpPr txBox="1"/>
          <p:nvPr/>
        </p:nvSpPr>
        <p:spPr>
          <a:xfrm>
            <a:off x="66595" y="75414"/>
            <a:ext cx="4371679" cy="369332"/>
          </a:xfrm>
          <a:prstGeom prst="rect">
            <a:avLst/>
          </a:prstGeom>
          <a:noFill/>
        </p:spPr>
        <p:txBody>
          <a:bodyPr wrap="square">
            <a:spAutoFit/>
          </a:bodyPr>
          <a:lstStyle/>
          <a:p>
            <a:pPr algn="ctr"/>
            <a:r>
              <a:rPr lang="en-IN" b="0" i="0" dirty="0">
                <a:solidFill>
                  <a:srgbClr val="004867"/>
                </a:solidFill>
                <a:effectLst/>
                <a:latin typeface="Roboto" panose="02000000000000000000" pitchFamily="2" charset="0"/>
              </a:rPr>
              <a:t>The </a:t>
            </a:r>
            <a:r>
              <a:rPr lang="en-IN" b="0" i="0" dirty="0" err="1">
                <a:solidFill>
                  <a:srgbClr val="004867"/>
                </a:solidFill>
                <a:effectLst/>
                <a:latin typeface="Roboto" panose="02000000000000000000" pitchFamily="2" charset="0"/>
              </a:rPr>
              <a:t>ForeignKey</a:t>
            </a:r>
            <a:r>
              <a:rPr lang="en-IN" b="0" i="0" dirty="0">
                <a:solidFill>
                  <a:srgbClr val="004867"/>
                </a:solidFill>
                <a:effectLst/>
                <a:latin typeface="Roboto" panose="02000000000000000000" pitchFamily="2" charset="0"/>
              </a:rPr>
              <a:t> Attribute</a:t>
            </a:r>
          </a:p>
        </p:txBody>
      </p:sp>
      <p:sp>
        <p:nvSpPr>
          <p:cNvPr id="6" name="Rectangle 1">
            <a:extLst>
              <a:ext uri="{FF2B5EF4-FFF2-40B4-BE49-F238E27FC236}">
                <a16:creationId xmlns:a16="http://schemas.microsoft.com/office/drawing/2014/main" id="{6CCAF675-5567-1627-DD60-B1A6E942D922}"/>
              </a:ext>
            </a:extLst>
          </p:cNvPr>
          <p:cNvSpPr>
            <a:spLocks noChangeArrowheads="1"/>
          </p:cNvSpPr>
          <p:nvPr/>
        </p:nvSpPr>
        <p:spPr bwMode="auto">
          <a:xfrm>
            <a:off x="66595" y="565123"/>
            <a:ext cx="5212415" cy="181588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ForeignKey</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attribute is used to specify which property is the foreign key in a relationship.</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In the following example, the </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AuthorFK</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property in the </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Book</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entity does not follow </a:t>
            </a:r>
            <a:r>
              <a:rPr kumimoji="0" lang="en-US" altLang="en-US" sz="1400" b="1" i="0" u="sng" strike="noStrike" cap="none" normalizeH="0" baseline="0" dirty="0">
                <a:ln>
                  <a:noFill/>
                </a:ln>
                <a:solidFill>
                  <a:srgbClr val="000000"/>
                </a:solidFill>
                <a:effectLst/>
                <a:latin typeface="Open Sans" panose="020B0606030504020204" pitchFamily="34" charset="0"/>
                <a:cs typeface="Open Sans" panose="020B0606030504020204" pitchFamily="34" charset="0"/>
              </a:rPr>
              <a:t>Entity Framework Core's convention for foreign key names</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Left as it is, Entity Framework Core will create an </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AuthorFK</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field </a:t>
            </a:r>
            <a:r>
              <a:rPr kumimoji="0" lang="en-US" altLang="en-US" sz="1400" b="0" i="1"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and</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an </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AuthorId</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field which it will configure as a foreign key:</a:t>
            </a:r>
            <a:endParaRPr kumimoji="0" lang="en-US" altLang="en-US" sz="1400" b="0" i="0" u="none" strike="noStrike" cap="none" normalizeH="0" baseline="0" dirty="0">
              <a:ln>
                <a:noFill/>
              </a:ln>
              <a:solidFill>
                <a:schemeClr val="tx1"/>
              </a:solidFill>
              <a:effectLst/>
            </a:endParaRPr>
          </a:p>
        </p:txBody>
      </p:sp>
      <p:sp>
        <p:nvSpPr>
          <p:cNvPr id="7" name="Rectangle 2">
            <a:extLst>
              <a:ext uri="{FF2B5EF4-FFF2-40B4-BE49-F238E27FC236}">
                <a16:creationId xmlns:a16="http://schemas.microsoft.com/office/drawing/2014/main" id="{9E456DBA-834F-88B8-428A-B8E47ED949C6}"/>
              </a:ext>
            </a:extLst>
          </p:cNvPr>
          <p:cNvSpPr>
            <a:spLocks noChangeArrowheads="1"/>
          </p:cNvSpPr>
          <p:nvPr/>
        </p:nvSpPr>
        <p:spPr bwMode="auto">
          <a:xfrm>
            <a:off x="62845" y="2524447"/>
            <a:ext cx="4141510" cy="3447098"/>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a:ln>
                  <a:noFill/>
                </a:ln>
                <a:solidFill>
                  <a:srgbClr val="0000FF"/>
                </a:solidFill>
                <a:effectLst/>
                <a:latin typeface="Menlo"/>
              </a:rPr>
              <a:t>public</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class</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555555"/>
                </a:solidFill>
                <a:effectLst/>
                <a:latin typeface="Menlo"/>
              </a:rPr>
              <a:t>Author</a:t>
            </a:r>
            <a:endParaRPr kumimoji="0" lang="en-US" altLang="en-US" sz="1400" b="0" i="0" u="none" strike="noStrike" cap="none" normalizeH="0" baseline="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a:ln>
                  <a:noFill/>
                </a:ln>
                <a:solidFill>
                  <a:srgbClr val="666600"/>
                </a:solidFill>
                <a:effectLst/>
                <a:latin typeface="Menlo"/>
              </a:rPr>
              <a:t>{</a:t>
            </a:r>
            <a:endParaRPr kumimoji="0" lang="en-US" altLang="en-US" sz="1400" b="0" i="0" u="none" strike="noStrike" cap="none" normalizeH="0" baseline="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a:ln>
                  <a:noFill/>
                </a:ln>
                <a:solidFill>
                  <a:srgbClr val="0000FF"/>
                </a:solidFill>
                <a:effectLst/>
                <a:latin typeface="Menlo"/>
              </a:rPr>
              <a:t>public</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int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555555"/>
                </a:solidFill>
                <a:effectLst/>
                <a:latin typeface="Menlo"/>
              </a:rPr>
              <a:t>AuthorId</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get</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set</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666600"/>
                </a:solidFill>
                <a:effectLst/>
                <a:latin typeface="Menlo"/>
              </a:rPr>
              <a:t>}</a:t>
            </a:r>
            <a:endParaRPr kumimoji="0" lang="en-US" altLang="en-US" sz="1400" b="0" i="0" u="none" strike="noStrike" cap="none" normalizeH="0" baseline="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0" i="0" u="none" strike="noStrike" cap="none" normalizeH="0" baseline="0">
                <a:ln>
                  <a:noFill/>
                </a:ln>
                <a:solidFill>
                  <a:srgbClr val="0000FF"/>
                </a:solidFill>
                <a:effectLst/>
                <a:latin typeface="Menlo"/>
              </a:rPr>
              <a:t>public</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string</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555555"/>
                </a:solidFill>
                <a:effectLst/>
                <a:latin typeface="Menlo"/>
              </a:rPr>
              <a:t>FirstName</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get</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set</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666600"/>
                </a:solidFill>
                <a:effectLst/>
                <a:latin typeface="Menlo"/>
              </a:rPr>
              <a:t>}</a:t>
            </a:r>
            <a:endParaRPr kumimoji="0" lang="en-US" altLang="en-US" sz="1400" b="0" i="0" u="none" strike="noStrike" cap="none" normalizeH="0" baseline="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400" b="0" i="0" u="none" strike="noStrike" cap="none" normalizeH="0" baseline="0">
                <a:ln>
                  <a:noFill/>
                </a:ln>
                <a:solidFill>
                  <a:srgbClr val="0000FF"/>
                </a:solidFill>
                <a:effectLst/>
                <a:latin typeface="Menlo"/>
              </a:rPr>
              <a:t>public</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string</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555555"/>
                </a:solidFill>
                <a:effectLst/>
                <a:latin typeface="Menlo"/>
              </a:rPr>
              <a:t>LastName</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get</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set</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666600"/>
                </a:solidFill>
                <a:effectLst/>
                <a:latin typeface="Menlo"/>
              </a:rPr>
              <a:t>}</a:t>
            </a:r>
            <a:endParaRPr kumimoji="0" lang="en-US" altLang="en-US" sz="1400" b="0" i="0" u="none" strike="noStrike" cap="none" normalizeH="0" baseline="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400" b="0" i="0" u="none" strike="noStrike" cap="none" normalizeH="0" baseline="0">
                <a:ln>
                  <a:noFill/>
                </a:ln>
                <a:solidFill>
                  <a:srgbClr val="0000FF"/>
                </a:solidFill>
                <a:effectLst/>
                <a:latin typeface="Menlo"/>
              </a:rPr>
              <a:t>public</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555555"/>
                </a:solidFill>
                <a:effectLst/>
                <a:latin typeface="Menlo"/>
              </a:rPr>
              <a:t>ICollection</a:t>
            </a:r>
            <a:r>
              <a:rPr kumimoji="0" lang="en-US" altLang="en-US" sz="1400" b="0" i="0" u="none" strike="noStrike" cap="none" normalizeH="0" baseline="0">
                <a:ln>
                  <a:noFill/>
                </a:ln>
                <a:solidFill>
                  <a:srgbClr val="666600"/>
                </a:solidFill>
                <a:effectLst/>
                <a:latin typeface="Menlo"/>
              </a:rPr>
              <a:t>&lt;</a:t>
            </a:r>
            <a:r>
              <a:rPr kumimoji="0" lang="en-US" altLang="en-US" sz="1400" b="0" i="0" u="none" strike="noStrike" cap="none" normalizeH="0" baseline="0">
                <a:ln>
                  <a:noFill/>
                </a:ln>
                <a:solidFill>
                  <a:srgbClr val="555555"/>
                </a:solidFill>
                <a:effectLst/>
                <a:latin typeface="Menlo"/>
              </a:rPr>
              <a:t>Book</a:t>
            </a:r>
            <a:r>
              <a:rPr kumimoji="0" lang="en-US" altLang="en-US" sz="1400" b="0" i="0" u="none" strike="noStrike" cap="none" normalizeH="0" baseline="0">
                <a:ln>
                  <a:noFill/>
                </a:ln>
                <a:solidFill>
                  <a:srgbClr val="666600"/>
                </a:solidFill>
                <a:effectLst/>
                <a:latin typeface="Menlo"/>
              </a:rPr>
              <a:t>&gt;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555555"/>
                </a:solidFill>
                <a:effectLst/>
                <a:latin typeface="Menlo"/>
              </a:rPr>
              <a:t>Books</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get</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set</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666600"/>
                </a:solidFill>
                <a:effectLst/>
                <a:latin typeface="Menlo"/>
              </a:rPr>
              <a:t>}</a:t>
            </a:r>
            <a:endParaRPr kumimoji="0" lang="en-US" altLang="en-US" sz="1400" b="0" i="0" u="none" strike="noStrike" cap="none" normalizeH="0" baseline="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400" b="0" i="0" u="none" strike="noStrike" cap="none" normalizeH="0" baseline="0">
                <a:ln>
                  <a:noFill/>
                </a:ln>
                <a:solidFill>
                  <a:srgbClr val="666600"/>
                </a:solidFill>
                <a:effectLst/>
                <a:latin typeface="Menlo"/>
              </a:rPr>
              <a:t>}</a:t>
            </a:r>
            <a:endParaRPr kumimoji="0" lang="en-US" altLang="en-US" sz="1400" b="0" i="0" u="none" strike="noStrike" cap="none" normalizeH="0" baseline="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400" b="0" i="0" u="none" strike="noStrike" cap="none" normalizeH="0" baseline="0">
                <a:ln>
                  <a:noFill/>
                </a:ln>
                <a:solidFill>
                  <a:srgbClr val="0000FF"/>
                </a:solidFill>
                <a:effectLst/>
                <a:latin typeface="Menlo"/>
              </a:rPr>
              <a:t>public</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class</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555555"/>
                </a:solidFill>
                <a:effectLst/>
                <a:latin typeface="Menlo"/>
              </a:rPr>
              <a:t>Book</a:t>
            </a:r>
            <a:endParaRPr kumimoji="0" lang="en-US" altLang="en-US" sz="1400" b="0" i="0" u="none" strike="noStrike" cap="none" normalizeH="0" baseline="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1400" b="0" i="0" u="none" strike="noStrike" cap="none" normalizeH="0" baseline="0">
                <a:ln>
                  <a:noFill/>
                </a:ln>
                <a:solidFill>
                  <a:srgbClr val="666600"/>
                </a:solidFill>
                <a:effectLst/>
                <a:latin typeface="Menlo"/>
              </a:rPr>
              <a:t>{</a:t>
            </a:r>
            <a:endParaRPr kumimoji="0" lang="en-US" altLang="en-US" sz="1400" b="0" i="0" u="none" strike="noStrike" cap="none" normalizeH="0" baseline="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1400" b="0" i="0" u="none" strike="noStrike" cap="none" normalizeH="0" baseline="0">
                <a:ln>
                  <a:noFill/>
                </a:ln>
                <a:solidFill>
                  <a:srgbClr val="0000FF"/>
                </a:solidFill>
                <a:effectLst/>
                <a:latin typeface="Menlo"/>
              </a:rPr>
              <a:t>public</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int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555555"/>
                </a:solidFill>
                <a:effectLst/>
                <a:latin typeface="Menlo"/>
              </a:rPr>
              <a:t>BookId</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get</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set</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666600"/>
                </a:solidFill>
                <a:effectLst/>
                <a:latin typeface="Menlo"/>
              </a:rPr>
              <a:t>}</a:t>
            </a:r>
            <a:endParaRPr kumimoji="0" lang="en-US" altLang="en-US" sz="1400" b="0" i="0" u="none" strike="noStrike" cap="none" normalizeH="0" baseline="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2"/>
              <a:tabLst/>
            </a:pPr>
            <a:r>
              <a:rPr kumimoji="0" lang="en-US" altLang="en-US" sz="1400" b="0" i="0" u="none" strike="noStrike" cap="none" normalizeH="0" baseline="0">
                <a:ln>
                  <a:noFill/>
                </a:ln>
                <a:solidFill>
                  <a:srgbClr val="0000FF"/>
                </a:solidFill>
                <a:effectLst/>
                <a:latin typeface="Menlo"/>
              </a:rPr>
              <a:t>public</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string</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555555"/>
                </a:solidFill>
                <a:effectLst/>
                <a:latin typeface="Menlo"/>
              </a:rPr>
              <a:t>Title</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get</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set</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666600"/>
                </a:solidFill>
                <a:effectLst/>
                <a:latin typeface="Menlo"/>
              </a:rPr>
              <a:t>}</a:t>
            </a:r>
            <a:endParaRPr kumimoji="0" lang="en-US" altLang="en-US" sz="1400" b="0" i="0" u="none" strike="noStrike" cap="none" normalizeH="0" baseline="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1400" b="0" i="0" u="none" strike="noStrike" cap="none" normalizeH="0" baseline="0">
                <a:ln>
                  <a:noFill/>
                </a:ln>
                <a:solidFill>
                  <a:srgbClr val="0000FF"/>
                </a:solidFill>
                <a:effectLst/>
                <a:latin typeface="Menlo"/>
              </a:rPr>
              <a:t>public</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555555"/>
                </a:solidFill>
                <a:effectLst/>
                <a:latin typeface="Menlo"/>
              </a:rPr>
              <a:t>Author</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555555"/>
                </a:solidFill>
                <a:effectLst/>
                <a:latin typeface="Menlo"/>
              </a:rPr>
              <a:t>Author</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get</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set</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666600"/>
                </a:solidFill>
                <a:effectLst/>
                <a:latin typeface="Menlo"/>
              </a:rPr>
              <a:t>}</a:t>
            </a:r>
            <a:endParaRPr kumimoji="0" lang="en-US" altLang="en-US" sz="1400" b="0" i="0" u="none" strike="noStrike" cap="none" normalizeH="0" baseline="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4"/>
              <a:tabLst/>
            </a:pPr>
            <a:r>
              <a:rPr kumimoji="0" lang="en-US" altLang="en-US" sz="1400" b="0" i="0" u="none" strike="noStrike" cap="none" normalizeH="0" baseline="0">
                <a:ln>
                  <a:noFill/>
                </a:ln>
                <a:solidFill>
                  <a:srgbClr val="0000FF"/>
                </a:solidFill>
                <a:effectLst/>
                <a:latin typeface="Menlo"/>
              </a:rPr>
              <a:t>public</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int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555555"/>
                </a:solidFill>
                <a:effectLst/>
                <a:latin typeface="Menlo"/>
              </a:rPr>
              <a:t>AuthorFK</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get</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set</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666600"/>
                </a:solidFill>
                <a:effectLst/>
                <a:latin typeface="Menlo"/>
              </a:rPr>
              <a:t>}</a:t>
            </a:r>
            <a:endParaRPr kumimoji="0" lang="en-US" altLang="en-US" sz="1400" b="0" i="0" u="none" strike="noStrike" cap="none" normalizeH="0" baseline="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5"/>
              <a:tabLst/>
            </a:pPr>
            <a:r>
              <a:rPr kumimoji="0" lang="en-US" altLang="en-US" sz="1400" b="0" i="0" u="none" strike="noStrike" cap="none" normalizeH="0" baseline="0">
                <a:ln>
                  <a:noFill/>
                </a:ln>
                <a:solidFill>
                  <a:srgbClr val="666600"/>
                </a:solidFill>
                <a:effectLst/>
                <a:latin typeface="Menlo"/>
              </a:rPr>
              <a:t>}</a:t>
            </a:r>
            <a:endParaRPr kumimoji="0" lang="en-US" altLang="en-US" sz="1400" b="0" i="0" u="none" strike="noStrike" cap="none" normalizeH="0" baseline="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202AA7EC-287A-354A-566D-301F685A4377}"/>
              </a:ext>
            </a:extLst>
          </p:cNvPr>
          <p:cNvSpPr>
            <a:spLocks noChangeArrowheads="1"/>
          </p:cNvSpPr>
          <p:nvPr/>
        </p:nvSpPr>
        <p:spPr bwMode="auto">
          <a:xfrm>
            <a:off x="5567312" y="444746"/>
            <a:ext cx="5882327" cy="646331"/>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a:t>
            </a:r>
            <a:r>
              <a:rPr kumimoji="0" lang="en-US" altLang="en-US" sz="1200" b="0" i="0" u="none" strike="noStrike" cap="none" normalizeH="0" baseline="0" dirty="0" err="1">
                <a:ln>
                  <a:noFill/>
                </a:ln>
                <a:solidFill>
                  <a:srgbClr val="C7254E"/>
                </a:solidFill>
                <a:effectLst/>
                <a:latin typeface="Menlo"/>
              </a:rPr>
              <a:t>ForeignKey</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attribute can be used in the following ways to configure the relationship correctly, preventing the generation of an </a:t>
            </a:r>
            <a:r>
              <a:rPr kumimoji="0" lang="en-US" altLang="en-US" sz="1200" b="0" i="0" u="none" strike="noStrike" cap="none" normalizeH="0" baseline="0" dirty="0" err="1">
                <a:ln>
                  <a:noFill/>
                </a:ln>
                <a:solidFill>
                  <a:srgbClr val="C7254E"/>
                </a:solidFill>
                <a:effectLst/>
                <a:latin typeface="Menlo"/>
              </a:rPr>
              <a:t>AuthorId</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column in the Books table.</a:t>
            </a:r>
            <a:r>
              <a:rPr kumimoji="0" lang="en-US" altLang="en-US" sz="1200" b="0" i="0" u="none" strike="noStrike" cap="none" normalizeH="0" baseline="0" dirty="0">
                <a:ln>
                  <a:noFill/>
                </a:ln>
                <a:solidFill>
                  <a:schemeClr val="tx1"/>
                </a:solidFill>
                <a:effectLst/>
              </a:rPr>
              <a:t> </a:t>
            </a:r>
          </a:p>
        </p:txBody>
      </p:sp>
      <p:sp>
        <p:nvSpPr>
          <p:cNvPr id="12" name="TextBox 11">
            <a:extLst>
              <a:ext uri="{FF2B5EF4-FFF2-40B4-BE49-F238E27FC236}">
                <a16:creationId xmlns:a16="http://schemas.microsoft.com/office/drawing/2014/main" id="{5BE0E2FC-5166-1D93-5712-0F5100210FA7}"/>
              </a:ext>
            </a:extLst>
          </p:cNvPr>
          <p:cNvSpPr txBox="1"/>
          <p:nvPr/>
        </p:nvSpPr>
        <p:spPr>
          <a:xfrm>
            <a:off x="5460476" y="1335952"/>
            <a:ext cx="6549272" cy="430887"/>
          </a:xfrm>
          <a:prstGeom prst="rect">
            <a:avLst/>
          </a:prstGeom>
          <a:noFill/>
        </p:spPr>
        <p:txBody>
          <a:bodyPr wrap="square">
            <a:spAutoFit/>
          </a:bodyPr>
          <a:lstStyle/>
          <a:p>
            <a:pPr marL="228600" indent="-228600">
              <a:buFont typeface="+mj-lt"/>
              <a:buAutoNum type="arabicPeriod"/>
            </a:pPr>
            <a:r>
              <a:rPr lang="en-US" sz="1050" b="0" i="0" dirty="0">
                <a:solidFill>
                  <a:srgbClr val="333333"/>
                </a:solidFill>
                <a:effectLst/>
                <a:latin typeface="Open Sans" panose="020B0606030504020204" pitchFamily="34" charset="0"/>
              </a:rPr>
              <a:t>On the foreign key property in the dependent class, passing in the name of the navigation property:</a:t>
            </a:r>
            <a:endParaRPr lang="en-IN" sz="1050" dirty="0"/>
          </a:p>
        </p:txBody>
      </p:sp>
      <p:sp>
        <p:nvSpPr>
          <p:cNvPr id="15" name="TextBox 14">
            <a:extLst>
              <a:ext uri="{FF2B5EF4-FFF2-40B4-BE49-F238E27FC236}">
                <a16:creationId xmlns:a16="http://schemas.microsoft.com/office/drawing/2014/main" id="{5AAEFD96-9D05-1A9F-8B50-C6DB21C5382A}"/>
              </a:ext>
            </a:extLst>
          </p:cNvPr>
          <p:cNvSpPr txBox="1"/>
          <p:nvPr/>
        </p:nvSpPr>
        <p:spPr>
          <a:xfrm>
            <a:off x="5460476" y="2128552"/>
            <a:ext cx="6096000" cy="430887"/>
          </a:xfrm>
          <a:prstGeom prst="rect">
            <a:avLst/>
          </a:prstGeom>
          <a:noFill/>
        </p:spPr>
        <p:txBody>
          <a:bodyPr wrap="square">
            <a:spAutoFit/>
          </a:bodyPr>
          <a:lstStyle/>
          <a:p>
            <a:r>
              <a:rPr lang="en-US" sz="1100" b="0" i="0" dirty="0">
                <a:solidFill>
                  <a:srgbClr val="333333"/>
                </a:solidFill>
                <a:effectLst/>
                <a:latin typeface="Open Sans" panose="020B0606030504020204" pitchFamily="34" charset="0"/>
              </a:rPr>
              <a:t>2. On the navigation property in the dependent class, passing in the name of the foreign key property:</a:t>
            </a:r>
            <a:endParaRPr lang="en-IN" sz="1100" dirty="0"/>
          </a:p>
        </p:txBody>
      </p:sp>
      <p:sp>
        <p:nvSpPr>
          <p:cNvPr id="2" name="Rectangle 1"/>
          <p:cNvSpPr/>
          <p:nvPr/>
        </p:nvSpPr>
        <p:spPr>
          <a:xfrm>
            <a:off x="5972863" y="3091577"/>
            <a:ext cx="4454114" cy="2585323"/>
          </a:xfrm>
          <a:prstGeom prst="rect">
            <a:avLst/>
          </a:prstGeom>
        </p:spPr>
        <p:txBody>
          <a:bodyPr wrap="square">
            <a:spAutoFit/>
          </a:bodyPr>
          <a:lstStyle/>
          <a:p>
            <a:pPr lvl="0" eaLnBrk="0" fontAlgn="base" hangingPunct="0">
              <a:spcBef>
                <a:spcPct val="0"/>
              </a:spcBef>
              <a:spcAft>
                <a:spcPct val="0"/>
              </a:spcAft>
              <a:buFontTx/>
              <a:buAutoNum type="arabicPeriod"/>
            </a:pPr>
            <a:r>
              <a:rPr lang="en-US" altLang="en-US" dirty="0">
                <a:solidFill>
                  <a:srgbClr val="0000FF"/>
                </a:solidFill>
                <a:latin typeface="Menlo"/>
              </a:rPr>
              <a:t>public</a:t>
            </a:r>
            <a:r>
              <a:rPr lang="en-US" altLang="en-US" dirty="0">
                <a:solidFill>
                  <a:srgbClr val="000000"/>
                </a:solidFill>
                <a:latin typeface="Menlo"/>
              </a:rPr>
              <a:t> </a:t>
            </a:r>
            <a:r>
              <a:rPr lang="en-US" altLang="en-US" dirty="0">
                <a:solidFill>
                  <a:srgbClr val="0000FF"/>
                </a:solidFill>
                <a:latin typeface="Menlo"/>
              </a:rPr>
              <a:t>class</a:t>
            </a:r>
            <a:r>
              <a:rPr lang="en-US" altLang="en-US" dirty="0">
                <a:solidFill>
                  <a:srgbClr val="000000"/>
                </a:solidFill>
                <a:latin typeface="Menlo"/>
              </a:rPr>
              <a:t> </a:t>
            </a:r>
            <a:r>
              <a:rPr lang="en-US" altLang="en-US" dirty="0">
                <a:solidFill>
                  <a:srgbClr val="555555"/>
                </a:solidFill>
                <a:latin typeface="Menlo"/>
              </a:rPr>
              <a:t>Book</a:t>
            </a:r>
            <a:endParaRPr lang="en-US" altLang="en-US" dirty="0">
              <a:solidFill>
                <a:srgbClr val="333333"/>
              </a:solidFill>
              <a:latin typeface="Menlo"/>
            </a:endParaRPr>
          </a:p>
          <a:p>
            <a:pPr lvl="0" eaLnBrk="0" fontAlgn="base" hangingPunct="0">
              <a:spcBef>
                <a:spcPct val="0"/>
              </a:spcBef>
              <a:spcAft>
                <a:spcPct val="0"/>
              </a:spcAft>
              <a:buFontTx/>
              <a:buAutoNum type="arabicPeriod" startAt="2"/>
            </a:pPr>
            <a:r>
              <a:rPr lang="en-US" altLang="en-US" dirty="0">
                <a:solidFill>
                  <a:srgbClr val="666600"/>
                </a:solidFill>
                <a:latin typeface="Menlo"/>
              </a:rPr>
              <a:t>{</a:t>
            </a:r>
            <a:endParaRPr lang="en-US" altLang="en-US" dirty="0">
              <a:solidFill>
                <a:srgbClr val="333333"/>
              </a:solidFill>
              <a:latin typeface="Menlo"/>
            </a:endParaRPr>
          </a:p>
          <a:p>
            <a:pPr lvl="0" eaLnBrk="0" fontAlgn="base" hangingPunct="0">
              <a:spcBef>
                <a:spcPct val="0"/>
              </a:spcBef>
              <a:spcAft>
                <a:spcPct val="0"/>
              </a:spcAft>
              <a:buFontTx/>
              <a:buAutoNum type="arabicPeriod" startAt="3"/>
            </a:pPr>
            <a:r>
              <a:rPr lang="en-US" altLang="en-US" dirty="0">
                <a:solidFill>
                  <a:srgbClr val="0000FF"/>
                </a:solidFill>
                <a:latin typeface="Menlo"/>
              </a:rPr>
              <a:t>public</a:t>
            </a:r>
            <a:r>
              <a:rPr lang="en-US" altLang="en-US" dirty="0">
                <a:solidFill>
                  <a:srgbClr val="000000"/>
                </a:solidFill>
                <a:latin typeface="Menlo"/>
              </a:rPr>
              <a:t> </a:t>
            </a:r>
            <a:r>
              <a:rPr lang="en-US" altLang="en-US" dirty="0" err="1">
                <a:solidFill>
                  <a:srgbClr val="0000FF"/>
                </a:solidFill>
                <a:latin typeface="Menlo"/>
              </a:rPr>
              <a:t>int</a:t>
            </a:r>
            <a:r>
              <a:rPr lang="en-US" altLang="en-US" dirty="0">
                <a:solidFill>
                  <a:srgbClr val="000000"/>
                </a:solidFill>
                <a:latin typeface="Menlo"/>
              </a:rPr>
              <a:t> </a:t>
            </a:r>
            <a:r>
              <a:rPr lang="en-US" altLang="en-US" dirty="0" err="1">
                <a:solidFill>
                  <a:srgbClr val="555555"/>
                </a:solidFill>
                <a:latin typeface="Menlo"/>
              </a:rPr>
              <a:t>BookId</a:t>
            </a:r>
            <a:r>
              <a:rPr lang="en-US" altLang="en-US" dirty="0">
                <a:solidFill>
                  <a:srgbClr val="000000"/>
                </a:solidFill>
                <a:latin typeface="Menlo"/>
              </a:rPr>
              <a:t> </a:t>
            </a:r>
            <a:r>
              <a:rPr lang="en-US" altLang="en-US" dirty="0">
                <a:solidFill>
                  <a:srgbClr val="666600"/>
                </a:solidFill>
                <a:latin typeface="Menlo"/>
              </a:rPr>
              <a:t>{</a:t>
            </a:r>
            <a:r>
              <a:rPr lang="en-US" altLang="en-US" dirty="0">
                <a:solidFill>
                  <a:srgbClr val="000000"/>
                </a:solidFill>
                <a:latin typeface="Menlo"/>
              </a:rPr>
              <a:t> </a:t>
            </a:r>
            <a:r>
              <a:rPr lang="en-US" altLang="en-US" dirty="0">
                <a:solidFill>
                  <a:srgbClr val="0000FF"/>
                </a:solidFill>
                <a:latin typeface="Menlo"/>
              </a:rPr>
              <a:t>get</a:t>
            </a:r>
            <a:r>
              <a:rPr lang="en-US" altLang="en-US" dirty="0">
                <a:solidFill>
                  <a:srgbClr val="666600"/>
                </a:solidFill>
                <a:latin typeface="Menlo"/>
              </a:rPr>
              <a:t>;</a:t>
            </a:r>
            <a:r>
              <a:rPr lang="en-US" altLang="en-US" dirty="0">
                <a:solidFill>
                  <a:srgbClr val="000000"/>
                </a:solidFill>
                <a:latin typeface="Menlo"/>
              </a:rPr>
              <a:t> </a:t>
            </a:r>
            <a:r>
              <a:rPr lang="en-US" altLang="en-US" dirty="0">
                <a:solidFill>
                  <a:srgbClr val="0000FF"/>
                </a:solidFill>
                <a:latin typeface="Menlo"/>
              </a:rPr>
              <a:t>set</a:t>
            </a:r>
            <a:r>
              <a:rPr lang="en-US" altLang="en-US" dirty="0">
                <a:solidFill>
                  <a:srgbClr val="666600"/>
                </a:solidFill>
                <a:latin typeface="Menlo"/>
              </a:rPr>
              <a:t>;</a:t>
            </a:r>
            <a:r>
              <a:rPr lang="en-US" altLang="en-US" dirty="0">
                <a:solidFill>
                  <a:srgbClr val="000000"/>
                </a:solidFill>
                <a:latin typeface="Menlo"/>
              </a:rPr>
              <a:t> </a:t>
            </a:r>
            <a:r>
              <a:rPr lang="en-US" altLang="en-US" dirty="0">
                <a:solidFill>
                  <a:srgbClr val="666600"/>
                </a:solidFill>
                <a:latin typeface="Menlo"/>
              </a:rPr>
              <a:t>}</a:t>
            </a:r>
            <a:endParaRPr lang="en-US" altLang="en-US" dirty="0">
              <a:solidFill>
                <a:srgbClr val="333333"/>
              </a:solidFill>
              <a:latin typeface="Menlo"/>
            </a:endParaRPr>
          </a:p>
          <a:p>
            <a:pPr lvl="0" eaLnBrk="0" fontAlgn="base" hangingPunct="0">
              <a:spcBef>
                <a:spcPct val="0"/>
              </a:spcBef>
              <a:spcAft>
                <a:spcPct val="0"/>
              </a:spcAft>
              <a:buFontTx/>
              <a:buAutoNum type="arabicPeriod" startAt="4"/>
            </a:pPr>
            <a:r>
              <a:rPr lang="en-US" altLang="en-US" dirty="0">
                <a:solidFill>
                  <a:srgbClr val="0000FF"/>
                </a:solidFill>
                <a:latin typeface="Menlo"/>
              </a:rPr>
              <a:t>public</a:t>
            </a:r>
            <a:r>
              <a:rPr lang="en-US" altLang="en-US" dirty="0">
                <a:solidFill>
                  <a:srgbClr val="000000"/>
                </a:solidFill>
                <a:latin typeface="Menlo"/>
              </a:rPr>
              <a:t> </a:t>
            </a:r>
            <a:r>
              <a:rPr lang="en-US" altLang="en-US" dirty="0">
                <a:solidFill>
                  <a:srgbClr val="0000FF"/>
                </a:solidFill>
                <a:latin typeface="Menlo"/>
              </a:rPr>
              <a:t>string</a:t>
            </a:r>
            <a:r>
              <a:rPr lang="en-US" altLang="en-US" dirty="0">
                <a:solidFill>
                  <a:srgbClr val="000000"/>
                </a:solidFill>
                <a:latin typeface="Menlo"/>
              </a:rPr>
              <a:t> </a:t>
            </a:r>
            <a:r>
              <a:rPr lang="en-US" altLang="en-US" dirty="0">
                <a:solidFill>
                  <a:srgbClr val="555555"/>
                </a:solidFill>
                <a:latin typeface="Menlo"/>
              </a:rPr>
              <a:t>Title</a:t>
            </a:r>
            <a:r>
              <a:rPr lang="en-US" altLang="en-US" dirty="0">
                <a:solidFill>
                  <a:srgbClr val="000000"/>
                </a:solidFill>
                <a:latin typeface="Menlo"/>
              </a:rPr>
              <a:t> </a:t>
            </a:r>
            <a:r>
              <a:rPr lang="en-US" altLang="en-US" dirty="0">
                <a:solidFill>
                  <a:srgbClr val="666600"/>
                </a:solidFill>
                <a:latin typeface="Menlo"/>
              </a:rPr>
              <a:t>{</a:t>
            </a:r>
            <a:r>
              <a:rPr lang="en-US" altLang="en-US" dirty="0">
                <a:solidFill>
                  <a:srgbClr val="000000"/>
                </a:solidFill>
                <a:latin typeface="Menlo"/>
              </a:rPr>
              <a:t> </a:t>
            </a:r>
            <a:r>
              <a:rPr lang="en-US" altLang="en-US" dirty="0">
                <a:solidFill>
                  <a:srgbClr val="0000FF"/>
                </a:solidFill>
                <a:latin typeface="Menlo"/>
              </a:rPr>
              <a:t>get</a:t>
            </a:r>
            <a:r>
              <a:rPr lang="en-US" altLang="en-US" dirty="0">
                <a:solidFill>
                  <a:srgbClr val="666600"/>
                </a:solidFill>
                <a:latin typeface="Menlo"/>
              </a:rPr>
              <a:t>;</a:t>
            </a:r>
            <a:r>
              <a:rPr lang="en-US" altLang="en-US" dirty="0">
                <a:solidFill>
                  <a:srgbClr val="000000"/>
                </a:solidFill>
                <a:latin typeface="Menlo"/>
              </a:rPr>
              <a:t> </a:t>
            </a:r>
            <a:r>
              <a:rPr lang="en-US" altLang="en-US" dirty="0">
                <a:solidFill>
                  <a:srgbClr val="0000FF"/>
                </a:solidFill>
                <a:latin typeface="Menlo"/>
              </a:rPr>
              <a:t>set</a:t>
            </a:r>
            <a:r>
              <a:rPr lang="en-US" altLang="en-US" dirty="0">
                <a:solidFill>
                  <a:srgbClr val="666600"/>
                </a:solidFill>
                <a:latin typeface="Menlo"/>
              </a:rPr>
              <a:t>;</a:t>
            </a:r>
            <a:r>
              <a:rPr lang="en-US" altLang="en-US" dirty="0">
                <a:solidFill>
                  <a:srgbClr val="000000"/>
                </a:solidFill>
                <a:latin typeface="Menlo"/>
              </a:rPr>
              <a:t> </a:t>
            </a:r>
            <a:r>
              <a:rPr lang="en-US" altLang="en-US" dirty="0">
                <a:solidFill>
                  <a:srgbClr val="666600"/>
                </a:solidFill>
                <a:latin typeface="Menlo"/>
              </a:rPr>
              <a:t>}</a:t>
            </a:r>
          </a:p>
          <a:p>
            <a:pPr eaLnBrk="0" fontAlgn="base" hangingPunct="0">
              <a:spcBef>
                <a:spcPct val="0"/>
              </a:spcBef>
              <a:spcAft>
                <a:spcPct val="0"/>
              </a:spcAft>
              <a:buFontTx/>
              <a:buAutoNum type="arabicPeriod" startAt="4"/>
            </a:pPr>
            <a:r>
              <a:rPr lang="en-US" altLang="en-US" dirty="0">
                <a:solidFill>
                  <a:srgbClr val="555555"/>
                </a:solidFill>
                <a:latin typeface="Menlo"/>
              </a:rPr>
              <a:t>[</a:t>
            </a:r>
            <a:r>
              <a:rPr lang="en-US" altLang="en-US" dirty="0" err="1">
                <a:solidFill>
                  <a:srgbClr val="555555"/>
                </a:solidFill>
                <a:latin typeface="Menlo"/>
              </a:rPr>
              <a:t>ForeignKey</a:t>
            </a:r>
            <a:r>
              <a:rPr lang="en-US" altLang="en-US" dirty="0">
                <a:solidFill>
                  <a:srgbClr val="666600"/>
                </a:solidFill>
                <a:latin typeface="Menlo"/>
              </a:rPr>
              <a:t>(</a:t>
            </a:r>
            <a:r>
              <a:rPr lang="en-US" altLang="en-US" dirty="0">
                <a:solidFill>
                  <a:srgbClr val="A52A2A"/>
                </a:solidFill>
                <a:latin typeface="Menlo"/>
              </a:rPr>
              <a:t>"</a:t>
            </a:r>
            <a:r>
              <a:rPr lang="en-US" altLang="en-US" dirty="0" err="1">
                <a:solidFill>
                  <a:srgbClr val="A52A2A"/>
                </a:solidFill>
                <a:latin typeface="Menlo"/>
              </a:rPr>
              <a:t>AuthorFK</a:t>
            </a:r>
            <a:r>
              <a:rPr lang="en-US" altLang="en-US" dirty="0">
                <a:solidFill>
                  <a:srgbClr val="A52A2A"/>
                </a:solidFill>
                <a:latin typeface="Menlo"/>
              </a:rPr>
              <a:t>"</a:t>
            </a:r>
            <a:r>
              <a:rPr lang="en-US" altLang="en-US" dirty="0">
                <a:solidFill>
                  <a:srgbClr val="666600"/>
                </a:solidFill>
                <a:latin typeface="Menlo"/>
              </a:rPr>
              <a:t>)]</a:t>
            </a:r>
            <a:endParaRPr lang="en-US" altLang="en-US" dirty="0">
              <a:solidFill>
                <a:srgbClr val="333333"/>
              </a:solidFill>
              <a:latin typeface="Menlo"/>
            </a:endParaRPr>
          </a:p>
          <a:p>
            <a:pPr lvl="0" eaLnBrk="0" fontAlgn="base" hangingPunct="0">
              <a:spcBef>
                <a:spcPct val="0"/>
              </a:spcBef>
              <a:spcAft>
                <a:spcPct val="0"/>
              </a:spcAft>
              <a:buFontTx/>
              <a:buAutoNum type="arabicPeriod" startAt="5"/>
            </a:pPr>
            <a:r>
              <a:rPr lang="en-US" altLang="en-US" dirty="0">
                <a:solidFill>
                  <a:srgbClr val="0000FF"/>
                </a:solidFill>
                <a:latin typeface="Menlo"/>
              </a:rPr>
              <a:t>public</a:t>
            </a:r>
            <a:r>
              <a:rPr lang="en-US" altLang="en-US" dirty="0">
                <a:solidFill>
                  <a:srgbClr val="000000"/>
                </a:solidFill>
                <a:latin typeface="Menlo"/>
              </a:rPr>
              <a:t> </a:t>
            </a:r>
            <a:r>
              <a:rPr lang="en-US" altLang="en-US" dirty="0">
                <a:solidFill>
                  <a:srgbClr val="555555"/>
                </a:solidFill>
                <a:latin typeface="Menlo"/>
              </a:rPr>
              <a:t>Author</a:t>
            </a:r>
            <a:r>
              <a:rPr lang="en-US" altLang="en-US" dirty="0">
                <a:solidFill>
                  <a:srgbClr val="000000"/>
                </a:solidFill>
                <a:latin typeface="Menlo"/>
              </a:rPr>
              <a:t> </a:t>
            </a:r>
            <a:r>
              <a:rPr lang="en-US" altLang="en-US" dirty="0" err="1">
                <a:solidFill>
                  <a:srgbClr val="555555"/>
                </a:solidFill>
                <a:latin typeface="Menlo"/>
              </a:rPr>
              <a:t>Author</a:t>
            </a:r>
            <a:r>
              <a:rPr lang="en-US" altLang="en-US" dirty="0">
                <a:solidFill>
                  <a:srgbClr val="000000"/>
                </a:solidFill>
                <a:latin typeface="Menlo"/>
              </a:rPr>
              <a:t> </a:t>
            </a:r>
            <a:r>
              <a:rPr lang="en-US" altLang="en-US" dirty="0">
                <a:solidFill>
                  <a:srgbClr val="666600"/>
                </a:solidFill>
                <a:latin typeface="Menlo"/>
              </a:rPr>
              <a:t>{</a:t>
            </a:r>
            <a:r>
              <a:rPr lang="en-US" altLang="en-US" dirty="0">
                <a:solidFill>
                  <a:srgbClr val="000000"/>
                </a:solidFill>
                <a:latin typeface="Menlo"/>
              </a:rPr>
              <a:t> </a:t>
            </a:r>
            <a:r>
              <a:rPr lang="en-US" altLang="en-US" dirty="0">
                <a:solidFill>
                  <a:srgbClr val="0000FF"/>
                </a:solidFill>
                <a:latin typeface="Menlo"/>
              </a:rPr>
              <a:t>get</a:t>
            </a:r>
            <a:r>
              <a:rPr lang="en-US" altLang="en-US" dirty="0">
                <a:solidFill>
                  <a:srgbClr val="666600"/>
                </a:solidFill>
                <a:latin typeface="Menlo"/>
              </a:rPr>
              <a:t>;</a:t>
            </a:r>
            <a:r>
              <a:rPr lang="en-US" altLang="en-US" dirty="0">
                <a:solidFill>
                  <a:srgbClr val="000000"/>
                </a:solidFill>
                <a:latin typeface="Menlo"/>
              </a:rPr>
              <a:t> </a:t>
            </a:r>
            <a:r>
              <a:rPr lang="en-US" altLang="en-US" dirty="0">
                <a:solidFill>
                  <a:srgbClr val="0000FF"/>
                </a:solidFill>
                <a:latin typeface="Menlo"/>
              </a:rPr>
              <a:t>set</a:t>
            </a:r>
            <a:r>
              <a:rPr lang="en-US" altLang="en-US" dirty="0">
                <a:solidFill>
                  <a:srgbClr val="666600"/>
                </a:solidFill>
                <a:latin typeface="Menlo"/>
              </a:rPr>
              <a:t>;</a:t>
            </a:r>
            <a:r>
              <a:rPr lang="en-US" altLang="en-US" dirty="0">
                <a:solidFill>
                  <a:srgbClr val="000000"/>
                </a:solidFill>
                <a:latin typeface="Menlo"/>
              </a:rPr>
              <a:t> </a:t>
            </a:r>
            <a:r>
              <a:rPr lang="en-US" altLang="en-US" dirty="0">
                <a:solidFill>
                  <a:srgbClr val="666600"/>
                </a:solidFill>
                <a:latin typeface="Menlo"/>
              </a:rPr>
              <a:t>}</a:t>
            </a:r>
            <a:endParaRPr lang="en-US" altLang="en-US" dirty="0">
              <a:solidFill>
                <a:srgbClr val="333333"/>
              </a:solidFill>
              <a:latin typeface="Menlo"/>
            </a:endParaRPr>
          </a:p>
          <a:p>
            <a:pPr lvl="0" eaLnBrk="0" fontAlgn="base" hangingPunct="0">
              <a:spcBef>
                <a:spcPct val="0"/>
              </a:spcBef>
              <a:spcAft>
                <a:spcPct val="0"/>
              </a:spcAft>
              <a:buFontTx/>
              <a:buAutoNum type="arabicPeriod" startAt="6"/>
            </a:pPr>
            <a:r>
              <a:rPr lang="en-US" altLang="en-US" dirty="0">
                <a:solidFill>
                  <a:srgbClr val="666600"/>
                </a:solidFill>
                <a:latin typeface="Menlo"/>
              </a:rPr>
              <a:t>[</a:t>
            </a:r>
            <a:r>
              <a:rPr lang="en-US" altLang="en-US" dirty="0" err="1">
                <a:solidFill>
                  <a:srgbClr val="555555"/>
                </a:solidFill>
                <a:latin typeface="Menlo"/>
              </a:rPr>
              <a:t>ForeignKey</a:t>
            </a:r>
            <a:r>
              <a:rPr lang="en-US" altLang="en-US" dirty="0">
                <a:solidFill>
                  <a:srgbClr val="666600"/>
                </a:solidFill>
                <a:latin typeface="Menlo"/>
              </a:rPr>
              <a:t>(</a:t>
            </a:r>
            <a:r>
              <a:rPr lang="en-US" altLang="en-US" dirty="0">
                <a:solidFill>
                  <a:srgbClr val="A52A2A"/>
                </a:solidFill>
                <a:latin typeface="Menlo"/>
              </a:rPr>
              <a:t>"Author"</a:t>
            </a:r>
            <a:r>
              <a:rPr lang="en-US" altLang="en-US" dirty="0">
                <a:solidFill>
                  <a:srgbClr val="666600"/>
                </a:solidFill>
                <a:latin typeface="Menlo"/>
              </a:rPr>
              <a:t>)]</a:t>
            </a:r>
            <a:endParaRPr lang="en-US" altLang="en-US" dirty="0">
              <a:solidFill>
                <a:srgbClr val="333333"/>
              </a:solidFill>
              <a:latin typeface="Menlo"/>
            </a:endParaRPr>
          </a:p>
          <a:p>
            <a:pPr lvl="0" eaLnBrk="0" fontAlgn="base" hangingPunct="0">
              <a:spcBef>
                <a:spcPct val="0"/>
              </a:spcBef>
              <a:spcAft>
                <a:spcPct val="0"/>
              </a:spcAft>
              <a:buFontTx/>
              <a:buAutoNum type="arabicPeriod" startAt="7"/>
            </a:pPr>
            <a:r>
              <a:rPr lang="en-US" altLang="en-US" dirty="0">
                <a:solidFill>
                  <a:srgbClr val="0000FF"/>
                </a:solidFill>
                <a:latin typeface="Menlo"/>
              </a:rPr>
              <a:t>public</a:t>
            </a:r>
            <a:r>
              <a:rPr lang="en-US" altLang="en-US" dirty="0">
                <a:solidFill>
                  <a:srgbClr val="000000"/>
                </a:solidFill>
                <a:latin typeface="Menlo"/>
              </a:rPr>
              <a:t> </a:t>
            </a:r>
            <a:r>
              <a:rPr lang="en-US" altLang="en-US" dirty="0" err="1">
                <a:solidFill>
                  <a:srgbClr val="0000FF"/>
                </a:solidFill>
                <a:latin typeface="Menlo"/>
              </a:rPr>
              <a:t>int</a:t>
            </a:r>
            <a:r>
              <a:rPr lang="en-US" altLang="en-US" dirty="0">
                <a:solidFill>
                  <a:srgbClr val="000000"/>
                </a:solidFill>
                <a:latin typeface="Menlo"/>
              </a:rPr>
              <a:t> </a:t>
            </a:r>
            <a:r>
              <a:rPr lang="en-US" altLang="en-US" dirty="0" err="1">
                <a:solidFill>
                  <a:srgbClr val="555555"/>
                </a:solidFill>
                <a:latin typeface="Menlo"/>
              </a:rPr>
              <a:t>AuthorFK</a:t>
            </a:r>
            <a:r>
              <a:rPr lang="en-US" altLang="en-US" dirty="0">
                <a:solidFill>
                  <a:srgbClr val="000000"/>
                </a:solidFill>
                <a:latin typeface="Menlo"/>
              </a:rPr>
              <a:t> </a:t>
            </a:r>
            <a:r>
              <a:rPr lang="en-US" altLang="en-US" dirty="0">
                <a:solidFill>
                  <a:srgbClr val="666600"/>
                </a:solidFill>
                <a:latin typeface="Menlo"/>
              </a:rPr>
              <a:t>{</a:t>
            </a:r>
            <a:r>
              <a:rPr lang="en-US" altLang="en-US" dirty="0">
                <a:solidFill>
                  <a:srgbClr val="000000"/>
                </a:solidFill>
                <a:latin typeface="Menlo"/>
              </a:rPr>
              <a:t> </a:t>
            </a:r>
            <a:r>
              <a:rPr lang="en-US" altLang="en-US" dirty="0">
                <a:solidFill>
                  <a:srgbClr val="0000FF"/>
                </a:solidFill>
                <a:latin typeface="Menlo"/>
              </a:rPr>
              <a:t>get</a:t>
            </a:r>
            <a:r>
              <a:rPr lang="en-US" altLang="en-US" dirty="0">
                <a:solidFill>
                  <a:srgbClr val="666600"/>
                </a:solidFill>
                <a:latin typeface="Menlo"/>
              </a:rPr>
              <a:t>;</a:t>
            </a:r>
            <a:r>
              <a:rPr lang="en-US" altLang="en-US" dirty="0">
                <a:solidFill>
                  <a:srgbClr val="000000"/>
                </a:solidFill>
                <a:latin typeface="Menlo"/>
              </a:rPr>
              <a:t> </a:t>
            </a:r>
            <a:r>
              <a:rPr lang="en-US" altLang="en-US" dirty="0">
                <a:solidFill>
                  <a:srgbClr val="0000FF"/>
                </a:solidFill>
                <a:latin typeface="Menlo"/>
              </a:rPr>
              <a:t>set</a:t>
            </a:r>
            <a:r>
              <a:rPr lang="en-US" altLang="en-US" dirty="0">
                <a:solidFill>
                  <a:srgbClr val="666600"/>
                </a:solidFill>
                <a:latin typeface="Menlo"/>
              </a:rPr>
              <a:t>;</a:t>
            </a:r>
            <a:r>
              <a:rPr lang="en-US" altLang="en-US" dirty="0">
                <a:solidFill>
                  <a:srgbClr val="000000"/>
                </a:solidFill>
                <a:latin typeface="Menlo"/>
              </a:rPr>
              <a:t> </a:t>
            </a:r>
            <a:r>
              <a:rPr lang="en-US" altLang="en-US" dirty="0">
                <a:solidFill>
                  <a:srgbClr val="666600"/>
                </a:solidFill>
                <a:latin typeface="Menlo"/>
              </a:rPr>
              <a:t>}</a:t>
            </a:r>
            <a:endParaRPr lang="en-US" altLang="en-US" dirty="0">
              <a:solidFill>
                <a:srgbClr val="333333"/>
              </a:solidFill>
              <a:latin typeface="Menlo"/>
            </a:endParaRPr>
          </a:p>
          <a:p>
            <a:pPr lvl="0" eaLnBrk="0" fontAlgn="base" hangingPunct="0">
              <a:spcBef>
                <a:spcPct val="0"/>
              </a:spcBef>
              <a:spcAft>
                <a:spcPct val="0"/>
              </a:spcAft>
              <a:buFontTx/>
              <a:buAutoNum type="arabicPeriod" startAt="8"/>
            </a:pPr>
            <a:r>
              <a:rPr lang="en-US" altLang="en-US" dirty="0">
                <a:solidFill>
                  <a:srgbClr val="666600"/>
                </a:solidFill>
                <a:latin typeface="Menlo"/>
              </a:rPr>
              <a:t>}</a:t>
            </a:r>
            <a:endParaRPr lang="en-US" altLang="en-US" dirty="0">
              <a:solidFill>
                <a:srgbClr val="333333"/>
              </a:solidFill>
              <a:latin typeface="Menlo"/>
            </a:endParaRPr>
          </a:p>
        </p:txBody>
      </p:sp>
    </p:spTree>
    <p:extLst>
      <p:ext uri="{BB962C8B-B14F-4D97-AF65-F5344CB8AC3E}">
        <p14:creationId xmlns:p14="http://schemas.microsoft.com/office/powerpoint/2010/main" val="17566103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106CE38-64FE-632A-8489-B49F261972B6}"/>
              </a:ext>
            </a:extLst>
          </p:cNvPr>
          <p:cNvSpPr txBox="1"/>
          <p:nvPr/>
        </p:nvSpPr>
        <p:spPr>
          <a:xfrm>
            <a:off x="87197" y="0"/>
            <a:ext cx="11715161" cy="307777"/>
          </a:xfrm>
          <a:prstGeom prst="rect">
            <a:avLst/>
          </a:prstGeom>
          <a:noFill/>
        </p:spPr>
        <p:txBody>
          <a:bodyPr wrap="square">
            <a:spAutoFit/>
          </a:bodyPr>
          <a:lstStyle/>
          <a:p>
            <a:r>
              <a:rPr lang="en-US" sz="1400" b="0" i="0" dirty="0">
                <a:solidFill>
                  <a:srgbClr val="333333"/>
                </a:solidFill>
                <a:effectLst/>
                <a:latin typeface="Open Sans" panose="020B0606030504020204" pitchFamily="34" charset="0"/>
              </a:rPr>
              <a:t>3. On the navigational property in the principal class, passing in the name of the foreign key property in the dependent class:</a:t>
            </a:r>
            <a:endParaRPr lang="en-IN" sz="1400" dirty="0"/>
          </a:p>
        </p:txBody>
      </p:sp>
      <p:sp>
        <p:nvSpPr>
          <p:cNvPr id="6" name="Rectangle 1">
            <a:extLst>
              <a:ext uri="{FF2B5EF4-FFF2-40B4-BE49-F238E27FC236}">
                <a16:creationId xmlns:a16="http://schemas.microsoft.com/office/drawing/2014/main" id="{C9CE4854-E1C1-EA65-4FDC-CDC8E5CFAE45}"/>
              </a:ext>
            </a:extLst>
          </p:cNvPr>
          <p:cNvSpPr>
            <a:spLocks noChangeArrowheads="1"/>
          </p:cNvSpPr>
          <p:nvPr/>
        </p:nvSpPr>
        <p:spPr bwMode="auto">
          <a:xfrm>
            <a:off x="341721" y="605467"/>
            <a:ext cx="4663912" cy="2154436"/>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Author</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AuthorId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FirstName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LastName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err="1">
                <a:ln>
                  <a:noFill/>
                </a:ln>
                <a:solidFill>
                  <a:srgbClr val="555555"/>
                </a:solidFill>
                <a:effectLst/>
                <a:latin typeface="Menlo"/>
              </a:rPr>
              <a:t>ForeignKey</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A52A2A"/>
                </a:solidFill>
                <a:effectLst/>
                <a:latin typeface="Menlo"/>
              </a:rPr>
              <a:t>"</a:t>
            </a:r>
            <a:r>
              <a:rPr kumimoji="0" lang="en-US" altLang="en-US" sz="1400" b="0" i="0" u="none" strike="noStrike" cap="none" normalizeH="0" baseline="0" dirty="0" err="1">
                <a:ln>
                  <a:noFill/>
                </a:ln>
                <a:solidFill>
                  <a:srgbClr val="A52A2A"/>
                </a:solidFill>
                <a:effectLst/>
                <a:latin typeface="Menlo"/>
              </a:rPr>
              <a:t>AuthorFK</a:t>
            </a:r>
            <a:r>
              <a:rPr kumimoji="0" lang="en-US" altLang="en-US" sz="1400" b="0" i="0" u="none" strike="noStrike" cap="none" normalizeH="0" baseline="0" dirty="0">
                <a:ln>
                  <a:noFill/>
                </a:ln>
                <a:solidFill>
                  <a:srgbClr val="A52A2A"/>
                </a:solidFill>
                <a:effectLst/>
                <a:latin typeface="Menlo"/>
              </a:rPr>
              <a:t>"</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ICollection</a:t>
            </a:r>
            <a:r>
              <a:rPr kumimoji="0" lang="en-US" altLang="en-US" sz="1400" b="0" i="0" u="none" strike="noStrike" cap="none" normalizeH="0" baseline="0" dirty="0">
                <a:ln>
                  <a:noFill/>
                </a:ln>
                <a:solidFill>
                  <a:srgbClr val="666600"/>
                </a:solidFill>
                <a:effectLst/>
                <a:latin typeface="Menlo"/>
              </a:rPr>
              <a:t>&lt;</a:t>
            </a:r>
            <a:r>
              <a:rPr kumimoji="0" lang="en-US" altLang="en-US" sz="1400" b="0" i="0" u="none" strike="noStrike" cap="none" normalizeH="0" baseline="0" dirty="0">
                <a:ln>
                  <a:noFill/>
                </a:ln>
                <a:solidFill>
                  <a:srgbClr val="555555"/>
                </a:solidFill>
                <a:effectLst/>
                <a:latin typeface="Menlo"/>
              </a:rPr>
              <a:t>Book</a:t>
            </a:r>
            <a:r>
              <a:rPr kumimoji="0" lang="en-US" altLang="en-US" sz="1400" b="0" i="0" u="none" strike="noStrike" cap="none" normalizeH="0" baseline="0" dirty="0">
                <a:ln>
                  <a:noFill/>
                </a:ln>
                <a:solidFill>
                  <a:srgbClr val="666600"/>
                </a:solidFill>
                <a:effectLst/>
                <a:latin typeface="Menlo"/>
              </a:rPr>
              <a:t>&gt;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Books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108B5681-E0C8-94BC-91FF-9F2B02AE1687}"/>
              </a:ext>
            </a:extLst>
          </p:cNvPr>
          <p:cNvSpPr>
            <a:spLocks noChangeArrowheads="1"/>
          </p:cNvSpPr>
          <p:nvPr/>
        </p:nvSpPr>
        <p:spPr bwMode="auto">
          <a:xfrm>
            <a:off x="341721" y="2952516"/>
            <a:ext cx="11133056" cy="246221"/>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33333"/>
                </a:solidFill>
                <a:effectLst/>
                <a:latin typeface="Open Sans" panose="020B0606030504020204" pitchFamily="34" charset="0"/>
                <a:cs typeface="Open Sans" panose="020B0606030504020204" pitchFamily="34" charset="0"/>
              </a:rPr>
              <a:t>If you place the </a:t>
            </a:r>
            <a:r>
              <a:rPr kumimoji="0" lang="en-US" altLang="en-US" sz="900" b="0" i="0" u="none" strike="noStrike" cap="none" normalizeH="0" baseline="0">
                <a:ln>
                  <a:noFill/>
                </a:ln>
                <a:solidFill>
                  <a:srgbClr val="C7254E"/>
                </a:solidFill>
                <a:effectLst/>
                <a:latin typeface="Menlo"/>
              </a:rPr>
              <a:t>ForeignKey</a:t>
            </a:r>
            <a:r>
              <a:rPr kumimoji="0" lang="en-US" altLang="en-US" sz="1000" b="0" i="0" u="none" strike="noStrike" cap="none" normalizeH="0" baseline="0">
                <a:ln>
                  <a:noFill/>
                </a:ln>
                <a:solidFill>
                  <a:srgbClr val="333333"/>
                </a:solidFill>
                <a:effectLst/>
                <a:latin typeface="Open Sans" panose="020B0606030504020204" pitchFamily="34" charset="0"/>
                <a:cs typeface="Open Sans" panose="020B0606030504020204" pitchFamily="34" charset="0"/>
              </a:rPr>
              <a:t> attribute on a navigation property that has multiple foreign keys, separate each one with a comma.</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6CEADB24-0D4D-0147-9287-D3EE3358B8D7}"/>
              </a:ext>
            </a:extLst>
          </p:cNvPr>
          <p:cNvSpPr txBox="1"/>
          <p:nvPr/>
        </p:nvSpPr>
        <p:spPr>
          <a:xfrm>
            <a:off x="417137" y="3659264"/>
            <a:ext cx="10404834" cy="923330"/>
          </a:xfrm>
          <a:prstGeom prst="rect">
            <a:avLst/>
          </a:prstGeom>
          <a:noFill/>
        </p:spPr>
        <p:txBody>
          <a:bodyPr wrap="square">
            <a:spAutoFit/>
          </a:bodyPr>
          <a:lstStyle/>
          <a:p>
            <a:pPr algn="l"/>
            <a:r>
              <a:rPr lang="en-US" b="0" i="0" dirty="0">
                <a:solidFill>
                  <a:srgbClr val="004867"/>
                </a:solidFill>
                <a:effectLst/>
                <a:latin typeface="Roboto" panose="02000000000000000000" pitchFamily="2" charset="0"/>
              </a:rPr>
              <a:t>Fluent API</a:t>
            </a:r>
          </a:p>
          <a:p>
            <a:pPr algn="l"/>
            <a:endParaRPr lang="en-US" b="0" i="0" dirty="0">
              <a:solidFill>
                <a:srgbClr val="004867"/>
              </a:solidFill>
              <a:effectLst/>
              <a:latin typeface="Roboto" panose="02000000000000000000" pitchFamily="2" charset="0"/>
            </a:endParaRPr>
          </a:p>
          <a:p>
            <a:pPr algn="l"/>
            <a:r>
              <a:rPr lang="en-US" b="0" i="0" dirty="0">
                <a:solidFill>
                  <a:srgbClr val="333333"/>
                </a:solidFill>
                <a:effectLst/>
                <a:latin typeface="Open Sans" panose="020B0606030504020204" pitchFamily="34" charset="0"/>
              </a:rPr>
              <a:t>The </a:t>
            </a:r>
            <a:r>
              <a:rPr lang="en-US" b="1" i="0" u="sng" dirty="0">
                <a:solidFill>
                  <a:srgbClr val="000000"/>
                </a:solidFill>
                <a:effectLst/>
                <a:latin typeface="Open Sans" panose="020B0606030504020204" pitchFamily="34" charset="0"/>
                <a:hlinkClick r:id="rId2"/>
              </a:rPr>
              <a:t>HasForeignKey method</a:t>
            </a:r>
            <a:r>
              <a:rPr lang="en-US" b="0" i="0" dirty="0">
                <a:solidFill>
                  <a:srgbClr val="333333"/>
                </a:solidFill>
                <a:effectLst/>
                <a:latin typeface="Open Sans" panose="020B0606030504020204" pitchFamily="34" charset="0"/>
              </a:rPr>
              <a:t> is used to specify foreign keys when using the Fluent API.</a:t>
            </a:r>
          </a:p>
        </p:txBody>
      </p:sp>
    </p:spTree>
    <p:extLst>
      <p:ext uri="{BB962C8B-B14F-4D97-AF65-F5344CB8AC3E}">
        <p14:creationId xmlns:p14="http://schemas.microsoft.com/office/powerpoint/2010/main" val="407253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3C685FD-BC06-5F89-D738-0E652C54067E}"/>
              </a:ext>
            </a:extLst>
          </p:cNvPr>
          <p:cNvSpPr txBox="1"/>
          <p:nvPr/>
        </p:nvSpPr>
        <p:spPr>
          <a:xfrm>
            <a:off x="3179190" y="145272"/>
            <a:ext cx="6094428" cy="338554"/>
          </a:xfrm>
          <a:prstGeom prst="rect">
            <a:avLst/>
          </a:prstGeom>
          <a:noFill/>
        </p:spPr>
        <p:txBody>
          <a:bodyPr wrap="square">
            <a:spAutoFit/>
          </a:bodyPr>
          <a:lstStyle/>
          <a:p>
            <a:pPr algn="l"/>
            <a:r>
              <a:rPr lang="en-IN" sz="1600" b="0" i="0" dirty="0">
                <a:solidFill>
                  <a:srgbClr val="004867"/>
                </a:solidFill>
                <a:effectLst/>
                <a:latin typeface="Roboto" panose="02000000000000000000" pitchFamily="2" charset="0"/>
              </a:rPr>
              <a:t>The Index Attribute</a:t>
            </a:r>
          </a:p>
        </p:txBody>
      </p:sp>
      <p:sp>
        <p:nvSpPr>
          <p:cNvPr id="6" name="Rectangle 1">
            <a:extLst>
              <a:ext uri="{FF2B5EF4-FFF2-40B4-BE49-F238E27FC236}">
                <a16:creationId xmlns:a16="http://schemas.microsoft.com/office/drawing/2014/main" id="{350B9F60-A4B3-9FA0-23F2-DCF26532658C}"/>
              </a:ext>
            </a:extLst>
          </p:cNvPr>
          <p:cNvSpPr>
            <a:spLocks noChangeArrowheads="1"/>
          </p:cNvSpPr>
          <p:nvPr/>
        </p:nvSpPr>
        <p:spPr bwMode="auto">
          <a:xfrm>
            <a:off x="150829" y="594935"/>
            <a:ext cx="5618375" cy="1200329"/>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Entity Framework Core </a:t>
            </a:r>
            <a:r>
              <a:rPr kumimoji="0" lang="en-US" altLang="en-US" sz="1200" b="0" i="0" u="none" strike="noStrike" cap="none" normalizeH="0" baseline="0" dirty="0" err="1">
                <a:ln>
                  <a:noFill/>
                </a:ln>
                <a:solidFill>
                  <a:srgbClr val="C7254E"/>
                </a:solidFill>
                <a:effectLst/>
                <a:latin typeface="Menlo"/>
              </a:rPr>
              <a:t>IndexAttribute</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was introduced in .NET 5 and is used to create a database index on the column mapped to the specified entity property. By default, indexes are created for foreign keys and alternate keys. You may wish to create indexes on other properties to speed up data retrieval. The following example sets a non-unique index on the </a:t>
            </a:r>
            <a:r>
              <a:rPr kumimoji="0" lang="en-US" altLang="en-US" sz="1200" b="0" i="0" u="none" strike="noStrike" cap="none" normalizeH="0" baseline="0" dirty="0" err="1">
                <a:ln>
                  <a:noFill/>
                </a:ln>
                <a:solidFill>
                  <a:srgbClr val="C7254E"/>
                </a:solidFill>
                <a:effectLst/>
                <a:latin typeface="Menlo"/>
              </a:rPr>
              <a:t>Isbn</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column</a:t>
            </a:r>
            <a:r>
              <a:rPr kumimoji="0" lang="en-US" altLang="en-US" sz="1200" b="0" i="0" u="none" strike="noStrike" cap="none" normalizeH="0" baseline="0" dirty="0">
                <a:ln>
                  <a:noFill/>
                </a:ln>
                <a:solidFill>
                  <a:schemeClr val="tx1"/>
                </a:solidFill>
                <a:effectLst/>
              </a:rPr>
              <a:t> </a:t>
            </a:r>
          </a:p>
        </p:txBody>
      </p:sp>
      <p:sp>
        <p:nvSpPr>
          <p:cNvPr id="7" name="Rectangle 2">
            <a:extLst>
              <a:ext uri="{FF2B5EF4-FFF2-40B4-BE49-F238E27FC236}">
                <a16:creationId xmlns:a16="http://schemas.microsoft.com/office/drawing/2014/main" id="{CE0208EB-6003-27A1-BF71-8B80C58D2252}"/>
              </a:ext>
            </a:extLst>
          </p:cNvPr>
          <p:cNvSpPr>
            <a:spLocks noChangeArrowheads="1"/>
          </p:cNvSpPr>
          <p:nvPr/>
        </p:nvSpPr>
        <p:spPr bwMode="auto">
          <a:xfrm>
            <a:off x="75415" y="2053485"/>
            <a:ext cx="3733015" cy="1723549"/>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555555"/>
                </a:solidFill>
                <a:effectLst/>
                <a:latin typeface="Menlo"/>
              </a:rPr>
              <a:t>Index</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err="1">
                <a:ln>
                  <a:noFill/>
                </a:ln>
                <a:solidFill>
                  <a:srgbClr val="000000"/>
                </a:solidFill>
                <a:effectLst/>
                <a:latin typeface="Menlo"/>
              </a:rPr>
              <a:t>nameof</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err="1">
                <a:ln>
                  <a:noFill/>
                </a:ln>
                <a:solidFill>
                  <a:srgbClr val="555555"/>
                </a:solidFill>
                <a:effectLst/>
                <a:latin typeface="Menlo"/>
              </a:rPr>
              <a:t>Isbn</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Book</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BookId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Title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Isbn</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53E62C3C-0C6E-23EA-CCB5-EAF28EE028EC}"/>
              </a:ext>
            </a:extLst>
          </p:cNvPr>
          <p:cNvSpPr txBox="1"/>
          <p:nvPr/>
        </p:nvSpPr>
        <p:spPr>
          <a:xfrm>
            <a:off x="605673" y="3806897"/>
            <a:ext cx="2316636" cy="369332"/>
          </a:xfrm>
          <a:prstGeom prst="rect">
            <a:avLst/>
          </a:prstGeom>
          <a:noFill/>
        </p:spPr>
        <p:txBody>
          <a:bodyPr wrap="square">
            <a:spAutoFit/>
          </a:bodyPr>
          <a:lstStyle/>
          <a:p>
            <a:pPr algn="l"/>
            <a:r>
              <a:rPr lang="en-IN" b="0" i="0" dirty="0">
                <a:solidFill>
                  <a:srgbClr val="004867"/>
                </a:solidFill>
                <a:effectLst/>
                <a:latin typeface="Roboto" panose="02000000000000000000" pitchFamily="2" charset="0"/>
              </a:rPr>
              <a:t>Unique Index</a:t>
            </a:r>
          </a:p>
        </p:txBody>
      </p:sp>
      <p:sp>
        <p:nvSpPr>
          <p:cNvPr id="10" name="Rectangle 3">
            <a:extLst>
              <a:ext uri="{FF2B5EF4-FFF2-40B4-BE49-F238E27FC236}">
                <a16:creationId xmlns:a16="http://schemas.microsoft.com/office/drawing/2014/main" id="{181CF0B4-F49A-6313-79A9-6F3013F8AA7D}"/>
              </a:ext>
            </a:extLst>
          </p:cNvPr>
          <p:cNvSpPr>
            <a:spLocks noChangeArrowheads="1"/>
          </p:cNvSpPr>
          <p:nvPr/>
        </p:nvSpPr>
        <p:spPr bwMode="auto">
          <a:xfrm>
            <a:off x="75415" y="4354118"/>
            <a:ext cx="4597922" cy="276999"/>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To create a unique index, you must specify </a:t>
            </a:r>
            <a:r>
              <a:rPr kumimoji="0" lang="en-US" altLang="en-US" sz="1200" b="0" i="0" u="none" strike="noStrike" cap="none" normalizeH="0" baseline="0" dirty="0" err="1">
                <a:ln>
                  <a:noFill/>
                </a:ln>
                <a:solidFill>
                  <a:srgbClr val="C7254E"/>
                </a:solidFill>
                <a:effectLst/>
                <a:latin typeface="Menlo"/>
              </a:rPr>
              <a:t>IsUnique</a:t>
            </a:r>
            <a:r>
              <a:rPr kumimoji="0" lang="en-US" altLang="en-US" sz="1200" b="0" i="0" u="none" strike="noStrike" cap="none" normalizeH="0" baseline="0" dirty="0">
                <a:ln>
                  <a:noFill/>
                </a:ln>
                <a:solidFill>
                  <a:srgbClr val="C7254E"/>
                </a:solidFill>
                <a:effectLst/>
                <a:latin typeface="Menlo"/>
              </a:rPr>
              <a:t>=true</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a:t>
            </a:r>
            <a:r>
              <a:rPr kumimoji="0" lang="en-US" altLang="en-US" sz="1200" b="0" i="0" u="none" strike="noStrike" cap="none" normalizeH="0" baseline="0" dirty="0">
                <a:ln>
                  <a:noFill/>
                </a:ln>
                <a:solidFill>
                  <a:schemeClr val="tx1"/>
                </a:solidFill>
                <a:effectLst/>
              </a:rPr>
              <a:t> </a:t>
            </a:r>
          </a:p>
        </p:txBody>
      </p:sp>
      <p:sp>
        <p:nvSpPr>
          <p:cNvPr id="11" name="Rectangle 4">
            <a:extLst>
              <a:ext uri="{FF2B5EF4-FFF2-40B4-BE49-F238E27FC236}">
                <a16:creationId xmlns:a16="http://schemas.microsoft.com/office/drawing/2014/main" id="{C18406CA-2BC8-8C1A-327A-4116F0FA7D84}"/>
              </a:ext>
            </a:extLst>
          </p:cNvPr>
          <p:cNvSpPr>
            <a:spLocks noChangeArrowheads="1"/>
          </p:cNvSpPr>
          <p:nvPr/>
        </p:nvSpPr>
        <p:spPr bwMode="auto">
          <a:xfrm>
            <a:off x="75415" y="4668669"/>
            <a:ext cx="4402317" cy="193899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555555"/>
                </a:solidFill>
                <a:effectLst/>
                <a:latin typeface="Menlo"/>
              </a:rPr>
              <a:t>Index</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nameof</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555555"/>
                </a:solidFill>
                <a:effectLst/>
                <a:latin typeface="Menlo"/>
              </a:rPr>
              <a:t>Isbn</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555555"/>
                </a:solidFill>
                <a:effectLst/>
                <a:latin typeface="Menlo"/>
              </a:rPr>
              <a:t>IsUnique</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FF"/>
                </a:solidFill>
                <a:effectLst/>
                <a:latin typeface="Menlo"/>
              </a:rPr>
              <a:t>true</a:t>
            </a:r>
            <a:r>
              <a:rPr kumimoji="0" lang="en-US" altLang="en-US" sz="1400" b="0" i="0" u="none" strike="noStrike" cap="none" normalizeH="0" baseline="0">
                <a:ln>
                  <a:noFill/>
                </a:ln>
                <a:solidFill>
                  <a:srgbClr val="666600"/>
                </a:solidFill>
                <a:effectLst/>
                <a:latin typeface="Menlo"/>
              </a:rPr>
              <a:t>)]</a:t>
            </a:r>
            <a:endParaRPr kumimoji="0" lang="en-US" altLang="en-US" sz="1400" b="0" i="0" u="none" strike="noStrike" cap="none" normalizeH="0" baseline="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a:ln>
                  <a:noFill/>
                </a:ln>
                <a:solidFill>
                  <a:srgbClr val="0000FF"/>
                </a:solidFill>
                <a:effectLst/>
                <a:latin typeface="Menlo"/>
              </a:rPr>
              <a:t>public</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class</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555555"/>
                </a:solidFill>
                <a:effectLst/>
                <a:latin typeface="Menlo"/>
              </a:rPr>
              <a:t>Book</a:t>
            </a:r>
            <a:endParaRPr kumimoji="0" lang="en-US" altLang="en-US" sz="1400" b="0" i="0" u="none" strike="noStrike" cap="none" normalizeH="0" baseline="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a:ln>
                  <a:noFill/>
                </a:ln>
                <a:solidFill>
                  <a:srgbClr val="666600"/>
                </a:solidFill>
                <a:effectLst/>
                <a:latin typeface="Menlo"/>
              </a:rPr>
              <a:t>{</a:t>
            </a:r>
            <a:endParaRPr kumimoji="0" lang="en-US" altLang="en-US" sz="1400" b="0" i="0" u="none" strike="noStrike" cap="none" normalizeH="0" baseline="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0" i="0" u="none" strike="noStrike" cap="none" normalizeH="0" baseline="0">
                <a:ln>
                  <a:noFill/>
                </a:ln>
                <a:solidFill>
                  <a:srgbClr val="0000FF"/>
                </a:solidFill>
                <a:effectLst/>
                <a:latin typeface="Menlo"/>
              </a:rPr>
              <a:t>public</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int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555555"/>
                </a:solidFill>
                <a:effectLst/>
                <a:latin typeface="Menlo"/>
              </a:rPr>
              <a:t>BookId</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get</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set</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666600"/>
                </a:solidFill>
                <a:effectLst/>
                <a:latin typeface="Menlo"/>
              </a:rPr>
              <a:t>}</a:t>
            </a:r>
            <a:endParaRPr kumimoji="0" lang="en-US" altLang="en-US" sz="1400" b="0" i="0" u="none" strike="noStrike" cap="none" normalizeH="0" baseline="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400" b="0" i="0" u="none" strike="noStrike" cap="none" normalizeH="0" baseline="0">
                <a:ln>
                  <a:noFill/>
                </a:ln>
                <a:solidFill>
                  <a:srgbClr val="0000FF"/>
                </a:solidFill>
                <a:effectLst/>
                <a:latin typeface="Menlo"/>
              </a:rPr>
              <a:t>public</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string</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555555"/>
                </a:solidFill>
                <a:effectLst/>
                <a:latin typeface="Menlo"/>
              </a:rPr>
              <a:t>Title</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get</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set</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666600"/>
                </a:solidFill>
                <a:effectLst/>
                <a:latin typeface="Menlo"/>
              </a:rPr>
              <a:t>}</a:t>
            </a:r>
            <a:endParaRPr kumimoji="0" lang="en-US" altLang="en-US" sz="1400" b="0" i="0" u="none" strike="noStrike" cap="none" normalizeH="0" baseline="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400" b="0" i="0" u="none" strike="noStrike" cap="none" normalizeH="0" baseline="0">
                <a:ln>
                  <a:noFill/>
                </a:ln>
                <a:solidFill>
                  <a:srgbClr val="0000FF"/>
                </a:solidFill>
                <a:effectLst/>
                <a:latin typeface="Menlo"/>
              </a:rPr>
              <a:t>public</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string</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555555"/>
                </a:solidFill>
                <a:effectLst/>
                <a:latin typeface="Menlo"/>
              </a:rPr>
              <a:t>Isbn</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get</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0000FF"/>
                </a:solidFill>
                <a:effectLst/>
                <a:latin typeface="Menlo"/>
              </a:rPr>
              <a:t>set</a:t>
            </a:r>
            <a:r>
              <a:rPr kumimoji="0" lang="en-US" altLang="en-US" sz="1400" b="0" i="0" u="none" strike="noStrike" cap="none" normalizeH="0" baseline="0">
                <a:ln>
                  <a:noFill/>
                </a:ln>
                <a:solidFill>
                  <a:srgbClr val="666600"/>
                </a:solidFill>
                <a:effectLst/>
                <a:latin typeface="Menlo"/>
              </a:rPr>
              <a:t>;</a:t>
            </a:r>
            <a:r>
              <a:rPr kumimoji="0" lang="en-US" altLang="en-US" sz="1400" b="0" i="0" u="none" strike="noStrike" cap="none" normalizeH="0" baseline="0">
                <a:ln>
                  <a:noFill/>
                </a:ln>
                <a:solidFill>
                  <a:srgbClr val="000000"/>
                </a:solidFill>
                <a:effectLst/>
                <a:latin typeface="Menlo"/>
              </a:rPr>
              <a:t> </a:t>
            </a:r>
            <a:r>
              <a:rPr kumimoji="0" lang="en-US" altLang="en-US" sz="1400" b="0" i="0" u="none" strike="noStrike" cap="none" normalizeH="0" baseline="0">
                <a:ln>
                  <a:noFill/>
                </a:ln>
                <a:solidFill>
                  <a:srgbClr val="666600"/>
                </a:solidFill>
                <a:effectLst/>
                <a:latin typeface="Menlo"/>
              </a:rPr>
              <a:t>}</a:t>
            </a:r>
            <a:endParaRPr kumimoji="0" lang="en-US" altLang="en-US" sz="1400" b="0" i="0" u="none" strike="noStrike" cap="none" normalizeH="0" baseline="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400" b="0" i="0" u="none" strike="noStrike" cap="none" normalizeH="0" baseline="0">
                <a:ln>
                  <a:noFill/>
                </a:ln>
                <a:solidFill>
                  <a:srgbClr val="666600"/>
                </a:solidFill>
                <a:effectLst/>
                <a:latin typeface="Menlo"/>
              </a:rPr>
              <a:t>}</a:t>
            </a:r>
            <a:endParaRPr kumimoji="0" lang="en-US" altLang="en-US" sz="1400" b="0" i="0" u="none" strike="noStrike" cap="none" normalizeH="0" baseline="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B25E35CD-FDE2-74A1-53BB-D63517C1DC93}"/>
              </a:ext>
            </a:extLst>
          </p:cNvPr>
          <p:cNvSpPr txBox="1"/>
          <p:nvPr/>
        </p:nvSpPr>
        <p:spPr>
          <a:xfrm>
            <a:off x="7704056" y="129883"/>
            <a:ext cx="3249890" cy="369332"/>
          </a:xfrm>
          <a:prstGeom prst="rect">
            <a:avLst/>
          </a:prstGeom>
          <a:noFill/>
        </p:spPr>
        <p:txBody>
          <a:bodyPr wrap="square">
            <a:spAutoFit/>
          </a:bodyPr>
          <a:lstStyle/>
          <a:p>
            <a:pPr algn="l"/>
            <a:r>
              <a:rPr lang="en-IN" b="0" i="0" dirty="0">
                <a:solidFill>
                  <a:srgbClr val="004867"/>
                </a:solidFill>
                <a:effectLst/>
                <a:latin typeface="Roboto" panose="02000000000000000000" pitchFamily="2" charset="0"/>
              </a:rPr>
              <a:t>Multi-Column Index</a:t>
            </a:r>
          </a:p>
        </p:txBody>
      </p:sp>
      <p:sp>
        <p:nvSpPr>
          <p:cNvPr id="15" name="TextBox 14">
            <a:extLst>
              <a:ext uri="{FF2B5EF4-FFF2-40B4-BE49-F238E27FC236}">
                <a16:creationId xmlns:a16="http://schemas.microsoft.com/office/drawing/2014/main" id="{D17883D9-95B7-8909-2AD9-E425B21A6417}"/>
              </a:ext>
            </a:extLst>
          </p:cNvPr>
          <p:cNvSpPr txBox="1"/>
          <p:nvPr/>
        </p:nvSpPr>
        <p:spPr>
          <a:xfrm>
            <a:off x="6281787" y="775088"/>
            <a:ext cx="6094428" cy="461665"/>
          </a:xfrm>
          <a:prstGeom prst="rect">
            <a:avLst/>
          </a:prstGeom>
          <a:noFill/>
        </p:spPr>
        <p:txBody>
          <a:bodyPr wrap="square">
            <a:spAutoFit/>
          </a:bodyPr>
          <a:lstStyle/>
          <a:p>
            <a:r>
              <a:rPr lang="en-US" sz="1200" b="0" i="0" dirty="0">
                <a:solidFill>
                  <a:srgbClr val="333333"/>
                </a:solidFill>
                <a:effectLst/>
                <a:latin typeface="Open Sans" panose="020B0606030504020204" pitchFamily="34" charset="0"/>
              </a:rPr>
              <a:t>If you wish to apply an index on more than one column, you specify them as a comma separate value.</a:t>
            </a:r>
            <a:endParaRPr lang="en-IN" sz="1200" dirty="0"/>
          </a:p>
        </p:txBody>
      </p:sp>
      <p:sp>
        <p:nvSpPr>
          <p:cNvPr id="16" name="Rectangle 5">
            <a:extLst>
              <a:ext uri="{FF2B5EF4-FFF2-40B4-BE49-F238E27FC236}">
                <a16:creationId xmlns:a16="http://schemas.microsoft.com/office/drawing/2014/main" id="{71EFB57D-F37C-DD38-7311-19474FA1C0D0}"/>
              </a:ext>
            </a:extLst>
          </p:cNvPr>
          <p:cNvSpPr>
            <a:spLocks noChangeArrowheads="1"/>
          </p:cNvSpPr>
          <p:nvPr/>
        </p:nvSpPr>
        <p:spPr bwMode="auto">
          <a:xfrm>
            <a:off x="6356810" y="1253267"/>
            <a:ext cx="4222904" cy="2154436"/>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555555"/>
                </a:solidFill>
                <a:effectLst/>
                <a:latin typeface="Menlo"/>
              </a:rPr>
              <a:t>Index</a:t>
            </a:r>
            <a:r>
              <a:rPr kumimoji="0" lang="en-US" altLang="en-US" sz="2400" b="0" i="0" u="none" strike="noStrike" cap="none" normalizeH="0" baseline="0" dirty="0">
                <a:ln>
                  <a:noFill/>
                </a:ln>
                <a:solidFill>
                  <a:srgbClr val="FF0000"/>
                </a:solidFill>
                <a:effectLst/>
                <a:latin typeface="Menlo"/>
              </a:rPr>
              <a:t>(</a:t>
            </a:r>
            <a:r>
              <a:rPr kumimoji="0" lang="en-US" altLang="en-US" sz="1400" b="0" i="0" u="none" strike="noStrike" cap="none" normalizeH="0" baseline="0" dirty="0" err="1">
                <a:ln>
                  <a:noFill/>
                </a:ln>
                <a:solidFill>
                  <a:srgbClr val="000000"/>
                </a:solidFill>
                <a:effectLst/>
                <a:latin typeface="Menlo"/>
              </a:rPr>
              <a:t>nameof</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err="1">
                <a:ln>
                  <a:noFill/>
                </a:ln>
                <a:solidFill>
                  <a:srgbClr val="555555"/>
                </a:solidFill>
                <a:effectLst/>
                <a:latin typeface="Menlo"/>
              </a:rPr>
              <a:t>Ssn</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err="1">
                <a:ln>
                  <a:noFill/>
                </a:ln>
                <a:solidFill>
                  <a:srgbClr val="000000"/>
                </a:solidFill>
                <a:effectLst/>
                <a:latin typeface="Menlo"/>
              </a:rPr>
              <a:t>nameof</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err="1">
                <a:ln>
                  <a:noFill/>
                </a:ln>
                <a:solidFill>
                  <a:srgbClr val="555555"/>
                </a:solidFill>
                <a:effectLst/>
                <a:latin typeface="Menlo"/>
              </a:rPr>
              <a:t>DateOfBirth</a:t>
            </a:r>
            <a:r>
              <a:rPr kumimoji="0" lang="en-US" altLang="en-US" sz="1400" b="0" i="0" u="none" strike="noStrike" cap="none" normalizeH="0" baseline="0" dirty="0">
                <a:ln>
                  <a:noFill/>
                </a:ln>
                <a:solidFill>
                  <a:srgbClr val="666600"/>
                </a:solidFill>
                <a:effectLst/>
                <a:latin typeface="Menlo"/>
              </a:rPr>
              <a:t>)</a:t>
            </a:r>
            <a:r>
              <a:rPr kumimoji="0" lang="en-US" altLang="en-US" sz="2800" b="0" i="0" u="none" strike="noStrike" cap="none" normalizeH="0" baseline="0" dirty="0">
                <a:ln>
                  <a:noFill/>
                </a:ln>
                <a:solidFill>
                  <a:srgbClr val="FF0000"/>
                </a:solidFill>
                <a:effectLst/>
                <a:latin typeface="Menlo"/>
              </a:rPr>
              <a:t>)</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Patient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PatientId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Ssn</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DateTime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DateOfBirth</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8" name="TextBox 17">
            <a:extLst>
              <a:ext uri="{FF2B5EF4-FFF2-40B4-BE49-F238E27FC236}">
                <a16:creationId xmlns:a16="http://schemas.microsoft.com/office/drawing/2014/main" id="{34BC1E1A-D59F-A7BA-2D52-8B92690ED6FB}"/>
              </a:ext>
            </a:extLst>
          </p:cNvPr>
          <p:cNvSpPr txBox="1"/>
          <p:nvPr/>
        </p:nvSpPr>
        <p:spPr>
          <a:xfrm>
            <a:off x="6489177" y="3239549"/>
            <a:ext cx="3361834" cy="369332"/>
          </a:xfrm>
          <a:prstGeom prst="rect">
            <a:avLst/>
          </a:prstGeom>
          <a:noFill/>
        </p:spPr>
        <p:txBody>
          <a:bodyPr wrap="square">
            <a:spAutoFit/>
          </a:bodyPr>
          <a:lstStyle/>
          <a:p>
            <a:pPr algn="l"/>
            <a:r>
              <a:rPr lang="en-IN" b="0" i="0" dirty="0">
                <a:solidFill>
                  <a:srgbClr val="004867"/>
                </a:solidFill>
                <a:effectLst/>
                <a:latin typeface="Roboto" panose="02000000000000000000" pitchFamily="2" charset="0"/>
              </a:rPr>
              <a:t>Index Name</a:t>
            </a:r>
          </a:p>
        </p:txBody>
      </p:sp>
      <p:sp>
        <p:nvSpPr>
          <p:cNvPr id="20" name="TextBox 19">
            <a:extLst>
              <a:ext uri="{FF2B5EF4-FFF2-40B4-BE49-F238E27FC236}">
                <a16:creationId xmlns:a16="http://schemas.microsoft.com/office/drawing/2014/main" id="{6754059D-1205-4025-3246-3852C2EA8384}"/>
              </a:ext>
            </a:extLst>
          </p:cNvPr>
          <p:cNvSpPr txBox="1"/>
          <p:nvPr/>
        </p:nvSpPr>
        <p:spPr>
          <a:xfrm>
            <a:off x="6003304" y="3529898"/>
            <a:ext cx="6188696" cy="523220"/>
          </a:xfrm>
          <a:prstGeom prst="rect">
            <a:avLst/>
          </a:prstGeom>
          <a:noFill/>
        </p:spPr>
        <p:txBody>
          <a:bodyPr wrap="square">
            <a:spAutoFit/>
          </a:bodyPr>
          <a:lstStyle/>
          <a:p>
            <a:r>
              <a:rPr lang="en-US" sz="1400" b="0" i="0" dirty="0">
                <a:solidFill>
                  <a:srgbClr val="333333"/>
                </a:solidFill>
                <a:effectLst/>
                <a:latin typeface="Open Sans" panose="020B0606030504020204" pitchFamily="34" charset="0"/>
              </a:rPr>
              <a:t>The name of the generated index follows the patter IX_</a:t>
            </a:r>
            <a:r>
              <a:rPr lang="en-US" sz="1400" dirty="0"/>
              <a:t>_ by default. You can alter this using the Name property of the Index attribute:</a:t>
            </a:r>
            <a:endParaRPr lang="en-IN" sz="1400" dirty="0"/>
          </a:p>
        </p:txBody>
      </p:sp>
      <p:sp>
        <p:nvSpPr>
          <p:cNvPr id="21" name="Rectangle 6">
            <a:extLst>
              <a:ext uri="{FF2B5EF4-FFF2-40B4-BE49-F238E27FC236}">
                <a16:creationId xmlns:a16="http://schemas.microsoft.com/office/drawing/2014/main" id="{18C75D13-812E-F234-047C-2329B55AC5EF}"/>
              </a:ext>
            </a:extLst>
          </p:cNvPr>
          <p:cNvSpPr>
            <a:spLocks noChangeArrowheads="1"/>
          </p:cNvSpPr>
          <p:nvPr/>
        </p:nvSpPr>
        <p:spPr bwMode="auto">
          <a:xfrm>
            <a:off x="6356810" y="4053118"/>
            <a:ext cx="3000868" cy="2154436"/>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555555"/>
                </a:solidFill>
                <a:effectLst/>
                <a:latin typeface="Menlo"/>
              </a:rPr>
              <a:t>Index</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err="1">
                <a:ln>
                  <a:noFill/>
                </a:ln>
                <a:solidFill>
                  <a:srgbClr val="000000"/>
                </a:solidFill>
                <a:effectLst/>
                <a:latin typeface="Menlo"/>
              </a:rPr>
              <a:t>nameof</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err="1">
                <a:ln>
                  <a:noFill/>
                </a:ln>
                <a:solidFill>
                  <a:srgbClr val="555555"/>
                </a:solidFill>
                <a:effectLst/>
                <a:latin typeface="Menlo"/>
              </a:rPr>
              <a:t>Isbn</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IsUnique</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FF"/>
                </a:solidFill>
                <a:effectLst/>
                <a:latin typeface="Menlo"/>
              </a:rPr>
              <a:t>true</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Name</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A52A2A"/>
                </a:solidFill>
                <a:effectLst/>
                <a:latin typeface="Menlo"/>
              </a:rPr>
              <a:t>"</a:t>
            </a:r>
            <a:r>
              <a:rPr kumimoji="0" lang="en-US" altLang="en-US" sz="1400" b="0" i="0" u="none" strike="noStrike" cap="none" normalizeH="0" baseline="0" dirty="0" err="1">
                <a:ln>
                  <a:noFill/>
                </a:ln>
                <a:solidFill>
                  <a:srgbClr val="A52A2A"/>
                </a:solidFill>
                <a:effectLst/>
                <a:latin typeface="Menlo"/>
              </a:rPr>
              <a:t>Unique_Isbn</a:t>
            </a:r>
            <a:r>
              <a:rPr kumimoji="0" lang="en-US" altLang="en-US" sz="1400" b="0" i="0" u="none" strike="noStrike" cap="none" normalizeH="0" baseline="0" dirty="0">
                <a:ln>
                  <a:noFill/>
                </a:ln>
                <a:solidFill>
                  <a:srgbClr val="A52A2A"/>
                </a:solidFill>
                <a:effectLst/>
                <a:latin typeface="Menlo"/>
              </a:rPr>
              <a:t>"</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Book</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BookId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Title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Isbn</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22" name="Rectangle 7">
            <a:extLst>
              <a:ext uri="{FF2B5EF4-FFF2-40B4-BE49-F238E27FC236}">
                <a16:creationId xmlns:a16="http://schemas.microsoft.com/office/drawing/2014/main" id="{B3160DAC-E1C0-ACB1-B598-7A12A472B0C7}"/>
              </a:ext>
            </a:extLst>
          </p:cNvPr>
          <p:cNvSpPr>
            <a:spLocks noChangeArrowheads="1"/>
          </p:cNvSpPr>
          <p:nvPr/>
        </p:nvSpPr>
        <p:spPr bwMode="auto">
          <a:xfrm>
            <a:off x="5892767" y="6044365"/>
            <a:ext cx="6094428" cy="6358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26960" rIns="9144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4867"/>
                </a:solidFill>
                <a:effectLst/>
                <a:latin typeface="Roboto" panose="02000000000000000000" pitchFamily="2" charset="0"/>
              </a:rPr>
              <a:t>Fluent API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Fluent API equivalent method for the </a:t>
            </a:r>
            <a:r>
              <a:rPr kumimoji="0" lang="en-US" altLang="en-US" sz="900" b="0" i="0" u="none" strike="noStrike" cap="none" normalizeH="0" baseline="0" dirty="0">
                <a:ln>
                  <a:noFill/>
                </a:ln>
                <a:solidFill>
                  <a:srgbClr val="C7254E"/>
                </a:solidFill>
                <a:effectLst/>
                <a:latin typeface="Menlo"/>
                <a:cs typeface="Open Sans" panose="020B0606030504020204" pitchFamily="34" charset="0"/>
              </a:rPr>
              <a:t>Index</a:t>
            </a:r>
            <a:r>
              <a:rPr kumimoji="0" lang="en-US" altLang="en-US" sz="1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attribute is the </a:t>
            </a:r>
            <a:r>
              <a:rPr kumimoji="0" lang="en-US" altLang="en-US" sz="1000" b="1" i="0" u="sng" strike="noStrike" cap="none" normalizeH="0" baseline="0" dirty="0" err="1">
                <a:ln>
                  <a:noFill/>
                </a:ln>
                <a:solidFill>
                  <a:srgbClr val="000000"/>
                </a:solidFill>
                <a:effectLst/>
                <a:latin typeface="Open Sans" panose="020B0606030504020204" pitchFamily="34" charset="0"/>
                <a:cs typeface="Open Sans" panose="020B0606030504020204" pitchFamily="34" charset="0"/>
              </a:rPr>
              <a:t>HasIndex</a:t>
            </a:r>
            <a:r>
              <a:rPr kumimoji="0" lang="en-US" altLang="en-US" sz="1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method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61824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80852C2-F89F-9B75-D833-810002752A36}"/>
              </a:ext>
            </a:extLst>
          </p:cNvPr>
          <p:cNvSpPr txBox="1"/>
          <p:nvPr/>
        </p:nvSpPr>
        <p:spPr>
          <a:xfrm>
            <a:off x="4055884" y="69857"/>
            <a:ext cx="6094428" cy="369332"/>
          </a:xfrm>
          <a:prstGeom prst="rect">
            <a:avLst/>
          </a:prstGeom>
          <a:noFill/>
        </p:spPr>
        <p:txBody>
          <a:bodyPr wrap="square">
            <a:spAutoFit/>
          </a:bodyPr>
          <a:lstStyle/>
          <a:p>
            <a:pPr algn="l"/>
            <a:r>
              <a:rPr lang="en-IN" b="0" i="0" dirty="0">
                <a:solidFill>
                  <a:srgbClr val="004867"/>
                </a:solidFill>
                <a:effectLst/>
                <a:latin typeface="Roboto" panose="02000000000000000000" pitchFamily="2" charset="0"/>
              </a:rPr>
              <a:t>The </a:t>
            </a:r>
            <a:r>
              <a:rPr lang="en-IN" b="0" i="0" dirty="0" err="1">
                <a:solidFill>
                  <a:srgbClr val="004867"/>
                </a:solidFill>
                <a:effectLst/>
                <a:latin typeface="Roboto" panose="02000000000000000000" pitchFamily="2" charset="0"/>
              </a:rPr>
              <a:t>InverseProperty</a:t>
            </a:r>
            <a:r>
              <a:rPr lang="en-IN" b="0" i="0" dirty="0">
                <a:solidFill>
                  <a:srgbClr val="004867"/>
                </a:solidFill>
                <a:effectLst/>
                <a:latin typeface="Roboto" panose="02000000000000000000" pitchFamily="2" charset="0"/>
              </a:rPr>
              <a:t> Attribute</a:t>
            </a:r>
          </a:p>
        </p:txBody>
      </p:sp>
      <p:sp>
        <p:nvSpPr>
          <p:cNvPr id="7" name="Rectangle 2">
            <a:extLst>
              <a:ext uri="{FF2B5EF4-FFF2-40B4-BE49-F238E27FC236}">
                <a16:creationId xmlns:a16="http://schemas.microsoft.com/office/drawing/2014/main" id="{5E560602-A22C-D577-DBDE-8ABDB05FF5F8}"/>
              </a:ext>
            </a:extLst>
          </p:cNvPr>
          <p:cNvSpPr>
            <a:spLocks noChangeArrowheads="1"/>
          </p:cNvSpPr>
          <p:nvPr/>
        </p:nvSpPr>
        <p:spPr bwMode="auto">
          <a:xfrm>
            <a:off x="103695" y="634881"/>
            <a:ext cx="11642103" cy="461665"/>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a:t>
            </a:r>
            <a:r>
              <a:rPr kumimoji="0" lang="en-US" altLang="en-US" sz="1200" b="0" i="0" u="none" strike="noStrike" cap="none" normalizeH="0" baseline="0" dirty="0" err="1">
                <a:ln>
                  <a:noFill/>
                </a:ln>
                <a:solidFill>
                  <a:srgbClr val="C7254E"/>
                </a:solidFill>
                <a:effectLst/>
                <a:latin typeface="Menlo"/>
              </a:rPr>
              <a:t>InverseProperty</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attribute is used to denote the inverse navigation property of a relationship when the same </a:t>
            </a:r>
            <a:r>
              <a:rPr kumimoji="0" lang="en-US" altLang="en-US" sz="1200" b="0" i="0" u="none" strike="noStrike" cap="none" normalizeH="0" baseline="0" dirty="0">
                <a:ln>
                  <a:noFill/>
                </a:ln>
                <a:solidFill>
                  <a:srgbClr val="333333"/>
                </a:solidFill>
                <a:effectLst/>
                <a:highlight>
                  <a:srgbClr val="FFFF00"/>
                </a:highlight>
                <a:latin typeface="Open Sans" panose="020B0606030504020204" pitchFamily="34" charset="0"/>
                <a:cs typeface="Open Sans" panose="020B0606030504020204" pitchFamily="34" charset="0"/>
              </a:rPr>
              <a:t>type takes part in multiple relationships</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The following model depicts a contact system where the user who creates and updates contact records is recorded:</a:t>
            </a:r>
            <a:r>
              <a:rPr kumimoji="0" lang="en-US" altLang="en-US" sz="1200" b="0" i="0" u="none" strike="noStrike" cap="none" normalizeH="0" baseline="0" dirty="0">
                <a:ln>
                  <a:noFill/>
                </a:ln>
                <a:solidFill>
                  <a:schemeClr val="tx1"/>
                </a:solidFill>
                <a:effectLst/>
              </a:rPr>
              <a:t> </a:t>
            </a:r>
          </a:p>
        </p:txBody>
      </p:sp>
      <p:sp>
        <p:nvSpPr>
          <p:cNvPr id="8" name="Rectangle 3">
            <a:extLst>
              <a:ext uri="{FF2B5EF4-FFF2-40B4-BE49-F238E27FC236}">
                <a16:creationId xmlns:a16="http://schemas.microsoft.com/office/drawing/2014/main" id="{407AB9CF-7A6F-29E5-D49F-625768AC8C10}"/>
              </a:ext>
            </a:extLst>
          </p:cNvPr>
          <p:cNvSpPr>
            <a:spLocks noChangeArrowheads="1"/>
          </p:cNvSpPr>
          <p:nvPr/>
        </p:nvSpPr>
        <p:spPr bwMode="auto">
          <a:xfrm>
            <a:off x="348791" y="1462737"/>
            <a:ext cx="4449452" cy="3662541"/>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Contact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ContactId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FirstName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LastName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Email</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User</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CreatedBy</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User</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UpdatedBy</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User</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2"/>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UserId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4"/>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UserName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5"/>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List</a:t>
            </a:r>
            <a:r>
              <a:rPr kumimoji="0" lang="en-US" altLang="en-US" sz="1400" b="0" i="0" u="none" strike="noStrike" cap="none" normalizeH="0" baseline="0" dirty="0">
                <a:ln>
                  <a:noFill/>
                </a:ln>
                <a:solidFill>
                  <a:srgbClr val="666600"/>
                </a:solidFill>
                <a:effectLst/>
                <a:latin typeface="Menlo"/>
              </a:rPr>
              <a:t>&lt;</a:t>
            </a:r>
            <a:r>
              <a:rPr kumimoji="0" lang="en-US" altLang="en-US" sz="1400" b="0" i="0" u="none" strike="noStrike" cap="none" normalizeH="0" baseline="0" dirty="0">
                <a:ln>
                  <a:noFill/>
                </a:ln>
                <a:solidFill>
                  <a:srgbClr val="555555"/>
                </a:solidFill>
                <a:effectLst/>
                <a:latin typeface="Menlo"/>
              </a:rPr>
              <a:t>Contact</a:t>
            </a:r>
            <a:r>
              <a:rPr kumimoji="0" lang="en-US" altLang="en-US" sz="1400" b="0" i="0" u="none" strike="noStrike" cap="none" normalizeH="0" baseline="0" dirty="0">
                <a:ln>
                  <a:noFill/>
                </a:ln>
                <a:solidFill>
                  <a:srgbClr val="666600"/>
                </a:solidFill>
                <a:effectLst/>
                <a:latin typeface="Menlo"/>
              </a:rPr>
              <a:t>&gt;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ContactsCreated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6"/>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List</a:t>
            </a:r>
            <a:r>
              <a:rPr kumimoji="0" lang="en-US" altLang="en-US" sz="1400" b="0" i="0" u="none" strike="noStrike" cap="none" normalizeH="0" baseline="0" dirty="0">
                <a:ln>
                  <a:noFill/>
                </a:ln>
                <a:solidFill>
                  <a:srgbClr val="666600"/>
                </a:solidFill>
                <a:effectLst/>
                <a:latin typeface="Menlo"/>
              </a:rPr>
              <a:t>&lt;</a:t>
            </a:r>
            <a:r>
              <a:rPr kumimoji="0" lang="en-US" altLang="en-US" sz="1400" b="0" i="0" u="none" strike="noStrike" cap="none" normalizeH="0" baseline="0" dirty="0">
                <a:ln>
                  <a:noFill/>
                </a:ln>
                <a:solidFill>
                  <a:srgbClr val="555555"/>
                </a:solidFill>
                <a:effectLst/>
                <a:latin typeface="Menlo"/>
              </a:rPr>
              <a:t>Contact</a:t>
            </a:r>
            <a:r>
              <a:rPr kumimoji="0" lang="en-US" altLang="en-US" sz="1400" b="0" i="0" u="none" strike="noStrike" cap="none" normalizeH="0" baseline="0" dirty="0">
                <a:ln>
                  <a:noFill/>
                </a:ln>
                <a:solidFill>
                  <a:srgbClr val="666600"/>
                </a:solidFill>
                <a:effectLst/>
                <a:latin typeface="Menlo"/>
              </a:rPr>
              <a:t>&gt;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ContactsUpdated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7"/>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9" name="Rectangle 4">
            <a:extLst>
              <a:ext uri="{FF2B5EF4-FFF2-40B4-BE49-F238E27FC236}">
                <a16:creationId xmlns:a16="http://schemas.microsoft.com/office/drawing/2014/main" id="{A30A0F7B-23D5-EC40-210F-A13B1DC219C3}"/>
              </a:ext>
            </a:extLst>
          </p:cNvPr>
          <p:cNvSpPr>
            <a:spLocks noChangeArrowheads="1"/>
          </p:cNvSpPr>
          <p:nvPr/>
        </p:nvSpPr>
        <p:spPr bwMode="auto">
          <a:xfrm>
            <a:off x="5148049" y="1302431"/>
            <a:ext cx="6695160" cy="12003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This model appears to fit the </a:t>
            </a:r>
            <a:r>
              <a:rPr kumimoji="0" lang="en-US" altLang="en-US" sz="1200" b="1" i="0" u="sng" strike="noStrike" cap="none" normalizeH="0" baseline="0" dirty="0">
                <a:ln>
                  <a:noFill/>
                </a:ln>
                <a:solidFill>
                  <a:srgbClr val="000000"/>
                </a:solidFill>
                <a:effectLst/>
                <a:latin typeface="Open Sans" panose="020B0606030504020204" pitchFamily="34" charset="0"/>
                <a:cs typeface="Open Sans" panose="020B0606030504020204" pitchFamily="34" charset="0"/>
              </a:rPr>
              <a:t>inverse navigation property convention</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for Entity Framework Core, but EF Core will raise an error when asked to map these relationships: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dirty="0">
              <a:solidFill>
                <a:srgbClr val="333333"/>
              </a:solidFill>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highlight>
                  <a:srgbClr val="FFFF00"/>
                </a:highlight>
                <a:latin typeface="Arial" panose="020B0604020202020204" pitchFamily="34" charset="0"/>
              </a:rPr>
              <a:t>Unable to determine the relationship represented by navigation property '</a:t>
            </a:r>
            <a:r>
              <a:rPr kumimoji="0" lang="en-US" altLang="en-US" sz="1200" b="0" i="0" u="none" strike="noStrike" cap="none" normalizeH="0" baseline="0" dirty="0" err="1">
                <a:ln>
                  <a:noFill/>
                </a:ln>
                <a:solidFill>
                  <a:schemeClr val="tx1"/>
                </a:solidFill>
                <a:effectLst/>
                <a:highlight>
                  <a:srgbClr val="FFFF00"/>
                </a:highlight>
                <a:latin typeface="Arial" panose="020B0604020202020204" pitchFamily="34" charset="0"/>
              </a:rPr>
              <a:t>Contact.CreatedBy</a:t>
            </a:r>
            <a:r>
              <a:rPr kumimoji="0" lang="en-US" altLang="en-US" sz="1200" b="0" i="0" u="none" strike="noStrike" cap="none" normalizeH="0" baseline="0" dirty="0">
                <a:ln>
                  <a:noFill/>
                </a:ln>
                <a:solidFill>
                  <a:schemeClr val="tx1"/>
                </a:solidFill>
                <a:effectLst/>
                <a:highlight>
                  <a:srgbClr val="FFFF00"/>
                </a:highlight>
                <a:latin typeface="Arial" panose="020B0604020202020204" pitchFamily="34" charset="0"/>
              </a:rPr>
              <a:t>' of type 'User'. Either manually configure the relationship, or ignore this property from the model.</a:t>
            </a:r>
          </a:p>
        </p:txBody>
      </p:sp>
      <p:sp>
        <p:nvSpPr>
          <p:cNvPr id="10" name="Rectangle 5">
            <a:extLst>
              <a:ext uri="{FF2B5EF4-FFF2-40B4-BE49-F238E27FC236}">
                <a16:creationId xmlns:a16="http://schemas.microsoft.com/office/drawing/2014/main" id="{1F267800-4224-09FE-C8C2-0675E4420994}"/>
              </a:ext>
            </a:extLst>
          </p:cNvPr>
          <p:cNvSpPr>
            <a:spLocks noChangeArrowheads="1"/>
          </p:cNvSpPr>
          <p:nvPr/>
        </p:nvSpPr>
        <p:spPr bwMode="auto">
          <a:xfrm>
            <a:off x="5231875" y="2785479"/>
            <a:ext cx="6353667" cy="461665"/>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a:t>
            </a:r>
            <a:r>
              <a:rPr kumimoji="0" lang="en-US" altLang="en-US" sz="1200" b="0" i="0" u="none" strike="noStrike" cap="none" normalizeH="0" baseline="0" dirty="0" err="1">
                <a:ln>
                  <a:noFill/>
                </a:ln>
                <a:solidFill>
                  <a:srgbClr val="C7254E"/>
                </a:solidFill>
                <a:effectLst/>
                <a:latin typeface="Menlo"/>
              </a:rPr>
              <a:t>InverseProperty</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attribute is applied to the navigation properties in the </a:t>
            </a:r>
            <a:r>
              <a:rPr kumimoji="0" lang="en-US" altLang="en-US" sz="1200" b="0" i="0" u="none" strike="noStrike" cap="none" normalizeH="0" baseline="0" dirty="0">
                <a:ln>
                  <a:noFill/>
                </a:ln>
                <a:solidFill>
                  <a:srgbClr val="C7254E"/>
                </a:solidFill>
                <a:effectLst/>
                <a:latin typeface="Menlo"/>
              </a:rPr>
              <a:t>User</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class to specify their corresponding inverse navigation properties in the </a:t>
            </a:r>
            <a:r>
              <a:rPr kumimoji="0" lang="en-US" altLang="en-US" sz="1200" b="0" i="0" u="none" strike="noStrike" cap="none" normalizeH="0" baseline="0" dirty="0">
                <a:ln>
                  <a:noFill/>
                </a:ln>
                <a:solidFill>
                  <a:srgbClr val="C7254E"/>
                </a:solidFill>
                <a:effectLst/>
                <a:latin typeface="Menlo"/>
              </a:rPr>
              <a:t>Contact</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class:</a:t>
            </a:r>
            <a:r>
              <a:rPr kumimoji="0" lang="en-US" altLang="en-US" sz="1200" b="0" i="0" u="none" strike="noStrike" cap="none" normalizeH="0" baseline="0" dirty="0">
                <a:ln>
                  <a:noFill/>
                </a:ln>
                <a:solidFill>
                  <a:schemeClr val="tx1"/>
                </a:solidFill>
                <a:effectLst/>
              </a:rPr>
              <a:t> </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
        <p:nvSpPr>
          <p:cNvPr id="11" name="Rectangle 6">
            <a:extLst>
              <a:ext uri="{FF2B5EF4-FFF2-40B4-BE49-F238E27FC236}">
                <a16:creationId xmlns:a16="http://schemas.microsoft.com/office/drawing/2014/main" id="{C66E7680-C440-7E85-9410-09077D35E61B}"/>
              </a:ext>
            </a:extLst>
          </p:cNvPr>
          <p:cNvSpPr>
            <a:spLocks noChangeArrowheads="1"/>
          </p:cNvSpPr>
          <p:nvPr/>
        </p:nvSpPr>
        <p:spPr bwMode="auto">
          <a:xfrm>
            <a:off x="5412557" y="3567499"/>
            <a:ext cx="3381081" cy="3046988"/>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000" b="0" i="0" u="none" strike="noStrike" cap="none" normalizeH="0" baseline="0" dirty="0">
                <a:ln>
                  <a:noFill/>
                </a:ln>
                <a:solidFill>
                  <a:srgbClr val="0000FF"/>
                </a:solidFill>
                <a:effectLst/>
                <a:latin typeface="Menlo"/>
              </a:rPr>
              <a:t>public</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0000FF"/>
                </a:solidFill>
                <a:effectLst/>
                <a:latin typeface="Menlo"/>
              </a:rPr>
              <a:t>class</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555555"/>
                </a:solidFill>
                <a:effectLst/>
                <a:latin typeface="Menlo"/>
              </a:rPr>
              <a:t>Contact</a:t>
            </a:r>
            <a:endParaRPr kumimoji="0" lang="en-US" altLang="en-US" sz="9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000" b="0" i="0" u="none" strike="noStrike" cap="none" normalizeH="0" baseline="0" dirty="0">
                <a:ln>
                  <a:noFill/>
                </a:ln>
                <a:solidFill>
                  <a:srgbClr val="666600"/>
                </a:solidFill>
                <a:effectLst/>
                <a:latin typeface="Menlo"/>
              </a:rPr>
              <a:t>{</a:t>
            </a:r>
            <a:endParaRPr kumimoji="0" lang="en-US" altLang="en-US" sz="9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000" b="0" i="0" u="none" strike="noStrike" cap="none" normalizeH="0" baseline="0" dirty="0">
                <a:ln>
                  <a:noFill/>
                </a:ln>
                <a:solidFill>
                  <a:srgbClr val="0000FF"/>
                </a:solidFill>
                <a:effectLst/>
                <a:latin typeface="Menlo"/>
              </a:rPr>
              <a:t>public</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0000FF"/>
                </a:solidFill>
                <a:effectLst/>
                <a:latin typeface="Menlo"/>
              </a:rPr>
              <a:t>int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err="1">
                <a:ln>
                  <a:noFill/>
                </a:ln>
                <a:solidFill>
                  <a:srgbClr val="555555"/>
                </a:solidFill>
                <a:effectLst/>
                <a:latin typeface="Menlo"/>
              </a:rPr>
              <a:t>ContactId</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0000FF"/>
                </a:solidFill>
                <a:effectLst/>
                <a:latin typeface="Menlo"/>
              </a:rPr>
              <a:t>get</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0000FF"/>
                </a:solidFill>
                <a:effectLst/>
                <a:latin typeface="Menlo"/>
              </a:rPr>
              <a:t>set</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666600"/>
                </a:solidFill>
                <a:effectLst/>
                <a:latin typeface="Menlo"/>
              </a:rPr>
              <a:t>}</a:t>
            </a:r>
            <a:endParaRPr kumimoji="0" lang="en-US" altLang="en-US" sz="9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000" b="0" i="0" u="none" strike="noStrike" cap="none" normalizeH="0" baseline="0" dirty="0">
                <a:ln>
                  <a:noFill/>
                </a:ln>
                <a:solidFill>
                  <a:srgbClr val="0000FF"/>
                </a:solidFill>
                <a:effectLst/>
                <a:latin typeface="Menlo"/>
              </a:rPr>
              <a:t>public</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0000FF"/>
                </a:solidFill>
                <a:effectLst/>
                <a:latin typeface="Menlo"/>
              </a:rPr>
              <a:t>string</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555555"/>
                </a:solidFill>
                <a:effectLst/>
                <a:latin typeface="Menlo"/>
              </a:rPr>
              <a:t>FirstName</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0000FF"/>
                </a:solidFill>
                <a:effectLst/>
                <a:latin typeface="Menlo"/>
              </a:rPr>
              <a:t>get</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0000FF"/>
                </a:solidFill>
                <a:effectLst/>
                <a:latin typeface="Menlo"/>
              </a:rPr>
              <a:t>set</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666600"/>
                </a:solidFill>
                <a:effectLst/>
                <a:latin typeface="Menlo"/>
              </a:rPr>
              <a:t>}</a:t>
            </a:r>
            <a:endParaRPr kumimoji="0" lang="en-US" altLang="en-US" sz="9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000" b="0" i="0" u="none" strike="noStrike" cap="none" normalizeH="0" baseline="0" dirty="0">
                <a:ln>
                  <a:noFill/>
                </a:ln>
                <a:solidFill>
                  <a:srgbClr val="0000FF"/>
                </a:solidFill>
                <a:effectLst/>
                <a:latin typeface="Menlo"/>
              </a:rPr>
              <a:t>public</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0000FF"/>
                </a:solidFill>
                <a:effectLst/>
                <a:latin typeface="Menlo"/>
              </a:rPr>
              <a:t>string</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err="1">
                <a:ln>
                  <a:noFill/>
                </a:ln>
                <a:solidFill>
                  <a:srgbClr val="555555"/>
                </a:solidFill>
                <a:effectLst/>
                <a:latin typeface="Menlo"/>
              </a:rPr>
              <a:t>LastName</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0000FF"/>
                </a:solidFill>
                <a:effectLst/>
                <a:latin typeface="Menlo"/>
              </a:rPr>
              <a:t>get</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0000FF"/>
                </a:solidFill>
                <a:effectLst/>
                <a:latin typeface="Menlo"/>
              </a:rPr>
              <a:t>set</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666600"/>
                </a:solidFill>
                <a:effectLst/>
                <a:latin typeface="Menlo"/>
              </a:rPr>
              <a:t>}</a:t>
            </a:r>
            <a:endParaRPr kumimoji="0" lang="en-US" altLang="en-US" sz="9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000" b="0" i="0" u="none" strike="noStrike" cap="none" normalizeH="0" baseline="0" dirty="0">
                <a:ln>
                  <a:noFill/>
                </a:ln>
                <a:solidFill>
                  <a:srgbClr val="0000FF"/>
                </a:solidFill>
                <a:effectLst/>
                <a:latin typeface="Menlo"/>
              </a:rPr>
              <a:t>public</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0000FF"/>
                </a:solidFill>
                <a:effectLst/>
                <a:latin typeface="Menlo"/>
              </a:rPr>
              <a:t>string</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555555"/>
                </a:solidFill>
                <a:effectLst/>
                <a:latin typeface="Menlo"/>
              </a:rPr>
              <a:t>Email</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0000FF"/>
                </a:solidFill>
                <a:effectLst/>
                <a:latin typeface="Menlo"/>
              </a:rPr>
              <a:t>get</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0000FF"/>
                </a:solidFill>
                <a:effectLst/>
                <a:latin typeface="Menlo"/>
              </a:rPr>
              <a:t>set</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666600"/>
                </a:solidFill>
                <a:effectLst/>
                <a:latin typeface="Menlo"/>
              </a:rPr>
              <a:t>}</a:t>
            </a:r>
            <a:endParaRPr kumimoji="0" lang="en-US" altLang="en-US" sz="9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000" b="0" i="0" u="none" strike="noStrike" cap="none" normalizeH="0" baseline="0" dirty="0">
                <a:ln>
                  <a:noFill/>
                </a:ln>
                <a:solidFill>
                  <a:srgbClr val="0000FF"/>
                </a:solidFill>
                <a:effectLst/>
                <a:latin typeface="Menlo"/>
              </a:rPr>
              <a:t>public</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555555"/>
                </a:solidFill>
                <a:effectLst/>
                <a:latin typeface="Menlo"/>
              </a:rPr>
              <a:t>User</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err="1">
                <a:ln>
                  <a:noFill/>
                </a:ln>
                <a:solidFill>
                  <a:srgbClr val="555555"/>
                </a:solidFill>
                <a:effectLst/>
                <a:latin typeface="Menlo"/>
              </a:rPr>
              <a:t>CreatedBy</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0000FF"/>
                </a:solidFill>
                <a:effectLst/>
                <a:latin typeface="Menlo"/>
              </a:rPr>
              <a:t>get</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0000FF"/>
                </a:solidFill>
                <a:effectLst/>
                <a:latin typeface="Menlo"/>
              </a:rPr>
              <a:t>set</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666600"/>
                </a:solidFill>
                <a:effectLst/>
                <a:latin typeface="Menlo"/>
              </a:rPr>
              <a:t>}</a:t>
            </a:r>
            <a:endParaRPr kumimoji="0" lang="en-US" altLang="en-US" sz="9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000" b="0" i="0" u="none" strike="noStrike" cap="none" normalizeH="0" baseline="0" dirty="0">
                <a:ln>
                  <a:noFill/>
                </a:ln>
                <a:solidFill>
                  <a:srgbClr val="0000FF"/>
                </a:solidFill>
                <a:effectLst/>
                <a:latin typeface="Menlo"/>
              </a:rPr>
              <a:t>public</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555555"/>
                </a:solidFill>
                <a:effectLst/>
                <a:latin typeface="Menlo"/>
              </a:rPr>
              <a:t>User</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err="1">
                <a:ln>
                  <a:noFill/>
                </a:ln>
                <a:solidFill>
                  <a:srgbClr val="555555"/>
                </a:solidFill>
                <a:effectLst/>
                <a:latin typeface="Menlo"/>
              </a:rPr>
              <a:t>UpdatedBy</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0000FF"/>
                </a:solidFill>
                <a:effectLst/>
                <a:latin typeface="Menlo"/>
              </a:rPr>
              <a:t>get</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0000FF"/>
                </a:solidFill>
                <a:effectLst/>
                <a:latin typeface="Menlo"/>
              </a:rPr>
              <a:t>set</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666600"/>
                </a:solidFill>
                <a:effectLst/>
                <a:latin typeface="Menlo"/>
              </a:rPr>
              <a:t>}</a:t>
            </a:r>
            <a:endParaRPr kumimoji="0" lang="en-US" altLang="en-US" sz="9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000" b="0" i="0" u="none" strike="noStrike" cap="none" normalizeH="0" baseline="0" dirty="0">
                <a:ln>
                  <a:noFill/>
                </a:ln>
                <a:solidFill>
                  <a:srgbClr val="666600"/>
                </a:solidFill>
                <a:effectLst/>
                <a:latin typeface="Menlo"/>
              </a:rPr>
              <a:t>}</a:t>
            </a:r>
            <a:endParaRPr kumimoji="0" lang="en-US" altLang="en-US" sz="9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1000" b="0" i="0" u="none" strike="noStrike" cap="none" normalizeH="0" baseline="0" dirty="0">
                <a:ln>
                  <a:noFill/>
                </a:ln>
                <a:solidFill>
                  <a:srgbClr val="0000FF"/>
                </a:solidFill>
                <a:effectLst/>
                <a:latin typeface="Menlo"/>
              </a:rPr>
              <a:t>public</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0000FF"/>
                </a:solidFill>
                <a:effectLst/>
                <a:latin typeface="Menlo"/>
              </a:rPr>
              <a:t>class</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555555"/>
                </a:solidFill>
                <a:effectLst/>
                <a:latin typeface="Menlo"/>
              </a:rPr>
              <a:t>User</a:t>
            </a:r>
            <a:endParaRPr kumimoji="0" lang="en-US" altLang="en-US" sz="9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2"/>
              <a:tabLst/>
            </a:pPr>
            <a:r>
              <a:rPr kumimoji="0" lang="en-US" altLang="en-US" sz="1000" b="0" i="0" u="none" strike="noStrike" cap="none" normalizeH="0" baseline="0" dirty="0">
                <a:ln>
                  <a:noFill/>
                </a:ln>
                <a:solidFill>
                  <a:srgbClr val="666600"/>
                </a:solidFill>
                <a:effectLst/>
                <a:latin typeface="Menlo"/>
              </a:rPr>
              <a:t>{</a:t>
            </a:r>
            <a:endParaRPr kumimoji="0" lang="en-US" altLang="en-US" sz="9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1000" b="0" i="0" u="none" strike="noStrike" cap="none" normalizeH="0" baseline="0" dirty="0">
                <a:ln>
                  <a:noFill/>
                </a:ln>
                <a:solidFill>
                  <a:srgbClr val="0000FF"/>
                </a:solidFill>
                <a:effectLst/>
                <a:latin typeface="Menlo"/>
              </a:rPr>
              <a:t>public</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0000FF"/>
                </a:solidFill>
                <a:effectLst/>
                <a:latin typeface="Menlo"/>
              </a:rPr>
              <a:t>int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err="1">
                <a:ln>
                  <a:noFill/>
                </a:ln>
                <a:solidFill>
                  <a:srgbClr val="555555"/>
                </a:solidFill>
                <a:effectLst/>
                <a:latin typeface="Menlo"/>
              </a:rPr>
              <a:t>UserId</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0000FF"/>
                </a:solidFill>
                <a:effectLst/>
                <a:latin typeface="Menlo"/>
              </a:rPr>
              <a:t>get</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0000FF"/>
                </a:solidFill>
                <a:effectLst/>
                <a:latin typeface="Menlo"/>
              </a:rPr>
              <a:t>set</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666600"/>
                </a:solidFill>
                <a:effectLst/>
                <a:latin typeface="Menlo"/>
              </a:rPr>
              <a:t>}</a:t>
            </a:r>
            <a:endParaRPr kumimoji="0" lang="en-US" altLang="en-US" sz="9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4"/>
              <a:tabLst/>
            </a:pPr>
            <a:r>
              <a:rPr kumimoji="0" lang="en-US" altLang="en-US" sz="1000" b="0" i="0" u="none" strike="noStrike" cap="none" normalizeH="0" baseline="0" dirty="0">
                <a:ln>
                  <a:noFill/>
                </a:ln>
                <a:solidFill>
                  <a:srgbClr val="0000FF"/>
                </a:solidFill>
                <a:effectLst/>
                <a:latin typeface="Menlo"/>
              </a:rPr>
              <a:t>public</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0000FF"/>
                </a:solidFill>
                <a:effectLst/>
                <a:latin typeface="Menlo"/>
              </a:rPr>
              <a:t>string</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err="1">
                <a:ln>
                  <a:noFill/>
                </a:ln>
                <a:solidFill>
                  <a:srgbClr val="555555"/>
                </a:solidFill>
                <a:effectLst/>
                <a:latin typeface="Menlo"/>
              </a:rPr>
              <a:t>UserName</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0000FF"/>
                </a:solidFill>
                <a:effectLst/>
                <a:latin typeface="Menlo"/>
              </a:rPr>
              <a:t>get</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0000FF"/>
                </a:solidFill>
                <a:effectLst/>
                <a:latin typeface="Menlo"/>
              </a:rPr>
              <a:t>set</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666600"/>
                </a:solidFill>
                <a:effectLst/>
                <a:latin typeface="Menlo"/>
              </a:rPr>
              <a:t>}</a:t>
            </a:r>
            <a:endParaRPr kumimoji="0" lang="en-US" altLang="en-US" sz="9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5"/>
              <a:tabLst/>
            </a:pP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err="1">
                <a:ln>
                  <a:noFill/>
                </a:ln>
                <a:solidFill>
                  <a:srgbClr val="555555"/>
                </a:solidFill>
                <a:effectLst/>
                <a:latin typeface="Menlo"/>
              </a:rPr>
              <a:t>InverseProperty</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A52A2A"/>
                </a:solidFill>
                <a:effectLst/>
                <a:latin typeface="Menlo"/>
              </a:rPr>
              <a:t>"</a:t>
            </a:r>
            <a:r>
              <a:rPr kumimoji="0" lang="en-US" altLang="en-US" sz="1000" b="0" i="0" u="none" strike="noStrike" cap="none" normalizeH="0" baseline="0" dirty="0" err="1">
                <a:ln>
                  <a:noFill/>
                </a:ln>
                <a:solidFill>
                  <a:srgbClr val="A52A2A"/>
                </a:solidFill>
                <a:effectLst/>
                <a:latin typeface="Menlo"/>
              </a:rPr>
              <a:t>CreatedBy</a:t>
            </a:r>
            <a:r>
              <a:rPr kumimoji="0" lang="en-US" altLang="en-US" sz="1000" b="0" i="0" u="none" strike="noStrike" cap="none" normalizeH="0" baseline="0" dirty="0">
                <a:ln>
                  <a:noFill/>
                </a:ln>
                <a:solidFill>
                  <a:srgbClr val="A52A2A"/>
                </a:solidFill>
                <a:effectLst/>
                <a:latin typeface="Menlo"/>
              </a:rPr>
              <a:t>"</a:t>
            </a:r>
            <a:r>
              <a:rPr kumimoji="0" lang="en-US" altLang="en-US" sz="1000" b="0" i="0" u="none" strike="noStrike" cap="none" normalizeH="0" baseline="0" dirty="0">
                <a:ln>
                  <a:noFill/>
                </a:ln>
                <a:solidFill>
                  <a:srgbClr val="666600"/>
                </a:solidFill>
                <a:effectLst/>
                <a:latin typeface="Menlo"/>
              </a:rPr>
              <a:t>)]</a:t>
            </a:r>
            <a:endParaRPr kumimoji="0" lang="en-US" altLang="en-US" sz="9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6"/>
              <a:tabLst/>
            </a:pPr>
            <a:r>
              <a:rPr kumimoji="0" lang="en-US" altLang="en-US" sz="1000" b="0" i="0" u="none" strike="noStrike" cap="none" normalizeH="0" baseline="0" dirty="0">
                <a:ln>
                  <a:noFill/>
                </a:ln>
                <a:solidFill>
                  <a:srgbClr val="0000FF"/>
                </a:solidFill>
                <a:effectLst/>
                <a:latin typeface="Menlo"/>
              </a:rPr>
              <a:t>public</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555555"/>
                </a:solidFill>
                <a:effectLst/>
                <a:latin typeface="Menlo"/>
              </a:rPr>
              <a:t>List</a:t>
            </a:r>
            <a:r>
              <a:rPr kumimoji="0" lang="en-US" altLang="en-US" sz="1000" b="0" i="0" u="none" strike="noStrike" cap="none" normalizeH="0" baseline="0" dirty="0">
                <a:ln>
                  <a:noFill/>
                </a:ln>
                <a:solidFill>
                  <a:srgbClr val="666600"/>
                </a:solidFill>
                <a:effectLst/>
                <a:latin typeface="Menlo"/>
              </a:rPr>
              <a:t>&lt;</a:t>
            </a:r>
            <a:r>
              <a:rPr kumimoji="0" lang="en-US" altLang="en-US" sz="1000" b="0" i="0" u="none" strike="noStrike" cap="none" normalizeH="0" baseline="0" dirty="0">
                <a:ln>
                  <a:noFill/>
                </a:ln>
                <a:solidFill>
                  <a:srgbClr val="555555"/>
                </a:solidFill>
                <a:effectLst/>
                <a:latin typeface="Menlo"/>
              </a:rPr>
              <a:t>Contact</a:t>
            </a:r>
            <a:r>
              <a:rPr kumimoji="0" lang="en-US" altLang="en-US" sz="1000" b="0" i="0" u="none" strike="noStrike" cap="none" normalizeH="0" baseline="0" dirty="0">
                <a:ln>
                  <a:noFill/>
                </a:ln>
                <a:solidFill>
                  <a:srgbClr val="666600"/>
                </a:solidFill>
                <a:effectLst/>
                <a:latin typeface="Menlo"/>
              </a:rPr>
              <a:t>&gt;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err="1">
                <a:ln>
                  <a:noFill/>
                </a:ln>
                <a:solidFill>
                  <a:srgbClr val="555555"/>
                </a:solidFill>
                <a:effectLst/>
                <a:latin typeface="Menlo"/>
              </a:rPr>
              <a:t>ContactsCreated</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0000FF"/>
                </a:solidFill>
                <a:effectLst/>
                <a:latin typeface="Menlo"/>
              </a:rPr>
              <a:t>get</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0000FF"/>
                </a:solidFill>
                <a:effectLst/>
                <a:latin typeface="Menlo"/>
              </a:rPr>
              <a:t>set</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666600"/>
                </a:solidFill>
                <a:effectLst/>
                <a:latin typeface="Menlo"/>
              </a:rPr>
              <a:t>}</a:t>
            </a:r>
            <a:endParaRPr kumimoji="0" lang="en-US" altLang="en-US" sz="9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7"/>
              <a:tabLst/>
            </a:pP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err="1">
                <a:ln>
                  <a:noFill/>
                </a:ln>
                <a:solidFill>
                  <a:srgbClr val="555555"/>
                </a:solidFill>
                <a:effectLst/>
                <a:latin typeface="Menlo"/>
              </a:rPr>
              <a:t>InverseProperty</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A52A2A"/>
                </a:solidFill>
                <a:effectLst/>
                <a:latin typeface="Menlo"/>
              </a:rPr>
              <a:t>"</a:t>
            </a:r>
            <a:r>
              <a:rPr kumimoji="0" lang="en-US" altLang="en-US" sz="1000" b="0" i="0" u="none" strike="noStrike" cap="none" normalizeH="0" baseline="0" dirty="0" err="1">
                <a:ln>
                  <a:noFill/>
                </a:ln>
                <a:solidFill>
                  <a:srgbClr val="A52A2A"/>
                </a:solidFill>
                <a:effectLst/>
                <a:latin typeface="Menlo"/>
              </a:rPr>
              <a:t>UpdatedBy</a:t>
            </a:r>
            <a:r>
              <a:rPr kumimoji="0" lang="en-US" altLang="en-US" sz="1000" b="0" i="0" u="none" strike="noStrike" cap="none" normalizeH="0" baseline="0" dirty="0">
                <a:ln>
                  <a:noFill/>
                </a:ln>
                <a:solidFill>
                  <a:srgbClr val="A52A2A"/>
                </a:solidFill>
                <a:effectLst/>
                <a:latin typeface="Menlo"/>
              </a:rPr>
              <a:t>"</a:t>
            </a:r>
            <a:r>
              <a:rPr kumimoji="0" lang="en-US" altLang="en-US" sz="1000" b="0" i="0" u="none" strike="noStrike" cap="none" normalizeH="0" baseline="0" dirty="0">
                <a:ln>
                  <a:noFill/>
                </a:ln>
                <a:solidFill>
                  <a:srgbClr val="666600"/>
                </a:solidFill>
                <a:effectLst/>
                <a:latin typeface="Menlo"/>
              </a:rPr>
              <a:t>)]</a:t>
            </a:r>
            <a:endParaRPr kumimoji="0" lang="en-US" altLang="en-US" sz="9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8"/>
              <a:tabLst/>
            </a:pPr>
            <a:r>
              <a:rPr kumimoji="0" lang="en-US" altLang="en-US" sz="1000" b="0" i="0" u="none" strike="noStrike" cap="none" normalizeH="0" baseline="0" dirty="0">
                <a:ln>
                  <a:noFill/>
                </a:ln>
                <a:solidFill>
                  <a:srgbClr val="0000FF"/>
                </a:solidFill>
                <a:effectLst/>
                <a:latin typeface="Menlo"/>
              </a:rPr>
              <a:t>public</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555555"/>
                </a:solidFill>
                <a:effectLst/>
                <a:latin typeface="Menlo"/>
              </a:rPr>
              <a:t>List</a:t>
            </a:r>
            <a:r>
              <a:rPr kumimoji="0" lang="en-US" altLang="en-US" sz="1000" b="0" i="0" u="none" strike="noStrike" cap="none" normalizeH="0" baseline="0" dirty="0">
                <a:ln>
                  <a:noFill/>
                </a:ln>
                <a:solidFill>
                  <a:srgbClr val="666600"/>
                </a:solidFill>
                <a:effectLst/>
                <a:latin typeface="Menlo"/>
              </a:rPr>
              <a:t>&lt;</a:t>
            </a:r>
            <a:r>
              <a:rPr kumimoji="0" lang="en-US" altLang="en-US" sz="1000" b="0" i="0" u="none" strike="noStrike" cap="none" normalizeH="0" baseline="0" dirty="0">
                <a:ln>
                  <a:noFill/>
                </a:ln>
                <a:solidFill>
                  <a:srgbClr val="555555"/>
                </a:solidFill>
                <a:effectLst/>
                <a:latin typeface="Menlo"/>
              </a:rPr>
              <a:t>Contact</a:t>
            </a:r>
            <a:r>
              <a:rPr kumimoji="0" lang="en-US" altLang="en-US" sz="1000" b="0" i="0" u="none" strike="noStrike" cap="none" normalizeH="0" baseline="0" dirty="0">
                <a:ln>
                  <a:noFill/>
                </a:ln>
                <a:solidFill>
                  <a:srgbClr val="666600"/>
                </a:solidFill>
                <a:effectLst/>
                <a:latin typeface="Menlo"/>
              </a:rPr>
              <a:t>&gt;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err="1">
                <a:ln>
                  <a:noFill/>
                </a:ln>
                <a:solidFill>
                  <a:srgbClr val="555555"/>
                </a:solidFill>
                <a:effectLst/>
                <a:latin typeface="Menlo"/>
              </a:rPr>
              <a:t>ContactsUpdated</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0000FF"/>
                </a:solidFill>
                <a:effectLst/>
                <a:latin typeface="Menlo"/>
              </a:rPr>
              <a:t>get</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0000FF"/>
                </a:solidFill>
                <a:effectLst/>
                <a:latin typeface="Menlo"/>
              </a:rPr>
              <a:t>set</a:t>
            </a:r>
            <a:r>
              <a:rPr kumimoji="0" lang="en-US" altLang="en-US" sz="1000" b="0" i="0" u="none" strike="noStrike" cap="none" normalizeH="0" baseline="0" dirty="0">
                <a:ln>
                  <a:noFill/>
                </a:ln>
                <a:solidFill>
                  <a:srgbClr val="666600"/>
                </a:solidFill>
                <a:effectLst/>
                <a:latin typeface="Menlo"/>
              </a:rPr>
              <a:t>;</a:t>
            </a:r>
            <a:r>
              <a:rPr kumimoji="0" lang="en-US" altLang="en-US" sz="1000" b="0" i="0" u="none" strike="noStrike" cap="none" normalizeH="0" baseline="0" dirty="0">
                <a:ln>
                  <a:noFill/>
                </a:ln>
                <a:solidFill>
                  <a:srgbClr val="000000"/>
                </a:solidFill>
                <a:effectLst/>
                <a:latin typeface="Menlo"/>
              </a:rPr>
              <a:t> </a:t>
            </a:r>
            <a:r>
              <a:rPr kumimoji="0" lang="en-US" altLang="en-US" sz="1000" b="0" i="0" u="none" strike="noStrike" cap="none" normalizeH="0" baseline="0" dirty="0">
                <a:ln>
                  <a:noFill/>
                </a:ln>
                <a:solidFill>
                  <a:srgbClr val="666600"/>
                </a:solidFill>
                <a:effectLst/>
                <a:latin typeface="Menlo"/>
              </a:rPr>
              <a:t>}</a:t>
            </a:r>
            <a:endParaRPr kumimoji="0" lang="en-US" altLang="en-US" sz="9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9"/>
              <a:tabLst/>
            </a:pPr>
            <a:r>
              <a:rPr kumimoji="0" lang="en-US" altLang="en-US" sz="1000" b="0" i="0" u="none" strike="noStrike" cap="none" normalizeH="0" baseline="0" dirty="0">
                <a:ln>
                  <a:noFill/>
                </a:ln>
                <a:solidFill>
                  <a:srgbClr val="666600"/>
                </a:solidFill>
                <a:effectLst/>
                <a:latin typeface="Menlo"/>
              </a:rPr>
              <a:t>}</a:t>
            </a:r>
            <a:endParaRPr kumimoji="0" lang="en-US" altLang="en-US" sz="9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424036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EC7BA2C-1F58-1517-281C-FC82AEFE60F3}"/>
              </a:ext>
            </a:extLst>
          </p:cNvPr>
          <p:cNvSpPr txBox="1"/>
          <p:nvPr/>
        </p:nvSpPr>
        <p:spPr>
          <a:xfrm>
            <a:off x="4817098" y="29854"/>
            <a:ext cx="2382625" cy="369332"/>
          </a:xfrm>
          <a:prstGeom prst="rect">
            <a:avLst/>
          </a:prstGeom>
          <a:noFill/>
        </p:spPr>
        <p:txBody>
          <a:bodyPr wrap="square">
            <a:spAutoFit/>
          </a:bodyPr>
          <a:lstStyle/>
          <a:p>
            <a:pPr algn="l"/>
            <a:r>
              <a:rPr lang="en-IN" b="0" i="0" dirty="0">
                <a:solidFill>
                  <a:srgbClr val="004867"/>
                </a:solidFill>
                <a:effectLst/>
                <a:latin typeface="Roboto" panose="02000000000000000000" pitchFamily="2" charset="0"/>
              </a:rPr>
              <a:t>The Key Attribute</a:t>
            </a:r>
          </a:p>
        </p:txBody>
      </p:sp>
      <p:sp>
        <p:nvSpPr>
          <p:cNvPr id="6" name="Rectangle 1">
            <a:extLst>
              <a:ext uri="{FF2B5EF4-FFF2-40B4-BE49-F238E27FC236}">
                <a16:creationId xmlns:a16="http://schemas.microsoft.com/office/drawing/2014/main" id="{54E6C0FA-B5A6-AD32-76BE-8B541FD09380}"/>
              </a:ext>
            </a:extLst>
          </p:cNvPr>
          <p:cNvSpPr>
            <a:spLocks noChangeArrowheads="1"/>
          </p:cNvSpPr>
          <p:nvPr/>
        </p:nvSpPr>
        <p:spPr bwMode="auto">
          <a:xfrm>
            <a:off x="273377" y="720542"/>
            <a:ext cx="11547835" cy="276999"/>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a:t>
            </a:r>
            <a:r>
              <a:rPr kumimoji="0" lang="en-US" altLang="en-US" sz="1200" b="0" i="0" u="none" strike="noStrike" cap="none" normalizeH="0" baseline="0" dirty="0">
                <a:ln>
                  <a:noFill/>
                </a:ln>
                <a:solidFill>
                  <a:srgbClr val="C7254E"/>
                </a:solidFill>
                <a:effectLst/>
                <a:latin typeface="Menlo"/>
              </a:rPr>
              <a:t>Key</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attribute is used to denote the property that uniquely identifies an entity (the </a:t>
            </a:r>
            <a:r>
              <a:rPr kumimoji="0" lang="en-US" altLang="en-US" sz="1200" b="0" i="0" u="none" strike="noStrike" cap="none" normalizeH="0" baseline="0" dirty="0" err="1">
                <a:ln>
                  <a:noFill/>
                </a:ln>
                <a:solidFill>
                  <a:srgbClr val="C7254E"/>
                </a:solidFill>
                <a:effectLst/>
                <a:latin typeface="Menlo"/>
              </a:rPr>
              <a:t>EntityKey</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and which is mapped to the Primary Key field in a database:</a:t>
            </a:r>
            <a:r>
              <a:rPr kumimoji="0" lang="en-US" altLang="en-US" sz="1200" b="0" i="0" u="none" strike="noStrike" cap="none" normalizeH="0" baseline="0" dirty="0">
                <a:ln>
                  <a:noFill/>
                </a:ln>
                <a:solidFill>
                  <a:schemeClr val="tx1"/>
                </a:solidFill>
                <a:effectLst/>
              </a:rPr>
              <a:t> </a:t>
            </a:r>
          </a:p>
        </p:txBody>
      </p:sp>
      <p:sp>
        <p:nvSpPr>
          <p:cNvPr id="7" name="Rectangle 2">
            <a:extLst>
              <a:ext uri="{FF2B5EF4-FFF2-40B4-BE49-F238E27FC236}">
                <a16:creationId xmlns:a16="http://schemas.microsoft.com/office/drawing/2014/main" id="{5666748E-6D1D-546F-148E-CE3A81860EC8}"/>
              </a:ext>
            </a:extLst>
          </p:cNvPr>
          <p:cNvSpPr>
            <a:spLocks noChangeArrowheads="1"/>
          </p:cNvSpPr>
          <p:nvPr/>
        </p:nvSpPr>
        <p:spPr bwMode="auto">
          <a:xfrm>
            <a:off x="273378" y="1236079"/>
            <a:ext cx="4543720" cy="1723549"/>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100" b="0" i="0" u="none" strike="noStrike" cap="none" normalizeH="0" baseline="0" dirty="0">
                <a:ln>
                  <a:noFill/>
                </a:ln>
                <a:solidFill>
                  <a:srgbClr val="0000FF"/>
                </a:solidFill>
                <a:effectLst/>
                <a:latin typeface="Menlo"/>
              </a:rPr>
              <a:t>public</a:t>
            </a:r>
            <a:r>
              <a:rPr kumimoji="0" lang="en-US" altLang="en-US" sz="1100" b="0" i="0" u="none" strike="noStrike" cap="none" normalizeH="0" baseline="0" dirty="0">
                <a:ln>
                  <a:noFill/>
                </a:ln>
                <a:solidFill>
                  <a:srgbClr val="000000"/>
                </a:solidFill>
                <a:effectLst/>
                <a:latin typeface="Menlo"/>
              </a:rPr>
              <a:t> </a:t>
            </a:r>
            <a:r>
              <a:rPr kumimoji="0" lang="en-US" altLang="en-US" sz="1100" b="0" i="0" u="none" strike="noStrike" cap="none" normalizeH="0" baseline="0" dirty="0">
                <a:ln>
                  <a:noFill/>
                </a:ln>
                <a:solidFill>
                  <a:srgbClr val="0000FF"/>
                </a:solidFill>
                <a:effectLst/>
                <a:latin typeface="Menlo"/>
              </a:rPr>
              <a:t>class</a:t>
            </a:r>
            <a:r>
              <a:rPr kumimoji="0" lang="en-US" altLang="en-US" sz="1100" b="0" i="0" u="none" strike="noStrike" cap="none" normalizeH="0" baseline="0" dirty="0">
                <a:ln>
                  <a:noFill/>
                </a:ln>
                <a:solidFill>
                  <a:srgbClr val="000000"/>
                </a:solidFill>
                <a:effectLst/>
                <a:latin typeface="Menlo"/>
              </a:rPr>
              <a:t> </a:t>
            </a:r>
            <a:r>
              <a:rPr kumimoji="0" lang="en-US" altLang="en-US" sz="1100" b="0" i="0" u="none" strike="noStrike" cap="none" normalizeH="0" baseline="0" dirty="0">
                <a:ln>
                  <a:noFill/>
                </a:ln>
                <a:solidFill>
                  <a:srgbClr val="555555"/>
                </a:solidFill>
                <a:effectLst/>
                <a:latin typeface="Menlo"/>
              </a:rPr>
              <a:t>Order</a:t>
            </a:r>
            <a:endParaRPr kumimoji="0" lang="en-US" altLang="en-US" sz="105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100" b="0" i="0" u="none" strike="noStrike" cap="none" normalizeH="0" baseline="0" dirty="0">
                <a:ln>
                  <a:noFill/>
                </a:ln>
                <a:solidFill>
                  <a:srgbClr val="666600"/>
                </a:solidFill>
                <a:effectLst/>
                <a:latin typeface="Menlo"/>
              </a:rPr>
              <a:t>{</a:t>
            </a:r>
            <a:endParaRPr kumimoji="0" lang="en-US" altLang="en-US" sz="105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100" b="0" i="0" u="none" strike="noStrike" cap="none" normalizeH="0" baseline="0" dirty="0">
                <a:ln>
                  <a:noFill/>
                </a:ln>
                <a:solidFill>
                  <a:srgbClr val="666600"/>
                </a:solidFill>
                <a:effectLst/>
                <a:latin typeface="Menlo"/>
              </a:rPr>
              <a:t>[</a:t>
            </a:r>
            <a:r>
              <a:rPr kumimoji="0" lang="en-US" altLang="en-US" sz="1100" b="0" i="0" u="none" strike="noStrike" cap="none" normalizeH="0" baseline="0" dirty="0">
                <a:ln>
                  <a:noFill/>
                </a:ln>
                <a:solidFill>
                  <a:srgbClr val="555555"/>
                </a:solidFill>
                <a:effectLst/>
                <a:latin typeface="Menlo"/>
              </a:rPr>
              <a:t>Key</a:t>
            </a:r>
            <a:r>
              <a:rPr kumimoji="0" lang="en-US" altLang="en-US" sz="1100" b="0" i="0" u="none" strike="noStrike" cap="none" normalizeH="0" baseline="0" dirty="0">
                <a:ln>
                  <a:noFill/>
                </a:ln>
                <a:solidFill>
                  <a:srgbClr val="666600"/>
                </a:solidFill>
                <a:effectLst/>
                <a:latin typeface="Menlo"/>
              </a:rPr>
              <a:t>]</a:t>
            </a:r>
            <a:endParaRPr kumimoji="0" lang="en-US" altLang="en-US" sz="105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100" b="0" i="0" u="none" strike="noStrike" cap="none" normalizeH="0" baseline="0" dirty="0">
                <a:ln>
                  <a:noFill/>
                </a:ln>
                <a:solidFill>
                  <a:srgbClr val="0000FF"/>
                </a:solidFill>
                <a:effectLst/>
                <a:latin typeface="Menlo"/>
              </a:rPr>
              <a:t>public</a:t>
            </a:r>
            <a:r>
              <a:rPr kumimoji="0" lang="en-US" altLang="en-US" sz="1100" b="0" i="0" u="none" strike="noStrike" cap="none" normalizeH="0" baseline="0" dirty="0">
                <a:ln>
                  <a:noFill/>
                </a:ln>
                <a:solidFill>
                  <a:srgbClr val="000000"/>
                </a:solidFill>
                <a:effectLst/>
                <a:latin typeface="Menlo"/>
              </a:rPr>
              <a:t> </a:t>
            </a:r>
            <a:r>
              <a:rPr kumimoji="0" lang="en-US" altLang="en-US" sz="1100" b="0" i="0" u="none" strike="noStrike" cap="none" normalizeH="0" baseline="0" dirty="0">
                <a:ln>
                  <a:noFill/>
                </a:ln>
                <a:solidFill>
                  <a:srgbClr val="0000FF"/>
                </a:solidFill>
                <a:effectLst/>
                <a:latin typeface="Menlo"/>
              </a:rPr>
              <a:t>int</a:t>
            </a:r>
            <a:r>
              <a:rPr kumimoji="0" lang="en-US" altLang="en-US" sz="1100" b="0" i="0" u="none" strike="noStrike" cap="none" normalizeH="0" baseline="0" dirty="0">
                <a:ln>
                  <a:noFill/>
                </a:ln>
                <a:solidFill>
                  <a:srgbClr val="000000"/>
                </a:solidFill>
                <a:effectLst/>
                <a:latin typeface="Menlo"/>
              </a:rPr>
              <a:t> </a:t>
            </a:r>
            <a:r>
              <a:rPr kumimoji="0" lang="en-US" altLang="en-US" sz="1100" b="0" i="0" u="none" strike="noStrike" cap="none" normalizeH="0" baseline="0" dirty="0" err="1">
                <a:ln>
                  <a:noFill/>
                </a:ln>
                <a:solidFill>
                  <a:srgbClr val="555555"/>
                </a:solidFill>
                <a:effectLst/>
                <a:latin typeface="Menlo"/>
              </a:rPr>
              <a:t>OrderNumber</a:t>
            </a:r>
            <a:r>
              <a:rPr kumimoji="0" lang="en-US" altLang="en-US" sz="1100" b="0" i="0" u="none" strike="noStrike" cap="none" normalizeH="0" baseline="0" dirty="0">
                <a:ln>
                  <a:noFill/>
                </a:ln>
                <a:solidFill>
                  <a:srgbClr val="000000"/>
                </a:solidFill>
                <a:effectLst/>
                <a:latin typeface="Menlo"/>
              </a:rPr>
              <a:t> </a:t>
            </a:r>
            <a:r>
              <a:rPr kumimoji="0" lang="en-US" altLang="en-US" sz="1100" b="0" i="0" u="none" strike="noStrike" cap="none" normalizeH="0" baseline="0" dirty="0">
                <a:ln>
                  <a:noFill/>
                </a:ln>
                <a:solidFill>
                  <a:srgbClr val="666600"/>
                </a:solidFill>
                <a:effectLst/>
                <a:latin typeface="Menlo"/>
              </a:rPr>
              <a:t>{</a:t>
            </a:r>
            <a:r>
              <a:rPr kumimoji="0" lang="en-US" altLang="en-US" sz="1100" b="0" i="0" u="none" strike="noStrike" cap="none" normalizeH="0" baseline="0" dirty="0">
                <a:ln>
                  <a:noFill/>
                </a:ln>
                <a:solidFill>
                  <a:srgbClr val="000000"/>
                </a:solidFill>
                <a:effectLst/>
                <a:latin typeface="Menlo"/>
              </a:rPr>
              <a:t> </a:t>
            </a:r>
            <a:r>
              <a:rPr kumimoji="0" lang="en-US" altLang="en-US" sz="1100" b="0" i="0" u="none" strike="noStrike" cap="none" normalizeH="0" baseline="0" dirty="0">
                <a:ln>
                  <a:noFill/>
                </a:ln>
                <a:solidFill>
                  <a:srgbClr val="0000FF"/>
                </a:solidFill>
                <a:effectLst/>
                <a:latin typeface="Menlo"/>
              </a:rPr>
              <a:t>get</a:t>
            </a:r>
            <a:r>
              <a:rPr kumimoji="0" lang="en-US" altLang="en-US" sz="1100" b="0" i="0" u="none" strike="noStrike" cap="none" normalizeH="0" baseline="0" dirty="0">
                <a:ln>
                  <a:noFill/>
                </a:ln>
                <a:solidFill>
                  <a:srgbClr val="666600"/>
                </a:solidFill>
                <a:effectLst/>
                <a:latin typeface="Menlo"/>
              </a:rPr>
              <a:t>;</a:t>
            </a:r>
            <a:r>
              <a:rPr kumimoji="0" lang="en-US" altLang="en-US" sz="1100" b="0" i="0" u="none" strike="noStrike" cap="none" normalizeH="0" baseline="0" dirty="0">
                <a:ln>
                  <a:noFill/>
                </a:ln>
                <a:solidFill>
                  <a:srgbClr val="000000"/>
                </a:solidFill>
                <a:effectLst/>
                <a:latin typeface="Menlo"/>
              </a:rPr>
              <a:t> </a:t>
            </a:r>
            <a:r>
              <a:rPr kumimoji="0" lang="en-US" altLang="en-US" sz="1100" b="0" i="0" u="none" strike="noStrike" cap="none" normalizeH="0" baseline="0" dirty="0">
                <a:ln>
                  <a:noFill/>
                </a:ln>
                <a:solidFill>
                  <a:srgbClr val="0000FF"/>
                </a:solidFill>
                <a:effectLst/>
                <a:latin typeface="Menlo"/>
              </a:rPr>
              <a:t>set</a:t>
            </a:r>
            <a:r>
              <a:rPr kumimoji="0" lang="en-US" altLang="en-US" sz="1100" b="0" i="0" u="none" strike="noStrike" cap="none" normalizeH="0" baseline="0" dirty="0">
                <a:ln>
                  <a:noFill/>
                </a:ln>
                <a:solidFill>
                  <a:srgbClr val="666600"/>
                </a:solidFill>
                <a:effectLst/>
                <a:latin typeface="Menlo"/>
              </a:rPr>
              <a:t>;</a:t>
            </a:r>
            <a:r>
              <a:rPr kumimoji="0" lang="en-US" altLang="en-US" sz="1100" b="0" i="0" u="none" strike="noStrike" cap="none" normalizeH="0" baseline="0" dirty="0">
                <a:ln>
                  <a:noFill/>
                </a:ln>
                <a:solidFill>
                  <a:srgbClr val="000000"/>
                </a:solidFill>
                <a:effectLst/>
                <a:latin typeface="Menlo"/>
              </a:rPr>
              <a:t> </a:t>
            </a:r>
            <a:r>
              <a:rPr kumimoji="0" lang="en-US" altLang="en-US" sz="1100" b="0" i="0" u="none" strike="noStrike" cap="none" normalizeH="0" baseline="0" dirty="0">
                <a:ln>
                  <a:noFill/>
                </a:ln>
                <a:solidFill>
                  <a:srgbClr val="666600"/>
                </a:solidFill>
                <a:effectLst/>
                <a:latin typeface="Menlo"/>
              </a:rPr>
              <a:t>}</a:t>
            </a:r>
            <a:endParaRPr kumimoji="0" lang="en-US" altLang="en-US" sz="105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100" b="0" i="0" u="none" strike="noStrike" cap="none" normalizeH="0" baseline="0" dirty="0">
                <a:ln>
                  <a:noFill/>
                </a:ln>
                <a:solidFill>
                  <a:srgbClr val="0000FF"/>
                </a:solidFill>
                <a:effectLst/>
                <a:latin typeface="Menlo"/>
              </a:rPr>
              <a:t>public</a:t>
            </a:r>
            <a:r>
              <a:rPr kumimoji="0" lang="en-US" altLang="en-US" sz="1100" b="0" i="0" u="none" strike="noStrike" cap="none" normalizeH="0" baseline="0" dirty="0">
                <a:ln>
                  <a:noFill/>
                </a:ln>
                <a:solidFill>
                  <a:srgbClr val="000000"/>
                </a:solidFill>
                <a:effectLst/>
                <a:latin typeface="Menlo"/>
              </a:rPr>
              <a:t> </a:t>
            </a:r>
            <a:r>
              <a:rPr kumimoji="0" lang="en-US" altLang="en-US" sz="1100" b="0" i="0" u="none" strike="noStrike" cap="none" normalizeH="0" baseline="0" dirty="0" err="1">
                <a:ln>
                  <a:noFill/>
                </a:ln>
                <a:solidFill>
                  <a:srgbClr val="555555"/>
                </a:solidFill>
                <a:effectLst/>
                <a:latin typeface="Menlo"/>
              </a:rPr>
              <a:t>DateTime</a:t>
            </a:r>
            <a:r>
              <a:rPr kumimoji="0" lang="en-US" altLang="en-US" sz="1100" b="0" i="0" u="none" strike="noStrike" cap="none" normalizeH="0" baseline="0" dirty="0">
                <a:ln>
                  <a:noFill/>
                </a:ln>
                <a:solidFill>
                  <a:srgbClr val="000000"/>
                </a:solidFill>
                <a:effectLst/>
                <a:latin typeface="Menlo"/>
              </a:rPr>
              <a:t> </a:t>
            </a:r>
            <a:r>
              <a:rPr kumimoji="0" lang="en-US" altLang="en-US" sz="1100" b="0" i="0" u="none" strike="noStrike" cap="none" normalizeH="0" baseline="0" dirty="0" err="1">
                <a:ln>
                  <a:noFill/>
                </a:ln>
                <a:solidFill>
                  <a:srgbClr val="555555"/>
                </a:solidFill>
                <a:effectLst/>
                <a:latin typeface="Menlo"/>
              </a:rPr>
              <a:t>DateCreated</a:t>
            </a:r>
            <a:r>
              <a:rPr kumimoji="0" lang="en-US" altLang="en-US" sz="1100" b="0" i="0" u="none" strike="noStrike" cap="none" normalizeH="0" baseline="0" dirty="0">
                <a:ln>
                  <a:noFill/>
                </a:ln>
                <a:solidFill>
                  <a:srgbClr val="000000"/>
                </a:solidFill>
                <a:effectLst/>
                <a:latin typeface="Menlo"/>
              </a:rPr>
              <a:t> </a:t>
            </a:r>
            <a:r>
              <a:rPr kumimoji="0" lang="en-US" altLang="en-US" sz="1100" b="0" i="0" u="none" strike="noStrike" cap="none" normalizeH="0" baseline="0" dirty="0">
                <a:ln>
                  <a:noFill/>
                </a:ln>
                <a:solidFill>
                  <a:srgbClr val="666600"/>
                </a:solidFill>
                <a:effectLst/>
                <a:latin typeface="Menlo"/>
              </a:rPr>
              <a:t>{</a:t>
            </a:r>
            <a:r>
              <a:rPr kumimoji="0" lang="en-US" altLang="en-US" sz="1100" b="0" i="0" u="none" strike="noStrike" cap="none" normalizeH="0" baseline="0" dirty="0">
                <a:ln>
                  <a:noFill/>
                </a:ln>
                <a:solidFill>
                  <a:srgbClr val="000000"/>
                </a:solidFill>
                <a:effectLst/>
                <a:latin typeface="Menlo"/>
              </a:rPr>
              <a:t> </a:t>
            </a:r>
            <a:r>
              <a:rPr kumimoji="0" lang="en-US" altLang="en-US" sz="1100" b="0" i="0" u="none" strike="noStrike" cap="none" normalizeH="0" baseline="0" dirty="0">
                <a:ln>
                  <a:noFill/>
                </a:ln>
                <a:solidFill>
                  <a:srgbClr val="0000FF"/>
                </a:solidFill>
                <a:effectLst/>
                <a:latin typeface="Menlo"/>
              </a:rPr>
              <a:t>get</a:t>
            </a:r>
            <a:r>
              <a:rPr kumimoji="0" lang="en-US" altLang="en-US" sz="1100" b="0" i="0" u="none" strike="noStrike" cap="none" normalizeH="0" baseline="0" dirty="0">
                <a:ln>
                  <a:noFill/>
                </a:ln>
                <a:solidFill>
                  <a:srgbClr val="666600"/>
                </a:solidFill>
                <a:effectLst/>
                <a:latin typeface="Menlo"/>
              </a:rPr>
              <a:t>;</a:t>
            </a:r>
            <a:r>
              <a:rPr kumimoji="0" lang="en-US" altLang="en-US" sz="1100" b="0" i="0" u="none" strike="noStrike" cap="none" normalizeH="0" baseline="0" dirty="0">
                <a:ln>
                  <a:noFill/>
                </a:ln>
                <a:solidFill>
                  <a:srgbClr val="000000"/>
                </a:solidFill>
                <a:effectLst/>
                <a:latin typeface="Menlo"/>
              </a:rPr>
              <a:t> </a:t>
            </a:r>
            <a:r>
              <a:rPr kumimoji="0" lang="en-US" altLang="en-US" sz="1100" b="0" i="0" u="none" strike="noStrike" cap="none" normalizeH="0" baseline="0" dirty="0">
                <a:ln>
                  <a:noFill/>
                </a:ln>
                <a:solidFill>
                  <a:srgbClr val="0000FF"/>
                </a:solidFill>
                <a:effectLst/>
                <a:latin typeface="Menlo"/>
              </a:rPr>
              <a:t>set</a:t>
            </a:r>
            <a:r>
              <a:rPr kumimoji="0" lang="en-US" altLang="en-US" sz="1100" b="0" i="0" u="none" strike="noStrike" cap="none" normalizeH="0" baseline="0" dirty="0">
                <a:ln>
                  <a:noFill/>
                </a:ln>
                <a:solidFill>
                  <a:srgbClr val="666600"/>
                </a:solidFill>
                <a:effectLst/>
                <a:latin typeface="Menlo"/>
              </a:rPr>
              <a:t>;</a:t>
            </a:r>
            <a:r>
              <a:rPr kumimoji="0" lang="en-US" altLang="en-US" sz="1100" b="0" i="0" u="none" strike="noStrike" cap="none" normalizeH="0" baseline="0" dirty="0">
                <a:ln>
                  <a:noFill/>
                </a:ln>
                <a:solidFill>
                  <a:srgbClr val="000000"/>
                </a:solidFill>
                <a:effectLst/>
                <a:latin typeface="Menlo"/>
              </a:rPr>
              <a:t> </a:t>
            </a:r>
            <a:r>
              <a:rPr kumimoji="0" lang="en-US" altLang="en-US" sz="1100" b="0" i="0" u="none" strike="noStrike" cap="none" normalizeH="0" baseline="0" dirty="0">
                <a:ln>
                  <a:noFill/>
                </a:ln>
                <a:solidFill>
                  <a:srgbClr val="666600"/>
                </a:solidFill>
                <a:effectLst/>
                <a:latin typeface="Menlo"/>
              </a:rPr>
              <a:t>}</a:t>
            </a:r>
            <a:endParaRPr kumimoji="0" lang="en-US" altLang="en-US" sz="105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100" b="0" i="0" u="none" strike="noStrike" cap="none" normalizeH="0" baseline="0" dirty="0">
                <a:ln>
                  <a:noFill/>
                </a:ln>
                <a:solidFill>
                  <a:srgbClr val="0000FF"/>
                </a:solidFill>
                <a:effectLst/>
                <a:latin typeface="Menlo"/>
              </a:rPr>
              <a:t>public</a:t>
            </a:r>
            <a:r>
              <a:rPr kumimoji="0" lang="en-US" altLang="en-US" sz="1100" b="0" i="0" u="none" strike="noStrike" cap="none" normalizeH="0" baseline="0" dirty="0">
                <a:ln>
                  <a:noFill/>
                </a:ln>
                <a:solidFill>
                  <a:srgbClr val="000000"/>
                </a:solidFill>
                <a:effectLst/>
                <a:latin typeface="Menlo"/>
              </a:rPr>
              <a:t> </a:t>
            </a:r>
            <a:r>
              <a:rPr kumimoji="0" lang="en-US" altLang="en-US" sz="1100" b="0" i="0" u="none" strike="noStrike" cap="none" normalizeH="0" baseline="0" dirty="0">
                <a:ln>
                  <a:noFill/>
                </a:ln>
                <a:solidFill>
                  <a:srgbClr val="555555"/>
                </a:solidFill>
                <a:effectLst/>
                <a:latin typeface="Menlo"/>
              </a:rPr>
              <a:t>Customer</a:t>
            </a:r>
            <a:r>
              <a:rPr kumimoji="0" lang="en-US" altLang="en-US" sz="1100" b="0" i="0" u="none" strike="noStrike" cap="none" normalizeH="0" baseline="0" dirty="0">
                <a:ln>
                  <a:noFill/>
                </a:ln>
                <a:solidFill>
                  <a:srgbClr val="000000"/>
                </a:solidFill>
                <a:effectLst/>
                <a:latin typeface="Menlo"/>
              </a:rPr>
              <a:t> </a:t>
            </a:r>
            <a:r>
              <a:rPr kumimoji="0" lang="en-US" altLang="en-US" sz="1100" b="0" i="0" u="none" strike="noStrike" cap="none" normalizeH="0" baseline="0" dirty="0" err="1">
                <a:ln>
                  <a:noFill/>
                </a:ln>
                <a:solidFill>
                  <a:srgbClr val="555555"/>
                </a:solidFill>
                <a:effectLst/>
                <a:latin typeface="Menlo"/>
              </a:rPr>
              <a:t>Customer</a:t>
            </a:r>
            <a:r>
              <a:rPr kumimoji="0" lang="en-US" altLang="en-US" sz="1100" b="0" i="0" u="none" strike="noStrike" cap="none" normalizeH="0" baseline="0" dirty="0">
                <a:ln>
                  <a:noFill/>
                </a:ln>
                <a:solidFill>
                  <a:srgbClr val="000000"/>
                </a:solidFill>
                <a:effectLst/>
                <a:latin typeface="Menlo"/>
              </a:rPr>
              <a:t> </a:t>
            </a:r>
            <a:r>
              <a:rPr kumimoji="0" lang="en-US" altLang="en-US" sz="1100" b="0" i="0" u="none" strike="noStrike" cap="none" normalizeH="0" baseline="0" dirty="0">
                <a:ln>
                  <a:noFill/>
                </a:ln>
                <a:solidFill>
                  <a:srgbClr val="666600"/>
                </a:solidFill>
                <a:effectLst/>
                <a:latin typeface="Menlo"/>
              </a:rPr>
              <a:t>{</a:t>
            </a:r>
            <a:r>
              <a:rPr kumimoji="0" lang="en-US" altLang="en-US" sz="1100" b="0" i="0" u="none" strike="noStrike" cap="none" normalizeH="0" baseline="0" dirty="0">
                <a:ln>
                  <a:noFill/>
                </a:ln>
                <a:solidFill>
                  <a:srgbClr val="000000"/>
                </a:solidFill>
                <a:effectLst/>
                <a:latin typeface="Menlo"/>
              </a:rPr>
              <a:t> </a:t>
            </a:r>
            <a:r>
              <a:rPr kumimoji="0" lang="en-US" altLang="en-US" sz="1100" b="0" i="0" u="none" strike="noStrike" cap="none" normalizeH="0" baseline="0" dirty="0">
                <a:ln>
                  <a:noFill/>
                </a:ln>
                <a:solidFill>
                  <a:srgbClr val="0000FF"/>
                </a:solidFill>
                <a:effectLst/>
                <a:latin typeface="Menlo"/>
              </a:rPr>
              <a:t>get</a:t>
            </a:r>
            <a:r>
              <a:rPr kumimoji="0" lang="en-US" altLang="en-US" sz="1100" b="0" i="0" u="none" strike="noStrike" cap="none" normalizeH="0" baseline="0" dirty="0">
                <a:ln>
                  <a:noFill/>
                </a:ln>
                <a:solidFill>
                  <a:srgbClr val="666600"/>
                </a:solidFill>
                <a:effectLst/>
                <a:latin typeface="Menlo"/>
              </a:rPr>
              <a:t>;</a:t>
            </a:r>
            <a:r>
              <a:rPr kumimoji="0" lang="en-US" altLang="en-US" sz="1100" b="0" i="0" u="none" strike="noStrike" cap="none" normalizeH="0" baseline="0" dirty="0">
                <a:ln>
                  <a:noFill/>
                </a:ln>
                <a:solidFill>
                  <a:srgbClr val="000000"/>
                </a:solidFill>
                <a:effectLst/>
                <a:latin typeface="Menlo"/>
              </a:rPr>
              <a:t> </a:t>
            </a:r>
            <a:r>
              <a:rPr kumimoji="0" lang="en-US" altLang="en-US" sz="1100" b="0" i="0" u="none" strike="noStrike" cap="none" normalizeH="0" baseline="0" dirty="0">
                <a:ln>
                  <a:noFill/>
                </a:ln>
                <a:solidFill>
                  <a:srgbClr val="0000FF"/>
                </a:solidFill>
                <a:effectLst/>
                <a:latin typeface="Menlo"/>
              </a:rPr>
              <a:t>set</a:t>
            </a:r>
            <a:r>
              <a:rPr kumimoji="0" lang="en-US" altLang="en-US" sz="1100" b="0" i="0" u="none" strike="noStrike" cap="none" normalizeH="0" baseline="0" dirty="0">
                <a:ln>
                  <a:noFill/>
                </a:ln>
                <a:solidFill>
                  <a:srgbClr val="666600"/>
                </a:solidFill>
                <a:effectLst/>
                <a:latin typeface="Menlo"/>
              </a:rPr>
              <a:t>;</a:t>
            </a:r>
            <a:r>
              <a:rPr kumimoji="0" lang="en-US" altLang="en-US" sz="1100" b="0" i="0" u="none" strike="noStrike" cap="none" normalizeH="0" baseline="0" dirty="0">
                <a:ln>
                  <a:noFill/>
                </a:ln>
                <a:solidFill>
                  <a:srgbClr val="000000"/>
                </a:solidFill>
                <a:effectLst/>
                <a:latin typeface="Menlo"/>
              </a:rPr>
              <a:t> </a:t>
            </a:r>
            <a:r>
              <a:rPr kumimoji="0" lang="en-US" altLang="en-US" sz="1100" b="0" i="0" u="none" strike="noStrike" cap="none" normalizeH="0" baseline="0" dirty="0">
                <a:ln>
                  <a:noFill/>
                </a:ln>
                <a:solidFill>
                  <a:srgbClr val="666600"/>
                </a:solidFill>
                <a:effectLst/>
                <a:latin typeface="Menlo"/>
              </a:rPr>
              <a:t>}</a:t>
            </a:r>
            <a:endParaRPr kumimoji="0" lang="en-US" altLang="en-US" sz="105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100" b="0" i="0" u="none" strike="noStrike" cap="none" normalizeH="0" baseline="0" dirty="0">
                <a:ln>
                  <a:noFill/>
                </a:ln>
                <a:solidFill>
                  <a:srgbClr val="666600"/>
                </a:solidFill>
                <a:effectLst/>
                <a:latin typeface="Menlo"/>
              </a:rPr>
              <a:t>...</a:t>
            </a:r>
            <a:endParaRPr kumimoji="0" lang="en-US" altLang="en-US" sz="105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100" b="0" i="0" u="none" strike="noStrike" cap="none" normalizeH="0" baseline="0" dirty="0">
                <a:ln>
                  <a:noFill/>
                </a:ln>
                <a:solidFill>
                  <a:srgbClr val="666600"/>
                </a:solidFill>
                <a:effectLst/>
                <a:latin typeface="Menlo"/>
              </a:rPr>
              <a:t>)</a:t>
            </a:r>
            <a:endParaRPr kumimoji="0" lang="en-US" altLang="en-US" sz="105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EA1B452E-4789-8467-0E35-B080E15AE521}"/>
              </a:ext>
            </a:extLst>
          </p:cNvPr>
          <p:cNvSpPr>
            <a:spLocks noChangeArrowheads="1"/>
          </p:cNvSpPr>
          <p:nvPr/>
        </p:nvSpPr>
        <p:spPr bwMode="auto">
          <a:xfrm>
            <a:off x="188536" y="3397231"/>
            <a:ext cx="11632676" cy="523220"/>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In the example above, the name of the key field in the </a:t>
            </a:r>
            <a:r>
              <a:rPr kumimoji="0" lang="en-US" altLang="en-US" sz="1400" b="0" i="0" u="none" strike="noStrike" cap="none" normalizeH="0" baseline="0" dirty="0">
                <a:ln>
                  <a:noFill/>
                </a:ln>
                <a:solidFill>
                  <a:srgbClr val="C7254E"/>
                </a:solidFill>
                <a:effectLst/>
                <a:latin typeface="Menlo"/>
              </a:rPr>
              <a:t>Order</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class does not meet the </a:t>
            </a:r>
            <a:r>
              <a:rPr kumimoji="0" lang="en-US" altLang="en-US" sz="1400" b="1" i="0" u="sng" strike="noStrike" cap="none" normalizeH="0" baseline="0" dirty="0">
                <a:ln>
                  <a:noFill/>
                </a:ln>
                <a:solidFill>
                  <a:srgbClr val="23527C"/>
                </a:solidFill>
                <a:effectLst/>
                <a:latin typeface="Open Sans" panose="020B0606030504020204" pitchFamily="34" charset="0"/>
                <a:cs typeface="Open Sans" panose="020B0606030504020204" pitchFamily="34" charset="0"/>
              </a:rPr>
              <a:t>Entity</a:t>
            </a:r>
            <a:r>
              <a:rPr kumimoji="0" lang="en-US" altLang="en-US" sz="1400" b="1" i="0" u="sng" strike="noStrike" cap="none" normalizeH="0" baseline="0" dirty="0">
                <a:ln>
                  <a:noFill/>
                </a:ln>
                <a:solidFill>
                  <a:srgbClr val="23527C"/>
                </a:solidFill>
                <a:effectLst/>
                <a:latin typeface="Open Sans" panose="020B0606030504020204" pitchFamily="34" charset="0"/>
                <a:cs typeface="Open Sans" panose="020B0606030504020204" pitchFamily="34" charset="0"/>
                <a:hlinkClick r:id="rId2"/>
              </a:rPr>
              <a:t> Framework Core's naming convention for entity keys</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so the </a:t>
            </a:r>
            <a:r>
              <a:rPr kumimoji="0" lang="en-US" altLang="en-US" sz="1400" b="0" i="0" u="none" strike="noStrike" cap="none" normalizeH="0" baseline="0" dirty="0">
                <a:ln>
                  <a:noFill/>
                </a:ln>
                <a:solidFill>
                  <a:srgbClr val="C7254E"/>
                </a:solidFill>
                <a:effectLst/>
                <a:latin typeface="Menlo"/>
              </a:rPr>
              <a:t>Key</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attribute is required to configure the </a:t>
            </a:r>
            <a:r>
              <a:rPr kumimoji="0" lang="en-US" altLang="en-US" sz="1400" b="0" i="0" u="none" strike="noStrike" cap="none" normalizeH="0" baseline="0" dirty="0" err="1">
                <a:ln>
                  <a:noFill/>
                </a:ln>
                <a:solidFill>
                  <a:srgbClr val="C7254E"/>
                </a:solidFill>
                <a:effectLst/>
                <a:latin typeface="Menlo"/>
              </a:rPr>
              <a:t>OrderNumber</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property as the key field.</a:t>
            </a:r>
            <a:r>
              <a:rPr kumimoji="0" lang="en-US" altLang="en-US" sz="1400" b="0" i="0" u="none" strike="noStrike" cap="none" normalizeH="0" baseline="0" dirty="0">
                <a:ln>
                  <a:noFill/>
                </a:ln>
                <a:solidFill>
                  <a:schemeClr val="tx1"/>
                </a:solidFill>
                <a:effectLst/>
              </a:rPr>
              <a:t> </a:t>
            </a:r>
          </a:p>
        </p:txBody>
      </p:sp>
      <p:sp>
        <p:nvSpPr>
          <p:cNvPr id="10" name="TextBox 9">
            <a:extLst>
              <a:ext uri="{FF2B5EF4-FFF2-40B4-BE49-F238E27FC236}">
                <a16:creationId xmlns:a16="http://schemas.microsoft.com/office/drawing/2014/main" id="{B307345F-5729-FCF6-7763-76D75E79C37F}"/>
              </a:ext>
            </a:extLst>
          </p:cNvPr>
          <p:cNvSpPr txBox="1"/>
          <p:nvPr/>
        </p:nvSpPr>
        <p:spPr>
          <a:xfrm>
            <a:off x="5196526" y="4081395"/>
            <a:ext cx="2486319" cy="377916"/>
          </a:xfrm>
          <a:prstGeom prst="rect">
            <a:avLst/>
          </a:prstGeom>
          <a:noFill/>
        </p:spPr>
        <p:txBody>
          <a:bodyPr wrap="square">
            <a:spAutoFit/>
          </a:bodyPr>
          <a:lstStyle/>
          <a:p>
            <a:pPr algn="l"/>
            <a:r>
              <a:rPr lang="en-IN" b="0" i="0" dirty="0">
                <a:solidFill>
                  <a:srgbClr val="004867"/>
                </a:solidFill>
                <a:effectLst/>
                <a:latin typeface="Roboto" panose="02000000000000000000" pitchFamily="2" charset="0"/>
              </a:rPr>
              <a:t>Composite Keys </a:t>
            </a:r>
          </a:p>
        </p:txBody>
      </p:sp>
      <p:sp>
        <p:nvSpPr>
          <p:cNvPr id="11" name="Rectangle 4">
            <a:extLst>
              <a:ext uri="{FF2B5EF4-FFF2-40B4-BE49-F238E27FC236}">
                <a16:creationId xmlns:a16="http://schemas.microsoft.com/office/drawing/2014/main" id="{4E33B478-2A9D-1445-EB1D-A048464D726D}"/>
              </a:ext>
            </a:extLst>
          </p:cNvPr>
          <p:cNvSpPr>
            <a:spLocks noChangeArrowheads="1"/>
          </p:cNvSpPr>
          <p:nvPr/>
        </p:nvSpPr>
        <p:spPr bwMode="auto">
          <a:xfrm>
            <a:off x="188536" y="4661911"/>
            <a:ext cx="11708091" cy="461665"/>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Entity Framework Core supports composite keys - primary key values generated from two or more fields in the database. However, unlike in previous versions of Entity Framework, you cannot use the </a:t>
            </a:r>
            <a:r>
              <a:rPr kumimoji="0" lang="en-US" altLang="en-US" sz="1200" b="0" i="0" u="none" strike="noStrike" cap="none" normalizeH="0" baseline="0" dirty="0">
                <a:ln>
                  <a:noFill/>
                </a:ln>
                <a:solidFill>
                  <a:srgbClr val="C7254E"/>
                </a:solidFill>
                <a:effectLst/>
                <a:latin typeface="Menlo"/>
              </a:rPr>
              <a:t>Key</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attribute to define composite keys. This can only be done via the Fluent API.</a:t>
            </a:r>
            <a:r>
              <a:rPr kumimoji="0" lang="en-US" altLang="en-US" sz="1200" b="0" i="0" u="none" strike="noStrike" cap="none" normalizeH="0" baseline="0" dirty="0">
                <a:ln>
                  <a:noFill/>
                </a:ln>
                <a:solidFill>
                  <a:schemeClr val="tx1"/>
                </a:solidFill>
                <a:effectLst/>
              </a:rPr>
              <a:t> </a:t>
            </a:r>
          </a:p>
        </p:txBody>
      </p:sp>
      <p:sp>
        <p:nvSpPr>
          <p:cNvPr id="12" name="Rectangle 5">
            <a:extLst>
              <a:ext uri="{FF2B5EF4-FFF2-40B4-BE49-F238E27FC236}">
                <a16:creationId xmlns:a16="http://schemas.microsoft.com/office/drawing/2014/main" id="{896934F5-8850-C257-1A43-C43CADDDCB45}"/>
              </a:ext>
            </a:extLst>
          </p:cNvPr>
          <p:cNvSpPr>
            <a:spLocks noChangeArrowheads="1"/>
          </p:cNvSpPr>
          <p:nvPr/>
        </p:nvSpPr>
        <p:spPr bwMode="auto">
          <a:xfrm>
            <a:off x="273376" y="5276504"/>
            <a:ext cx="10953947" cy="54624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26960" rIns="9144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004867"/>
                </a:solidFill>
                <a:effectLst/>
                <a:latin typeface="Roboto" panose="02000000000000000000" pitchFamily="2" charset="0"/>
              </a:rPr>
              <a:t>Fluent API</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Fluent API equivalent to the </a:t>
            </a:r>
            <a:r>
              <a:rPr kumimoji="0" lang="en-US" altLang="en-US" sz="900" b="0" i="0" u="none" strike="noStrike" cap="none" normalizeH="0" baseline="0" dirty="0">
                <a:ln>
                  <a:noFill/>
                </a:ln>
                <a:solidFill>
                  <a:srgbClr val="C7254E"/>
                </a:solidFill>
                <a:effectLst/>
                <a:latin typeface="Menlo"/>
                <a:cs typeface="Open Sans" panose="020B0606030504020204" pitchFamily="34" charset="0"/>
              </a:rPr>
              <a:t>Key</a:t>
            </a:r>
            <a:r>
              <a:rPr kumimoji="0" lang="en-US" altLang="en-US" sz="1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attribute is the </a:t>
            </a:r>
            <a:r>
              <a:rPr kumimoji="0" lang="en-US" altLang="en-US" sz="1000" b="1" i="0" u="sng" strike="noStrike" cap="none" normalizeH="0" baseline="0" dirty="0">
                <a:ln>
                  <a:noFill/>
                </a:ln>
                <a:solidFill>
                  <a:srgbClr val="000000"/>
                </a:solidFill>
                <a:effectLst/>
                <a:latin typeface="Open Sans" panose="020B0606030504020204" pitchFamily="34" charset="0"/>
                <a:cs typeface="Open Sans" panose="020B0606030504020204" pitchFamily="34" charset="0"/>
              </a:rPr>
              <a:t>HasKey</a:t>
            </a:r>
            <a:r>
              <a:rPr kumimoji="0" lang="en-US" altLang="en-US" sz="1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method.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09118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8701300-99AC-DFA7-D69C-651D62EB9CCC}"/>
              </a:ext>
            </a:extLst>
          </p:cNvPr>
          <p:cNvSpPr txBox="1"/>
          <p:nvPr/>
        </p:nvSpPr>
        <p:spPr>
          <a:xfrm>
            <a:off x="360576" y="79283"/>
            <a:ext cx="3853205"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IN" b="0" i="0" dirty="0">
                <a:solidFill>
                  <a:srgbClr val="004867"/>
                </a:solidFill>
                <a:effectLst/>
                <a:latin typeface="Roboto" panose="02000000000000000000" pitchFamily="2" charset="0"/>
              </a:rPr>
              <a:t>The </a:t>
            </a:r>
            <a:r>
              <a:rPr lang="en-IN" b="0" i="0" dirty="0" err="1">
                <a:solidFill>
                  <a:srgbClr val="004867"/>
                </a:solidFill>
                <a:effectLst/>
                <a:latin typeface="Roboto" panose="02000000000000000000" pitchFamily="2" charset="0"/>
              </a:rPr>
              <a:t>MaxLength</a:t>
            </a:r>
            <a:r>
              <a:rPr lang="en-IN" b="0" i="0" dirty="0">
                <a:solidFill>
                  <a:srgbClr val="004867"/>
                </a:solidFill>
                <a:effectLst/>
                <a:latin typeface="Roboto" panose="02000000000000000000" pitchFamily="2" charset="0"/>
              </a:rPr>
              <a:t> Attribute</a:t>
            </a:r>
          </a:p>
        </p:txBody>
      </p:sp>
      <p:sp>
        <p:nvSpPr>
          <p:cNvPr id="6" name="Rectangle 1">
            <a:extLst>
              <a:ext uri="{FF2B5EF4-FFF2-40B4-BE49-F238E27FC236}">
                <a16:creationId xmlns:a16="http://schemas.microsoft.com/office/drawing/2014/main" id="{A1C09B78-91E2-5EB6-4A3E-1DF1C230FBB3}"/>
              </a:ext>
            </a:extLst>
          </p:cNvPr>
          <p:cNvSpPr>
            <a:spLocks noChangeArrowheads="1"/>
          </p:cNvSpPr>
          <p:nvPr/>
        </p:nvSpPr>
        <p:spPr bwMode="auto">
          <a:xfrm>
            <a:off x="360576" y="468143"/>
            <a:ext cx="4748752" cy="1200329"/>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a:t>
            </a:r>
            <a:r>
              <a:rPr kumimoji="0" lang="en-US" altLang="en-US" sz="1200" b="0" i="0" u="none" strike="noStrike" cap="none" normalizeH="0" baseline="0" dirty="0" err="1">
                <a:ln>
                  <a:noFill/>
                </a:ln>
                <a:solidFill>
                  <a:srgbClr val="C7254E"/>
                </a:solidFill>
                <a:effectLst/>
                <a:latin typeface="Menlo"/>
              </a:rPr>
              <a:t>MaxLength</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attribute is applied to a property to specify a maximum number of characters or bytes for the column that the property should map to. The following example specifies that the </a:t>
            </a:r>
            <a:r>
              <a:rPr kumimoji="0" lang="en-US" altLang="en-US" sz="1200" b="0" i="0" u="none" strike="noStrike" cap="none" normalizeH="0" baseline="0" dirty="0">
                <a:ln>
                  <a:noFill/>
                </a:ln>
                <a:solidFill>
                  <a:srgbClr val="C7254E"/>
                </a:solidFill>
                <a:effectLst/>
                <a:latin typeface="Menlo"/>
              </a:rPr>
              <a:t>Title</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column in the Books table is to have a maximum length of 150 characters instead of the default which is unlimited:</a:t>
            </a:r>
            <a:r>
              <a:rPr kumimoji="0" lang="en-US" altLang="en-US" sz="1200" b="0" i="0" u="none" strike="noStrike" cap="none" normalizeH="0" baseline="0" dirty="0">
                <a:ln>
                  <a:noFill/>
                </a:ln>
                <a:solidFill>
                  <a:schemeClr val="tx1"/>
                </a:solidFill>
                <a:effectLst/>
              </a:rPr>
              <a:t> </a:t>
            </a:r>
          </a:p>
        </p:txBody>
      </p:sp>
      <p:sp>
        <p:nvSpPr>
          <p:cNvPr id="7" name="Rectangle 2">
            <a:extLst>
              <a:ext uri="{FF2B5EF4-FFF2-40B4-BE49-F238E27FC236}">
                <a16:creationId xmlns:a16="http://schemas.microsoft.com/office/drawing/2014/main" id="{C9F7D77D-D002-71D4-832F-1B2486967746}"/>
              </a:ext>
            </a:extLst>
          </p:cNvPr>
          <p:cNvSpPr>
            <a:spLocks noChangeArrowheads="1"/>
          </p:cNvSpPr>
          <p:nvPr/>
        </p:nvSpPr>
        <p:spPr bwMode="auto">
          <a:xfrm>
            <a:off x="360576" y="1769362"/>
            <a:ext cx="3998535" cy="1477328"/>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class</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Book</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int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latin typeface="Menlo"/>
              </a:rPr>
              <a:t>BookId</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err="1">
                <a:ln>
                  <a:noFill/>
                </a:ln>
                <a:solidFill>
                  <a:srgbClr val="555555"/>
                </a:solidFill>
                <a:effectLst/>
                <a:latin typeface="Menlo"/>
              </a:rPr>
              <a:t>MaxLength</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6666"/>
                </a:solidFill>
                <a:effectLst/>
                <a:latin typeface="Menlo"/>
              </a:rPr>
              <a:t>150</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string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Title</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Author</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latin typeface="Menlo"/>
              </a:rPr>
              <a:t>Author</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B56FED11-30A7-4028-CF32-7EC96A23FBF6}"/>
              </a:ext>
            </a:extLst>
          </p:cNvPr>
          <p:cNvSpPr txBox="1"/>
          <p:nvPr/>
        </p:nvSpPr>
        <p:spPr>
          <a:xfrm>
            <a:off x="360576" y="3360875"/>
            <a:ext cx="3853205"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IN" b="0" i="0" dirty="0">
                <a:solidFill>
                  <a:srgbClr val="004867"/>
                </a:solidFill>
                <a:effectLst/>
                <a:latin typeface="Roboto" panose="02000000000000000000" pitchFamily="2" charset="0"/>
              </a:rPr>
              <a:t>The </a:t>
            </a:r>
            <a:r>
              <a:rPr lang="en-IN" b="0" i="0" dirty="0" err="1">
                <a:solidFill>
                  <a:srgbClr val="004867"/>
                </a:solidFill>
                <a:effectLst/>
                <a:latin typeface="Roboto" panose="02000000000000000000" pitchFamily="2" charset="0"/>
              </a:rPr>
              <a:t>NotMapped</a:t>
            </a:r>
            <a:r>
              <a:rPr lang="en-IN" b="0" i="0" dirty="0">
                <a:solidFill>
                  <a:srgbClr val="004867"/>
                </a:solidFill>
                <a:effectLst/>
                <a:latin typeface="Roboto" panose="02000000000000000000" pitchFamily="2" charset="0"/>
              </a:rPr>
              <a:t> Attribute</a:t>
            </a:r>
          </a:p>
        </p:txBody>
      </p:sp>
      <p:sp>
        <p:nvSpPr>
          <p:cNvPr id="10" name="Rectangle 3">
            <a:extLst>
              <a:ext uri="{FF2B5EF4-FFF2-40B4-BE49-F238E27FC236}">
                <a16:creationId xmlns:a16="http://schemas.microsoft.com/office/drawing/2014/main" id="{1F9BBEC8-E2D1-0439-4854-B89EC442F326}"/>
              </a:ext>
            </a:extLst>
          </p:cNvPr>
          <p:cNvSpPr>
            <a:spLocks noChangeArrowheads="1"/>
          </p:cNvSpPr>
          <p:nvPr/>
        </p:nvSpPr>
        <p:spPr bwMode="auto">
          <a:xfrm>
            <a:off x="87199" y="3844392"/>
            <a:ext cx="4748752" cy="830997"/>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a:t>
            </a:r>
            <a:r>
              <a:rPr kumimoji="0" lang="en-US" altLang="en-US" sz="1200" b="0" i="0" u="none" strike="noStrike" cap="none" normalizeH="0" baseline="0" dirty="0" err="1">
                <a:ln>
                  <a:noFill/>
                </a:ln>
                <a:solidFill>
                  <a:srgbClr val="C7254E"/>
                </a:solidFill>
                <a:effectLst/>
                <a:latin typeface="Menlo"/>
              </a:rPr>
              <a:t>NotMapped</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attribute is used to specify that an entity or property is not to be mapped to a table or column in the database. In the following example, the </a:t>
            </a:r>
            <a:r>
              <a:rPr kumimoji="0" lang="en-US" altLang="en-US" sz="1200" b="0" i="0" u="none" strike="noStrike" cap="none" normalizeH="0" baseline="0" dirty="0" err="1">
                <a:ln>
                  <a:noFill/>
                </a:ln>
                <a:solidFill>
                  <a:srgbClr val="C7254E"/>
                </a:solidFill>
                <a:effectLst/>
                <a:latin typeface="Menlo"/>
              </a:rPr>
              <a:t>AuditLog</a:t>
            </a:r>
            <a:r>
              <a:rPr kumimoji="0" lang="en-US" altLang="en-US"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class will not be mapped to a table in the database:</a:t>
            </a:r>
            <a:r>
              <a:rPr kumimoji="0" lang="en-US" altLang="en-US" sz="1200" b="0" i="0" u="none" strike="noStrike" cap="none" normalizeH="0" baseline="0" dirty="0">
                <a:ln>
                  <a:noFill/>
                </a:ln>
                <a:solidFill>
                  <a:schemeClr val="tx1"/>
                </a:solidFill>
                <a:effectLst/>
              </a:rPr>
              <a:t> </a:t>
            </a:r>
          </a:p>
        </p:txBody>
      </p:sp>
      <p:sp>
        <p:nvSpPr>
          <p:cNvPr id="11" name="Rectangle 4">
            <a:extLst>
              <a:ext uri="{FF2B5EF4-FFF2-40B4-BE49-F238E27FC236}">
                <a16:creationId xmlns:a16="http://schemas.microsoft.com/office/drawing/2014/main" id="{66061CB3-B492-B6C5-611F-19152CDA6EEF}"/>
              </a:ext>
            </a:extLst>
          </p:cNvPr>
          <p:cNvSpPr>
            <a:spLocks noChangeArrowheads="1"/>
          </p:cNvSpPr>
          <p:nvPr/>
        </p:nvSpPr>
        <p:spPr bwMode="auto">
          <a:xfrm>
            <a:off x="5763401" y="199702"/>
            <a:ext cx="6102588" cy="3046988"/>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class</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Contact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int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latin typeface="Menlo"/>
              </a:rPr>
              <a:t>ContactId</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string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FirstName</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string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latin typeface="Menlo"/>
              </a:rPr>
              <a:t>LastName</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string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Email</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latin typeface="Menlo"/>
              </a:rPr>
              <a:t>AuditLog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latin typeface="Menlo"/>
              </a:rPr>
              <a:t>AuditLog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err="1">
                <a:ln>
                  <a:noFill/>
                </a:ln>
                <a:solidFill>
                  <a:srgbClr val="555555"/>
                </a:solidFill>
                <a:effectLst/>
                <a:latin typeface="Menlo"/>
              </a:rPr>
              <a:t>NotMapped</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class</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latin typeface="Menlo"/>
              </a:rPr>
              <a:t>AuditLog</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2"/>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int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latin typeface="Menlo"/>
              </a:rPr>
              <a:t>EntityId</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4"/>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int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latin typeface="Menlo"/>
              </a:rPr>
              <a:t>UserId</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5"/>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latin typeface="Menlo"/>
              </a:rPr>
              <a:t>DateTime</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Modified</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16"/>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0B58AF7F-EB6B-9EB6-D41C-A48A516F1683}"/>
              </a:ext>
            </a:extLst>
          </p:cNvPr>
          <p:cNvSpPr>
            <a:spLocks noChangeArrowheads="1"/>
          </p:cNvSpPr>
          <p:nvPr/>
        </p:nvSpPr>
        <p:spPr bwMode="auto">
          <a:xfrm>
            <a:off x="5420412" y="3490449"/>
            <a:ext cx="6565111" cy="461665"/>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333333"/>
                </a:solidFill>
                <a:effectLst/>
                <a:latin typeface="Open Sans" panose="020B0606030504020204" pitchFamily="34" charset="0"/>
                <a:cs typeface="Open Sans" panose="020B0606030504020204" pitchFamily="34" charset="0"/>
              </a:rPr>
              <a:t>In this example, the </a:t>
            </a:r>
            <a:r>
              <a:rPr kumimoji="0" lang="en-US" altLang="en-US" sz="1200" b="0" i="0" u="none" strike="noStrike" cap="none" normalizeH="0" baseline="0">
                <a:ln>
                  <a:noFill/>
                </a:ln>
                <a:solidFill>
                  <a:srgbClr val="C7254E"/>
                </a:solidFill>
                <a:effectLst/>
                <a:latin typeface="Menlo"/>
              </a:rPr>
              <a:t>FullName</a:t>
            </a:r>
            <a:r>
              <a:rPr kumimoji="0" lang="en-US" altLang="en-US" sz="1200" b="0" i="0" u="none" strike="noStrike" cap="none" normalizeH="0" baseline="0">
                <a:ln>
                  <a:noFill/>
                </a:ln>
                <a:solidFill>
                  <a:srgbClr val="333333"/>
                </a:solidFill>
                <a:effectLst/>
                <a:latin typeface="Open Sans" panose="020B0606030504020204" pitchFamily="34" charset="0"/>
                <a:cs typeface="Open Sans" panose="020B0606030504020204" pitchFamily="34" charset="0"/>
              </a:rPr>
              <a:t> property will not be mapped to a column in the Contacts table in the database:</a:t>
            </a:r>
            <a:r>
              <a:rPr kumimoji="0" lang="en-US" altLang="en-US" sz="1200" b="0" i="0" u="none" strike="noStrike" cap="none" normalizeH="0" baseline="0">
                <a:ln>
                  <a:noFill/>
                </a:ln>
                <a:solidFill>
                  <a:schemeClr val="tx1"/>
                </a:solidFill>
                <a:effectLst/>
              </a:rPr>
              <a:t> </a:t>
            </a:r>
          </a:p>
        </p:txBody>
      </p:sp>
      <p:sp>
        <p:nvSpPr>
          <p:cNvPr id="2" name="Rectangle 1">
            <a:extLst>
              <a:ext uri="{FF2B5EF4-FFF2-40B4-BE49-F238E27FC236}">
                <a16:creationId xmlns:a16="http://schemas.microsoft.com/office/drawing/2014/main" id="{F0D603F6-FA1D-ED1B-D1A0-FD394FD0BD82}"/>
              </a:ext>
            </a:extLst>
          </p:cNvPr>
          <p:cNvSpPr>
            <a:spLocks noChangeArrowheads="1"/>
          </p:cNvSpPr>
          <p:nvPr/>
        </p:nvSpPr>
        <p:spPr bwMode="auto">
          <a:xfrm>
            <a:off x="5763401" y="4195873"/>
            <a:ext cx="4437668" cy="2308324"/>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Contact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ContactId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FirstName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LastName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err="1">
                <a:ln>
                  <a:noFill/>
                </a:ln>
                <a:solidFill>
                  <a:srgbClr val="555555"/>
                </a:solidFill>
                <a:effectLst/>
                <a:latin typeface="Menlo"/>
              </a:rPr>
              <a:t>NotMapped</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FullName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=&gt;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A52A2A"/>
                </a:solidFill>
                <a:effectLst/>
                <a:latin typeface="Menlo"/>
              </a:rPr>
              <a:t>"{FirstName} {</a:t>
            </a:r>
            <a:r>
              <a:rPr kumimoji="0" lang="en-US" altLang="en-US" sz="1400" b="0" i="0" u="none" strike="noStrike" cap="none" normalizeH="0" baseline="0" dirty="0" err="1">
                <a:ln>
                  <a:noFill/>
                </a:ln>
                <a:solidFill>
                  <a:srgbClr val="A52A2A"/>
                </a:solidFill>
                <a:effectLst/>
                <a:latin typeface="Menlo"/>
              </a:rPr>
              <a:t>LastName</a:t>
            </a:r>
            <a:r>
              <a:rPr kumimoji="0" lang="en-US" altLang="en-US" sz="1400" b="0" i="0" u="none" strike="noStrike" cap="none" normalizeH="0" baseline="0" dirty="0">
                <a:ln>
                  <a:noFill/>
                </a:ln>
                <a:solidFill>
                  <a:srgbClr val="A52A2A"/>
                </a:solidFill>
                <a:effectLst/>
                <a:latin typeface="Menlo"/>
              </a:rPr>
              <a:t>}"</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Email</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FA462595-1EA9-5741-E2DB-7496CF43F0C9}"/>
              </a:ext>
            </a:extLst>
          </p:cNvPr>
          <p:cNvSpPr>
            <a:spLocks noChangeArrowheads="1"/>
          </p:cNvSpPr>
          <p:nvPr/>
        </p:nvSpPr>
        <p:spPr bwMode="auto">
          <a:xfrm>
            <a:off x="179109" y="6021501"/>
            <a:ext cx="4748752" cy="546243"/>
          </a:xfrm>
          <a:prstGeom prst="rect">
            <a:avLst/>
          </a:prstGeom>
          <a:ln/>
        </p:spPr>
        <p:style>
          <a:lnRef idx="2">
            <a:schemeClr val="accent4"/>
          </a:lnRef>
          <a:fillRef idx="1">
            <a:schemeClr val="lt1"/>
          </a:fillRef>
          <a:effectRef idx="0">
            <a:schemeClr val="accent4"/>
          </a:effectRef>
          <a:fontRef idx="minor">
            <a:schemeClr val="dk1"/>
          </a:fontRef>
        </p:style>
        <p:txBody>
          <a:bodyPr vert="horz" wrap="square" lIns="91440" tIns="126960" rIns="9144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a:ln>
                  <a:noFill/>
                </a:ln>
                <a:solidFill>
                  <a:srgbClr val="004867"/>
                </a:solidFill>
                <a:effectLst/>
                <a:latin typeface="Roboto" panose="02000000000000000000" pitchFamily="2" charset="0"/>
              </a:rPr>
              <a:t>Fluent API</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33333"/>
                </a:solidFill>
                <a:effectLst/>
                <a:latin typeface="Open Sans" panose="020B0606030504020204" pitchFamily="34" charset="0"/>
                <a:cs typeface="Open Sans" panose="020B0606030504020204" pitchFamily="34" charset="0"/>
              </a:rPr>
              <a:t>The Fluent API equivalent to the </a:t>
            </a:r>
            <a:r>
              <a:rPr kumimoji="0" lang="en-US" altLang="en-US" sz="900" b="0" i="0" u="none" strike="noStrike" cap="none" normalizeH="0" baseline="0">
                <a:ln>
                  <a:noFill/>
                </a:ln>
                <a:solidFill>
                  <a:srgbClr val="C7254E"/>
                </a:solidFill>
                <a:effectLst/>
                <a:latin typeface="Menlo"/>
                <a:cs typeface="Open Sans" panose="020B0606030504020204" pitchFamily="34" charset="0"/>
              </a:rPr>
              <a:t>NotMapped</a:t>
            </a:r>
            <a:r>
              <a:rPr kumimoji="0" lang="en-US" altLang="en-US" sz="1000" b="0" i="0" u="none" strike="noStrike" cap="none" normalizeH="0" baseline="0">
                <a:ln>
                  <a:noFill/>
                </a:ln>
                <a:solidFill>
                  <a:srgbClr val="333333"/>
                </a:solidFill>
                <a:effectLst/>
                <a:latin typeface="Open Sans" panose="020B0606030504020204" pitchFamily="34" charset="0"/>
                <a:cs typeface="Open Sans" panose="020B0606030504020204" pitchFamily="34" charset="0"/>
              </a:rPr>
              <a:t> attribute is the </a:t>
            </a:r>
            <a:r>
              <a:rPr kumimoji="0" lang="en-US" altLang="en-US" sz="1000" b="1" i="0" u="sng" strike="noStrike" cap="none" normalizeH="0" baseline="0">
                <a:ln>
                  <a:noFill/>
                </a:ln>
                <a:solidFill>
                  <a:srgbClr val="000000"/>
                </a:solidFill>
                <a:effectLst/>
                <a:latin typeface="Open Sans" panose="020B0606030504020204" pitchFamily="34" charset="0"/>
                <a:cs typeface="Open Sans" panose="020B0606030504020204" pitchFamily="34" charset="0"/>
                <a:hlinkClick r:id="rId2"/>
              </a:rPr>
              <a:t>Ignore method</a:t>
            </a:r>
            <a:r>
              <a:rPr kumimoji="0" lang="en-US" altLang="en-US" sz="1000" b="0" i="0" u="none" strike="noStrike" cap="none" normalizeH="0" baseline="0">
                <a:ln>
                  <a:noFill/>
                </a:ln>
                <a:solidFill>
                  <a:srgbClr val="333333"/>
                </a:solidFill>
                <a:effectLst/>
                <a:latin typeface="Open Sans" panose="020B0606030504020204" pitchFamily="34" charset="0"/>
                <a:cs typeface="Open Sans" panose="020B0606030504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07581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5A751E5-739C-AD53-9CC1-D07BEDB13439}"/>
              </a:ext>
            </a:extLst>
          </p:cNvPr>
          <p:cNvSpPr txBox="1"/>
          <p:nvPr/>
        </p:nvSpPr>
        <p:spPr>
          <a:xfrm>
            <a:off x="1572" y="88710"/>
            <a:ext cx="3184688" cy="369332"/>
          </a:xfrm>
          <a:prstGeom prst="rect">
            <a:avLst/>
          </a:prstGeom>
          <a:noFill/>
        </p:spPr>
        <p:txBody>
          <a:bodyPr wrap="square">
            <a:spAutoFit/>
          </a:bodyPr>
          <a:lstStyle/>
          <a:p>
            <a:pPr algn="l"/>
            <a:r>
              <a:rPr lang="en-IN" b="0" i="0" dirty="0">
                <a:solidFill>
                  <a:srgbClr val="004867"/>
                </a:solidFill>
                <a:effectLst/>
                <a:latin typeface="Roboto" panose="02000000000000000000" pitchFamily="2" charset="0"/>
              </a:rPr>
              <a:t>The Required Attribute</a:t>
            </a:r>
          </a:p>
        </p:txBody>
      </p:sp>
      <p:sp>
        <p:nvSpPr>
          <p:cNvPr id="6" name="Rectangle 1">
            <a:extLst>
              <a:ext uri="{FF2B5EF4-FFF2-40B4-BE49-F238E27FC236}">
                <a16:creationId xmlns:a16="http://schemas.microsoft.com/office/drawing/2014/main" id="{7C999517-4009-4EC3-31B8-21FB08E351C5}"/>
              </a:ext>
            </a:extLst>
          </p:cNvPr>
          <p:cNvSpPr>
            <a:spLocks noChangeArrowheads="1"/>
          </p:cNvSpPr>
          <p:nvPr/>
        </p:nvSpPr>
        <p:spPr bwMode="auto">
          <a:xfrm>
            <a:off x="0" y="517667"/>
            <a:ext cx="5327716" cy="1384995"/>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Required</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attribute is applied to an entity property to configure the mapped database column as not nullable.</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By default, strings are mapped to nullable columns in the database, but this convention is overridden in the example below through the application of the </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Required</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attribute. The </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Title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column in the </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Book</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table will be configured as </a:t>
            </a:r>
            <a:r>
              <a:rPr kumimoji="0" lang="en-US" altLang="en-US" sz="1400" b="0" i="0" u="none" strike="noStrike" cap="none" normalizeH="0" baseline="0" dirty="0">
                <a:ln>
                  <a:noFill/>
                </a:ln>
                <a:solidFill>
                  <a:srgbClr val="C7254E"/>
                </a:solidFill>
                <a:effectLst/>
                <a:latin typeface="Menlo"/>
                <a:cs typeface="Open Sans" panose="020B0606030504020204" pitchFamily="34" charset="0"/>
              </a:rPr>
              <a:t>not null</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a:t>
            </a:r>
            <a:endParaRPr kumimoji="0" lang="en-US" altLang="en-US" sz="1400" b="0" i="0" u="none" strike="noStrike" cap="none" normalizeH="0" baseline="0" dirty="0">
              <a:ln>
                <a:noFill/>
              </a:ln>
              <a:solidFill>
                <a:schemeClr val="tx1"/>
              </a:solidFill>
              <a:effectLst/>
            </a:endParaRPr>
          </a:p>
        </p:txBody>
      </p:sp>
      <p:sp>
        <p:nvSpPr>
          <p:cNvPr id="7" name="Rectangle 2">
            <a:extLst>
              <a:ext uri="{FF2B5EF4-FFF2-40B4-BE49-F238E27FC236}">
                <a16:creationId xmlns:a16="http://schemas.microsoft.com/office/drawing/2014/main" id="{7F2EF38A-9BB4-EA2F-AB51-DB7BE5D5E070}"/>
              </a:ext>
            </a:extLst>
          </p:cNvPr>
          <p:cNvSpPr>
            <a:spLocks noChangeArrowheads="1"/>
          </p:cNvSpPr>
          <p:nvPr/>
        </p:nvSpPr>
        <p:spPr bwMode="auto">
          <a:xfrm>
            <a:off x="94269" y="2293753"/>
            <a:ext cx="3893270" cy="1723549"/>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Book</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BookId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555555"/>
                </a:solidFill>
                <a:effectLst/>
                <a:latin typeface="Menlo"/>
              </a:rPr>
              <a:t>Required</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Title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Author</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Author</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4270FADB-72AB-F237-B16F-D3E1F591A5A4}"/>
              </a:ext>
            </a:extLst>
          </p:cNvPr>
          <p:cNvSpPr>
            <a:spLocks noChangeArrowheads="1"/>
          </p:cNvSpPr>
          <p:nvPr/>
        </p:nvSpPr>
        <p:spPr bwMode="auto">
          <a:xfrm>
            <a:off x="94269" y="5381180"/>
            <a:ext cx="3893270" cy="110024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26960" rIns="9144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004867"/>
                </a:solidFill>
                <a:effectLst/>
                <a:latin typeface="Roboto" panose="02000000000000000000" pitchFamily="2" charset="0"/>
              </a:rPr>
              <a:t>Fluent API</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300" dirty="0">
              <a:solidFill>
                <a:srgbClr val="004867"/>
              </a:solidFill>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dirty="0">
              <a:ln>
                <a:noFill/>
              </a:ln>
              <a:solidFill>
                <a:srgbClr val="004867"/>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Fluent API equivalent for the </a:t>
            </a:r>
            <a:r>
              <a:rPr kumimoji="0" lang="en-US" altLang="en-US" sz="900" b="0" i="0" u="none" strike="noStrike" cap="none" normalizeH="0" baseline="0" dirty="0">
                <a:ln>
                  <a:noFill/>
                </a:ln>
                <a:solidFill>
                  <a:srgbClr val="C7254E"/>
                </a:solidFill>
                <a:effectLst/>
                <a:latin typeface="Menlo"/>
                <a:cs typeface="Open Sans" panose="020B0606030504020204" pitchFamily="34" charset="0"/>
              </a:rPr>
              <a:t>Required</a:t>
            </a:r>
            <a:r>
              <a:rPr kumimoji="0" lang="en-US" altLang="en-US" sz="1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attribute is the </a:t>
            </a:r>
            <a:r>
              <a:rPr kumimoji="0" lang="en-US" altLang="en-US" sz="1000" b="1" i="0" u="sng" strike="noStrike" cap="none" normalizeH="0" baseline="0" dirty="0" err="1">
                <a:ln>
                  <a:noFill/>
                </a:ln>
                <a:solidFill>
                  <a:srgbClr val="000000"/>
                </a:solidFill>
                <a:effectLst/>
                <a:latin typeface="Open Sans" panose="020B0606030504020204" pitchFamily="34" charset="0"/>
                <a:cs typeface="Open Sans" panose="020B0606030504020204" pitchFamily="34" charset="0"/>
              </a:rPr>
              <a:t>IsRequired</a:t>
            </a:r>
            <a:r>
              <a:rPr kumimoji="0" lang="en-US" altLang="en-US" sz="1000" b="1" i="0" u="sng" strike="noStrike" cap="none" normalizeH="0" baseline="0" dirty="0">
                <a:ln>
                  <a:noFill/>
                </a:ln>
                <a:solidFill>
                  <a:srgbClr val="000000"/>
                </a:solidFill>
                <a:effectLst/>
                <a:latin typeface="Open Sans" panose="020B0606030504020204" pitchFamily="34" charset="0"/>
                <a:cs typeface="Open Sans" panose="020B0606030504020204" pitchFamily="34" charset="0"/>
              </a:rPr>
              <a:t> method</a:t>
            </a:r>
            <a:r>
              <a:rPr kumimoji="0" lang="en-US" altLang="en-US" sz="1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7C17DDEA-5A2E-4F44-DECF-54A97CA8E8BD}"/>
              </a:ext>
            </a:extLst>
          </p:cNvPr>
          <p:cNvSpPr txBox="1"/>
          <p:nvPr/>
        </p:nvSpPr>
        <p:spPr>
          <a:xfrm>
            <a:off x="94269" y="4241161"/>
            <a:ext cx="2592370" cy="70788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solidFill>
                  <a:srgbClr val="333333"/>
                </a:solidFill>
                <a:effectLst/>
                <a:uLnTx/>
                <a:uFillTx/>
                <a:latin typeface="Open Sans" panose="020B0606030504020204" pitchFamily="34" charset="0"/>
                <a:ea typeface="+mn-ea"/>
                <a:cs typeface="Open Sans" panose="020B0606030504020204" pitchFamily="34" charset="0"/>
              </a:rPr>
              <a:t>The </a:t>
            </a:r>
            <a:r>
              <a:rPr kumimoji="0" lang="en-US" altLang="en-US" sz="900" b="0" i="0" u="none" strike="noStrike" kern="1200" cap="none" spc="0" normalizeH="0" baseline="0" noProof="0" dirty="0">
                <a:ln>
                  <a:noFill/>
                </a:ln>
                <a:solidFill>
                  <a:srgbClr val="C7254E"/>
                </a:solidFill>
                <a:effectLst/>
                <a:uLnTx/>
                <a:uFillTx/>
                <a:latin typeface="Menlo"/>
                <a:ea typeface="+mn-ea"/>
                <a:cs typeface="Open Sans" panose="020B0606030504020204" pitchFamily="34" charset="0"/>
              </a:rPr>
              <a:t>Required</a:t>
            </a:r>
            <a:r>
              <a:rPr kumimoji="0" lang="en-US" altLang="en-US" sz="1000" b="0" i="0" u="none" strike="noStrike" kern="1200" cap="none" spc="0" normalizeH="0" baseline="0" noProof="0" dirty="0">
                <a:ln>
                  <a:noFill/>
                </a:ln>
                <a:solidFill>
                  <a:srgbClr val="333333"/>
                </a:solidFill>
                <a:effectLst/>
                <a:uLnTx/>
                <a:uFillTx/>
                <a:latin typeface="Open Sans" panose="020B0606030504020204" pitchFamily="34" charset="0"/>
                <a:ea typeface="+mn-ea"/>
                <a:cs typeface="Open Sans" panose="020B0606030504020204" pitchFamily="34" charset="0"/>
              </a:rPr>
              <a:t> attribute can be used to provide client-side validation in validation-aware UI frameworks, such as ASP.NET MVC.</a:t>
            </a:r>
            <a:endParaRPr kumimoji="0" lang="en-US" altLang="en-US" sz="1300" b="0" i="0" u="none" strike="noStrike" kern="1200" cap="none" spc="0" normalizeH="0" baseline="0" noProof="0" dirty="0">
              <a:ln>
                <a:noFill/>
              </a:ln>
              <a:solidFill>
                <a:srgbClr val="004867"/>
              </a:solidFill>
              <a:effectLst/>
              <a:uLnTx/>
              <a:uFillTx/>
              <a:latin typeface="Roboto" panose="02000000000000000000" pitchFamily="2" charset="0"/>
              <a:ea typeface="+mn-ea"/>
              <a:cs typeface="+mn-cs"/>
            </a:endParaRPr>
          </a:p>
        </p:txBody>
      </p:sp>
      <p:sp>
        <p:nvSpPr>
          <p:cNvPr id="12" name="TextBox 11">
            <a:extLst>
              <a:ext uri="{FF2B5EF4-FFF2-40B4-BE49-F238E27FC236}">
                <a16:creationId xmlns:a16="http://schemas.microsoft.com/office/drawing/2014/main" id="{A0CF94E3-4439-4473-CF69-F1CFAFE883BE}"/>
              </a:ext>
            </a:extLst>
          </p:cNvPr>
          <p:cNvSpPr txBox="1"/>
          <p:nvPr/>
        </p:nvSpPr>
        <p:spPr>
          <a:xfrm>
            <a:off x="6848573" y="88709"/>
            <a:ext cx="4284483" cy="369332"/>
          </a:xfrm>
          <a:prstGeom prst="rect">
            <a:avLst/>
          </a:prstGeom>
          <a:noFill/>
        </p:spPr>
        <p:txBody>
          <a:bodyPr wrap="square">
            <a:spAutoFit/>
          </a:bodyPr>
          <a:lstStyle/>
          <a:p>
            <a:pPr algn="l"/>
            <a:r>
              <a:rPr lang="en-IN" b="0" i="0" dirty="0">
                <a:solidFill>
                  <a:srgbClr val="004867"/>
                </a:solidFill>
                <a:effectLst/>
                <a:latin typeface="Roboto" panose="02000000000000000000" pitchFamily="2" charset="0"/>
              </a:rPr>
              <a:t>The </a:t>
            </a:r>
            <a:r>
              <a:rPr lang="en-IN" b="0" i="0" dirty="0" err="1">
                <a:solidFill>
                  <a:srgbClr val="004867"/>
                </a:solidFill>
                <a:effectLst/>
                <a:latin typeface="Roboto" panose="02000000000000000000" pitchFamily="2" charset="0"/>
              </a:rPr>
              <a:t>StringLength</a:t>
            </a:r>
            <a:r>
              <a:rPr lang="en-IN" b="0" i="0" dirty="0">
                <a:solidFill>
                  <a:srgbClr val="004867"/>
                </a:solidFill>
                <a:effectLst/>
                <a:latin typeface="Roboto" panose="02000000000000000000" pitchFamily="2" charset="0"/>
              </a:rPr>
              <a:t> Attribute</a:t>
            </a:r>
          </a:p>
        </p:txBody>
      </p:sp>
      <p:sp>
        <p:nvSpPr>
          <p:cNvPr id="13" name="Rectangle 4">
            <a:extLst>
              <a:ext uri="{FF2B5EF4-FFF2-40B4-BE49-F238E27FC236}">
                <a16:creationId xmlns:a16="http://schemas.microsoft.com/office/drawing/2014/main" id="{F021742C-4F9D-E46A-A073-36F884D15DAB}"/>
              </a:ext>
            </a:extLst>
          </p:cNvPr>
          <p:cNvSpPr>
            <a:spLocks noChangeArrowheads="1"/>
          </p:cNvSpPr>
          <p:nvPr/>
        </p:nvSpPr>
        <p:spPr bwMode="auto">
          <a:xfrm>
            <a:off x="6334811" y="517667"/>
            <a:ext cx="5327716" cy="1384995"/>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a:t>
            </a:r>
            <a:r>
              <a:rPr kumimoji="0" lang="en-US" altLang="en-US" sz="1400" b="0" i="0" u="none" strike="noStrike" cap="none" normalizeH="0" baseline="0" dirty="0" err="1">
                <a:ln>
                  <a:noFill/>
                </a:ln>
                <a:solidFill>
                  <a:srgbClr val="C7254E"/>
                </a:solidFill>
                <a:effectLst/>
                <a:latin typeface="Menlo"/>
              </a:rPr>
              <a:t>StringLength</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attribute is applied to a property to specify a maximum number of characters or bytes for the column that the property should map to. The following example specifies that the </a:t>
            </a:r>
            <a:r>
              <a:rPr kumimoji="0" lang="en-US" altLang="en-US" sz="1400" b="0" i="0" u="none" strike="noStrike" cap="none" normalizeH="0" baseline="0" dirty="0">
                <a:ln>
                  <a:noFill/>
                </a:ln>
                <a:solidFill>
                  <a:srgbClr val="C7254E"/>
                </a:solidFill>
                <a:effectLst/>
                <a:latin typeface="Menlo"/>
              </a:rPr>
              <a:t>Title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column in the Books table is to be have a maximum length of 150 characters instead of the default which is unlimited:</a:t>
            </a:r>
            <a:r>
              <a:rPr kumimoji="0" lang="en-US" altLang="en-US" sz="1400" b="0" i="0" u="none" strike="noStrike" cap="none" normalizeH="0" baseline="0" dirty="0">
                <a:ln>
                  <a:noFill/>
                </a:ln>
                <a:solidFill>
                  <a:schemeClr val="tx1"/>
                </a:solidFill>
                <a:effectLst/>
              </a:rPr>
              <a:t> </a:t>
            </a:r>
          </a:p>
        </p:txBody>
      </p:sp>
      <p:sp>
        <p:nvSpPr>
          <p:cNvPr id="14" name="Rectangle 5">
            <a:extLst>
              <a:ext uri="{FF2B5EF4-FFF2-40B4-BE49-F238E27FC236}">
                <a16:creationId xmlns:a16="http://schemas.microsoft.com/office/drawing/2014/main" id="{EB57BA18-E8FD-EC20-D428-EE9CDD8DBDBE}"/>
              </a:ext>
            </a:extLst>
          </p:cNvPr>
          <p:cNvSpPr>
            <a:spLocks noChangeArrowheads="1"/>
          </p:cNvSpPr>
          <p:nvPr/>
        </p:nvSpPr>
        <p:spPr bwMode="auto">
          <a:xfrm>
            <a:off x="5714215" y="2012462"/>
            <a:ext cx="3046430" cy="1785104"/>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Book</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BookId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err="1">
                <a:ln>
                  <a:noFill/>
                </a:ln>
                <a:solidFill>
                  <a:srgbClr val="555555"/>
                </a:solidFill>
                <a:effectLst/>
                <a:latin typeface="Menlo"/>
              </a:rPr>
              <a:t>StringLength</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6666"/>
                </a:solidFill>
                <a:effectLst/>
                <a:latin typeface="Menlo"/>
              </a:rPr>
              <a:t>150</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Title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Author</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Author</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6">
            <a:extLst>
              <a:ext uri="{FF2B5EF4-FFF2-40B4-BE49-F238E27FC236}">
                <a16:creationId xmlns:a16="http://schemas.microsoft.com/office/drawing/2014/main" id="{7E1A801F-CA09-2E5C-BD27-0652B5A511A9}"/>
              </a:ext>
            </a:extLst>
          </p:cNvPr>
          <p:cNvSpPr>
            <a:spLocks noChangeArrowheads="1"/>
          </p:cNvSpPr>
          <p:nvPr/>
        </p:nvSpPr>
        <p:spPr bwMode="auto">
          <a:xfrm>
            <a:off x="8990815" y="1979715"/>
            <a:ext cx="2962374" cy="1723549"/>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class</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Book</a:t>
            </a:r>
            <a:endParaRPr kumimoji="0" lang="en-US" altLang="en-US" sz="11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0" i="0" u="none" strike="noStrike" cap="none" normalizeH="0" baseline="0" dirty="0">
                <a:ln>
                  <a:noFill/>
                </a:ln>
                <a:solidFill>
                  <a:srgbClr val="666600"/>
                </a:solidFill>
                <a:effectLst/>
                <a:latin typeface="Menlo"/>
              </a:rPr>
              <a:t>{</a:t>
            </a:r>
            <a:endParaRPr kumimoji="0" lang="en-US" altLang="en-US" sz="11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int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latin typeface="Menlo"/>
              </a:rPr>
              <a:t>BookId</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1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err="1">
                <a:ln>
                  <a:noFill/>
                </a:ln>
                <a:solidFill>
                  <a:srgbClr val="555555"/>
                </a:solidFill>
                <a:effectLst/>
                <a:latin typeface="Menlo"/>
              </a:rPr>
              <a:t>StringLength</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6666"/>
                </a:solidFill>
                <a:effectLst/>
                <a:latin typeface="Menlo"/>
              </a:rPr>
              <a:t>150</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latin typeface="Menlo"/>
              </a:rPr>
              <a:t>MinimumLength</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6666"/>
                </a:solidFill>
                <a:effectLst/>
                <a:latin typeface="Menlo"/>
              </a:rPr>
              <a:t>5</a:t>
            </a:r>
            <a:r>
              <a:rPr kumimoji="0" lang="en-US" altLang="en-US" sz="1200" b="0" i="0" u="none" strike="noStrike" cap="none" normalizeH="0" baseline="0" dirty="0">
                <a:ln>
                  <a:noFill/>
                </a:ln>
                <a:solidFill>
                  <a:srgbClr val="666600"/>
                </a:solidFill>
                <a:effectLst/>
                <a:latin typeface="Menlo"/>
              </a:rPr>
              <a:t>)]</a:t>
            </a:r>
            <a:endParaRPr kumimoji="0" lang="en-US" altLang="en-US" sz="11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string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Title</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1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Author</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latin typeface="Menlo"/>
              </a:rPr>
              <a:t>Author</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1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200" b="0" i="0" u="none" strike="noStrike" cap="none" normalizeH="0" baseline="0" dirty="0">
                <a:ln>
                  <a:noFill/>
                </a:ln>
                <a:solidFill>
                  <a:srgbClr val="666600"/>
                </a:solidFill>
                <a:effectLst/>
                <a:latin typeface="Menlo"/>
              </a:rPr>
              <a:t>}</a:t>
            </a:r>
            <a:endParaRPr kumimoji="0" lang="en-US" altLang="en-US" sz="11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16" name="Rectangle 7">
            <a:extLst>
              <a:ext uri="{FF2B5EF4-FFF2-40B4-BE49-F238E27FC236}">
                <a16:creationId xmlns:a16="http://schemas.microsoft.com/office/drawing/2014/main" id="{BA1EE88A-6F65-3362-52AF-33FCEDEA7EE9}"/>
              </a:ext>
            </a:extLst>
          </p:cNvPr>
          <p:cNvSpPr>
            <a:spLocks noChangeArrowheads="1"/>
          </p:cNvSpPr>
          <p:nvPr/>
        </p:nvSpPr>
        <p:spPr bwMode="auto">
          <a:xfrm>
            <a:off x="5714215" y="3935973"/>
            <a:ext cx="6163558" cy="101566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333333"/>
                </a:solidFill>
                <a:effectLst/>
                <a:latin typeface="Open Sans" panose="020B0606030504020204" pitchFamily="34" charset="0"/>
                <a:cs typeface="Open Sans" panose="020B0606030504020204" pitchFamily="34" charset="0"/>
              </a:rPr>
              <a:t>Setting the </a:t>
            </a:r>
            <a:r>
              <a:rPr kumimoji="0" lang="en-US" altLang="en-US" sz="1200" b="0" i="0" u="none" strike="noStrike" cap="none" normalizeH="0" baseline="0">
                <a:ln>
                  <a:noFill/>
                </a:ln>
                <a:solidFill>
                  <a:srgbClr val="C7254E"/>
                </a:solidFill>
                <a:effectLst/>
                <a:latin typeface="Menlo"/>
                <a:cs typeface="Open Sans" panose="020B0606030504020204" pitchFamily="34" charset="0"/>
              </a:rPr>
              <a:t>MinimumLength</a:t>
            </a:r>
            <a:r>
              <a:rPr kumimoji="0" lang="en-US" altLang="en-US" sz="1200" b="0" i="0" u="none" strike="noStrike" cap="none" normalizeH="0" baseline="0">
                <a:ln>
                  <a:noFill/>
                </a:ln>
                <a:solidFill>
                  <a:srgbClr val="333333"/>
                </a:solidFill>
                <a:effectLst/>
                <a:latin typeface="Open Sans" panose="020B0606030504020204" pitchFamily="34" charset="0"/>
                <a:cs typeface="Open Sans" panose="020B0606030504020204" pitchFamily="34" charset="0"/>
              </a:rPr>
              <a:t> property value has no effect on database configuration, but can be used to provide client-side validation in validation-aware UI frameworks, such as ASP.NET MVC.</a:t>
            </a:r>
            <a:endParaRPr kumimoji="0" lang="en-US" altLang="en-US"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333333"/>
                </a:solidFill>
                <a:effectLst/>
                <a:latin typeface="Open Sans" panose="020B0606030504020204" pitchFamily="34" charset="0"/>
                <a:cs typeface="Open Sans" panose="020B0606030504020204" pitchFamily="34" charset="0"/>
              </a:rPr>
              <a:t>In terms of database configuration, the </a:t>
            </a:r>
            <a:r>
              <a:rPr kumimoji="0" lang="en-US" altLang="en-US" sz="1200" b="0" i="0" u="none" strike="noStrike" cap="none" normalizeH="0" baseline="0">
                <a:ln>
                  <a:noFill/>
                </a:ln>
                <a:solidFill>
                  <a:srgbClr val="C7254E"/>
                </a:solidFill>
                <a:effectLst/>
                <a:latin typeface="Menlo"/>
                <a:cs typeface="Open Sans" panose="020B0606030504020204" pitchFamily="34" charset="0"/>
              </a:rPr>
              <a:t>StringLength</a:t>
            </a:r>
            <a:r>
              <a:rPr kumimoji="0" lang="en-US" altLang="en-US" sz="1200" b="0" i="0" u="none" strike="noStrike" cap="none" normalizeH="0" baseline="0">
                <a:ln>
                  <a:noFill/>
                </a:ln>
                <a:solidFill>
                  <a:srgbClr val="333333"/>
                </a:solidFill>
                <a:effectLst/>
                <a:latin typeface="Open Sans" panose="020B0606030504020204" pitchFamily="34" charset="0"/>
                <a:cs typeface="Open Sans" panose="020B0606030504020204" pitchFamily="34" charset="0"/>
              </a:rPr>
              <a:t> attribute works in the same way as the </a:t>
            </a:r>
            <a:r>
              <a:rPr kumimoji="0" lang="en-US" altLang="en-US" sz="1200" b="1" i="0" u="sng" strike="noStrike" cap="none" normalizeH="0" baseline="0">
                <a:ln>
                  <a:noFill/>
                </a:ln>
                <a:solidFill>
                  <a:srgbClr val="000000"/>
                </a:solidFill>
                <a:effectLst/>
                <a:latin typeface="Open Sans" panose="020B0606030504020204" pitchFamily="34" charset="0"/>
                <a:cs typeface="Open Sans" panose="020B0606030504020204" pitchFamily="34" charset="0"/>
                <a:hlinkClick r:id="rId2"/>
              </a:rPr>
              <a:t>MaxLength attribute</a:t>
            </a:r>
            <a:endParaRPr kumimoji="0" lang="en-US" altLang="en-US" sz="1200" b="0" i="0" u="none" strike="noStrike" cap="none" normalizeH="0" baseline="0">
              <a:ln>
                <a:noFill/>
              </a:ln>
              <a:solidFill>
                <a:schemeClr val="tx1"/>
              </a:solidFill>
              <a:effectLst/>
            </a:endParaRPr>
          </a:p>
        </p:txBody>
      </p:sp>
      <p:sp>
        <p:nvSpPr>
          <p:cNvPr id="17" name="Rectangle 8">
            <a:extLst>
              <a:ext uri="{FF2B5EF4-FFF2-40B4-BE49-F238E27FC236}">
                <a16:creationId xmlns:a16="http://schemas.microsoft.com/office/drawing/2014/main" id="{29409B6B-2B6D-F08E-8455-2E0E174F54A4}"/>
              </a:ext>
            </a:extLst>
          </p:cNvPr>
          <p:cNvSpPr>
            <a:spLocks noChangeArrowheads="1"/>
          </p:cNvSpPr>
          <p:nvPr/>
        </p:nvSpPr>
        <p:spPr bwMode="auto">
          <a:xfrm>
            <a:off x="5788845" y="5381180"/>
            <a:ext cx="5589308" cy="7462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26960" rIns="9144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004867"/>
                </a:solidFill>
                <a:effectLst/>
                <a:latin typeface="Roboto" panose="02000000000000000000" pitchFamily="2" charset="0"/>
              </a:rPr>
              <a:t>Fluent API</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dirty="0">
              <a:ln>
                <a:noFill/>
              </a:ln>
              <a:solidFill>
                <a:srgbClr val="004867"/>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Fluent API equivalent for the </a:t>
            </a:r>
            <a:r>
              <a:rPr kumimoji="0" lang="en-US" altLang="en-US" sz="900" b="0" i="0" u="none" strike="noStrike" cap="none" normalizeH="0" baseline="0" dirty="0" err="1">
                <a:ln>
                  <a:noFill/>
                </a:ln>
                <a:solidFill>
                  <a:srgbClr val="C7254E"/>
                </a:solidFill>
                <a:effectLst/>
                <a:latin typeface="Menlo"/>
                <a:cs typeface="Open Sans" panose="020B0606030504020204" pitchFamily="34" charset="0"/>
              </a:rPr>
              <a:t>StringLength</a:t>
            </a:r>
            <a:r>
              <a:rPr kumimoji="0" lang="en-US" altLang="en-US" sz="1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attribute is the </a:t>
            </a:r>
            <a:r>
              <a:rPr kumimoji="0" lang="en-US" altLang="en-US" sz="1000" b="1" i="0" u="sng" strike="noStrike" cap="none" normalizeH="0" baseline="0" dirty="0" err="1">
                <a:ln>
                  <a:noFill/>
                </a:ln>
                <a:solidFill>
                  <a:srgbClr val="000000"/>
                </a:solidFill>
                <a:effectLst/>
                <a:latin typeface="Open Sans" panose="020B0606030504020204" pitchFamily="34" charset="0"/>
                <a:cs typeface="Open Sans" panose="020B0606030504020204" pitchFamily="34" charset="0"/>
                <a:hlinkClick r:id="rId3"/>
              </a:rPr>
              <a:t>HasMaxLength</a:t>
            </a:r>
            <a:r>
              <a:rPr kumimoji="0" lang="en-US" altLang="en-US" sz="1000" b="1" i="0" u="sng" strike="noStrike" cap="none" normalizeH="0" baseline="0" dirty="0">
                <a:ln>
                  <a:noFill/>
                </a:ln>
                <a:solidFill>
                  <a:srgbClr val="000000"/>
                </a:solidFill>
                <a:effectLst/>
                <a:latin typeface="Open Sans" panose="020B0606030504020204" pitchFamily="34" charset="0"/>
                <a:cs typeface="Open Sans" panose="020B0606030504020204" pitchFamily="34" charset="0"/>
                <a:hlinkClick r:id="rId3"/>
              </a:rPr>
              <a:t> method</a:t>
            </a:r>
            <a:r>
              <a:rPr kumimoji="0" lang="en-US" altLang="en-US" sz="1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69506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FB5CE58-58A8-59AC-8AC1-5D10323C4248}"/>
              </a:ext>
            </a:extLst>
          </p:cNvPr>
          <p:cNvSpPr txBox="1"/>
          <p:nvPr/>
        </p:nvSpPr>
        <p:spPr>
          <a:xfrm>
            <a:off x="256881" y="126418"/>
            <a:ext cx="2740843"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IN" b="0" i="0" dirty="0">
                <a:solidFill>
                  <a:srgbClr val="004867"/>
                </a:solidFill>
                <a:effectLst/>
                <a:latin typeface="Roboto" panose="02000000000000000000" pitchFamily="2" charset="0"/>
              </a:rPr>
              <a:t>The Table Attribute</a:t>
            </a:r>
          </a:p>
        </p:txBody>
      </p:sp>
      <p:sp>
        <p:nvSpPr>
          <p:cNvPr id="6" name="Rectangle 1">
            <a:extLst>
              <a:ext uri="{FF2B5EF4-FFF2-40B4-BE49-F238E27FC236}">
                <a16:creationId xmlns:a16="http://schemas.microsoft.com/office/drawing/2014/main" id="{CA2166BF-5D67-F946-E291-FA57BA9120D9}"/>
              </a:ext>
            </a:extLst>
          </p:cNvPr>
          <p:cNvSpPr>
            <a:spLocks noChangeArrowheads="1"/>
          </p:cNvSpPr>
          <p:nvPr/>
        </p:nvSpPr>
        <p:spPr bwMode="auto">
          <a:xfrm>
            <a:off x="143759" y="689925"/>
            <a:ext cx="3947474" cy="1169551"/>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333333"/>
                </a:solidFill>
                <a:effectLst/>
                <a:latin typeface="Open Sans" panose="020B0606030504020204" pitchFamily="34" charset="0"/>
                <a:cs typeface="Open Sans" panose="020B0606030504020204" pitchFamily="34" charset="0"/>
              </a:rPr>
              <a:t>The </a:t>
            </a:r>
            <a:r>
              <a:rPr kumimoji="0" lang="en-US" altLang="en-US" sz="1400" b="0" i="0" u="none" strike="noStrike" cap="none" normalizeH="0" baseline="0">
                <a:ln>
                  <a:noFill/>
                </a:ln>
                <a:solidFill>
                  <a:srgbClr val="C7254E"/>
                </a:solidFill>
                <a:effectLst/>
                <a:latin typeface="Menlo"/>
              </a:rPr>
              <a:t>Table</a:t>
            </a:r>
            <a:r>
              <a:rPr kumimoji="0" lang="en-US" altLang="en-US" sz="1400" b="0" i="0" u="none" strike="noStrike" cap="none" normalizeH="0" baseline="0">
                <a:ln>
                  <a:noFill/>
                </a:ln>
                <a:solidFill>
                  <a:srgbClr val="333333"/>
                </a:solidFill>
                <a:effectLst/>
                <a:latin typeface="Open Sans" panose="020B0606030504020204" pitchFamily="34" charset="0"/>
                <a:cs typeface="Open Sans" panose="020B0606030504020204" pitchFamily="34" charset="0"/>
              </a:rPr>
              <a:t> attribute is applied to an entity to specify the name of the database table that the entity should map to. The following example specifies that the </a:t>
            </a:r>
            <a:r>
              <a:rPr kumimoji="0" lang="en-US" altLang="en-US" sz="1400" b="0" i="0" u="none" strike="noStrike" cap="none" normalizeH="0" baseline="0">
                <a:ln>
                  <a:noFill/>
                </a:ln>
                <a:solidFill>
                  <a:srgbClr val="C7254E"/>
                </a:solidFill>
                <a:effectLst/>
                <a:latin typeface="Menlo"/>
              </a:rPr>
              <a:t>Book</a:t>
            </a:r>
            <a:r>
              <a:rPr kumimoji="0" lang="en-US" altLang="en-US" sz="1400" b="0" i="0" u="none" strike="noStrike" cap="none" normalizeH="0" baseline="0">
                <a:ln>
                  <a:noFill/>
                </a:ln>
                <a:solidFill>
                  <a:srgbClr val="333333"/>
                </a:solidFill>
                <a:effectLst/>
                <a:latin typeface="Open Sans" panose="020B0606030504020204" pitchFamily="34" charset="0"/>
                <a:cs typeface="Open Sans" panose="020B0606030504020204" pitchFamily="34" charset="0"/>
              </a:rPr>
              <a:t> entity should map to a database table named </a:t>
            </a:r>
            <a:r>
              <a:rPr kumimoji="0" lang="en-US" altLang="en-US" sz="1400" b="0" i="0" u="none" strike="noStrike" cap="none" normalizeH="0" baseline="0">
                <a:ln>
                  <a:noFill/>
                </a:ln>
                <a:solidFill>
                  <a:srgbClr val="C7254E"/>
                </a:solidFill>
                <a:effectLst/>
                <a:latin typeface="Menlo"/>
              </a:rPr>
              <a:t>tbl_Book</a:t>
            </a:r>
            <a:r>
              <a:rPr kumimoji="0" lang="en-US" altLang="en-US" sz="1400" b="0" i="0" u="none" strike="noStrike" cap="none" normalizeH="0" baseline="0">
                <a:ln>
                  <a:noFill/>
                </a:ln>
                <a:solidFill>
                  <a:srgbClr val="333333"/>
                </a:solidFill>
                <a:effectLst/>
                <a:latin typeface="Open Sans" panose="020B0606030504020204" pitchFamily="34" charset="0"/>
                <a:cs typeface="Open Sans" panose="020B0606030504020204" pitchFamily="34" charset="0"/>
              </a:rPr>
              <a:t>:</a:t>
            </a:r>
            <a:r>
              <a:rPr kumimoji="0" lang="en-US" altLang="en-US" sz="1400" b="0" i="0" u="none" strike="noStrike" cap="none" normalizeH="0" baseline="0">
                <a:ln>
                  <a:noFill/>
                </a:ln>
                <a:solidFill>
                  <a:schemeClr val="tx1"/>
                </a:solidFill>
                <a:effectLst/>
              </a:rPr>
              <a:t> </a:t>
            </a:r>
          </a:p>
        </p:txBody>
      </p:sp>
      <p:sp>
        <p:nvSpPr>
          <p:cNvPr id="7" name="Rectangle 2">
            <a:extLst>
              <a:ext uri="{FF2B5EF4-FFF2-40B4-BE49-F238E27FC236}">
                <a16:creationId xmlns:a16="http://schemas.microsoft.com/office/drawing/2014/main" id="{8F1375E8-591E-C528-49B5-052201C88364}"/>
              </a:ext>
            </a:extLst>
          </p:cNvPr>
          <p:cNvSpPr>
            <a:spLocks noChangeArrowheads="1"/>
          </p:cNvSpPr>
          <p:nvPr/>
        </p:nvSpPr>
        <p:spPr bwMode="auto">
          <a:xfrm>
            <a:off x="75414" y="1899763"/>
            <a:ext cx="4619134" cy="1938992"/>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555555"/>
                </a:solidFill>
                <a:effectLst/>
                <a:latin typeface="Menlo"/>
              </a:rPr>
              <a:t>Table</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A52A2A"/>
                </a:solidFill>
                <a:effectLst/>
                <a:latin typeface="Menlo"/>
              </a:rPr>
              <a:t>"</a:t>
            </a:r>
            <a:r>
              <a:rPr kumimoji="0" lang="en-US" altLang="en-US" sz="1400" b="0" i="0" u="none" strike="noStrike" cap="none" normalizeH="0" baseline="0" dirty="0" err="1">
                <a:ln>
                  <a:noFill/>
                </a:ln>
                <a:solidFill>
                  <a:srgbClr val="A52A2A"/>
                </a:solidFill>
                <a:effectLst/>
                <a:latin typeface="Menlo"/>
              </a:rPr>
              <a:t>tbl_book</a:t>
            </a:r>
            <a:r>
              <a:rPr kumimoji="0" lang="en-US" altLang="en-US" sz="1400" b="0" i="0" u="none" strike="noStrike" cap="none" normalizeH="0" baseline="0" dirty="0">
                <a:ln>
                  <a:noFill/>
                </a:ln>
                <a:solidFill>
                  <a:srgbClr val="A52A2A"/>
                </a:solidFill>
                <a:effectLst/>
                <a:latin typeface="Menlo"/>
              </a:rPr>
              <a:t>"</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class</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Book</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int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BookId</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string</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Title</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400" b="0" i="0" u="none" strike="noStrike" cap="none" normalizeH="0" baseline="0" dirty="0">
                <a:ln>
                  <a:noFill/>
                </a:ln>
                <a:solidFill>
                  <a:srgbClr val="0000FF"/>
                </a:solidFill>
                <a:effectLst/>
                <a:latin typeface="Menlo"/>
              </a:rPr>
              <a:t>public</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555555"/>
                </a:solidFill>
                <a:effectLst/>
                <a:latin typeface="Menlo"/>
              </a:rPr>
              <a:t>Author</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err="1">
                <a:ln>
                  <a:noFill/>
                </a:ln>
                <a:solidFill>
                  <a:srgbClr val="555555"/>
                </a:solidFill>
                <a:effectLst/>
                <a:latin typeface="Menlo"/>
              </a:rPr>
              <a:t>Author</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get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0000FF"/>
                </a:solidFill>
                <a:effectLst/>
                <a:latin typeface="Menlo"/>
              </a:rPr>
              <a:t>set</a:t>
            </a:r>
            <a:r>
              <a:rPr kumimoji="0" lang="en-US" altLang="en-US" sz="1400" b="0" i="0" u="none" strike="noStrike" cap="none" normalizeH="0" baseline="0" dirty="0">
                <a:ln>
                  <a:noFill/>
                </a:ln>
                <a:solidFill>
                  <a:srgbClr val="666600"/>
                </a:solidFill>
                <a:effectLst/>
                <a:latin typeface="Menlo"/>
              </a:rPr>
              <a:t>;</a:t>
            </a:r>
            <a:r>
              <a:rPr kumimoji="0" lang="en-US" altLang="en-US" sz="1400" b="0" i="0" u="none" strike="noStrike" cap="none" normalizeH="0" baseline="0" dirty="0">
                <a:ln>
                  <a:noFill/>
                </a:ln>
                <a:solidFill>
                  <a:srgbClr val="000000"/>
                </a:solidFill>
                <a:effectLst/>
                <a:latin typeface="Menlo"/>
              </a:rPr>
              <a:t> </a:t>
            </a: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400" b="0" i="0" u="none" strike="noStrike" cap="none" normalizeH="0" baseline="0" dirty="0">
                <a:ln>
                  <a:noFill/>
                </a:ln>
                <a:solidFill>
                  <a:srgbClr val="666600"/>
                </a:solidFill>
                <a:effectLst/>
                <a:latin typeface="Menlo"/>
              </a:rPr>
              <a:t>}</a:t>
            </a:r>
            <a:endParaRPr kumimoji="0" lang="en-US" altLang="en-US" sz="14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31C7CBE1-3A71-3157-E909-2D41EB2D2BDF}"/>
              </a:ext>
            </a:extLst>
          </p:cNvPr>
          <p:cNvSpPr>
            <a:spLocks noChangeArrowheads="1"/>
          </p:cNvSpPr>
          <p:nvPr/>
        </p:nvSpPr>
        <p:spPr bwMode="auto">
          <a:xfrm>
            <a:off x="75414" y="3997760"/>
            <a:ext cx="3831996" cy="1169551"/>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If the table that the entity maps to belongs to a </a:t>
            </a:r>
            <a:r>
              <a:rPr kumimoji="0" lang="en-US" altLang="en-US" sz="1400" b="1" i="0" u="sng" strike="noStrike" cap="none" normalizeH="0" baseline="0" dirty="0">
                <a:ln>
                  <a:noFill/>
                </a:ln>
                <a:solidFill>
                  <a:srgbClr val="000000"/>
                </a:solidFill>
                <a:effectLst/>
                <a:latin typeface="Open Sans" panose="020B0606030504020204" pitchFamily="34" charset="0"/>
                <a:cs typeface="Open Sans" panose="020B0606030504020204" pitchFamily="34" charset="0"/>
              </a:rPr>
              <a:t>non-default schema</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the </a:t>
            </a:r>
            <a:r>
              <a:rPr kumimoji="0" lang="en-US" altLang="en-US" sz="1400" b="0" i="0" u="none" strike="noStrike" cap="none" normalizeH="0" baseline="0" dirty="0">
                <a:ln>
                  <a:noFill/>
                </a:ln>
                <a:solidFill>
                  <a:srgbClr val="C7254E"/>
                </a:solidFill>
                <a:effectLst/>
                <a:latin typeface="Menlo"/>
              </a:rPr>
              <a:t>Table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attribute provides a way to specify the name of the schema through the </a:t>
            </a:r>
            <a:r>
              <a:rPr kumimoji="0" lang="en-US" altLang="en-US" sz="1400" b="0" i="0" u="none" strike="noStrike" cap="none" normalizeH="0" baseline="0" dirty="0">
                <a:ln>
                  <a:noFill/>
                </a:ln>
                <a:solidFill>
                  <a:srgbClr val="C7254E"/>
                </a:solidFill>
                <a:effectLst/>
                <a:latin typeface="Menlo"/>
              </a:rPr>
              <a:t>Schema</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property:</a:t>
            </a:r>
            <a:r>
              <a:rPr kumimoji="0" lang="en-US" altLang="en-US" sz="1400" b="0" i="0" u="none" strike="noStrike" cap="none" normalizeH="0" baseline="0" dirty="0">
                <a:ln>
                  <a:noFill/>
                </a:ln>
                <a:solidFill>
                  <a:schemeClr val="tx1"/>
                </a:solidFill>
                <a:effectLst/>
              </a:rPr>
              <a:t> </a:t>
            </a:r>
          </a:p>
        </p:txBody>
      </p:sp>
      <p:sp>
        <p:nvSpPr>
          <p:cNvPr id="9" name="Rectangle 4">
            <a:extLst>
              <a:ext uri="{FF2B5EF4-FFF2-40B4-BE49-F238E27FC236}">
                <a16:creationId xmlns:a16="http://schemas.microsoft.com/office/drawing/2014/main" id="{21A96D31-C4AE-28E2-55AD-E621B6568666}"/>
              </a:ext>
            </a:extLst>
          </p:cNvPr>
          <p:cNvSpPr>
            <a:spLocks noChangeArrowheads="1"/>
          </p:cNvSpPr>
          <p:nvPr/>
        </p:nvSpPr>
        <p:spPr bwMode="auto">
          <a:xfrm>
            <a:off x="143759" y="5259644"/>
            <a:ext cx="3466707" cy="1477328"/>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555555"/>
                </a:solidFill>
                <a:effectLst/>
                <a:latin typeface="Menlo"/>
              </a:rPr>
              <a:t>Table</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A52A2A"/>
                </a:solidFill>
                <a:effectLst/>
                <a:latin typeface="Menlo"/>
              </a:rPr>
              <a:t>"Books"</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Schema</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A52A2A"/>
                </a:solidFill>
                <a:effectLst/>
                <a:latin typeface="Menlo"/>
              </a:rPr>
              <a:t>"library"</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class</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Book</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int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latin typeface="Menlo"/>
              </a:rPr>
              <a:t>BookId</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string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Title</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Author</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latin typeface="Menlo"/>
              </a:rPr>
              <a:t>Author</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39966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C1BCA397-011E-9B48-55DF-4B549FB35BCE}"/>
              </a:ext>
            </a:extLst>
          </p:cNvPr>
          <p:cNvSpPr>
            <a:spLocks noChangeArrowheads="1"/>
          </p:cNvSpPr>
          <p:nvPr/>
        </p:nvSpPr>
        <p:spPr bwMode="auto">
          <a:xfrm>
            <a:off x="1545996" y="641022"/>
            <a:ext cx="4619134" cy="54624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26960" rIns="9144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004867"/>
                </a:solidFill>
                <a:effectLst/>
                <a:latin typeface="Roboto" panose="02000000000000000000" pitchFamily="2" charset="0"/>
              </a:rPr>
              <a:t>Fluent API</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Fluent API equivalent to the </a:t>
            </a:r>
            <a:r>
              <a:rPr kumimoji="0" lang="en-US" altLang="en-US" sz="900" b="0" i="0" u="none" strike="noStrike" cap="none" normalizeH="0" baseline="0" dirty="0">
                <a:ln>
                  <a:noFill/>
                </a:ln>
                <a:solidFill>
                  <a:srgbClr val="C7254E"/>
                </a:solidFill>
                <a:effectLst/>
                <a:latin typeface="Menlo"/>
                <a:cs typeface="Open Sans" panose="020B0606030504020204" pitchFamily="34" charset="0"/>
              </a:rPr>
              <a:t>Table</a:t>
            </a:r>
            <a:r>
              <a:rPr kumimoji="0" lang="en-US" altLang="en-US" sz="1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attribute is the </a:t>
            </a:r>
            <a:r>
              <a:rPr kumimoji="0" lang="en-US" altLang="en-US" sz="1000" b="1" i="0" u="sng" strike="noStrike" cap="none" normalizeH="0" baseline="0" dirty="0" err="1">
                <a:ln>
                  <a:noFill/>
                </a:ln>
                <a:solidFill>
                  <a:srgbClr val="000000"/>
                </a:solidFill>
                <a:effectLst/>
                <a:latin typeface="Open Sans" panose="020B0606030504020204" pitchFamily="34" charset="0"/>
                <a:cs typeface="Open Sans" panose="020B0606030504020204" pitchFamily="34" charset="0"/>
              </a:rPr>
              <a:t>ToTable</a:t>
            </a:r>
            <a:r>
              <a:rPr kumimoji="0" lang="en-US" altLang="en-US" sz="1000" b="1" i="0" u="sng" strike="noStrike" cap="none" normalizeH="0" baseline="0" dirty="0">
                <a:ln>
                  <a:noFill/>
                </a:ln>
                <a:solidFill>
                  <a:srgbClr val="000000"/>
                </a:solidFill>
                <a:effectLst/>
                <a:latin typeface="Open Sans" panose="020B0606030504020204" pitchFamily="34" charset="0"/>
                <a:cs typeface="Open Sans" panose="020B0606030504020204" pitchFamily="34" charset="0"/>
              </a:rPr>
              <a:t> method</a:t>
            </a:r>
            <a:r>
              <a:rPr kumimoji="0" lang="en-US" altLang="en-US" sz="1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3E0F44F6-A401-F9F7-84AB-BF638F2222D4}"/>
              </a:ext>
            </a:extLst>
          </p:cNvPr>
          <p:cNvSpPr txBox="1"/>
          <p:nvPr/>
        </p:nvSpPr>
        <p:spPr>
          <a:xfrm>
            <a:off x="1545996" y="1436743"/>
            <a:ext cx="3589255"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IN" b="0" i="0" dirty="0">
                <a:solidFill>
                  <a:srgbClr val="004867"/>
                </a:solidFill>
                <a:effectLst/>
                <a:latin typeface="Roboto" panose="02000000000000000000" pitchFamily="2" charset="0"/>
              </a:rPr>
              <a:t>The </a:t>
            </a:r>
            <a:r>
              <a:rPr lang="en-IN" b="0" i="0" dirty="0" err="1">
                <a:solidFill>
                  <a:srgbClr val="004867"/>
                </a:solidFill>
                <a:effectLst/>
                <a:latin typeface="Roboto" panose="02000000000000000000" pitchFamily="2" charset="0"/>
              </a:rPr>
              <a:t>TimeStamp</a:t>
            </a:r>
            <a:r>
              <a:rPr lang="en-IN" b="0" i="0" dirty="0">
                <a:solidFill>
                  <a:srgbClr val="004867"/>
                </a:solidFill>
                <a:effectLst/>
                <a:latin typeface="Roboto" panose="02000000000000000000" pitchFamily="2" charset="0"/>
              </a:rPr>
              <a:t> Attribute</a:t>
            </a:r>
          </a:p>
        </p:txBody>
      </p:sp>
      <p:sp>
        <p:nvSpPr>
          <p:cNvPr id="6" name="Rectangle 6">
            <a:extLst>
              <a:ext uri="{FF2B5EF4-FFF2-40B4-BE49-F238E27FC236}">
                <a16:creationId xmlns:a16="http://schemas.microsoft.com/office/drawing/2014/main" id="{99BC0930-805E-1A50-3B1C-E5BA71D9DAB6}"/>
              </a:ext>
            </a:extLst>
          </p:cNvPr>
          <p:cNvSpPr>
            <a:spLocks noChangeArrowheads="1"/>
          </p:cNvSpPr>
          <p:nvPr/>
        </p:nvSpPr>
        <p:spPr bwMode="auto">
          <a:xfrm>
            <a:off x="1508288" y="2497947"/>
            <a:ext cx="9969337" cy="738664"/>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TimeStamp</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attribute is used to specify that a property should take part in </a:t>
            </a:r>
            <a:r>
              <a:rPr kumimoji="0" lang="en-US" altLang="en-US" sz="1400" b="1" i="0" u="sng" strike="noStrike" cap="none" normalizeH="0" baseline="0" dirty="0">
                <a:ln>
                  <a:noFill/>
                </a:ln>
                <a:solidFill>
                  <a:srgbClr val="000000"/>
                </a:solidFill>
                <a:effectLst/>
                <a:latin typeface="Open Sans" panose="020B0606030504020204" pitchFamily="34" charset="0"/>
                <a:cs typeface="Open Sans" panose="020B0606030504020204" pitchFamily="34" charset="0"/>
              </a:rPr>
              <a:t>concurrency management</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The </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TimeStamp</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attribute is only valid if applied to a property that is a byte array. How this is implemented is dependent on the current database provider. In SQL Server, this will map to a </a:t>
            </a:r>
            <a:r>
              <a:rPr kumimoji="0" lang="en-US" altLang="en-US" sz="1400" b="0" i="0" u="none" strike="noStrike" cap="none" normalizeH="0" baseline="0" dirty="0" err="1">
                <a:ln>
                  <a:noFill/>
                </a:ln>
                <a:solidFill>
                  <a:srgbClr val="C7254E"/>
                </a:solidFill>
                <a:effectLst/>
                <a:latin typeface="Menlo"/>
                <a:cs typeface="Open Sans" panose="020B0606030504020204" pitchFamily="34" charset="0"/>
              </a:rPr>
              <a:t>rowversion</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type.</a:t>
            </a:r>
            <a:endParaRPr kumimoji="0" lang="en-US" altLang="en-US" sz="1400" b="0" i="0" u="none" strike="noStrike" cap="none" normalizeH="0" baseline="0" dirty="0">
              <a:ln>
                <a:noFill/>
              </a:ln>
              <a:solidFill>
                <a:schemeClr val="tx1"/>
              </a:solidFill>
              <a:effectLst/>
            </a:endParaRPr>
          </a:p>
        </p:txBody>
      </p:sp>
      <p:sp>
        <p:nvSpPr>
          <p:cNvPr id="7" name="Rectangle 7">
            <a:extLst>
              <a:ext uri="{FF2B5EF4-FFF2-40B4-BE49-F238E27FC236}">
                <a16:creationId xmlns:a16="http://schemas.microsoft.com/office/drawing/2014/main" id="{EEED6E22-A83A-ACEB-C707-F6DCAD95B11D}"/>
              </a:ext>
            </a:extLst>
          </p:cNvPr>
          <p:cNvSpPr>
            <a:spLocks noChangeArrowheads="1"/>
          </p:cNvSpPr>
          <p:nvPr/>
        </p:nvSpPr>
        <p:spPr bwMode="auto">
          <a:xfrm>
            <a:off x="1545996" y="3715452"/>
            <a:ext cx="5511536" cy="1846659"/>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class</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Author</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int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latin typeface="Menlo"/>
              </a:rPr>
              <a:t>AuthorId</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string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FirstName</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string</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latin typeface="Menlo"/>
              </a:rPr>
              <a:t>LastName</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latin typeface="Menlo"/>
              </a:rPr>
              <a:t>ICollection</a:t>
            </a:r>
            <a:r>
              <a:rPr kumimoji="0" lang="en-US" altLang="en-US" sz="1200" b="0" i="0" u="none" strike="noStrike" cap="none" normalizeH="0" baseline="0" dirty="0">
                <a:ln>
                  <a:noFill/>
                </a:ln>
                <a:solidFill>
                  <a:srgbClr val="666600"/>
                </a:solidFill>
                <a:effectLst/>
                <a:latin typeface="Menlo"/>
              </a:rPr>
              <a:t>&lt;</a:t>
            </a:r>
            <a:r>
              <a:rPr kumimoji="0" lang="en-US" altLang="en-US" sz="1200" b="0" i="0" u="none" strike="noStrike" cap="none" normalizeH="0" baseline="0" dirty="0">
                <a:ln>
                  <a:noFill/>
                </a:ln>
                <a:solidFill>
                  <a:srgbClr val="555555"/>
                </a:solidFill>
                <a:effectLst/>
                <a:latin typeface="Menlo"/>
              </a:rPr>
              <a:t>Book</a:t>
            </a:r>
            <a:r>
              <a:rPr kumimoji="0" lang="en-US" altLang="en-US" sz="1200" b="0" i="0" u="none" strike="noStrike" cap="none" normalizeH="0" baseline="0" dirty="0">
                <a:ln>
                  <a:noFill/>
                </a:ln>
                <a:solidFill>
                  <a:srgbClr val="666600"/>
                </a:solidFill>
                <a:effectLst/>
                <a:latin typeface="Menlo"/>
              </a:rPr>
              <a:t>&gt;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555555"/>
                </a:solidFill>
                <a:effectLst/>
                <a:latin typeface="Menlo"/>
              </a:rPr>
              <a:t>Books</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err="1">
                <a:ln>
                  <a:noFill/>
                </a:ln>
                <a:solidFill>
                  <a:srgbClr val="555555"/>
                </a:solidFill>
                <a:effectLst/>
                <a:latin typeface="Menlo"/>
              </a:rPr>
              <a:t>TimeStamp</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200" b="0" i="0" u="none" strike="noStrike" cap="none" normalizeH="0" baseline="0" dirty="0">
                <a:ln>
                  <a:noFill/>
                </a:ln>
                <a:solidFill>
                  <a:srgbClr val="0000FF"/>
                </a:solidFill>
                <a:effectLst/>
                <a:latin typeface="Menlo"/>
              </a:rPr>
              <a:t>public</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byte</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err="1">
                <a:ln>
                  <a:noFill/>
                </a:ln>
                <a:solidFill>
                  <a:srgbClr val="555555"/>
                </a:solidFill>
                <a:effectLst/>
                <a:latin typeface="Menlo"/>
              </a:rPr>
              <a:t>RowVersion</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get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0000FF"/>
                </a:solidFill>
                <a:effectLst/>
                <a:latin typeface="Menlo"/>
              </a:rPr>
              <a:t>set</a:t>
            </a:r>
            <a:r>
              <a:rPr kumimoji="0" lang="en-US" altLang="en-US" sz="1200" b="0" i="0" u="none" strike="noStrike" cap="none" normalizeH="0" baseline="0" dirty="0">
                <a:ln>
                  <a:noFill/>
                </a:ln>
                <a:solidFill>
                  <a:srgbClr val="666600"/>
                </a:solidFill>
                <a:effectLst/>
                <a:latin typeface="Menlo"/>
              </a:rPr>
              <a:t>;</a:t>
            </a:r>
            <a:r>
              <a:rPr kumimoji="0" lang="en-US" altLang="en-US" sz="1200" b="0" i="0" u="none" strike="noStrike" cap="none" normalizeH="0" baseline="0" dirty="0">
                <a:ln>
                  <a:noFill/>
                </a:ln>
                <a:solidFill>
                  <a:srgbClr val="000000"/>
                </a:solidFill>
                <a:effectLst/>
                <a:latin typeface="Menlo"/>
              </a:rPr>
              <a:t> </a:t>
            </a: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200" b="0" i="0" u="none" strike="noStrike" cap="none" normalizeH="0" baseline="0" dirty="0">
                <a:ln>
                  <a:noFill/>
                </a:ln>
                <a:solidFill>
                  <a:srgbClr val="666600"/>
                </a:solidFill>
                <a:effectLst/>
                <a:latin typeface="Menlo"/>
              </a:rPr>
              <a:t>}</a:t>
            </a:r>
            <a:endParaRPr kumimoji="0" lang="en-US" altLang="en-US" sz="1200" b="0" i="0" u="none" strike="noStrike" cap="none" normalizeH="0" baseline="0" dirty="0">
              <a:ln>
                <a:noFill/>
              </a:ln>
              <a:solidFill>
                <a:srgbClr val="333333"/>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849196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1687</TotalTime>
  <Words>3423</Words>
  <Application>Microsoft Office PowerPoint</Application>
  <PresentationFormat>Widescreen</PresentationFormat>
  <Paragraphs>375</Paragraphs>
  <Slides>14</Slides>
  <Notes>0</Notes>
  <HiddenSlides>5</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Calibri Light</vt:lpstr>
      <vt:lpstr>Menlo</vt:lpstr>
      <vt:lpstr>Open Sans</vt:lpstr>
      <vt:lpstr>Roboto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vidyanidhi school</dc:creator>
  <cp:lastModifiedBy>sriram mantri vidyanidhi infotech academy</cp:lastModifiedBy>
  <cp:revision>98</cp:revision>
  <dcterms:created xsi:type="dcterms:W3CDTF">2023-02-21T09:46:12Z</dcterms:created>
  <dcterms:modified xsi:type="dcterms:W3CDTF">2025-04-15T16:33:28Z</dcterms:modified>
</cp:coreProperties>
</file>