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5" r:id="rId6"/>
    <p:sldId id="266" r:id="rId7"/>
    <p:sldId id="267" r:id="rId8"/>
    <p:sldId id="268" r:id="rId9"/>
    <p:sldId id="260" r:id="rId10"/>
    <p:sldId id="261" r:id="rId11"/>
    <p:sldId id="262" r:id="rId12"/>
    <p:sldId id="263" r:id="rId13"/>
    <p:sldId id="26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279AA-1AF1-03C2-381F-CCDD7FEDB9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E838D2B-AD68-5BA1-D1C1-325005500E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BFFCA98-E9E1-73F4-FBF8-12BEC4CD5768}"/>
              </a:ext>
            </a:extLst>
          </p:cNvPr>
          <p:cNvSpPr>
            <a:spLocks noGrp="1"/>
          </p:cNvSpPr>
          <p:nvPr>
            <p:ph type="dt" sz="half" idx="10"/>
          </p:nvPr>
        </p:nvSpPr>
        <p:spPr/>
        <p:txBody>
          <a:bodyPr/>
          <a:lstStyle/>
          <a:p>
            <a:fld id="{1F271A71-50E2-42C9-A365-291747406BC1}" type="datetimeFigureOut">
              <a:rPr lang="en-IN" smtClean="0"/>
              <a:t>21-09-2024</a:t>
            </a:fld>
            <a:endParaRPr lang="en-IN"/>
          </a:p>
        </p:txBody>
      </p:sp>
      <p:sp>
        <p:nvSpPr>
          <p:cNvPr id="5" name="Footer Placeholder 4">
            <a:extLst>
              <a:ext uri="{FF2B5EF4-FFF2-40B4-BE49-F238E27FC236}">
                <a16:creationId xmlns:a16="http://schemas.microsoft.com/office/drawing/2014/main" id="{21ECA903-5C70-6DAB-F857-DD215D0F51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A75B35-0DC4-5BFC-42CB-7BA577575F38}"/>
              </a:ext>
            </a:extLst>
          </p:cNvPr>
          <p:cNvSpPr>
            <a:spLocks noGrp="1"/>
          </p:cNvSpPr>
          <p:nvPr>
            <p:ph type="sldNum" sz="quarter" idx="12"/>
          </p:nvPr>
        </p:nvSpPr>
        <p:spPr/>
        <p:txBody>
          <a:bodyPr/>
          <a:lstStyle/>
          <a:p>
            <a:fld id="{C0008EF1-BFF9-40E5-B3C8-D3F13EAAB816}" type="slidenum">
              <a:rPr lang="en-IN" smtClean="0"/>
              <a:t>‹#›</a:t>
            </a:fld>
            <a:endParaRPr lang="en-IN"/>
          </a:p>
        </p:txBody>
      </p:sp>
    </p:spTree>
    <p:extLst>
      <p:ext uri="{BB962C8B-B14F-4D97-AF65-F5344CB8AC3E}">
        <p14:creationId xmlns:p14="http://schemas.microsoft.com/office/powerpoint/2010/main" val="3875774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71414-9DE6-7CA3-CE83-B53ED9181B5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51129BF-3866-9276-7469-0577A4A6B1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5BE3C3-942B-A2A5-9CB6-0619F1369D84}"/>
              </a:ext>
            </a:extLst>
          </p:cNvPr>
          <p:cNvSpPr>
            <a:spLocks noGrp="1"/>
          </p:cNvSpPr>
          <p:nvPr>
            <p:ph type="dt" sz="half" idx="10"/>
          </p:nvPr>
        </p:nvSpPr>
        <p:spPr/>
        <p:txBody>
          <a:bodyPr/>
          <a:lstStyle/>
          <a:p>
            <a:fld id="{1F271A71-50E2-42C9-A365-291747406BC1}" type="datetimeFigureOut">
              <a:rPr lang="en-IN" smtClean="0"/>
              <a:t>21-09-2024</a:t>
            </a:fld>
            <a:endParaRPr lang="en-IN"/>
          </a:p>
        </p:txBody>
      </p:sp>
      <p:sp>
        <p:nvSpPr>
          <p:cNvPr id="5" name="Footer Placeholder 4">
            <a:extLst>
              <a:ext uri="{FF2B5EF4-FFF2-40B4-BE49-F238E27FC236}">
                <a16:creationId xmlns:a16="http://schemas.microsoft.com/office/drawing/2014/main" id="{25AD620F-CA6A-1F96-662A-7FDEB36825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242377-472F-EF1D-8002-A0EFFFC57386}"/>
              </a:ext>
            </a:extLst>
          </p:cNvPr>
          <p:cNvSpPr>
            <a:spLocks noGrp="1"/>
          </p:cNvSpPr>
          <p:nvPr>
            <p:ph type="sldNum" sz="quarter" idx="12"/>
          </p:nvPr>
        </p:nvSpPr>
        <p:spPr/>
        <p:txBody>
          <a:bodyPr/>
          <a:lstStyle/>
          <a:p>
            <a:fld id="{C0008EF1-BFF9-40E5-B3C8-D3F13EAAB816}" type="slidenum">
              <a:rPr lang="en-IN" smtClean="0"/>
              <a:t>‹#›</a:t>
            </a:fld>
            <a:endParaRPr lang="en-IN"/>
          </a:p>
        </p:txBody>
      </p:sp>
    </p:spTree>
    <p:extLst>
      <p:ext uri="{BB962C8B-B14F-4D97-AF65-F5344CB8AC3E}">
        <p14:creationId xmlns:p14="http://schemas.microsoft.com/office/powerpoint/2010/main" val="2336492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8F4CD-69EA-F107-BEB9-B26F7DF14C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87072D4-1555-B530-7BF1-36579BFCD6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B91625-B3A6-2F78-201B-DD9AE8BA06B4}"/>
              </a:ext>
            </a:extLst>
          </p:cNvPr>
          <p:cNvSpPr>
            <a:spLocks noGrp="1"/>
          </p:cNvSpPr>
          <p:nvPr>
            <p:ph type="dt" sz="half" idx="10"/>
          </p:nvPr>
        </p:nvSpPr>
        <p:spPr/>
        <p:txBody>
          <a:bodyPr/>
          <a:lstStyle/>
          <a:p>
            <a:fld id="{1F271A71-50E2-42C9-A365-291747406BC1}" type="datetimeFigureOut">
              <a:rPr lang="en-IN" smtClean="0"/>
              <a:t>21-09-2024</a:t>
            </a:fld>
            <a:endParaRPr lang="en-IN"/>
          </a:p>
        </p:txBody>
      </p:sp>
      <p:sp>
        <p:nvSpPr>
          <p:cNvPr id="5" name="Footer Placeholder 4">
            <a:extLst>
              <a:ext uri="{FF2B5EF4-FFF2-40B4-BE49-F238E27FC236}">
                <a16:creationId xmlns:a16="http://schemas.microsoft.com/office/drawing/2014/main" id="{27347310-DCB2-98D3-7115-315C0110453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C3EF0C-AADB-3073-E07A-24736B90D084}"/>
              </a:ext>
            </a:extLst>
          </p:cNvPr>
          <p:cNvSpPr>
            <a:spLocks noGrp="1"/>
          </p:cNvSpPr>
          <p:nvPr>
            <p:ph type="sldNum" sz="quarter" idx="12"/>
          </p:nvPr>
        </p:nvSpPr>
        <p:spPr/>
        <p:txBody>
          <a:bodyPr/>
          <a:lstStyle/>
          <a:p>
            <a:fld id="{C0008EF1-BFF9-40E5-B3C8-D3F13EAAB816}" type="slidenum">
              <a:rPr lang="en-IN" smtClean="0"/>
              <a:t>‹#›</a:t>
            </a:fld>
            <a:endParaRPr lang="en-IN"/>
          </a:p>
        </p:txBody>
      </p:sp>
    </p:spTree>
    <p:extLst>
      <p:ext uri="{BB962C8B-B14F-4D97-AF65-F5344CB8AC3E}">
        <p14:creationId xmlns:p14="http://schemas.microsoft.com/office/powerpoint/2010/main" val="1973944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94DC6-7971-58DF-1737-1876946D7E2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749316B-95AF-5397-852F-3C9E96A0DBC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C00EE4A-9E60-AD22-4070-B06A159F80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80BEF5E-E718-8E76-040E-984E62369918}"/>
              </a:ext>
            </a:extLst>
          </p:cNvPr>
          <p:cNvSpPr>
            <a:spLocks noGrp="1"/>
          </p:cNvSpPr>
          <p:nvPr>
            <p:ph type="dt" sz="half" idx="10"/>
          </p:nvPr>
        </p:nvSpPr>
        <p:spPr/>
        <p:txBody>
          <a:bodyPr/>
          <a:lstStyle/>
          <a:p>
            <a:fld id="{1F271A71-50E2-42C9-A365-291747406BC1}" type="datetimeFigureOut">
              <a:rPr lang="en-IN" smtClean="0"/>
              <a:t>21-09-2024</a:t>
            </a:fld>
            <a:endParaRPr lang="en-IN"/>
          </a:p>
        </p:txBody>
      </p:sp>
      <p:sp>
        <p:nvSpPr>
          <p:cNvPr id="6" name="Footer Placeholder 5">
            <a:extLst>
              <a:ext uri="{FF2B5EF4-FFF2-40B4-BE49-F238E27FC236}">
                <a16:creationId xmlns:a16="http://schemas.microsoft.com/office/drawing/2014/main" id="{3FD47ACD-6419-5D68-0EDD-D2D8CA454C4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E304BB1-0C07-F895-56E3-DE55F8EB0FE8}"/>
              </a:ext>
            </a:extLst>
          </p:cNvPr>
          <p:cNvSpPr>
            <a:spLocks noGrp="1"/>
          </p:cNvSpPr>
          <p:nvPr>
            <p:ph type="sldNum" sz="quarter" idx="12"/>
          </p:nvPr>
        </p:nvSpPr>
        <p:spPr/>
        <p:txBody>
          <a:bodyPr/>
          <a:lstStyle/>
          <a:p>
            <a:fld id="{C0008EF1-BFF9-40E5-B3C8-D3F13EAAB816}" type="slidenum">
              <a:rPr lang="en-IN" smtClean="0"/>
              <a:t>‹#›</a:t>
            </a:fld>
            <a:endParaRPr lang="en-IN"/>
          </a:p>
        </p:txBody>
      </p:sp>
    </p:spTree>
    <p:extLst>
      <p:ext uri="{BB962C8B-B14F-4D97-AF65-F5344CB8AC3E}">
        <p14:creationId xmlns:p14="http://schemas.microsoft.com/office/powerpoint/2010/main" val="20011657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2491D-12CC-A3E7-4791-F347BEDD096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A70914-704D-8477-9D8D-D9E39C7ADA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5ECA2F-5D95-0343-B25A-CBBF25BBE1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0F4BCDD-8FAE-6BED-DFBB-65E8923900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A05384F-E68B-1888-4316-ADE96A96FB3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4576E69-ABB5-44EA-6FAB-807365195B4A}"/>
              </a:ext>
            </a:extLst>
          </p:cNvPr>
          <p:cNvSpPr>
            <a:spLocks noGrp="1"/>
          </p:cNvSpPr>
          <p:nvPr>
            <p:ph type="dt" sz="half" idx="10"/>
          </p:nvPr>
        </p:nvSpPr>
        <p:spPr/>
        <p:txBody>
          <a:bodyPr/>
          <a:lstStyle/>
          <a:p>
            <a:fld id="{1F271A71-50E2-42C9-A365-291747406BC1}" type="datetimeFigureOut">
              <a:rPr lang="en-IN" smtClean="0"/>
              <a:t>21-09-2024</a:t>
            </a:fld>
            <a:endParaRPr lang="en-IN"/>
          </a:p>
        </p:txBody>
      </p:sp>
      <p:sp>
        <p:nvSpPr>
          <p:cNvPr id="8" name="Footer Placeholder 7">
            <a:extLst>
              <a:ext uri="{FF2B5EF4-FFF2-40B4-BE49-F238E27FC236}">
                <a16:creationId xmlns:a16="http://schemas.microsoft.com/office/drawing/2014/main" id="{2C48C61E-44D2-DA0D-D4F5-E23C3C16AC3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21472C1-0328-9F3F-DA4C-07350E1FD2F0}"/>
              </a:ext>
            </a:extLst>
          </p:cNvPr>
          <p:cNvSpPr>
            <a:spLocks noGrp="1"/>
          </p:cNvSpPr>
          <p:nvPr>
            <p:ph type="sldNum" sz="quarter" idx="12"/>
          </p:nvPr>
        </p:nvSpPr>
        <p:spPr/>
        <p:txBody>
          <a:bodyPr/>
          <a:lstStyle/>
          <a:p>
            <a:fld id="{C0008EF1-BFF9-40E5-B3C8-D3F13EAAB816}" type="slidenum">
              <a:rPr lang="en-IN" smtClean="0"/>
              <a:t>‹#›</a:t>
            </a:fld>
            <a:endParaRPr lang="en-IN"/>
          </a:p>
        </p:txBody>
      </p:sp>
    </p:spTree>
    <p:extLst>
      <p:ext uri="{BB962C8B-B14F-4D97-AF65-F5344CB8AC3E}">
        <p14:creationId xmlns:p14="http://schemas.microsoft.com/office/powerpoint/2010/main" val="4268822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8933B-F713-D042-576E-FA8C7F545B5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7D90A8D-C8B9-E2EB-E570-7638EB7F9065}"/>
              </a:ext>
            </a:extLst>
          </p:cNvPr>
          <p:cNvSpPr>
            <a:spLocks noGrp="1"/>
          </p:cNvSpPr>
          <p:nvPr>
            <p:ph type="dt" sz="half" idx="10"/>
          </p:nvPr>
        </p:nvSpPr>
        <p:spPr/>
        <p:txBody>
          <a:bodyPr/>
          <a:lstStyle/>
          <a:p>
            <a:fld id="{1F271A71-50E2-42C9-A365-291747406BC1}" type="datetimeFigureOut">
              <a:rPr lang="en-IN" smtClean="0"/>
              <a:t>21-09-2024</a:t>
            </a:fld>
            <a:endParaRPr lang="en-IN"/>
          </a:p>
        </p:txBody>
      </p:sp>
      <p:sp>
        <p:nvSpPr>
          <p:cNvPr id="4" name="Footer Placeholder 3">
            <a:extLst>
              <a:ext uri="{FF2B5EF4-FFF2-40B4-BE49-F238E27FC236}">
                <a16:creationId xmlns:a16="http://schemas.microsoft.com/office/drawing/2014/main" id="{9D7BB660-D2CC-588B-72BA-A87C796F0AD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333DC2A-42CC-E349-E79B-3F2929DDBB80}"/>
              </a:ext>
            </a:extLst>
          </p:cNvPr>
          <p:cNvSpPr>
            <a:spLocks noGrp="1"/>
          </p:cNvSpPr>
          <p:nvPr>
            <p:ph type="sldNum" sz="quarter" idx="12"/>
          </p:nvPr>
        </p:nvSpPr>
        <p:spPr/>
        <p:txBody>
          <a:bodyPr/>
          <a:lstStyle/>
          <a:p>
            <a:fld id="{C0008EF1-BFF9-40E5-B3C8-D3F13EAAB816}" type="slidenum">
              <a:rPr lang="en-IN" smtClean="0"/>
              <a:t>‹#›</a:t>
            </a:fld>
            <a:endParaRPr lang="en-IN"/>
          </a:p>
        </p:txBody>
      </p:sp>
    </p:spTree>
    <p:extLst>
      <p:ext uri="{BB962C8B-B14F-4D97-AF65-F5344CB8AC3E}">
        <p14:creationId xmlns:p14="http://schemas.microsoft.com/office/powerpoint/2010/main" val="2045749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426F7C-2EAB-7CEA-2243-00752C6915FC}"/>
              </a:ext>
            </a:extLst>
          </p:cNvPr>
          <p:cNvSpPr>
            <a:spLocks noGrp="1"/>
          </p:cNvSpPr>
          <p:nvPr>
            <p:ph type="dt" sz="half" idx="10"/>
          </p:nvPr>
        </p:nvSpPr>
        <p:spPr/>
        <p:txBody>
          <a:bodyPr/>
          <a:lstStyle/>
          <a:p>
            <a:fld id="{1F271A71-50E2-42C9-A365-291747406BC1}" type="datetimeFigureOut">
              <a:rPr lang="en-IN" smtClean="0"/>
              <a:t>21-09-2024</a:t>
            </a:fld>
            <a:endParaRPr lang="en-IN"/>
          </a:p>
        </p:txBody>
      </p:sp>
      <p:sp>
        <p:nvSpPr>
          <p:cNvPr id="3" name="Footer Placeholder 2">
            <a:extLst>
              <a:ext uri="{FF2B5EF4-FFF2-40B4-BE49-F238E27FC236}">
                <a16:creationId xmlns:a16="http://schemas.microsoft.com/office/drawing/2014/main" id="{2CBA6A3D-7B4F-0AE2-F680-7D21CC7C32D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098C682-A2E7-4C9D-F68E-242AD73CD761}"/>
              </a:ext>
            </a:extLst>
          </p:cNvPr>
          <p:cNvSpPr>
            <a:spLocks noGrp="1"/>
          </p:cNvSpPr>
          <p:nvPr>
            <p:ph type="sldNum" sz="quarter" idx="12"/>
          </p:nvPr>
        </p:nvSpPr>
        <p:spPr/>
        <p:txBody>
          <a:bodyPr/>
          <a:lstStyle/>
          <a:p>
            <a:fld id="{C0008EF1-BFF9-40E5-B3C8-D3F13EAAB816}" type="slidenum">
              <a:rPr lang="en-IN" smtClean="0"/>
              <a:t>‹#›</a:t>
            </a:fld>
            <a:endParaRPr lang="en-IN"/>
          </a:p>
        </p:txBody>
      </p:sp>
    </p:spTree>
    <p:extLst>
      <p:ext uri="{BB962C8B-B14F-4D97-AF65-F5344CB8AC3E}">
        <p14:creationId xmlns:p14="http://schemas.microsoft.com/office/powerpoint/2010/main" val="2758675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2E845-8FAB-C3A5-EDE9-D55018D728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D0A811C-5F87-2470-05AD-7EF321417B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A40D6A9-55C1-3AD4-F057-2C79AB3D57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7FFA67-06BE-42DF-DE5F-A59B4CA1DF1C}"/>
              </a:ext>
            </a:extLst>
          </p:cNvPr>
          <p:cNvSpPr>
            <a:spLocks noGrp="1"/>
          </p:cNvSpPr>
          <p:nvPr>
            <p:ph type="dt" sz="half" idx="10"/>
          </p:nvPr>
        </p:nvSpPr>
        <p:spPr/>
        <p:txBody>
          <a:bodyPr/>
          <a:lstStyle/>
          <a:p>
            <a:fld id="{1F271A71-50E2-42C9-A365-291747406BC1}" type="datetimeFigureOut">
              <a:rPr lang="en-IN" smtClean="0"/>
              <a:t>21-09-2024</a:t>
            </a:fld>
            <a:endParaRPr lang="en-IN"/>
          </a:p>
        </p:txBody>
      </p:sp>
      <p:sp>
        <p:nvSpPr>
          <p:cNvPr id="6" name="Footer Placeholder 5">
            <a:extLst>
              <a:ext uri="{FF2B5EF4-FFF2-40B4-BE49-F238E27FC236}">
                <a16:creationId xmlns:a16="http://schemas.microsoft.com/office/drawing/2014/main" id="{0F257AA1-D210-6BAF-320F-6E8CF3DA31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B2DFCE-CFDF-B98A-F9A8-2C40FC6A0C63}"/>
              </a:ext>
            </a:extLst>
          </p:cNvPr>
          <p:cNvSpPr>
            <a:spLocks noGrp="1"/>
          </p:cNvSpPr>
          <p:nvPr>
            <p:ph type="sldNum" sz="quarter" idx="12"/>
          </p:nvPr>
        </p:nvSpPr>
        <p:spPr/>
        <p:txBody>
          <a:bodyPr/>
          <a:lstStyle/>
          <a:p>
            <a:fld id="{C0008EF1-BFF9-40E5-B3C8-D3F13EAAB816}" type="slidenum">
              <a:rPr lang="en-IN" smtClean="0"/>
              <a:t>‹#›</a:t>
            </a:fld>
            <a:endParaRPr lang="en-IN"/>
          </a:p>
        </p:txBody>
      </p:sp>
    </p:spTree>
    <p:extLst>
      <p:ext uri="{BB962C8B-B14F-4D97-AF65-F5344CB8AC3E}">
        <p14:creationId xmlns:p14="http://schemas.microsoft.com/office/powerpoint/2010/main" val="2634765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054C0-2DC2-4637-3FCA-E0DB4E129C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77F1D80-1F39-851E-189E-1A173419AD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D48FE83-9C3A-6172-34D4-B6BD8D281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AA9A32-487B-E89A-4BFE-E8F84B71140A}"/>
              </a:ext>
            </a:extLst>
          </p:cNvPr>
          <p:cNvSpPr>
            <a:spLocks noGrp="1"/>
          </p:cNvSpPr>
          <p:nvPr>
            <p:ph type="dt" sz="half" idx="10"/>
          </p:nvPr>
        </p:nvSpPr>
        <p:spPr/>
        <p:txBody>
          <a:bodyPr/>
          <a:lstStyle/>
          <a:p>
            <a:fld id="{1F271A71-50E2-42C9-A365-291747406BC1}" type="datetimeFigureOut">
              <a:rPr lang="en-IN" smtClean="0"/>
              <a:t>21-09-2024</a:t>
            </a:fld>
            <a:endParaRPr lang="en-IN"/>
          </a:p>
        </p:txBody>
      </p:sp>
      <p:sp>
        <p:nvSpPr>
          <p:cNvPr id="6" name="Footer Placeholder 5">
            <a:extLst>
              <a:ext uri="{FF2B5EF4-FFF2-40B4-BE49-F238E27FC236}">
                <a16:creationId xmlns:a16="http://schemas.microsoft.com/office/drawing/2014/main" id="{E8BAA8CD-D8CD-F775-BAB3-E1BF15883B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80CCEC9-C852-FC82-39A0-89EA190DA1FF}"/>
              </a:ext>
            </a:extLst>
          </p:cNvPr>
          <p:cNvSpPr>
            <a:spLocks noGrp="1"/>
          </p:cNvSpPr>
          <p:nvPr>
            <p:ph type="sldNum" sz="quarter" idx="12"/>
          </p:nvPr>
        </p:nvSpPr>
        <p:spPr/>
        <p:txBody>
          <a:bodyPr/>
          <a:lstStyle/>
          <a:p>
            <a:fld id="{C0008EF1-BFF9-40E5-B3C8-D3F13EAAB816}" type="slidenum">
              <a:rPr lang="en-IN" smtClean="0"/>
              <a:t>‹#›</a:t>
            </a:fld>
            <a:endParaRPr lang="en-IN"/>
          </a:p>
        </p:txBody>
      </p:sp>
    </p:spTree>
    <p:extLst>
      <p:ext uri="{BB962C8B-B14F-4D97-AF65-F5344CB8AC3E}">
        <p14:creationId xmlns:p14="http://schemas.microsoft.com/office/powerpoint/2010/main" val="2626643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AE0E8-7DFE-2936-1F3E-22FCED7BE46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0864F9A-E4B0-4AB9-71A4-108742692E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43B4D2-CDB2-BD46-F86E-E776E28D88EA}"/>
              </a:ext>
            </a:extLst>
          </p:cNvPr>
          <p:cNvSpPr>
            <a:spLocks noGrp="1"/>
          </p:cNvSpPr>
          <p:nvPr>
            <p:ph type="dt" sz="half" idx="10"/>
          </p:nvPr>
        </p:nvSpPr>
        <p:spPr/>
        <p:txBody>
          <a:bodyPr/>
          <a:lstStyle/>
          <a:p>
            <a:fld id="{1F271A71-50E2-42C9-A365-291747406BC1}" type="datetimeFigureOut">
              <a:rPr lang="en-IN" smtClean="0"/>
              <a:t>21-09-2024</a:t>
            </a:fld>
            <a:endParaRPr lang="en-IN"/>
          </a:p>
        </p:txBody>
      </p:sp>
      <p:sp>
        <p:nvSpPr>
          <p:cNvPr id="5" name="Footer Placeholder 4">
            <a:extLst>
              <a:ext uri="{FF2B5EF4-FFF2-40B4-BE49-F238E27FC236}">
                <a16:creationId xmlns:a16="http://schemas.microsoft.com/office/drawing/2014/main" id="{11F12CEF-2FEA-276F-F6AB-7D5B064FE7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782E59-A6CA-6BE1-5187-2BA52DDFECB5}"/>
              </a:ext>
            </a:extLst>
          </p:cNvPr>
          <p:cNvSpPr>
            <a:spLocks noGrp="1"/>
          </p:cNvSpPr>
          <p:nvPr>
            <p:ph type="sldNum" sz="quarter" idx="12"/>
          </p:nvPr>
        </p:nvSpPr>
        <p:spPr/>
        <p:txBody>
          <a:bodyPr/>
          <a:lstStyle/>
          <a:p>
            <a:fld id="{C0008EF1-BFF9-40E5-B3C8-D3F13EAAB816}" type="slidenum">
              <a:rPr lang="en-IN" smtClean="0"/>
              <a:t>‹#›</a:t>
            </a:fld>
            <a:endParaRPr lang="en-IN"/>
          </a:p>
        </p:txBody>
      </p:sp>
    </p:spTree>
    <p:extLst>
      <p:ext uri="{BB962C8B-B14F-4D97-AF65-F5344CB8AC3E}">
        <p14:creationId xmlns:p14="http://schemas.microsoft.com/office/powerpoint/2010/main" val="42310279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DB0646-13D7-42AA-F851-DA29BE586FC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B3AC0ED-D39F-243B-07E1-71FDE29DDB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331E20-8940-17EB-4EFB-0AC60B111DB2}"/>
              </a:ext>
            </a:extLst>
          </p:cNvPr>
          <p:cNvSpPr>
            <a:spLocks noGrp="1"/>
          </p:cNvSpPr>
          <p:nvPr>
            <p:ph type="dt" sz="half" idx="10"/>
          </p:nvPr>
        </p:nvSpPr>
        <p:spPr/>
        <p:txBody>
          <a:bodyPr/>
          <a:lstStyle/>
          <a:p>
            <a:fld id="{1F271A71-50E2-42C9-A365-291747406BC1}" type="datetimeFigureOut">
              <a:rPr lang="en-IN" smtClean="0"/>
              <a:t>21-09-2024</a:t>
            </a:fld>
            <a:endParaRPr lang="en-IN"/>
          </a:p>
        </p:txBody>
      </p:sp>
      <p:sp>
        <p:nvSpPr>
          <p:cNvPr id="5" name="Footer Placeholder 4">
            <a:extLst>
              <a:ext uri="{FF2B5EF4-FFF2-40B4-BE49-F238E27FC236}">
                <a16:creationId xmlns:a16="http://schemas.microsoft.com/office/drawing/2014/main" id="{951DED69-198D-4ABA-DF3D-29099AA295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A54995-7B79-82E9-9272-E0950346F573}"/>
              </a:ext>
            </a:extLst>
          </p:cNvPr>
          <p:cNvSpPr>
            <a:spLocks noGrp="1"/>
          </p:cNvSpPr>
          <p:nvPr>
            <p:ph type="sldNum" sz="quarter" idx="12"/>
          </p:nvPr>
        </p:nvSpPr>
        <p:spPr/>
        <p:txBody>
          <a:bodyPr/>
          <a:lstStyle/>
          <a:p>
            <a:fld id="{C0008EF1-BFF9-40E5-B3C8-D3F13EAAB816}" type="slidenum">
              <a:rPr lang="en-IN" smtClean="0"/>
              <a:t>‹#›</a:t>
            </a:fld>
            <a:endParaRPr lang="en-IN"/>
          </a:p>
        </p:txBody>
      </p:sp>
    </p:spTree>
    <p:extLst>
      <p:ext uri="{BB962C8B-B14F-4D97-AF65-F5344CB8AC3E}">
        <p14:creationId xmlns:p14="http://schemas.microsoft.com/office/powerpoint/2010/main" val="1896743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7DCCB9-3E64-3FB6-99D5-B7B43562CA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4EC7412-0726-AD6B-C1B1-F9566E02AF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D6A5AC-807D-126F-2816-0F4FDF5134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271A71-50E2-42C9-A365-291747406BC1}" type="datetimeFigureOut">
              <a:rPr lang="en-IN" smtClean="0"/>
              <a:t>21-09-2024</a:t>
            </a:fld>
            <a:endParaRPr lang="en-IN"/>
          </a:p>
        </p:txBody>
      </p:sp>
      <p:sp>
        <p:nvSpPr>
          <p:cNvPr id="5" name="Footer Placeholder 4">
            <a:extLst>
              <a:ext uri="{FF2B5EF4-FFF2-40B4-BE49-F238E27FC236}">
                <a16:creationId xmlns:a16="http://schemas.microsoft.com/office/drawing/2014/main" id="{EA62F521-7006-C0E0-0413-01F05976E1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B9EE8D2-5ECA-600A-1930-B8C4939254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008EF1-BFF9-40E5-B3C8-D3F13EAAB816}" type="slidenum">
              <a:rPr lang="en-IN" smtClean="0"/>
              <a:t>‹#›</a:t>
            </a:fld>
            <a:endParaRPr lang="en-IN"/>
          </a:p>
        </p:txBody>
      </p:sp>
    </p:spTree>
    <p:extLst>
      <p:ext uri="{BB962C8B-B14F-4D97-AF65-F5344CB8AC3E}">
        <p14:creationId xmlns:p14="http://schemas.microsoft.com/office/powerpoint/2010/main" val="20153012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learnentityframeworkcore.com/conventions/one-to-many-relationship#fully-defined-relationship"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2634820-22CB-BDBE-BA53-C0FAFC17D530}"/>
              </a:ext>
            </a:extLst>
          </p:cNvPr>
          <p:cNvSpPr txBox="1"/>
          <p:nvPr/>
        </p:nvSpPr>
        <p:spPr>
          <a:xfrm>
            <a:off x="115479" y="0"/>
            <a:ext cx="4484801"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US" b="0" i="0" dirty="0">
                <a:solidFill>
                  <a:srgbClr val="004867"/>
                </a:solidFill>
                <a:effectLst/>
                <a:latin typeface="Roboto" panose="02000000000000000000" pitchFamily="2" charset="0"/>
              </a:rPr>
              <a:t>Conventions in Entity Framework Core</a:t>
            </a:r>
          </a:p>
        </p:txBody>
      </p:sp>
      <p:sp>
        <p:nvSpPr>
          <p:cNvPr id="7" name="TextBox 6">
            <a:extLst>
              <a:ext uri="{FF2B5EF4-FFF2-40B4-BE49-F238E27FC236}">
                <a16:creationId xmlns:a16="http://schemas.microsoft.com/office/drawing/2014/main" id="{7A60FE21-DBCD-31E6-A228-36D71B1B4DFB}"/>
              </a:ext>
            </a:extLst>
          </p:cNvPr>
          <p:cNvSpPr txBox="1"/>
          <p:nvPr/>
        </p:nvSpPr>
        <p:spPr>
          <a:xfrm>
            <a:off x="114694" y="538229"/>
            <a:ext cx="6094428" cy="1169551"/>
          </a:xfrm>
          <a:prstGeom prst="rect">
            <a:avLst/>
          </a:prstGeom>
          <a:noFill/>
        </p:spPr>
        <p:txBody>
          <a:bodyPr wrap="square">
            <a:spAutoFit/>
          </a:bodyPr>
          <a:lstStyle/>
          <a:p>
            <a:r>
              <a:rPr lang="en-US" sz="1400" b="0" i="0" dirty="0">
                <a:solidFill>
                  <a:srgbClr val="333333"/>
                </a:solidFill>
                <a:effectLst/>
                <a:latin typeface="Open Sans" panose="020B0606030504020204" pitchFamily="34" charset="0"/>
              </a:rPr>
              <a:t>Conventions are a set of rules hard-baked into Entity Framework Core that govern how the model will be mapped to a database schema. Most of the time, especially with new application development, it makes sense to follow EF Core's conventions when developing the model.</a:t>
            </a:r>
            <a:endParaRPr lang="en-IN" sz="1400" dirty="0"/>
          </a:p>
        </p:txBody>
      </p:sp>
      <p:sp>
        <p:nvSpPr>
          <p:cNvPr id="3" name="TextBox 2">
            <a:extLst>
              <a:ext uri="{FF2B5EF4-FFF2-40B4-BE49-F238E27FC236}">
                <a16:creationId xmlns:a16="http://schemas.microsoft.com/office/drawing/2014/main" id="{509DAE98-5AA9-B695-16E0-8FD6E279E916}"/>
              </a:ext>
            </a:extLst>
          </p:cNvPr>
          <p:cNvSpPr txBox="1"/>
          <p:nvPr/>
        </p:nvSpPr>
        <p:spPr>
          <a:xfrm>
            <a:off x="379429" y="1707779"/>
            <a:ext cx="2825684"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IN" b="0" i="0" dirty="0">
                <a:solidFill>
                  <a:srgbClr val="004867"/>
                </a:solidFill>
                <a:effectLst/>
                <a:latin typeface="Roboto" panose="02000000000000000000" pitchFamily="2" charset="0"/>
              </a:rPr>
              <a:t>Primary Key</a:t>
            </a:r>
          </a:p>
        </p:txBody>
      </p:sp>
      <p:sp>
        <p:nvSpPr>
          <p:cNvPr id="4" name="Rectangle 1">
            <a:extLst>
              <a:ext uri="{FF2B5EF4-FFF2-40B4-BE49-F238E27FC236}">
                <a16:creationId xmlns:a16="http://schemas.microsoft.com/office/drawing/2014/main" id="{D888B12A-0D7A-AF95-0E36-599F03F3FA11}"/>
              </a:ext>
            </a:extLst>
          </p:cNvPr>
          <p:cNvSpPr>
            <a:spLocks noChangeArrowheads="1"/>
          </p:cNvSpPr>
          <p:nvPr/>
        </p:nvSpPr>
        <p:spPr bwMode="auto">
          <a:xfrm>
            <a:off x="197962" y="2248041"/>
            <a:ext cx="4628561" cy="830997"/>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If a property is </a:t>
            </a:r>
            <a:r>
              <a:rPr kumimoji="0" lang="en-US" altLang="en-US" sz="1200" b="0" i="0" u="none" strike="noStrike" cap="none" normalizeH="0" baseline="0" dirty="0">
                <a:ln>
                  <a:noFill/>
                </a:ln>
                <a:solidFill>
                  <a:srgbClr val="333333"/>
                </a:solidFill>
                <a:effectLst/>
                <a:highlight>
                  <a:srgbClr val="FFFF00"/>
                </a:highlight>
                <a:latin typeface="Open Sans" panose="020B0606030504020204" pitchFamily="34" charset="0"/>
                <a:cs typeface="Open Sans" panose="020B0606030504020204" pitchFamily="34" charset="0"/>
              </a:rPr>
              <a:t>named </a:t>
            </a:r>
            <a:r>
              <a:rPr kumimoji="0" lang="en-US" altLang="en-US" sz="1200" b="0" i="0" u="none" strike="noStrike" cap="none" normalizeH="0" baseline="0" dirty="0">
                <a:ln>
                  <a:noFill/>
                </a:ln>
                <a:solidFill>
                  <a:srgbClr val="C7254E"/>
                </a:solidFill>
                <a:effectLst/>
                <a:highlight>
                  <a:srgbClr val="FFFF00"/>
                </a:highlight>
                <a:latin typeface="Menlo"/>
              </a:rPr>
              <a:t>ID</a:t>
            </a:r>
            <a:r>
              <a:rPr kumimoji="0" lang="en-US" altLang="en-US" sz="1200" b="0" i="0" u="none" strike="noStrike" cap="none" normalizeH="0" baseline="0" dirty="0">
                <a:ln>
                  <a:noFill/>
                </a:ln>
                <a:solidFill>
                  <a:srgbClr val="333333"/>
                </a:solidFill>
                <a:effectLst/>
                <a:highlight>
                  <a:srgbClr val="FFFF00"/>
                </a:highlight>
                <a:latin typeface="Open Sans" panose="020B0606030504020204" pitchFamily="34" charset="0"/>
                <a:cs typeface="Open Sans" panose="020B0606030504020204" pitchFamily="34" charset="0"/>
              </a:rPr>
              <a:t> or </a:t>
            </a:r>
            <a:r>
              <a:rPr kumimoji="0" lang="en-US" altLang="en-US" sz="1200" b="0" i="0" u="none" strike="noStrike" cap="none" normalizeH="0" baseline="0" dirty="0">
                <a:ln>
                  <a:noFill/>
                </a:ln>
                <a:solidFill>
                  <a:srgbClr val="C7254E"/>
                </a:solidFill>
                <a:effectLst/>
                <a:highlight>
                  <a:srgbClr val="FFFF00"/>
                </a:highlight>
                <a:latin typeface="Menlo"/>
              </a:rPr>
              <a:t>&lt;entity name&gt;ID</a:t>
            </a:r>
            <a:r>
              <a:rPr kumimoji="0" lang="en-US" altLang="en-US" sz="1200" b="0" i="0" u="none" strike="noStrike" cap="none" normalizeH="0" baseline="0" dirty="0">
                <a:ln>
                  <a:noFill/>
                </a:ln>
                <a:solidFill>
                  <a:srgbClr val="333333"/>
                </a:solidFill>
                <a:effectLst/>
                <a:highlight>
                  <a:srgbClr val="FFFF00"/>
                </a:highlight>
                <a:latin typeface="Open Sans" panose="020B0606030504020204" pitchFamily="34" charset="0"/>
                <a:cs typeface="Open Sans" panose="020B0606030504020204" pitchFamily="34" charset="0"/>
              </a:rPr>
              <a:t> (not case-sensitive</a:t>
            </a: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it will be configured as the primary key. Entity Framework Core will prefer </a:t>
            </a:r>
            <a:r>
              <a:rPr kumimoji="0" lang="en-US" altLang="en-US" sz="1200" b="0" i="0" u="none" strike="noStrike" cap="none" normalizeH="0" baseline="0" dirty="0">
                <a:ln>
                  <a:noFill/>
                </a:ln>
                <a:solidFill>
                  <a:srgbClr val="C7254E"/>
                </a:solidFill>
                <a:effectLst/>
                <a:latin typeface="Menlo"/>
              </a:rPr>
              <a:t>ID</a:t>
            </a: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over </a:t>
            </a:r>
            <a:r>
              <a:rPr kumimoji="0" lang="en-US" altLang="en-US" sz="1200" b="0" i="0" u="none" strike="noStrike" cap="none" normalizeH="0" baseline="0" dirty="0">
                <a:ln>
                  <a:noFill/>
                </a:ln>
                <a:solidFill>
                  <a:srgbClr val="C7254E"/>
                </a:solidFill>
                <a:effectLst/>
                <a:latin typeface="Menlo"/>
              </a:rPr>
              <a:t>&lt;entity name&gt;ID</a:t>
            </a: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in the event that a class contains both.</a:t>
            </a:r>
            <a:r>
              <a:rPr kumimoji="0" lang="en-US" altLang="en-US" sz="1200" b="0" i="0" u="none" strike="noStrike" cap="none" normalizeH="0" baseline="0" dirty="0">
                <a:ln>
                  <a:noFill/>
                </a:ln>
                <a:solidFill>
                  <a:schemeClr val="tx1"/>
                </a:solidFill>
                <a:effectLst/>
              </a:rPr>
              <a:t> </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05DB175F-A664-498C-E3AB-F886422492A4}"/>
              </a:ext>
            </a:extLst>
          </p:cNvPr>
          <p:cNvSpPr>
            <a:spLocks noChangeArrowheads="1"/>
          </p:cNvSpPr>
          <p:nvPr/>
        </p:nvSpPr>
        <p:spPr bwMode="auto">
          <a:xfrm>
            <a:off x="197962" y="3429000"/>
            <a:ext cx="3042501" cy="1107996"/>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class</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Book</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int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highlight>
                  <a:srgbClr val="FFFF00"/>
                </a:highlight>
                <a:latin typeface="Menlo"/>
              </a:rPr>
              <a:t>Id</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string</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Title</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EF0A834A-9E8B-8C28-F80F-1F24BD82F4F9}"/>
              </a:ext>
            </a:extLst>
          </p:cNvPr>
          <p:cNvSpPr>
            <a:spLocks noChangeArrowheads="1"/>
          </p:cNvSpPr>
          <p:nvPr/>
        </p:nvSpPr>
        <p:spPr bwMode="auto">
          <a:xfrm>
            <a:off x="114694" y="4921602"/>
            <a:ext cx="3125769" cy="1107996"/>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class</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Book</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int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highlight>
                  <a:srgbClr val="FFFF00"/>
                </a:highlight>
                <a:latin typeface="Menlo"/>
              </a:rPr>
              <a:t>BookId</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string</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Title</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D11CE14F-4658-BD17-B8FE-D3365177F00A}"/>
              </a:ext>
            </a:extLst>
          </p:cNvPr>
          <p:cNvSpPr txBox="1"/>
          <p:nvPr/>
        </p:nvSpPr>
        <p:spPr>
          <a:xfrm>
            <a:off x="8882407" y="157190"/>
            <a:ext cx="2118674" cy="369332"/>
          </a:xfrm>
          <a:prstGeom prst="rect">
            <a:avLst/>
          </a:prstGeom>
          <a:noFill/>
        </p:spPr>
        <p:txBody>
          <a:bodyPr wrap="square">
            <a:spAutoFit/>
          </a:bodyPr>
          <a:lstStyle/>
          <a:p>
            <a:pPr algn="l"/>
            <a:r>
              <a:rPr lang="en-IN" b="0" i="0" dirty="0">
                <a:solidFill>
                  <a:srgbClr val="004867"/>
                </a:solidFill>
                <a:effectLst/>
                <a:latin typeface="Roboto" panose="02000000000000000000" pitchFamily="2" charset="0"/>
              </a:rPr>
              <a:t>Foreign Key</a:t>
            </a:r>
          </a:p>
        </p:txBody>
      </p:sp>
      <p:sp>
        <p:nvSpPr>
          <p:cNvPr id="12" name="TextBox 11">
            <a:extLst>
              <a:ext uri="{FF2B5EF4-FFF2-40B4-BE49-F238E27FC236}">
                <a16:creationId xmlns:a16="http://schemas.microsoft.com/office/drawing/2014/main" id="{2F4A17A8-5DF0-4AE9-9310-19E27422A38E}"/>
              </a:ext>
            </a:extLst>
          </p:cNvPr>
          <p:cNvSpPr txBox="1"/>
          <p:nvPr/>
        </p:nvSpPr>
        <p:spPr>
          <a:xfrm>
            <a:off x="6657681" y="538229"/>
            <a:ext cx="5419625" cy="738664"/>
          </a:xfrm>
          <a:prstGeom prst="rect">
            <a:avLst/>
          </a:prstGeom>
          <a:noFill/>
        </p:spPr>
        <p:txBody>
          <a:bodyPr wrap="square">
            <a:spAutoFit/>
          </a:bodyPr>
          <a:lstStyle/>
          <a:p>
            <a:r>
              <a:rPr lang="en-US" sz="1400" b="0" i="0" dirty="0">
                <a:solidFill>
                  <a:srgbClr val="333333"/>
                </a:solidFill>
                <a:effectLst/>
                <a:latin typeface="Open Sans" panose="020B0606030504020204" pitchFamily="34" charset="0"/>
              </a:rPr>
              <a:t>The convention for a foreign key is that it must have the same data type as the principal entity's primary key property and the name must follow one of these patterns:</a:t>
            </a:r>
            <a:endParaRPr lang="en-IN" sz="1400" dirty="0"/>
          </a:p>
        </p:txBody>
      </p:sp>
      <p:sp>
        <p:nvSpPr>
          <p:cNvPr id="13" name="Rectangle 4">
            <a:extLst>
              <a:ext uri="{FF2B5EF4-FFF2-40B4-BE49-F238E27FC236}">
                <a16:creationId xmlns:a16="http://schemas.microsoft.com/office/drawing/2014/main" id="{8A25390A-708D-BD66-DDC1-0F8A2CE7E275}"/>
              </a:ext>
            </a:extLst>
          </p:cNvPr>
          <p:cNvSpPr>
            <a:spLocks noChangeArrowheads="1"/>
          </p:cNvSpPr>
          <p:nvPr/>
        </p:nvSpPr>
        <p:spPr bwMode="auto">
          <a:xfrm>
            <a:off x="6657681" y="1429508"/>
            <a:ext cx="5419625" cy="925874"/>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&lt;principal class name&gt;&lt;primary key property name&gt;Id</a:t>
            </a:r>
            <a:endPar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&lt;principal primary key property name&gt;Id</a:t>
            </a:r>
            <a:endPar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14" name="Rectangle 5">
            <a:extLst>
              <a:ext uri="{FF2B5EF4-FFF2-40B4-BE49-F238E27FC236}">
                <a16:creationId xmlns:a16="http://schemas.microsoft.com/office/drawing/2014/main" id="{A6EAA44E-69DF-9F49-7251-61351495817E}"/>
              </a:ext>
            </a:extLst>
          </p:cNvPr>
          <p:cNvSpPr>
            <a:spLocks noChangeArrowheads="1"/>
          </p:cNvSpPr>
          <p:nvPr/>
        </p:nvSpPr>
        <p:spPr bwMode="auto">
          <a:xfrm>
            <a:off x="6637258" y="2505671"/>
            <a:ext cx="4628561" cy="2954655"/>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class</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Author</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int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highlight>
                  <a:srgbClr val="FFFF00"/>
                </a:highlight>
                <a:latin typeface="Menlo"/>
              </a:rPr>
              <a:t>AuthorId</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string</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FirstName</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string</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latin typeface="Menlo"/>
              </a:rPr>
              <a:t>LastName</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highlight>
                  <a:srgbClr val="FFFF00"/>
                </a:highlight>
                <a:latin typeface="Menlo"/>
              </a:rPr>
              <a:t>ICollection</a:t>
            </a:r>
            <a:r>
              <a:rPr kumimoji="0" lang="en-US" altLang="en-US" sz="1200" b="0" i="0" u="none" strike="noStrike" cap="none" normalizeH="0" baseline="0" dirty="0">
                <a:ln>
                  <a:noFill/>
                </a:ln>
                <a:solidFill>
                  <a:srgbClr val="666600"/>
                </a:solidFill>
                <a:effectLst/>
                <a:highlight>
                  <a:srgbClr val="FFFF00"/>
                </a:highlight>
                <a:latin typeface="Menlo"/>
              </a:rPr>
              <a:t>&lt;</a:t>
            </a:r>
            <a:r>
              <a:rPr kumimoji="0" lang="en-US" altLang="en-US" sz="1200" b="0" i="0" u="none" strike="noStrike" cap="none" normalizeH="0" baseline="0" dirty="0">
                <a:ln>
                  <a:noFill/>
                </a:ln>
                <a:solidFill>
                  <a:srgbClr val="555555"/>
                </a:solidFill>
                <a:effectLst/>
                <a:highlight>
                  <a:srgbClr val="FFFF00"/>
                </a:highlight>
                <a:latin typeface="Menlo"/>
              </a:rPr>
              <a:t>Book</a:t>
            </a:r>
            <a:r>
              <a:rPr kumimoji="0" lang="en-US" altLang="en-US" sz="1200" b="0" i="0" u="none" strike="noStrike" cap="none" normalizeH="0" baseline="0" dirty="0">
                <a:ln>
                  <a:noFill/>
                </a:ln>
                <a:solidFill>
                  <a:srgbClr val="666600"/>
                </a:solidFill>
                <a:effectLst/>
                <a:highlight>
                  <a:srgbClr val="FFFF00"/>
                </a:highlight>
                <a:latin typeface="Menlo"/>
              </a:rPr>
              <a:t>&gt;</a:t>
            </a:r>
            <a:r>
              <a:rPr kumimoji="0" lang="en-US" altLang="en-US" sz="1200" b="0" i="0" u="none" strike="noStrike" cap="none" normalizeH="0" baseline="0" dirty="0">
                <a:ln>
                  <a:noFill/>
                </a:ln>
                <a:solidFill>
                  <a:srgbClr val="000000"/>
                </a:solidFill>
                <a:effectLst/>
                <a:highlight>
                  <a:srgbClr val="FFFF00"/>
                </a:highlight>
                <a:latin typeface="Menlo"/>
              </a:rPr>
              <a:t> </a:t>
            </a:r>
            <a:r>
              <a:rPr kumimoji="0" lang="en-US" altLang="en-US" sz="1200" b="0" i="0" u="none" strike="noStrike" cap="none" normalizeH="0" baseline="0" dirty="0">
                <a:ln>
                  <a:noFill/>
                </a:ln>
                <a:solidFill>
                  <a:srgbClr val="555555"/>
                </a:solidFill>
                <a:effectLst/>
                <a:highlight>
                  <a:srgbClr val="FFFF00"/>
                </a:highlight>
                <a:latin typeface="Menlo"/>
              </a:rPr>
              <a:t>Books</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class</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Book</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0"/>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int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highlight>
                  <a:srgbClr val="FFFF00"/>
                </a:highlight>
                <a:latin typeface="Menlo"/>
              </a:rPr>
              <a:t>BookId</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1"/>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string</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Title</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lvl="0" eaLnBrk="0" fontAlgn="base" hangingPunct="0">
              <a:spcBef>
                <a:spcPct val="0"/>
              </a:spcBef>
              <a:spcAft>
                <a:spcPct val="0"/>
              </a:spcAft>
              <a:buFontTx/>
              <a:buAutoNum type="arabicPeriod" startAt="12"/>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lang="en-US" altLang="en-US" sz="1200" dirty="0">
                <a:solidFill>
                  <a:srgbClr val="0000FF"/>
                </a:solidFill>
                <a:latin typeface="Menlo"/>
              </a:rPr>
              <a:t>Author </a:t>
            </a:r>
            <a:r>
              <a:rPr lang="en-US" altLang="en-US" sz="1200" dirty="0" err="1">
                <a:solidFill>
                  <a:srgbClr val="0000FF"/>
                </a:solidFill>
                <a:latin typeface="Menlo"/>
              </a:rPr>
              <a:t>Author</a:t>
            </a:r>
            <a:r>
              <a:rPr lang="en-US" altLang="en-US" sz="1200" dirty="0">
                <a:solidFill>
                  <a:srgbClr val="0000FF"/>
                </a:solidFill>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3"/>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string</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latin typeface="Menlo"/>
              </a:rPr>
              <a:t>Isbn</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4"/>
              <a:tabLst/>
            </a:pP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
        <p:nvSpPr>
          <p:cNvPr id="15" name="Rectangle 6">
            <a:extLst>
              <a:ext uri="{FF2B5EF4-FFF2-40B4-BE49-F238E27FC236}">
                <a16:creationId xmlns:a16="http://schemas.microsoft.com/office/drawing/2014/main" id="{DA0E9523-0AAC-7919-43DE-2BF38DA3F593}"/>
              </a:ext>
            </a:extLst>
          </p:cNvPr>
          <p:cNvSpPr>
            <a:spLocks noChangeArrowheads="1"/>
          </p:cNvSpPr>
          <p:nvPr/>
        </p:nvSpPr>
        <p:spPr bwMode="auto">
          <a:xfrm>
            <a:off x="6657681" y="5611624"/>
            <a:ext cx="4795886" cy="987430"/>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In order of precedence, the following property names are accepted: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err="1">
                <a:ln>
                  <a:noFill/>
                </a:ln>
                <a:solidFill>
                  <a:srgbClr val="C7254E"/>
                </a:solidFill>
                <a:effectLst/>
                <a:latin typeface="Menlo"/>
                <a:cs typeface="Open Sans" panose="020B0606030504020204" pitchFamily="34" charset="0"/>
              </a:rPr>
              <a:t>AuthorAuthorId</a:t>
            </a:r>
            <a:endPar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err="1">
                <a:ln>
                  <a:noFill/>
                </a:ln>
                <a:solidFill>
                  <a:srgbClr val="C7254E"/>
                </a:solidFill>
                <a:effectLst/>
                <a:latin typeface="Menlo"/>
                <a:cs typeface="Open Sans" panose="020B0606030504020204" pitchFamily="34" charset="0"/>
              </a:rPr>
              <a:t>AuthorId</a:t>
            </a:r>
            <a:endPar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TextBox 16">
            <a:extLst>
              <a:ext uri="{FF2B5EF4-FFF2-40B4-BE49-F238E27FC236}">
                <a16:creationId xmlns:a16="http://schemas.microsoft.com/office/drawing/2014/main" id="{29DC6427-197A-1A68-1172-ED3C4940FBC5}"/>
              </a:ext>
            </a:extLst>
          </p:cNvPr>
          <p:cNvSpPr txBox="1"/>
          <p:nvPr/>
        </p:nvSpPr>
        <p:spPr>
          <a:xfrm>
            <a:off x="1190134" y="6355071"/>
            <a:ext cx="11272100" cy="461665"/>
          </a:xfrm>
          <a:prstGeom prst="rect">
            <a:avLst/>
          </a:prstGeom>
          <a:noFill/>
        </p:spPr>
        <p:txBody>
          <a:bodyPr wrap="square">
            <a:spAutoFit/>
          </a:bodyPr>
          <a:lstStyle/>
          <a:p>
            <a:r>
              <a:rPr lang="en-US" sz="1200" b="0" i="0" dirty="0">
                <a:solidFill>
                  <a:srgbClr val="333333"/>
                </a:solidFill>
                <a:effectLst/>
                <a:latin typeface="Open Sans" panose="020B0606030504020204" pitchFamily="34" charset="0"/>
              </a:rPr>
              <a:t>As with primary keys, foreign key property name matching is not case sensitive. EF Core infers </a:t>
            </a:r>
            <a:r>
              <a:rPr lang="en-US" sz="1200" b="0" i="0" dirty="0">
                <a:solidFill>
                  <a:srgbClr val="333333"/>
                </a:solidFill>
                <a:effectLst/>
                <a:highlight>
                  <a:srgbClr val="FFFF00"/>
                </a:highlight>
                <a:latin typeface="Open Sans" panose="020B0606030504020204" pitchFamily="34" charset="0"/>
              </a:rPr>
              <a:t>the multiplicity of a relationship </a:t>
            </a:r>
            <a:r>
              <a:rPr lang="en-US" sz="1200" b="0" i="0" dirty="0">
                <a:solidFill>
                  <a:srgbClr val="333333"/>
                </a:solidFill>
                <a:effectLst/>
                <a:latin typeface="Open Sans" panose="020B0606030504020204" pitchFamily="34" charset="0"/>
              </a:rPr>
              <a:t>from the nullability of the foreign key. If the </a:t>
            </a:r>
            <a:r>
              <a:rPr lang="en-US" sz="1200" b="0" i="0" dirty="0">
                <a:solidFill>
                  <a:srgbClr val="333333"/>
                </a:solidFill>
                <a:effectLst/>
                <a:highlight>
                  <a:srgbClr val="FFFF00"/>
                </a:highlight>
                <a:latin typeface="Open Sans" panose="020B0606030504020204" pitchFamily="34" charset="0"/>
              </a:rPr>
              <a:t>property is not nullable</a:t>
            </a:r>
            <a:r>
              <a:rPr lang="en-US" sz="1200" b="0" i="0" dirty="0">
                <a:solidFill>
                  <a:srgbClr val="333333"/>
                </a:solidFill>
                <a:effectLst/>
                <a:latin typeface="Open Sans" panose="020B0606030504020204" pitchFamily="34" charset="0"/>
              </a:rPr>
              <a:t>, the </a:t>
            </a:r>
            <a:r>
              <a:rPr lang="en-US" sz="1200" b="0" i="0" dirty="0">
                <a:solidFill>
                  <a:srgbClr val="333333"/>
                </a:solidFill>
                <a:effectLst/>
                <a:highlight>
                  <a:srgbClr val="FFFF00"/>
                </a:highlight>
                <a:latin typeface="Open Sans" panose="020B0606030504020204" pitchFamily="34" charset="0"/>
              </a:rPr>
              <a:t>relationship is registered as required</a:t>
            </a:r>
            <a:r>
              <a:rPr lang="en-US" sz="1200" b="0" i="0" dirty="0">
                <a:solidFill>
                  <a:srgbClr val="333333"/>
                </a:solidFill>
                <a:effectLst/>
                <a:latin typeface="Open Sans" panose="020B0606030504020204" pitchFamily="34" charset="0"/>
              </a:rPr>
              <a:t>; otherwise it is </a:t>
            </a:r>
            <a:r>
              <a:rPr lang="en-US" sz="1200" b="0" i="0" dirty="0">
                <a:solidFill>
                  <a:srgbClr val="333333"/>
                </a:solidFill>
                <a:effectLst/>
                <a:highlight>
                  <a:srgbClr val="FFFF00"/>
                </a:highlight>
                <a:latin typeface="Open Sans" panose="020B0606030504020204" pitchFamily="34" charset="0"/>
              </a:rPr>
              <a:t>registered as optional.</a:t>
            </a:r>
            <a:endParaRPr lang="en-IN" sz="1200" dirty="0">
              <a:highlight>
                <a:srgbClr val="FFFF00"/>
              </a:highlight>
            </a:endParaRPr>
          </a:p>
        </p:txBody>
      </p:sp>
    </p:spTree>
    <p:extLst>
      <p:ext uri="{BB962C8B-B14F-4D97-AF65-F5344CB8AC3E}">
        <p14:creationId xmlns:p14="http://schemas.microsoft.com/office/powerpoint/2010/main" val="20692796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1D96161-0652-0564-669C-9804F83E8A2B}"/>
              </a:ext>
            </a:extLst>
          </p:cNvPr>
          <p:cNvSpPr txBox="1"/>
          <p:nvPr/>
        </p:nvSpPr>
        <p:spPr>
          <a:xfrm>
            <a:off x="0" y="1751436"/>
            <a:ext cx="5448693" cy="307777"/>
          </a:xfrm>
          <a:prstGeom prst="rect">
            <a:avLst/>
          </a:prstGeom>
          <a:noFill/>
        </p:spPr>
        <p:txBody>
          <a:bodyPr wrap="square">
            <a:spAutoFit/>
          </a:bodyPr>
          <a:lstStyle/>
          <a:p>
            <a:endParaRPr lang="en-IN" sz="1400" dirty="0"/>
          </a:p>
        </p:txBody>
      </p:sp>
      <p:sp>
        <p:nvSpPr>
          <p:cNvPr id="7" name="TextBox 6">
            <a:extLst>
              <a:ext uri="{FF2B5EF4-FFF2-40B4-BE49-F238E27FC236}">
                <a16:creationId xmlns:a16="http://schemas.microsoft.com/office/drawing/2014/main" id="{C74D354D-7BB1-EFDF-741D-FD1C180F2058}"/>
              </a:ext>
            </a:extLst>
          </p:cNvPr>
          <p:cNvSpPr txBox="1"/>
          <p:nvPr/>
        </p:nvSpPr>
        <p:spPr>
          <a:xfrm>
            <a:off x="162613" y="113809"/>
            <a:ext cx="4786459"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IN" b="0" i="0" dirty="0">
                <a:solidFill>
                  <a:srgbClr val="004867"/>
                </a:solidFill>
                <a:effectLst/>
                <a:latin typeface="Roboto" panose="02000000000000000000" pitchFamily="2" charset="0"/>
              </a:rPr>
              <a:t>Foreign Key Shadow Properties </a:t>
            </a:r>
          </a:p>
        </p:txBody>
      </p:sp>
      <p:sp>
        <p:nvSpPr>
          <p:cNvPr id="8" name="Rectangle 1">
            <a:extLst>
              <a:ext uri="{FF2B5EF4-FFF2-40B4-BE49-F238E27FC236}">
                <a16:creationId xmlns:a16="http://schemas.microsoft.com/office/drawing/2014/main" id="{F297094D-51BD-2ACB-EC65-A721AB26FCA6}"/>
              </a:ext>
            </a:extLst>
          </p:cNvPr>
          <p:cNvSpPr>
            <a:spLocks noChangeArrowheads="1"/>
          </p:cNvSpPr>
          <p:nvPr/>
        </p:nvSpPr>
        <p:spPr bwMode="auto">
          <a:xfrm>
            <a:off x="65989" y="599225"/>
            <a:ext cx="5297864" cy="954107"/>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If you choose not to explicitly include a foreign key property in the </a:t>
            </a:r>
            <a:r>
              <a:rPr kumimoji="0" lang="en-US" altLang="en-US" sz="1400" b="0" i="0" u="none" strike="noStrike" cap="none" normalizeH="0" baseline="0" dirty="0" err="1">
                <a:ln>
                  <a:noFill/>
                </a:ln>
                <a:solidFill>
                  <a:srgbClr val="333333"/>
                </a:solidFill>
                <a:effectLst/>
                <a:latin typeface="Open Sans" panose="020B0606030504020204" pitchFamily="34" charset="0"/>
                <a:cs typeface="Open Sans" panose="020B0606030504020204" pitchFamily="34" charset="0"/>
              </a:rPr>
              <a:t>dependant</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end of the relationship, EF Core will create a </a:t>
            </a:r>
            <a:r>
              <a:rPr kumimoji="0" lang="en-US" altLang="en-US" sz="1400" b="1" i="0" u="sng" strike="noStrike" cap="none" normalizeH="0" baseline="0" dirty="0">
                <a:ln>
                  <a:noFill/>
                </a:ln>
                <a:solidFill>
                  <a:srgbClr val="000000"/>
                </a:solidFill>
                <a:effectLst/>
                <a:latin typeface="Open Sans" panose="020B0606030504020204" pitchFamily="34" charset="0"/>
                <a:cs typeface="Open Sans" panose="020B0606030504020204" pitchFamily="34" charset="0"/>
              </a:rPr>
              <a:t>shadow property</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using the pattern </a:t>
            </a:r>
            <a:r>
              <a:rPr kumimoji="0" lang="en-US" altLang="en-US" sz="1400" b="0" i="0" u="none" strike="noStrike" cap="none" normalizeH="0" baseline="0" dirty="0">
                <a:ln>
                  <a:noFill/>
                </a:ln>
                <a:solidFill>
                  <a:srgbClr val="C7254E"/>
                </a:solidFill>
                <a:effectLst/>
                <a:latin typeface="Menlo"/>
              </a:rPr>
              <a:t>&lt;principal primary key property name&gt;Id</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1CE8A670-A792-2387-6D7A-46CE935F69B8}"/>
              </a:ext>
            </a:extLst>
          </p:cNvPr>
          <p:cNvSpPr txBox="1"/>
          <p:nvPr/>
        </p:nvSpPr>
        <p:spPr>
          <a:xfrm>
            <a:off x="162613" y="6258775"/>
            <a:ext cx="4392890"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IN" b="0" i="0" dirty="0">
                <a:solidFill>
                  <a:srgbClr val="004867"/>
                </a:solidFill>
                <a:effectLst/>
                <a:latin typeface="Roboto" panose="02000000000000000000" pitchFamily="2" charset="0"/>
              </a:rPr>
              <a:t>Backing Fields </a:t>
            </a:r>
          </a:p>
        </p:txBody>
      </p:sp>
      <p:sp>
        <p:nvSpPr>
          <p:cNvPr id="4" name="Rectangle 5">
            <a:extLst>
              <a:ext uri="{FF2B5EF4-FFF2-40B4-BE49-F238E27FC236}">
                <a16:creationId xmlns:a16="http://schemas.microsoft.com/office/drawing/2014/main" id="{76E72995-6EA9-27E2-8544-37DDFF30A05B}"/>
              </a:ext>
            </a:extLst>
          </p:cNvPr>
          <p:cNvSpPr>
            <a:spLocks noChangeArrowheads="1"/>
          </p:cNvSpPr>
          <p:nvPr/>
        </p:nvSpPr>
        <p:spPr bwMode="auto">
          <a:xfrm>
            <a:off x="620204" y="2774488"/>
            <a:ext cx="4628561" cy="2954655"/>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class</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Author</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int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highlight>
                  <a:srgbClr val="FFFF00"/>
                </a:highlight>
                <a:latin typeface="Menlo"/>
              </a:rPr>
              <a:t>AuthorId</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string</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FirstName</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string</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latin typeface="Menlo"/>
              </a:rPr>
              <a:t>LastName</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highlight>
                  <a:srgbClr val="FFFF00"/>
                </a:highlight>
                <a:latin typeface="Menlo"/>
              </a:rPr>
              <a:t>ICollection</a:t>
            </a:r>
            <a:r>
              <a:rPr kumimoji="0" lang="en-US" altLang="en-US" sz="1200" b="0" i="0" u="none" strike="noStrike" cap="none" normalizeH="0" baseline="0" dirty="0">
                <a:ln>
                  <a:noFill/>
                </a:ln>
                <a:solidFill>
                  <a:srgbClr val="666600"/>
                </a:solidFill>
                <a:effectLst/>
                <a:highlight>
                  <a:srgbClr val="FFFF00"/>
                </a:highlight>
                <a:latin typeface="Menlo"/>
              </a:rPr>
              <a:t>&lt;</a:t>
            </a:r>
            <a:r>
              <a:rPr kumimoji="0" lang="en-US" altLang="en-US" sz="1200" b="0" i="0" u="none" strike="noStrike" cap="none" normalizeH="0" baseline="0" dirty="0">
                <a:ln>
                  <a:noFill/>
                </a:ln>
                <a:solidFill>
                  <a:srgbClr val="555555"/>
                </a:solidFill>
                <a:effectLst/>
                <a:highlight>
                  <a:srgbClr val="FFFF00"/>
                </a:highlight>
                <a:latin typeface="Menlo"/>
              </a:rPr>
              <a:t>Book</a:t>
            </a:r>
            <a:r>
              <a:rPr kumimoji="0" lang="en-US" altLang="en-US" sz="1200" b="0" i="0" u="none" strike="noStrike" cap="none" normalizeH="0" baseline="0" dirty="0">
                <a:ln>
                  <a:noFill/>
                </a:ln>
                <a:solidFill>
                  <a:srgbClr val="666600"/>
                </a:solidFill>
                <a:effectLst/>
                <a:highlight>
                  <a:srgbClr val="FFFF00"/>
                </a:highlight>
                <a:latin typeface="Menlo"/>
              </a:rPr>
              <a:t>&gt;</a:t>
            </a:r>
            <a:r>
              <a:rPr kumimoji="0" lang="en-US" altLang="en-US" sz="1200" b="0" i="0" u="none" strike="noStrike" cap="none" normalizeH="0" baseline="0" dirty="0">
                <a:ln>
                  <a:noFill/>
                </a:ln>
                <a:solidFill>
                  <a:srgbClr val="000000"/>
                </a:solidFill>
                <a:effectLst/>
                <a:highlight>
                  <a:srgbClr val="FFFF00"/>
                </a:highlight>
                <a:latin typeface="Menlo"/>
              </a:rPr>
              <a:t> </a:t>
            </a:r>
            <a:r>
              <a:rPr kumimoji="0" lang="en-US" altLang="en-US" sz="1200" b="0" i="0" u="none" strike="noStrike" cap="none" normalizeH="0" baseline="0" dirty="0">
                <a:ln>
                  <a:noFill/>
                </a:ln>
                <a:solidFill>
                  <a:srgbClr val="555555"/>
                </a:solidFill>
                <a:effectLst/>
                <a:highlight>
                  <a:srgbClr val="FFFF00"/>
                </a:highlight>
                <a:latin typeface="Menlo"/>
              </a:rPr>
              <a:t>Books</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200" b="0" i="0" u="none" strike="noStrike" cap="none" normalizeH="0" baseline="0" dirty="0">
                <a:ln>
                  <a:noFill/>
                </a:ln>
                <a:solidFill>
                  <a:srgbClr val="666600"/>
                </a:solidFill>
                <a:effectLst/>
                <a:latin typeface="Menlo"/>
              </a:rPr>
              <a:t>}</a:t>
            </a: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class</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Book</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0"/>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int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highlight>
                  <a:srgbClr val="FFFF00"/>
                </a:highlight>
                <a:latin typeface="Menlo"/>
              </a:rPr>
              <a:t>BookId</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1"/>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string</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Title</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3"/>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string</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latin typeface="Menlo"/>
              </a:rPr>
              <a:t>Isbn</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4"/>
              <a:tabLst/>
            </a:pP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20414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D789633-623B-EA39-E9F0-70034B5E259E}"/>
              </a:ext>
            </a:extLst>
          </p:cNvPr>
          <p:cNvSpPr txBox="1"/>
          <p:nvPr/>
        </p:nvSpPr>
        <p:spPr>
          <a:xfrm>
            <a:off x="530258" y="154698"/>
            <a:ext cx="2863391"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IN" b="0" i="0" dirty="0">
                <a:solidFill>
                  <a:srgbClr val="004867"/>
                </a:solidFill>
                <a:effectLst/>
                <a:latin typeface="Roboto" panose="02000000000000000000" pitchFamily="2" charset="0"/>
              </a:rPr>
              <a:t>Table </a:t>
            </a:r>
          </a:p>
        </p:txBody>
      </p:sp>
      <p:sp>
        <p:nvSpPr>
          <p:cNvPr id="6" name="Rectangle 1">
            <a:extLst>
              <a:ext uri="{FF2B5EF4-FFF2-40B4-BE49-F238E27FC236}">
                <a16:creationId xmlns:a16="http://schemas.microsoft.com/office/drawing/2014/main" id="{855CE44E-D272-DF0C-FFD1-C888DEC42DAC}"/>
              </a:ext>
            </a:extLst>
          </p:cNvPr>
          <p:cNvSpPr>
            <a:spLocks noChangeArrowheads="1"/>
          </p:cNvSpPr>
          <p:nvPr/>
        </p:nvSpPr>
        <p:spPr bwMode="auto">
          <a:xfrm>
            <a:off x="-1" y="690306"/>
            <a:ext cx="5967167" cy="2246769"/>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Entity Framework Core will map an entity to a table with the same name as its corresponding </a:t>
            </a:r>
            <a:r>
              <a:rPr kumimoji="0" lang="en-US" altLang="en-US" sz="1400" b="0" i="0" u="none" strike="noStrike" cap="none" normalizeH="0" baseline="0" dirty="0" err="1">
                <a:ln>
                  <a:noFill/>
                </a:ln>
                <a:solidFill>
                  <a:srgbClr val="C7254E"/>
                </a:solidFill>
                <a:effectLst/>
                <a:latin typeface="Menlo"/>
                <a:cs typeface="Open Sans" panose="020B0606030504020204" pitchFamily="34" charset="0"/>
              </a:rPr>
              <a:t>DbSet</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&lt;</a:t>
            </a:r>
            <a:r>
              <a:rPr kumimoji="0" lang="en-US" altLang="en-US" sz="1400" b="0" i="0" u="none" strike="noStrike" cap="none" normalizeH="0" baseline="0" dirty="0" err="1">
                <a:ln>
                  <a:noFill/>
                </a:ln>
                <a:solidFill>
                  <a:srgbClr val="C7254E"/>
                </a:solidFill>
                <a:effectLst/>
                <a:latin typeface="Menlo"/>
                <a:cs typeface="Open Sans" panose="020B0606030504020204" pitchFamily="34" charset="0"/>
              </a:rPr>
              <a:t>TEntity</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&gt;</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property. EF Core will also map entities that have no corresponding </a:t>
            </a:r>
            <a:r>
              <a:rPr kumimoji="0" lang="en-US" altLang="en-US" sz="1400" b="0" i="0" u="none" strike="noStrike" cap="none" normalizeH="0" baseline="0" dirty="0" err="1">
                <a:ln>
                  <a:noFill/>
                </a:ln>
                <a:solidFill>
                  <a:srgbClr val="C7254E"/>
                </a:solidFill>
                <a:effectLst/>
                <a:latin typeface="Menlo"/>
                <a:cs typeface="Open Sans" panose="020B0606030504020204" pitchFamily="34" charset="0"/>
              </a:rPr>
              <a:t>DbSet</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&lt;</a:t>
            </a:r>
            <a:r>
              <a:rPr kumimoji="0" lang="en-US" altLang="en-US" sz="1400" b="0" i="0" u="none" strike="noStrike" cap="none" normalizeH="0" baseline="0" dirty="0" err="1">
                <a:ln>
                  <a:noFill/>
                </a:ln>
                <a:solidFill>
                  <a:srgbClr val="C7254E"/>
                </a:solidFill>
                <a:effectLst/>
                <a:latin typeface="Menlo"/>
                <a:cs typeface="Open Sans" panose="020B0606030504020204" pitchFamily="34" charset="0"/>
              </a:rPr>
              <a:t>TEntity</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&gt;</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property if that entity takes part in a </a:t>
            </a:r>
            <a:r>
              <a:rPr kumimoji="0" lang="en-US" altLang="en-US" sz="1400" b="1" i="0" u="sng" strike="noStrike" cap="none" normalizeH="0" baseline="0" dirty="0">
                <a:ln>
                  <a:noFill/>
                </a:ln>
                <a:solidFill>
                  <a:srgbClr val="000000"/>
                </a:solidFill>
                <a:effectLst/>
                <a:latin typeface="Open Sans" panose="020B0606030504020204" pitchFamily="34" charset="0"/>
                <a:cs typeface="Open Sans" panose="020B0606030504020204" pitchFamily="34" charset="0"/>
              </a:rPr>
              <a:t>fully</a:t>
            </a:r>
            <a:r>
              <a:rPr kumimoji="0" lang="en-US" altLang="en-US" sz="1400" b="1" i="0" u="sng" strike="noStrike" cap="none" normalizeH="0" baseline="0" dirty="0">
                <a:ln>
                  <a:noFill/>
                </a:ln>
                <a:solidFill>
                  <a:srgbClr val="000000"/>
                </a:solidFill>
                <a:effectLst/>
                <a:latin typeface="Open Sans" panose="020B0606030504020204" pitchFamily="34" charset="0"/>
                <a:cs typeface="Open Sans" panose="020B0606030504020204" pitchFamily="34" charset="0"/>
                <a:hlinkClick r:id="rId2"/>
              </a:rPr>
              <a:t> </a:t>
            </a:r>
            <a:r>
              <a:rPr kumimoji="0" lang="en-US" altLang="en-US" sz="1400" b="1" i="0" u="sng" strike="noStrike" cap="none" normalizeH="0" baseline="0" dirty="0">
                <a:ln>
                  <a:noFill/>
                </a:ln>
                <a:solidFill>
                  <a:srgbClr val="000000"/>
                </a:solidFill>
                <a:effectLst/>
                <a:latin typeface="Open Sans" panose="020B0606030504020204" pitchFamily="34" charset="0"/>
                <a:cs typeface="Open Sans" panose="020B0606030504020204" pitchFamily="34" charset="0"/>
              </a:rPr>
              <a:t>defined</a:t>
            </a:r>
            <a:r>
              <a:rPr kumimoji="0" lang="en-US" altLang="en-US" sz="1400" b="1" i="0" u="sng" strike="noStrike" cap="none" normalizeH="0" baseline="0" dirty="0">
                <a:ln>
                  <a:noFill/>
                </a:ln>
                <a:solidFill>
                  <a:srgbClr val="000000"/>
                </a:solidFill>
                <a:effectLst/>
                <a:latin typeface="Open Sans" panose="020B0606030504020204" pitchFamily="34" charset="0"/>
                <a:cs typeface="Open Sans" panose="020B0606030504020204" pitchFamily="34" charset="0"/>
                <a:hlinkClick r:id="rId2"/>
              </a:rPr>
              <a:t> </a:t>
            </a:r>
            <a:r>
              <a:rPr kumimoji="0" lang="en-US" altLang="en-US" sz="1400" b="1" i="0" u="sng" strike="noStrike" cap="none" normalizeH="0" baseline="0" dirty="0">
                <a:ln>
                  <a:noFill/>
                </a:ln>
                <a:solidFill>
                  <a:srgbClr val="000000"/>
                </a:solidFill>
                <a:effectLst/>
                <a:latin typeface="Open Sans" panose="020B0606030504020204" pitchFamily="34" charset="0"/>
                <a:cs typeface="Open Sans" panose="020B0606030504020204" pitchFamily="34" charset="0"/>
              </a:rPr>
              <a:t>relationship</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with entities that have corresponding </a:t>
            </a:r>
            <a:r>
              <a:rPr kumimoji="0" lang="en-US" altLang="en-US" sz="1400" b="0" i="0" u="none" strike="noStrike" cap="none" normalizeH="0" baseline="0" dirty="0" err="1">
                <a:ln>
                  <a:noFill/>
                </a:ln>
                <a:solidFill>
                  <a:srgbClr val="C7254E"/>
                </a:solidFill>
                <a:effectLst/>
                <a:latin typeface="Menlo"/>
                <a:cs typeface="Open Sans" panose="020B0606030504020204" pitchFamily="34" charset="0"/>
              </a:rPr>
              <a:t>DbSet</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&lt;</a:t>
            </a:r>
            <a:r>
              <a:rPr kumimoji="0" lang="en-US" altLang="en-US" sz="1400" b="0" i="0" u="none" strike="noStrike" cap="none" normalizeH="0" baseline="0" dirty="0" err="1">
                <a:ln>
                  <a:noFill/>
                </a:ln>
                <a:solidFill>
                  <a:srgbClr val="C7254E"/>
                </a:solidFill>
                <a:effectLst/>
                <a:latin typeface="Menlo"/>
                <a:cs typeface="Open Sans" panose="020B0606030504020204" pitchFamily="34" charset="0"/>
              </a:rPr>
              <a:t>TEntity</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&gt;</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properties. EF Core will map such an entity to a table named after the class.</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In the following example, EF Core will map the </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Book</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entity (which has a </a:t>
            </a:r>
            <a:r>
              <a:rPr kumimoji="0" lang="en-US" altLang="en-US" sz="1400" b="0" i="0" u="none" strike="noStrike" cap="none" normalizeH="0" baseline="0" dirty="0" err="1">
                <a:ln>
                  <a:noFill/>
                </a:ln>
                <a:solidFill>
                  <a:srgbClr val="C7254E"/>
                </a:solidFill>
                <a:effectLst/>
                <a:latin typeface="Menlo"/>
                <a:cs typeface="Open Sans" panose="020B0606030504020204" pitchFamily="34" charset="0"/>
              </a:rPr>
              <a:t>DbSet</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property in the </a:t>
            </a:r>
            <a:r>
              <a:rPr kumimoji="0" lang="en-US" altLang="en-US" sz="1400" b="0" i="0" u="none" strike="noStrike" cap="none" normalizeH="0" baseline="0" dirty="0" err="1">
                <a:ln>
                  <a:noFill/>
                </a:ln>
                <a:solidFill>
                  <a:srgbClr val="C7254E"/>
                </a:solidFill>
                <a:effectLst/>
                <a:latin typeface="Menlo"/>
                <a:cs typeface="Open Sans" panose="020B0606030504020204" pitchFamily="34" charset="0"/>
              </a:rPr>
              <a:t>DbContext</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class) to a table named </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Books</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and the </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Publisher</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entity (which has no </a:t>
            </a:r>
            <a:r>
              <a:rPr kumimoji="0" lang="en-US" altLang="en-US" sz="1400" b="0" i="0" u="none" strike="noStrike" cap="none" normalizeH="0" baseline="0" dirty="0" err="1">
                <a:ln>
                  <a:noFill/>
                </a:ln>
                <a:solidFill>
                  <a:srgbClr val="C7254E"/>
                </a:solidFill>
                <a:effectLst/>
                <a:latin typeface="Menlo"/>
                <a:cs typeface="Open Sans" panose="020B0606030504020204" pitchFamily="34" charset="0"/>
              </a:rPr>
              <a:t>DbSet</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but takes part in a fully defined relationship with </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Book</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to a table named </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Publisher</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a:t>
            </a:r>
            <a:endParaRPr kumimoji="0" lang="en-US" altLang="en-US" sz="1400" b="0" i="0" u="none" strike="noStrike" cap="none" normalizeH="0" baseline="0" dirty="0">
              <a:ln>
                <a:noFill/>
              </a:ln>
              <a:solidFill>
                <a:schemeClr val="tx1"/>
              </a:solidFill>
              <a:effectLst/>
            </a:endParaRPr>
          </a:p>
        </p:txBody>
      </p:sp>
      <p:sp>
        <p:nvSpPr>
          <p:cNvPr id="7" name="Rectangle 2">
            <a:extLst>
              <a:ext uri="{FF2B5EF4-FFF2-40B4-BE49-F238E27FC236}">
                <a16:creationId xmlns:a16="http://schemas.microsoft.com/office/drawing/2014/main" id="{9111A504-A62A-4C16-12AB-3AC8FC001770}"/>
              </a:ext>
            </a:extLst>
          </p:cNvPr>
          <p:cNvSpPr>
            <a:spLocks noChangeArrowheads="1"/>
          </p:cNvSpPr>
          <p:nvPr/>
        </p:nvSpPr>
        <p:spPr bwMode="auto">
          <a:xfrm>
            <a:off x="169682" y="3024792"/>
            <a:ext cx="5203596" cy="3877985"/>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class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LibraryContext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DbContext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DbSet</a:t>
            </a:r>
            <a:r>
              <a:rPr kumimoji="0" lang="en-US" altLang="en-US" sz="1400" b="0" i="0" u="none" strike="noStrike" cap="none" normalizeH="0" baseline="0" dirty="0">
                <a:ln>
                  <a:noFill/>
                </a:ln>
                <a:solidFill>
                  <a:srgbClr val="666600"/>
                </a:solidFill>
                <a:effectLst/>
                <a:latin typeface="Menlo"/>
              </a:rPr>
              <a:t>&lt;</a:t>
            </a:r>
            <a:r>
              <a:rPr kumimoji="0" lang="en-US" altLang="en-US" sz="1400" b="0" i="0" u="none" strike="noStrike" cap="none" normalizeH="0" baseline="0" dirty="0">
                <a:ln>
                  <a:noFill/>
                </a:ln>
                <a:solidFill>
                  <a:srgbClr val="555555"/>
                </a:solidFill>
                <a:effectLst/>
                <a:latin typeface="Menlo"/>
              </a:rPr>
              <a:t>Book</a:t>
            </a:r>
            <a:r>
              <a:rPr kumimoji="0" lang="en-US" altLang="en-US" sz="1400" b="0" i="0" u="none" strike="noStrike" cap="none" normalizeH="0" baseline="0" dirty="0">
                <a:ln>
                  <a:noFill/>
                </a:ln>
                <a:solidFill>
                  <a:srgbClr val="666600"/>
                </a:solidFill>
                <a:effectLst/>
                <a:latin typeface="Menlo"/>
              </a:rPr>
              <a:t>&gt;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Books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class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Book</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int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BookId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0"/>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Title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1"/>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int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err="1">
                <a:ln>
                  <a:noFill/>
                </a:ln>
                <a:solidFill>
                  <a:srgbClr val="555555"/>
                </a:solidFill>
                <a:effectLst/>
                <a:highlight>
                  <a:srgbClr val="FFFF00"/>
                </a:highlight>
                <a:latin typeface="Menlo"/>
              </a:rPr>
              <a:t>PublisherId</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2"/>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highlight>
                  <a:srgbClr val="FFFF00"/>
                </a:highlight>
                <a:latin typeface="Menlo"/>
              </a:rPr>
              <a:t>Publisher</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err="1">
                <a:ln>
                  <a:noFill/>
                </a:ln>
                <a:solidFill>
                  <a:srgbClr val="555555"/>
                </a:solidFill>
                <a:effectLst/>
                <a:highlight>
                  <a:srgbClr val="FFFF00"/>
                </a:highlight>
                <a:latin typeface="Menlo"/>
              </a:rPr>
              <a:t>Publisher</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3"/>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5"/>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class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Publisher</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6"/>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7"/>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int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PublisherId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8"/>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Name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9"/>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highlight>
                  <a:srgbClr val="FFFF00"/>
                </a:highlight>
                <a:latin typeface="Menlo"/>
              </a:rPr>
              <a:t>ICollection</a:t>
            </a:r>
            <a:r>
              <a:rPr kumimoji="0" lang="en-US" altLang="en-US" sz="1400" b="0" i="0" u="none" strike="noStrike" cap="none" normalizeH="0" baseline="0" dirty="0">
                <a:ln>
                  <a:noFill/>
                </a:ln>
                <a:solidFill>
                  <a:srgbClr val="666600"/>
                </a:solidFill>
                <a:effectLst/>
                <a:highlight>
                  <a:srgbClr val="FFFF00"/>
                </a:highlight>
                <a:latin typeface="Menlo"/>
              </a:rPr>
              <a:t>&lt;</a:t>
            </a:r>
            <a:r>
              <a:rPr kumimoji="0" lang="en-US" altLang="en-US" sz="1400" b="0" i="0" u="none" strike="noStrike" cap="none" normalizeH="0" baseline="0" dirty="0">
                <a:ln>
                  <a:noFill/>
                </a:ln>
                <a:solidFill>
                  <a:srgbClr val="555555"/>
                </a:solidFill>
                <a:effectLst/>
                <a:highlight>
                  <a:srgbClr val="FFFF00"/>
                </a:highlight>
                <a:latin typeface="Menlo"/>
              </a:rPr>
              <a:t>Book</a:t>
            </a:r>
            <a:r>
              <a:rPr kumimoji="0" lang="en-US" altLang="en-US" sz="1400" b="0" i="0" u="none" strike="noStrike" cap="none" normalizeH="0" baseline="0" dirty="0">
                <a:ln>
                  <a:noFill/>
                </a:ln>
                <a:solidFill>
                  <a:srgbClr val="666600"/>
                </a:solidFill>
                <a:effectLst/>
                <a:highlight>
                  <a:srgbClr val="FFFF00"/>
                </a:highlight>
                <a:latin typeface="Menlo"/>
              </a:rPr>
              <a:t>&gt;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555555"/>
                </a:solidFill>
                <a:effectLst/>
                <a:highlight>
                  <a:srgbClr val="FFFF00"/>
                </a:highlight>
                <a:latin typeface="Menlo"/>
              </a:rPr>
              <a:t>Books</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0"/>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99EF919A-D33A-9291-594B-371B95906826}"/>
              </a:ext>
            </a:extLst>
          </p:cNvPr>
          <p:cNvSpPr>
            <a:spLocks noChangeArrowheads="1"/>
          </p:cNvSpPr>
          <p:nvPr/>
        </p:nvSpPr>
        <p:spPr bwMode="auto">
          <a:xfrm>
            <a:off x="6485641" y="696896"/>
            <a:ext cx="5621517" cy="530854"/>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26960" rIns="9144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EF Core will map objects to the </a:t>
            </a:r>
            <a:r>
              <a:rPr kumimoji="0" lang="en-US" altLang="en-US" sz="1200" b="0" i="0" u="none" strike="noStrike" cap="none" normalizeH="0" baseline="0" dirty="0" err="1">
                <a:ln>
                  <a:noFill/>
                </a:ln>
                <a:solidFill>
                  <a:srgbClr val="C7254E"/>
                </a:solidFill>
                <a:effectLst/>
                <a:latin typeface="Menlo"/>
                <a:cs typeface="Open Sans" panose="020B0606030504020204" pitchFamily="34" charset="0"/>
              </a:rPr>
              <a:t>dbo</a:t>
            </a: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schema by default.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00" dirty="0">
              <a:solidFill>
                <a:srgbClr val="333333"/>
              </a:solidFill>
              <a:latin typeface="Open Sans" panose="020B0606030504020204" pitchFamily="34" charset="0"/>
              <a:cs typeface="Open Sans" panose="020B0606030504020204" pitchFamily="34" charset="0"/>
            </a:endParaRPr>
          </a:p>
        </p:txBody>
      </p:sp>
      <p:sp>
        <p:nvSpPr>
          <p:cNvPr id="10" name="TextBox 9">
            <a:extLst>
              <a:ext uri="{FF2B5EF4-FFF2-40B4-BE49-F238E27FC236}">
                <a16:creationId xmlns:a16="http://schemas.microsoft.com/office/drawing/2014/main" id="{9F68FA9D-FEB1-4774-1914-5843318FB6C8}"/>
              </a:ext>
            </a:extLst>
          </p:cNvPr>
          <p:cNvSpPr txBox="1"/>
          <p:nvPr/>
        </p:nvSpPr>
        <p:spPr>
          <a:xfrm>
            <a:off x="6617617" y="92725"/>
            <a:ext cx="3714160" cy="430887"/>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200" b="0" i="0" u="none" strike="noStrike" kern="1200" cap="none" spc="0" normalizeH="0" baseline="0" noProof="0" dirty="0">
                <a:ln>
                  <a:noFill/>
                </a:ln>
                <a:solidFill>
                  <a:srgbClr val="004867"/>
                </a:solidFill>
                <a:effectLst/>
                <a:uLnTx/>
                <a:uFillTx/>
                <a:latin typeface="Roboto" panose="02000000000000000000" pitchFamily="2" charset="0"/>
                <a:ea typeface="+mn-ea"/>
                <a:cs typeface="+mn-cs"/>
              </a:rPr>
              <a:t>Schema </a:t>
            </a:r>
          </a:p>
        </p:txBody>
      </p:sp>
      <p:sp>
        <p:nvSpPr>
          <p:cNvPr id="14" name="TextBox 13">
            <a:extLst>
              <a:ext uri="{FF2B5EF4-FFF2-40B4-BE49-F238E27FC236}">
                <a16:creationId xmlns:a16="http://schemas.microsoft.com/office/drawing/2014/main" id="{04CF02D2-02DF-DC50-15B5-83EFE6F06DEA}"/>
              </a:ext>
            </a:extLst>
          </p:cNvPr>
          <p:cNvSpPr txBox="1"/>
          <p:nvPr/>
        </p:nvSpPr>
        <p:spPr>
          <a:xfrm>
            <a:off x="6315959" y="3024792"/>
            <a:ext cx="5791199" cy="120032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1200" cap="none" spc="0" normalizeH="0" baseline="0" noProof="0" dirty="0">
              <a:ln>
                <a:noFill/>
              </a:ln>
              <a:solidFill>
                <a:srgbClr val="004867"/>
              </a:solidFill>
              <a:effectLst/>
              <a:uLnTx/>
              <a:uFillTx/>
              <a:latin typeface="Roboto" panose="02000000000000000000" pitchFamily="2"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333333"/>
                </a:solidFill>
                <a:effectLst/>
                <a:uLnTx/>
                <a:uFillTx/>
                <a:latin typeface="Open Sans" panose="020B0606030504020204" pitchFamily="34" charset="0"/>
                <a:ea typeface="+mn-ea"/>
                <a:cs typeface="Open Sans" panose="020B0606030504020204" pitchFamily="34" charset="0"/>
              </a:rPr>
              <a:t>String properties are unlimited in size and are mapped to an appropriate nullable data type determined by the database provider (e.g. </a:t>
            </a:r>
            <a:r>
              <a:rPr kumimoji="0" lang="en-US" altLang="en-US" sz="1400" b="0" i="0" u="none" strike="noStrike" kern="1200" cap="none" spc="0" normalizeH="0" baseline="0" noProof="0" dirty="0" err="1">
                <a:ln>
                  <a:noFill/>
                </a:ln>
                <a:solidFill>
                  <a:srgbClr val="C7254E"/>
                </a:solidFill>
                <a:effectLst/>
                <a:uLnTx/>
                <a:uFillTx/>
                <a:latin typeface="Menlo"/>
                <a:ea typeface="+mn-ea"/>
                <a:cs typeface="Open Sans" panose="020B0606030504020204" pitchFamily="34" charset="0"/>
              </a:rPr>
              <a:t>nvarchar</a:t>
            </a:r>
            <a:r>
              <a:rPr kumimoji="0" lang="en-US" altLang="en-US" sz="1400" b="0" i="0" u="none" strike="noStrike" kern="1200" cap="none" spc="0" normalizeH="0" baseline="0" noProof="0" dirty="0">
                <a:ln>
                  <a:noFill/>
                </a:ln>
                <a:solidFill>
                  <a:srgbClr val="C7254E"/>
                </a:solidFill>
                <a:effectLst/>
                <a:uLnTx/>
                <a:uFillTx/>
                <a:latin typeface="Menlo"/>
                <a:ea typeface="+mn-ea"/>
                <a:cs typeface="Open Sans" panose="020B0606030504020204" pitchFamily="34" charset="0"/>
              </a:rPr>
              <a:t>(MAX)</a:t>
            </a:r>
            <a:r>
              <a:rPr kumimoji="0" lang="en-US" altLang="en-US" sz="1400" b="0" i="0" u="none" strike="noStrike" kern="1200" cap="none" spc="0" normalizeH="0" baseline="0" noProof="0" dirty="0">
                <a:ln>
                  <a:noFill/>
                </a:ln>
                <a:solidFill>
                  <a:srgbClr val="333333"/>
                </a:solidFill>
                <a:effectLst/>
                <a:uLnTx/>
                <a:uFillTx/>
                <a:latin typeface="Open Sans" panose="020B0606030504020204" pitchFamily="34" charset="0"/>
                <a:ea typeface="+mn-ea"/>
                <a:cs typeface="Open Sans" panose="020B0606030504020204" pitchFamily="34" charset="0"/>
              </a:rPr>
              <a:t> in SQL Server). All other types are decided by the database provider. </a:t>
            </a:r>
            <a:endPar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6" name="TextBox 15">
            <a:extLst>
              <a:ext uri="{FF2B5EF4-FFF2-40B4-BE49-F238E27FC236}">
                <a16:creationId xmlns:a16="http://schemas.microsoft.com/office/drawing/2014/main" id="{7F4BBE7F-B6EE-F61E-B2B0-DD15E46AA3FC}"/>
              </a:ext>
            </a:extLst>
          </p:cNvPr>
          <p:cNvSpPr txBox="1"/>
          <p:nvPr/>
        </p:nvSpPr>
        <p:spPr>
          <a:xfrm>
            <a:off x="6485641" y="1555752"/>
            <a:ext cx="5621517" cy="40011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4867"/>
                </a:solidFill>
                <a:effectLst/>
                <a:latin typeface="Roboto" panose="02000000000000000000" pitchFamily="2" charset="0"/>
              </a:rPr>
              <a:t>Columns </a:t>
            </a:r>
          </a:p>
        </p:txBody>
      </p:sp>
      <p:sp>
        <p:nvSpPr>
          <p:cNvPr id="18" name="TextBox 17">
            <a:extLst>
              <a:ext uri="{FF2B5EF4-FFF2-40B4-BE49-F238E27FC236}">
                <a16:creationId xmlns:a16="http://schemas.microsoft.com/office/drawing/2014/main" id="{296FAACB-902B-91AF-C1C1-E1CC414EFC0F}"/>
              </a:ext>
            </a:extLst>
          </p:cNvPr>
          <p:cNvSpPr txBox="1"/>
          <p:nvPr/>
        </p:nvSpPr>
        <p:spPr>
          <a:xfrm>
            <a:off x="6315959" y="1813690"/>
            <a:ext cx="6103856" cy="73866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rgbClr val="004867"/>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EF Core will map entity properties to database columns with the same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name.</a:t>
            </a:r>
          </a:p>
        </p:txBody>
      </p:sp>
      <p:sp>
        <p:nvSpPr>
          <p:cNvPr id="20" name="TextBox 19">
            <a:extLst>
              <a:ext uri="{FF2B5EF4-FFF2-40B4-BE49-F238E27FC236}">
                <a16:creationId xmlns:a16="http://schemas.microsoft.com/office/drawing/2014/main" id="{FA203F43-42F8-4E25-89DF-5AA53CCC1CE7}"/>
              </a:ext>
            </a:extLst>
          </p:cNvPr>
          <p:cNvSpPr txBox="1"/>
          <p:nvPr/>
        </p:nvSpPr>
        <p:spPr>
          <a:xfrm>
            <a:off x="6400801" y="2733364"/>
            <a:ext cx="4666268"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4867"/>
                </a:solidFill>
                <a:effectLst/>
                <a:uLnTx/>
                <a:uFillTx/>
                <a:latin typeface="Roboto" panose="02000000000000000000" pitchFamily="2" charset="0"/>
                <a:ea typeface="+mn-ea"/>
                <a:cs typeface="+mn-cs"/>
              </a:rPr>
              <a:t>Data Types </a:t>
            </a:r>
          </a:p>
        </p:txBody>
      </p:sp>
    </p:spTree>
    <p:extLst>
      <p:ext uri="{BB962C8B-B14F-4D97-AF65-F5344CB8AC3E}">
        <p14:creationId xmlns:p14="http://schemas.microsoft.com/office/powerpoint/2010/main" val="41390464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9170FBB-F914-A219-8CE5-5B19C1B15DEF}"/>
              </a:ext>
            </a:extLst>
          </p:cNvPr>
          <p:cNvSpPr txBox="1"/>
          <p:nvPr/>
        </p:nvSpPr>
        <p:spPr>
          <a:xfrm>
            <a:off x="115479" y="0"/>
            <a:ext cx="5550030" cy="307777"/>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US" sz="1400" b="0" i="0" dirty="0">
                <a:solidFill>
                  <a:srgbClr val="004867"/>
                </a:solidFill>
                <a:effectLst/>
                <a:latin typeface="Roboto" panose="02000000000000000000" pitchFamily="2" charset="0"/>
              </a:rPr>
              <a:t>Entity Framework Core One To Many Relationships Conventions</a:t>
            </a:r>
          </a:p>
        </p:txBody>
      </p:sp>
      <p:sp>
        <p:nvSpPr>
          <p:cNvPr id="7" name="TextBox 6">
            <a:extLst>
              <a:ext uri="{FF2B5EF4-FFF2-40B4-BE49-F238E27FC236}">
                <a16:creationId xmlns:a16="http://schemas.microsoft.com/office/drawing/2014/main" id="{192BD319-A9D1-36CF-095F-F5CC2357AB46}"/>
              </a:ext>
            </a:extLst>
          </p:cNvPr>
          <p:cNvSpPr txBox="1"/>
          <p:nvPr/>
        </p:nvSpPr>
        <p:spPr>
          <a:xfrm>
            <a:off x="84843" y="343972"/>
            <a:ext cx="6094428" cy="1815882"/>
          </a:xfrm>
          <a:prstGeom prst="rect">
            <a:avLst/>
          </a:prstGeom>
          <a:noFill/>
        </p:spPr>
        <p:txBody>
          <a:bodyPr wrap="square">
            <a:spAutoFit/>
          </a:bodyPr>
          <a:lstStyle/>
          <a:p>
            <a:r>
              <a:rPr lang="en-US" sz="1400" b="0" i="0" dirty="0">
                <a:solidFill>
                  <a:srgbClr val="333333"/>
                </a:solidFill>
                <a:effectLst/>
                <a:latin typeface="Open Sans" panose="020B0606030504020204" pitchFamily="34" charset="0"/>
              </a:rPr>
              <a:t>The easiest way to configure a one-to-many relationship is by convention. EF Core will create a relationship if an entity contains a </a:t>
            </a:r>
            <a:r>
              <a:rPr lang="en-US" sz="1400" b="1" i="0" u="sng" dirty="0">
                <a:solidFill>
                  <a:srgbClr val="000000"/>
                </a:solidFill>
                <a:effectLst/>
                <a:latin typeface="Open Sans" panose="020B0606030504020204" pitchFamily="34" charset="0"/>
              </a:rPr>
              <a:t>navigation</a:t>
            </a:r>
            <a:r>
              <a:rPr lang="en-US" sz="1400" b="0" i="0" dirty="0">
                <a:solidFill>
                  <a:srgbClr val="333333"/>
                </a:solidFill>
                <a:effectLst/>
                <a:latin typeface="Open Sans" panose="020B0606030504020204" pitchFamily="34" charset="0"/>
              </a:rPr>
              <a:t>The easiest way to configure a one-to-many relationship is by convention. EF Core will create a relationship if an entity contains a </a:t>
            </a:r>
            <a:r>
              <a:rPr lang="en-US" sz="1400" b="1" i="0" u="sng" dirty="0">
                <a:solidFill>
                  <a:srgbClr val="000000"/>
                </a:solidFill>
                <a:effectLst/>
                <a:latin typeface="Open Sans" panose="020B0606030504020204" pitchFamily="34" charset="0"/>
              </a:rPr>
              <a:t>navigation property</a:t>
            </a:r>
            <a:r>
              <a:rPr lang="en-US" sz="1400" b="0" i="0" dirty="0">
                <a:solidFill>
                  <a:srgbClr val="333333"/>
                </a:solidFill>
                <a:effectLst/>
                <a:latin typeface="Open Sans" panose="020B0606030504020204" pitchFamily="34" charset="0"/>
              </a:rPr>
              <a:t>. Therefore, the minimum required for a relationship is the presence of a navigation property in the principal entity: </a:t>
            </a:r>
            <a:r>
              <a:rPr lang="en-US" sz="1400" b="1" i="0" u="sng" dirty="0">
                <a:solidFill>
                  <a:srgbClr val="000000"/>
                </a:solidFill>
                <a:effectLst/>
                <a:latin typeface="Open Sans" panose="020B0606030504020204" pitchFamily="34" charset="0"/>
              </a:rPr>
              <a:t>property</a:t>
            </a:r>
            <a:r>
              <a:rPr lang="en-US" sz="1400" b="0" i="0" dirty="0">
                <a:solidFill>
                  <a:srgbClr val="333333"/>
                </a:solidFill>
                <a:effectLst/>
                <a:latin typeface="Open Sans" panose="020B0606030504020204" pitchFamily="34" charset="0"/>
              </a:rPr>
              <a:t>. Therefore, the minimum required for a relationship is the presence of a navigation property in the principal entity:</a:t>
            </a:r>
            <a:endParaRPr lang="en-IN" sz="1400" dirty="0"/>
          </a:p>
        </p:txBody>
      </p:sp>
      <p:sp>
        <p:nvSpPr>
          <p:cNvPr id="8" name="Rectangle 1">
            <a:extLst>
              <a:ext uri="{FF2B5EF4-FFF2-40B4-BE49-F238E27FC236}">
                <a16:creationId xmlns:a16="http://schemas.microsoft.com/office/drawing/2014/main" id="{BCC36A82-1146-4F7B-2E6E-B277EF09F2CF}"/>
              </a:ext>
            </a:extLst>
          </p:cNvPr>
          <p:cNvSpPr>
            <a:spLocks noChangeArrowheads="1"/>
          </p:cNvSpPr>
          <p:nvPr/>
        </p:nvSpPr>
        <p:spPr bwMode="auto">
          <a:xfrm>
            <a:off x="115479" y="2159854"/>
            <a:ext cx="6636470" cy="3077766"/>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class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highlight>
                  <a:srgbClr val="FFFF00"/>
                </a:highlight>
                <a:latin typeface="Menlo"/>
              </a:rPr>
              <a:t>Author</a:t>
            </a:r>
            <a:endParaRPr kumimoji="0" lang="en-US" altLang="en-US" sz="1400" b="0" i="0" u="none" strike="noStrike" cap="none" normalizeH="0" baseline="0" dirty="0">
              <a:ln>
                <a:noFill/>
              </a:ln>
              <a:solidFill>
                <a:srgbClr val="333333"/>
              </a:solidFill>
              <a:effectLst/>
              <a:highlight>
                <a:srgbClr val="FFFF00"/>
              </a:highligh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int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AuthorId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FirstName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LastName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ICollection</a:t>
            </a:r>
            <a:r>
              <a:rPr kumimoji="0" lang="en-US" altLang="en-US" sz="1400" b="0" i="0" u="none" strike="noStrike" cap="none" normalizeH="0" baseline="0" dirty="0">
                <a:ln>
                  <a:noFill/>
                </a:ln>
                <a:solidFill>
                  <a:srgbClr val="666600"/>
                </a:solidFill>
                <a:effectLst/>
                <a:latin typeface="Menlo"/>
              </a:rPr>
              <a:t>&lt;</a:t>
            </a:r>
            <a:r>
              <a:rPr kumimoji="0" lang="en-US" altLang="en-US" sz="1400" b="0" i="0" u="none" strike="noStrike" cap="none" normalizeH="0" baseline="0" dirty="0">
                <a:ln>
                  <a:noFill/>
                </a:ln>
                <a:solidFill>
                  <a:srgbClr val="555555"/>
                </a:solidFill>
                <a:effectLst/>
                <a:latin typeface="Menlo"/>
              </a:rPr>
              <a:t>Book</a:t>
            </a:r>
            <a:r>
              <a:rPr kumimoji="0" lang="en-US" altLang="en-US" sz="1400" b="0" i="0" u="none" strike="noStrike" cap="none" normalizeH="0" baseline="0" dirty="0">
                <a:ln>
                  <a:noFill/>
                </a:ln>
                <a:solidFill>
                  <a:srgbClr val="666600"/>
                </a:solidFill>
                <a:effectLst/>
                <a:latin typeface="Menlo"/>
              </a:rPr>
              <a:t>&gt;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highlight>
                  <a:srgbClr val="FFFF00"/>
                </a:highlight>
                <a:latin typeface="Menlo"/>
              </a:rPr>
              <a:t>Books</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class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Book</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0"/>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1"/>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int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BookId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2"/>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Title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3"/>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2">
            <a:extLst>
              <a:ext uri="{FF2B5EF4-FFF2-40B4-BE49-F238E27FC236}">
                <a16:creationId xmlns:a16="http://schemas.microsoft.com/office/drawing/2014/main" id="{4D4114A1-7832-A99A-BB11-E27A263C5553}"/>
              </a:ext>
            </a:extLst>
          </p:cNvPr>
          <p:cNvSpPr>
            <a:spLocks noChangeArrowheads="1"/>
          </p:cNvSpPr>
          <p:nvPr/>
        </p:nvSpPr>
        <p:spPr bwMode="auto">
          <a:xfrm>
            <a:off x="273379" y="5164826"/>
            <a:ext cx="5905892" cy="1600438"/>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a:t>
            </a:r>
            <a:r>
              <a:rPr kumimoji="0" lang="en-US" altLang="en-US" sz="1400" b="0" i="0" u="none" strike="noStrike" cap="none" normalizeH="0" baseline="0" dirty="0">
                <a:ln>
                  <a:noFill/>
                </a:ln>
                <a:solidFill>
                  <a:srgbClr val="333333"/>
                </a:solidFill>
                <a:effectLst/>
                <a:highlight>
                  <a:srgbClr val="FFFF00"/>
                </a:highlight>
                <a:latin typeface="Open Sans" panose="020B0606030504020204" pitchFamily="34" charset="0"/>
                <a:cs typeface="Open Sans" panose="020B0606030504020204" pitchFamily="34" charset="0"/>
              </a:rPr>
              <a:t>navigation property </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in this example is the </a:t>
            </a:r>
            <a:r>
              <a:rPr kumimoji="0" lang="en-US" altLang="en-US" sz="1400" b="0" i="0" u="none" strike="noStrike" cap="none" normalizeH="0" baseline="0" dirty="0">
                <a:ln>
                  <a:noFill/>
                </a:ln>
                <a:solidFill>
                  <a:srgbClr val="C7254E"/>
                </a:solidFill>
                <a:effectLst/>
                <a:highlight>
                  <a:srgbClr val="FFFF00"/>
                </a:highlight>
                <a:latin typeface="Menlo"/>
              </a:rPr>
              <a:t>Books</a:t>
            </a:r>
            <a:r>
              <a:rPr kumimoji="0" lang="en-US" altLang="en-US" sz="1400" b="0" i="0" u="none" strike="noStrike" cap="none" normalizeH="0" baseline="0" dirty="0">
                <a:ln>
                  <a:noFill/>
                </a:ln>
                <a:solidFill>
                  <a:srgbClr val="333333"/>
                </a:solidFill>
                <a:effectLst/>
                <a:highlight>
                  <a:srgbClr val="FFFF00"/>
                </a:highlight>
                <a:latin typeface="Open Sans" panose="020B0606030504020204" pitchFamily="34" charset="0"/>
                <a:cs typeface="Open Sans" panose="020B0606030504020204" pitchFamily="34" charset="0"/>
              </a:rPr>
              <a:t> </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property in the </a:t>
            </a:r>
            <a:r>
              <a:rPr kumimoji="0" lang="en-US" altLang="en-US" sz="1400" b="0" i="0" u="none" strike="noStrike" cap="none" normalizeH="0" baseline="0" dirty="0">
                <a:ln>
                  <a:noFill/>
                </a:ln>
                <a:solidFill>
                  <a:srgbClr val="C7254E"/>
                </a:solidFill>
                <a:effectLst/>
                <a:latin typeface="Menlo"/>
              </a:rPr>
              <a:t>Author</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entity. It cannot be mapped to an equivalent data type within the database. EF Core will generate a </a:t>
            </a:r>
            <a:r>
              <a:rPr kumimoji="0" lang="en-US" altLang="en-US" sz="1400" b="1" i="0" u="sng" strike="noStrike" cap="none" normalizeH="0" baseline="0" dirty="0">
                <a:ln>
                  <a:noFill/>
                </a:ln>
                <a:solidFill>
                  <a:srgbClr val="000000"/>
                </a:solidFill>
                <a:effectLst/>
                <a:latin typeface="Open Sans" panose="020B0606030504020204" pitchFamily="34" charset="0"/>
                <a:cs typeface="Open Sans" panose="020B0606030504020204" pitchFamily="34" charset="0"/>
              </a:rPr>
              <a:t>shadow property</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for the foreign key named </a:t>
            </a:r>
            <a:r>
              <a:rPr kumimoji="0" lang="en-US" altLang="en-US" sz="1400" b="0" i="0" u="none" strike="noStrike" cap="none" normalizeH="0" baseline="0" dirty="0" err="1">
                <a:ln>
                  <a:noFill/>
                </a:ln>
                <a:solidFill>
                  <a:srgbClr val="C7254E"/>
                </a:solidFill>
                <a:effectLst/>
                <a:highlight>
                  <a:srgbClr val="FFFF00"/>
                </a:highlight>
                <a:latin typeface="Menlo"/>
              </a:rPr>
              <a:t>AuthorId</a:t>
            </a:r>
            <a:r>
              <a:rPr kumimoji="0" lang="en-US" altLang="en-US" sz="1400" b="0" i="0" u="none" strike="noStrike" cap="none" normalizeH="0" baseline="0" dirty="0">
                <a:ln>
                  <a:noFill/>
                </a:ln>
                <a:solidFill>
                  <a:srgbClr val="333333"/>
                </a:solidFill>
                <a:effectLst/>
                <a:highlight>
                  <a:srgbClr val="FFFF00"/>
                </a:highlight>
                <a:latin typeface="Open Sans" panose="020B0606030504020204" pitchFamily="34" charset="0"/>
                <a:cs typeface="Open Sans" panose="020B0606030504020204" pitchFamily="34" charset="0"/>
              </a:rPr>
              <a:t>,</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which will map to a </a:t>
            </a:r>
            <a:r>
              <a:rPr kumimoji="0" lang="en-US" altLang="en-US" sz="1400" b="0" i="0" u="none" strike="noStrike" cap="none" normalizeH="0" baseline="0" dirty="0">
                <a:ln>
                  <a:noFill/>
                </a:ln>
                <a:solidFill>
                  <a:srgbClr val="333333"/>
                </a:solidFill>
                <a:effectLst/>
                <a:highlight>
                  <a:srgbClr val="FFFF00"/>
                </a:highlight>
                <a:latin typeface="Open Sans" panose="020B0606030504020204" pitchFamily="34" charset="0"/>
                <a:cs typeface="Open Sans" panose="020B0606030504020204" pitchFamily="34" charset="0"/>
              </a:rPr>
              <a:t>nullable </a:t>
            </a:r>
            <a:r>
              <a:rPr kumimoji="0" lang="en-US" altLang="en-US" sz="1400" b="0" i="0" u="none" strike="noStrike" cap="none" normalizeH="0" baseline="0" dirty="0" err="1">
                <a:ln>
                  <a:noFill/>
                </a:ln>
                <a:solidFill>
                  <a:srgbClr val="C7254E"/>
                </a:solidFill>
                <a:effectLst/>
                <a:highlight>
                  <a:srgbClr val="FFFF00"/>
                </a:highlight>
                <a:latin typeface="Menlo"/>
              </a:rPr>
              <a:t>AuthorId</a:t>
            </a:r>
            <a:r>
              <a:rPr kumimoji="0" lang="en-US" altLang="en-US" sz="1400" b="0" i="0" u="none" strike="noStrike" cap="none" normalizeH="0" baseline="0" dirty="0">
                <a:ln>
                  <a:noFill/>
                </a:ln>
                <a:solidFill>
                  <a:srgbClr val="333333"/>
                </a:solidFill>
                <a:effectLst/>
                <a:highlight>
                  <a:srgbClr val="FFFF00"/>
                </a:highlight>
                <a:latin typeface="Open Sans" panose="020B0606030504020204" pitchFamily="34" charset="0"/>
                <a:cs typeface="Open Sans" panose="020B0606030504020204" pitchFamily="34" charset="0"/>
              </a:rPr>
              <a:t> foreign key column in the Books </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table in the database. Here is a snippet of the </a:t>
            </a:r>
            <a:r>
              <a:rPr kumimoji="0" lang="en-US" altLang="en-US" sz="1400" b="0" i="0" u="none" strike="noStrike" cap="none" normalizeH="0" baseline="0" dirty="0">
                <a:ln>
                  <a:noFill/>
                </a:ln>
                <a:solidFill>
                  <a:srgbClr val="C7254E"/>
                </a:solidFill>
                <a:effectLst/>
                <a:latin typeface="Menlo"/>
              </a:rPr>
              <a:t>Up</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method in a corresponding Migration class:</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10" name="Rectangle 3">
            <a:extLst>
              <a:ext uri="{FF2B5EF4-FFF2-40B4-BE49-F238E27FC236}">
                <a16:creationId xmlns:a16="http://schemas.microsoft.com/office/drawing/2014/main" id="{DB24DF43-DCE8-5C92-1EAB-D0A0D233685C}"/>
              </a:ext>
            </a:extLst>
          </p:cNvPr>
          <p:cNvSpPr>
            <a:spLocks noChangeArrowheads="1"/>
          </p:cNvSpPr>
          <p:nvPr/>
        </p:nvSpPr>
        <p:spPr bwMode="auto">
          <a:xfrm>
            <a:off x="6286106" y="0"/>
            <a:ext cx="5790415" cy="4524315"/>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0" i="0" u="none" strike="noStrike" cap="none" normalizeH="0" baseline="0" dirty="0" err="1">
                <a:ln>
                  <a:noFill/>
                </a:ln>
                <a:solidFill>
                  <a:srgbClr val="000000"/>
                </a:solidFill>
                <a:effectLst/>
                <a:latin typeface="Menlo"/>
              </a:rPr>
              <a:t>migrationBuilder</a:t>
            </a:r>
            <a:r>
              <a:rPr kumimoji="0" lang="en-US" altLang="en-US" sz="1400" b="0" i="0" u="none" strike="noStrike" cap="none" normalizeH="0" baseline="0" dirty="0" err="1">
                <a:ln>
                  <a:noFill/>
                </a:ln>
                <a:solidFill>
                  <a:srgbClr val="666600"/>
                </a:solidFill>
                <a:effectLst/>
                <a:latin typeface="Menlo"/>
              </a:rPr>
              <a:t>.</a:t>
            </a:r>
            <a:r>
              <a:rPr kumimoji="0" lang="en-US" altLang="en-US" sz="1400" b="0" i="0" u="none" strike="noStrike" cap="none" normalizeH="0" baseline="0" dirty="0" err="1">
                <a:ln>
                  <a:noFill/>
                </a:ln>
                <a:solidFill>
                  <a:srgbClr val="555555"/>
                </a:solidFill>
                <a:effectLst/>
                <a:latin typeface="Menlo"/>
              </a:rPr>
              <a:t>CreateTable</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0" i="0" u="none" strike="noStrike" cap="none" normalizeH="0" baseline="0" dirty="0">
                <a:ln>
                  <a:noFill/>
                </a:ln>
                <a:solidFill>
                  <a:srgbClr val="000000"/>
                </a:solidFill>
                <a:effectLst/>
                <a:latin typeface="Menlo"/>
              </a:rPr>
              <a:t>name</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A52A2A"/>
                </a:solidFill>
                <a:effectLst/>
                <a:latin typeface="Menlo"/>
              </a:rPr>
              <a:t>"Books"</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0" i="0" u="none" strike="noStrike" cap="none" normalizeH="0" baseline="0" dirty="0">
                <a:ln>
                  <a:noFill/>
                </a:ln>
                <a:solidFill>
                  <a:srgbClr val="000000"/>
                </a:solidFill>
                <a:effectLst/>
                <a:latin typeface="Menlo"/>
              </a:rPr>
              <a:t>columns</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table </a:t>
            </a:r>
            <a:r>
              <a:rPr kumimoji="0" lang="en-US" altLang="en-US" sz="1400" b="0" i="0" u="none" strike="noStrike" cap="none" normalizeH="0" baseline="0" dirty="0">
                <a:ln>
                  <a:noFill/>
                </a:ln>
                <a:solidFill>
                  <a:srgbClr val="666600"/>
                </a:solidFill>
                <a:effectLst/>
                <a:latin typeface="Menlo"/>
              </a:rPr>
              <a:t>=&gt;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new</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400" b="0" i="0" u="none" strike="noStrike" cap="none" normalizeH="0" baseline="0" dirty="0" err="1">
                <a:ln>
                  <a:noFill/>
                </a:ln>
                <a:solidFill>
                  <a:srgbClr val="555555"/>
                </a:solidFill>
                <a:effectLst/>
                <a:latin typeface="Menlo"/>
              </a:rPr>
              <a:t>BookId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000000"/>
                </a:solidFill>
                <a:effectLst/>
                <a:latin typeface="Menlo"/>
              </a:rPr>
              <a:t>table</a:t>
            </a:r>
            <a:r>
              <a:rPr kumimoji="0" lang="en-US" altLang="en-US" sz="1400" b="0" i="0" u="none" strike="noStrike" cap="none" normalizeH="0" baseline="0" dirty="0" err="1">
                <a:ln>
                  <a:noFill/>
                </a:ln>
                <a:solidFill>
                  <a:srgbClr val="666600"/>
                </a:solidFill>
                <a:effectLst/>
                <a:latin typeface="Menlo"/>
              </a:rPr>
              <a:t>.</a:t>
            </a:r>
            <a:r>
              <a:rPr kumimoji="0" lang="en-US" altLang="en-US" sz="1400" b="0" i="0" u="none" strike="noStrike" cap="none" normalizeH="0" baseline="0" dirty="0" err="1">
                <a:ln>
                  <a:noFill/>
                </a:ln>
                <a:solidFill>
                  <a:srgbClr val="555555"/>
                </a:solidFill>
                <a:effectLst/>
                <a:latin typeface="Menlo"/>
              </a:rPr>
              <a:t>Column</a:t>
            </a:r>
            <a:r>
              <a:rPr kumimoji="0" lang="en-US" altLang="en-US" sz="1400" b="0" i="0" u="none" strike="noStrike" cap="none" normalizeH="0" baseline="0" dirty="0">
                <a:ln>
                  <a:noFill/>
                </a:ln>
                <a:solidFill>
                  <a:srgbClr val="A52A2A"/>
                </a:solidFill>
                <a:effectLst/>
                <a:latin typeface="Menlo"/>
              </a:rPr>
              <a:t>&lt;int&gt;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nullable</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false</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555555"/>
                </a:solidFill>
                <a:effectLst/>
                <a:latin typeface="Menlo"/>
              </a:rPr>
              <a:t>Annotation</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A52A2A"/>
                </a:solidFill>
                <a:effectLst/>
                <a:latin typeface="Menlo"/>
              </a:rPr>
              <a:t>"</a:t>
            </a:r>
            <a:r>
              <a:rPr kumimoji="0" lang="en-US" altLang="en-US" sz="1400" b="0" i="0" u="none" strike="noStrike" cap="none" normalizeH="0" baseline="0" dirty="0" err="1">
                <a:ln>
                  <a:noFill/>
                </a:ln>
                <a:solidFill>
                  <a:srgbClr val="A52A2A"/>
                </a:solidFill>
                <a:effectLst/>
                <a:latin typeface="Menlo"/>
              </a:rPr>
              <a:t>SqlServer:ValueGenerationStrategy</a:t>
            </a:r>
            <a:r>
              <a:rPr kumimoji="0" lang="en-US" altLang="en-US" sz="1400" b="0" i="0" u="none" strike="noStrike" cap="none" normalizeH="0" baseline="0" dirty="0">
                <a:ln>
                  <a:noFill/>
                </a:ln>
                <a:solidFill>
                  <a:srgbClr val="A52A2A"/>
                </a:solidFill>
                <a:effectLst/>
                <a:latin typeface="Menlo"/>
              </a:rPr>
              <a: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SqlServerValueGenerationStrategy</a:t>
            </a:r>
            <a:r>
              <a:rPr kumimoji="0" lang="en-US" altLang="en-US" sz="1400" b="0" i="0" u="none" strike="noStrike" cap="none" normalizeH="0" baseline="0" dirty="0" err="1">
                <a:ln>
                  <a:noFill/>
                </a:ln>
                <a:solidFill>
                  <a:srgbClr val="666600"/>
                </a:solidFill>
                <a:effectLst/>
                <a:latin typeface="Menlo"/>
              </a:rPr>
              <a:t>.</a:t>
            </a:r>
            <a:r>
              <a:rPr kumimoji="0" lang="en-US" altLang="en-US" sz="1400" b="0" i="0" u="none" strike="noStrike" cap="none" normalizeH="0" baseline="0" dirty="0" err="1">
                <a:ln>
                  <a:noFill/>
                </a:ln>
                <a:solidFill>
                  <a:srgbClr val="555555"/>
                </a:solidFill>
                <a:effectLst/>
                <a:latin typeface="Menlo"/>
              </a:rPr>
              <a:t>IdentityColumn</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400" b="0" i="0" u="none" strike="noStrike" cap="none" normalizeH="0" baseline="0" dirty="0" err="1">
                <a:ln>
                  <a:noFill/>
                </a:ln>
                <a:solidFill>
                  <a:srgbClr val="555555"/>
                </a:solidFill>
                <a:effectLst/>
                <a:latin typeface="Menlo"/>
              </a:rPr>
              <a:t>AuthorId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000000"/>
                </a:solidFill>
                <a:effectLst/>
                <a:latin typeface="Menlo"/>
              </a:rPr>
              <a:t>table</a:t>
            </a:r>
            <a:r>
              <a:rPr kumimoji="0" lang="en-US" altLang="en-US" sz="1400" b="0" i="0" u="none" strike="noStrike" cap="none" normalizeH="0" baseline="0" dirty="0" err="1">
                <a:ln>
                  <a:noFill/>
                </a:ln>
                <a:solidFill>
                  <a:srgbClr val="666600"/>
                </a:solidFill>
                <a:effectLst/>
                <a:latin typeface="Menlo"/>
              </a:rPr>
              <a:t>.</a:t>
            </a:r>
            <a:r>
              <a:rPr kumimoji="0" lang="en-US" altLang="en-US" sz="1400" b="0" i="0" u="none" strike="noStrike" cap="none" normalizeH="0" baseline="0" dirty="0" err="1">
                <a:ln>
                  <a:noFill/>
                </a:ln>
                <a:solidFill>
                  <a:srgbClr val="555555"/>
                </a:solidFill>
                <a:effectLst/>
                <a:latin typeface="Menlo"/>
              </a:rPr>
              <a:t>Column</a:t>
            </a:r>
            <a:r>
              <a:rPr kumimoji="0" lang="en-US" altLang="en-US" sz="1400" b="0" i="0" u="none" strike="noStrike" cap="none" normalizeH="0" baseline="0" dirty="0">
                <a:ln>
                  <a:noFill/>
                </a:ln>
                <a:solidFill>
                  <a:srgbClr val="A52A2A"/>
                </a:solidFill>
                <a:effectLst/>
                <a:latin typeface="Menlo"/>
              </a:rPr>
              <a:t>&lt;int&gt;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nullable</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true</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1400" b="0" i="0" u="none" strike="noStrike" cap="none" normalizeH="0" baseline="0" dirty="0">
                <a:ln>
                  <a:noFill/>
                </a:ln>
                <a:solidFill>
                  <a:srgbClr val="555555"/>
                </a:solidFill>
                <a:effectLst/>
                <a:latin typeface="Menlo"/>
              </a:rPr>
              <a:t>Title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000000"/>
                </a:solidFill>
                <a:effectLst/>
                <a:latin typeface="Menlo"/>
              </a:rPr>
              <a:t>table</a:t>
            </a:r>
            <a:r>
              <a:rPr kumimoji="0" lang="en-US" altLang="en-US" sz="1400" b="0" i="0" u="none" strike="noStrike" cap="none" normalizeH="0" baseline="0" dirty="0" err="1">
                <a:ln>
                  <a:noFill/>
                </a:ln>
                <a:solidFill>
                  <a:srgbClr val="666600"/>
                </a:solidFill>
                <a:effectLst/>
                <a:latin typeface="Menlo"/>
              </a:rPr>
              <a:t>.</a:t>
            </a:r>
            <a:r>
              <a:rPr kumimoji="0" lang="en-US" altLang="en-US" sz="1400" b="0" i="0" u="none" strike="noStrike" cap="none" normalizeH="0" baseline="0" dirty="0" err="1">
                <a:ln>
                  <a:noFill/>
                </a:ln>
                <a:solidFill>
                  <a:srgbClr val="555555"/>
                </a:solidFill>
                <a:effectLst/>
                <a:latin typeface="Menlo"/>
              </a:rPr>
              <a:t>Column</a:t>
            </a:r>
            <a:r>
              <a:rPr kumimoji="0" lang="en-US" altLang="en-US" sz="1400" b="0" i="0" u="none" strike="noStrike" cap="none" normalizeH="0" baseline="0" dirty="0">
                <a:ln>
                  <a:noFill/>
                </a:ln>
                <a:solidFill>
                  <a:srgbClr val="A52A2A"/>
                </a:solidFill>
                <a:effectLst/>
                <a:latin typeface="Menlo"/>
              </a:rPr>
              <a:t>&lt;string&gt;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nullable</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true</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0"/>
              <a:tabLst/>
            </a:pPr>
            <a:r>
              <a:rPr kumimoji="0" lang="en-US" altLang="en-US" sz="1400" b="0" i="0" u="none" strike="noStrike" cap="none" normalizeH="0" baseline="0" dirty="0">
                <a:ln>
                  <a:noFill/>
                </a:ln>
                <a:solidFill>
                  <a:srgbClr val="000000"/>
                </a:solidFill>
                <a:effectLst/>
                <a:latin typeface="Menlo"/>
              </a:rPr>
              <a:t>constraints</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table </a:t>
            </a:r>
            <a:r>
              <a:rPr kumimoji="0" lang="en-US" altLang="en-US" sz="1400" b="0" i="0" u="none" strike="noStrike" cap="none" normalizeH="0" baseline="0" dirty="0">
                <a:ln>
                  <a:noFill/>
                </a:ln>
                <a:solidFill>
                  <a:srgbClr val="666600"/>
                </a:solidFill>
                <a:effectLst/>
                <a:latin typeface="Menlo"/>
              </a:rPr>
              <a:t>=&gt;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1"/>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2"/>
              <a:tabLst/>
            </a:pPr>
            <a:r>
              <a:rPr kumimoji="0" lang="en-US" altLang="en-US" sz="1400" b="0" i="0" u="none" strike="noStrike" cap="none" normalizeH="0" baseline="0" dirty="0" err="1">
                <a:ln>
                  <a:noFill/>
                </a:ln>
                <a:solidFill>
                  <a:srgbClr val="000000"/>
                </a:solidFill>
                <a:effectLst/>
                <a:latin typeface="Menlo"/>
              </a:rPr>
              <a:t>table</a:t>
            </a:r>
            <a:r>
              <a:rPr kumimoji="0" lang="en-US" altLang="en-US" sz="1400" b="0" i="0" u="none" strike="noStrike" cap="none" normalizeH="0" baseline="0" dirty="0" err="1">
                <a:ln>
                  <a:noFill/>
                </a:ln>
                <a:solidFill>
                  <a:srgbClr val="666600"/>
                </a:solidFill>
                <a:effectLst/>
                <a:latin typeface="Menlo"/>
              </a:rPr>
              <a:t>.</a:t>
            </a:r>
            <a:r>
              <a:rPr kumimoji="0" lang="en-US" altLang="en-US" sz="1400" b="0" i="0" u="none" strike="noStrike" cap="none" normalizeH="0" baseline="0" dirty="0" err="1">
                <a:ln>
                  <a:noFill/>
                </a:ln>
                <a:solidFill>
                  <a:srgbClr val="555555"/>
                </a:solidFill>
                <a:effectLst/>
                <a:latin typeface="Menlo"/>
              </a:rPr>
              <a:t>PrimaryKey</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A52A2A"/>
                </a:solidFill>
                <a:effectLst/>
                <a:latin typeface="Menlo"/>
              </a:rPr>
              <a:t>"</a:t>
            </a:r>
            <a:r>
              <a:rPr kumimoji="0" lang="en-US" altLang="en-US" sz="1400" b="0" i="0" u="none" strike="noStrike" cap="none" normalizeH="0" baseline="0" dirty="0" err="1">
                <a:ln>
                  <a:noFill/>
                </a:ln>
                <a:solidFill>
                  <a:srgbClr val="A52A2A"/>
                </a:solidFill>
                <a:effectLst/>
                <a:latin typeface="Menlo"/>
              </a:rPr>
              <a:t>PK_Books</a:t>
            </a:r>
            <a:r>
              <a:rPr kumimoji="0" lang="en-US" altLang="en-US" sz="1400" b="0" i="0" u="none" strike="noStrike" cap="none" normalizeH="0" baseline="0" dirty="0">
                <a:ln>
                  <a:noFill/>
                </a:ln>
                <a:solidFill>
                  <a:srgbClr val="A52A2A"/>
                </a:solidFill>
                <a:effectLst/>
                <a:latin typeface="Menlo"/>
              </a:rPr>
              <a: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x </a:t>
            </a:r>
            <a:r>
              <a:rPr kumimoji="0" lang="en-US" altLang="en-US" sz="1400" b="0" i="0" u="none" strike="noStrike" cap="none" normalizeH="0" baseline="0" dirty="0">
                <a:ln>
                  <a:noFill/>
                </a:ln>
                <a:solidFill>
                  <a:srgbClr val="666600"/>
                </a:solidFill>
                <a:effectLst/>
                <a:latin typeface="Menlo"/>
              </a:rPr>
              <a:t>=&gt;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000000"/>
                </a:solidFill>
                <a:effectLst/>
                <a:latin typeface="Menlo"/>
              </a:rPr>
              <a:t>x</a:t>
            </a:r>
            <a:r>
              <a:rPr kumimoji="0" lang="en-US" altLang="en-US" sz="1400" b="0" i="0" u="none" strike="noStrike" cap="none" normalizeH="0" baseline="0" dirty="0" err="1">
                <a:ln>
                  <a:noFill/>
                </a:ln>
                <a:solidFill>
                  <a:srgbClr val="666600"/>
                </a:solidFill>
                <a:effectLst/>
                <a:latin typeface="Menlo"/>
              </a:rPr>
              <a:t>.</a:t>
            </a:r>
            <a:r>
              <a:rPr kumimoji="0" lang="en-US" altLang="en-US" sz="1400" b="0" i="0" u="none" strike="noStrike" cap="none" normalizeH="0" baseline="0" dirty="0" err="1">
                <a:ln>
                  <a:noFill/>
                </a:ln>
                <a:solidFill>
                  <a:srgbClr val="555555"/>
                </a:solidFill>
                <a:effectLst/>
                <a:latin typeface="Menlo"/>
              </a:rPr>
              <a:t>BookId</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3"/>
              <a:tabLst/>
            </a:pPr>
            <a:r>
              <a:rPr kumimoji="0" lang="en-US" altLang="en-US" sz="1400" b="0" i="0" u="none" strike="noStrike" cap="none" normalizeH="0" baseline="0" dirty="0" err="1">
                <a:ln>
                  <a:noFill/>
                </a:ln>
                <a:solidFill>
                  <a:srgbClr val="000000"/>
                </a:solidFill>
                <a:effectLst/>
                <a:latin typeface="Menlo"/>
              </a:rPr>
              <a:t>table</a:t>
            </a:r>
            <a:r>
              <a:rPr kumimoji="0" lang="en-US" altLang="en-US" sz="1400" b="0" i="0" u="none" strike="noStrike" cap="none" normalizeH="0" baseline="0" dirty="0" err="1">
                <a:ln>
                  <a:noFill/>
                </a:ln>
                <a:solidFill>
                  <a:srgbClr val="666600"/>
                </a:solidFill>
                <a:effectLst/>
                <a:latin typeface="Menlo"/>
              </a:rPr>
              <a:t>.</a:t>
            </a:r>
            <a:r>
              <a:rPr kumimoji="0" lang="en-US" altLang="en-US" sz="1400" b="0" i="0" u="none" strike="noStrike" cap="none" normalizeH="0" baseline="0" dirty="0" err="1">
                <a:ln>
                  <a:noFill/>
                </a:ln>
                <a:solidFill>
                  <a:srgbClr val="555555"/>
                </a:solidFill>
                <a:effectLst/>
                <a:latin typeface="Menlo"/>
              </a:rPr>
              <a:t>ForeignKey</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4"/>
              <a:tabLst/>
            </a:pPr>
            <a:r>
              <a:rPr kumimoji="0" lang="en-US" altLang="en-US" sz="1400" b="0" i="0" u="none" strike="noStrike" cap="none" normalizeH="0" baseline="0" dirty="0">
                <a:ln>
                  <a:noFill/>
                </a:ln>
                <a:solidFill>
                  <a:srgbClr val="000000"/>
                </a:solidFill>
                <a:effectLst/>
                <a:latin typeface="Menlo"/>
              </a:rPr>
              <a:t>name</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A52A2A"/>
                </a:solidFill>
                <a:effectLst/>
                <a:latin typeface="Menlo"/>
              </a:rPr>
              <a:t>"</a:t>
            </a:r>
            <a:r>
              <a:rPr kumimoji="0" lang="en-US" altLang="en-US" sz="1400" b="0" i="0" u="none" strike="noStrike" cap="none" normalizeH="0" baseline="0" dirty="0" err="1">
                <a:ln>
                  <a:noFill/>
                </a:ln>
                <a:solidFill>
                  <a:srgbClr val="A52A2A"/>
                </a:solidFill>
                <a:effectLst/>
                <a:latin typeface="Menlo"/>
              </a:rPr>
              <a:t>FK_Books_Authors_AuthorId</a:t>
            </a:r>
            <a:r>
              <a:rPr kumimoji="0" lang="en-US" altLang="en-US" sz="1400" b="0" i="0" u="none" strike="noStrike" cap="none" normalizeH="0" baseline="0" dirty="0">
                <a:ln>
                  <a:noFill/>
                </a:ln>
                <a:solidFill>
                  <a:srgbClr val="A52A2A"/>
                </a:solidFill>
                <a:effectLst/>
                <a:latin typeface="Menlo"/>
              </a:rPr>
              <a:t>"</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5"/>
              <a:tabLst/>
            </a:pPr>
            <a:r>
              <a:rPr kumimoji="0" lang="en-US" altLang="en-US" sz="1400" b="0" i="0" u="none" strike="noStrike" cap="none" normalizeH="0" baseline="0" dirty="0">
                <a:ln>
                  <a:noFill/>
                </a:ln>
                <a:solidFill>
                  <a:srgbClr val="000000"/>
                </a:solidFill>
                <a:effectLst/>
                <a:latin typeface="Menlo"/>
              </a:rPr>
              <a:t>column</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x </a:t>
            </a:r>
            <a:r>
              <a:rPr kumimoji="0" lang="en-US" altLang="en-US" sz="1400" b="0" i="0" u="none" strike="noStrike" cap="none" normalizeH="0" baseline="0" dirty="0">
                <a:ln>
                  <a:noFill/>
                </a:ln>
                <a:solidFill>
                  <a:srgbClr val="666600"/>
                </a:solidFill>
                <a:effectLst/>
                <a:latin typeface="Menlo"/>
              </a:rPr>
              <a:t>=&gt;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000000"/>
                </a:solidFill>
                <a:effectLst/>
                <a:latin typeface="Menlo"/>
              </a:rPr>
              <a:t>x</a:t>
            </a:r>
            <a:r>
              <a:rPr kumimoji="0" lang="en-US" altLang="en-US" sz="1400" b="0" i="0" u="none" strike="noStrike" cap="none" normalizeH="0" baseline="0" dirty="0" err="1">
                <a:ln>
                  <a:noFill/>
                </a:ln>
                <a:solidFill>
                  <a:srgbClr val="666600"/>
                </a:solidFill>
                <a:effectLst/>
                <a:latin typeface="Menlo"/>
              </a:rPr>
              <a:t>.</a:t>
            </a:r>
            <a:r>
              <a:rPr kumimoji="0" lang="en-US" altLang="en-US" sz="1400" b="0" i="0" u="none" strike="noStrike" cap="none" normalizeH="0" baseline="0" dirty="0" err="1">
                <a:ln>
                  <a:noFill/>
                </a:ln>
                <a:solidFill>
                  <a:srgbClr val="555555"/>
                </a:solidFill>
                <a:effectLst/>
                <a:latin typeface="Menlo"/>
              </a:rPr>
              <a:t>AuthorId</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6"/>
              <a:tabLst/>
            </a:pPr>
            <a:r>
              <a:rPr kumimoji="0" lang="en-US" altLang="en-US" sz="1400" b="0" i="0" u="none" strike="noStrike" cap="none" normalizeH="0" baseline="0" dirty="0" err="1">
                <a:ln>
                  <a:noFill/>
                </a:ln>
                <a:solidFill>
                  <a:srgbClr val="000000"/>
                </a:solidFill>
                <a:effectLst/>
                <a:latin typeface="Menlo"/>
              </a:rPr>
              <a:t>principalTable</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A52A2A"/>
                </a:solidFill>
                <a:effectLst/>
                <a:latin typeface="Menlo"/>
              </a:rPr>
              <a:t>"Authors"</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7"/>
              <a:tabLst/>
            </a:pPr>
            <a:r>
              <a:rPr kumimoji="0" lang="en-US" altLang="en-US" sz="1400" b="0" i="0" u="none" strike="noStrike" cap="none" normalizeH="0" baseline="0" dirty="0" err="1">
                <a:ln>
                  <a:noFill/>
                </a:ln>
                <a:solidFill>
                  <a:srgbClr val="000000"/>
                </a:solidFill>
                <a:effectLst/>
                <a:latin typeface="Menlo"/>
              </a:rPr>
              <a:t>principalColumn</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A52A2A"/>
                </a:solidFill>
                <a:effectLst/>
                <a:latin typeface="Menlo"/>
              </a:rPr>
              <a:t>"</a:t>
            </a:r>
            <a:r>
              <a:rPr kumimoji="0" lang="en-US" altLang="en-US" sz="1400" b="0" i="0" u="none" strike="noStrike" cap="none" normalizeH="0" baseline="0" dirty="0" err="1">
                <a:ln>
                  <a:noFill/>
                </a:ln>
                <a:solidFill>
                  <a:srgbClr val="A52A2A"/>
                </a:solidFill>
                <a:effectLst/>
                <a:latin typeface="Menlo"/>
              </a:rPr>
              <a:t>AuthorId</a:t>
            </a:r>
            <a:r>
              <a:rPr kumimoji="0" lang="en-US" altLang="en-US" sz="1400" b="0" i="0" u="none" strike="noStrike" cap="none" normalizeH="0" baseline="0" dirty="0">
                <a:ln>
                  <a:noFill/>
                </a:ln>
                <a:solidFill>
                  <a:srgbClr val="A52A2A"/>
                </a:solidFill>
                <a:effectLst/>
                <a:latin typeface="Menlo"/>
              </a:rPr>
              <a:t>"</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8"/>
              <a:tabLst/>
            </a:pPr>
            <a:r>
              <a:rPr kumimoji="0" lang="en-US" altLang="en-US" sz="1400" b="1" i="0" u="none" strike="noStrike" cap="none" normalizeH="0" baseline="0" dirty="0" err="1">
                <a:ln>
                  <a:noFill/>
                </a:ln>
                <a:solidFill>
                  <a:srgbClr val="000000"/>
                </a:solidFill>
                <a:effectLst/>
                <a:highlight>
                  <a:srgbClr val="FFFF00"/>
                </a:highlight>
                <a:latin typeface="Menlo"/>
              </a:rPr>
              <a:t>onDelete</a:t>
            </a:r>
            <a:r>
              <a:rPr kumimoji="0" lang="en-US" altLang="en-US" sz="1400" b="1" i="0" u="none" strike="noStrike" cap="none" normalizeH="0" baseline="0" dirty="0">
                <a:ln>
                  <a:noFill/>
                </a:ln>
                <a:solidFill>
                  <a:srgbClr val="666600"/>
                </a:solidFill>
                <a:effectLst/>
                <a:highlight>
                  <a:srgbClr val="FFFF00"/>
                </a:highlight>
                <a:latin typeface="Menlo"/>
              </a:rPr>
              <a:t>:</a:t>
            </a:r>
            <a:r>
              <a:rPr kumimoji="0" lang="en-US" altLang="en-US" sz="1400" b="1" i="0" u="none" strike="noStrike" cap="none" normalizeH="0" baseline="0" dirty="0">
                <a:ln>
                  <a:noFill/>
                </a:ln>
                <a:solidFill>
                  <a:srgbClr val="000000"/>
                </a:solidFill>
                <a:effectLst/>
                <a:highlight>
                  <a:srgbClr val="FFFF00"/>
                </a:highlight>
                <a:latin typeface="Menlo"/>
              </a:rPr>
              <a:t> </a:t>
            </a:r>
            <a:r>
              <a:rPr kumimoji="0" lang="en-US" altLang="en-US" sz="1400" b="1" i="0" u="none" strike="noStrike" cap="none" normalizeH="0" baseline="0" dirty="0" err="1">
                <a:ln>
                  <a:noFill/>
                </a:ln>
                <a:solidFill>
                  <a:srgbClr val="555555"/>
                </a:solidFill>
                <a:effectLst/>
                <a:highlight>
                  <a:srgbClr val="FFFF00"/>
                </a:highlight>
                <a:latin typeface="Menlo"/>
              </a:rPr>
              <a:t>ReferentialAction</a:t>
            </a:r>
            <a:r>
              <a:rPr kumimoji="0" lang="en-US" altLang="en-US" sz="1400" b="1" i="0" u="none" strike="noStrike" cap="none" normalizeH="0" baseline="0" dirty="0" err="1">
                <a:ln>
                  <a:noFill/>
                </a:ln>
                <a:solidFill>
                  <a:srgbClr val="666600"/>
                </a:solidFill>
                <a:effectLst/>
                <a:highlight>
                  <a:srgbClr val="FFFF00"/>
                </a:highlight>
                <a:latin typeface="Menlo"/>
              </a:rPr>
              <a:t>.</a:t>
            </a:r>
            <a:r>
              <a:rPr kumimoji="0" lang="en-US" altLang="en-US" sz="1400" b="1" i="0" u="none" strike="noStrike" cap="none" normalizeH="0" baseline="0" dirty="0" err="1">
                <a:ln>
                  <a:noFill/>
                </a:ln>
                <a:solidFill>
                  <a:srgbClr val="555555"/>
                </a:solidFill>
                <a:effectLst/>
                <a:highlight>
                  <a:srgbClr val="FFFF00"/>
                </a:highlight>
                <a:latin typeface="Menlo"/>
              </a:rPr>
              <a:t>Restrict</a:t>
            </a:r>
            <a:r>
              <a:rPr kumimoji="0" lang="en-US" altLang="en-US" sz="1400" b="1" i="0" u="none" strike="noStrike" cap="none" normalizeH="0" baseline="0" dirty="0">
                <a:ln>
                  <a:noFill/>
                </a:ln>
                <a:solidFill>
                  <a:srgbClr val="666600"/>
                </a:solidFill>
                <a:effectLst/>
                <a:highlight>
                  <a:srgbClr val="FFFF00"/>
                </a:highlight>
                <a:latin typeface="Menlo"/>
              </a:rPr>
              <a:t>);</a:t>
            </a:r>
            <a:endParaRPr kumimoji="0" lang="en-US" altLang="en-US" sz="1400" b="1" i="0" u="none" strike="noStrike" cap="none" normalizeH="0" baseline="0" dirty="0">
              <a:ln>
                <a:noFill/>
              </a:ln>
              <a:solidFill>
                <a:srgbClr val="333333"/>
              </a:solidFill>
              <a:effectLst/>
              <a:highlight>
                <a:srgbClr val="FFFF00"/>
              </a:highligh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9"/>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701334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93F715A-2D6B-4E8E-B0ED-F5C3E7477A5D}"/>
              </a:ext>
            </a:extLst>
          </p:cNvPr>
          <p:cNvSpPr txBox="1"/>
          <p:nvPr/>
        </p:nvSpPr>
        <p:spPr>
          <a:xfrm>
            <a:off x="6521776" y="397890"/>
            <a:ext cx="5284508" cy="138499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400" b="0" i="0" dirty="0">
                <a:solidFill>
                  <a:srgbClr val="004867"/>
                </a:solidFill>
                <a:effectLst/>
                <a:latin typeface="Roboto" panose="02000000000000000000" pitchFamily="2" charset="0"/>
              </a:rPr>
              <a:t>On Delete/Update Restrict </a:t>
            </a:r>
          </a:p>
          <a:p>
            <a:r>
              <a:rPr lang="en-US" sz="1400" dirty="0"/>
              <a:t>For the majority of relational database systems, RESTRICT is equivalent to NO ACTION. Where RESTRICT is specifically implemented by a database system, the difference is that RESTRICT results in the constraint being checked </a:t>
            </a:r>
            <a:r>
              <a:rPr lang="en-US" sz="1400" dirty="0">
                <a:highlight>
                  <a:srgbClr val="FFFF00"/>
                </a:highlight>
              </a:rPr>
              <a:t>at the start of processing </a:t>
            </a:r>
            <a:r>
              <a:rPr lang="en-US" sz="1400" dirty="0"/>
              <a:t>instead of </a:t>
            </a:r>
            <a:r>
              <a:rPr lang="en-US" sz="1400" dirty="0">
                <a:highlight>
                  <a:srgbClr val="FFFF00"/>
                </a:highlight>
              </a:rPr>
              <a:t>at the end</a:t>
            </a:r>
            <a:r>
              <a:rPr lang="en-US" sz="1400" dirty="0"/>
              <a:t>, which is the case with NO ACTION</a:t>
            </a:r>
            <a:endParaRPr lang="en-IN" sz="1400" dirty="0"/>
          </a:p>
        </p:txBody>
      </p:sp>
      <p:sp>
        <p:nvSpPr>
          <p:cNvPr id="8" name="TextBox 7">
            <a:extLst>
              <a:ext uri="{FF2B5EF4-FFF2-40B4-BE49-F238E27FC236}">
                <a16:creationId xmlns:a16="http://schemas.microsoft.com/office/drawing/2014/main" id="{B073A00B-CE9C-3FB6-C584-AD41E2BDD076}"/>
              </a:ext>
            </a:extLst>
          </p:cNvPr>
          <p:cNvSpPr txBox="1"/>
          <p:nvPr/>
        </p:nvSpPr>
        <p:spPr>
          <a:xfrm>
            <a:off x="292231" y="388933"/>
            <a:ext cx="6059078" cy="1384995"/>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400" b="0" i="0" dirty="0">
                <a:solidFill>
                  <a:srgbClr val="004867"/>
                </a:solidFill>
                <a:effectLst/>
                <a:latin typeface="Roboto" panose="02000000000000000000" pitchFamily="2" charset="0"/>
              </a:rPr>
              <a:t>On Delete/Update No Action </a:t>
            </a:r>
          </a:p>
          <a:p>
            <a:r>
              <a:rPr lang="en-US" sz="1400" dirty="0"/>
              <a:t>This is the </a:t>
            </a:r>
            <a:r>
              <a:rPr lang="en-US" sz="1400" b="1" dirty="0"/>
              <a:t>default option </a:t>
            </a:r>
            <a:r>
              <a:rPr lang="en-US" sz="1400" dirty="0"/>
              <a:t>if ON DELETE or ON UPDATE is </a:t>
            </a:r>
            <a:r>
              <a:rPr lang="en-US" sz="1400" b="1" dirty="0"/>
              <a:t>not specified</a:t>
            </a:r>
            <a:r>
              <a:rPr lang="en-US" sz="1400" dirty="0"/>
              <a:t>. If an attempt is made to </a:t>
            </a:r>
            <a:r>
              <a:rPr lang="en-US" sz="1400" b="1" dirty="0"/>
              <a:t>delete an Author record </a:t>
            </a:r>
            <a:r>
              <a:rPr lang="en-US" sz="1400" dirty="0"/>
              <a:t>that is currently </a:t>
            </a:r>
            <a:r>
              <a:rPr lang="en-US" sz="1400" b="1" dirty="0"/>
              <a:t>referenced by a Book record, </a:t>
            </a:r>
            <a:r>
              <a:rPr lang="en-US" sz="1400" dirty="0"/>
              <a:t>the database will </a:t>
            </a:r>
            <a:r>
              <a:rPr lang="en-US" sz="1400" b="1" dirty="0"/>
              <a:t>raise an error </a:t>
            </a:r>
            <a:r>
              <a:rPr lang="en-US" sz="1400" dirty="0"/>
              <a:t>and the delete will be rolled back. The same will happen if an attempt is made to alter the primary key value of an Author record that is being used as a foreign key in a Book record.</a:t>
            </a:r>
            <a:endParaRPr lang="en-IN" sz="1400" dirty="0"/>
          </a:p>
        </p:txBody>
      </p:sp>
      <p:graphicFrame>
        <p:nvGraphicFramePr>
          <p:cNvPr id="9" name="Table 9">
            <a:extLst>
              <a:ext uri="{FF2B5EF4-FFF2-40B4-BE49-F238E27FC236}">
                <a16:creationId xmlns:a16="http://schemas.microsoft.com/office/drawing/2014/main" id="{83378172-485C-D7B4-6DBB-3681945EB239}"/>
              </a:ext>
            </a:extLst>
          </p:cNvPr>
          <p:cNvGraphicFramePr>
            <a:graphicFrameLocks noGrp="1"/>
          </p:cNvGraphicFramePr>
          <p:nvPr>
            <p:extLst>
              <p:ext uri="{D42A27DB-BD31-4B8C-83A1-F6EECF244321}">
                <p14:modId xmlns:p14="http://schemas.microsoft.com/office/powerpoint/2010/main" val="458303357"/>
              </p:ext>
            </p:extLst>
          </p:nvPr>
        </p:nvGraphicFramePr>
        <p:xfrm>
          <a:off x="636833" y="2802989"/>
          <a:ext cx="3001914" cy="1900988"/>
        </p:xfrm>
        <a:graphic>
          <a:graphicData uri="http://schemas.openxmlformats.org/drawingml/2006/table">
            <a:tbl>
              <a:tblPr firstRow="1" bandRow="1">
                <a:tableStyleId>{5C22544A-7EE6-4342-B048-85BDC9FD1C3A}</a:tableStyleId>
              </a:tblPr>
              <a:tblGrid>
                <a:gridCol w="1500957">
                  <a:extLst>
                    <a:ext uri="{9D8B030D-6E8A-4147-A177-3AD203B41FA5}">
                      <a16:colId xmlns:a16="http://schemas.microsoft.com/office/drawing/2014/main" val="2742854361"/>
                    </a:ext>
                  </a:extLst>
                </a:gridCol>
                <a:gridCol w="1500957">
                  <a:extLst>
                    <a:ext uri="{9D8B030D-6E8A-4147-A177-3AD203B41FA5}">
                      <a16:colId xmlns:a16="http://schemas.microsoft.com/office/drawing/2014/main" val="2810734728"/>
                    </a:ext>
                  </a:extLst>
                </a:gridCol>
              </a:tblGrid>
              <a:tr h="475247">
                <a:tc>
                  <a:txBody>
                    <a:bodyPr/>
                    <a:lstStyle/>
                    <a:p>
                      <a:r>
                        <a:rPr lang="en-US" dirty="0" err="1"/>
                        <a:t>AuthorID</a:t>
                      </a:r>
                      <a:endParaRPr lang="en-IN" dirty="0"/>
                    </a:p>
                  </a:txBody>
                  <a:tcPr/>
                </a:tc>
                <a:tc>
                  <a:txBody>
                    <a:bodyPr/>
                    <a:lstStyle/>
                    <a:p>
                      <a:r>
                        <a:rPr lang="en-US" dirty="0"/>
                        <a:t>Name</a:t>
                      </a:r>
                      <a:endParaRPr lang="en-IN" dirty="0"/>
                    </a:p>
                  </a:txBody>
                  <a:tcPr/>
                </a:tc>
                <a:extLst>
                  <a:ext uri="{0D108BD9-81ED-4DB2-BD59-A6C34878D82A}">
                    <a16:rowId xmlns:a16="http://schemas.microsoft.com/office/drawing/2014/main" val="3023215084"/>
                  </a:ext>
                </a:extLst>
              </a:tr>
              <a:tr h="475247">
                <a:tc>
                  <a:txBody>
                    <a:bodyPr/>
                    <a:lstStyle/>
                    <a:p>
                      <a:r>
                        <a:rPr lang="en-US" dirty="0"/>
                        <a:t>1</a:t>
                      </a:r>
                      <a:endParaRPr lang="en-IN" dirty="0"/>
                    </a:p>
                  </a:txBody>
                  <a:tcPr/>
                </a:tc>
                <a:tc>
                  <a:txBody>
                    <a:bodyPr/>
                    <a:lstStyle/>
                    <a:p>
                      <a:r>
                        <a:rPr lang="en-US" dirty="0" err="1"/>
                        <a:t>Kanitker</a:t>
                      </a:r>
                      <a:endParaRPr lang="en-IN" dirty="0"/>
                    </a:p>
                  </a:txBody>
                  <a:tcPr/>
                </a:tc>
                <a:extLst>
                  <a:ext uri="{0D108BD9-81ED-4DB2-BD59-A6C34878D82A}">
                    <a16:rowId xmlns:a16="http://schemas.microsoft.com/office/drawing/2014/main" val="1460988839"/>
                  </a:ext>
                </a:extLst>
              </a:tr>
              <a:tr h="475247">
                <a:tc>
                  <a:txBody>
                    <a:bodyPr/>
                    <a:lstStyle/>
                    <a:p>
                      <a:r>
                        <a:rPr lang="en-US" dirty="0"/>
                        <a:t>2</a:t>
                      </a:r>
                      <a:endParaRPr lang="en-IN" dirty="0"/>
                    </a:p>
                  </a:txBody>
                  <a:tcPr/>
                </a:tc>
                <a:tc>
                  <a:txBody>
                    <a:bodyPr/>
                    <a:lstStyle/>
                    <a:p>
                      <a:r>
                        <a:rPr lang="en-IN" sz="1800" b="0" i="0" kern="1200" dirty="0">
                          <a:solidFill>
                            <a:schemeClr val="dk1"/>
                          </a:solidFill>
                          <a:effectLst/>
                          <a:latin typeface="+mn-lt"/>
                          <a:ea typeface="+mn-ea"/>
                          <a:cs typeface="+mn-cs"/>
                        </a:rPr>
                        <a:t>James Gosling</a:t>
                      </a:r>
                      <a:endParaRPr lang="en-IN" dirty="0"/>
                    </a:p>
                  </a:txBody>
                  <a:tcPr/>
                </a:tc>
                <a:extLst>
                  <a:ext uri="{0D108BD9-81ED-4DB2-BD59-A6C34878D82A}">
                    <a16:rowId xmlns:a16="http://schemas.microsoft.com/office/drawing/2014/main" val="1171979884"/>
                  </a:ext>
                </a:extLst>
              </a:tr>
              <a:tr h="475247">
                <a:tc>
                  <a:txBody>
                    <a:bodyPr/>
                    <a:lstStyle/>
                    <a:p>
                      <a:r>
                        <a:rPr lang="en-US" dirty="0"/>
                        <a:t>3</a:t>
                      </a:r>
                      <a:endParaRPr lang="en-IN" dirty="0"/>
                    </a:p>
                  </a:txBody>
                  <a:tcPr/>
                </a:tc>
                <a:tc>
                  <a:txBody>
                    <a:bodyPr/>
                    <a:lstStyle/>
                    <a:p>
                      <a:endParaRPr lang="en-IN" dirty="0"/>
                    </a:p>
                  </a:txBody>
                  <a:tcPr/>
                </a:tc>
                <a:extLst>
                  <a:ext uri="{0D108BD9-81ED-4DB2-BD59-A6C34878D82A}">
                    <a16:rowId xmlns:a16="http://schemas.microsoft.com/office/drawing/2014/main" val="2314118682"/>
                  </a:ext>
                </a:extLst>
              </a:tr>
            </a:tbl>
          </a:graphicData>
        </a:graphic>
      </p:graphicFrame>
      <p:graphicFrame>
        <p:nvGraphicFramePr>
          <p:cNvPr id="10" name="Table 10">
            <a:extLst>
              <a:ext uri="{FF2B5EF4-FFF2-40B4-BE49-F238E27FC236}">
                <a16:creationId xmlns:a16="http://schemas.microsoft.com/office/drawing/2014/main" id="{FD96BCEF-8765-11FD-19B9-B419F6CD34CB}"/>
              </a:ext>
            </a:extLst>
          </p:cNvPr>
          <p:cNvGraphicFramePr>
            <a:graphicFrameLocks noGrp="1"/>
          </p:cNvGraphicFramePr>
          <p:nvPr>
            <p:extLst>
              <p:ext uri="{D42A27DB-BD31-4B8C-83A1-F6EECF244321}">
                <p14:modId xmlns:p14="http://schemas.microsoft.com/office/powerpoint/2010/main" val="369870989"/>
              </p:ext>
            </p:extLst>
          </p:nvPr>
        </p:nvGraphicFramePr>
        <p:xfrm>
          <a:off x="5482211" y="3148553"/>
          <a:ext cx="4359372" cy="1771296"/>
        </p:xfrm>
        <a:graphic>
          <a:graphicData uri="http://schemas.openxmlformats.org/drawingml/2006/table">
            <a:tbl>
              <a:tblPr firstRow="1" bandRow="1">
                <a:tableStyleId>{5C22544A-7EE6-4342-B048-85BDC9FD1C3A}</a:tableStyleId>
              </a:tblPr>
              <a:tblGrid>
                <a:gridCol w="1453124">
                  <a:extLst>
                    <a:ext uri="{9D8B030D-6E8A-4147-A177-3AD203B41FA5}">
                      <a16:colId xmlns:a16="http://schemas.microsoft.com/office/drawing/2014/main" val="1041517587"/>
                    </a:ext>
                  </a:extLst>
                </a:gridCol>
                <a:gridCol w="1453124">
                  <a:extLst>
                    <a:ext uri="{9D8B030D-6E8A-4147-A177-3AD203B41FA5}">
                      <a16:colId xmlns:a16="http://schemas.microsoft.com/office/drawing/2014/main" val="2579100924"/>
                    </a:ext>
                  </a:extLst>
                </a:gridCol>
                <a:gridCol w="1453124">
                  <a:extLst>
                    <a:ext uri="{9D8B030D-6E8A-4147-A177-3AD203B41FA5}">
                      <a16:colId xmlns:a16="http://schemas.microsoft.com/office/drawing/2014/main" val="1056377050"/>
                    </a:ext>
                  </a:extLst>
                </a:gridCol>
              </a:tblGrid>
              <a:tr h="565608">
                <a:tc>
                  <a:txBody>
                    <a:bodyPr/>
                    <a:lstStyle/>
                    <a:p>
                      <a:r>
                        <a:rPr lang="en-US" dirty="0"/>
                        <a:t>Book Id</a:t>
                      </a:r>
                      <a:endParaRPr lang="en-IN" dirty="0"/>
                    </a:p>
                  </a:txBody>
                  <a:tcPr/>
                </a:tc>
                <a:tc>
                  <a:txBody>
                    <a:bodyPr/>
                    <a:lstStyle/>
                    <a:p>
                      <a:r>
                        <a:rPr lang="en-US" dirty="0"/>
                        <a:t>Title</a:t>
                      </a:r>
                      <a:endParaRPr lang="en-IN" dirty="0"/>
                    </a:p>
                  </a:txBody>
                  <a:tcPr/>
                </a:tc>
                <a:tc>
                  <a:txBody>
                    <a:bodyPr/>
                    <a:lstStyle/>
                    <a:p>
                      <a:r>
                        <a:rPr lang="en-US" dirty="0" err="1"/>
                        <a:t>AuthorId</a:t>
                      </a:r>
                      <a:endParaRPr lang="en-IN" dirty="0"/>
                    </a:p>
                  </a:txBody>
                  <a:tcPr/>
                </a:tc>
                <a:extLst>
                  <a:ext uri="{0D108BD9-81ED-4DB2-BD59-A6C34878D82A}">
                    <a16:rowId xmlns:a16="http://schemas.microsoft.com/office/drawing/2014/main" val="4123493924"/>
                  </a:ext>
                </a:extLst>
              </a:tr>
              <a:tr h="565608">
                <a:tc>
                  <a:txBody>
                    <a:bodyPr/>
                    <a:lstStyle/>
                    <a:p>
                      <a:r>
                        <a:rPr lang="en-US" dirty="0"/>
                        <a:t>100</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Java</a:t>
                      </a:r>
                      <a:endParaRPr lang="en-IN" dirty="0"/>
                    </a:p>
                    <a:p>
                      <a:endParaRPr lang="en-IN" dirty="0"/>
                    </a:p>
                  </a:txBody>
                  <a:tcPr/>
                </a:tc>
                <a:tc>
                  <a:txBody>
                    <a:bodyPr/>
                    <a:lstStyle/>
                    <a:p>
                      <a:r>
                        <a:rPr lang="en-US" dirty="0"/>
                        <a:t>2</a:t>
                      </a:r>
                      <a:endParaRPr lang="en-IN" dirty="0"/>
                    </a:p>
                  </a:txBody>
                  <a:tcPr/>
                </a:tc>
                <a:extLst>
                  <a:ext uri="{0D108BD9-81ED-4DB2-BD59-A6C34878D82A}">
                    <a16:rowId xmlns:a16="http://schemas.microsoft.com/office/drawing/2014/main" val="4039088113"/>
                  </a:ext>
                </a:extLst>
              </a:tr>
              <a:tr h="565608">
                <a:tc>
                  <a:txBody>
                    <a:bodyPr/>
                    <a:lstStyle/>
                    <a:p>
                      <a:r>
                        <a:rPr lang="en-US" dirty="0"/>
                        <a:t>200</a:t>
                      </a:r>
                      <a:endParaRPr lang="en-IN" dirty="0"/>
                    </a:p>
                  </a:txBody>
                  <a:tcPr/>
                </a:tc>
                <a:tc>
                  <a:txBody>
                    <a:bodyPr/>
                    <a:lstStyle/>
                    <a:p>
                      <a:r>
                        <a:rPr lang="en-US" dirty="0" err="1"/>
                        <a:t>Letus</a:t>
                      </a:r>
                      <a:r>
                        <a:rPr lang="en-US" dirty="0"/>
                        <a:t> C</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2229684369"/>
                  </a:ext>
                </a:extLst>
              </a:tr>
            </a:tbl>
          </a:graphicData>
        </a:graphic>
      </p:graphicFrame>
      <p:cxnSp>
        <p:nvCxnSpPr>
          <p:cNvPr id="12" name="Straight Connector 11">
            <a:extLst>
              <a:ext uri="{FF2B5EF4-FFF2-40B4-BE49-F238E27FC236}">
                <a16:creationId xmlns:a16="http://schemas.microsoft.com/office/drawing/2014/main" id="{C1E1D609-2771-C999-392F-74CAAFD930C3}"/>
              </a:ext>
            </a:extLst>
          </p:cNvPr>
          <p:cNvCxnSpPr/>
          <p:nvPr/>
        </p:nvCxnSpPr>
        <p:spPr>
          <a:xfrm>
            <a:off x="622169" y="3516198"/>
            <a:ext cx="2469823" cy="0"/>
          </a:xfrm>
          <a:prstGeom prst="line">
            <a:avLst/>
          </a:prstGeom>
        </p:spPr>
        <p:style>
          <a:lnRef idx="3">
            <a:schemeClr val="accent2"/>
          </a:lnRef>
          <a:fillRef idx="0">
            <a:schemeClr val="accent2"/>
          </a:fillRef>
          <a:effectRef idx="2">
            <a:schemeClr val="accent2"/>
          </a:effectRef>
          <a:fontRef idx="minor">
            <a:schemeClr val="tx1"/>
          </a:fontRef>
        </p:style>
      </p:cxnSp>
      <p:sp>
        <p:nvSpPr>
          <p:cNvPr id="14" name="Freeform: Shape 13">
            <a:extLst>
              <a:ext uri="{FF2B5EF4-FFF2-40B4-BE49-F238E27FC236}">
                <a16:creationId xmlns:a16="http://schemas.microsoft.com/office/drawing/2014/main" id="{8F805F95-C065-87CF-9783-05844D302BFA}"/>
              </a:ext>
            </a:extLst>
          </p:cNvPr>
          <p:cNvSpPr/>
          <p:nvPr/>
        </p:nvSpPr>
        <p:spPr>
          <a:xfrm>
            <a:off x="207390" y="3516909"/>
            <a:ext cx="10729348" cy="2941134"/>
          </a:xfrm>
          <a:custGeom>
            <a:avLst/>
            <a:gdLst>
              <a:gd name="connsiteX0" fmla="*/ 499620 w 10729348"/>
              <a:gd name="connsiteY0" fmla="*/ 18143 h 2941134"/>
              <a:gd name="connsiteX1" fmla="*/ 216816 w 10729348"/>
              <a:gd name="connsiteY1" fmla="*/ 27569 h 2941134"/>
              <a:gd name="connsiteX2" fmla="*/ 75414 w 10729348"/>
              <a:gd name="connsiteY2" fmla="*/ 159545 h 2941134"/>
              <a:gd name="connsiteX3" fmla="*/ 37707 w 10729348"/>
              <a:gd name="connsiteY3" fmla="*/ 263239 h 2941134"/>
              <a:gd name="connsiteX4" fmla="*/ 0 w 10729348"/>
              <a:gd name="connsiteY4" fmla="*/ 536617 h 2941134"/>
              <a:gd name="connsiteX5" fmla="*/ 103695 w 10729348"/>
              <a:gd name="connsiteY5" fmla="*/ 904262 h 2941134"/>
              <a:gd name="connsiteX6" fmla="*/ 641022 w 10729348"/>
              <a:gd name="connsiteY6" fmla="*/ 1865796 h 2941134"/>
              <a:gd name="connsiteX7" fmla="*/ 1168923 w 10729348"/>
              <a:gd name="connsiteY7" fmla="*/ 2374844 h 2941134"/>
              <a:gd name="connsiteX8" fmla="*/ 1517715 w 10729348"/>
              <a:gd name="connsiteY8" fmla="*/ 2506819 h 2941134"/>
              <a:gd name="connsiteX9" fmla="*/ 2620651 w 10729348"/>
              <a:gd name="connsiteY9" fmla="*/ 2770769 h 2941134"/>
              <a:gd name="connsiteX10" fmla="*/ 3167406 w 10729348"/>
              <a:gd name="connsiteY10" fmla="*/ 2836757 h 2941134"/>
              <a:gd name="connsiteX11" fmla="*/ 3808429 w 10729348"/>
              <a:gd name="connsiteY11" fmla="*/ 2931025 h 2941134"/>
              <a:gd name="connsiteX12" fmla="*/ 4468305 w 10729348"/>
              <a:gd name="connsiteY12" fmla="*/ 2940452 h 2941134"/>
              <a:gd name="connsiteX13" fmla="*/ 7899662 w 10729348"/>
              <a:gd name="connsiteY13" fmla="*/ 2931025 h 2941134"/>
              <a:gd name="connsiteX14" fmla="*/ 9304255 w 10729348"/>
              <a:gd name="connsiteY14" fmla="*/ 2742489 h 2941134"/>
              <a:gd name="connsiteX15" fmla="*/ 9756742 w 10729348"/>
              <a:gd name="connsiteY15" fmla="*/ 2582233 h 2941134"/>
              <a:gd name="connsiteX16" fmla="*/ 10407191 w 10729348"/>
              <a:gd name="connsiteY16" fmla="*/ 2026052 h 2941134"/>
              <a:gd name="connsiteX17" fmla="*/ 10520313 w 10729348"/>
              <a:gd name="connsiteY17" fmla="*/ 1828089 h 2941134"/>
              <a:gd name="connsiteX18" fmla="*/ 10671142 w 10729348"/>
              <a:gd name="connsiteY18" fmla="*/ 1469870 h 2941134"/>
              <a:gd name="connsiteX19" fmla="*/ 10699422 w 10729348"/>
              <a:gd name="connsiteY19" fmla="*/ 1385029 h 2941134"/>
              <a:gd name="connsiteX20" fmla="*/ 10708849 w 10729348"/>
              <a:gd name="connsiteY20" fmla="*/ 1281334 h 2941134"/>
              <a:gd name="connsiteX21" fmla="*/ 10727703 w 10729348"/>
              <a:gd name="connsiteY21" fmla="*/ 1234200 h 2941134"/>
              <a:gd name="connsiteX22" fmla="*/ 10444899 w 10729348"/>
              <a:gd name="connsiteY22" fmla="*/ 1149359 h 2941134"/>
              <a:gd name="connsiteX23" fmla="*/ 9426804 w 10729348"/>
              <a:gd name="connsiteY23" fmla="*/ 1130505 h 2941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729348" h="2941134">
                <a:moveTo>
                  <a:pt x="499620" y="18143"/>
                </a:moveTo>
                <a:cubicBezTo>
                  <a:pt x="395544" y="-2673"/>
                  <a:pt x="368438" y="-12566"/>
                  <a:pt x="216816" y="27569"/>
                </a:cubicBezTo>
                <a:cubicBezTo>
                  <a:pt x="170377" y="39862"/>
                  <a:pt x="105748" y="124156"/>
                  <a:pt x="75414" y="159545"/>
                </a:cubicBezTo>
                <a:cubicBezTo>
                  <a:pt x="62845" y="194110"/>
                  <a:pt x="44920" y="227174"/>
                  <a:pt x="37707" y="263239"/>
                </a:cubicBezTo>
                <a:cubicBezTo>
                  <a:pt x="19667" y="353441"/>
                  <a:pt x="0" y="536617"/>
                  <a:pt x="0" y="536617"/>
                </a:cubicBezTo>
                <a:cubicBezTo>
                  <a:pt x="18605" y="607317"/>
                  <a:pt x="77461" y="839247"/>
                  <a:pt x="103695" y="904262"/>
                </a:cubicBezTo>
                <a:cubicBezTo>
                  <a:pt x="223822" y="1201968"/>
                  <a:pt x="459781" y="1648307"/>
                  <a:pt x="641022" y="1865796"/>
                </a:cubicBezTo>
                <a:cubicBezTo>
                  <a:pt x="825316" y="2086949"/>
                  <a:pt x="910416" y="2230384"/>
                  <a:pt x="1168923" y="2374844"/>
                </a:cubicBezTo>
                <a:cubicBezTo>
                  <a:pt x="1277437" y="2435484"/>
                  <a:pt x="1400047" y="2466734"/>
                  <a:pt x="1517715" y="2506819"/>
                </a:cubicBezTo>
                <a:cubicBezTo>
                  <a:pt x="2032389" y="2682147"/>
                  <a:pt x="2061703" y="2687620"/>
                  <a:pt x="2620651" y="2770769"/>
                </a:cubicBezTo>
                <a:cubicBezTo>
                  <a:pt x="2802227" y="2797780"/>
                  <a:pt x="2985480" y="2812211"/>
                  <a:pt x="3167406" y="2836757"/>
                </a:cubicBezTo>
                <a:cubicBezTo>
                  <a:pt x="3381439" y="2865635"/>
                  <a:pt x="3593139" y="2913864"/>
                  <a:pt x="3808429" y="2931025"/>
                </a:cubicBezTo>
                <a:cubicBezTo>
                  <a:pt x="4027715" y="2948504"/>
                  <a:pt x="4248346" y="2937310"/>
                  <a:pt x="4468305" y="2940452"/>
                </a:cubicBezTo>
                <a:lnTo>
                  <a:pt x="7899662" y="2931025"/>
                </a:lnTo>
                <a:cubicBezTo>
                  <a:pt x="8119469" y="2925202"/>
                  <a:pt x="9006888" y="2787094"/>
                  <a:pt x="9304255" y="2742489"/>
                </a:cubicBezTo>
                <a:cubicBezTo>
                  <a:pt x="9455084" y="2689070"/>
                  <a:pt x="9630013" y="2679920"/>
                  <a:pt x="9756742" y="2582233"/>
                </a:cubicBezTo>
                <a:cubicBezTo>
                  <a:pt x="9969860" y="2417955"/>
                  <a:pt x="10235845" y="2249322"/>
                  <a:pt x="10407191" y="2026052"/>
                </a:cubicBezTo>
                <a:cubicBezTo>
                  <a:pt x="10453462" y="1965759"/>
                  <a:pt x="10485696" y="1895749"/>
                  <a:pt x="10520313" y="1828089"/>
                </a:cubicBezTo>
                <a:cubicBezTo>
                  <a:pt x="10586181" y="1699347"/>
                  <a:pt x="10623711" y="1601623"/>
                  <a:pt x="10671142" y="1469870"/>
                </a:cubicBezTo>
                <a:cubicBezTo>
                  <a:pt x="10681239" y="1441822"/>
                  <a:pt x="10689995" y="1413309"/>
                  <a:pt x="10699422" y="1385029"/>
                </a:cubicBezTo>
                <a:cubicBezTo>
                  <a:pt x="10702564" y="1350464"/>
                  <a:pt x="10702453" y="1315447"/>
                  <a:pt x="10708849" y="1281334"/>
                </a:cubicBezTo>
                <a:cubicBezTo>
                  <a:pt x="10711968" y="1264702"/>
                  <a:pt x="10735726" y="1249099"/>
                  <a:pt x="10727703" y="1234200"/>
                </a:cubicBezTo>
                <a:cubicBezTo>
                  <a:pt x="10665305" y="1118317"/>
                  <a:pt x="10555266" y="1154615"/>
                  <a:pt x="10444899" y="1149359"/>
                </a:cubicBezTo>
                <a:cubicBezTo>
                  <a:pt x="10072173" y="1087237"/>
                  <a:pt x="10407451" y="1140119"/>
                  <a:pt x="9426804" y="113050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ight Triangle 14">
            <a:extLst>
              <a:ext uri="{FF2B5EF4-FFF2-40B4-BE49-F238E27FC236}">
                <a16:creationId xmlns:a16="http://schemas.microsoft.com/office/drawing/2014/main" id="{1840D456-401D-A7D7-AB8B-29981842D1F4}"/>
              </a:ext>
            </a:extLst>
          </p:cNvPr>
          <p:cNvSpPr/>
          <p:nvPr/>
        </p:nvSpPr>
        <p:spPr>
          <a:xfrm rot="2749426">
            <a:off x="9559325" y="4538879"/>
            <a:ext cx="404454" cy="330197"/>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4303B771-8C48-A606-B093-374F44AEF014}"/>
              </a:ext>
            </a:extLst>
          </p:cNvPr>
          <p:cNvSpPr txBox="1"/>
          <p:nvPr/>
        </p:nvSpPr>
        <p:spPr>
          <a:xfrm>
            <a:off x="3048786" y="5733038"/>
            <a:ext cx="6094428"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800" dirty="0"/>
              <a:t>to </a:t>
            </a:r>
            <a:r>
              <a:rPr lang="en-US" sz="1800" b="1" dirty="0"/>
              <a:t>delete an Author record </a:t>
            </a:r>
            <a:r>
              <a:rPr lang="en-US" sz="1800" dirty="0"/>
              <a:t>that is currently </a:t>
            </a:r>
            <a:r>
              <a:rPr lang="en-US" sz="1800" b="1" dirty="0"/>
              <a:t>referenced by a Book record, </a:t>
            </a:r>
            <a:r>
              <a:rPr lang="en-US" sz="1800" dirty="0"/>
              <a:t>the database will </a:t>
            </a:r>
            <a:r>
              <a:rPr lang="en-US" sz="1800" b="1" dirty="0"/>
              <a:t>raise an error</a:t>
            </a:r>
            <a:endParaRPr lang="en-IN" dirty="0"/>
          </a:p>
        </p:txBody>
      </p:sp>
    </p:spTree>
    <p:extLst>
      <p:ext uri="{BB962C8B-B14F-4D97-AF65-F5344CB8AC3E}">
        <p14:creationId xmlns:p14="http://schemas.microsoft.com/office/powerpoint/2010/main" val="3201262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4604777-C581-1F66-5894-4586F2B5283F}"/>
              </a:ext>
            </a:extLst>
          </p:cNvPr>
          <p:cNvSpPr txBox="1"/>
          <p:nvPr/>
        </p:nvSpPr>
        <p:spPr>
          <a:xfrm>
            <a:off x="68345" y="57079"/>
            <a:ext cx="5550031" cy="163121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600" b="0" i="0" dirty="0">
                <a:solidFill>
                  <a:srgbClr val="004867"/>
                </a:solidFill>
                <a:effectLst/>
                <a:latin typeface="Roboto" panose="02000000000000000000" pitchFamily="2" charset="0"/>
              </a:rPr>
              <a:t>On Delete/Update Set Null</a:t>
            </a:r>
          </a:p>
          <a:p>
            <a:endParaRPr lang="en-US" sz="1400" dirty="0"/>
          </a:p>
          <a:p>
            <a:r>
              <a:rPr lang="en-US" sz="1400" dirty="0"/>
              <a:t>If an Author record that is currently referenced in one or more Book records is deleted, the </a:t>
            </a:r>
            <a:r>
              <a:rPr lang="en-US" sz="1400" dirty="0" err="1"/>
              <a:t>AuthorId</a:t>
            </a:r>
            <a:r>
              <a:rPr lang="en-US" sz="1400" dirty="0"/>
              <a:t> value in the affected Book records will be updated to NULL. The same will happen if the Author record's primary key value is changed. This operation will only be successful if the </a:t>
            </a:r>
            <a:r>
              <a:rPr lang="en-US" sz="1400" dirty="0" err="1"/>
              <a:t>AuthorId</a:t>
            </a:r>
            <a:r>
              <a:rPr lang="en-US" sz="1400" dirty="0"/>
              <a:t> column in the Books table is nullable.</a:t>
            </a:r>
            <a:endParaRPr lang="en-IN" sz="1400" dirty="0"/>
          </a:p>
        </p:txBody>
      </p:sp>
      <p:graphicFrame>
        <p:nvGraphicFramePr>
          <p:cNvPr id="7" name="Table 9">
            <a:extLst>
              <a:ext uri="{FF2B5EF4-FFF2-40B4-BE49-F238E27FC236}">
                <a16:creationId xmlns:a16="http://schemas.microsoft.com/office/drawing/2014/main" id="{6C1FCCBB-9320-373E-3176-94BE5B1ADE70}"/>
              </a:ext>
            </a:extLst>
          </p:cNvPr>
          <p:cNvGraphicFramePr>
            <a:graphicFrameLocks noGrp="1"/>
          </p:cNvGraphicFramePr>
          <p:nvPr>
            <p:extLst>
              <p:ext uri="{D42A27DB-BD31-4B8C-83A1-F6EECF244321}">
                <p14:modId xmlns:p14="http://schemas.microsoft.com/office/powerpoint/2010/main" val="3485797336"/>
              </p:ext>
            </p:extLst>
          </p:nvPr>
        </p:nvGraphicFramePr>
        <p:xfrm>
          <a:off x="900783" y="2981347"/>
          <a:ext cx="3001914" cy="1900988"/>
        </p:xfrm>
        <a:graphic>
          <a:graphicData uri="http://schemas.openxmlformats.org/drawingml/2006/table">
            <a:tbl>
              <a:tblPr firstRow="1" bandRow="1">
                <a:tableStyleId>{5C22544A-7EE6-4342-B048-85BDC9FD1C3A}</a:tableStyleId>
              </a:tblPr>
              <a:tblGrid>
                <a:gridCol w="1500957">
                  <a:extLst>
                    <a:ext uri="{9D8B030D-6E8A-4147-A177-3AD203B41FA5}">
                      <a16:colId xmlns:a16="http://schemas.microsoft.com/office/drawing/2014/main" val="2742854361"/>
                    </a:ext>
                  </a:extLst>
                </a:gridCol>
                <a:gridCol w="1500957">
                  <a:extLst>
                    <a:ext uri="{9D8B030D-6E8A-4147-A177-3AD203B41FA5}">
                      <a16:colId xmlns:a16="http://schemas.microsoft.com/office/drawing/2014/main" val="2810734728"/>
                    </a:ext>
                  </a:extLst>
                </a:gridCol>
              </a:tblGrid>
              <a:tr h="475247">
                <a:tc>
                  <a:txBody>
                    <a:bodyPr/>
                    <a:lstStyle/>
                    <a:p>
                      <a:r>
                        <a:rPr lang="en-US" dirty="0" err="1"/>
                        <a:t>AuthorID</a:t>
                      </a:r>
                      <a:endParaRPr lang="en-IN" dirty="0"/>
                    </a:p>
                  </a:txBody>
                  <a:tcPr/>
                </a:tc>
                <a:tc>
                  <a:txBody>
                    <a:bodyPr/>
                    <a:lstStyle/>
                    <a:p>
                      <a:r>
                        <a:rPr lang="en-US" dirty="0"/>
                        <a:t>Name</a:t>
                      </a:r>
                      <a:endParaRPr lang="en-IN" dirty="0"/>
                    </a:p>
                  </a:txBody>
                  <a:tcPr/>
                </a:tc>
                <a:extLst>
                  <a:ext uri="{0D108BD9-81ED-4DB2-BD59-A6C34878D82A}">
                    <a16:rowId xmlns:a16="http://schemas.microsoft.com/office/drawing/2014/main" val="3023215084"/>
                  </a:ext>
                </a:extLst>
              </a:tr>
              <a:tr h="475247">
                <a:tc>
                  <a:txBody>
                    <a:bodyPr/>
                    <a:lstStyle/>
                    <a:p>
                      <a:r>
                        <a:rPr lang="en-US" dirty="0"/>
                        <a:t>1</a:t>
                      </a:r>
                      <a:endParaRPr lang="en-IN" dirty="0"/>
                    </a:p>
                  </a:txBody>
                  <a:tcPr/>
                </a:tc>
                <a:tc>
                  <a:txBody>
                    <a:bodyPr/>
                    <a:lstStyle/>
                    <a:p>
                      <a:r>
                        <a:rPr lang="en-US" dirty="0" err="1"/>
                        <a:t>Kanitker</a:t>
                      </a:r>
                      <a:endParaRPr lang="en-IN" dirty="0"/>
                    </a:p>
                  </a:txBody>
                  <a:tcPr/>
                </a:tc>
                <a:extLst>
                  <a:ext uri="{0D108BD9-81ED-4DB2-BD59-A6C34878D82A}">
                    <a16:rowId xmlns:a16="http://schemas.microsoft.com/office/drawing/2014/main" val="1460988839"/>
                  </a:ext>
                </a:extLst>
              </a:tr>
              <a:tr h="475247">
                <a:tc>
                  <a:txBody>
                    <a:bodyPr/>
                    <a:lstStyle/>
                    <a:p>
                      <a:r>
                        <a:rPr lang="en-US" dirty="0"/>
                        <a:t>2</a:t>
                      </a:r>
                      <a:endParaRPr lang="en-IN" dirty="0"/>
                    </a:p>
                  </a:txBody>
                  <a:tcPr/>
                </a:tc>
                <a:tc>
                  <a:txBody>
                    <a:bodyPr/>
                    <a:lstStyle/>
                    <a:p>
                      <a:r>
                        <a:rPr lang="en-IN" sz="1800" b="0" i="0" kern="1200" dirty="0">
                          <a:solidFill>
                            <a:schemeClr val="dk1"/>
                          </a:solidFill>
                          <a:effectLst/>
                          <a:latin typeface="+mn-lt"/>
                          <a:ea typeface="+mn-ea"/>
                          <a:cs typeface="+mn-cs"/>
                        </a:rPr>
                        <a:t>James Gosling</a:t>
                      </a:r>
                      <a:endParaRPr lang="en-IN" dirty="0"/>
                    </a:p>
                  </a:txBody>
                  <a:tcPr/>
                </a:tc>
                <a:extLst>
                  <a:ext uri="{0D108BD9-81ED-4DB2-BD59-A6C34878D82A}">
                    <a16:rowId xmlns:a16="http://schemas.microsoft.com/office/drawing/2014/main" val="1171979884"/>
                  </a:ext>
                </a:extLst>
              </a:tr>
              <a:tr h="475247">
                <a:tc>
                  <a:txBody>
                    <a:bodyPr/>
                    <a:lstStyle/>
                    <a:p>
                      <a:r>
                        <a:rPr lang="en-US" dirty="0"/>
                        <a:t>3</a:t>
                      </a:r>
                      <a:endParaRPr lang="en-IN" dirty="0"/>
                    </a:p>
                  </a:txBody>
                  <a:tcPr/>
                </a:tc>
                <a:tc>
                  <a:txBody>
                    <a:bodyPr/>
                    <a:lstStyle/>
                    <a:p>
                      <a:endParaRPr lang="en-IN" dirty="0"/>
                    </a:p>
                  </a:txBody>
                  <a:tcPr/>
                </a:tc>
                <a:extLst>
                  <a:ext uri="{0D108BD9-81ED-4DB2-BD59-A6C34878D82A}">
                    <a16:rowId xmlns:a16="http://schemas.microsoft.com/office/drawing/2014/main" val="2314118682"/>
                  </a:ext>
                </a:extLst>
              </a:tr>
            </a:tbl>
          </a:graphicData>
        </a:graphic>
      </p:graphicFrame>
      <p:graphicFrame>
        <p:nvGraphicFramePr>
          <p:cNvPr id="8" name="Table 10">
            <a:extLst>
              <a:ext uri="{FF2B5EF4-FFF2-40B4-BE49-F238E27FC236}">
                <a16:creationId xmlns:a16="http://schemas.microsoft.com/office/drawing/2014/main" id="{F75C70CE-02CC-2AE4-14BC-00080228F2B8}"/>
              </a:ext>
            </a:extLst>
          </p:cNvPr>
          <p:cNvGraphicFramePr>
            <a:graphicFrameLocks noGrp="1"/>
          </p:cNvGraphicFramePr>
          <p:nvPr>
            <p:extLst>
              <p:ext uri="{D42A27DB-BD31-4B8C-83A1-F6EECF244321}">
                <p14:modId xmlns:p14="http://schemas.microsoft.com/office/powerpoint/2010/main" val="4287015682"/>
              </p:ext>
            </p:extLst>
          </p:nvPr>
        </p:nvGraphicFramePr>
        <p:xfrm>
          <a:off x="5746161" y="3326911"/>
          <a:ext cx="4359372" cy="1771296"/>
        </p:xfrm>
        <a:graphic>
          <a:graphicData uri="http://schemas.openxmlformats.org/drawingml/2006/table">
            <a:tbl>
              <a:tblPr firstRow="1" bandRow="1">
                <a:tableStyleId>{5C22544A-7EE6-4342-B048-85BDC9FD1C3A}</a:tableStyleId>
              </a:tblPr>
              <a:tblGrid>
                <a:gridCol w="1453124">
                  <a:extLst>
                    <a:ext uri="{9D8B030D-6E8A-4147-A177-3AD203B41FA5}">
                      <a16:colId xmlns:a16="http://schemas.microsoft.com/office/drawing/2014/main" val="1041517587"/>
                    </a:ext>
                  </a:extLst>
                </a:gridCol>
                <a:gridCol w="1453124">
                  <a:extLst>
                    <a:ext uri="{9D8B030D-6E8A-4147-A177-3AD203B41FA5}">
                      <a16:colId xmlns:a16="http://schemas.microsoft.com/office/drawing/2014/main" val="2579100924"/>
                    </a:ext>
                  </a:extLst>
                </a:gridCol>
                <a:gridCol w="1453124">
                  <a:extLst>
                    <a:ext uri="{9D8B030D-6E8A-4147-A177-3AD203B41FA5}">
                      <a16:colId xmlns:a16="http://schemas.microsoft.com/office/drawing/2014/main" val="1056377050"/>
                    </a:ext>
                  </a:extLst>
                </a:gridCol>
              </a:tblGrid>
              <a:tr h="565608">
                <a:tc>
                  <a:txBody>
                    <a:bodyPr/>
                    <a:lstStyle/>
                    <a:p>
                      <a:r>
                        <a:rPr lang="en-US" dirty="0"/>
                        <a:t>Book Id</a:t>
                      </a:r>
                      <a:endParaRPr lang="en-IN" dirty="0"/>
                    </a:p>
                  </a:txBody>
                  <a:tcPr/>
                </a:tc>
                <a:tc>
                  <a:txBody>
                    <a:bodyPr/>
                    <a:lstStyle/>
                    <a:p>
                      <a:r>
                        <a:rPr lang="en-US" dirty="0"/>
                        <a:t>Title</a:t>
                      </a:r>
                      <a:endParaRPr lang="en-IN" dirty="0"/>
                    </a:p>
                  </a:txBody>
                  <a:tcPr/>
                </a:tc>
                <a:tc>
                  <a:txBody>
                    <a:bodyPr/>
                    <a:lstStyle/>
                    <a:p>
                      <a:r>
                        <a:rPr lang="en-US" dirty="0" err="1"/>
                        <a:t>AuthorId</a:t>
                      </a:r>
                      <a:endParaRPr lang="en-IN" dirty="0"/>
                    </a:p>
                  </a:txBody>
                  <a:tcPr/>
                </a:tc>
                <a:extLst>
                  <a:ext uri="{0D108BD9-81ED-4DB2-BD59-A6C34878D82A}">
                    <a16:rowId xmlns:a16="http://schemas.microsoft.com/office/drawing/2014/main" val="4123493924"/>
                  </a:ext>
                </a:extLst>
              </a:tr>
              <a:tr h="565608">
                <a:tc>
                  <a:txBody>
                    <a:bodyPr/>
                    <a:lstStyle/>
                    <a:p>
                      <a:r>
                        <a:rPr lang="en-US" dirty="0"/>
                        <a:t>100</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Java</a:t>
                      </a:r>
                      <a:endParaRPr lang="en-IN" dirty="0"/>
                    </a:p>
                    <a:p>
                      <a:endParaRPr lang="en-IN" dirty="0"/>
                    </a:p>
                  </a:txBody>
                  <a:tcPr/>
                </a:tc>
                <a:tc>
                  <a:txBody>
                    <a:bodyPr/>
                    <a:lstStyle/>
                    <a:p>
                      <a:r>
                        <a:rPr lang="en-US" dirty="0"/>
                        <a:t>2</a:t>
                      </a:r>
                      <a:endParaRPr lang="en-IN" dirty="0"/>
                    </a:p>
                  </a:txBody>
                  <a:tcPr/>
                </a:tc>
                <a:extLst>
                  <a:ext uri="{0D108BD9-81ED-4DB2-BD59-A6C34878D82A}">
                    <a16:rowId xmlns:a16="http://schemas.microsoft.com/office/drawing/2014/main" val="4039088113"/>
                  </a:ext>
                </a:extLst>
              </a:tr>
              <a:tr h="565608">
                <a:tc>
                  <a:txBody>
                    <a:bodyPr/>
                    <a:lstStyle/>
                    <a:p>
                      <a:r>
                        <a:rPr lang="en-US" dirty="0"/>
                        <a:t>200</a:t>
                      </a:r>
                      <a:endParaRPr lang="en-IN" dirty="0"/>
                    </a:p>
                  </a:txBody>
                  <a:tcPr/>
                </a:tc>
                <a:tc>
                  <a:txBody>
                    <a:bodyPr/>
                    <a:lstStyle/>
                    <a:p>
                      <a:r>
                        <a:rPr lang="en-US" dirty="0" err="1"/>
                        <a:t>Letus</a:t>
                      </a:r>
                      <a:r>
                        <a:rPr lang="en-US" dirty="0"/>
                        <a:t> C</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2229684369"/>
                  </a:ext>
                </a:extLst>
              </a:tr>
            </a:tbl>
          </a:graphicData>
        </a:graphic>
      </p:graphicFrame>
      <p:cxnSp>
        <p:nvCxnSpPr>
          <p:cNvPr id="9" name="Straight Connector 8">
            <a:extLst>
              <a:ext uri="{FF2B5EF4-FFF2-40B4-BE49-F238E27FC236}">
                <a16:creationId xmlns:a16="http://schemas.microsoft.com/office/drawing/2014/main" id="{D90001CF-7F86-D764-191F-35B8AC226A7B}"/>
              </a:ext>
            </a:extLst>
          </p:cNvPr>
          <p:cNvCxnSpPr/>
          <p:nvPr/>
        </p:nvCxnSpPr>
        <p:spPr>
          <a:xfrm>
            <a:off x="886119" y="3694556"/>
            <a:ext cx="2469823" cy="0"/>
          </a:xfrm>
          <a:prstGeom prst="line">
            <a:avLst/>
          </a:prstGeom>
        </p:spPr>
        <p:style>
          <a:lnRef idx="3">
            <a:schemeClr val="accent2"/>
          </a:lnRef>
          <a:fillRef idx="0">
            <a:schemeClr val="accent2"/>
          </a:fillRef>
          <a:effectRef idx="2">
            <a:schemeClr val="accent2"/>
          </a:effectRef>
          <a:fontRef idx="minor">
            <a:schemeClr val="tx1"/>
          </a:fontRef>
        </p:style>
      </p:cxnSp>
      <p:sp>
        <p:nvSpPr>
          <p:cNvPr id="10" name="Freeform: Shape 9">
            <a:extLst>
              <a:ext uri="{FF2B5EF4-FFF2-40B4-BE49-F238E27FC236}">
                <a16:creationId xmlns:a16="http://schemas.microsoft.com/office/drawing/2014/main" id="{60F50416-AEE5-2C6C-8587-B918344EB3AD}"/>
              </a:ext>
            </a:extLst>
          </p:cNvPr>
          <p:cNvSpPr/>
          <p:nvPr/>
        </p:nvSpPr>
        <p:spPr>
          <a:xfrm>
            <a:off x="471341" y="3627640"/>
            <a:ext cx="10729348" cy="2941134"/>
          </a:xfrm>
          <a:custGeom>
            <a:avLst/>
            <a:gdLst>
              <a:gd name="connsiteX0" fmla="*/ 499620 w 10729348"/>
              <a:gd name="connsiteY0" fmla="*/ 18143 h 2941134"/>
              <a:gd name="connsiteX1" fmla="*/ 216816 w 10729348"/>
              <a:gd name="connsiteY1" fmla="*/ 27569 h 2941134"/>
              <a:gd name="connsiteX2" fmla="*/ 75414 w 10729348"/>
              <a:gd name="connsiteY2" fmla="*/ 159545 h 2941134"/>
              <a:gd name="connsiteX3" fmla="*/ 37707 w 10729348"/>
              <a:gd name="connsiteY3" fmla="*/ 263239 h 2941134"/>
              <a:gd name="connsiteX4" fmla="*/ 0 w 10729348"/>
              <a:gd name="connsiteY4" fmla="*/ 536617 h 2941134"/>
              <a:gd name="connsiteX5" fmla="*/ 103695 w 10729348"/>
              <a:gd name="connsiteY5" fmla="*/ 904262 h 2941134"/>
              <a:gd name="connsiteX6" fmla="*/ 641022 w 10729348"/>
              <a:gd name="connsiteY6" fmla="*/ 1865796 h 2941134"/>
              <a:gd name="connsiteX7" fmla="*/ 1168923 w 10729348"/>
              <a:gd name="connsiteY7" fmla="*/ 2374844 h 2941134"/>
              <a:gd name="connsiteX8" fmla="*/ 1517715 w 10729348"/>
              <a:gd name="connsiteY8" fmla="*/ 2506819 h 2941134"/>
              <a:gd name="connsiteX9" fmla="*/ 2620651 w 10729348"/>
              <a:gd name="connsiteY9" fmla="*/ 2770769 h 2941134"/>
              <a:gd name="connsiteX10" fmla="*/ 3167406 w 10729348"/>
              <a:gd name="connsiteY10" fmla="*/ 2836757 h 2941134"/>
              <a:gd name="connsiteX11" fmla="*/ 3808429 w 10729348"/>
              <a:gd name="connsiteY11" fmla="*/ 2931025 h 2941134"/>
              <a:gd name="connsiteX12" fmla="*/ 4468305 w 10729348"/>
              <a:gd name="connsiteY12" fmla="*/ 2940452 h 2941134"/>
              <a:gd name="connsiteX13" fmla="*/ 7899662 w 10729348"/>
              <a:gd name="connsiteY13" fmla="*/ 2931025 h 2941134"/>
              <a:gd name="connsiteX14" fmla="*/ 9304255 w 10729348"/>
              <a:gd name="connsiteY14" fmla="*/ 2742489 h 2941134"/>
              <a:gd name="connsiteX15" fmla="*/ 9756742 w 10729348"/>
              <a:gd name="connsiteY15" fmla="*/ 2582233 h 2941134"/>
              <a:gd name="connsiteX16" fmla="*/ 10407191 w 10729348"/>
              <a:gd name="connsiteY16" fmla="*/ 2026052 h 2941134"/>
              <a:gd name="connsiteX17" fmla="*/ 10520313 w 10729348"/>
              <a:gd name="connsiteY17" fmla="*/ 1828089 h 2941134"/>
              <a:gd name="connsiteX18" fmla="*/ 10671142 w 10729348"/>
              <a:gd name="connsiteY18" fmla="*/ 1469870 h 2941134"/>
              <a:gd name="connsiteX19" fmla="*/ 10699422 w 10729348"/>
              <a:gd name="connsiteY19" fmla="*/ 1385029 h 2941134"/>
              <a:gd name="connsiteX20" fmla="*/ 10708849 w 10729348"/>
              <a:gd name="connsiteY20" fmla="*/ 1281334 h 2941134"/>
              <a:gd name="connsiteX21" fmla="*/ 10727703 w 10729348"/>
              <a:gd name="connsiteY21" fmla="*/ 1234200 h 2941134"/>
              <a:gd name="connsiteX22" fmla="*/ 10444899 w 10729348"/>
              <a:gd name="connsiteY22" fmla="*/ 1149359 h 2941134"/>
              <a:gd name="connsiteX23" fmla="*/ 9426804 w 10729348"/>
              <a:gd name="connsiteY23" fmla="*/ 1130505 h 2941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729348" h="2941134">
                <a:moveTo>
                  <a:pt x="499620" y="18143"/>
                </a:moveTo>
                <a:cubicBezTo>
                  <a:pt x="395544" y="-2673"/>
                  <a:pt x="368438" y="-12566"/>
                  <a:pt x="216816" y="27569"/>
                </a:cubicBezTo>
                <a:cubicBezTo>
                  <a:pt x="170377" y="39862"/>
                  <a:pt x="105748" y="124156"/>
                  <a:pt x="75414" y="159545"/>
                </a:cubicBezTo>
                <a:cubicBezTo>
                  <a:pt x="62845" y="194110"/>
                  <a:pt x="44920" y="227174"/>
                  <a:pt x="37707" y="263239"/>
                </a:cubicBezTo>
                <a:cubicBezTo>
                  <a:pt x="19667" y="353441"/>
                  <a:pt x="0" y="536617"/>
                  <a:pt x="0" y="536617"/>
                </a:cubicBezTo>
                <a:cubicBezTo>
                  <a:pt x="18605" y="607317"/>
                  <a:pt x="77461" y="839247"/>
                  <a:pt x="103695" y="904262"/>
                </a:cubicBezTo>
                <a:cubicBezTo>
                  <a:pt x="223822" y="1201968"/>
                  <a:pt x="459781" y="1648307"/>
                  <a:pt x="641022" y="1865796"/>
                </a:cubicBezTo>
                <a:cubicBezTo>
                  <a:pt x="825316" y="2086949"/>
                  <a:pt x="910416" y="2230384"/>
                  <a:pt x="1168923" y="2374844"/>
                </a:cubicBezTo>
                <a:cubicBezTo>
                  <a:pt x="1277437" y="2435484"/>
                  <a:pt x="1400047" y="2466734"/>
                  <a:pt x="1517715" y="2506819"/>
                </a:cubicBezTo>
                <a:cubicBezTo>
                  <a:pt x="2032389" y="2682147"/>
                  <a:pt x="2061703" y="2687620"/>
                  <a:pt x="2620651" y="2770769"/>
                </a:cubicBezTo>
                <a:cubicBezTo>
                  <a:pt x="2802227" y="2797780"/>
                  <a:pt x="2985480" y="2812211"/>
                  <a:pt x="3167406" y="2836757"/>
                </a:cubicBezTo>
                <a:cubicBezTo>
                  <a:pt x="3381439" y="2865635"/>
                  <a:pt x="3593139" y="2913864"/>
                  <a:pt x="3808429" y="2931025"/>
                </a:cubicBezTo>
                <a:cubicBezTo>
                  <a:pt x="4027715" y="2948504"/>
                  <a:pt x="4248346" y="2937310"/>
                  <a:pt x="4468305" y="2940452"/>
                </a:cubicBezTo>
                <a:lnTo>
                  <a:pt x="7899662" y="2931025"/>
                </a:lnTo>
                <a:cubicBezTo>
                  <a:pt x="8119469" y="2925202"/>
                  <a:pt x="9006888" y="2787094"/>
                  <a:pt x="9304255" y="2742489"/>
                </a:cubicBezTo>
                <a:cubicBezTo>
                  <a:pt x="9455084" y="2689070"/>
                  <a:pt x="9630013" y="2679920"/>
                  <a:pt x="9756742" y="2582233"/>
                </a:cubicBezTo>
                <a:cubicBezTo>
                  <a:pt x="9969860" y="2417955"/>
                  <a:pt x="10235845" y="2249322"/>
                  <a:pt x="10407191" y="2026052"/>
                </a:cubicBezTo>
                <a:cubicBezTo>
                  <a:pt x="10453462" y="1965759"/>
                  <a:pt x="10485696" y="1895749"/>
                  <a:pt x="10520313" y="1828089"/>
                </a:cubicBezTo>
                <a:cubicBezTo>
                  <a:pt x="10586181" y="1699347"/>
                  <a:pt x="10623711" y="1601623"/>
                  <a:pt x="10671142" y="1469870"/>
                </a:cubicBezTo>
                <a:cubicBezTo>
                  <a:pt x="10681239" y="1441822"/>
                  <a:pt x="10689995" y="1413309"/>
                  <a:pt x="10699422" y="1385029"/>
                </a:cubicBezTo>
                <a:cubicBezTo>
                  <a:pt x="10702564" y="1350464"/>
                  <a:pt x="10702453" y="1315447"/>
                  <a:pt x="10708849" y="1281334"/>
                </a:cubicBezTo>
                <a:cubicBezTo>
                  <a:pt x="10711968" y="1264702"/>
                  <a:pt x="10735726" y="1249099"/>
                  <a:pt x="10727703" y="1234200"/>
                </a:cubicBezTo>
                <a:cubicBezTo>
                  <a:pt x="10665305" y="1118317"/>
                  <a:pt x="10555266" y="1154615"/>
                  <a:pt x="10444899" y="1149359"/>
                </a:cubicBezTo>
                <a:cubicBezTo>
                  <a:pt x="10072173" y="1087237"/>
                  <a:pt x="10407451" y="1140119"/>
                  <a:pt x="9426804" y="113050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ight Triangle 10">
            <a:extLst>
              <a:ext uri="{FF2B5EF4-FFF2-40B4-BE49-F238E27FC236}">
                <a16:creationId xmlns:a16="http://schemas.microsoft.com/office/drawing/2014/main" id="{10C3E4E2-7B04-5ACF-1C81-9B274BCEC925}"/>
              </a:ext>
            </a:extLst>
          </p:cNvPr>
          <p:cNvSpPr/>
          <p:nvPr/>
        </p:nvSpPr>
        <p:spPr>
          <a:xfrm rot="2749426">
            <a:off x="9823276" y="4649610"/>
            <a:ext cx="404454" cy="330197"/>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55FD5659-7F63-5234-716E-C571A0539808}"/>
              </a:ext>
            </a:extLst>
          </p:cNvPr>
          <p:cNvSpPr txBox="1"/>
          <p:nvPr/>
        </p:nvSpPr>
        <p:spPr>
          <a:xfrm>
            <a:off x="2619119" y="5744500"/>
            <a:ext cx="6185516" cy="52322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400" dirty="0"/>
              <a:t>If an Author record that is currently referenced in one or more Book records is deleted, the </a:t>
            </a:r>
            <a:r>
              <a:rPr lang="en-US" sz="1400" dirty="0" err="1"/>
              <a:t>AuthorId</a:t>
            </a:r>
            <a:r>
              <a:rPr lang="en-US" sz="1400" dirty="0"/>
              <a:t> value in the affected Book records will </a:t>
            </a:r>
            <a:r>
              <a:rPr lang="en-US" sz="1400" b="1" dirty="0"/>
              <a:t>be updated to NULL</a:t>
            </a:r>
            <a:endParaRPr lang="en-IN" sz="1400" b="1" dirty="0"/>
          </a:p>
        </p:txBody>
      </p:sp>
      <p:cxnSp>
        <p:nvCxnSpPr>
          <p:cNvPr id="15" name="Straight Connector 14">
            <a:extLst>
              <a:ext uri="{FF2B5EF4-FFF2-40B4-BE49-F238E27FC236}">
                <a16:creationId xmlns:a16="http://schemas.microsoft.com/office/drawing/2014/main" id="{42BDC7A6-D0FC-A326-6559-577F751DA339}"/>
              </a:ext>
            </a:extLst>
          </p:cNvPr>
          <p:cNvCxnSpPr/>
          <p:nvPr/>
        </p:nvCxnSpPr>
        <p:spPr>
          <a:xfrm flipH="1">
            <a:off x="8653806" y="4554619"/>
            <a:ext cx="367646" cy="253051"/>
          </a:xfrm>
          <a:prstGeom prst="line">
            <a:avLst/>
          </a:prstGeom>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0F85C767-EF14-457A-C1A6-A70737EB0EC8}"/>
              </a:ext>
            </a:extLst>
          </p:cNvPr>
          <p:cNvSpPr/>
          <p:nvPr/>
        </p:nvSpPr>
        <p:spPr>
          <a:xfrm>
            <a:off x="9023875" y="4554619"/>
            <a:ext cx="701774" cy="41330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NULL</a:t>
            </a:r>
            <a:endParaRPr lang="en-IN" dirty="0"/>
          </a:p>
        </p:txBody>
      </p:sp>
      <p:sp>
        <p:nvSpPr>
          <p:cNvPr id="18" name="TextBox 17">
            <a:extLst>
              <a:ext uri="{FF2B5EF4-FFF2-40B4-BE49-F238E27FC236}">
                <a16:creationId xmlns:a16="http://schemas.microsoft.com/office/drawing/2014/main" id="{279E755F-A36E-0C94-8ABF-5CCED8B4A084}"/>
              </a:ext>
            </a:extLst>
          </p:cNvPr>
          <p:cNvSpPr txBox="1"/>
          <p:nvPr/>
        </p:nvSpPr>
        <p:spPr>
          <a:xfrm>
            <a:off x="8941324" y="5098207"/>
            <a:ext cx="2883030" cy="73866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400" dirty="0"/>
              <a:t>This operation will only be successful if the </a:t>
            </a:r>
            <a:r>
              <a:rPr lang="en-US" sz="1400" dirty="0" err="1"/>
              <a:t>AuthorId</a:t>
            </a:r>
            <a:r>
              <a:rPr lang="en-US" sz="1400" dirty="0"/>
              <a:t> column in the Books table is nullable.</a:t>
            </a:r>
            <a:endParaRPr lang="en-IN" sz="1400" dirty="0"/>
          </a:p>
        </p:txBody>
      </p:sp>
      <p:sp>
        <p:nvSpPr>
          <p:cNvPr id="20" name="TextBox 19">
            <a:extLst>
              <a:ext uri="{FF2B5EF4-FFF2-40B4-BE49-F238E27FC236}">
                <a16:creationId xmlns:a16="http://schemas.microsoft.com/office/drawing/2014/main" id="{0F0D9C98-212E-D618-BF6C-F8210D7B5073}"/>
              </a:ext>
            </a:extLst>
          </p:cNvPr>
          <p:cNvSpPr txBox="1"/>
          <p:nvPr/>
        </p:nvSpPr>
        <p:spPr>
          <a:xfrm>
            <a:off x="5974238" y="139599"/>
            <a:ext cx="6094428" cy="181588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sz="1400" b="0" i="0" dirty="0">
                <a:solidFill>
                  <a:srgbClr val="004867"/>
                </a:solidFill>
                <a:effectLst/>
                <a:latin typeface="Roboto" panose="02000000000000000000" pitchFamily="2" charset="0"/>
              </a:rPr>
              <a:t>On Delete/Update Set Default</a:t>
            </a:r>
          </a:p>
          <a:p>
            <a:endParaRPr lang="en-US" sz="1400" dirty="0"/>
          </a:p>
          <a:p>
            <a:r>
              <a:rPr lang="en-US" sz="1400" dirty="0"/>
              <a:t>When an Author record is deleted or has its key value amended, foreign key values in the Books table linked to the affected Author record will be changed to their default value. The foreign key fields in the affected tables must either have a default value specified, or be nullable, in which case NULL is considered the default value. Any non-NULL default value must relate to an existing key in the principal table.</a:t>
            </a:r>
            <a:endParaRPr lang="en-IN" sz="1400" dirty="0"/>
          </a:p>
        </p:txBody>
      </p:sp>
    </p:spTree>
    <p:extLst>
      <p:ext uri="{BB962C8B-B14F-4D97-AF65-F5344CB8AC3E}">
        <p14:creationId xmlns:p14="http://schemas.microsoft.com/office/powerpoint/2010/main" val="1924629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A7B6E16-B199-049D-44EE-7E20EA266A59}"/>
              </a:ext>
            </a:extLst>
          </p:cNvPr>
          <p:cNvSpPr txBox="1"/>
          <p:nvPr/>
        </p:nvSpPr>
        <p:spPr>
          <a:xfrm>
            <a:off x="313442" y="263479"/>
            <a:ext cx="6094428" cy="1600438"/>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sz="1400" b="0" i="0" dirty="0">
                <a:solidFill>
                  <a:srgbClr val="004867"/>
                </a:solidFill>
                <a:effectLst/>
                <a:latin typeface="Roboto" panose="02000000000000000000" pitchFamily="2" charset="0"/>
              </a:rPr>
              <a:t>On Delete/Update Cascade</a:t>
            </a:r>
          </a:p>
          <a:p>
            <a:endParaRPr lang="en-US" sz="1400" dirty="0">
              <a:solidFill>
                <a:srgbClr val="333333"/>
              </a:solidFill>
              <a:latin typeface="Open Sans" panose="020B0606030504020204" pitchFamily="34" charset="0"/>
            </a:endParaRPr>
          </a:p>
          <a:p>
            <a:r>
              <a:rPr lang="en-US" sz="1400" b="0" i="0" dirty="0">
                <a:solidFill>
                  <a:srgbClr val="333333"/>
                </a:solidFill>
                <a:effectLst/>
                <a:latin typeface="Open Sans" panose="020B0606030504020204" pitchFamily="34" charset="0"/>
              </a:rPr>
              <a:t>Under this option, </a:t>
            </a:r>
            <a:r>
              <a:rPr lang="en-US" sz="1400" b="1" i="0" dirty="0">
                <a:solidFill>
                  <a:srgbClr val="333333"/>
                </a:solidFill>
                <a:effectLst/>
                <a:latin typeface="Open Sans" panose="020B0606030504020204" pitchFamily="34" charset="0"/>
              </a:rPr>
              <a:t>when an Author is deleted, the operation will also cascade to dependent tables, resulting in all related books being deleted</a:t>
            </a:r>
            <a:r>
              <a:rPr lang="en-US" sz="1400" b="0" i="0" dirty="0">
                <a:solidFill>
                  <a:srgbClr val="333333"/>
                </a:solidFill>
                <a:effectLst/>
                <a:latin typeface="Open Sans" panose="020B0606030504020204" pitchFamily="34" charset="0"/>
              </a:rPr>
              <a:t>. When you update the primary key value for an author, all book records containing that value as a foreign key will be updated to the new foreign key value.</a:t>
            </a:r>
            <a:endParaRPr lang="en-IN" sz="1400" dirty="0"/>
          </a:p>
        </p:txBody>
      </p:sp>
      <p:graphicFrame>
        <p:nvGraphicFramePr>
          <p:cNvPr id="6" name="Table 9">
            <a:extLst>
              <a:ext uri="{FF2B5EF4-FFF2-40B4-BE49-F238E27FC236}">
                <a16:creationId xmlns:a16="http://schemas.microsoft.com/office/drawing/2014/main" id="{0DF90542-D098-E805-B365-254D9A497D12}"/>
              </a:ext>
            </a:extLst>
          </p:cNvPr>
          <p:cNvGraphicFramePr>
            <a:graphicFrameLocks noGrp="1"/>
          </p:cNvGraphicFramePr>
          <p:nvPr>
            <p:extLst>
              <p:ext uri="{D42A27DB-BD31-4B8C-83A1-F6EECF244321}">
                <p14:modId xmlns:p14="http://schemas.microsoft.com/office/powerpoint/2010/main" val="1478983603"/>
              </p:ext>
            </p:extLst>
          </p:nvPr>
        </p:nvGraphicFramePr>
        <p:xfrm>
          <a:off x="900783" y="2981347"/>
          <a:ext cx="3001914" cy="1900988"/>
        </p:xfrm>
        <a:graphic>
          <a:graphicData uri="http://schemas.openxmlformats.org/drawingml/2006/table">
            <a:tbl>
              <a:tblPr firstRow="1" bandRow="1">
                <a:tableStyleId>{5C22544A-7EE6-4342-B048-85BDC9FD1C3A}</a:tableStyleId>
              </a:tblPr>
              <a:tblGrid>
                <a:gridCol w="1500957">
                  <a:extLst>
                    <a:ext uri="{9D8B030D-6E8A-4147-A177-3AD203B41FA5}">
                      <a16:colId xmlns:a16="http://schemas.microsoft.com/office/drawing/2014/main" val="2742854361"/>
                    </a:ext>
                  </a:extLst>
                </a:gridCol>
                <a:gridCol w="1500957">
                  <a:extLst>
                    <a:ext uri="{9D8B030D-6E8A-4147-A177-3AD203B41FA5}">
                      <a16:colId xmlns:a16="http://schemas.microsoft.com/office/drawing/2014/main" val="2810734728"/>
                    </a:ext>
                  </a:extLst>
                </a:gridCol>
              </a:tblGrid>
              <a:tr h="475247">
                <a:tc>
                  <a:txBody>
                    <a:bodyPr/>
                    <a:lstStyle/>
                    <a:p>
                      <a:r>
                        <a:rPr lang="en-US" dirty="0" err="1"/>
                        <a:t>AuthorID</a:t>
                      </a:r>
                      <a:endParaRPr lang="en-IN" dirty="0"/>
                    </a:p>
                  </a:txBody>
                  <a:tcPr/>
                </a:tc>
                <a:tc>
                  <a:txBody>
                    <a:bodyPr/>
                    <a:lstStyle/>
                    <a:p>
                      <a:r>
                        <a:rPr lang="en-US" dirty="0"/>
                        <a:t>Name</a:t>
                      </a:r>
                      <a:endParaRPr lang="en-IN" dirty="0"/>
                    </a:p>
                  </a:txBody>
                  <a:tcPr/>
                </a:tc>
                <a:extLst>
                  <a:ext uri="{0D108BD9-81ED-4DB2-BD59-A6C34878D82A}">
                    <a16:rowId xmlns:a16="http://schemas.microsoft.com/office/drawing/2014/main" val="3023215084"/>
                  </a:ext>
                </a:extLst>
              </a:tr>
              <a:tr h="475247">
                <a:tc>
                  <a:txBody>
                    <a:bodyPr/>
                    <a:lstStyle/>
                    <a:p>
                      <a:r>
                        <a:rPr lang="en-US" dirty="0"/>
                        <a:t>1</a:t>
                      </a:r>
                      <a:endParaRPr lang="en-IN" dirty="0"/>
                    </a:p>
                  </a:txBody>
                  <a:tcPr/>
                </a:tc>
                <a:tc>
                  <a:txBody>
                    <a:bodyPr/>
                    <a:lstStyle/>
                    <a:p>
                      <a:r>
                        <a:rPr lang="en-US" dirty="0" err="1"/>
                        <a:t>Kanitker</a:t>
                      </a:r>
                      <a:endParaRPr lang="en-IN" dirty="0"/>
                    </a:p>
                  </a:txBody>
                  <a:tcPr/>
                </a:tc>
                <a:extLst>
                  <a:ext uri="{0D108BD9-81ED-4DB2-BD59-A6C34878D82A}">
                    <a16:rowId xmlns:a16="http://schemas.microsoft.com/office/drawing/2014/main" val="1460988839"/>
                  </a:ext>
                </a:extLst>
              </a:tr>
              <a:tr h="475247">
                <a:tc>
                  <a:txBody>
                    <a:bodyPr/>
                    <a:lstStyle/>
                    <a:p>
                      <a:r>
                        <a:rPr lang="en-US" dirty="0"/>
                        <a:t>2</a:t>
                      </a:r>
                      <a:endParaRPr lang="en-IN" dirty="0"/>
                    </a:p>
                  </a:txBody>
                  <a:tcPr/>
                </a:tc>
                <a:tc>
                  <a:txBody>
                    <a:bodyPr/>
                    <a:lstStyle/>
                    <a:p>
                      <a:r>
                        <a:rPr lang="en-IN" sz="1800" b="0" i="0" kern="1200" dirty="0">
                          <a:solidFill>
                            <a:schemeClr val="dk1"/>
                          </a:solidFill>
                          <a:effectLst/>
                          <a:latin typeface="+mn-lt"/>
                          <a:ea typeface="+mn-ea"/>
                          <a:cs typeface="+mn-cs"/>
                        </a:rPr>
                        <a:t>James Gosling</a:t>
                      </a:r>
                      <a:endParaRPr lang="en-IN" dirty="0"/>
                    </a:p>
                  </a:txBody>
                  <a:tcPr/>
                </a:tc>
                <a:extLst>
                  <a:ext uri="{0D108BD9-81ED-4DB2-BD59-A6C34878D82A}">
                    <a16:rowId xmlns:a16="http://schemas.microsoft.com/office/drawing/2014/main" val="1171979884"/>
                  </a:ext>
                </a:extLst>
              </a:tr>
              <a:tr h="475247">
                <a:tc>
                  <a:txBody>
                    <a:bodyPr/>
                    <a:lstStyle/>
                    <a:p>
                      <a:r>
                        <a:rPr lang="en-US" dirty="0"/>
                        <a:t>3</a:t>
                      </a:r>
                      <a:endParaRPr lang="en-IN" dirty="0"/>
                    </a:p>
                  </a:txBody>
                  <a:tcPr/>
                </a:tc>
                <a:tc>
                  <a:txBody>
                    <a:bodyPr/>
                    <a:lstStyle/>
                    <a:p>
                      <a:endParaRPr lang="en-IN" dirty="0"/>
                    </a:p>
                  </a:txBody>
                  <a:tcPr/>
                </a:tc>
                <a:extLst>
                  <a:ext uri="{0D108BD9-81ED-4DB2-BD59-A6C34878D82A}">
                    <a16:rowId xmlns:a16="http://schemas.microsoft.com/office/drawing/2014/main" val="2314118682"/>
                  </a:ext>
                </a:extLst>
              </a:tr>
            </a:tbl>
          </a:graphicData>
        </a:graphic>
      </p:graphicFrame>
      <p:graphicFrame>
        <p:nvGraphicFramePr>
          <p:cNvPr id="7" name="Table 10">
            <a:extLst>
              <a:ext uri="{FF2B5EF4-FFF2-40B4-BE49-F238E27FC236}">
                <a16:creationId xmlns:a16="http://schemas.microsoft.com/office/drawing/2014/main" id="{DB2411C5-D9CA-85B1-9CDA-0C80B514C1A3}"/>
              </a:ext>
            </a:extLst>
          </p:cNvPr>
          <p:cNvGraphicFramePr>
            <a:graphicFrameLocks noGrp="1"/>
          </p:cNvGraphicFramePr>
          <p:nvPr>
            <p:extLst>
              <p:ext uri="{D42A27DB-BD31-4B8C-83A1-F6EECF244321}">
                <p14:modId xmlns:p14="http://schemas.microsoft.com/office/powerpoint/2010/main" val="3914815631"/>
              </p:ext>
            </p:extLst>
          </p:nvPr>
        </p:nvGraphicFramePr>
        <p:xfrm>
          <a:off x="5746161" y="3326911"/>
          <a:ext cx="4359372" cy="1771296"/>
        </p:xfrm>
        <a:graphic>
          <a:graphicData uri="http://schemas.openxmlformats.org/drawingml/2006/table">
            <a:tbl>
              <a:tblPr firstRow="1" bandRow="1">
                <a:tableStyleId>{5C22544A-7EE6-4342-B048-85BDC9FD1C3A}</a:tableStyleId>
              </a:tblPr>
              <a:tblGrid>
                <a:gridCol w="1453124">
                  <a:extLst>
                    <a:ext uri="{9D8B030D-6E8A-4147-A177-3AD203B41FA5}">
                      <a16:colId xmlns:a16="http://schemas.microsoft.com/office/drawing/2014/main" val="1041517587"/>
                    </a:ext>
                  </a:extLst>
                </a:gridCol>
                <a:gridCol w="1453124">
                  <a:extLst>
                    <a:ext uri="{9D8B030D-6E8A-4147-A177-3AD203B41FA5}">
                      <a16:colId xmlns:a16="http://schemas.microsoft.com/office/drawing/2014/main" val="2579100924"/>
                    </a:ext>
                  </a:extLst>
                </a:gridCol>
                <a:gridCol w="1453124">
                  <a:extLst>
                    <a:ext uri="{9D8B030D-6E8A-4147-A177-3AD203B41FA5}">
                      <a16:colId xmlns:a16="http://schemas.microsoft.com/office/drawing/2014/main" val="1056377050"/>
                    </a:ext>
                  </a:extLst>
                </a:gridCol>
              </a:tblGrid>
              <a:tr h="565608">
                <a:tc>
                  <a:txBody>
                    <a:bodyPr/>
                    <a:lstStyle/>
                    <a:p>
                      <a:r>
                        <a:rPr lang="en-US" dirty="0"/>
                        <a:t>Book Id</a:t>
                      </a:r>
                      <a:endParaRPr lang="en-IN" dirty="0"/>
                    </a:p>
                  </a:txBody>
                  <a:tcPr/>
                </a:tc>
                <a:tc>
                  <a:txBody>
                    <a:bodyPr/>
                    <a:lstStyle/>
                    <a:p>
                      <a:r>
                        <a:rPr lang="en-US" dirty="0"/>
                        <a:t>Title</a:t>
                      </a:r>
                      <a:endParaRPr lang="en-IN" dirty="0"/>
                    </a:p>
                  </a:txBody>
                  <a:tcPr/>
                </a:tc>
                <a:tc>
                  <a:txBody>
                    <a:bodyPr/>
                    <a:lstStyle/>
                    <a:p>
                      <a:r>
                        <a:rPr lang="en-US" dirty="0" err="1"/>
                        <a:t>AuthorId</a:t>
                      </a:r>
                      <a:endParaRPr lang="en-IN" dirty="0"/>
                    </a:p>
                  </a:txBody>
                  <a:tcPr/>
                </a:tc>
                <a:extLst>
                  <a:ext uri="{0D108BD9-81ED-4DB2-BD59-A6C34878D82A}">
                    <a16:rowId xmlns:a16="http://schemas.microsoft.com/office/drawing/2014/main" val="4123493924"/>
                  </a:ext>
                </a:extLst>
              </a:tr>
              <a:tr h="565608">
                <a:tc>
                  <a:txBody>
                    <a:bodyPr/>
                    <a:lstStyle/>
                    <a:p>
                      <a:r>
                        <a:rPr lang="en-US" dirty="0"/>
                        <a:t>100</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Java</a:t>
                      </a:r>
                      <a:endParaRPr lang="en-IN" dirty="0"/>
                    </a:p>
                    <a:p>
                      <a:endParaRPr lang="en-IN" dirty="0"/>
                    </a:p>
                  </a:txBody>
                  <a:tcPr/>
                </a:tc>
                <a:tc>
                  <a:txBody>
                    <a:bodyPr/>
                    <a:lstStyle/>
                    <a:p>
                      <a:r>
                        <a:rPr lang="en-US" dirty="0"/>
                        <a:t>2</a:t>
                      </a:r>
                      <a:endParaRPr lang="en-IN" dirty="0"/>
                    </a:p>
                  </a:txBody>
                  <a:tcPr/>
                </a:tc>
                <a:extLst>
                  <a:ext uri="{0D108BD9-81ED-4DB2-BD59-A6C34878D82A}">
                    <a16:rowId xmlns:a16="http://schemas.microsoft.com/office/drawing/2014/main" val="4039088113"/>
                  </a:ext>
                </a:extLst>
              </a:tr>
              <a:tr h="565608">
                <a:tc>
                  <a:txBody>
                    <a:bodyPr/>
                    <a:lstStyle/>
                    <a:p>
                      <a:r>
                        <a:rPr lang="en-US" dirty="0"/>
                        <a:t>200</a:t>
                      </a:r>
                      <a:endParaRPr lang="en-IN" dirty="0"/>
                    </a:p>
                  </a:txBody>
                  <a:tcPr/>
                </a:tc>
                <a:tc>
                  <a:txBody>
                    <a:bodyPr/>
                    <a:lstStyle/>
                    <a:p>
                      <a:r>
                        <a:rPr lang="en-US" dirty="0" err="1"/>
                        <a:t>Letus</a:t>
                      </a:r>
                      <a:r>
                        <a:rPr lang="en-US" dirty="0"/>
                        <a:t> C</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2229684369"/>
                  </a:ext>
                </a:extLst>
              </a:tr>
            </a:tbl>
          </a:graphicData>
        </a:graphic>
      </p:graphicFrame>
      <p:cxnSp>
        <p:nvCxnSpPr>
          <p:cNvPr id="8" name="Straight Connector 7">
            <a:extLst>
              <a:ext uri="{FF2B5EF4-FFF2-40B4-BE49-F238E27FC236}">
                <a16:creationId xmlns:a16="http://schemas.microsoft.com/office/drawing/2014/main" id="{8D0C295C-D54D-4449-FB0A-D3FC0F245CF7}"/>
              </a:ext>
            </a:extLst>
          </p:cNvPr>
          <p:cNvCxnSpPr/>
          <p:nvPr/>
        </p:nvCxnSpPr>
        <p:spPr>
          <a:xfrm>
            <a:off x="1159496" y="3667026"/>
            <a:ext cx="2469823" cy="0"/>
          </a:xfrm>
          <a:prstGeom prst="line">
            <a:avLst/>
          </a:prstGeom>
        </p:spPr>
        <p:style>
          <a:lnRef idx="3">
            <a:schemeClr val="accent2"/>
          </a:lnRef>
          <a:fillRef idx="0">
            <a:schemeClr val="accent2"/>
          </a:fillRef>
          <a:effectRef idx="2">
            <a:schemeClr val="accent2"/>
          </a:effectRef>
          <a:fontRef idx="minor">
            <a:schemeClr val="tx1"/>
          </a:fontRef>
        </p:style>
      </p:cxnSp>
      <p:sp>
        <p:nvSpPr>
          <p:cNvPr id="9" name="Freeform: Shape 8">
            <a:extLst>
              <a:ext uri="{FF2B5EF4-FFF2-40B4-BE49-F238E27FC236}">
                <a16:creationId xmlns:a16="http://schemas.microsoft.com/office/drawing/2014/main" id="{68DB24C4-F723-7C59-1E34-0A18A8BDC341}"/>
              </a:ext>
            </a:extLst>
          </p:cNvPr>
          <p:cNvSpPr/>
          <p:nvPr/>
        </p:nvSpPr>
        <p:spPr>
          <a:xfrm>
            <a:off x="471341" y="3627640"/>
            <a:ext cx="10729348" cy="2941134"/>
          </a:xfrm>
          <a:custGeom>
            <a:avLst/>
            <a:gdLst>
              <a:gd name="connsiteX0" fmla="*/ 499620 w 10729348"/>
              <a:gd name="connsiteY0" fmla="*/ 18143 h 2941134"/>
              <a:gd name="connsiteX1" fmla="*/ 216816 w 10729348"/>
              <a:gd name="connsiteY1" fmla="*/ 27569 h 2941134"/>
              <a:gd name="connsiteX2" fmla="*/ 75414 w 10729348"/>
              <a:gd name="connsiteY2" fmla="*/ 159545 h 2941134"/>
              <a:gd name="connsiteX3" fmla="*/ 37707 w 10729348"/>
              <a:gd name="connsiteY3" fmla="*/ 263239 h 2941134"/>
              <a:gd name="connsiteX4" fmla="*/ 0 w 10729348"/>
              <a:gd name="connsiteY4" fmla="*/ 536617 h 2941134"/>
              <a:gd name="connsiteX5" fmla="*/ 103695 w 10729348"/>
              <a:gd name="connsiteY5" fmla="*/ 904262 h 2941134"/>
              <a:gd name="connsiteX6" fmla="*/ 641022 w 10729348"/>
              <a:gd name="connsiteY6" fmla="*/ 1865796 h 2941134"/>
              <a:gd name="connsiteX7" fmla="*/ 1168923 w 10729348"/>
              <a:gd name="connsiteY7" fmla="*/ 2374844 h 2941134"/>
              <a:gd name="connsiteX8" fmla="*/ 1517715 w 10729348"/>
              <a:gd name="connsiteY8" fmla="*/ 2506819 h 2941134"/>
              <a:gd name="connsiteX9" fmla="*/ 2620651 w 10729348"/>
              <a:gd name="connsiteY9" fmla="*/ 2770769 h 2941134"/>
              <a:gd name="connsiteX10" fmla="*/ 3167406 w 10729348"/>
              <a:gd name="connsiteY10" fmla="*/ 2836757 h 2941134"/>
              <a:gd name="connsiteX11" fmla="*/ 3808429 w 10729348"/>
              <a:gd name="connsiteY11" fmla="*/ 2931025 h 2941134"/>
              <a:gd name="connsiteX12" fmla="*/ 4468305 w 10729348"/>
              <a:gd name="connsiteY12" fmla="*/ 2940452 h 2941134"/>
              <a:gd name="connsiteX13" fmla="*/ 7899662 w 10729348"/>
              <a:gd name="connsiteY13" fmla="*/ 2931025 h 2941134"/>
              <a:gd name="connsiteX14" fmla="*/ 9304255 w 10729348"/>
              <a:gd name="connsiteY14" fmla="*/ 2742489 h 2941134"/>
              <a:gd name="connsiteX15" fmla="*/ 9756742 w 10729348"/>
              <a:gd name="connsiteY15" fmla="*/ 2582233 h 2941134"/>
              <a:gd name="connsiteX16" fmla="*/ 10407191 w 10729348"/>
              <a:gd name="connsiteY16" fmla="*/ 2026052 h 2941134"/>
              <a:gd name="connsiteX17" fmla="*/ 10520313 w 10729348"/>
              <a:gd name="connsiteY17" fmla="*/ 1828089 h 2941134"/>
              <a:gd name="connsiteX18" fmla="*/ 10671142 w 10729348"/>
              <a:gd name="connsiteY18" fmla="*/ 1469870 h 2941134"/>
              <a:gd name="connsiteX19" fmla="*/ 10699422 w 10729348"/>
              <a:gd name="connsiteY19" fmla="*/ 1385029 h 2941134"/>
              <a:gd name="connsiteX20" fmla="*/ 10708849 w 10729348"/>
              <a:gd name="connsiteY20" fmla="*/ 1281334 h 2941134"/>
              <a:gd name="connsiteX21" fmla="*/ 10727703 w 10729348"/>
              <a:gd name="connsiteY21" fmla="*/ 1234200 h 2941134"/>
              <a:gd name="connsiteX22" fmla="*/ 10444899 w 10729348"/>
              <a:gd name="connsiteY22" fmla="*/ 1149359 h 2941134"/>
              <a:gd name="connsiteX23" fmla="*/ 9426804 w 10729348"/>
              <a:gd name="connsiteY23" fmla="*/ 1130505 h 2941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729348" h="2941134">
                <a:moveTo>
                  <a:pt x="499620" y="18143"/>
                </a:moveTo>
                <a:cubicBezTo>
                  <a:pt x="395544" y="-2673"/>
                  <a:pt x="368438" y="-12566"/>
                  <a:pt x="216816" y="27569"/>
                </a:cubicBezTo>
                <a:cubicBezTo>
                  <a:pt x="170377" y="39862"/>
                  <a:pt x="105748" y="124156"/>
                  <a:pt x="75414" y="159545"/>
                </a:cubicBezTo>
                <a:cubicBezTo>
                  <a:pt x="62845" y="194110"/>
                  <a:pt x="44920" y="227174"/>
                  <a:pt x="37707" y="263239"/>
                </a:cubicBezTo>
                <a:cubicBezTo>
                  <a:pt x="19667" y="353441"/>
                  <a:pt x="0" y="536617"/>
                  <a:pt x="0" y="536617"/>
                </a:cubicBezTo>
                <a:cubicBezTo>
                  <a:pt x="18605" y="607317"/>
                  <a:pt x="77461" y="839247"/>
                  <a:pt x="103695" y="904262"/>
                </a:cubicBezTo>
                <a:cubicBezTo>
                  <a:pt x="223822" y="1201968"/>
                  <a:pt x="459781" y="1648307"/>
                  <a:pt x="641022" y="1865796"/>
                </a:cubicBezTo>
                <a:cubicBezTo>
                  <a:pt x="825316" y="2086949"/>
                  <a:pt x="910416" y="2230384"/>
                  <a:pt x="1168923" y="2374844"/>
                </a:cubicBezTo>
                <a:cubicBezTo>
                  <a:pt x="1277437" y="2435484"/>
                  <a:pt x="1400047" y="2466734"/>
                  <a:pt x="1517715" y="2506819"/>
                </a:cubicBezTo>
                <a:cubicBezTo>
                  <a:pt x="2032389" y="2682147"/>
                  <a:pt x="2061703" y="2687620"/>
                  <a:pt x="2620651" y="2770769"/>
                </a:cubicBezTo>
                <a:cubicBezTo>
                  <a:pt x="2802227" y="2797780"/>
                  <a:pt x="2985480" y="2812211"/>
                  <a:pt x="3167406" y="2836757"/>
                </a:cubicBezTo>
                <a:cubicBezTo>
                  <a:pt x="3381439" y="2865635"/>
                  <a:pt x="3593139" y="2913864"/>
                  <a:pt x="3808429" y="2931025"/>
                </a:cubicBezTo>
                <a:cubicBezTo>
                  <a:pt x="4027715" y="2948504"/>
                  <a:pt x="4248346" y="2937310"/>
                  <a:pt x="4468305" y="2940452"/>
                </a:cubicBezTo>
                <a:lnTo>
                  <a:pt x="7899662" y="2931025"/>
                </a:lnTo>
                <a:cubicBezTo>
                  <a:pt x="8119469" y="2925202"/>
                  <a:pt x="9006888" y="2787094"/>
                  <a:pt x="9304255" y="2742489"/>
                </a:cubicBezTo>
                <a:cubicBezTo>
                  <a:pt x="9455084" y="2689070"/>
                  <a:pt x="9630013" y="2679920"/>
                  <a:pt x="9756742" y="2582233"/>
                </a:cubicBezTo>
                <a:cubicBezTo>
                  <a:pt x="9969860" y="2417955"/>
                  <a:pt x="10235845" y="2249322"/>
                  <a:pt x="10407191" y="2026052"/>
                </a:cubicBezTo>
                <a:cubicBezTo>
                  <a:pt x="10453462" y="1965759"/>
                  <a:pt x="10485696" y="1895749"/>
                  <a:pt x="10520313" y="1828089"/>
                </a:cubicBezTo>
                <a:cubicBezTo>
                  <a:pt x="10586181" y="1699347"/>
                  <a:pt x="10623711" y="1601623"/>
                  <a:pt x="10671142" y="1469870"/>
                </a:cubicBezTo>
                <a:cubicBezTo>
                  <a:pt x="10681239" y="1441822"/>
                  <a:pt x="10689995" y="1413309"/>
                  <a:pt x="10699422" y="1385029"/>
                </a:cubicBezTo>
                <a:cubicBezTo>
                  <a:pt x="10702564" y="1350464"/>
                  <a:pt x="10702453" y="1315447"/>
                  <a:pt x="10708849" y="1281334"/>
                </a:cubicBezTo>
                <a:cubicBezTo>
                  <a:pt x="10711968" y="1264702"/>
                  <a:pt x="10735726" y="1249099"/>
                  <a:pt x="10727703" y="1234200"/>
                </a:cubicBezTo>
                <a:cubicBezTo>
                  <a:pt x="10665305" y="1118317"/>
                  <a:pt x="10555266" y="1154615"/>
                  <a:pt x="10444899" y="1149359"/>
                </a:cubicBezTo>
                <a:cubicBezTo>
                  <a:pt x="10072173" y="1087237"/>
                  <a:pt x="10407451" y="1140119"/>
                  <a:pt x="9426804" y="113050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 name="Straight Connector 10">
            <a:extLst>
              <a:ext uri="{FF2B5EF4-FFF2-40B4-BE49-F238E27FC236}">
                <a16:creationId xmlns:a16="http://schemas.microsoft.com/office/drawing/2014/main" id="{A739F680-B5AC-9721-D0AC-1DAEDD65D1B4}"/>
              </a:ext>
            </a:extLst>
          </p:cNvPr>
          <p:cNvCxnSpPr/>
          <p:nvPr/>
        </p:nvCxnSpPr>
        <p:spPr>
          <a:xfrm flipV="1">
            <a:off x="5844619" y="4703975"/>
            <a:ext cx="3233393" cy="94268"/>
          </a:xfrm>
          <a:prstGeom prst="line">
            <a:avLst/>
          </a:prstGeom>
          <a:ln w="28575"/>
        </p:spPr>
        <p:style>
          <a:lnRef idx="1">
            <a:schemeClr val="accent2"/>
          </a:lnRef>
          <a:fillRef idx="0">
            <a:schemeClr val="accent2"/>
          </a:fillRef>
          <a:effectRef idx="0">
            <a:schemeClr val="accent2"/>
          </a:effectRef>
          <a:fontRef idx="minor">
            <a:schemeClr val="tx1"/>
          </a:fontRef>
        </p:style>
      </p:cxnSp>
      <p:sp>
        <p:nvSpPr>
          <p:cNvPr id="13" name="TextBox 12">
            <a:extLst>
              <a:ext uri="{FF2B5EF4-FFF2-40B4-BE49-F238E27FC236}">
                <a16:creationId xmlns:a16="http://schemas.microsoft.com/office/drawing/2014/main" id="{B4E54F16-A985-3941-9484-38BDCFE52C70}"/>
              </a:ext>
            </a:extLst>
          </p:cNvPr>
          <p:cNvSpPr txBox="1"/>
          <p:nvPr/>
        </p:nvSpPr>
        <p:spPr>
          <a:xfrm>
            <a:off x="3048786" y="5862528"/>
            <a:ext cx="6094428" cy="46166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200" b="1" i="0" dirty="0">
                <a:solidFill>
                  <a:srgbClr val="333333"/>
                </a:solidFill>
                <a:effectLst/>
                <a:latin typeface="Open Sans" panose="020B0606030504020204" pitchFamily="34" charset="0"/>
              </a:rPr>
              <a:t>when an Author is deleted, the operation will also cascade to dependent tables, resulting in all related books being deleted</a:t>
            </a:r>
            <a:r>
              <a:rPr lang="en-US" sz="1200" b="0" i="0" dirty="0">
                <a:solidFill>
                  <a:srgbClr val="333333"/>
                </a:solidFill>
                <a:effectLst/>
                <a:latin typeface="Open Sans" panose="020B0606030504020204" pitchFamily="34" charset="0"/>
              </a:rPr>
              <a:t>. </a:t>
            </a:r>
            <a:endParaRPr lang="en-IN" sz="1200" dirty="0"/>
          </a:p>
        </p:txBody>
      </p:sp>
    </p:spTree>
    <p:extLst>
      <p:ext uri="{BB962C8B-B14F-4D97-AF65-F5344CB8AC3E}">
        <p14:creationId xmlns:p14="http://schemas.microsoft.com/office/powerpoint/2010/main" val="836902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28CF52-1C4E-0D2A-60C0-A41651F3171E}"/>
              </a:ext>
            </a:extLst>
          </p:cNvPr>
          <p:cNvSpPr txBox="1"/>
          <p:nvPr/>
        </p:nvSpPr>
        <p:spPr>
          <a:xfrm>
            <a:off x="285162" y="318602"/>
            <a:ext cx="6094428" cy="289310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600" b="0" i="0" dirty="0">
                <a:solidFill>
                  <a:srgbClr val="004867"/>
                </a:solidFill>
                <a:effectLst/>
                <a:latin typeface="Roboto" panose="02000000000000000000" pitchFamily="2" charset="0"/>
              </a:rPr>
              <a:t>Optional Relationships</a:t>
            </a:r>
          </a:p>
          <a:p>
            <a:endParaRPr lang="en-US" sz="1200" b="0" i="0" dirty="0">
              <a:solidFill>
                <a:srgbClr val="333333"/>
              </a:solidFill>
              <a:effectLst/>
              <a:latin typeface="Open Sans" panose="020B0606030504020204" pitchFamily="34" charset="0"/>
            </a:endParaRPr>
          </a:p>
          <a:p>
            <a:r>
              <a:rPr lang="en-US" sz="1400" b="0" i="0" dirty="0">
                <a:solidFill>
                  <a:srgbClr val="333333"/>
                </a:solidFill>
                <a:effectLst/>
                <a:latin typeface="Open Sans" panose="020B0606030504020204" pitchFamily="34" charset="0"/>
              </a:rPr>
              <a:t>Logically, </a:t>
            </a:r>
            <a:r>
              <a:rPr lang="en-US" sz="1400" b="1" i="0" dirty="0">
                <a:solidFill>
                  <a:srgbClr val="333333"/>
                </a:solidFill>
                <a:effectLst/>
                <a:latin typeface="Open Sans" panose="020B0606030504020204" pitchFamily="34" charset="0"/>
              </a:rPr>
              <a:t>a book cannot exist without an author</a:t>
            </a:r>
            <a:r>
              <a:rPr lang="en-US" sz="1400" b="0" i="0" dirty="0">
                <a:solidFill>
                  <a:srgbClr val="333333"/>
                </a:solidFill>
                <a:effectLst/>
                <a:latin typeface="Open Sans" panose="020B0606030504020204" pitchFamily="34" charset="0"/>
              </a:rPr>
              <a:t>, so that relationship is always going to be a required one. </a:t>
            </a:r>
          </a:p>
          <a:p>
            <a:endParaRPr lang="en-US" sz="1400" dirty="0">
              <a:solidFill>
                <a:srgbClr val="333333"/>
              </a:solidFill>
              <a:latin typeface="Open Sans" panose="020B0606030504020204" pitchFamily="34" charset="0"/>
            </a:endParaRPr>
          </a:p>
          <a:p>
            <a:r>
              <a:rPr lang="en-US" sz="1400" b="0" i="0" dirty="0">
                <a:solidFill>
                  <a:srgbClr val="333333"/>
                </a:solidFill>
                <a:effectLst/>
                <a:latin typeface="Open Sans" panose="020B0606030504020204" pitchFamily="34" charset="0"/>
              </a:rPr>
              <a:t>The same cannot be said for the relationship between, say, a tenant and a property to let. </a:t>
            </a:r>
            <a:r>
              <a:rPr lang="en-US" sz="1400" b="1" i="0" dirty="0">
                <a:solidFill>
                  <a:srgbClr val="333333"/>
                </a:solidFill>
                <a:effectLst/>
                <a:latin typeface="Open Sans" panose="020B0606030504020204" pitchFamily="34" charset="0"/>
              </a:rPr>
              <a:t>A tenant can exist without being assigned to a property. </a:t>
            </a:r>
            <a:r>
              <a:rPr lang="en-US" sz="1400" b="0" i="0" dirty="0">
                <a:solidFill>
                  <a:srgbClr val="333333"/>
                </a:solidFill>
                <a:effectLst/>
                <a:latin typeface="Open Sans" panose="020B0606030504020204" pitchFamily="34" charset="0"/>
              </a:rPr>
              <a:t>This is an example of an </a:t>
            </a:r>
            <a:r>
              <a:rPr lang="en-US" sz="1400" b="0" i="1" dirty="0">
                <a:solidFill>
                  <a:srgbClr val="333333"/>
                </a:solidFill>
                <a:effectLst/>
                <a:latin typeface="Open Sans" panose="020B0606030504020204" pitchFamily="34" charset="0"/>
              </a:rPr>
              <a:t>optional relationship</a:t>
            </a:r>
            <a:r>
              <a:rPr lang="en-US" sz="1400" b="0" i="0" dirty="0">
                <a:solidFill>
                  <a:srgbClr val="333333"/>
                </a:solidFill>
                <a:effectLst/>
                <a:latin typeface="Open Sans" panose="020B0606030504020204" pitchFamily="34" charset="0"/>
              </a:rPr>
              <a:t>. This is the type of relationship that EF Core generates automatically if you do not include a foreign key property in the dependent entity, as you have seen in the first and second examples above. </a:t>
            </a:r>
            <a:r>
              <a:rPr lang="en-US" sz="1400" b="1" i="0" dirty="0">
                <a:solidFill>
                  <a:srgbClr val="333333"/>
                </a:solidFill>
                <a:effectLst/>
                <a:latin typeface="Open Sans" panose="020B0606030504020204" pitchFamily="34" charset="0"/>
              </a:rPr>
              <a:t>You can also explicitly create an optional relationship by including a </a:t>
            </a:r>
            <a:r>
              <a:rPr lang="en-US" sz="1400" b="1" i="0" dirty="0">
                <a:solidFill>
                  <a:srgbClr val="333333"/>
                </a:solidFill>
                <a:effectLst/>
                <a:highlight>
                  <a:srgbClr val="FFFF00"/>
                </a:highlight>
                <a:latin typeface="Open Sans" panose="020B0606030504020204" pitchFamily="34" charset="0"/>
              </a:rPr>
              <a:t>nullable</a:t>
            </a:r>
            <a:r>
              <a:rPr lang="en-US" sz="1400" b="1" i="0" dirty="0">
                <a:solidFill>
                  <a:srgbClr val="333333"/>
                </a:solidFill>
                <a:effectLst/>
                <a:latin typeface="Open Sans" panose="020B0606030504020204" pitchFamily="34" charset="0"/>
              </a:rPr>
              <a:t> foreign key property in the dependent entity:</a:t>
            </a:r>
            <a:endParaRPr lang="en-IN" sz="1400" b="1" dirty="0"/>
          </a:p>
        </p:txBody>
      </p:sp>
      <p:sp>
        <p:nvSpPr>
          <p:cNvPr id="6" name="Rectangle 1">
            <a:extLst>
              <a:ext uri="{FF2B5EF4-FFF2-40B4-BE49-F238E27FC236}">
                <a16:creationId xmlns:a16="http://schemas.microsoft.com/office/drawing/2014/main" id="{2E34F336-2394-9BE0-CEBF-3BDDB7B70DD1}"/>
              </a:ext>
            </a:extLst>
          </p:cNvPr>
          <p:cNvSpPr>
            <a:spLocks noChangeArrowheads="1"/>
          </p:cNvSpPr>
          <p:nvPr/>
        </p:nvSpPr>
        <p:spPr bwMode="auto">
          <a:xfrm>
            <a:off x="6652968" y="1012645"/>
            <a:ext cx="5394488" cy="5724644"/>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0" i="0" u="none" strike="noStrike" cap="none" normalizeH="0" baseline="0" dirty="0">
                <a:ln>
                  <a:noFill/>
                </a:ln>
                <a:solidFill>
                  <a:srgbClr val="0000FF"/>
                </a:solidFill>
                <a:effectLst/>
                <a:latin typeface="Menlo"/>
              </a:rPr>
              <a:t>public</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class</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555555"/>
                </a:solidFill>
                <a:effectLst/>
                <a:latin typeface="Menlo"/>
              </a:rPr>
              <a:t>Property</a:t>
            </a:r>
            <a:endParaRPr kumimoji="0" lang="en-US" altLang="en-US"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000" b="0" i="0" u="none" strike="noStrike" cap="none" normalizeH="0" baseline="0" dirty="0">
                <a:ln>
                  <a:noFill/>
                </a:ln>
                <a:solidFill>
                  <a:srgbClr val="0000FF"/>
                </a:solidFill>
                <a:effectLst/>
                <a:latin typeface="Menlo"/>
              </a:rPr>
              <a:t>public</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int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err="1">
                <a:ln>
                  <a:noFill/>
                </a:ln>
                <a:solidFill>
                  <a:srgbClr val="555555"/>
                </a:solidFill>
                <a:effectLst/>
                <a:latin typeface="Menlo"/>
              </a:rPr>
              <a:t>PropertyId</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get</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set</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2000" b="0" i="0" u="none" strike="noStrike" cap="none" normalizeH="0" baseline="0" dirty="0">
                <a:ln>
                  <a:noFill/>
                </a:ln>
                <a:solidFill>
                  <a:srgbClr val="0000FF"/>
                </a:solidFill>
                <a:effectLst/>
                <a:latin typeface="Menlo"/>
              </a:rPr>
              <a:t>public</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string</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555555"/>
                </a:solidFill>
                <a:effectLst/>
                <a:latin typeface="Menlo"/>
              </a:rPr>
              <a:t>Address</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get</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set</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2000" b="0" i="0" u="none" strike="noStrike" cap="none" normalizeH="0" baseline="0" dirty="0">
                <a:ln>
                  <a:noFill/>
                </a:ln>
                <a:solidFill>
                  <a:srgbClr val="0000FF"/>
                </a:solidFill>
                <a:effectLst/>
                <a:latin typeface="Menlo"/>
              </a:rPr>
              <a:t>public</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555555"/>
                </a:solidFill>
                <a:effectLst/>
                <a:latin typeface="Menlo"/>
              </a:rPr>
              <a:t>List</a:t>
            </a:r>
            <a:r>
              <a:rPr kumimoji="0" lang="en-US" altLang="en-US" sz="2000" b="0" i="0" u="none" strike="noStrike" cap="none" normalizeH="0" baseline="0" dirty="0">
                <a:ln>
                  <a:noFill/>
                </a:ln>
                <a:solidFill>
                  <a:srgbClr val="666600"/>
                </a:solidFill>
                <a:effectLst/>
                <a:latin typeface="Menlo"/>
              </a:rPr>
              <a:t>&lt;</a:t>
            </a:r>
            <a:r>
              <a:rPr kumimoji="0" lang="en-US" altLang="en-US" sz="2000" b="0" i="0" u="none" strike="noStrike" cap="none" normalizeH="0" baseline="0" dirty="0">
                <a:ln>
                  <a:noFill/>
                </a:ln>
                <a:solidFill>
                  <a:srgbClr val="555555"/>
                </a:solidFill>
                <a:effectLst/>
                <a:latin typeface="Menlo"/>
              </a:rPr>
              <a:t>Tenant</a:t>
            </a:r>
            <a:r>
              <a:rPr kumimoji="0" lang="en-US" altLang="en-US" sz="2000" b="0" i="0" u="none" strike="noStrike" cap="none" normalizeH="0" baseline="0" dirty="0">
                <a:ln>
                  <a:noFill/>
                </a:ln>
                <a:solidFill>
                  <a:srgbClr val="666600"/>
                </a:solidFill>
                <a:effectLst/>
                <a:latin typeface="Menlo"/>
              </a:rPr>
              <a:t>&gt;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555555"/>
                </a:solidFill>
                <a:effectLst/>
                <a:latin typeface="Menlo"/>
              </a:rPr>
              <a:t>Tenants</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get</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set</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2000"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2000" b="0" i="0" u="none" strike="noStrike" cap="none" normalizeH="0" baseline="0" dirty="0">
                <a:ln>
                  <a:noFill/>
                </a:ln>
                <a:solidFill>
                  <a:srgbClr val="0000FF"/>
                </a:solidFill>
                <a:effectLst/>
                <a:latin typeface="Menlo"/>
              </a:rPr>
              <a:t>public</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class</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555555"/>
                </a:solidFill>
                <a:effectLst/>
                <a:latin typeface="Menlo"/>
              </a:rPr>
              <a:t>Tenant</a:t>
            </a:r>
            <a:endParaRPr kumimoji="0" lang="en-US" altLang="en-US"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2000"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0"/>
              <a:tabLst/>
            </a:pPr>
            <a:r>
              <a:rPr kumimoji="0" lang="en-US" altLang="en-US" sz="2000" b="0" i="0" u="none" strike="noStrike" cap="none" normalizeH="0" baseline="0" dirty="0">
                <a:ln>
                  <a:noFill/>
                </a:ln>
                <a:solidFill>
                  <a:srgbClr val="0000FF"/>
                </a:solidFill>
                <a:effectLst/>
                <a:latin typeface="Menlo"/>
              </a:rPr>
              <a:t>public</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int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err="1">
                <a:ln>
                  <a:noFill/>
                </a:ln>
                <a:solidFill>
                  <a:srgbClr val="555555"/>
                </a:solidFill>
                <a:effectLst/>
                <a:latin typeface="Menlo"/>
              </a:rPr>
              <a:t>TenantId</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get</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set</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1"/>
              <a:tabLst/>
            </a:pPr>
            <a:r>
              <a:rPr kumimoji="0" lang="en-US" altLang="en-US" sz="2000" b="0" i="0" u="none" strike="noStrike" cap="none" normalizeH="0" baseline="0" dirty="0">
                <a:ln>
                  <a:noFill/>
                </a:ln>
                <a:solidFill>
                  <a:srgbClr val="0000FF"/>
                </a:solidFill>
                <a:effectLst/>
                <a:latin typeface="Menlo"/>
              </a:rPr>
              <a:t>public</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string</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555555"/>
                </a:solidFill>
                <a:effectLst/>
                <a:latin typeface="Menlo"/>
              </a:rPr>
              <a:t>Name</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get</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set</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2"/>
              <a:tabLst/>
            </a:pPr>
            <a:r>
              <a:rPr kumimoji="0" lang="en-US" altLang="en-US" sz="2000" b="0" i="0" u="none" strike="noStrike" cap="none" normalizeH="0" baseline="0" dirty="0">
                <a:ln>
                  <a:noFill/>
                </a:ln>
                <a:solidFill>
                  <a:srgbClr val="0000FF"/>
                </a:solidFill>
                <a:effectLst/>
                <a:latin typeface="Menlo"/>
              </a:rPr>
              <a:t>public</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string</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555555"/>
                </a:solidFill>
                <a:effectLst/>
                <a:latin typeface="Menlo"/>
              </a:rPr>
              <a:t>Email</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get</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set</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3"/>
              <a:tabLst/>
            </a:pPr>
            <a:r>
              <a:rPr kumimoji="0" lang="en-US" altLang="en-US" sz="2000" b="0" i="0" u="none" strike="noStrike" cap="none" normalizeH="0" baseline="0" dirty="0">
                <a:ln>
                  <a:noFill/>
                </a:ln>
                <a:solidFill>
                  <a:srgbClr val="0000FF"/>
                </a:solidFill>
                <a:effectLst/>
                <a:latin typeface="Menlo"/>
              </a:rPr>
              <a:t>public</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int</a:t>
            </a:r>
            <a:r>
              <a:rPr kumimoji="0" lang="en-US" altLang="en-US" sz="2400" b="1" i="0" u="none" strike="noStrike" cap="none" normalizeH="0" baseline="0" dirty="0">
                <a:ln>
                  <a:noFill/>
                </a:ln>
                <a:solidFill>
                  <a:srgbClr val="FF0000"/>
                </a:solidFill>
                <a:effectLst/>
                <a:highlight>
                  <a:srgbClr val="FFFF00"/>
                </a:highligh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err="1">
                <a:ln>
                  <a:noFill/>
                </a:ln>
                <a:solidFill>
                  <a:srgbClr val="555555"/>
                </a:solidFill>
                <a:effectLst/>
                <a:latin typeface="Menlo"/>
              </a:rPr>
              <a:t>PropertyId</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get</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set</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4"/>
              <a:tabLst/>
            </a:pPr>
            <a:r>
              <a:rPr kumimoji="0" lang="en-US" altLang="en-US" sz="2000" b="0" i="0" u="none" strike="noStrike" cap="none" normalizeH="0" baseline="0" dirty="0">
                <a:ln>
                  <a:noFill/>
                </a:ln>
                <a:solidFill>
                  <a:srgbClr val="0000FF"/>
                </a:solidFill>
                <a:effectLst/>
                <a:latin typeface="Menlo"/>
              </a:rPr>
              <a:t>public</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555555"/>
                </a:solidFill>
                <a:effectLst/>
                <a:latin typeface="Menlo"/>
              </a:rPr>
              <a:t>Property</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err="1">
                <a:ln>
                  <a:noFill/>
                </a:ln>
                <a:solidFill>
                  <a:srgbClr val="555555"/>
                </a:solidFill>
                <a:effectLst/>
                <a:latin typeface="Menlo"/>
              </a:rPr>
              <a:t>Property</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get</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set</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5"/>
              <a:tabLst/>
            </a:pPr>
            <a:r>
              <a:rPr kumimoji="0" lang="en-US" altLang="en-US" sz="2000"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42930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E362B3DF-0AE2-A113-B4F3-54D0E9274187}"/>
              </a:ext>
            </a:extLst>
          </p:cNvPr>
          <p:cNvSpPr txBox="1"/>
          <p:nvPr/>
        </p:nvSpPr>
        <p:spPr>
          <a:xfrm>
            <a:off x="6356023" y="143905"/>
            <a:ext cx="3532695" cy="369332"/>
          </a:xfrm>
          <a:prstGeom prst="rect">
            <a:avLst/>
          </a:prstGeom>
          <a:noFill/>
        </p:spPr>
        <p:txBody>
          <a:bodyPr wrap="square">
            <a:spAutoFit/>
          </a:bodyPr>
          <a:lstStyle/>
          <a:p>
            <a:pPr algn="l"/>
            <a:r>
              <a:rPr lang="en-IN" b="0" i="0" dirty="0">
                <a:solidFill>
                  <a:srgbClr val="004867"/>
                </a:solidFill>
                <a:effectLst/>
                <a:latin typeface="Roboto" panose="02000000000000000000" pitchFamily="2" charset="0"/>
              </a:rPr>
              <a:t>Inverse Navigation Property </a:t>
            </a:r>
          </a:p>
        </p:txBody>
      </p:sp>
      <p:sp>
        <p:nvSpPr>
          <p:cNvPr id="10" name="Rectangle 5">
            <a:extLst>
              <a:ext uri="{FF2B5EF4-FFF2-40B4-BE49-F238E27FC236}">
                <a16:creationId xmlns:a16="http://schemas.microsoft.com/office/drawing/2014/main" id="{DBB9F0FD-21CA-B2A7-9AF5-37C58E6E18AE}"/>
              </a:ext>
            </a:extLst>
          </p:cNvPr>
          <p:cNvSpPr>
            <a:spLocks noChangeArrowheads="1"/>
          </p:cNvSpPr>
          <p:nvPr/>
        </p:nvSpPr>
        <p:spPr bwMode="auto">
          <a:xfrm>
            <a:off x="288926" y="851062"/>
            <a:ext cx="11246866" cy="523220"/>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second option available for defining one-to-many relationships by convention is to include an</a:t>
            </a:r>
            <a:r>
              <a:rPr kumimoji="0" lang="en-US" altLang="en-US" sz="1400" b="0" i="0" u="none" strike="noStrike" cap="none" normalizeH="0" baseline="0" dirty="0">
                <a:ln>
                  <a:noFill/>
                </a:ln>
                <a:solidFill>
                  <a:schemeClr val="accent2"/>
                </a:solidFill>
                <a:effectLst/>
                <a:latin typeface="Open Sans" panose="020B0606030504020204" pitchFamily="34" charset="0"/>
                <a:cs typeface="Open Sans" panose="020B0606030504020204" pitchFamily="34" charset="0"/>
              </a:rPr>
              <a:t> </a:t>
            </a:r>
            <a:r>
              <a:rPr kumimoji="0" lang="en-US" altLang="en-US" sz="1400" b="0" i="1" u="none" strike="noStrike" cap="none" normalizeH="0" baseline="0" dirty="0">
                <a:ln>
                  <a:noFill/>
                </a:ln>
                <a:solidFill>
                  <a:schemeClr val="accent2"/>
                </a:solidFill>
                <a:effectLst/>
                <a:latin typeface="Open Sans" panose="020B0606030504020204" pitchFamily="34" charset="0"/>
                <a:cs typeface="Open Sans" panose="020B0606030504020204" pitchFamily="34" charset="0"/>
              </a:rPr>
              <a:t>inverse</a:t>
            </a:r>
            <a:r>
              <a:rPr kumimoji="0" lang="en-US" altLang="en-US" sz="1400" b="0" i="0" u="none" strike="noStrike" cap="none" normalizeH="0" baseline="0" dirty="0">
                <a:ln>
                  <a:noFill/>
                </a:ln>
                <a:solidFill>
                  <a:schemeClr val="accent2"/>
                </a:solidFill>
                <a:effectLst/>
                <a:latin typeface="Open Sans" panose="020B0606030504020204" pitchFamily="34" charset="0"/>
                <a:cs typeface="Open Sans" panose="020B0606030504020204" pitchFamily="34" charset="0"/>
              </a:rPr>
              <a:t> navigation property in the dependent entity - the </a:t>
            </a:r>
            <a:r>
              <a:rPr kumimoji="0" lang="en-US" altLang="en-US" sz="1400" b="0" i="0" u="none" strike="noStrike" cap="none" normalizeH="0" baseline="0" dirty="0">
                <a:ln>
                  <a:noFill/>
                </a:ln>
                <a:solidFill>
                  <a:schemeClr val="accent2"/>
                </a:solidFill>
                <a:effectLst/>
                <a:latin typeface="Menlo"/>
              </a:rPr>
              <a:t>Author</a:t>
            </a:r>
            <a:r>
              <a:rPr kumimoji="0" lang="en-US" altLang="en-US" sz="1400" b="0" i="0" u="none" strike="noStrike" cap="none" normalizeH="0" baseline="0" dirty="0">
                <a:ln>
                  <a:noFill/>
                </a:ln>
                <a:solidFill>
                  <a:schemeClr val="accent2"/>
                </a:solidFill>
                <a:effectLst/>
                <a:latin typeface="Open Sans" panose="020B0606030504020204" pitchFamily="34" charset="0"/>
                <a:cs typeface="Open Sans" panose="020B0606030504020204" pitchFamily="34" charset="0"/>
              </a:rPr>
              <a:t> property in the </a:t>
            </a:r>
            <a:r>
              <a:rPr kumimoji="0" lang="en-US" altLang="en-US" sz="1400" b="0" i="0" u="none" strike="noStrike" cap="none" normalizeH="0" baseline="0" dirty="0">
                <a:ln>
                  <a:noFill/>
                </a:ln>
                <a:solidFill>
                  <a:schemeClr val="accent2"/>
                </a:solidFill>
                <a:effectLst/>
                <a:latin typeface="Menlo"/>
              </a:rPr>
              <a:t>Book</a:t>
            </a:r>
            <a:r>
              <a:rPr kumimoji="0" lang="en-US" altLang="en-US" sz="1400" b="0" i="0" u="none" strike="noStrike" cap="none" normalizeH="0" baseline="0" dirty="0">
                <a:ln>
                  <a:noFill/>
                </a:ln>
                <a:solidFill>
                  <a:schemeClr val="accent2"/>
                </a:solidFill>
                <a:effectLst/>
                <a:latin typeface="Open Sans" panose="020B0606030504020204" pitchFamily="34" charset="0"/>
                <a:cs typeface="Open Sans" panose="020B0606030504020204" pitchFamily="34" charset="0"/>
              </a:rPr>
              <a:t> entity below </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
            </a:r>
            <a:r>
              <a:rPr kumimoji="0" lang="en-US" altLang="en-US" sz="1400" b="0" i="0" u="none" strike="noStrike" cap="none" normalizeH="0" baseline="0" dirty="0">
                <a:ln>
                  <a:noFill/>
                </a:ln>
                <a:solidFill>
                  <a:srgbClr val="333333"/>
                </a:solidFill>
                <a:effectLst/>
                <a:highlight>
                  <a:srgbClr val="FFFF00"/>
                </a:highlight>
                <a:latin typeface="Open Sans" panose="020B0606030504020204" pitchFamily="34" charset="0"/>
                <a:cs typeface="Open Sans" panose="020B0606030504020204" pitchFamily="34" charset="0"/>
              </a:rPr>
              <a:t>in addition to the navigation property in the principal entity,</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which results in both ends of the relationship being specified:</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11" name="Rectangle 6">
            <a:extLst>
              <a:ext uri="{FF2B5EF4-FFF2-40B4-BE49-F238E27FC236}">
                <a16:creationId xmlns:a16="http://schemas.microsoft.com/office/drawing/2014/main" id="{39BB7A00-9CC4-DB33-3B4A-5D7AA00C5B2F}"/>
              </a:ext>
            </a:extLst>
          </p:cNvPr>
          <p:cNvSpPr>
            <a:spLocks noChangeArrowheads="1"/>
          </p:cNvSpPr>
          <p:nvPr/>
        </p:nvSpPr>
        <p:spPr bwMode="auto">
          <a:xfrm>
            <a:off x="733425" y="2235328"/>
            <a:ext cx="9022140" cy="3077766"/>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class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Author</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0" i="0" u="none" strike="noStrike" cap="none" normalizeH="0" baseline="0" dirty="0">
                <a:ln>
                  <a:noFill/>
                </a:ln>
                <a:solidFill>
                  <a:srgbClr val="0000FF"/>
                </a:solidFill>
                <a:effectLst/>
                <a:highlight>
                  <a:srgbClr val="FFFF00"/>
                </a:highlight>
                <a:latin typeface="Menlo"/>
              </a:rPr>
              <a:t>public</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int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err="1">
                <a:ln>
                  <a:noFill/>
                </a:ln>
                <a:solidFill>
                  <a:srgbClr val="555555"/>
                </a:solidFill>
                <a:effectLst/>
                <a:highlight>
                  <a:srgbClr val="FFFF00"/>
                </a:highlight>
                <a:latin typeface="Menlo"/>
              </a:rPr>
              <a:t>AuthorId</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get</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set</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highlight>
                  <a:srgbClr val="FFFF00"/>
                </a:highlight>
                <a:latin typeface="Menlo"/>
              </a:rPr>
              <a:t>}</a:t>
            </a:r>
            <a:endParaRPr kumimoji="0" lang="en-US" altLang="en-US" sz="1400" b="0" i="0" u="none" strike="noStrike" cap="none" normalizeH="0" baseline="0" dirty="0">
              <a:ln>
                <a:noFill/>
              </a:ln>
              <a:solidFill>
                <a:srgbClr val="333333"/>
              </a:solidFill>
              <a:effectLst/>
              <a:highlight>
                <a:srgbClr val="FFFF00"/>
              </a:highligh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FirstName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LastName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400" b="0" i="0" u="none" strike="noStrike" cap="none" normalizeH="0" baseline="0" dirty="0">
                <a:ln>
                  <a:noFill/>
                </a:ln>
                <a:solidFill>
                  <a:srgbClr val="0000FF"/>
                </a:solidFill>
                <a:effectLst/>
                <a:highlight>
                  <a:srgbClr val="FFFF00"/>
                </a:highlight>
                <a:latin typeface="Menlo"/>
              </a:rPr>
              <a:t>public</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err="1">
                <a:ln>
                  <a:noFill/>
                </a:ln>
                <a:solidFill>
                  <a:srgbClr val="555555"/>
                </a:solidFill>
                <a:effectLst/>
                <a:highlight>
                  <a:srgbClr val="FFFF00"/>
                </a:highlight>
                <a:latin typeface="Menlo"/>
              </a:rPr>
              <a:t>ICollection</a:t>
            </a:r>
            <a:r>
              <a:rPr kumimoji="0" lang="en-US" altLang="en-US" sz="1400" b="0" i="0" u="none" strike="noStrike" cap="none" normalizeH="0" baseline="0" dirty="0">
                <a:ln>
                  <a:noFill/>
                </a:ln>
                <a:solidFill>
                  <a:srgbClr val="666600"/>
                </a:solidFill>
                <a:effectLst/>
                <a:highlight>
                  <a:srgbClr val="FFFF00"/>
                </a:highlight>
                <a:latin typeface="Menlo"/>
              </a:rPr>
              <a:t>&lt;</a:t>
            </a:r>
            <a:r>
              <a:rPr kumimoji="0" lang="en-US" altLang="en-US" sz="1400" b="0" i="0" u="none" strike="noStrike" cap="none" normalizeH="0" baseline="0" dirty="0">
                <a:ln>
                  <a:noFill/>
                </a:ln>
                <a:solidFill>
                  <a:srgbClr val="555555"/>
                </a:solidFill>
                <a:effectLst/>
                <a:highlight>
                  <a:srgbClr val="FFFF00"/>
                </a:highlight>
                <a:latin typeface="Menlo"/>
              </a:rPr>
              <a:t>Book</a:t>
            </a:r>
            <a:r>
              <a:rPr kumimoji="0" lang="en-US" altLang="en-US" sz="1400" b="0" i="0" u="none" strike="noStrike" cap="none" normalizeH="0" baseline="0" dirty="0">
                <a:ln>
                  <a:noFill/>
                </a:ln>
                <a:solidFill>
                  <a:srgbClr val="666600"/>
                </a:solidFill>
                <a:effectLst/>
                <a:highlight>
                  <a:srgbClr val="FFFF00"/>
                </a:highlight>
                <a:latin typeface="Menlo"/>
              </a:rPr>
              <a:t>&gt;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555555"/>
                </a:solidFill>
                <a:effectLst/>
                <a:highlight>
                  <a:srgbClr val="FFFF00"/>
                </a:highlight>
                <a:latin typeface="Menlo"/>
              </a:rPr>
              <a:t>Books</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get</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set</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highlight>
                  <a:srgbClr val="FFFF00"/>
                </a:highlight>
                <a:latin typeface="Menlo"/>
              </a:rPr>
              <a:t>}</a:t>
            </a:r>
            <a:endParaRPr kumimoji="0" lang="en-US" altLang="en-US" sz="1400" b="0" i="0" u="none" strike="noStrike" cap="none" normalizeH="0" baseline="0" dirty="0">
              <a:ln>
                <a:noFill/>
              </a:ln>
              <a:solidFill>
                <a:srgbClr val="333333"/>
              </a:solidFill>
              <a:effectLst/>
              <a:highlight>
                <a:srgbClr val="FFFF00"/>
              </a:highligh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class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Book</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0"/>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1"/>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int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BookId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2"/>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Title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3"/>
              <a:tabLst/>
            </a:pPr>
            <a:r>
              <a:rPr kumimoji="0" lang="en-US" altLang="en-US" sz="1400" b="0" i="0" u="none" strike="noStrike" cap="none" normalizeH="0" baseline="0" dirty="0">
                <a:ln>
                  <a:noFill/>
                </a:ln>
                <a:solidFill>
                  <a:srgbClr val="0000FF"/>
                </a:solidFill>
                <a:effectLst/>
                <a:highlight>
                  <a:srgbClr val="FFFF00"/>
                </a:highlight>
                <a:latin typeface="Menlo"/>
              </a:rPr>
              <a:t>public</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555555"/>
                </a:solidFill>
                <a:effectLst/>
                <a:highlight>
                  <a:srgbClr val="FFFF00"/>
                </a:highlight>
                <a:latin typeface="Menlo"/>
              </a:rPr>
              <a:t>Author</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err="1">
                <a:ln>
                  <a:noFill/>
                </a:ln>
                <a:solidFill>
                  <a:srgbClr val="555555"/>
                </a:solidFill>
                <a:effectLst/>
                <a:highlight>
                  <a:srgbClr val="FFFF00"/>
                </a:highlight>
                <a:latin typeface="Menlo"/>
              </a:rPr>
              <a:t>Author</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get</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set</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highlight>
                  <a:srgbClr val="FFFF00"/>
                </a:highlight>
                <a:latin typeface="Menlo"/>
              </a:rPr>
              <a:t>}</a:t>
            </a:r>
            <a:endParaRPr kumimoji="0" lang="en-US" altLang="en-US" sz="1400" b="0" i="0" u="none" strike="noStrike" cap="none" normalizeH="0" baseline="0" dirty="0">
              <a:ln>
                <a:noFill/>
              </a:ln>
              <a:solidFill>
                <a:srgbClr val="333333"/>
              </a:solidFill>
              <a:effectLst/>
              <a:highlight>
                <a:srgbClr val="FFFF00"/>
              </a:highligh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4"/>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DCA3EBD3-0850-EDAB-6178-BC1EC68285C4}"/>
              </a:ext>
            </a:extLst>
          </p:cNvPr>
          <p:cNvSpPr txBox="1"/>
          <p:nvPr/>
        </p:nvSpPr>
        <p:spPr>
          <a:xfrm>
            <a:off x="876301" y="5804079"/>
            <a:ext cx="10765898" cy="276999"/>
          </a:xfrm>
          <a:prstGeom prst="rect">
            <a:avLst/>
          </a:prstGeom>
          <a:noFill/>
        </p:spPr>
        <p:txBody>
          <a:bodyPr wrap="square">
            <a:spAutoFit/>
          </a:bodyPr>
          <a:lstStyle/>
          <a:p>
            <a:r>
              <a:rPr lang="en-US" sz="1200" b="0" i="0" dirty="0">
                <a:solidFill>
                  <a:srgbClr val="333333"/>
                </a:solidFill>
                <a:effectLst/>
                <a:latin typeface="Open Sans" panose="020B0606030504020204" pitchFamily="34" charset="0"/>
              </a:rPr>
              <a:t>This approach produces the same results in respect of the shadow property and referential constraints being generated as in the previous approach.</a:t>
            </a:r>
            <a:endParaRPr lang="en-IN" sz="1200" dirty="0"/>
          </a:p>
        </p:txBody>
      </p:sp>
    </p:spTree>
    <p:extLst>
      <p:ext uri="{BB962C8B-B14F-4D97-AF65-F5344CB8AC3E}">
        <p14:creationId xmlns:p14="http://schemas.microsoft.com/office/powerpoint/2010/main" val="17913156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494087F-F6C9-5725-7D9B-42DB1C5F8BC2}"/>
              </a:ext>
            </a:extLst>
          </p:cNvPr>
          <p:cNvSpPr txBox="1"/>
          <p:nvPr/>
        </p:nvSpPr>
        <p:spPr>
          <a:xfrm>
            <a:off x="549112" y="-1"/>
            <a:ext cx="3513841" cy="369332"/>
          </a:xfrm>
          <a:prstGeom prst="rect">
            <a:avLst/>
          </a:prstGeom>
          <a:noFill/>
        </p:spPr>
        <p:txBody>
          <a:bodyPr wrap="square">
            <a:spAutoFit/>
          </a:bodyPr>
          <a:lstStyle/>
          <a:p>
            <a:pPr algn="l"/>
            <a:r>
              <a:rPr lang="en-IN" b="0" i="0" dirty="0">
                <a:solidFill>
                  <a:srgbClr val="004867"/>
                </a:solidFill>
                <a:effectLst/>
                <a:latin typeface="Roboto" panose="02000000000000000000" pitchFamily="2" charset="0"/>
              </a:rPr>
              <a:t>Fully Defined Relationship </a:t>
            </a:r>
          </a:p>
        </p:txBody>
      </p:sp>
      <p:sp>
        <p:nvSpPr>
          <p:cNvPr id="7" name="TextBox 6">
            <a:extLst>
              <a:ext uri="{FF2B5EF4-FFF2-40B4-BE49-F238E27FC236}">
                <a16:creationId xmlns:a16="http://schemas.microsoft.com/office/drawing/2014/main" id="{72C071A9-AE27-7593-0CDB-14993EE02A7E}"/>
              </a:ext>
            </a:extLst>
          </p:cNvPr>
          <p:cNvSpPr txBox="1"/>
          <p:nvPr/>
        </p:nvSpPr>
        <p:spPr>
          <a:xfrm>
            <a:off x="190893" y="495155"/>
            <a:ext cx="5710286" cy="461665"/>
          </a:xfrm>
          <a:prstGeom prst="rect">
            <a:avLst/>
          </a:prstGeom>
          <a:noFill/>
        </p:spPr>
        <p:txBody>
          <a:bodyPr wrap="square">
            <a:spAutoFit/>
          </a:bodyPr>
          <a:lstStyle/>
          <a:p>
            <a:r>
              <a:rPr lang="en-US" sz="1200" b="0" i="0" dirty="0">
                <a:solidFill>
                  <a:srgbClr val="333333"/>
                </a:solidFill>
                <a:effectLst/>
                <a:latin typeface="Open Sans" panose="020B0606030504020204" pitchFamily="34" charset="0"/>
              </a:rPr>
              <a:t>In the third approach, the relationship is considered to </a:t>
            </a:r>
            <a:r>
              <a:rPr lang="en-US" sz="1200" b="0" i="0" dirty="0">
                <a:solidFill>
                  <a:srgbClr val="333333"/>
                </a:solidFill>
                <a:effectLst/>
                <a:highlight>
                  <a:srgbClr val="FFFF00"/>
                </a:highlight>
                <a:latin typeface="Open Sans" panose="020B0606030504020204" pitchFamily="34" charset="0"/>
              </a:rPr>
              <a:t>be </a:t>
            </a:r>
            <a:r>
              <a:rPr lang="en-US" sz="1200" b="0" i="1" dirty="0">
                <a:solidFill>
                  <a:srgbClr val="333333"/>
                </a:solidFill>
                <a:effectLst/>
                <a:highlight>
                  <a:srgbClr val="FFFF00"/>
                </a:highlight>
                <a:latin typeface="Open Sans" panose="020B0606030504020204" pitchFamily="34" charset="0"/>
              </a:rPr>
              <a:t>fully defined</a:t>
            </a:r>
            <a:r>
              <a:rPr lang="en-US" sz="1200" b="0" i="0" dirty="0">
                <a:solidFill>
                  <a:srgbClr val="333333"/>
                </a:solidFill>
                <a:effectLst/>
                <a:highlight>
                  <a:srgbClr val="FFFF00"/>
                </a:highlight>
                <a:latin typeface="Open Sans" panose="020B0606030504020204" pitchFamily="34" charset="0"/>
              </a:rPr>
              <a:t> </a:t>
            </a:r>
            <a:r>
              <a:rPr lang="en-US" sz="1200" b="0" i="0" dirty="0">
                <a:solidFill>
                  <a:srgbClr val="333333"/>
                </a:solidFill>
                <a:effectLst/>
                <a:latin typeface="Open Sans" panose="020B0606030504020204" pitchFamily="34" charset="0"/>
              </a:rPr>
              <a:t>when both ends of the navigation are present together with a </a:t>
            </a:r>
            <a:r>
              <a:rPr lang="en-US" sz="1200" b="0" i="1" dirty="0">
                <a:solidFill>
                  <a:srgbClr val="333333"/>
                </a:solidFill>
                <a:effectLst/>
                <a:latin typeface="Open Sans" panose="020B0606030504020204" pitchFamily="34" charset="0"/>
              </a:rPr>
              <a:t>foreign key property</a:t>
            </a:r>
            <a:r>
              <a:rPr lang="en-US" sz="1200" b="0" i="0" dirty="0">
                <a:solidFill>
                  <a:srgbClr val="333333"/>
                </a:solidFill>
                <a:effectLst/>
                <a:latin typeface="Open Sans" panose="020B0606030504020204" pitchFamily="34" charset="0"/>
              </a:rPr>
              <a:t>:</a:t>
            </a:r>
            <a:endParaRPr lang="en-IN" sz="1200" dirty="0"/>
          </a:p>
        </p:txBody>
      </p:sp>
      <p:sp>
        <p:nvSpPr>
          <p:cNvPr id="8" name="Rectangle 1">
            <a:extLst>
              <a:ext uri="{FF2B5EF4-FFF2-40B4-BE49-F238E27FC236}">
                <a16:creationId xmlns:a16="http://schemas.microsoft.com/office/drawing/2014/main" id="{024564BA-9295-D54B-B6F0-3E24F13B246F}"/>
              </a:ext>
            </a:extLst>
          </p:cNvPr>
          <p:cNvSpPr>
            <a:spLocks noChangeArrowheads="1"/>
          </p:cNvSpPr>
          <p:nvPr/>
        </p:nvSpPr>
        <p:spPr bwMode="auto">
          <a:xfrm>
            <a:off x="219174" y="1082644"/>
            <a:ext cx="4411744" cy="3293209"/>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class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Author</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int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AuthorId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FirstName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LastName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400" b="0" i="0" u="none" strike="noStrike" cap="none" normalizeH="0" baseline="0" dirty="0">
                <a:ln>
                  <a:noFill/>
                </a:ln>
                <a:solidFill>
                  <a:srgbClr val="0000FF"/>
                </a:solidFill>
                <a:effectLst/>
                <a:highlight>
                  <a:srgbClr val="FFFF00"/>
                </a:highlight>
                <a:latin typeface="Menlo"/>
              </a:rPr>
              <a:t>public</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err="1">
                <a:ln>
                  <a:noFill/>
                </a:ln>
                <a:solidFill>
                  <a:srgbClr val="555555"/>
                </a:solidFill>
                <a:effectLst/>
                <a:highlight>
                  <a:srgbClr val="FFFF00"/>
                </a:highlight>
                <a:latin typeface="Menlo"/>
              </a:rPr>
              <a:t>ICollection</a:t>
            </a:r>
            <a:r>
              <a:rPr kumimoji="0" lang="en-US" altLang="en-US" sz="1400" b="0" i="0" u="none" strike="noStrike" cap="none" normalizeH="0" baseline="0" dirty="0">
                <a:ln>
                  <a:noFill/>
                </a:ln>
                <a:solidFill>
                  <a:srgbClr val="666600"/>
                </a:solidFill>
                <a:effectLst/>
                <a:highlight>
                  <a:srgbClr val="FFFF00"/>
                </a:highlight>
                <a:latin typeface="Menlo"/>
              </a:rPr>
              <a:t>&lt;</a:t>
            </a:r>
            <a:r>
              <a:rPr kumimoji="0" lang="en-US" altLang="en-US" sz="1400" b="0" i="0" u="none" strike="noStrike" cap="none" normalizeH="0" baseline="0" dirty="0">
                <a:ln>
                  <a:noFill/>
                </a:ln>
                <a:solidFill>
                  <a:srgbClr val="555555"/>
                </a:solidFill>
                <a:effectLst/>
                <a:highlight>
                  <a:srgbClr val="FFFF00"/>
                </a:highlight>
                <a:latin typeface="Menlo"/>
              </a:rPr>
              <a:t>Book</a:t>
            </a:r>
            <a:r>
              <a:rPr kumimoji="0" lang="en-US" altLang="en-US" sz="1400" b="0" i="0" u="none" strike="noStrike" cap="none" normalizeH="0" baseline="0" dirty="0">
                <a:ln>
                  <a:noFill/>
                </a:ln>
                <a:solidFill>
                  <a:srgbClr val="666600"/>
                </a:solidFill>
                <a:effectLst/>
                <a:highlight>
                  <a:srgbClr val="FFFF00"/>
                </a:highlight>
                <a:latin typeface="Menlo"/>
              </a:rPr>
              <a:t>&gt;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555555"/>
                </a:solidFill>
                <a:effectLst/>
                <a:highlight>
                  <a:srgbClr val="FFFF00"/>
                </a:highlight>
                <a:latin typeface="Menlo"/>
              </a:rPr>
              <a:t>Books</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get</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set</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class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Book</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0"/>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1"/>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int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BookId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2"/>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Title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3"/>
              <a:tabLst/>
            </a:pPr>
            <a:r>
              <a:rPr kumimoji="0" lang="en-US" altLang="en-US" sz="1400" b="0" i="0" u="none" strike="noStrike" cap="none" normalizeH="0" baseline="0" dirty="0">
                <a:ln>
                  <a:noFill/>
                </a:ln>
                <a:solidFill>
                  <a:srgbClr val="0000FF"/>
                </a:solidFill>
                <a:effectLst/>
                <a:highlight>
                  <a:srgbClr val="FFFF00"/>
                </a:highlight>
                <a:latin typeface="Menlo"/>
              </a:rPr>
              <a:t>public</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int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err="1">
                <a:ln>
                  <a:noFill/>
                </a:ln>
                <a:solidFill>
                  <a:srgbClr val="555555"/>
                </a:solidFill>
                <a:effectLst/>
                <a:highlight>
                  <a:srgbClr val="FFFF00"/>
                </a:highlight>
                <a:latin typeface="Menlo"/>
              </a:rPr>
              <a:t>AuthorId</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get</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set</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highlight>
                  <a:srgbClr val="FFFF00"/>
                </a:highlight>
                <a:latin typeface="Menlo"/>
              </a:rPr>
              <a:t>}</a:t>
            </a:r>
            <a:endParaRPr kumimoji="0" lang="en-US" altLang="en-US" sz="1400" b="0" i="0" u="none" strike="noStrike" cap="none" normalizeH="0" baseline="0" dirty="0">
              <a:ln>
                <a:noFill/>
              </a:ln>
              <a:solidFill>
                <a:srgbClr val="333333"/>
              </a:solidFill>
              <a:effectLst/>
              <a:highlight>
                <a:srgbClr val="FFFF00"/>
              </a:highligh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4"/>
              <a:tabLst/>
            </a:pPr>
            <a:r>
              <a:rPr kumimoji="0" lang="en-US" altLang="en-US" sz="1400" b="0" i="0" u="none" strike="noStrike" cap="none" normalizeH="0" baseline="0" dirty="0">
                <a:ln>
                  <a:noFill/>
                </a:ln>
                <a:solidFill>
                  <a:srgbClr val="0000FF"/>
                </a:solidFill>
                <a:effectLst/>
                <a:highlight>
                  <a:srgbClr val="FFFF00"/>
                </a:highlight>
                <a:latin typeface="Menlo"/>
              </a:rPr>
              <a:t>public</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555555"/>
                </a:solidFill>
                <a:effectLst/>
                <a:highlight>
                  <a:srgbClr val="FFFF00"/>
                </a:highlight>
                <a:latin typeface="Menlo"/>
              </a:rPr>
              <a:t>Author</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err="1">
                <a:ln>
                  <a:noFill/>
                </a:ln>
                <a:solidFill>
                  <a:srgbClr val="555555"/>
                </a:solidFill>
                <a:effectLst/>
                <a:highlight>
                  <a:srgbClr val="FFFF00"/>
                </a:highlight>
                <a:latin typeface="Menlo"/>
              </a:rPr>
              <a:t>Author</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get</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set</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highlight>
                  <a:srgbClr val="FFFF00"/>
                </a:highlight>
                <a:latin typeface="Menlo"/>
              </a:rPr>
              <a:t>}</a:t>
            </a:r>
            <a:endParaRPr kumimoji="0" lang="en-US" altLang="en-US" sz="1400" b="0" i="0" u="none" strike="noStrike" cap="none" normalizeH="0" baseline="0" dirty="0">
              <a:ln>
                <a:noFill/>
              </a:ln>
              <a:solidFill>
                <a:srgbClr val="333333"/>
              </a:solidFill>
              <a:effectLst/>
              <a:highlight>
                <a:srgbClr val="FFFF00"/>
              </a:highligh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5"/>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2">
            <a:extLst>
              <a:ext uri="{FF2B5EF4-FFF2-40B4-BE49-F238E27FC236}">
                <a16:creationId xmlns:a16="http://schemas.microsoft.com/office/drawing/2014/main" id="{BE211D2C-BC91-6976-6DE4-6FD1A722476E}"/>
              </a:ext>
            </a:extLst>
          </p:cNvPr>
          <p:cNvSpPr>
            <a:spLocks noChangeArrowheads="1"/>
          </p:cNvSpPr>
          <p:nvPr/>
        </p:nvSpPr>
        <p:spPr bwMode="auto">
          <a:xfrm>
            <a:off x="190894" y="5311442"/>
            <a:ext cx="4786459" cy="738664"/>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In this case, the referential constraint will be </a:t>
            </a:r>
            <a:r>
              <a:rPr kumimoji="0" lang="en-US" altLang="en-US" sz="1400" b="0" i="0" u="none" strike="noStrike" cap="none" normalizeH="0" baseline="0" dirty="0">
                <a:ln>
                  <a:noFill/>
                </a:ln>
                <a:solidFill>
                  <a:srgbClr val="333333"/>
                </a:solidFill>
                <a:effectLst/>
                <a:highlight>
                  <a:srgbClr val="FFFF00"/>
                </a:highlight>
                <a:latin typeface="Open Sans" panose="020B0606030504020204" pitchFamily="34" charset="0"/>
                <a:cs typeface="Open Sans" panose="020B0606030504020204" pitchFamily="34" charset="0"/>
              </a:rPr>
              <a:t>specified as </a:t>
            </a:r>
            <a:r>
              <a:rPr kumimoji="0" lang="en-US" altLang="en-US" sz="1400" b="0" i="0" u="none" strike="noStrike" cap="none" normalizeH="0" baseline="0" dirty="0">
                <a:ln>
                  <a:noFill/>
                </a:ln>
                <a:solidFill>
                  <a:srgbClr val="C7254E"/>
                </a:solidFill>
                <a:effectLst/>
                <a:highlight>
                  <a:srgbClr val="FFFF00"/>
                </a:highlight>
                <a:latin typeface="Menlo"/>
                <a:cs typeface="Open Sans" panose="020B0606030504020204" pitchFamily="34" charset="0"/>
              </a:rPr>
              <a:t>Cascade</a:t>
            </a:r>
            <a:r>
              <a:rPr kumimoji="0" lang="en-US" altLang="en-US" sz="1400" b="0" i="0" u="none" strike="noStrike" cap="none" normalizeH="0" baseline="0" dirty="0">
                <a:ln>
                  <a:noFill/>
                </a:ln>
                <a:solidFill>
                  <a:srgbClr val="333333"/>
                </a:solidFill>
                <a:effectLst/>
                <a:highlight>
                  <a:srgbClr val="FFFF00"/>
                </a:highlight>
                <a:latin typeface="Open Sans" panose="020B0606030504020204" pitchFamily="34" charset="0"/>
                <a:cs typeface="Open Sans" panose="020B0606030504020204" pitchFamily="34" charset="0"/>
              </a:rPr>
              <a:t> on delete,</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based on the relationship being a required relationship i.e. the </a:t>
            </a:r>
            <a:r>
              <a:rPr kumimoji="0" lang="en-US" altLang="en-US" sz="1400" b="0" i="0" u="none" strike="noStrike" cap="none" normalizeH="0" baseline="0" dirty="0">
                <a:ln>
                  <a:noFill/>
                </a:ln>
                <a:solidFill>
                  <a:srgbClr val="333333"/>
                </a:solidFill>
                <a:effectLst/>
                <a:highlight>
                  <a:srgbClr val="FFFF00"/>
                </a:highlight>
                <a:latin typeface="Open Sans" panose="020B0606030504020204" pitchFamily="34" charset="0"/>
                <a:cs typeface="Open Sans" panose="020B0606030504020204" pitchFamily="34" charset="0"/>
              </a:rPr>
              <a:t>foreign key is not nullable.</a:t>
            </a:r>
            <a:endParaRPr kumimoji="0" lang="en-US" altLang="en-US" sz="1400" b="0" i="0" u="none" strike="noStrike" cap="none" normalizeH="0" baseline="0" dirty="0">
              <a:ln>
                <a:noFill/>
              </a:ln>
              <a:solidFill>
                <a:schemeClr val="tx1"/>
              </a:solidFill>
              <a:effectLst/>
              <a:highlight>
                <a:srgbClr val="FFFF00"/>
              </a:highlight>
            </a:endParaRPr>
          </a:p>
        </p:txBody>
      </p:sp>
      <p:sp>
        <p:nvSpPr>
          <p:cNvPr id="10" name="Rectangle 3">
            <a:extLst>
              <a:ext uri="{FF2B5EF4-FFF2-40B4-BE49-F238E27FC236}">
                <a16:creationId xmlns:a16="http://schemas.microsoft.com/office/drawing/2014/main" id="{958A9D7A-98D8-6CC8-E9EF-92E4E09B47A8}"/>
              </a:ext>
            </a:extLst>
          </p:cNvPr>
          <p:cNvSpPr>
            <a:spLocks noChangeArrowheads="1"/>
          </p:cNvSpPr>
          <p:nvPr/>
        </p:nvSpPr>
        <p:spPr bwMode="auto">
          <a:xfrm>
            <a:off x="5901179" y="387433"/>
            <a:ext cx="5571241" cy="3231654"/>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class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Author</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int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AuthorId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FirstName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LastName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400" b="0" i="0" u="none" strike="noStrike" cap="none" normalizeH="0" baseline="0" dirty="0">
                <a:ln>
                  <a:noFill/>
                </a:ln>
                <a:solidFill>
                  <a:srgbClr val="0000FF"/>
                </a:solidFill>
                <a:effectLst/>
                <a:highlight>
                  <a:srgbClr val="FFFF00"/>
                </a:highlight>
                <a:latin typeface="Menlo"/>
              </a:rPr>
              <a:t>public</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err="1">
                <a:ln>
                  <a:noFill/>
                </a:ln>
                <a:solidFill>
                  <a:srgbClr val="555555"/>
                </a:solidFill>
                <a:effectLst/>
                <a:highlight>
                  <a:srgbClr val="FFFF00"/>
                </a:highlight>
                <a:latin typeface="Menlo"/>
              </a:rPr>
              <a:t>ICollection</a:t>
            </a:r>
            <a:r>
              <a:rPr kumimoji="0" lang="en-US" altLang="en-US" sz="1400" b="0" i="0" u="none" strike="noStrike" cap="none" normalizeH="0" baseline="0" dirty="0">
                <a:ln>
                  <a:noFill/>
                </a:ln>
                <a:solidFill>
                  <a:srgbClr val="666600"/>
                </a:solidFill>
                <a:effectLst/>
                <a:highlight>
                  <a:srgbClr val="FFFF00"/>
                </a:highlight>
                <a:latin typeface="Menlo"/>
              </a:rPr>
              <a:t>&lt;</a:t>
            </a:r>
            <a:r>
              <a:rPr kumimoji="0" lang="en-US" altLang="en-US" sz="1400" b="0" i="0" u="none" strike="noStrike" cap="none" normalizeH="0" baseline="0" dirty="0">
                <a:ln>
                  <a:noFill/>
                </a:ln>
                <a:solidFill>
                  <a:srgbClr val="555555"/>
                </a:solidFill>
                <a:effectLst/>
                <a:highlight>
                  <a:srgbClr val="FFFF00"/>
                </a:highlight>
                <a:latin typeface="Menlo"/>
              </a:rPr>
              <a:t>Book</a:t>
            </a:r>
            <a:r>
              <a:rPr kumimoji="0" lang="en-US" altLang="en-US" sz="1400" b="0" i="0" u="none" strike="noStrike" cap="none" normalizeH="0" baseline="0" dirty="0">
                <a:ln>
                  <a:noFill/>
                </a:ln>
                <a:solidFill>
                  <a:srgbClr val="666600"/>
                </a:solidFill>
                <a:effectLst/>
                <a:highlight>
                  <a:srgbClr val="FFFF00"/>
                </a:highlight>
                <a:latin typeface="Menlo"/>
              </a:rPr>
              <a:t>&gt;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555555"/>
                </a:solidFill>
                <a:effectLst/>
                <a:highlight>
                  <a:srgbClr val="FFFF00"/>
                </a:highlight>
                <a:latin typeface="Menlo"/>
              </a:rPr>
              <a:t>Books</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get</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set</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class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Book</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0"/>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1"/>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int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BookId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2"/>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Title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3"/>
              <a:tabLst/>
            </a:pPr>
            <a:r>
              <a:rPr kumimoji="0" lang="en-US" altLang="en-US" sz="1400" b="0" i="0" u="none" strike="noStrike" cap="none" normalizeH="0" baseline="0" dirty="0">
                <a:ln>
                  <a:noFill/>
                </a:ln>
                <a:solidFill>
                  <a:srgbClr val="0000FF"/>
                </a:solidFill>
                <a:effectLst/>
                <a:highlight>
                  <a:srgbClr val="FFFF00"/>
                </a:highlight>
                <a:latin typeface="Menlo"/>
              </a:rPr>
              <a:t>public</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int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err="1">
                <a:ln>
                  <a:noFill/>
                </a:ln>
                <a:solidFill>
                  <a:srgbClr val="555555"/>
                </a:solidFill>
                <a:effectLst/>
                <a:highlight>
                  <a:srgbClr val="FFFF00"/>
                </a:highlight>
                <a:latin typeface="Menlo"/>
              </a:rPr>
              <a:t>AuthorId</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get</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set</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highlight>
                  <a:srgbClr val="FFFF00"/>
                </a:highlight>
                <a:latin typeface="Menlo"/>
              </a:rPr>
              <a:t>}</a:t>
            </a:r>
            <a:endParaRPr kumimoji="0" lang="en-US" altLang="en-US" sz="1400" b="0" i="0" u="none" strike="noStrike" cap="none" normalizeH="0" baseline="0" dirty="0">
              <a:ln>
                <a:noFill/>
              </a:ln>
              <a:solidFill>
                <a:srgbClr val="333333"/>
              </a:solidFill>
              <a:effectLst/>
              <a:highlight>
                <a:srgbClr val="FFFF00"/>
              </a:highligh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4"/>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12" name="TextBox 11">
            <a:extLst>
              <a:ext uri="{FF2B5EF4-FFF2-40B4-BE49-F238E27FC236}">
                <a16:creationId xmlns:a16="http://schemas.microsoft.com/office/drawing/2014/main" id="{F1A8F39A-1FEA-34AC-E940-6D0927171FD2}"/>
              </a:ext>
            </a:extLst>
          </p:cNvPr>
          <p:cNvSpPr txBox="1"/>
          <p:nvPr/>
        </p:nvSpPr>
        <p:spPr>
          <a:xfrm>
            <a:off x="6096000" y="3818109"/>
            <a:ext cx="5451835" cy="73866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same configuration can be achieved by omitting the inverse navigation property, </a:t>
            </a:r>
            <a:r>
              <a:rPr kumimoji="0" lang="en-US" altLang="en-US" sz="1400" b="0" i="0" u="none" strike="noStrike" cap="none" normalizeH="0" baseline="0" dirty="0">
                <a:ln>
                  <a:noFill/>
                </a:ln>
                <a:solidFill>
                  <a:srgbClr val="333333"/>
                </a:solidFill>
                <a:effectLst/>
                <a:highlight>
                  <a:srgbClr val="FFFF00"/>
                </a:highlight>
                <a:latin typeface="Open Sans" panose="020B0606030504020204" pitchFamily="34" charset="0"/>
                <a:cs typeface="Open Sans" panose="020B0606030504020204" pitchFamily="34" charset="0"/>
              </a:rPr>
              <a:t>specifying only the foreign key property and the principal navigational property:</a:t>
            </a:r>
            <a:endParaRPr kumimoji="0" lang="en-US" altLang="en-US" sz="1400" b="0" i="0" u="none" strike="noStrike" cap="none" normalizeH="0" baseline="0" dirty="0">
              <a:ln>
                <a:noFill/>
              </a:ln>
              <a:solidFill>
                <a:schemeClr val="tx1"/>
              </a:solidFill>
              <a:effectLst/>
              <a:highlight>
                <a:srgbClr val="FFFF00"/>
              </a:highlight>
            </a:endParaRPr>
          </a:p>
        </p:txBody>
      </p:sp>
      <p:sp>
        <p:nvSpPr>
          <p:cNvPr id="14" name="TextBox 13">
            <a:extLst>
              <a:ext uri="{FF2B5EF4-FFF2-40B4-BE49-F238E27FC236}">
                <a16:creationId xmlns:a16="http://schemas.microsoft.com/office/drawing/2014/main" id="{EDC047C3-347B-112D-6B56-3A8AD7F7CEBF}"/>
              </a:ext>
            </a:extLst>
          </p:cNvPr>
          <p:cNvSpPr txBox="1"/>
          <p:nvPr/>
        </p:nvSpPr>
        <p:spPr>
          <a:xfrm>
            <a:off x="5639585" y="4996179"/>
            <a:ext cx="6094428" cy="1600438"/>
          </a:xfrm>
          <a:prstGeom prst="rect">
            <a:avLst/>
          </a:prstGeom>
          <a:noFill/>
        </p:spPr>
        <p:txBody>
          <a:bodyPr wrap="square">
            <a:spAutoFit/>
          </a:bodyPr>
          <a:lstStyle/>
          <a:p>
            <a:r>
              <a:rPr lang="en-US" sz="1400" b="0" i="0" dirty="0">
                <a:solidFill>
                  <a:srgbClr val="333333"/>
                </a:solidFill>
                <a:effectLst/>
                <a:latin typeface="Open Sans" panose="020B0606030504020204" pitchFamily="34" charset="0"/>
              </a:rPr>
              <a:t>In the previous example, the relationship is a </a:t>
            </a:r>
            <a:r>
              <a:rPr lang="en-US" sz="1400" b="0" i="1" dirty="0">
                <a:solidFill>
                  <a:srgbClr val="333333"/>
                </a:solidFill>
                <a:effectLst/>
                <a:latin typeface="Open Sans" panose="020B0606030504020204" pitchFamily="34" charset="0"/>
              </a:rPr>
              <a:t>required</a:t>
            </a:r>
            <a:r>
              <a:rPr lang="en-US" sz="1400" b="0" i="0" dirty="0">
                <a:solidFill>
                  <a:srgbClr val="333333"/>
                </a:solidFill>
                <a:effectLst/>
                <a:latin typeface="Open Sans" panose="020B0606030504020204" pitchFamily="34" charset="0"/>
              </a:rPr>
              <a:t> relationship. That means that a </a:t>
            </a:r>
            <a:r>
              <a:rPr lang="en-US" sz="1400" b="0" i="0" dirty="0" err="1">
                <a:solidFill>
                  <a:srgbClr val="333333"/>
                </a:solidFill>
                <a:effectLst/>
                <a:latin typeface="Open Sans" panose="020B0606030504020204" pitchFamily="34" charset="0"/>
              </a:rPr>
              <a:t>dependant</a:t>
            </a:r>
            <a:r>
              <a:rPr lang="en-US" sz="1400" b="0" i="0" dirty="0">
                <a:solidFill>
                  <a:srgbClr val="333333"/>
                </a:solidFill>
                <a:effectLst/>
                <a:latin typeface="Open Sans" panose="020B0606030504020204" pitchFamily="34" charset="0"/>
              </a:rPr>
              <a:t> cannot exist without its principal. </a:t>
            </a:r>
            <a:r>
              <a:rPr lang="en-US" sz="1400" b="0" i="0" dirty="0">
                <a:solidFill>
                  <a:srgbClr val="333333"/>
                </a:solidFill>
                <a:effectLst/>
                <a:highlight>
                  <a:srgbClr val="FFFF00"/>
                </a:highlight>
                <a:latin typeface="Open Sans" panose="020B0606030504020204" pitchFamily="34" charset="0"/>
              </a:rPr>
              <a:t>If an author is deleted, all of the authors books must also be deleted. EF Core will set up this </a:t>
            </a:r>
            <a:r>
              <a:rPr lang="en-US" sz="1400" b="0" i="0" dirty="0" err="1">
                <a:solidFill>
                  <a:srgbClr val="333333"/>
                </a:solidFill>
                <a:effectLst/>
                <a:highlight>
                  <a:srgbClr val="FFFF00"/>
                </a:highlight>
                <a:latin typeface="Open Sans" panose="020B0606030504020204" pitchFamily="34" charset="0"/>
              </a:rPr>
              <a:t>behaviour</a:t>
            </a:r>
            <a:r>
              <a:rPr lang="en-US" sz="1400" b="0" i="0" dirty="0">
                <a:solidFill>
                  <a:srgbClr val="333333"/>
                </a:solidFill>
                <a:effectLst/>
                <a:highlight>
                  <a:srgbClr val="FFFF00"/>
                </a:highlight>
                <a:latin typeface="Open Sans" panose="020B0606030504020204" pitchFamily="34" charset="0"/>
              </a:rPr>
              <a:t> automatically if you explicitly include a non-nullable foreign key property</a:t>
            </a:r>
            <a:r>
              <a:rPr lang="en-US" sz="1400" b="0" i="0" dirty="0">
                <a:solidFill>
                  <a:srgbClr val="333333"/>
                </a:solidFill>
                <a:effectLst/>
                <a:latin typeface="Open Sans" panose="020B0606030504020204" pitchFamily="34" charset="0"/>
              </a:rPr>
              <a:t>, otherwise as you have seen, EF Core prevents the deletion of authors that are currently associated with books.</a:t>
            </a:r>
            <a:endParaRPr lang="en-IN" sz="1400" dirty="0"/>
          </a:p>
        </p:txBody>
      </p:sp>
      <p:sp>
        <p:nvSpPr>
          <p:cNvPr id="16" name="TextBox 15">
            <a:extLst>
              <a:ext uri="{FF2B5EF4-FFF2-40B4-BE49-F238E27FC236}">
                <a16:creationId xmlns:a16="http://schemas.microsoft.com/office/drawing/2014/main" id="{651D3E8E-C15C-65EE-EEFE-C4F926F188B5}"/>
              </a:ext>
            </a:extLst>
          </p:cNvPr>
          <p:cNvSpPr txBox="1"/>
          <p:nvPr/>
        </p:nvSpPr>
        <p:spPr>
          <a:xfrm>
            <a:off x="6351308" y="6335007"/>
            <a:ext cx="5743282" cy="523220"/>
          </a:xfrm>
          <a:prstGeom prst="rect">
            <a:avLst/>
          </a:prstGeom>
          <a:noFill/>
        </p:spPr>
        <p:txBody>
          <a:bodyPr wrap="square">
            <a:spAutoFit/>
          </a:bodyPr>
          <a:lstStyle/>
          <a:p>
            <a:r>
              <a:rPr lang="en-US" sz="1400" b="0" i="0" dirty="0">
                <a:solidFill>
                  <a:srgbClr val="333333"/>
                </a:solidFill>
                <a:effectLst/>
                <a:latin typeface="Open Sans" panose="020B0606030504020204" pitchFamily="34" charset="0"/>
              </a:rPr>
              <a:t>Logically, a book cannot exist without an author, so that relationship is always going to be a required one</a:t>
            </a:r>
            <a:endParaRPr lang="en-IN" sz="1400" dirty="0"/>
          </a:p>
        </p:txBody>
      </p:sp>
    </p:spTree>
    <p:extLst>
      <p:ext uri="{BB962C8B-B14F-4D97-AF65-F5344CB8AC3E}">
        <p14:creationId xmlns:p14="http://schemas.microsoft.com/office/powerpoint/2010/main" val="3560713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9D36326-590C-3739-815B-22D38297635F}"/>
              </a:ext>
            </a:extLst>
          </p:cNvPr>
          <p:cNvSpPr txBox="1"/>
          <p:nvPr/>
        </p:nvSpPr>
        <p:spPr>
          <a:xfrm>
            <a:off x="370002" y="259858"/>
            <a:ext cx="11545477" cy="954107"/>
          </a:xfrm>
          <a:prstGeom prst="rect">
            <a:avLst/>
          </a:prstGeom>
          <a:noFill/>
        </p:spPr>
        <p:txBody>
          <a:bodyPr wrap="square">
            <a:spAutoFit/>
          </a:bodyPr>
          <a:lstStyle/>
          <a:p>
            <a:r>
              <a:rPr lang="en-US" sz="1400" b="0" i="0" dirty="0">
                <a:solidFill>
                  <a:srgbClr val="333333"/>
                </a:solidFill>
                <a:effectLst/>
                <a:latin typeface="Open Sans" panose="020B0606030504020204" pitchFamily="34" charset="0"/>
              </a:rPr>
              <a:t>A tenant can exist without being assigned to a property. This is an example of an </a:t>
            </a:r>
            <a:r>
              <a:rPr lang="en-US" sz="1400" b="0" i="1" dirty="0">
                <a:solidFill>
                  <a:srgbClr val="333333"/>
                </a:solidFill>
                <a:effectLst/>
                <a:latin typeface="Open Sans" panose="020B0606030504020204" pitchFamily="34" charset="0"/>
              </a:rPr>
              <a:t>optional relationship</a:t>
            </a:r>
            <a:r>
              <a:rPr lang="en-US" sz="1400" b="0" i="0" dirty="0">
                <a:solidFill>
                  <a:srgbClr val="333333"/>
                </a:solidFill>
                <a:effectLst/>
                <a:latin typeface="Open Sans" panose="020B0606030504020204" pitchFamily="34" charset="0"/>
              </a:rPr>
              <a:t>. This is the type of relationship that EF Core generates </a:t>
            </a:r>
            <a:r>
              <a:rPr lang="en-US" sz="1400" b="0" i="0" dirty="0" err="1">
                <a:solidFill>
                  <a:srgbClr val="333333"/>
                </a:solidFill>
                <a:effectLst/>
                <a:latin typeface="Open Sans" panose="020B0606030504020204" pitchFamily="34" charset="0"/>
              </a:rPr>
              <a:t>automtically</a:t>
            </a:r>
            <a:r>
              <a:rPr lang="en-US" sz="1400" b="0" i="0" dirty="0">
                <a:solidFill>
                  <a:srgbClr val="333333"/>
                </a:solidFill>
                <a:effectLst/>
                <a:latin typeface="Open Sans" panose="020B0606030504020204" pitchFamily="34" charset="0"/>
              </a:rPr>
              <a:t> if you do not include a foreign key property in the dependent entity, as you have seen in the first and second examples above. You can also explicitly create an </a:t>
            </a:r>
            <a:r>
              <a:rPr lang="en-US" sz="1400" b="0" i="0" dirty="0" err="1">
                <a:solidFill>
                  <a:srgbClr val="333333"/>
                </a:solidFill>
                <a:effectLst/>
                <a:latin typeface="Open Sans" panose="020B0606030504020204" pitchFamily="34" charset="0"/>
              </a:rPr>
              <a:t>otpional</a:t>
            </a:r>
            <a:r>
              <a:rPr lang="en-US" sz="1400" b="0" i="0" dirty="0">
                <a:solidFill>
                  <a:srgbClr val="333333"/>
                </a:solidFill>
                <a:effectLst/>
                <a:latin typeface="Open Sans" panose="020B0606030504020204" pitchFamily="34" charset="0"/>
              </a:rPr>
              <a:t> relationship by including a nullable foreign key property in the dependent entity:</a:t>
            </a:r>
            <a:endParaRPr lang="en-IN" sz="1400" dirty="0"/>
          </a:p>
        </p:txBody>
      </p:sp>
      <p:sp>
        <p:nvSpPr>
          <p:cNvPr id="6" name="Rectangle 1">
            <a:extLst>
              <a:ext uri="{FF2B5EF4-FFF2-40B4-BE49-F238E27FC236}">
                <a16:creationId xmlns:a16="http://schemas.microsoft.com/office/drawing/2014/main" id="{32BA1AE0-770A-FC16-FB93-89CC197E0A6A}"/>
              </a:ext>
            </a:extLst>
          </p:cNvPr>
          <p:cNvSpPr>
            <a:spLocks noChangeArrowheads="1"/>
          </p:cNvSpPr>
          <p:nvPr/>
        </p:nvSpPr>
        <p:spPr bwMode="auto">
          <a:xfrm>
            <a:off x="273378" y="1342128"/>
            <a:ext cx="4562573" cy="3693319"/>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class</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Property</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int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err="1">
                <a:ln>
                  <a:noFill/>
                </a:ln>
                <a:solidFill>
                  <a:srgbClr val="555555"/>
                </a:solidFill>
                <a:effectLst/>
                <a:latin typeface="Menlo"/>
              </a:rPr>
              <a:t>PropertyId</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string</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Address</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List</a:t>
            </a:r>
            <a:r>
              <a:rPr kumimoji="0" lang="en-US" altLang="en-US" sz="1600" b="0" i="0" u="none" strike="noStrike" cap="none" normalizeH="0" baseline="0" dirty="0">
                <a:ln>
                  <a:noFill/>
                </a:ln>
                <a:solidFill>
                  <a:srgbClr val="666600"/>
                </a:solidFill>
                <a:effectLst/>
                <a:latin typeface="Menlo"/>
              </a:rPr>
              <a:t>&lt;</a:t>
            </a:r>
            <a:r>
              <a:rPr kumimoji="0" lang="en-US" altLang="en-US" sz="1600" b="0" i="0" u="none" strike="noStrike" cap="none" normalizeH="0" baseline="0" dirty="0">
                <a:ln>
                  <a:noFill/>
                </a:ln>
                <a:solidFill>
                  <a:srgbClr val="555555"/>
                </a:solidFill>
                <a:effectLst/>
                <a:latin typeface="Menlo"/>
              </a:rPr>
              <a:t>Tenant</a:t>
            </a:r>
            <a:r>
              <a:rPr kumimoji="0" lang="en-US" altLang="en-US" sz="1600" b="0" i="0" u="none" strike="noStrike" cap="none" normalizeH="0" baseline="0" dirty="0">
                <a:ln>
                  <a:noFill/>
                </a:ln>
                <a:solidFill>
                  <a:srgbClr val="666600"/>
                </a:solidFill>
                <a:effectLst/>
                <a:latin typeface="Menlo"/>
              </a:rPr>
              <a:t>&gt;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Tenants</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class</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Tenant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0"/>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int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err="1">
                <a:ln>
                  <a:noFill/>
                </a:ln>
                <a:solidFill>
                  <a:srgbClr val="555555"/>
                </a:solidFill>
                <a:effectLst/>
                <a:latin typeface="Menlo"/>
              </a:rPr>
              <a:t>TenantId</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1"/>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string</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Name</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2"/>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string</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Email</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3"/>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int</a:t>
            </a:r>
            <a:r>
              <a:rPr kumimoji="0" lang="en-US" altLang="en-US" sz="1600" b="0" i="0" u="none" strike="noStrike" cap="none" normalizeH="0" baseline="0" dirty="0">
                <a:ln>
                  <a:noFill/>
                </a:ln>
                <a:solidFill>
                  <a:srgbClr val="666600"/>
                </a:solidFill>
                <a:effectLst/>
                <a:highlight>
                  <a:srgbClr val="FFFF00"/>
                </a:highlight>
                <a:latin typeface="Menlo"/>
              </a:rPr>
              <a:t>?</a:t>
            </a:r>
            <a:r>
              <a:rPr kumimoji="0" lang="en-US" altLang="en-US" sz="1600" b="0" i="0" u="none" strike="noStrike" cap="none" normalizeH="0" baseline="0" dirty="0">
                <a:ln>
                  <a:noFill/>
                </a:ln>
                <a:solidFill>
                  <a:srgbClr val="000000"/>
                </a:solidFill>
                <a:effectLst/>
                <a:highlight>
                  <a:srgbClr val="FFFF00"/>
                </a:highlight>
                <a:latin typeface="Menlo"/>
              </a:rPr>
              <a:t> </a:t>
            </a:r>
            <a:r>
              <a:rPr kumimoji="0" lang="en-US" altLang="en-US" sz="1600" b="0" i="0" u="none" strike="noStrike" cap="none" normalizeH="0" baseline="0" dirty="0" err="1">
                <a:ln>
                  <a:noFill/>
                </a:ln>
                <a:solidFill>
                  <a:srgbClr val="555555"/>
                </a:solidFill>
                <a:effectLst/>
                <a:latin typeface="Menlo"/>
              </a:rPr>
              <a:t>PropertyId</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4"/>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Property</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err="1">
                <a:ln>
                  <a:noFill/>
                </a:ln>
                <a:solidFill>
                  <a:srgbClr val="555555"/>
                </a:solidFill>
                <a:effectLst/>
                <a:latin typeface="Menlo"/>
              </a:rPr>
              <a:t>Property</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5"/>
              <a:tabLst/>
            </a:pP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9DB39C6C-AB3B-1745-6F43-197DF329DBBC}"/>
              </a:ext>
            </a:extLst>
          </p:cNvPr>
          <p:cNvSpPr>
            <a:spLocks noChangeArrowheads="1"/>
          </p:cNvSpPr>
          <p:nvPr/>
        </p:nvSpPr>
        <p:spPr bwMode="auto">
          <a:xfrm>
            <a:off x="5308076" y="1213965"/>
            <a:ext cx="6513922" cy="1600438"/>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a:t>
            </a:r>
            <a:r>
              <a:rPr kumimoji="0" lang="en-US" altLang="en-US" sz="1400" b="0" i="0" u="none" strike="noStrike" cap="none" normalizeH="0" baseline="0" dirty="0">
                <a:ln>
                  <a:noFill/>
                </a:ln>
                <a:solidFill>
                  <a:srgbClr val="C7254E"/>
                </a:solidFill>
                <a:effectLst/>
                <a:latin typeface="Menlo"/>
              </a:rPr>
              <a:t>Tenant</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entity includes a nullable foreign key property, </a:t>
            </a:r>
            <a:r>
              <a:rPr kumimoji="0" lang="en-US" altLang="en-US" sz="1400" b="0" i="0" u="none" strike="noStrike" cap="none" normalizeH="0" baseline="0" dirty="0" err="1">
                <a:ln>
                  <a:noFill/>
                </a:ln>
                <a:solidFill>
                  <a:srgbClr val="C7254E"/>
                </a:solidFill>
                <a:effectLst/>
                <a:latin typeface="Menlo"/>
              </a:rPr>
              <a:t>PropertyId</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The</a:t>
            </a:r>
            <a:r>
              <a:rPr kumimoji="0" lang="en-US" altLang="en-US" sz="1400" b="0" i="0" u="none" strike="noStrike" cap="none" normalizeH="0" baseline="0" dirty="0">
                <a:ln>
                  <a:noFill/>
                </a:ln>
                <a:solidFill>
                  <a:srgbClr val="333333"/>
                </a:solidFill>
                <a:effectLst/>
                <a:highlight>
                  <a:srgbClr val="FFFF00"/>
                </a:highlight>
                <a:latin typeface="Open Sans" panose="020B0606030504020204" pitchFamily="34" charset="0"/>
                <a:cs typeface="Open Sans" panose="020B0606030504020204" pitchFamily="34" charset="0"/>
              </a:rPr>
              <a:t> </a:t>
            </a:r>
            <a:r>
              <a:rPr kumimoji="0" lang="en-US" altLang="en-US" sz="1400" b="0" i="0" u="none" strike="noStrike" cap="none" normalizeH="0" baseline="0" dirty="0">
                <a:ln>
                  <a:noFill/>
                </a:ln>
                <a:solidFill>
                  <a:srgbClr val="C7254E"/>
                </a:solidFill>
                <a:effectLst/>
                <a:highlight>
                  <a:srgbClr val="FFFF00"/>
                </a:highlight>
                <a:latin typeface="Menlo"/>
              </a:rPr>
              <a:t>?</a:t>
            </a:r>
            <a:r>
              <a:rPr kumimoji="0" lang="en-US" altLang="en-US" sz="1400" b="0" i="0" u="none" strike="noStrike" cap="none" normalizeH="0" baseline="0" dirty="0">
                <a:ln>
                  <a:noFill/>
                </a:ln>
                <a:solidFill>
                  <a:srgbClr val="333333"/>
                </a:solidFill>
                <a:effectLst/>
                <a:highlight>
                  <a:srgbClr val="FFFF00"/>
                </a:highlight>
                <a:latin typeface="Open Sans" panose="020B0606030504020204" pitchFamily="34" charset="0"/>
                <a:cs typeface="Open Sans" panose="020B0606030504020204" pitchFamily="34" charset="0"/>
              </a:rPr>
              <a:t> </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operator is shorthand for </a:t>
            </a:r>
            <a:r>
              <a:rPr kumimoji="0" lang="en-US" altLang="en-US" sz="1400" b="0" i="0" u="none" strike="noStrike" cap="none" normalizeH="0" baseline="0" dirty="0">
                <a:ln>
                  <a:noFill/>
                </a:ln>
                <a:solidFill>
                  <a:srgbClr val="C7254E"/>
                </a:solidFill>
                <a:effectLst/>
                <a:latin typeface="Menlo"/>
              </a:rPr>
              <a:t>Nullable&lt;int&gt;</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When a tenant first registers with a lettings agency, they won't have a property assigned to them. Therefore the </a:t>
            </a:r>
            <a:r>
              <a:rPr kumimoji="0" lang="en-US" altLang="en-US" sz="1400" b="0" i="0" u="none" strike="noStrike" cap="none" normalizeH="0" baseline="0" dirty="0" err="1">
                <a:ln>
                  <a:noFill/>
                </a:ln>
                <a:solidFill>
                  <a:srgbClr val="C7254E"/>
                </a:solidFill>
                <a:effectLst/>
                <a:highlight>
                  <a:srgbClr val="FFFF00"/>
                </a:highlight>
                <a:latin typeface="Menlo"/>
              </a:rPr>
              <a:t>PropertyId</a:t>
            </a:r>
            <a:r>
              <a:rPr kumimoji="0" lang="en-US" altLang="en-US" sz="1400" b="0" i="0" u="none" strike="noStrike" cap="none" normalizeH="0" baseline="0" dirty="0">
                <a:ln>
                  <a:noFill/>
                </a:ln>
                <a:solidFill>
                  <a:srgbClr val="333333"/>
                </a:solidFill>
                <a:effectLst/>
                <a:highlight>
                  <a:srgbClr val="FFFF00"/>
                </a:highlight>
                <a:latin typeface="Open Sans" panose="020B0606030504020204" pitchFamily="34" charset="0"/>
                <a:cs typeface="Open Sans" panose="020B0606030504020204" pitchFamily="34" charset="0"/>
              </a:rPr>
              <a:t> column in the database will be </a:t>
            </a:r>
            <a:r>
              <a:rPr kumimoji="0" lang="en-US" altLang="en-US" sz="1400" b="0" i="0" u="none" strike="noStrike" cap="none" normalizeH="0" baseline="0" dirty="0">
                <a:ln>
                  <a:noFill/>
                </a:ln>
                <a:solidFill>
                  <a:srgbClr val="C7254E"/>
                </a:solidFill>
                <a:effectLst/>
                <a:highlight>
                  <a:srgbClr val="FFFF00"/>
                </a:highlight>
                <a:latin typeface="Menlo"/>
              </a:rPr>
              <a:t>NULL</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signifying a homeless state. If a property comes off the market and is no longer available, the tenants in that property will still exist, albeit in a homeless state.</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7338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C3D4B06-F063-9F90-D234-E522D3012193}"/>
              </a:ext>
            </a:extLst>
          </p:cNvPr>
          <p:cNvSpPr txBox="1"/>
          <p:nvPr/>
        </p:nvSpPr>
        <p:spPr>
          <a:xfrm>
            <a:off x="285160" y="129322"/>
            <a:ext cx="9249365" cy="369332"/>
          </a:xfrm>
          <a:prstGeom prst="rect">
            <a:avLst/>
          </a:prstGeom>
          <a:noFill/>
        </p:spPr>
        <p:txBody>
          <a:bodyPr wrap="square">
            <a:spAutoFit/>
          </a:bodyPr>
          <a:lstStyle/>
          <a:p>
            <a:pPr algn="l"/>
            <a:r>
              <a:rPr lang="en-US" b="0" i="0" dirty="0">
                <a:solidFill>
                  <a:srgbClr val="004867"/>
                </a:solidFill>
                <a:effectLst/>
                <a:latin typeface="Roboto" panose="02000000000000000000" pitchFamily="2" charset="0"/>
              </a:rPr>
              <a:t>Entity Framework Core One To One Relationships Conventions</a:t>
            </a:r>
          </a:p>
        </p:txBody>
      </p:sp>
      <p:sp>
        <p:nvSpPr>
          <p:cNvPr id="6" name="Rectangle 1">
            <a:extLst>
              <a:ext uri="{FF2B5EF4-FFF2-40B4-BE49-F238E27FC236}">
                <a16:creationId xmlns:a16="http://schemas.microsoft.com/office/drawing/2014/main" id="{F898D587-63A3-B215-B3A5-372E0788B849}"/>
              </a:ext>
            </a:extLst>
          </p:cNvPr>
          <p:cNvSpPr>
            <a:spLocks noChangeArrowheads="1"/>
          </p:cNvSpPr>
          <p:nvPr/>
        </p:nvSpPr>
        <p:spPr bwMode="auto">
          <a:xfrm>
            <a:off x="287516" y="594048"/>
            <a:ext cx="4967925" cy="1600438"/>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Entity Framework Core will create a one to one relationship when both entities involved in the relationship contain a navigation property to the other, and the dependent entity includes a foreign key property for the principal entity. The following example illustrates a one to one relationship between </a:t>
            </a:r>
            <a:r>
              <a:rPr kumimoji="0" lang="en-US" altLang="en-US" sz="1400" b="0" i="0" u="none" strike="noStrike" cap="none" normalizeH="0" baseline="0" dirty="0">
                <a:ln>
                  <a:noFill/>
                </a:ln>
                <a:solidFill>
                  <a:srgbClr val="C7254E"/>
                </a:solidFill>
                <a:effectLst/>
                <a:latin typeface="Menlo"/>
              </a:rPr>
              <a:t>Author</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and </a:t>
            </a:r>
            <a:r>
              <a:rPr kumimoji="0" lang="en-US" altLang="en-US" sz="1400" b="0" i="0" u="none" strike="noStrike" cap="none" normalizeH="0" baseline="0" dirty="0" err="1">
                <a:ln>
                  <a:noFill/>
                </a:ln>
                <a:solidFill>
                  <a:srgbClr val="C7254E"/>
                </a:solidFill>
                <a:effectLst/>
                <a:latin typeface="Menlo"/>
              </a:rPr>
              <a:t>AuthorBiography</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BEE02A89-B336-14D9-FCF5-6036C096E927}"/>
              </a:ext>
            </a:extLst>
          </p:cNvPr>
          <p:cNvSpPr>
            <a:spLocks noChangeArrowheads="1"/>
          </p:cNvSpPr>
          <p:nvPr/>
        </p:nvSpPr>
        <p:spPr bwMode="auto">
          <a:xfrm>
            <a:off x="285160" y="2289880"/>
            <a:ext cx="4666268" cy="4462760"/>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class</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Author</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int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err="1">
                <a:ln>
                  <a:noFill/>
                </a:ln>
                <a:solidFill>
                  <a:srgbClr val="555555"/>
                </a:solidFill>
                <a:effectLst/>
                <a:latin typeface="Menlo"/>
              </a:rPr>
              <a:t>AuthorId</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string</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FirstName</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string</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err="1">
                <a:ln>
                  <a:noFill/>
                </a:ln>
                <a:solidFill>
                  <a:srgbClr val="555555"/>
                </a:solidFill>
                <a:effectLst/>
                <a:latin typeface="Menlo"/>
              </a:rPr>
              <a:t>LastName</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err="1">
                <a:ln>
                  <a:noFill/>
                </a:ln>
                <a:solidFill>
                  <a:srgbClr val="555555"/>
                </a:solidFill>
                <a:effectLst/>
                <a:latin typeface="Menlo"/>
              </a:rPr>
              <a:t>AuthorBiography</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Biography</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class</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err="1">
                <a:ln>
                  <a:noFill/>
                </a:ln>
                <a:solidFill>
                  <a:srgbClr val="555555"/>
                </a:solidFill>
                <a:effectLst/>
                <a:latin typeface="Menlo"/>
              </a:rPr>
              <a:t>AuthorBiography</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0"/>
              <a:tabLst/>
            </a:pP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1"/>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int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err="1">
                <a:ln>
                  <a:noFill/>
                </a:ln>
                <a:solidFill>
                  <a:srgbClr val="555555"/>
                </a:solidFill>
                <a:effectLst/>
                <a:latin typeface="Menlo"/>
              </a:rPr>
              <a:t>AuthorBiographyId</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2"/>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string</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Biography</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3"/>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err="1">
                <a:ln>
                  <a:noFill/>
                </a:ln>
                <a:solidFill>
                  <a:srgbClr val="555555"/>
                </a:solidFill>
                <a:effectLst/>
                <a:latin typeface="Menlo"/>
              </a:rPr>
              <a:t>DateTime</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err="1">
                <a:ln>
                  <a:noFill/>
                </a:ln>
                <a:solidFill>
                  <a:srgbClr val="555555"/>
                </a:solidFill>
                <a:effectLst/>
                <a:latin typeface="Menlo"/>
              </a:rPr>
              <a:t>DateOfBirth</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4"/>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string</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err="1">
                <a:ln>
                  <a:noFill/>
                </a:ln>
                <a:solidFill>
                  <a:srgbClr val="555555"/>
                </a:solidFill>
                <a:effectLst/>
                <a:latin typeface="Menlo"/>
              </a:rPr>
              <a:t>PlaceOfBirth</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5"/>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string</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Nationality</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6"/>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int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err="1">
                <a:ln>
                  <a:noFill/>
                </a:ln>
                <a:solidFill>
                  <a:srgbClr val="555555"/>
                </a:solidFill>
                <a:effectLst/>
                <a:latin typeface="Menlo"/>
              </a:rPr>
              <a:t>AuthorId</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7"/>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Author</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err="1">
                <a:ln>
                  <a:noFill/>
                </a:ln>
                <a:solidFill>
                  <a:srgbClr val="555555"/>
                </a:solidFill>
                <a:effectLst/>
                <a:latin typeface="Menlo"/>
              </a:rPr>
              <a:t>Author</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8"/>
              <a:tabLst/>
            </a:pP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8AA19ED5-69FB-1644-8416-4112CB26319E}"/>
              </a:ext>
            </a:extLst>
          </p:cNvPr>
          <p:cNvSpPr>
            <a:spLocks noChangeArrowheads="1"/>
          </p:cNvSpPr>
          <p:nvPr/>
        </p:nvSpPr>
        <p:spPr bwMode="auto">
          <a:xfrm>
            <a:off x="6096000" y="856619"/>
            <a:ext cx="5602664" cy="738664"/>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EF Core will generate a unique index on the </a:t>
            </a:r>
            <a:r>
              <a:rPr kumimoji="0" lang="en-US" altLang="en-US" sz="1400" b="0" i="0" u="none" strike="noStrike" cap="none" normalizeH="0" baseline="0" dirty="0" err="1">
                <a:ln>
                  <a:noFill/>
                </a:ln>
                <a:solidFill>
                  <a:srgbClr val="C7254E"/>
                </a:solidFill>
                <a:effectLst/>
                <a:latin typeface="Menlo"/>
              </a:rPr>
              <a:t>AuthorId</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foreign key column in the </a:t>
            </a:r>
            <a:r>
              <a:rPr kumimoji="0" lang="en-US" altLang="en-US" sz="1400" b="0" i="0" u="none" strike="noStrike" cap="none" normalizeH="0" baseline="0" dirty="0" err="1">
                <a:ln>
                  <a:noFill/>
                </a:ln>
                <a:solidFill>
                  <a:srgbClr val="333333"/>
                </a:solidFill>
                <a:effectLst/>
                <a:latin typeface="Open Sans" panose="020B0606030504020204" pitchFamily="34" charset="0"/>
                <a:cs typeface="Open Sans" panose="020B0606030504020204" pitchFamily="34" charset="0"/>
              </a:rPr>
              <a:t>AuthorBiographies</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table to ensure that only one biography can be associated with any particular author.</a:t>
            </a:r>
            <a:r>
              <a:rPr kumimoji="0" lang="en-US" altLang="en-US" sz="1400" b="0" i="0" u="none" strike="noStrike" cap="none" normalizeH="0" baseline="0" dirty="0">
                <a:ln>
                  <a:noFill/>
                </a:ln>
                <a:solidFill>
                  <a:schemeClr val="tx1"/>
                </a:solidFill>
                <a:effectLst/>
              </a:rPr>
              <a:t> </a:t>
            </a:r>
          </a:p>
        </p:txBody>
      </p:sp>
    </p:spTree>
    <p:extLst>
      <p:ext uri="{BB962C8B-B14F-4D97-AF65-F5344CB8AC3E}">
        <p14:creationId xmlns:p14="http://schemas.microsoft.com/office/powerpoint/2010/main" val="2481480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997A43D-A3AE-2752-BE77-A2FCBC20E08B}"/>
              </a:ext>
            </a:extLst>
          </p:cNvPr>
          <p:cNvSpPr txBox="1"/>
          <p:nvPr/>
        </p:nvSpPr>
        <p:spPr>
          <a:xfrm>
            <a:off x="615100" y="264198"/>
            <a:ext cx="11366368" cy="646331"/>
          </a:xfrm>
          <a:prstGeom prst="rect">
            <a:avLst/>
          </a:prstGeom>
          <a:noFill/>
        </p:spPr>
        <p:txBody>
          <a:bodyPr wrap="square">
            <a:spAutoFit/>
          </a:bodyPr>
          <a:lstStyle/>
          <a:p>
            <a:r>
              <a:rPr lang="en-US" b="0" i="0" dirty="0">
                <a:solidFill>
                  <a:srgbClr val="333333"/>
                </a:solidFill>
                <a:effectLst/>
                <a:latin typeface="Open Sans" panose="020B0606030504020204" pitchFamily="34" charset="0"/>
              </a:rPr>
              <a:t>It is not currently possible to establish a many-to-many-relationship in Entity Framework Core without configuration via the Fluent API.</a:t>
            </a:r>
            <a:endParaRPr lang="en-IN" dirty="0"/>
          </a:p>
        </p:txBody>
      </p:sp>
    </p:spTree>
    <p:extLst>
      <p:ext uri="{BB962C8B-B14F-4D97-AF65-F5344CB8AC3E}">
        <p14:creationId xmlns:p14="http://schemas.microsoft.com/office/powerpoint/2010/main" val="27124164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4459</TotalTime>
  <Words>2821</Words>
  <Application>Microsoft Office PowerPoint</Application>
  <PresentationFormat>Widescreen</PresentationFormat>
  <Paragraphs>294</Paragraphs>
  <Slides>13</Slides>
  <Notes>0</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Light</vt:lpstr>
      <vt:lpstr>Menlo</vt:lpstr>
      <vt:lpstr>Open Sans</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vidyanidhi school</dc:creator>
  <cp:lastModifiedBy>sriram mantri vidyanidhi infotech academy</cp:lastModifiedBy>
  <cp:revision>91</cp:revision>
  <dcterms:created xsi:type="dcterms:W3CDTF">2023-02-23T05:34:23Z</dcterms:created>
  <dcterms:modified xsi:type="dcterms:W3CDTF">2024-09-21T07:32:54Z</dcterms:modified>
</cp:coreProperties>
</file>