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  <p:sldId id="256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3DDA26-D16E-4846-B3B1-1E6040741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AE5A190-A1EA-4676-B359-B1E5E1C41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C6844D2-6C7C-4891-B77B-B1C0AA453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DF82-AC0F-4CDC-9F39-6F994AAE7A5D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600CF78-BFC3-4D5C-A271-334D14E70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814640F-BC9B-41DE-856B-97857BE52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5865A-47F1-4066-8565-095E6C799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57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2D39B8-33EB-43F5-8D8B-6EE8E5DE0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8DEB8F0-2B07-48C9-8AEC-B3E478F89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6AFBEBA-00D3-4332-B54C-C62C5CD4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DF82-AC0F-4CDC-9F39-6F994AAE7A5D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D3A1976-2A3A-4344-BD75-9429EEDDB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E0D9A3C-3471-4150-8280-2C2A5FBE9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5865A-47F1-4066-8565-095E6C799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209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F9B910-0C78-48D8-A5DB-914FFD8A2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11BDB03-F683-4AB5-AB39-CC4E47B24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B7E80BF-4E7A-4A70-A162-71AD3AB37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DF82-AC0F-4CDC-9F39-6F994AAE7A5D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E342370-272B-4A1A-9EAE-E1B0AF44B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9219EE6-2CE4-4024-956F-68A28B10C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5865A-47F1-4066-8565-095E6C799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4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C16516-3D13-448F-B928-DC1B92EB2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B7F9015-08E3-4DAF-AC44-F9ED6CCA3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C7264A5-BD1B-4F3D-A067-904B09BF2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B9642EC-7505-4B35-A0FC-90A121163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DF82-AC0F-4CDC-9F39-6F994AAE7A5D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AB9A3A9-B4A1-41FA-97CD-626AB99D1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C40BBAF-A96B-4DE9-BEF2-676691F2A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5865A-47F1-4066-8565-095E6C799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572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DF88B3-ACAB-419A-8350-543EA6274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B9B4E7B-5FE4-40AC-919F-1D0EFE790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0FB1F7B-C5B4-4203-8FBA-4513EF38E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2705E4E-44FC-4137-8CAE-742194A80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CD018F12-F73F-45E3-86BC-4CE6557EF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2A7BED50-D5EA-40D1-86ED-020D1BFC5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DF82-AC0F-4CDC-9F39-6F994AAE7A5D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C06A49E-8075-49E9-A14E-A22C13412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D32E98A5-D6E8-48EE-9788-6B91A71A5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5865A-47F1-4066-8565-095E6C799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90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A3617D-461D-443B-A175-A82D2F00C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7D71498-B0E2-4F29-8AB9-445555120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DF82-AC0F-4CDC-9F39-6F994AAE7A5D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2D5FE1A-A7AB-4E97-B349-A922A7163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CB76562-4624-4E70-BF1E-9246CF69C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5865A-47F1-4066-8565-095E6C799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733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7AA5CBD-2637-40DB-B102-0831F49B2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DF82-AC0F-4CDC-9F39-6F994AAE7A5D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2FE0553-173D-467D-8DED-84D50FDB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17191C8-75B6-4612-96E2-EB4B4CA06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5865A-47F1-4066-8565-095E6C799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991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A6C4451-5E87-483B-9B45-7C8D1EF0D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F3A2C1D-48E1-46BC-8A63-D4159A490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957AA69-6209-4DE9-9C89-FD52C942F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0532764-C6A6-4F08-8927-04BF0EEBE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DF82-AC0F-4CDC-9F39-6F994AAE7A5D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A05BEF7-E229-4993-A7F4-B7C4F4A1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ECCB085-696B-41C3-8469-6E73ACF81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5865A-47F1-4066-8565-095E6C799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285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19A445-6854-4054-B555-FBB74A451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07B08AB8-2EC4-404F-953D-E8DD99C6D5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43392EA-1FF4-4537-AAEE-395B3A29E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D59793B-73DC-42C5-8C71-77AA5628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DF82-AC0F-4CDC-9F39-6F994AAE7A5D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BA9A3A1-3646-4BE6-BA81-C10406A27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FD93C2D-36BB-4214-B393-E39CC25D2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5865A-47F1-4066-8565-095E6C799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522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7017FF-E22B-4BCB-9208-BCDCAD74A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DEA76CC-5824-4B62-9BD3-65B31E6E0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7D6D057-F8E9-42E4-AF82-10D9192A5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DF82-AC0F-4CDC-9F39-6F994AAE7A5D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DB2D9C7-B265-490F-B0B3-A021DF14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BE78330-BE5E-4EE9-A8A0-1A5DD11DE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5865A-47F1-4066-8565-095E6C799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13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15437803-7358-4BE1-8137-F7B95CF00C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9A64727-F080-4FA6-8FFB-09DDC0B9D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EDEE19D-0607-47B5-BB91-43090675B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4DF82-AC0F-4CDC-9F39-6F994AAE7A5D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D0355D6-649A-4A50-8A5F-49415F991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5E83FF8-F82F-4A47-B6B1-3F60B300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5865A-47F1-4066-8565-095E6C799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75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19B1540-8A78-404F-AA53-1BEEFC034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C576DC7-62A7-4ABE-B705-515A13B13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9D2A5A-6318-409B-922D-993A8127C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4DF82-AC0F-4CDC-9F39-6F994AAE7A5D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80CA612-D85E-4656-91EF-9F38F5FA1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07A6B2F-C2BD-4819-8F53-E18D57470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5865A-47F1-4066-8565-095E6C799F2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77C570F-9E57-4117-ADC2-587B1CB76B7C}"/>
              </a:ext>
            </a:extLst>
          </p:cNvPr>
          <p:cNvSpPr/>
          <p:nvPr userDrawn="1"/>
        </p:nvSpPr>
        <p:spPr>
          <a:xfrm>
            <a:off x="1655111" y="6627670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7FB13611-FBF2-4C9D-9370-4E3754D51876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360" y="-63642"/>
            <a:ext cx="1282699" cy="85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23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otnet/csharp/misc/cs152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</a:t>
            </a:r>
            <a:r>
              <a:rPr lang="en-IN"/>
              <a:t>etkiacharya</a:t>
            </a:r>
            <a:r>
              <a:rPr lang="en-IN" dirty="0"/>
              <a:t>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F141C3-A09E-44AA-BAB0-AB2344BCD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377" y="79990"/>
            <a:ext cx="10331245" cy="529610"/>
          </a:xfrm>
        </p:spPr>
        <p:txBody>
          <a:bodyPr>
            <a:normAutofit fontScale="90000"/>
          </a:bodyPr>
          <a:lstStyle/>
          <a:p>
            <a:r>
              <a:rPr lang="en-IN" dirty="0"/>
              <a:t>Name space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6D0D583-09CC-423A-95A4-866BA90F9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3" y="993059"/>
            <a:ext cx="11788877" cy="5112774"/>
          </a:xfrm>
        </p:spPr>
        <p:txBody>
          <a:bodyPr/>
          <a:lstStyle/>
          <a:p>
            <a:r>
              <a:rPr lang="en-IN" dirty="0"/>
              <a:t>In all code of console application we see 1</a:t>
            </a:r>
            <a:r>
              <a:rPr lang="en-IN" baseline="30000" dirty="0"/>
              <a:t>st</a:t>
            </a:r>
            <a:r>
              <a:rPr lang="en-IN" dirty="0"/>
              <a:t> line</a:t>
            </a:r>
          </a:p>
          <a:p>
            <a:pPr lvl="1"/>
            <a:r>
              <a:rPr lang="en-IN" dirty="0"/>
              <a:t>using System </a:t>
            </a:r>
          </a:p>
          <a:p>
            <a:r>
              <a:rPr lang="en-IN" dirty="0"/>
              <a:t>This is name space having all classes related to input out put.</a:t>
            </a:r>
          </a:p>
          <a:p>
            <a:r>
              <a:rPr lang="en-IN" dirty="0"/>
              <a:t>In Visual studio open Object explorer, under </a:t>
            </a:r>
            <a:r>
              <a:rPr lang="en-IN" dirty="0" err="1"/>
              <a:t>mscorlib</a:t>
            </a:r>
            <a:r>
              <a:rPr lang="en-IN" dirty="0"/>
              <a:t> node you have {}System. within  this look  for Console class.</a:t>
            </a:r>
          </a:p>
          <a:p>
            <a:r>
              <a:rPr lang="en-IN" dirty="0"/>
              <a:t>See diagram in next slide</a:t>
            </a:r>
          </a:p>
        </p:txBody>
      </p:sp>
    </p:spTree>
    <p:extLst>
      <p:ext uri="{BB962C8B-B14F-4D97-AF65-F5344CB8AC3E}">
        <p14:creationId xmlns:p14="http://schemas.microsoft.com/office/powerpoint/2010/main" val="1366128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CAD6E9F-6C45-4E33-A0C8-4BC1AE487E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42" r="9677" b="5377"/>
          <a:stretch/>
        </p:blipFill>
        <p:spPr>
          <a:xfrm>
            <a:off x="1219203" y="383461"/>
            <a:ext cx="11012129" cy="625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71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5BC7F23-F8B4-4A83-9470-4B3A79150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543" y="98322"/>
            <a:ext cx="10440988" cy="599307"/>
          </a:xfrm>
        </p:spPr>
        <p:txBody>
          <a:bodyPr>
            <a:normAutofit fontScale="90000"/>
          </a:bodyPr>
          <a:lstStyle/>
          <a:p>
            <a:r>
              <a:rPr lang="en-IN" dirty="0"/>
              <a:t>Name space to avoid name collision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0A6B441-BD05-4A6F-8C26-F962BDBA3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857251"/>
            <a:ext cx="5299485" cy="19252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namespace </a:t>
            </a:r>
            <a:r>
              <a:rPr lang="en-IN" sz="12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CADac</a:t>
            </a:r>
            <a:endParaRPr lang="en-IN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    class students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    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        public void </a:t>
            </a:r>
            <a:r>
              <a:rPr lang="en-IN" sz="1200" dirty="0" err="1"/>
              <a:t>dacresult</a:t>
            </a:r>
            <a:r>
              <a:rPr lang="en-IN" sz="1200" dirty="0"/>
              <a:t>()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        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/>
              <a:t>            </a:t>
            </a:r>
            <a:r>
              <a:rPr lang="en-US" sz="1200" dirty="0" err="1"/>
              <a:t>Console.WriteLine</a:t>
            </a:r>
            <a:r>
              <a:rPr lang="en-US" sz="1200" dirty="0"/>
              <a:t>("Result of DAC students");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      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1335532-EFF0-4963-A441-1B769B140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1698" y="2878548"/>
            <a:ext cx="5157787" cy="368458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using System;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namespace </a:t>
            </a:r>
            <a:r>
              <a:rPr lang="en-IN" dirty="0" err="1"/>
              <a:t>ConsoleApplicationdemo</a:t>
            </a:r>
            <a:endParaRPr lang="en-I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    class Program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   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    </a:t>
            </a:r>
            <a:r>
              <a:rPr lang="en-US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CADac</a:t>
            </a:r>
            <a:r>
              <a:rPr lang="en-US" dirty="0" err="1"/>
              <a:t>.students</a:t>
            </a:r>
            <a:r>
              <a:rPr lang="en-US" dirty="0"/>
              <a:t> s1 = new </a:t>
            </a:r>
            <a:r>
              <a:rPr lang="en-US" sz="27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CADac</a:t>
            </a:r>
            <a:r>
              <a:rPr lang="en-US" dirty="0" err="1"/>
              <a:t>.students</a:t>
            </a:r>
            <a:r>
              <a:rPr lang="en-US" dirty="0"/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           </a:t>
            </a:r>
            <a:r>
              <a:rPr lang="en-US" sz="27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CADbda</a:t>
            </a:r>
            <a:r>
              <a:rPr lang="en-US" dirty="0" err="1"/>
              <a:t>.students</a:t>
            </a:r>
            <a:r>
              <a:rPr lang="en-US" dirty="0"/>
              <a:t> s2 = new </a:t>
            </a:r>
            <a:r>
              <a:rPr lang="en-US" sz="27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CADbda</a:t>
            </a:r>
            <a:r>
              <a:rPr lang="en-US" dirty="0" err="1"/>
              <a:t>.students</a:t>
            </a:r>
            <a:r>
              <a:rPr lang="en-US" dirty="0"/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            s1dacresult();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            s2.dbdaresult();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FA25384-69D0-492A-8103-5605CA3B2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6806" y="825446"/>
            <a:ext cx="5299485" cy="17309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namespace </a:t>
            </a:r>
            <a:r>
              <a:rPr lang="en-IN" sz="12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CADbda</a:t>
            </a:r>
            <a:endParaRPr lang="en-IN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    class students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    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        public void </a:t>
            </a:r>
            <a:r>
              <a:rPr lang="en-IN" sz="1200" dirty="0" err="1"/>
              <a:t>dbdaresult</a:t>
            </a:r>
            <a:r>
              <a:rPr lang="en-IN" sz="1200" dirty="0"/>
              <a:t>()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        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/>
              <a:t>            </a:t>
            </a:r>
            <a:r>
              <a:rPr lang="en-US" sz="1200" dirty="0" err="1"/>
              <a:t>Console.WriteLine</a:t>
            </a:r>
            <a:r>
              <a:rPr lang="en-US" sz="1200" dirty="0"/>
              <a:t>("Result of </a:t>
            </a:r>
            <a:r>
              <a:rPr lang="en-US" sz="1200" dirty="0" err="1"/>
              <a:t>dbda</a:t>
            </a:r>
            <a:r>
              <a:rPr lang="en-US" sz="1200" dirty="0"/>
              <a:t> students");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dirty="0"/>
              <a:t>    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8B1F660-FF06-4FFD-AD06-F5D869EFA8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03174" y="2681902"/>
            <a:ext cx="6409763" cy="3684588"/>
          </a:xfrm>
        </p:spPr>
        <p:txBody>
          <a:bodyPr>
            <a:normAutofit/>
          </a:bodyPr>
          <a:lstStyle/>
          <a:p>
            <a:r>
              <a:rPr lang="en-IN" dirty="0"/>
              <a:t>In this example I have 2 name space </a:t>
            </a:r>
            <a:r>
              <a:rPr lang="en-IN" dirty="0" err="1"/>
              <a:t>CADac</a:t>
            </a:r>
            <a:r>
              <a:rPr lang="en-IN" dirty="0"/>
              <a:t> </a:t>
            </a:r>
            <a:r>
              <a:rPr lang="en-IN" dirty="0" err="1"/>
              <a:t>andCADbda</a:t>
            </a:r>
            <a:r>
              <a:rPr lang="en-IN" dirty="0"/>
              <a:t> both has </a:t>
            </a:r>
            <a:r>
              <a:rPr lang="en-IN" dirty="0" err="1"/>
              <a:t>classs</a:t>
            </a:r>
            <a:r>
              <a:rPr lang="en-IN" dirty="0"/>
              <a:t> students.</a:t>
            </a:r>
          </a:p>
          <a:p>
            <a:r>
              <a:rPr lang="en-IN" dirty="0"/>
              <a:t>Due to namespace there is no name collision </a:t>
            </a:r>
          </a:p>
          <a:p>
            <a:r>
              <a:rPr lang="en-IN" dirty="0"/>
              <a:t>We can easily use both class because they both are in different name space  </a:t>
            </a:r>
          </a:p>
        </p:txBody>
      </p:sp>
    </p:spTree>
    <p:extLst>
      <p:ext uri="{BB962C8B-B14F-4D97-AF65-F5344CB8AC3E}">
        <p14:creationId xmlns:p14="http://schemas.microsoft.com/office/powerpoint/2010/main" val="271963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2DAE59-B77C-47C2-B8A8-A14C8BA4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272" y="90488"/>
            <a:ext cx="10155853" cy="549275"/>
          </a:xfrm>
        </p:spPr>
        <p:txBody>
          <a:bodyPr>
            <a:normAutofit fontScale="90000"/>
          </a:bodyPr>
          <a:lstStyle/>
          <a:p>
            <a:r>
              <a:rPr lang="en-IN" dirty="0"/>
              <a:t>Namespace to logically grouping of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66E30AE-231B-4986-B895-955B4FA54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391" y="574105"/>
            <a:ext cx="4779792" cy="2284842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namespace </a:t>
            </a:r>
            <a:r>
              <a:rPr lang="en-IN" sz="105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CADac</a:t>
            </a:r>
            <a:endParaRPr lang="en-IN" sz="105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class Students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{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    public void </a:t>
            </a:r>
            <a:r>
              <a:rPr lang="en-IN" sz="1050" dirty="0" err="1"/>
              <a:t>dacresult</a:t>
            </a:r>
            <a:r>
              <a:rPr lang="en-IN" sz="1050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    { </a:t>
            </a:r>
            <a:r>
              <a:rPr lang="en-US" sz="1050" dirty="0"/>
              <a:t>            </a:t>
            </a:r>
            <a:r>
              <a:rPr lang="en-US" sz="1050" dirty="0" err="1"/>
              <a:t>Console.WriteLine</a:t>
            </a:r>
            <a:r>
              <a:rPr lang="en-US" sz="1050" dirty="0"/>
              <a:t>("Result of DAC students");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    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class </a:t>
            </a:r>
            <a:r>
              <a:rPr lang="en-IN" sz="1050" dirty="0" err="1"/>
              <a:t>Reportcard</a:t>
            </a:r>
            <a:endParaRPr lang="en-IN" sz="105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{         //some code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4E440A6-D7F9-4C30-A159-4E2F2A6FE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81" y="2777915"/>
            <a:ext cx="5291344" cy="398169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using System;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using </a:t>
            </a:r>
            <a:r>
              <a:rPr lang="en-IN" sz="10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CADac</a:t>
            </a:r>
            <a:r>
              <a:rPr lang="en-IN" sz="16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using </a:t>
            </a:r>
            <a:r>
              <a:rPr lang="en-IN" sz="10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CAStaff</a:t>
            </a:r>
            <a:r>
              <a:rPr lang="en-IN" sz="16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namespace </a:t>
            </a:r>
            <a:r>
              <a:rPr lang="en-IN" sz="1600" dirty="0" err="1"/>
              <a:t>ConsoleApplicationdemo</a:t>
            </a:r>
            <a:endParaRPr lang="en-IN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class Program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       static void Main(string[] </a:t>
            </a:r>
            <a:r>
              <a:rPr lang="en-US" sz="1600" dirty="0" err="1"/>
              <a:t>args</a:t>
            </a:r>
            <a:r>
              <a:rPr lang="en-US" sz="16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{    Students s1 = new Students();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    s1.dacresult();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    </a:t>
            </a:r>
            <a:r>
              <a:rPr lang="en-IN" sz="1600" dirty="0" err="1"/>
              <a:t>Reportcard</a:t>
            </a:r>
            <a:r>
              <a:rPr lang="en-IN" sz="1600" dirty="0"/>
              <a:t> r1 = new </a:t>
            </a:r>
            <a:r>
              <a:rPr lang="en-IN" sz="1600" dirty="0" err="1"/>
              <a:t>Reportcard</a:t>
            </a:r>
            <a:r>
              <a:rPr lang="en-IN" sz="1600" dirty="0"/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    Employee e1 = new Employee();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    e1.paysal();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    Address a1 = new Address();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DD544575-98C6-4C7A-9A7D-E3402FCF1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81368" y="639301"/>
            <a:ext cx="5770166" cy="2880647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namespace </a:t>
            </a:r>
            <a:r>
              <a:rPr lang="en-IN" sz="105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CAStaff</a:t>
            </a:r>
            <a:endParaRPr lang="en-IN" sz="105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class Employee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{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    public void </a:t>
            </a:r>
            <a:r>
              <a:rPr lang="en-IN" sz="1050" dirty="0" err="1"/>
              <a:t>paysal</a:t>
            </a:r>
            <a:r>
              <a:rPr lang="en-IN" sz="1050" dirty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    { </a:t>
            </a:r>
            <a:r>
              <a:rPr lang="en-US" sz="1050" dirty="0"/>
              <a:t>                </a:t>
            </a:r>
            <a:r>
              <a:rPr lang="en-US" sz="1050" dirty="0" err="1"/>
              <a:t>Console.WriteLine</a:t>
            </a:r>
            <a:r>
              <a:rPr lang="en-US" sz="1050" dirty="0"/>
              <a:t>("salary given to </a:t>
            </a:r>
            <a:r>
              <a:rPr lang="en-US" sz="1050" dirty="0" err="1"/>
              <a:t>stadd</a:t>
            </a:r>
            <a:r>
              <a:rPr lang="en-US" sz="1050" dirty="0"/>
              <a:t>");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    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class Address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{            //some code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class </a:t>
            </a:r>
            <a:r>
              <a:rPr lang="en-IN" sz="1050" dirty="0" err="1"/>
              <a:t>visitingfaculty</a:t>
            </a:r>
            <a:endParaRPr lang="en-IN" sz="105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{                //some code   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    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50" dirty="0"/>
              <a:t>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22BDA2B-BFC7-467F-95ED-141489327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61935" y="3618271"/>
            <a:ext cx="6117253" cy="288064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/>
              <a:t>You can see in this example all </a:t>
            </a:r>
            <a:r>
              <a:rPr lang="en-IN" sz="1200" dirty="0" err="1"/>
              <a:t>Dac</a:t>
            </a:r>
            <a:r>
              <a:rPr lang="en-IN" sz="1200" dirty="0"/>
              <a:t> related class are in namespace </a:t>
            </a:r>
            <a:r>
              <a:rPr lang="en-IN" sz="1200" dirty="0" err="1"/>
              <a:t>CADac</a:t>
            </a:r>
            <a:r>
              <a:rPr lang="en-IN" sz="1200" dirty="0"/>
              <a:t> name space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/>
              <a:t>And all staff related class are in </a:t>
            </a:r>
            <a:r>
              <a:rPr lang="en-IN" sz="1200" dirty="0" err="1"/>
              <a:t>CAStaff</a:t>
            </a:r>
            <a:r>
              <a:rPr lang="en-IN" sz="1200" dirty="0"/>
              <a:t> name space. So name space help us to logically grouping of related classes. In entry point class we have added namespace </a:t>
            </a:r>
            <a:r>
              <a:rPr lang="en-IN" sz="12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CADac</a:t>
            </a:r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, , </a:t>
            </a:r>
            <a:r>
              <a:rPr lang="en-IN" sz="12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CAStaff</a:t>
            </a:r>
            <a:r>
              <a:rPr lang="en-IN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/>
              <a:t>In Dot Net frame work all class realtered  to file handling is in  namespace System.io;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928606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D1AE134-00F5-4FEB-A6BB-77CBAE1C8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408" y="600329"/>
            <a:ext cx="10124768" cy="218593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0" i="0" dirty="0">
                <a:solidFill>
                  <a:srgbClr val="0101FD"/>
                </a:solidFill>
                <a:effectLst/>
                <a:latin typeface="SFMono-Regular"/>
              </a:rPr>
              <a:t>using</a:t>
            </a:r>
            <a:r>
              <a:rPr lang="en-IN" b="0" i="0" dirty="0">
                <a:solidFill>
                  <a:srgbClr val="171717"/>
                </a:solidFill>
                <a:effectLst/>
                <a:latin typeface="SFMono-Regular"/>
              </a:rPr>
              <a:t> </a:t>
            </a:r>
            <a:r>
              <a:rPr lang="en-IN" b="0" i="0" dirty="0">
                <a:solidFill>
                  <a:srgbClr val="0101FD"/>
                </a:solidFill>
                <a:effectLst/>
                <a:latin typeface="SFMono-Regular"/>
              </a:rPr>
              <a:t>static</a:t>
            </a:r>
            <a:r>
              <a:rPr lang="en-IN" b="0" i="0" dirty="0">
                <a:solidFill>
                  <a:srgbClr val="171717"/>
                </a:solidFill>
                <a:effectLst/>
                <a:latin typeface="SFMono-Regular"/>
              </a:rPr>
              <a:t> </a:t>
            </a:r>
            <a:r>
              <a:rPr lang="en-IN" b="0" i="0" dirty="0" err="1">
                <a:solidFill>
                  <a:srgbClr val="171717"/>
                </a:solidFill>
                <a:effectLst/>
                <a:latin typeface="SFMono-Regular"/>
              </a:rPr>
              <a:t>System.Console</a:t>
            </a:r>
            <a:r>
              <a:rPr lang="en-IN" b="0" i="0" dirty="0">
                <a:solidFill>
                  <a:srgbClr val="171717"/>
                </a:solidFill>
                <a:effectLst/>
                <a:latin typeface="SFMono-Regular"/>
              </a:rPr>
              <a:t>;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101FD"/>
                </a:solidFill>
                <a:effectLst/>
                <a:latin typeface="SFMono-Regular"/>
              </a:rPr>
              <a:t>class</a:t>
            </a:r>
            <a:r>
              <a:rPr lang="en-US" b="0" i="0" dirty="0">
                <a:solidFill>
                  <a:srgbClr val="171717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007D9A"/>
                </a:solidFill>
                <a:effectLst/>
                <a:latin typeface="SFMono-Regular"/>
              </a:rPr>
              <a:t>Program</a:t>
            </a:r>
            <a:r>
              <a:rPr lang="en-US" b="0" i="0" dirty="0">
                <a:solidFill>
                  <a:srgbClr val="171717"/>
                </a:solidFill>
                <a:effectLst/>
                <a:latin typeface="SFMono-Regular"/>
              </a:rPr>
              <a:t> </a:t>
            </a:r>
            <a:r>
              <a:rPr lang="en-US" b="0" i="0">
                <a:solidFill>
                  <a:srgbClr val="171717"/>
                </a:solidFill>
                <a:effectLst/>
                <a:latin typeface="SFMono-Regular"/>
              </a:rPr>
              <a:t>{ </a:t>
            </a:r>
            <a:endParaRPr lang="en-US" b="0" i="0" smtClean="0">
              <a:solidFill>
                <a:srgbClr val="171717"/>
              </a:solidFill>
              <a:effectLst/>
              <a:latin typeface="SFMono-Regular"/>
            </a:endParaRPr>
          </a:p>
          <a:p>
            <a:pPr marL="0" indent="0">
              <a:buNone/>
            </a:pPr>
            <a:r>
              <a:rPr lang="en-US" b="0" i="0" smtClean="0">
                <a:solidFill>
                  <a:srgbClr val="0101FD"/>
                </a:solidFill>
                <a:effectLst/>
                <a:latin typeface="SFMono-Regular"/>
              </a:rPr>
              <a:t>static</a:t>
            </a:r>
            <a:r>
              <a:rPr lang="en-US" b="0" i="0" smtClean="0">
                <a:solidFill>
                  <a:srgbClr val="171717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0101FD"/>
                </a:solidFill>
                <a:effectLst/>
                <a:latin typeface="SFMono-Regular"/>
              </a:rPr>
              <a:t>void</a:t>
            </a:r>
            <a:r>
              <a:rPr lang="en-US" b="0" i="0" dirty="0">
                <a:solidFill>
                  <a:srgbClr val="171717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007D9A"/>
                </a:solidFill>
                <a:effectLst/>
                <a:latin typeface="SFMono-Regular"/>
              </a:rPr>
              <a:t>Main</a:t>
            </a:r>
            <a:r>
              <a:rPr lang="en-US" b="0" i="0" dirty="0">
                <a:solidFill>
                  <a:srgbClr val="171717"/>
                </a:solidFill>
                <a:effectLst/>
                <a:latin typeface="SFMono-Regular"/>
              </a:rPr>
              <a:t>()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171717"/>
                </a:solidFill>
                <a:effectLst/>
                <a:latin typeface="SFMono-Regular"/>
              </a:rPr>
              <a:t>  { WriteLine(“hello”);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171717"/>
                </a:solidFill>
                <a:effectLst/>
                <a:latin typeface="SFMono-Regular"/>
              </a:rPr>
              <a:t>         }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171717"/>
                </a:solidFill>
                <a:effectLst/>
                <a:latin typeface="SFMono-Regular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D9D5BCFF-C842-4B90-9167-24B491AEE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552" y="3208021"/>
            <a:ext cx="10515600" cy="2790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41224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scope of a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FMono-Regular"/>
                <a:cs typeface="Segoe UI" panose="020B0502040204020203" pitchFamily="34" charset="0"/>
              </a:rPr>
              <a:t>using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directive is limited to the file in which it appears.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FMono-Regular"/>
                <a:cs typeface="Segoe UI" panose="020B0502040204020203" pitchFamily="34" charset="0"/>
              </a:rPr>
              <a:t>using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directive can appear: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At the beginning of a source code file, before any namespace or type definitions.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 any namespace, but before any namespace or types declared in this namespace.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Otherwise, compiler error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CS1529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is generated.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90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457</Words>
  <Application>Microsoft Office PowerPoint</Application>
  <PresentationFormat>Widescreen</PresentationFormat>
  <Paragraphs>110</Paragraphs>
  <Slides>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Cambria</vt:lpstr>
      <vt:lpstr>Garamond</vt:lpstr>
      <vt:lpstr>Segoe UI</vt:lpstr>
      <vt:lpstr>SFMono-Regular</vt:lpstr>
      <vt:lpstr>Office Theme</vt:lpstr>
      <vt:lpstr>PowerPoint Presentation</vt:lpstr>
      <vt:lpstr>Name space </vt:lpstr>
      <vt:lpstr>PowerPoint Presentation</vt:lpstr>
      <vt:lpstr>Name space to avoid name collision</vt:lpstr>
      <vt:lpstr>Namespace to logically grouping of data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User</cp:lastModifiedBy>
  <cp:revision>19</cp:revision>
  <dcterms:created xsi:type="dcterms:W3CDTF">2020-07-21T04:11:49Z</dcterms:created>
  <dcterms:modified xsi:type="dcterms:W3CDTF">2024-04-10T09:57:33Z</dcterms:modified>
</cp:coreProperties>
</file>