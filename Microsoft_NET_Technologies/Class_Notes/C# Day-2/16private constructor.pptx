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9" r:id="rId3"/>
    <p:sldId id="265" r:id="rId4"/>
    <p:sldId id="267" r:id="rId5"/>
    <p:sldId id="256" r:id="rId6"/>
    <p:sldId id="266" r:id="rId7"/>
    <p:sldId id="270" r:id="rId8"/>
    <p:sldId id="271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A0F59-2F5F-455B-AD61-C90B2C340BCB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CFA52-CF7D-49A6-8635-33F042D71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44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3CFA52-CF7D-49A6-8635-33F042D718E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544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D0D25D-03E1-44FF-9F49-35541EEE4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1D998DB-3314-407C-BB09-3CFE8427D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B7D3E77-17C3-4757-AEDB-B34EB0AA9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1DD8EA-CC14-4521-AC23-203C7E13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9F48E1E-8BAD-473E-BB99-2546D488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17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66F453-3BEF-4266-80AC-C0734089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59C34B-D118-4816-B607-566EFDCAB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E1930-2659-4D7D-9B4F-37C05FE3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CEC1AA-D9F6-4B62-BCAD-B6ED341D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9DD433-7192-40F9-AA84-D5F2649D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5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67CC7B-1DE3-488E-B966-6F1B11C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42EC6C-EFF4-45BC-9862-AF108DD3E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5E07249-7391-4BB5-8006-0987AB55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E44721-93D7-44CA-B796-CD82B3750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665BE3E-57DE-4648-A475-DFFD3AA0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73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94D704-87BC-4CA6-A5DC-51A23AA9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28A2DD-C742-4764-A8DC-6B51C2EF2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9AE6BAF-A774-4F3F-83F8-C3B8DC245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41CE20E-06FC-43E4-B53A-2F81F07E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BE724DC-9FCF-4D92-AE8A-ABB27A50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E5D58BA-B364-4241-833E-0C33D3E4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170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E7D94D-1B02-4616-968D-D6F40758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0D02EC0-B7ED-429C-B2A8-AB9487C78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EBCA8C-68A8-470E-B97F-8CC6DE207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3D9912E-C69A-42D3-BB82-12DD65279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4C4806E-B31D-40CE-A812-2CB213CE6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341F5D5-5C4F-4A69-97EB-09971914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41F17BF-165A-4127-A65E-2B2F897E8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BF88772-B874-411F-9A44-0A895163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1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ADCD86-1F71-4F59-B0BB-79BC3E82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9E86320-5A6E-42E8-A6C2-7EC1F8987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3346DE8-A035-450F-A407-41B61F53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8843870-6A64-4812-9B06-EA2A27B8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65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A612C26-76A1-4954-99D3-A02698ED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4D33827-4854-4E08-A36E-8DC2B2D6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8ABD3D0-0358-488D-BC3C-7EEFD34C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48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DF33C9-7150-4CB0-9632-753E8494E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877877-3104-4A8D-9FE8-0865F7F69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39D4C1C-6C66-4F89-86D6-72C839A69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6397FE6-7DB3-49DF-824C-E1A4F605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3269CEC-7C24-4BDA-9286-94976E9B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99346A-A94C-4979-B70F-37D28BDB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87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FC37CD-FF2F-4072-A23E-0727BF97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ACDF313-B61F-453D-98B5-196BA5B89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58820F7-7A31-4B5C-9E6A-B5D37454C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425E95-4FB8-4402-809E-C40C505B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35C9BF7-EE37-49B8-87E6-7FC6C2B5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C0D7E24-4E40-4307-A413-D036A09D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9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DBC731-B257-4AEF-96F7-7B297634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508E358-8FD7-46C8-BAB3-B58CB3D61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7C35EB-79F1-4DB4-8902-1F95B44A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B7AD88-5AAE-4C8B-BD24-A94589B4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E7F0A3-C444-49C6-8344-9BA57DC9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53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78B6868-32FD-4B5A-A0E7-7DD53F809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6E124DE-37C1-44D8-9B3B-D9D799D3D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C12838-725B-4AEF-AEEB-E785AE06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AB88E7-E8CE-47FF-99CF-FA98BB59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A3BBED-A856-4A95-858F-A1E5D738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73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23C7E53-D958-49B4-93EB-B784EE5F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767839-1A15-46B6-B3D3-D90E86603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C45E90-664C-45FE-89E0-2A11202FF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0CDD5-1D22-4FC3-9CF9-04B5EC5E2E7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3E0203-259F-4FD8-B0A7-4F1A9316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BC2831-F91E-440C-B16D-63DFBF769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6F356-0710-4AEE-AD3E-DF687D1A135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4EA973A-A8E9-4DBE-A056-AA23AB7D918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6497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98230E4-186E-4328-95DD-17E5B5384247}"/>
              </a:ext>
            </a:extLst>
          </p:cNvPr>
          <p:cNvSpPr/>
          <p:nvPr userDrawn="1"/>
        </p:nvSpPr>
        <p:spPr>
          <a:xfrm>
            <a:off x="1207637" y="6567586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9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CD01ABA9-B727-438F-A96C-73D935C8F9DE}"/>
              </a:ext>
            </a:extLst>
          </p:cNvPr>
          <p:cNvSpPr txBox="1">
            <a:spLocks/>
          </p:cNvSpPr>
          <p:nvPr/>
        </p:nvSpPr>
        <p:spPr>
          <a:xfrm>
            <a:off x="228600" y="152400"/>
            <a:ext cx="8458200" cy="6705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223BE20-7538-427E-919C-712A05A3C1F6}"/>
              </a:ext>
            </a:extLst>
          </p:cNvPr>
          <p:cNvSpPr txBox="1"/>
          <p:nvPr/>
        </p:nvSpPr>
        <p:spPr>
          <a:xfrm>
            <a:off x="533400" y="40386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26683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21F48E-5048-422D-99A6-D2E57E0D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Can we private constructor?</a:t>
            </a:r>
          </a:p>
          <a:p>
            <a:pPr marL="0" indent="0">
              <a:buNone/>
            </a:pPr>
            <a:r>
              <a:rPr lang="en-IN" dirty="0"/>
              <a:t>How to get object if constructor is private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77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544B91-FD8D-44B1-ABB3-76F682B95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640" y="-175672"/>
            <a:ext cx="10515600" cy="854075"/>
          </a:xfrm>
        </p:spPr>
        <p:txBody>
          <a:bodyPr/>
          <a:lstStyle/>
          <a:p>
            <a:r>
              <a:rPr lang="en-IN" dirty="0"/>
              <a:t>Can we have private constructor?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696BED-211A-41F1-B40D-66D37684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0355"/>
            <a:ext cx="11353800" cy="5587048"/>
          </a:xfrm>
        </p:spPr>
        <p:txBody>
          <a:bodyPr/>
          <a:lstStyle/>
          <a:p>
            <a:r>
              <a:rPr lang="en-IN" dirty="0"/>
              <a:t>Yes you can have private constructor only thing  is you can not create object out side the class </a:t>
            </a:r>
            <a:r>
              <a:rPr lang="en-IN" dirty="0" err="1"/>
              <a:t>ie</a:t>
            </a:r>
            <a:r>
              <a:rPr lang="en-IN" dirty="0"/>
              <a:t>. Object creation must be done in the same class. So now how to get the object? </a:t>
            </a:r>
          </a:p>
          <a:p>
            <a:endParaRPr lang="en-IN" dirty="0"/>
          </a:p>
          <a:p>
            <a:r>
              <a:rPr lang="en-IN" dirty="0"/>
              <a:t>You have to create public static method in the class who’s job is to create object and return reference.</a:t>
            </a:r>
          </a:p>
          <a:p>
            <a:endParaRPr lang="en-IN" dirty="0"/>
          </a:p>
          <a:p>
            <a:r>
              <a:rPr lang="en-IN" dirty="0"/>
              <a:t>Using private constructor you can also achieve single ton design pattern in which single object of the class get crated.</a:t>
            </a:r>
          </a:p>
        </p:txBody>
      </p:sp>
    </p:spTree>
    <p:extLst>
      <p:ext uri="{BB962C8B-B14F-4D97-AF65-F5344CB8AC3E}">
        <p14:creationId xmlns:p14="http://schemas.microsoft.com/office/powerpoint/2010/main" val="234370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F184E8-663E-41F4-BF9B-60D1545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we need single ton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DC9AA3-7DA4-4DAB-BBCD-F54488DF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singleton should</a:t>
            </a:r>
            <a:r>
              <a:rPr lang="en-US" dirty="0"/>
              <a:t> be used when managing access to a resource which is shared by the entire application, and it would be destructive to potentially </a:t>
            </a:r>
            <a:r>
              <a:rPr lang="en-US" b="1" dirty="0"/>
              <a:t>have</a:t>
            </a:r>
            <a:r>
              <a:rPr lang="en-US" dirty="0"/>
              <a:t> multiple instances of the same class. Making sure that access to shared resources thread safe is one very good example of where this kind of pattern can be vital.</a:t>
            </a:r>
          </a:p>
          <a:p>
            <a:r>
              <a:rPr lang="en-US" dirty="0"/>
              <a:t>Lets see one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795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B2C937-65E4-45BF-A25C-8E64EB24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0" y="-91092"/>
            <a:ext cx="10272908" cy="609252"/>
          </a:xfrm>
        </p:spPr>
        <p:txBody>
          <a:bodyPr>
            <a:noAutofit/>
          </a:bodyPr>
          <a:lstStyle/>
          <a:p>
            <a:r>
              <a:rPr lang="en-IN" sz="3200" dirty="0"/>
              <a:t>S</a:t>
            </a:r>
            <a:r>
              <a:rPr lang="en-IN" sz="2800" dirty="0"/>
              <a:t>ingle ton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CD8EEB-9258-4E9A-A6E1-58B8D06D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39" y="476879"/>
            <a:ext cx="4734561" cy="49424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using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namespace ConsoleApplication3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{    class </a:t>
            </a:r>
            <a:r>
              <a:rPr lang="en-IN" sz="1600" dirty="0" err="1"/>
              <a:t>myclass</a:t>
            </a:r>
            <a:endParaRPr lang="en-IN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int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</a:t>
            </a:r>
            <a:r>
              <a:rPr lang="en-IN" sz="1600" dirty="0">
                <a:solidFill>
                  <a:srgbClr val="FF0000"/>
                </a:solidFill>
              </a:rPr>
              <a:t>static</a:t>
            </a:r>
            <a:r>
              <a:rPr lang="en-IN" sz="1600" dirty="0"/>
              <a:t> </a:t>
            </a:r>
            <a:r>
              <a:rPr lang="en-IN" sz="1600" dirty="0" err="1"/>
              <a:t>myclass</a:t>
            </a:r>
            <a:r>
              <a:rPr lang="en-IN" sz="1600" dirty="0"/>
              <a:t> </a:t>
            </a:r>
            <a:r>
              <a:rPr lang="en-IN" sz="1600" dirty="0" err="1"/>
              <a:t>sobj</a:t>
            </a:r>
            <a:r>
              <a:rPr lang="en-IN" sz="1600" dirty="0"/>
              <a:t>=null;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b-NO" sz="1600" dirty="0"/>
              <a:t>        </a:t>
            </a:r>
            <a:r>
              <a:rPr lang="nb-NO" sz="1600" dirty="0">
                <a:solidFill>
                  <a:srgbClr val="FF0000"/>
                </a:solidFill>
              </a:rPr>
              <a:t>private</a:t>
            </a:r>
            <a:r>
              <a:rPr lang="nb-NO" sz="1600" dirty="0"/>
              <a:t> myclass(string nm, int dd)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{     name = nm;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  id = dd;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}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public static </a:t>
            </a:r>
            <a:r>
              <a:rPr lang="en-US" sz="1600" dirty="0" err="1">
                <a:solidFill>
                  <a:srgbClr val="00B050"/>
                </a:solidFill>
              </a:rPr>
              <a:t>myclass</a:t>
            </a:r>
            <a:r>
              <a:rPr lang="en-US" sz="1600" dirty="0"/>
              <a:t>  </a:t>
            </a:r>
            <a:r>
              <a:rPr lang="en-US" sz="1600" dirty="0" err="1"/>
              <a:t>getobj</a:t>
            </a:r>
            <a:r>
              <a:rPr lang="en-US" sz="16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          </a:t>
            </a:r>
            <a:r>
              <a:rPr lang="en-IN" sz="1600" dirty="0">
                <a:highlight>
                  <a:srgbClr val="FFFF00"/>
                </a:highlight>
              </a:rPr>
              <a:t>if(</a:t>
            </a:r>
            <a:r>
              <a:rPr lang="en-IN" sz="1600" dirty="0" err="1">
                <a:highlight>
                  <a:srgbClr val="FFFF00"/>
                </a:highlight>
              </a:rPr>
              <a:t>sobj</a:t>
            </a:r>
            <a:r>
              <a:rPr lang="en-IN" sz="1600" dirty="0">
                <a:highlight>
                  <a:srgbClr val="FFFF00"/>
                </a:highlight>
              </a:rPr>
              <a:t>==null)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  </a:t>
            </a:r>
            <a:r>
              <a:rPr lang="en-US" sz="1600" dirty="0" err="1"/>
              <a:t>sobj</a:t>
            </a:r>
            <a:r>
              <a:rPr lang="en-US" sz="1600" dirty="0"/>
              <a:t> = new </a:t>
            </a:r>
            <a:r>
              <a:rPr lang="en-US" sz="1600" dirty="0" err="1"/>
              <a:t>myclass</a:t>
            </a:r>
            <a:r>
              <a:rPr lang="en-US" sz="1600" dirty="0"/>
              <a:t>(“DAC”, 445);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return </a:t>
            </a:r>
            <a:r>
              <a:rPr lang="en-IN" sz="1600" dirty="0" err="1"/>
              <a:t>sobj</a:t>
            </a:r>
            <a:r>
              <a:rPr lang="en-IN" sz="16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public string  display()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       return name + " " +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B669CD0-8F68-44DC-AF23-9FF2B19E46A0}"/>
              </a:ext>
            </a:extLst>
          </p:cNvPr>
          <p:cNvSpPr txBox="1"/>
          <p:nvPr/>
        </p:nvSpPr>
        <p:spPr>
          <a:xfrm>
            <a:off x="5486400" y="264161"/>
            <a:ext cx="6161875" cy="511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class Program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</a:t>
            </a: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=</a:t>
            </a:r>
            <a:r>
              <a:rPr lang="en-US" dirty="0" err="1"/>
              <a:t>myclass.getobj</a:t>
            </a:r>
            <a:r>
              <a:rPr lang="en-US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ob.display</a:t>
            </a:r>
            <a:r>
              <a:rPr lang="en-IN" dirty="0"/>
              <a:t>());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myclass</a:t>
            </a:r>
            <a:r>
              <a:rPr lang="en-IN" dirty="0"/>
              <a:t> ob1 = </a:t>
            </a:r>
            <a:r>
              <a:rPr lang="en-IN" dirty="0" err="1"/>
              <a:t>myclass.getobj</a:t>
            </a:r>
            <a:r>
              <a:rPr lang="en-IN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(ob1.display());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</a:t>
            </a:r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==ob1)</a:t>
            </a:r>
          </a:p>
          <a:p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ob.Equals</a:t>
            </a:r>
            <a:r>
              <a:rPr lang="en-IN" dirty="0"/>
              <a:t>(bo1))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Console.ReadLine</a:t>
            </a:r>
            <a:r>
              <a:rPr lang="en-IN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}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252A67-5833-42C5-8FD6-3C9147130918}"/>
              </a:ext>
            </a:extLst>
          </p:cNvPr>
          <p:cNvSpPr txBox="1"/>
          <p:nvPr/>
        </p:nvSpPr>
        <p:spPr>
          <a:xfrm>
            <a:off x="924560" y="5180792"/>
            <a:ext cx="975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Observe constructor is private so you can not write </a:t>
            </a:r>
            <a:r>
              <a:rPr lang="en-IN" dirty="0" err="1"/>
              <a:t>myclass</a:t>
            </a:r>
            <a:r>
              <a:rPr lang="en-IN" dirty="0"/>
              <a:t> s=new </a:t>
            </a:r>
            <a:r>
              <a:rPr lang="en-IN" dirty="0" err="1"/>
              <a:t>myclass</a:t>
            </a:r>
            <a:r>
              <a:rPr lang="en-IN" dirty="0"/>
              <a:t>(“dd”,2) in entry point class.</a:t>
            </a:r>
          </a:p>
          <a:p>
            <a:r>
              <a:rPr lang="en-IN" dirty="0"/>
              <a:t>Observe we have static method -</a:t>
            </a:r>
            <a:r>
              <a:rPr lang="en-US" dirty="0"/>
              <a:t> public static </a:t>
            </a:r>
            <a:r>
              <a:rPr lang="en-US" dirty="0" err="1">
                <a:solidFill>
                  <a:srgbClr val="00B050"/>
                </a:solidFill>
              </a:rPr>
              <a:t>myclass</a:t>
            </a:r>
            <a:r>
              <a:rPr lang="en-US" dirty="0"/>
              <a:t>  </a:t>
            </a:r>
            <a:r>
              <a:rPr lang="en-US" dirty="0" err="1"/>
              <a:t>getobj</a:t>
            </a:r>
            <a:r>
              <a:rPr lang="en-US" dirty="0"/>
              <a:t>(string nm, int  dd)</a:t>
            </a:r>
            <a:r>
              <a:rPr lang="en-IN" dirty="0"/>
              <a:t> </a:t>
            </a:r>
          </a:p>
          <a:p>
            <a:r>
              <a:rPr lang="en-IN" dirty="0"/>
              <a:t>Observe return type of this method it is </a:t>
            </a:r>
            <a:r>
              <a:rPr lang="en-IN" dirty="0" err="1"/>
              <a:t>myclass</a:t>
            </a:r>
            <a:r>
              <a:rPr lang="en-IN" dirty="0"/>
              <a:t> because it is returning the reference of </a:t>
            </a:r>
            <a:r>
              <a:rPr lang="en-IN" dirty="0" err="1"/>
              <a:t>myclass</a:t>
            </a:r>
            <a:r>
              <a:rPr lang="en-IN" dirty="0"/>
              <a:t> object.</a:t>
            </a:r>
          </a:p>
          <a:p>
            <a:r>
              <a:rPr lang="en-IN" dirty="0"/>
              <a:t>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28BDF5C-373F-4F9C-8C53-9B36385E19DB}"/>
              </a:ext>
            </a:extLst>
          </p:cNvPr>
          <p:cNvSpPr/>
          <p:nvPr/>
        </p:nvSpPr>
        <p:spPr>
          <a:xfrm>
            <a:off x="9153832" y="1307690"/>
            <a:ext cx="383458" cy="40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C091630-57BF-4A87-8A3A-3C238C916142}"/>
              </a:ext>
            </a:extLst>
          </p:cNvPr>
          <p:cNvSpPr/>
          <p:nvPr/>
        </p:nvSpPr>
        <p:spPr>
          <a:xfrm>
            <a:off x="2419390" y="1710813"/>
            <a:ext cx="383458" cy="40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B86D2-4B33-4185-9956-CFF9F679ECAF}"/>
              </a:ext>
            </a:extLst>
          </p:cNvPr>
          <p:cNvSpPr/>
          <p:nvPr/>
        </p:nvSpPr>
        <p:spPr>
          <a:xfrm>
            <a:off x="2984090" y="3047596"/>
            <a:ext cx="383458" cy="40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B75C54C3-2833-45B9-963E-E283603ABB00}"/>
              </a:ext>
            </a:extLst>
          </p:cNvPr>
          <p:cNvCxnSpPr/>
          <p:nvPr/>
        </p:nvCxnSpPr>
        <p:spPr>
          <a:xfrm flipH="1">
            <a:off x="7590009" y="1283109"/>
            <a:ext cx="825910" cy="629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80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696C17-087B-406A-AA56-4E6B7150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70802"/>
            <a:ext cx="10063480" cy="610235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802775-A984-4D33-8513-0AD902333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" y="772160"/>
            <a:ext cx="11181080" cy="6207760"/>
          </a:xfrm>
        </p:spPr>
        <p:txBody>
          <a:bodyPr>
            <a:normAutofit/>
          </a:bodyPr>
          <a:lstStyle/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 err="1"/>
              <a:t>myclass</a:t>
            </a:r>
            <a:r>
              <a:rPr lang="en-IN" sz="1400" dirty="0"/>
              <a:t> </a:t>
            </a:r>
            <a:r>
              <a:rPr lang="en-IN" sz="1400" dirty="0" err="1"/>
              <a:t>ob</a:t>
            </a:r>
            <a:r>
              <a:rPr lang="en-IN" sz="1400" dirty="0"/>
              <a:t>=</a:t>
            </a:r>
            <a:r>
              <a:rPr lang="en-IN" sz="1400" dirty="0" err="1"/>
              <a:t>myclass.getobj</a:t>
            </a:r>
            <a:r>
              <a:rPr lang="en-IN" sz="1400" dirty="0"/>
              <a:t>();// with this line </a:t>
            </a:r>
            <a:r>
              <a:rPr lang="en-IN" sz="1400" dirty="0" err="1"/>
              <a:t>myclass</a:t>
            </a:r>
            <a:r>
              <a:rPr lang="en-IN" sz="1400" dirty="0"/>
              <a:t> get loaded and </a:t>
            </a:r>
            <a:r>
              <a:rPr lang="en-IN" sz="1400" dirty="0" err="1"/>
              <a:t>sobj</a:t>
            </a:r>
            <a:r>
              <a:rPr lang="en-IN" sz="1400" dirty="0"/>
              <a:t> </a:t>
            </a:r>
            <a:r>
              <a:rPr lang="en-IN" sz="1400" dirty="0" err="1"/>
              <a:t>seto</a:t>
            </a:r>
            <a:r>
              <a:rPr lang="en-IN" sz="1400" dirty="0"/>
              <a:t> null and then call method </a:t>
            </a:r>
          </a:p>
          <a:p>
            <a:pPr marL="0" indent="0">
              <a:buNone/>
            </a:pPr>
            <a:r>
              <a:rPr lang="en-IN" sz="1400" dirty="0"/>
              <a:t>1</a:t>
            </a:r>
            <a:r>
              <a:rPr lang="en-IN" sz="1400" baseline="30000" dirty="0"/>
              <a:t>st</a:t>
            </a:r>
            <a:r>
              <a:rPr lang="en-IN" sz="1400" dirty="0"/>
              <a:t> time        if(</a:t>
            </a:r>
            <a:r>
              <a:rPr lang="en-IN" sz="1400" dirty="0" err="1"/>
              <a:t>sobj</a:t>
            </a:r>
            <a:r>
              <a:rPr lang="en-IN" sz="1400" dirty="0"/>
              <a:t>==null) will be true so it will execute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 err="1"/>
              <a:t>sobj</a:t>
            </a:r>
            <a:r>
              <a:rPr lang="en-IN" sz="1400" dirty="0"/>
              <a:t> = new </a:t>
            </a:r>
            <a:r>
              <a:rPr lang="en-IN" sz="1400" dirty="0" err="1"/>
              <a:t>myclass</a:t>
            </a:r>
            <a:r>
              <a:rPr lang="en-IN" sz="1400" dirty="0"/>
              <a:t>(DAC, 445); //this line will call private constructor and static method will return reference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 err="1"/>
              <a:t>myclass</a:t>
            </a:r>
            <a:r>
              <a:rPr lang="en-IN" sz="1400" dirty="0"/>
              <a:t> ob1 = </a:t>
            </a:r>
            <a:r>
              <a:rPr lang="en-IN" sz="1400" dirty="0" err="1"/>
              <a:t>myclass.getobj</a:t>
            </a:r>
            <a:r>
              <a:rPr lang="en-IN" sz="1400" dirty="0"/>
              <a:t>(); when it read this line see class is already loaded and </a:t>
            </a:r>
            <a:r>
              <a:rPr lang="en-IN" sz="1400" dirty="0" err="1"/>
              <a:t>obj</a:t>
            </a:r>
            <a:r>
              <a:rPr lang="en-IN" sz="1400" dirty="0"/>
              <a:t> is pointing to object </a:t>
            </a:r>
            <a:r>
              <a:rPr lang="en-IN" sz="1400" dirty="0" err="1"/>
              <a:t>myclass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2</a:t>
            </a:r>
            <a:r>
              <a:rPr lang="en-IN" sz="1400" baseline="30000" dirty="0"/>
              <a:t>nd</a:t>
            </a:r>
            <a:r>
              <a:rPr lang="en-IN" sz="1400" dirty="0"/>
              <a:t> time        if(</a:t>
            </a:r>
            <a:r>
              <a:rPr lang="en-IN" sz="1400" dirty="0" err="1"/>
              <a:t>sobj</a:t>
            </a:r>
            <a:r>
              <a:rPr lang="en-IN" sz="1400" dirty="0"/>
              <a:t>==null) will be false  so it will not execute  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 err="1"/>
              <a:t>sobj</a:t>
            </a:r>
            <a:r>
              <a:rPr lang="en-IN" sz="1400" dirty="0"/>
              <a:t> </a:t>
            </a:r>
          </a:p>
          <a:p>
            <a:pPr marL="0" indent="0">
              <a:buNone/>
            </a:pPr>
            <a:r>
              <a:rPr lang="en-IN" sz="1400" dirty="0"/>
              <a:t>And flow will go ahead and it will return same reference 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endParaRPr lang="en-IN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4D7D3DE-26BC-4A81-AC16-686819DC22C8}"/>
              </a:ext>
            </a:extLst>
          </p:cNvPr>
          <p:cNvSpPr/>
          <p:nvPr/>
        </p:nvSpPr>
        <p:spPr>
          <a:xfrm>
            <a:off x="2125980" y="1066800"/>
            <a:ext cx="8188960" cy="1341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dirty="0">
                <a:solidFill>
                  <a:schemeClr val="tx1"/>
                </a:solidFill>
              </a:rPr>
              <a:t>External memory</a:t>
            </a:r>
          </a:p>
          <a:p>
            <a:r>
              <a:rPr lang="en-IN" dirty="0">
                <a:solidFill>
                  <a:srgbClr val="FF0000"/>
                </a:solidFill>
              </a:rPr>
              <a:t>public static </a:t>
            </a:r>
            <a:r>
              <a:rPr lang="en-IN" dirty="0" err="1"/>
              <a:t>myclass</a:t>
            </a:r>
            <a:r>
              <a:rPr lang="en-IN" dirty="0"/>
              <a:t>  </a:t>
            </a:r>
            <a:r>
              <a:rPr lang="en-IN" dirty="0" err="1"/>
              <a:t>getobj</a:t>
            </a:r>
            <a:r>
              <a:rPr lang="en-IN" dirty="0"/>
              <a:t>(string </a:t>
            </a:r>
            <a:r>
              <a:rPr lang="en-IN" dirty="0" err="1"/>
              <a:t>nm,double</a:t>
            </a:r>
            <a:r>
              <a:rPr lang="en-IN" dirty="0"/>
              <a:t> </a:t>
            </a:r>
            <a:r>
              <a:rPr lang="en-IN" dirty="0" err="1"/>
              <a:t>sal</a:t>
            </a:r>
            <a:r>
              <a:rPr lang="en-IN" dirty="0"/>
              <a:t>)        static </a:t>
            </a:r>
            <a:r>
              <a:rPr lang="en-IN" dirty="0" err="1"/>
              <a:t>myclass</a:t>
            </a:r>
            <a:r>
              <a:rPr lang="en-IN" dirty="0"/>
              <a:t> </a:t>
            </a:r>
            <a:r>
              <a:rPr lang="en-IN" dirty="0" err="1"/>
              <a:t>sobj</a:t>
            </a:r>
            <a:endParaRPr lang="en-IN" dirty="0"/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A1B3E97-F555-4E38-B0C2-A15EFE9DAE21}"/>
              </a:ext>
            </a:extLst>
          </p:cNvPr>
          <p:cNvSpPr/>
          <p:nvPr/>
        </p:nvSpPr>
        <p:spPr>
          <a:xfrm>
            <a:off x="2214880" y="1737360"/>
            <a:ext cx="2194560" cy="37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98FDB66-9590-4E7D-B266-C9FC3DFF4B38}"/>
              </a:ext>
            </a:extLst>
          </p:cNvPr>
          <p:cNvSpPr/>
          <p:nvPr/>
        </p:nvSpPr>
        <p:spPr>
          <a:xfrm>
            <a:off x="7233919" y="1737360"/>
            <a:ext cx="1556119" cy="66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Null 2000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E89404ED-AE41-40A8-A885-1C4BC1D50E7F}"/>
              </a:ext>
            </a:extLst>
          </p:cNvPr>
          <p:cNvCxnSpPr/>
          <p:nvPr/>
        </p:nvCxnSpPr>
        <p:spPr>
          <a:xfrm>
            <a:off x="7559040" y="2397760"/>
            <a:ext cx="762000" cy="690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14D8980-6DAD-43ED-9A0C-453EE7D0F272}"/>
              </a:ext>
            </a:extLst>
          </p:cNvPr>
          <p:cNvSpPr/>
          <p:nvPr/>
        </p:nvSpPr>
        <p:spPr>
          <a:xfrm>
            <a:off x="8603226" y="2920181"/>
            <a:ext cx="1956619" cy="1170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Name=“DAC”;</a:t>
            </a:r>
          </a:p>
          <a:p>
            <a:pPr algn="ctr"/>
            <a:r>
              <a:rPr lang="en-IN" dirty="0" smtClean="0"/>
              <a:t>id=445;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11500DB-9AB3-48BD-9E6A-D5832A8F8032}"/>
              </a:ext>
            </a:extLst>
          </p:cNvPr>
          <p:cNvSpPr/>
          <p:nvPr/>
        </p:nvSpPr>
        <p:spPr>
          <a:xfrm>
            <a:off x="8878529" y="4296697"/>
            <a:ext cx="924232" cy="3503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2000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B3D252E0-8156-4672-BF43-9C508D6C8C9D}"/>
              </a:ext>
            </a:extLst>
          </p:cNvPr>
          <p:cNvCxnSpPr/>
          <p:nvPr/>
        </p:nvCxnSpPr>
        <p:spPr>
          <a:xfrm flipV="1">
            <a:off x="7403690" y="1925320"/>
            <a:ext cx="536350" cy="40853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41550A6-266A-42C4-A103-514ABA040CE0}"/>
              </a:ext>
            </a:extLst>
          </p:cNvPr>
          <p:cNvSpPr/>
          <p:nvPr/>
        </p:nvSpPr>
        <p:spPr>
          <a:xfrm>
            <a:off x="6380481" y="2783840"/>
            <a:ext cx="709562" cy="538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10616F7-6AB7-4F24-80F5-D7F0D79D35BE}"/>
              </a:ext>
            </a:extLst>
          </p:cNvPr>
          <p:cNvSpPr txBox="1"/>
          <p:nvPr/>
        </p:nvSpPr>
        <p:spPr>
          <a:xfrm>
            <a:off x="5693288" y="2581329"/>
            <a:ext cx="58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C8200CB0-9A5C-4CD3-9D22-A0A05274D3A8}"/>
              </a:ext>
            </a:extLst>
          </p:cNvPr>
          <p:cNvCxnSpPr>
            <a:cxnSpLocks/>
          </p:cNvCxnSpPr>
          <p:nvPr/>
        </p:nvCxnSpPr>
        <p:spPr>
          <a:xfrm>
            <a:off x="7036947" y="3179763"/>
            <a:ext cx="1436493" cy="61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730ED7F-C69C-4B70-BCD5-7783865E4987}"/>
              </a:ext>
            </a:extLst>
          </p:cNvPr>
          <p:cNvSpPr/>
          <p:nvPr/>
        </p:nvSpPr>
        <p:spPr>
          <a:xfrm>
            <a:off x="6532881" y="3403600"/>
            <a:ext cx="709562" cy="538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450620A-92C7-4F6A-B8E0-94D35F542A0A}"/>
              </a:ext>
            </a:extLst>
          </p:cNvPr>
          <p:cNvSpPr txBox="1"/>
          <p:nvPr/>
        </p:nvSpPr>
        <p:spPr>
          <a:xfrm>
            <a:off x="5845688" y="3302689"/>
            <a:ext cx="58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4C6D75D4-1A30-4B38-A822-B62D71DDF422}"/>
              </a:ext>
            </a:extLst>
          </p:cNvPr>
          <p:cNvCxnSpPr>
            <a:cxnSpLocks/>
          </p:cNvCxnSpPr>
          <p:nvPr/>
        </p:nvCxnSpPr>
        <p:spPr>
          <a:xfrm flipV="1">
            <a:off x="7242443" y="3393440"/>
            <a:ext cx="1383397" cy="354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44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B2C937-65E4-45BF-A25C-8E64EB24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80" y="-91092"/>
            <a:ext cx="10272908" cy="609252"/>
          </a:xfrm>
        </p:spPr>
        <p:txBody>
          <a:bodyPr>
            <a:noAutofit/>
          </a:bodyPr>
          <a:lstStyle/>
          <a:p>
            <a:r>
              <a:rPr lang="en-IN" sz="3200" dirty="0"/>
              <a:t>S</a:t>
            </a:r>
            <a:r>
              <a:rPr lang="en-IN" sz="2800" dirty="0"/>
              <a:t>ingle ton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CD8EEB-9258-4E9A-A6E1-58B8D06D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39" y="476879"/>
            <a:ext cx="4734561" cy="494246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using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namespace ConsoleApplication3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{    class </a:t>
            </a:r>
            <a:r>
              <a:rPr lang="en-IN" sz="1600" dirty="0" err="1"/>
              <a:t>myclass</a:t>
            </a:r>
            <a:endParaRPr lang="en-IN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string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int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</a:t>
            </a:r>
            <a:r>
              <a:rPr lang="en-IN" sz="1600" dirty="0">
                <a:solidFill>
                  <a:srgbClr val="FF0000"/>
                </a:solidFill>
              </a:rPr>
              <a:t>static</a:t>
            </a:r>
            <a:r>
              <a:rPr lang="en-IN" sz="1600" dirty="0"/>
              <a:t> </a:t>
            </a:r>
            <a:r>
              <a:rPr lang="en-IN" sz="1600" dirty="0" err="1"/>
              <a:t>myclass</a:t>
            </a:r>
            <a:r>
              <a:rPr lang="en-IN" sz="1600" dirty="0"/>
              <a:t> </a:t>
            </a:r>
            <a:r>
              <a:rPr lang="en-IN" sz="1600" dirty="0" err="1"/>
              <a:t>sobj</a:t>
            </a:r>
            <a:r>
              <a:rPr lang="en-IN" sz="1600" dirty="0"/>
              <a:t>=null;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b-NO" sz="1600" dirty="0"/>
              <a:t>        </a:t>
            </a:r>
            <a:r>
              <a:rPr lang="nb-NO" sz="1600" dirty="0">
                <a:solidFill>
                  <a:srgbClr val="FF0000"/>
                </a:solidFill>
              </a:rPr>
              <a:t>private</a:t>
            </a:r>
            <a:r>
              <a:rPr lang="nb-NO" sz="1600" dirty="0"/>
              <a:t> myclass(string nm, int dd)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{     name = nm;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  id = dd;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    }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public static </a:t>
            </a:r>
            <a:r>
              <a:rPr lang="en-US" sz="1600" dirty="0" err="1">
                <a:solidFill>
                  <a:srgbClr val="00B050"/>
                </a:solidFill>
              </a:rPr>
              <a:t>myclass</a:t>
            </a:r>
            <a:r>
              <a:rPr lang="en-US" sz="1600" dirty="0"/>
              <a:t>  </a:t>
            </a:r>
            <a:r>
              <a:rPr lang="en-US" sz="1600" dirty="0" err="1"/>
              <a:t>getobj</a:t>
            </a:r>
            <a:r>
              <a:rPr lang="en-US" sz="16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          </a:t>
            </a:r>
            <a:r>
              <a:rPr lang="en-IN" sz="1600" dirty="0">
                <a:solidFill>
                  <a:srgbClr val="FF0000"/>
                </a:solidFill>
              </a:rPr>
              <a:t>if(</a:t>
            </a:r>
            <a:r>
              <a:rPr lang="en-IN" sz="1600" dirty="0" err="1">
                <a:solidFill>
                  <a:srgbClr val="FF0000"/>
                </a:solidFill>
              </a:rPr>
              <a:t>sobj</a:t>
            </a:r>
            <a:r>
              <a:rPr lang="en-IN" sz="1600" dirty="0">
                <a:solidFill>
                  <a:srgbClr val="FF0000"/>
                </a:solidFill>
              </a:rPr>
              <a:t>==null</a:t>
            </a:r>
            <a:r>
              <a:rPr lang="en-IN" sz="1600" dirty="0"/>
              <a:t>) //ERROR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  </a:t>
            </a:r>
            <a:r>
              <a:rPr lang="en-US" sz="1600" dirty="0" err="1"/>
              <a:t>sobj</a:t>
            </a:r>
            <a:r>
              <a:rPr lang="en-US" sz="1600" dirty="0"/>
              <a:t> = new </a:t>
            </a:r>
            <a:r>
              <a:rPr lang="en-US" sz="1600" dirty="0" err="1"/>
              <a:t>myclass</a:t>
            </a:r>
            <a:r>
              <a:rPr lang="en-US" sz="1600" dirty="0"/>
              <a:t>(“DAC”, 445);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return </a:t>
            </a:r>
            <a:r>
              <a:rPr lang="en-IN" sz="1600" dirty="0" err="1"/>
              <a:t>sobj</a:t>
            </a:r>
            <a:r>
              <a:rPr lang="en-IN" sz="16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public string  display()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{       return name + " " + id;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dirty="0"/>
              <a:t>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B669CD0-8F68-44DC-AF23-9FF2B19E46A0}"/>
              </a:ext>
            </a:extLst>
          </p:cNvPr>
          <p:cNvSpPr txBox="1"/>
          <p:nvPr/>
        </p:nvSpPr>
        <p:spPr>
          <a:xfrm>
            <a:off x="3849625" y="335429"/>
            <a:ext cx="4416552" cy="4561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class Program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</a:t>
            </a:r>
            <a:r>
              <a:rPr lang="en-US" dirty="0" err="1"/>
              <a:t>myclass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=</a:t>
            </a:r>
            <a:r>
              <a:rPr lang="en-US" dirty="0" err="1"/>
              <a:t>myclass.getobj</a:t>
            </a:r>
            <a:r>
              <a:rPr lang="en-US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</a:t>
            </a:r>
            <a:r>
              <a:rPr lang="en-IN" dirty="0" err="1"/>
              <a:t>ob.display</a:t>
            </a:r>
            <a:r>
              <a:rPr lang="en-IN" dirty="0"/>
              <a:t>());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myclass</a:t>
            </a:r>
            <a:r>
              <a:rPr lang="en-IN" dirty="0"/>
              <a:t> ob1 = </a:t>
            </a:r>
            <a:r>
              <a:rPr lang="en-IN" dirty="0" err="1"/>
              <a:t>myclass.getobj</a:t>
            </a:r>
            <a:r>
              <a:rPr lang="en-IN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(ob1.display());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</a:t>
            </a:r>
            <a:r>
              <a:rPr lang="en-IN" dirty="0" err="1"/>
              <a:t>Console.ReadLine</a:t>
            </a:r>
            <a:r>
              <a:rPr lang="en-IN" dirty="0"/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}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252A67-5833-42C5-8FD6-3C9147130918}"/>
              </a:ext>
            </a:extLst>
          </p:cNvPr>
          <p:cNvSpPr txBox="1"/>
          <p:nvPr/>
        </p:nvSpPr>
        <p:spPr>
          <a:xfrm>
            <a:off x="924560" y="5180792"/>
            <a:ext cx="975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Observe constructor is private so you can not write </a:t>
            </a:r>
            <a:r>
              <a:rPr lang="en-IN" dirty="0" err="1"/>
              <a:t>myclass</a:t>
            </a:r>
            <a:r>
              <a:rPr lang="en-IN" dirty="0"/>
              <a:t> s=new </a:t>
            </a:r>
            <a:r>
              <a:rPr lang="en-IN" dirty="0" err="1"/>
              <a:t>myclass</a:t>
            </a:r>
            <a:r>
              <a:rPr lang="en-IN" dirty="0"/>
              <a:t>(“dd”,2) in entry point class.</a:t>
            </a:r>
          </a:p>
          <a:p>
            <a:r>
              <a:rPr lang="en-IN" dirty="0"/>
              <a:t>Observe we have static method -</a:t>
            </a:r>
            <a:r>
              <a:rPr lang="en-US" dirty="0"/>
              <a:t> public static </a:t>
            </a:r>
            <a:r>
              <a:rPr lang="en-US" dirty="0" err="1">
                <a:solidFill>
                  <a:srgbClr val="00B050"/>
                </a:solidFill>
              </a:rPr>
              <a:t>myclass</a:t>
            </a:r>
            <a:r>
              <a:rPr lang="en-US" dirty="0"/>
              <a:t>  </a:t>
            </a:r>
            <a:r>
              <a:rPr lang="en-US" dirty="0" err="1"/>
              <a:t>getobj</a:t>
            </a:r>
            <a:r>
              <a:rPr lang="en-US" dirty="0"/>
              <a:t>(string nm, int  dd)</a:t>
            </a:r>
            <a:r>
              <a:rPr lang="en-IN" dirty="0"/>
              <a:t> </a:t>
            </a:r>
          </a:p>
          <a:p>
            <a:r>
              <a:rPr lang="en-IN" dirty="0"/>
              <a:t>Observe return type of this method it is </a:t>
            </a:r>
            <a:r>
              <a:rPr lang="en-IN" dirty="0" err="1"/>
              <a:t>myclass</a:t>
            </a:r>
            <a:r>
              <a:rPr lang="en-IN" dirty="0"/>
              <a:t> because it is returning the reference of </a:t>
            </a:r>
            <a:r>
              <a:rPr lang="en-IN" dirty="0" err="1"/>
              <a:t>myclass</a:t>
            </a:r>
            <a:r>
              <a:rPr lang="en-IN" dirty="0"/>
              <a:t> object.</a:t>
            </a:r>
          </a:p>
          <a:p>
            <a:r>
              <a:rPr lang="en-IN" dirty="0"/>
              <a:t>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028BDF5C-373F-4F9C-8C53-9B36385E19DB}"/>
              </a:ext>
            </a:extLst>
          </p:cNvPr>
          <p:cNvSpPr/>
          <p:nvPr/>
        </p:nvSpPr>
        <p:spPr>
          <a:xfrm>
            <a:off x="7636551" y="952050"/>
            <a:ext cx="383458" cy="40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5C091630-57BF-4A87-8A3A-3C238C916142}"/>
              </a:ext>
            </a:extLst>
          </p:cNvPr>
          <p:cNvSpPr/>
          <p:nvPr/>
        </p:nvSpPr>
        <p:spPr>
          <a:xfrm>
            <a:off x="2419390" y="1710813"/>
            <a:ext cx="383458" cy="40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F1B86D2-4B33-4185-9956-CFF9F679ECAF}"/>
              </a:ext>
            </a:extLst>
          </p:cNvPr>
          <p:cNvSpPr/>
          <p:nvPr/>
        </p:nvSpPr>
        <p:spPr>
          <a:xfrm>
            <a:off x="2984090" y="3047596"/>
            <a:ext cx="383458" cy="4031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B75C54C3-2833-45B9-963E-E283603ABB00}"/>
              </a:ext>
            </a:extLst>
          </p:cNvPr>
          <p:cNvCxnSpPr/>
          <p:nvPr/>
        </p:nvCxnSpPr>
        <p:spPr>
          <a:xfrm flipH="1">
            <a:off x="6836779" y="1153612"/>
            <a:ext cx="825910" cy="629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29184" y="2113936"/>
            <a:ext cx="457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29897" y="3702563"/>
            <a:ext cx="2459736" cy="14773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Static method can work with static data directly</a:t>
            </a:r>
          </a:p>
          <a:p>
            <a:r>
              <a:rPr lang="en-US" dirty="0">
                <a:highlight>
                  <a:srgbClr val="FFFF00"/>
                </a:highlight>
              </a:rPr>
              <a:t>It can not work with instance member directly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9725BC7-9854-2027-42F2-FEEF3D47687D}"/>
              </a:ext>
            </a:extLst>
          </p:cNvPr>
          <p:cNvSpPr txBox="1"/>
          <p:nvPr/>
        </p:nvSpPr>
        <p:spPr>
          <a:xfrm>
            <a:off x="9121192" y="251328"/>
            <a:ext cx="152167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Sobj</a:t>
            </a:r>
            <a:r>
              <a:rPr lang="en-US" dirty="0"/>
              <a:t>==null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583402F-F9B4-216D-7886-66257A323F69}"/>
              </a:ext>
            </a:extLst>
          </p:cNvPr>
          <p:cNvSpPr/>
          <p:nvPr/>
        </p:nvSpPr>
        <p:spPr>
          <a:xfrm>
            <a:off x="9654327" y="762669"/>
            <a:ext cx="1023833" cy="1074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DAC</a:t>
            </a:r>
          </a:p>
          <a:p>
            <a:pPr algn="ctr"/>
            <a:r>
              <a:rPr lang="en-US" dirty="0"/>
              <a:t>445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F4BF818-47AF-C96D-1AE9-F8735BD76044}"/>
              </a:ext>
            </a:extLst>
          </p:cNvPr>
          <p:cNvSpPr txBox="1"/>
          <p:nvPr/>
        </p:nvSpPr>
        <p:spPr>
          <a:xfrm>
            <a:off x="7856244" y="1515435"/>
            <a:ext cx="72794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ob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2AA89343-A064-A8D2-5B16-D6365FD4E6FE}"/>
              </a:ext>
            </a:extLst>
          </p:cNvPr>
          <p:cNvCxnSpPr>
            <a:stCxn id="15" idx="3"/>
          </p:cNvCxnSpPr>
          <p:nvPr/>
        </p:nvCxnSpPr>
        <p:spPr>
          <a:xfrm flipV="1">
            <a:off x="8584186" y="1274559"/>
            <a:ext cx="867266" cy="425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0333273C-B44D-3649-9778-BD45DF6F1A89}"/>
              </a:ext>
            </a:extLst>
          </p:cNvPr>
          <p:cNvSpPr/>
          <p:nvPr/>
        </p:nvSpPr>
        <p:spPr>
          <a:xfrm>
            <a:off x="10642862" y="488912"/>
            <a:ext cx="772936" cy="680053"/>
          </a:xfrm>
          <a:custGeom>
            <a:avLst/>
            <a:gdLst>
              <a:gd name="connsiteX0" fmla="*/ 0 w 772936"/>
              <a:gd name="connsiteY0" fmla="*/ 57843 h 680053"/>
              <a:gd name="connsiteX1" fmla="*/ 47134 w 772936"/>
              <a:gd name="connsiteY1" fmla="*/ 29562 h 680053"/>
              <a:gd name="connsiteX2" fmla="*/ 480767 w 772936"/>
              <a:gd name="connsiteY2" fmla="*/ 29562 h 680053"/>
              <a:gd name="connsiteX3" fmla="*/ 650449 w 772936"/>
              <a:gd name="connsiteY3" fmla="*/ 104977 h 680053"/>
              <a:gd name="connsiteX4" fmla="*/ 735291 w 772936"/>
              <a:gd name="connsiteY4" fmla="*/ 180391 h 680053"/>
              <a:gd name="connsiteX5" fmla="*/ 754144 w 772936"/>
              <a:gd name="connsiteY5" fmla="*/ 208672 h 680053"/>
              <a:gd name="connsiteX6" fmla="*/ 735291 w 772936"/>
              <a:gd name="connsiteY6" fmla="*/ 472622 h 680053"/>
              <a:gd name="connsiteX7" fmla="*/ 612742 w 772936"/>
              <a:gd name="connsiteY7" fmla="*/ 548036 h 680053"/>
              <a:gd name="connsiteX8" fmla="*/ 584462 w 772936"/>
              <a:gd name="connsiteY8" fmla="*/ 566890 h 680053"/>
              <a:gd name="connsiteX9" fmla="*/ 471340 w 772936"/>
              <a:gd name="connsiteY9" fmla="*/ 604597 h 680053"/>
              <a:gd name="connsiteX10" fmla="*/ 433633 w 772936"/>
              <a:gd name="connsiteY10" fmla="*/ 623451 h 680053"/>
              <a:gd name="connsiteX11" fmla="*/ 377072 w 772936"/>
              <a:gd name="connsiteY11" fmla="*/ 642304 h 680053"/>
              <a:gd name="connsiteX12" fmla="*/ 282804 w 772936"/>
              <a:gd name="connsiteY12" fmla="*/ 680012 h 680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2936" h="680053">
                <a:moveTo>
                  <a:pt x="0" y="57843"/>
                </a:moveTo>
                <a:cubicBezTo>
                  <a:pt x="15711" y="48416"/>
                  <a:pt x="29662" y="35080"/>
                  <a:pt x="47134" y="29562"/>
                </a:cubicBezTo>
                <a:cubicBezTo>
                  <a:pt x="220673" y="-25240"/>
                  <a:pt x="262689" y="9118"/>
                  <a:pt x="480767" y="29562"/>
                </a:cubicBezTo>
                <a:cubicBezTo>
                  <a:pt x="543879" y="53230"/>
                  <a:pt x="591311" y="68016"/>
                  <a:pt x="650449" y="104977"/>
                </a:cubicBezTo>
                <a:cubicBezTo>
                  <a:pt x="663822" y="113335"/>
                  <a:pt x="718680" y="160457"/>
                  <a:pt x="735291" y="180391"/>
                </a:cubicBezTo>
                <a:cubicBezTo>
                  <a:pt x="742544" y="189095"/>
                  <a:pt x="747860" y="199245"/>
                  <a:pt x="754144" y="208672"/>
                </a:cubicBezTo>
                <a:cubicBezTo>
                  <a:pt x="778502" y="306100"/>
                  <a:pt x="785726" y="315713"/>
                  <a:pt x="735291" y="472622"/>
                </a:cubicBezTo>
                <a:cubicBezTo>
                  <a:pt x="732358" y="481747"/>
                  <a:pt x="614879" y="546754"/>
                  <a:pt x="612742" y="548036"/>
                </a:cubicBezTo>
                <a:cubicBezTo>
                  <a:pt x="603027" y="553865"/>
                  <a:pt x="594595" y="561823"/>
                  <a:pt x="584462" y="566890"/>
                </a:cubicBezTo>
                <a:cubicBezTo>
                  <a:pt x="531456" y="593394"/>
                  <a:pt x="532823" y="582240"/>
                  <a:pt x="471340" y="604597"/>
                </a:cubicBezTo>
                <a:cubicBezTo>
                  <a:pt x="458133" y="609399"/>
                  <a:pt x="446681" y="618232"/>
                  <a:pt x="433633" y="623451"/>
                </a:cubicBezTo>
                <a:cubicBezTo>
                  <a:pt x="415181" y="630832"/>
                  <a:pt x="395339" y="634475"/>
                  <a:pt x="377072" y="642304"/>
                </a:cubicBezTo>
                <a:cubicBezTo>
                  <a:pt x="282529" y="682823"/>
                  <a:pt x="332784" y="680012"/>
                  <a:pt x="282804" y="68001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xmlns="" id="{AEB9C9EC-23AB-CA95-DD07-1743F66810F5}"/>
              </a:ext>
            </a:extLst>
          </p:cNvPr>
          <p:cNvSpPr/>
          <p:nvPr/>
        </p:nvSpPr>
        <p:spPr>
          <a:xfrm rot="1764580">
            <a:off x="10777673" y="940400"/>
            <a:ext cx="538610" cy="32250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7391CD6-5606-85AB-43FC-936A1258651A}"/>
              </a:ext>
            </a:extLst>
          </p:cNvPr>
          <p:cNvSpPr txBox="1"/>
          <p:nvPr/>
        </p:nvSpPr>
        <p:spPr>
          <a:xfrm>
            <a:off x="9121192" y="1956530"/>
            <a:ext cx="113945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Sobj</a:t>
            </a:r>
            <a:r>
              <a:rPr lang="en-US" dirty="0"/>
              <a:t>=null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4E954F01-81EF-5BAC-8220-11CCBE8937C4}"/>
              </a:ext>
            </a:extLst>
          </p:cNvPr>
          <p:cNvSpPr/>
          <p:nvPr/>
        </p:nvSpPr>
        <p:spPr>
          <a:xfrm>
            <a:off x="9384762" y="2387148"/>
            <a:ext cx="1023833" cy="10749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DAC</a:t>
            </a:r>
          </a:p>
          <a:p>
            <a:pPr algn="ctr"/>
            <a:r>
              <a:rPr lang="en-US" dirty="0"/>
              <a:t>445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3FA440F-45C0-F30F-F54F-BBFC918A666E}"/>
              </a:ext>
            </a:extLst>
          </p:cNvPr>
          <p:cNvSpPr txBox="1"/>
          <p:nvPr/>
        </p:nvSpPr>
        <p:spPr>
          <a:xfrm>
            <a:off x="7586679" y="3139914"/>
            <a:ext cx="72794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ob1</a:t>
            </a:r>
            <a:endParaRPr lang="en-IN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03A3B183-1D17-EEF7-F0E5-756D0B036D67}"/>
              </a:ext>
            </a:extLst>
          </p:cNvPr>
          <p:cNvCxnSpPr>
            <a:stCxn id="22" idx="3"/>
          </p:cNvCxnSpPr>
          <p:nvPr/>
        </p:nvCxnSpPr>
        <p:spPr>
          <a:xfrm flipV="1">
            <a:off x="8314621" y="2899038"/>
            <a:ext cx="867266" cy="425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CD60914B-9886-71E9-6AF5-96470EEFA201}"/>
              </a:ext>
            </a:extLst>
          </p:cNvPr>
          <p:cNvSpPr/>
          <p:nvPr/>
        </p:nvSpPr>
        <p:spPr>
          <a:xfrm>
            <a:off x="10373297" y="2113391"/>
            <a:ext cx="772936" cy="680053"/>
          </a:xfrm>
          <a:custGeom>
            <a:avLst/>
            <a:gdLst>
              <a:gd name="connsiteX0" fmla="*/ 0 w 772936"/>
              <a:gd name="connsiteY0" fmla="*/ 57843 h 680053"/>
              <a:gd name="connsiteX1" fmla="*/ 47134 w 772936"/>
              <a:gd name="connsiteY1" fmla="*/ 29562 h 680053"/>
              <a:gd name="connsiteX2" fmla="*/ 480767 w 772936"/>
              <a:gd name="connsiteY2" fmla="*/ 29562 h 680053"/>
              <a:gd name="connsiteX3" fmla="*/ 650449 w 772936"/>
              <a:gd name="connsiteY3" fmla="*/ 104977 h 680053"/>
              <a:gd name="connsiteX4" fmla="*/ 735291 w 772936"/>
              <a:gd name="connsiteY4" fmla="*/ 180391 h 680053"/>
              <a:gd name="connsiteX5" fmla="*/ 754144 w 772936"/>
              <a:gd name="connsiteY5" fmla="*/ 208672 h 680053"/>
              <a:gd name="connsiteX6" fmla="*/ 735291 w 772936"/>
              <a:gd name="connsiteY6" fmla="*/ 472622 h 680053"/>
              <a:gd name="connsiteX7" fmla="*/ 612742 w 772936"/>
              <a:gd name="connsiteY7" fmla="*/ 548036 h 680053"/>
              <a:gd name="connsiteX8" fmla="*/ 584462 w 772936"/>
              <a:gd name="connsiteY8" fmla="*/ 566890 h 680053"/>
              <a:gd name="connsiteX9" fmla="*/ 471340 w 772936"/>
              <a:gd name="connsiteY9" fmla="*/ 604597 h 680053"/>
              <a:gd name="connsiteX10" fmla="*/ 433633 w 772936"/>
              <a:gd name="connsiteY10" fmla="*/ 623451 h 680053"/>
              <a:gd name="connsiteX11" fmla="*/ 377072 w 772936"/>
              <a:gd name="connsiteY11" fmla="*/ 642304 h 680053"/>
              <a:gd name="connsiteX12" fmla="*/ 282804 w 772936"/>
              <a:gd name="connsiteY12" fmla="*/ 680012 h 680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2936" h="680053">
                <a:moveTo>
                  <a:pt x="0" y="57843"/>
                </a:moveTo>
                <a:cubicBezTo>
                  <a:pt x="15711" y="48416"/>
                  <a:pt x="29662" y="35080"/>
                  <a:pt x="47134" y="29562"/>
                </a:cubicBezTo>
                <a:cubicBezTo>
                  <a:pt x="220673" y="-25240"/>
                  <a:pt x="262689" y="9118"/>
                  <a:pt x="480767" y="29562"/>
                </a:cubicBezTo>
                <a:cubicBezTo>
                  <a:pt x="543879" y="53230"/>
                  <a:pt x="591311" y="68016"/>
                  <a:pt x="650449" y="104977"/>
                </a:cubicBezTo>
                <a:cubicBezTo>
                  <a:pt x="663822" y="113335"/>
                  <a:pt x="718680" y="160457"/>
                  <a:pt x="735291" y="180391"/>
                </a:cubicBezTo>
                <a:cubicBezTo>
                  <a:pt x="742544" y="189095"/>
                  <a:pt x="747860" y="199245"/>
                  <a:pt x="754144" y="208672"/>
                </a:cubicBezTo>
                <a:cubicBezTo>
                  <a:pt x="778502" y="306100"/>
                  <a:pt x="785726" y="315713"/>
                  <a:pt x="735291" y="472622"/>
                </a:cubicBezTo>
                <a:cubicBezTo>
                  <a:pt x="732358" y="481747"/>
                  <a:pt x="614879" y="546754"/>
                  <a:pt x="612742" y="548036"/>
                </a:cubicBezTo>
                <a:cubicBezTo>
                  <a:pt x="603027" y="553865"/>
                  <a:pt x="594595" y="561823"/>
                  <a:pt x="584462" y="566890"/>
                </a:cubicBezTo>
                <a:cubicBezTo>
                  <a:pt x="531456" y="593394"/>
                  <a:pt x="532823" y="582240"/>
                  <a:pt x="471340" y="604597"/>
                </a:cubicBezTo>
                <a:cubicBezTo>
                  <a:pt x="458133" y="609399"/>
                  <a:pt x="446681" y="618232"/>
                  <a:pt x="433633" y="623451"/>
                </a:cubicBezTo>
                <a:cubicBezTo>
                  <a:pt x="415181" y="630832"/>
                  <a:pt x="395339" y="634475"/>
                  <a:pt x="377072" y="642304"/>
                </a:cubicBezTo>
                <a:cubicBezTo>
                  <a:pt x="282529" y="682823"/>
                  <a:pt x="332784" y="680012"/>
                  <a:pt x="282804" y="68001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xmlns="" id="{D3D0B5C8-B576-0730-722C-D478BB479478}"/>
              </a:ext>
            </a:extLst>
          </p:cNvPr>
          <p:cNvSpPr/>
          <p:nvPr/>
        </p:nvSpPr>
        <p:spPr>
          <a:xfrm rot="1764580">
            <a:off x="10508108" y="2564879"/>
            <a:ext cx="538610" cy="32250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76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12107D-9BF1-5841-64CD-8BD2D09B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31" y="0"/>
            <a:ext cx="6115878" cy="688423"/>
          </a:xfrm>
        </p:spPr>
        <p:txBody>
          <a:bodyPr>
            <a:normAutofit fontScale="90000"/>
          </a:bodyPr>
          <a:lstStyle/>
          <a:p>
            <a:r>
              <a:rPr lang="en-US" dirty="0"/>
              <a:t>Factory Pattern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95AFCBE-3C08-AA22-AA34-47F15DF8EA47}"/>
              </a:ext>
            </a:extLst>
          </p:cNvPr>
          <p:cNvSpPr txBox="1"/>
          <p:nvPr/>
        </p:nvSpPr>
        <p:spPr>
          <a:xfrm>
            <a:off x="480391" y="344211"/>
            <a:ext cx="609765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System;</a:t>
            </a:r>
          </a:p>
          <a:p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ConsoleApplication3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myclass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name;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id;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myclass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sobj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b-NO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b-NO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nb-NO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b-NO" dirty="0">
                <a:solidFill>
                  <a:srgbClr val="2B91AF"/>
                </a:solidFill>
                <a:latin typeface="Cascadia Mono" panose="020B0609020000020004" pitchFamily="49" charset="0"/>
              </a:rPr>
              <a:t>myclass</a:t>
            </a:r>
            <a:r>
              <a:rPr lang="nb-NO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b-NO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nb-NO" dirty="0">
                <a:solidFill>
                  <a:srgbClr val="000000"/>
                </a:solidFill>
                <a:latin typeface="Cascadia Mono" panose="020B0609020000020004" pitchFamily="49" charset="0"/>
              </a:rPr>
              <a:t> nm, </a:t>
            </a:r>
            <a:r>
              <a:rPr lang="nb-NO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b-NO" dirty="0">
                <a:solidFill>
                  <a:srgbClr val="000000"/>
                </a:solidFill>
                <a:latin typeface="Cascadia Mono" panose="020B0609020000020004" pitchFamily="49" charset="0"/>
              </a:rPr>
              <a:t> dd)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name = nm;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id = dd;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getobj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s,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no)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en-IN" dirty="0">
                <a:solidFill>
                  <a:srgbClr val="008000"/>
                </a:solidFill>
                <a:latin typeface="Cascadia Mono" panose="020B0609020000020004" pitchFamily="49" charset="0"/>
              </a:rPr>
              <a:t>// if (</a:t>
            </a:r>
            <a:r>
              <a:rPr lang="en-IN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sobj</a:t>
            </a:r>
            <a:r>
              <a:rPr lang="en-IN" dirty="0">
                <a:solidFill>
                  <a:srgbClr val="008000"/>
                </a:solidFill>
                <a:latin typeface="Cascadia Mono" panose="020B0609020000020004" pitchFamily="49" charset="0"/>
              </a:rPr>
              <a:t> == null)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sobj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s,no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sobj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display()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name + </a:t>
            </a:r>
            <a:r>
              <a:rPr lang="en-IN" dirty="0">
                <a:solidFill>
                  <a:srgbClr val="A31515"/>
                </a:solidFill>
                <a:latin typeface="Cascadia Mono" panose="020B0609020000020004" pitchFamily="49" charset="0"/>
              </a:rPr>
              <a:t>" "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+ id;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B812840-64D1-FE01-3CB0-FC3DC1B8F538}"/>
              </a:ext>
            </a:extLst>
          </p:cNvPr>
          <p:cNvSpPr txBox="1"/>
          <p:nvPr/>
        </p:nvSpPr>
        <p:spPr>
          <a:xfrm>
            <a:off x="6835637" y="474345"/>
            <a:ext cx="609765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class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Program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void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Main(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args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myclass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ob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myclass.getobj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"ACTS"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,885);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Console.WriteLine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ob.display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myclass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ob1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myclass.getobj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"Vita"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,445);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Console.WriteLine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(ob1.display());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Console.WriteLine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ob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== ob1);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Console.WriteLine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ob.Equals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(ob1));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Console.ReadLine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86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8A3229-B809-459C-AB1D-17AF997D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501445"/>
            <a:ext cx="4129549" cy="567551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	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namespace </a:t>
            </a:r>
            <a:r>
              <a:rPr lang="en-IN" sz="1400" dirty="0" err="1"/>
              <a:t>consoleappsingle</a:t>
            </a:r>
            <a:r>
              <a:rPr lang="en-IN" sz="1400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class </a:t>
            </a:r>
            <a:r>
              <a:rPr lang="en-IN" sz="1400" dirty="0" err="1"/>
              <a:t>MainApp</a:t>
            </a: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static void Main()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// Constructor is private -- cannot use new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Singleton s1 = </a:t>
            </a:r>
            <a:r>
              <a:rPr lang="en-IN" sz="1400" dirty="0" err="1"/>
              <a:t>Singleton.Instance</a:t>
            </a:r>
            <a:r>
              <a:rPr lang="en-IN" sz="1400" dirty="0"/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Singleton s2 = </a:t>
            </a:r>
            <a:r>
              <a:rPr lang="en-IN" sz="1400" dirty="0" err="1"/>
              <a:t>Singleton.Instance</a:t>
            </a:r>
            <a:r>
              <a:rPr lang="en-IN" sz="1400" dirty="0"/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// Test for same instance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if (s1 == s2)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 err="1"/>
              <a:t>Console.WriteLine</a:t>
            </a:r>
            <a:r>
              <a:rPr lang="en-IN" sz="1400" dirty="0"/>
              <a:t>("Objects are the same instance");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// Wait for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</a:t>
            </a:r>
            <a:r>
              <a:rPr lang="en-IN" sz="1400" dirty="0" err="1"/>
              <a:t>Console.ReadKey</a:t>
            </a:r>
            <a:r>
              <a:rPr lang="en-IN" sz="1400" dirty="0"/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032B45-5406-40E0-BC06-C05973965006}"/>
              </a:ext>
            </a:extLst>
          </p:cNvPr>
          <p:cNvSpPr txBox="1"/>
          <p:nvPr/>
        </p:nvSpPr>
        <p:spPr>
          <a:xfrm>
            <a:off x="5761703" y="255639"/>
            <a:ext cx="5909187" cy="6684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dirty="0"/>
              <a:t> class Singleton</a:t>
            </a:r>
          </a:p>
          <a:p>
            <a:pPr>
              <a:lnSpc>
                <a:spcPct val="120000"/>
              </a:lnSpc>
            </a:pPr>
            <a:r>
              <a:rPr lang="en-IN" dirty="0"/>
              <a:t>  {    private static Singleton _instance;</a:t>
            </a:r>
          </a:p>
          <a:p>
            <a:pPr>
              <a:lnSpc>
                <a:spcPct val="120000"/>
              </a:lnSpc>
            </a:pPr>
            <a:r>
              <a:rPr lang="en-IN" dirty="0"/>
              <a:t>    // Constructor is 'protected'</a:t>
            </a:r>
          </a:p>
          <a:p>
            <a:pPr>
              <a:lnSpc>
                <a:spcPct val="120000"/>
              </a:lnSpc>
            </a:pPr>
            <a:r>
              <a:rPr lang="en-IN" dirty="0"/>
              <a:t>    private Singleton()  {</a:t>
            </a:r>
          </a:p>
          <a:p>
            <a:pPr>
              <a:lnSpc>
                <a:spcPct val="120000"/>
              </a:lnSpc>
            </a:pPr>
            <a:r>
              <a:rPr lang="en-IN" dirty="0"/>
              <a:t>    }</a:t>
            </a:r>
          </a:p>
          <a:p>
            <a:pPr>
              <a:lnSpc>
                <a:spcPct val="120000"/>
              </a:lnSpc>
            </a:pPr>
            <a:endParaRPr lang="en-IN" dirty="0"/>
          </a:p>
          <a:p>
            <a:pPr>
              <a:lnSpc>
                <a:spcPct val="120000"/>
              </a:lnSpc>
            </a:pPr>
            <a:r>
              <a:rPr lang="en-IN" dirty="0"/>
              <a:t>    public static Singleton Instance()</a:t>
            </a:r>
          </a:p>
          <a:p>
            <a:pPr>
              <a:lnSpc>
                <a:spcPct val="120000"/>
              </a:lnSpc>
            </a:pPr>
            <a:r>
              <a:rPr lang="en-IN" dirty="0"/>
              <a:t>    {     // Uses lazy initialization.</a:t>
            </a:r>
          </a:p>
          <a:p>
            <a:pPr>
              <a:lnSpc>
                <a:spcPct val="120000"/>
              </a:lnSpc>
            </a:pPr>
            <a:r>
              <a:rPr lang="en-IN" dirty="0"/>
              <a:t>      // Note: this is not thread safe.</a:t>
            </a:r>
          </a:p>
          <a:p>
            <a:pPr>
              <a:lnSpc>
                <a:spcPct val="120000"/>
              </a:lnSpc>
            </a:pPr>
            <a:r>
              <a:rPr lang="en-IN" dirty="0"/>
              <a:t>      if (_instance == null)  {   </a:t>
            </a:r>
          </a:p>
          <a:p>
            <a:pPr>
              <a:lnSpc>
                <a:spcPct val="120000"/>
              </a:lnSpc>
            </a:pPr>
            <a:r>
              <a:rPr lang="en-IN" dirty="0"/>
              <a:t>     _instance = new Singleton();</a:t>
            </a:r>
          </a:p>
          <a:p>
            <a:pPr>
              <a:lnSpc>
                <a:spcPct val="120000"/>
              </a:lnSpc>
            </a:pPr>
            <a:r>
              <a:rPr lang="en-IN" dirty="0"/>
              <a:t>      }</a:t>
            </a:r>
          </a:p>
          <a:p>
            <a:pPr>
              <a:lnSpc>
                <a:spcPct val="120000"/>
              </a:lnSpc>
            </a:pPr>
            <a:r>
              <a:rPr lang="en-IN" dirty="0"/>
              <a:t>      return _instance;</a:t>
            </a:r>
          </a:p>
          <a:p>
            <a:pPr>
              <a:lnSpc>
                <a:spcPct val="120000"/>
              </a:lnSpc>
            </a:pPr>
            <a:r>
              <a:rPr lang="en-IN" dirty="0"/>
              <a:t>    }</a:t>
            </a:r>
          </a:p>
          <a:p>
            <a:pPr>
              <a:lnSpc>
                <a:spcPct val="120000"/>
              </a:lnSpc>
            </a:pPr>
            <a:endParaRPr lang="en-IN" dirty="0"/>
          </a:p>
          <a:p>
            <a:pPr>
              <a:lnSpc>
                <a:spcPct val="120000"/>
              </a:lnSpc>
            </a:pPr>
            <a:r>
              <a:rPr lang="en-IN" dirty="0"/>
              <a:t>  }</a:t>
            </a:r>
          </a:p>
          <a:p>
            <a:pPr>
              <a:lnSpc>
                <a:spcPct val="120000"/>
              </a:lnSpc>
            </a:pPr>
            <a:endParaRPr lang="en-IN" dirty="0"/>
          </a:p>
          <a:p>
            <a:pPr>
              <a:lnSpc>
                <a:spcPct val="120000"/>
              </a:lnSpc>
            </a:pPr>
            <a:r>
              <a:rPr lang="en-IN" dirty="0"/>
              <a:t>}</a:t>
            </a:r>
          </a:p>
          <a:p>
            <a:pPr>
              <a:lnSpc>
                <a:spcPct val="120000"/>
              </a:lnSpc>
            </a:pP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08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964</Words>
  <Application>Microsoft Office PowerPoint</Application>
  <PresentationFormat>Widescreen</PresentationFormat>
  <Paragraphs>241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Cascadia Mono</vt:lpstr>
      <vt:lpstr>Garamond</vt:lpstr>
      <vt:lpstr>Office Theme</vt:lpstr>
      <vt:lpstr>PowerPoint Presentation</vt:lpstr>
      <vt:lpstr>PowerPoint Presentation</vt:lpstr>
      <vt:lpstr>Can we have private constructor?</vt:lpstr>
      <vt:lpstr>When we need single ton design pattern</vt:lpstr>
      <vt:lpstr>Single ton object</vt:lpstr>
      <vt:lpstr>PowerPoint Presentation</vt:lpstr>
      <vt:lpstr>Single ton object</vt:lpstr>
      <vt:lpstr>Factory Pattern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35</cp:revision>
  <dcterms:created xsi:type="dcterms:W3CDTF">2020-07-23T11:34:37Z</dcterms:created>
  <dcterms:modified xsi:type="dcterms:W3CDTF">2024-04-14T03:43:56Z</dcterms:modified>
</cp:coreProperties>
</file>