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8" r:id="rId3"/>
    <p:sldId id="257" r:id="rId4"/>
    <p:sldId id="260" r:id="rId5"/>
    <p:sldId id="259" r:id="rId6"/>
    <p:sldId id="261" r:id="rId7"/>
    <p:sldId id="262" r:id="rId8"/>
    <p:sldId id="256" r:id="rId9"/>
    <p:sldId id="263" r:id="rId10"/>
    <p:sldId id="264" r:id="rId11"/>
    <p:sldId id="265" r:id="rId12"/>
    <p:sldId id="266" r:id="rId13"/>
    <p:sldId id="303" r:id="rId14"/>
    <p:sldId id="304" r:id="rId15"/>
    <p:sldId id="305" r:id="rId16"/>
    <p:sldId id="306" r:id="rId17"/>
    <p:sldId id="30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7D1D4-5DCF-5DE4-6F7E-2951030041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7F4BDCC-E3B7-C373-1966-080C511E89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2C64330-DF1B-B39E-20D4-A2CAD1E8EA02}"/>
              </a:ext>
            </a:extLst>
          </p:cNvPr>
          <p:cNvSpPr>
            <a:spLocks noGrp="1"/>
          </p:cNvSpPr>
          <p:nvPr>
            <p:ph type="dt" sz="half" idx="10"/>
          </p:nvPr>
        </p:nvSpPr>
        <p:spPr/>
        <p:txBody>
          <a:bodyPr/>
          <a:lstStyle/>
          <a:p>
            <a:fld id="{EBF17F73-DB04-42B9-8DFD-963B07E5A985}" type="datetimeFigureOut">
              <a:rPr lang="en-IN" smtClean="0"/>
              <a:t>15-04-2023</a:t>
            </a:fld>
            <a:endParaRPr lang="en-IN"/>
          </a:p>
        </p:txBody>
      </p:sp>
      <p:sp>
        <p:nvSpPr>
          <p:cNvPr id="5" name="Footer Placeholder 4">
            <a:extLst>
              <a:ext uri="{FF2B5EF4-FFF2-40B4-BE49-F238E27FC236}">
                <a16:creationId xmlns:a16="http://schemas.microsoft.com/office/drawing/2014/main" id="{FF199CD3-96FA-3353-682D-F2D5F6E80B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C5D738-A8AD-4AFF-9E79-936DAB7A83CE}"/>
              </a:ext>
            </a:extLst>
          </p:cNvPr>
          <p:cNvSpPr>
            <a:spLocks noGrp="1"/>
          </p:cNvSpPr>
          <p:nvPr>
            <p:ph type="sldNum" sz="quarter" idx="12"/>
          </p:nvPr>
        </p:nvSpPr>
        <p:spPr/>
        <p:txBody>
          <a:bodyPr/>
          <a:lstStyle/>
          <a:p>
            <a:fld id="{0C57FB84-C42C-44F8-A5B6-DA335D70A45C}" type="slidenum">
              <a:rPr lang="en-IN" smtClean="0"/>
              <a:t>‹#›</a:t>
            </a:fld>
            <a:endParaRPr lang="en-IN"/>
          </a:p>
        </p:txBody>
      </p:sp>
    </p:spTree>
    <p:extLst>
      <p:ext uri="{BB962C8B-B14F-4D97-AF65-F5344CB8AC3E}">
        <p14:creationId xmlns:p14="http://schemas.microsoft.com/office/powerpoint/2010/main" val="88387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630B3-AEAF-83B5-6E28-8936F4B473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EC8095-4EFE-0B36-1265-B66D46754F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41AB50-16B3-EA8F-FF46-DEE16B074B11}"/>
              </a:ext>
            </a:extLst>
          </p:cNvPr>
          <p:cNvSpPr>
            <a:spLocks noGrp="1"/>
          </p:cNvSpPr>
          <p:nvPr>
            <p:ph type="dt" sz="half" idx="10"/>
          </p:nvPr>
        </p:nvSpPr>
        <p:spPr/>
        <p:txBody>
          <a:bodyPr/>
          <a:lstStyle/>
          <a:p>
            <a:fld id="{EBF17F73-DB04-42B9-8DFD-963B07E5A985}" type="datetimeFigureOut">
              <a:rPr lang="en-IN" smtClean="0"/>
              <a:t>15-04-2023</a:t>
            </a:fld>
            <a:endParaRPr lang="en-IN"/>
          </a:p>
        </p:txBody>
      </p:sp>
      <p:sp>
        <p:nvSpPr>
          <p:cNvPr id="5" name="Footer Placeholder 4">
            <a:extLst>
              <a:ext uri="{FF2B5EF4-FFF2-40B4-BE49-F238E27FC236}">
                <a16:creationId xmlns:a16="http://schemas.microsoft.com/office/drawing/2014/main" id="{D6A07C4C-5E9F-2273-DA33-81289DB0D4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DC0F4A-27D0-3E4A-9748-5F7DA52E1B64}"/>
              </a:ext>
            </a:extLst>
          </p:cNvPr>
          <p:cNvSpPr>
            <a:spLocks noGrp="1"/>
          </p:cNvSpPr>
          <p:nvPr>
            <p:ph type="sldNum" sz="quarter" idx="12"/>
          </p:nvPr>
        </p:nvSpPr>
        <p:spPr/>
        <p:txBody>
          <a:bodyPr/>
          <a:lstStyle/>
          <a:p>
            <a:fld id="{0C57FB84-C42C-44F8-A5B6-DA335D70A45C}" type="slidenum">
              <a:rPr lang="en-IN" smtClean="0"/>
              <a:t>‹#›</a:t>
            </a:fld>
            <a:endParaRPr lang="en-IN"/>
          </a:p>
        </p:txBody>
      </p:sp>
    </p:spTree>
    <p:extLst>
      <p:ext uri="{BB962C8B-B14F-4D97-AF65-F5344CB8AC3E}">
        <p14:creationId xmlns:p14="http://schemas.microsoft.com/office/powerpoint/2010/main" val="904828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D768B-1EA4-1DD0-3440-71012E2041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3A525B-14B2-17EA-AF3A-81EF684AC0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393611-EB73-B80F-5BB8-D7EA61C86842}"/>
              </a:ext>
            </a:extLst>
          </p:cNvPr>
          <p:cNvSpPr>
            <a:spLocks noGrp="1"/>
          </p:cNvSpPr>
          <p:nvPr>
            <p:ph type="dt" sz="half" idx="10"/>
          </p:nvPr>
        </p:nvSpPr>
        <p:spPr/>
        <p:txBody>
          <a:bodyPr/>
          <a:lstStyle/>
          <a:p>
            <a:fld id="{EBF17F73-DB04-42B9-8DFD-963B07E5A985}" type="datetimeFigureOut">
              <a:rPr lang="en-IN" smtClean="0"/>
              <a:t>15-04-2023</a:t>
            </a:fld>
            <a:endParaRPr lang="en-IN"/>
          </a:p>
        </p:txBody>
      </p:sp>
      <p:sp>
        <p:nvSpPr>
          <p:cNvPr id="5" name="Footer Placeholder 4">
            <a:extLst>
              <a:ext uri="{FF2B5EF4-FFF2-40B4-BE49-F238E27FC236}">
                <a16:creationId xmlns:a16="http://schemas.microsoft.com/office/drawing/2014/main" id="{98D40D42-73A5-70E5-5670-B9A7CA6ADB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C96C4E-231B-1BA9-9043-A06AE3FAAA2B}"/>
              </a:ext>
            </a:extLst>
          </p:cNvPr>
          <p:cNvSpPr>
            <a:spLocks noGrp="1"/>
          </p:cNvSpPr>
          <p:nvPr>
            <p:ph type="sldNum" sz="quarter" idx="12"/>
          </p:nvPr>
        </p:nvSpPr>
        <p:spPr/>
        <p:txBody>
          <a:bodyPr/>
          <a:lstStyle/>
          <a:p>
            <a:fld id="{0C57FB84-C42C-44F8-A5B6-DA335D70A45C}" type="slidenum">
              <a:rPr lang="en-IN" smtClean="0"/>
              <a:t>‹#›</a:t>
            </a:fld>
            <a:endParaRPr lang="en-IN"/>
          </a:p>
        </p:txBody>
      </p:sp>
    </p:spTree>
    <p:extLst>
      <p:ext uri="{BB962C8B-B14F-4D97-AF65-F5344CB8AC3E}">
        <p14:creationId xmlns:p14="http://schemas.microsoft.com/office/powerpoint/2010/main" val="2373697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741B6-0A1E-BAAF-AA55-7605A2D8CF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7F1323-EDE7-9E85-20DE-5935F52956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F3D9EE9-0F84-79CC-79C1-52FDB41847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A50728C-DF75-F0AA-5904-90267A3C694B}"/>
              </a:ext>
            </a:extLst>
          </p:cNvPr>
          <p:cNvSpPr>
            <a:spLocks noGrp="1"/>
          </p:cNvSpPr>
          <p:nvPr>
            <p:ph type="dt" sz="half" idx="10"/>
          </p:nvPr>
        </p:nvSpPr>
        <p:spPr/>
        <p:txBody>
          <a:bodyPr/>
          <a:lstStyle/>
          <a:p>
            <a:fld id="{EBF17F73-DB04-42B9-8DFD-963B07E5A985}" type="datetimeFigureOut">
              <a:rPr lang="en-IN" smtClean="0"/>
              <a:t>15-04-2023</a:t>
            </a:fld>
            <a:endParaRPr lang="en-IN"/>
          </a:p>
        </p:txBody>
      </p:sp>
      <p:sp>
        <p:nvSpPr>
          <p:cNvPr id="6" name="Footer Placeholder 5">
            <a:extLst>
              <a:ext uri="{FF2B5EF4-FFF2-40B4-BE49-F238E27FC236}">
                <a16:creationId xmlns:a16="http://schemas.microsoft.com/office/drawing/2014/main" id="{AA56450F-4D7C-6185-F308-829B926AA7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6CD500-F181-FE79-F170-2C000C352D7A}"/>
              </a:ext>
            </a:extLst>
          </p:cNvPr>
          <p:cNvSpPr>
            <a:spLocks noGrp="1"/>
          </p:cNvSpPr>
          <p:nvPr>
            <p:ph type="sldNum" sz="quarter" idx="12"/>
          </p:nvPr>
        </p:nvSpPr>
        <p:spPr/>
        <p:txBody>
          <a:bodyPr/>
          <a:lstStyle/>
          <a:p>
            <a:fld id="{0C57FB84-C42C-44F8-A5B6-DA335D70A45C}" type="slidenum">
              <a:rPr lang="en-IN" smtClean="0"/>
              <a:t>‹#›</a:t>
            </a:fld>
            <a:endParaRPr lang="en-IN"/>
          </a:p>
        </p:txBody>
      </p:sp>
    </p:spTree>
    <p:extLst>
      <p:ext uri="{BB962C8B-B14F-4D97-AF65-F5344CB8AC3E}">
        <p14:creationId xmlns:p14="http://schemas.microsoft.com/office/powerpoint/2010/main" val="683725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CD25-2D58-FE4A-8C65-3F05E8F8126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25F07-A0D5-B9D7-6A11-96C5BDD187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8E9823-AD84-A6ED-3DBB-0F40C61D99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DD1A7A8-A9DD-04A4-3F6C-7359C8BE45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EEF7C9-32D8-725C-9AE9-C0C38FBAA8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3D76C14-8BAD-410A-72CC-EC24C33EF273}"/>
              </a:ext>
            </a:extLst>
          </p:cNvPr>
          <p:cNvSpPr>
            <a:spLocks noGrp="1"/>
          </p:cNvSpPr>
          <p:nvPr>
            <p:ph type="dt" sz="half" idx="10"/>
          </p:nvPr>
        </p:nvSpPr>
        <p:spPr/>
        <p:txBody>
          <a:bodyPr/>
          <a:lstStyle/>
          <a:p>
            <a:fld id="{EBF17F73-DB04-42B9-8DFD-963B07E5A985}" type="datetimeFigureOut">
              <a:rPr lang="en-IN" smtClean="0"/>
              <a:t>15-04-2023</a:t>
            </a:fld>
            <a:endParaRPr lang="en-IN"/>
          </a:p>
        </p:txBody>
      </p:sp>
      <p:sp>
        <p:nvSpPr>
          <p:cNvPr id="8" name="Footer Placeholder 7">
            <a:extLst>
              <a:ext uri="{FF2B5EF4-FFF2-40B4-BE49-F238E27FC236}">
                <a16:creationId xmlns:a16="http://schemas.microsoft.com/office/drawing/2014/main" id="{CFD930E9-C8EB-0C05-276F-DF226E4271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E5B09A-0FCD-71E9-3E8A-438404FAE57B}"/>
              </a:ext>
            </a:extLst>
          </p:cNvPr>
          <p:cNvSpPr>
            <a:spLocks noGrp="1"/>
          </p:cNvSpPr>
          <p:nvPr>
            <p:ph type="sldNum" sz="quarter" idx="12"/>
          </p:nvPr>
        </p:nvSpPr>
        <p:spPr/>
        <p:txBody>
          <a:bodyPr/>
          <a:lstStyle/>
          <a:p>
            <a:fld id="{0C57FB84-C42C-44F8-A5B6-DA335D70A45C}" type="slidenum">
              <a:rPr lang="en-IN" smtClean="0"/>
              <a:t>‹#›</a:t>
            </a:fld>
            <a:endParaRPr lang="en-IN"/>
          </a:p>
        </p:txBody>
      </p:sp>
    </p:spTree>
    <p:extLst>
      <p:ext uri="{BB962C8B-B14F-4D97-AF65-F5344CB8AC3E}">
        <p14:creationId xmlns:p14="http://schemas.microsoft.com/office/powerpoint/2010/main" val="2274402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CF1A6-F478-B6AF-489A-CA8A509FC3C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C6DDD7D-56A6-88B0-754C-5D4B1E3951BA}"/>
              </a:ext>
            </a:extLst>
          </p:cNvPr>
          <p:cNvSpPr>
            <a:spLocks noGrp="1"/>
          </p:cNvSpPr>
          <p:nvPr>
            <p:ph type="dt" sz="half" idx="10"/>
          </p:nvPr>
        </p:nvSpPr>
        <p:spPr/>
        <p:txBody>
          <a:bodyPr/>
          <a:lstStyle/>
          <a:p>
            <a:fld id="{EBF17F73-DB04-42B9-8DFD-963B07E5A985}" type="datetimeFigureOut">
              <a:rPr lang="en-IN" smtClean="0"/>
              <a:t>15-04-2023</a:t>
            </a:fld>
            <a:endParaRPr lang="en-IN"/>
          </a:p>
        </p:txBody>
      </p:sp>
      <p:sp>
        <p:nvSpPr>
          <p:cNvPr id="4" name="Footer Placeholder 3">
            <a:extLst>
              <a:ext uri="{FF2B5EF4-FFF2-40B4-BE49-F238E27FC236}">
                <a16:creationId xmlns:a16="http://schemas.microsoft.com/office/drawing/2014/main" id="{99A29A2F-7A85-8743-57C2-8F22338DC62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4F0AE81-6C79-9CA2-9E9C-C9A94ED50275}"/>
              </a:ext>
            </a:extLst>
          </p:cNvPr>
          <p:cNvSpPr>
            <a:spLocks noGrp="1"/>
          </p:cNvSpPr>
          <p:nvPr>
            <p:ph type="sldNum" sz="quarter" idx="12"/>
          </p:nvPr>
        </p:nvSpPr>
        <p:spPr/>
        <p:txBody>
          <a:bodyPr/>
          <a:lstStyle/>
          <a:p>
            <a:fld id="{0C57FB84-C42C-44F8-A5B6-DA335D70A45C}" type="slidenum">
              <a:rPr lang="en-IN" smtClean="0"/>
              <a:t>‹#›</a:t>
            </a:fld>
            <a:endParaRPr lang="en-IN"/>
          </a:p>
        </p:txBody>
      </p:sp>
    </p:spTree>
    <p:extLst>
      <p:ext uri="{BB962C8B-B14F-4D97-AF65-F5344CB8AC3E}">
        <p14:creationId xmlns:p14="http://schemas.microsoft.com/office/powerpoint/2010/main" val="4190223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3CEFC6-143D-CFA3-2867-A32D68284105}"/>
              </a:ext>
            </a:extLst>
          </p:cNvPr>
          <p:cNvSpPr>
            <a:spLocks noGrp="1"/>
          </p:cNvSpPr>
          <p:nvPr>
            <p:ph type="dt" sz="half" idx="10"/>
          </p:nvPr>
        </p:nvSpPr>
        <p:spPr/>
        <p:txBody>
          <a:bodyPr/>
          <a:lstStyle/>
          <a:p>
            <a:fld id="{EBF17F73-DB04-42B9-8DFD-963B07E5A985}" type="datetimeFigureOut">
              <a:rPr lang="en-IN" smtClean="0"/>
              <a:t>15-04-2023</a:t>
            </a:fld>
            <a:endParaRPr lang="en-IN"/>
          </a:p>
        </p:txBody>
      </p:sp>
      <p:sp>
        <p:nvSpPr>
          <p:cNvPr id="3" name="Footer Placeholder 2">
            <a:extLst>
              <a:ext uri="{FF2B5EF4-FFF2-40B4-BE49-F238E27FC236}">
                <a16:creationId xmlns:a16="http://schemas.microsoft.com/office/drawing/2014/main" id="{E30A86A6-3240-F9AA-3404-85723545861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882B73E-1125-FC22-2270-081821816022}"/>
              </a:ext>
            </a:extLst>
          </p:cNvPr>
          <p:cNvSpPr>
            <a:spLocks noGrp="1"/>
          </p:cNvSpPr>
          <p:nvPr>
            <p:ph type="sldNum" sz="quarter" idx="12"/>
          </p:nvPr>
        </p:nvSpPr>
        <p:spPr/>
        <p:txBody>
          <a:bodyPr/>
          <a:lstStyle/>
          <a:p>
            <a:fld id="{0C57FB84-C42C-44F8-A5B6-DA335D70A45C}" type="slidenum">
              <a:rPr lang="en-IN" smtClean="0"/>
              <a:t>‹#›</a:t>
            </a:fld>
            <a:endParaRPr lang="en-IN"/>
          </a:p>
        </p:txBody>
      </p:sp>
    </p:spTree>
    <p:extLst>
      <p:ext uri="{BB962C8B-B14F-4D97-AF65-F5344CB8AC3E}">
        <p14:creationId xmlns:p14="http://schemas.microsoft.com/office/powerpoint/2010/main" val="1193748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6ECE3-4FE3-3BF3-52B3-A5B8E1A0A8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EFA691B-EBC4-FB07-FE0F-19BD3D9B38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A25552-B0AC-65C1-A457-188B97EA03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BDFA01-4C0A-3A57-8330-16566341BB59}"/>
              </a:ext>
            </a:extLst>
          </p:cNvPr>
          <p:cNvSpPr>
            <a:spLocks noGrp="1"/>
          </p:cNvSpPr>
          <p:nvPr>
            <p:ph type="dt" sz="half" idx="10"/>
          </p:nvPr>
        </p:nvSpPr>
        <p:spPr/>
        <p:txBody>
          <a:bodyPr/>
          <a:lstStyle/>
          <a:p>
            <a:fld id="{EBF17F73-DB04-42B9-8DFD-963B07E5A985}" type="datetimeFigureOut">
              <a:rPr lang="en-IN" smtClean="0"/>
              <a:t>15-04-2023</a:t>
            </a:fld>
            <a:endParaRPr lang="en-IN"/>
          </a:p>
        </p:txBody>
      </p:sp>
      <p:sp>
        <p:nvSpPr>
          <p:cNvPr id="6" name="Footer Placeholder 5">
            <a:extLst>
              <a:ext uri="{FF2B5EF4-FFF2-40B4-BE49-F238E27FC236}">
                <a16:creationId xmlns:a16="http://schemas.microsoft.com/office/drawing/2014/main" id="{5C70263E-14CC-B14A-24FC-72675A9815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4B7732-C93F-124D-F2CF-136036EA6C5E}"/>
              </a:ext>
            </a:extLst>
          </p:cNvPr>
          <p:cNvSpPr>
            <a:spLocks noGrp="1"/>
          </p:cNvSpPr>
          <p:nvPr>
            <p:ph type="sldNum" sz="quarter" idx="12"/>
          </p:nvPr>
        </p:nvSpPr>
        <p:spPr/>
        <p:txBody>
          <a:bodyPr/>
          <a:lstStyle/>
          <a:p>
            <a:fld id="{0C57FB84-C42C-44F8-A5B6-DA335D70A45C}" type="slidenum">
              <a:rPr lang="en-IN" smtClean="0"/>
              <a:t>‹#›</a:t>
            </a:fld>
            <a:endParaRPr lang="en-IN"/>
          </a:p>
        </p:txBody>
      </p:sp>
    </p:spTree>
    <p:extLst>
      <p:ext uri="{BB962C8B-B14F-4D97-AF65-F5344CB8AC3E}">
        <p14:creationId xmlns:p14="http://schemas.microsoft.com/office/powerpoint/2010/main" val="3508051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F12B8-97B1-5FFC-2A7F-49B0645350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5371FB7-1EC6-A778-5FAE-991F264E32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EA3C9ED-2E04-127D-3567-477D53ACA0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BB8B20-D6C9-B9EA-1AB1-C2CEEB5903EE}"/>
              </a:ext>
            </a:extLst>
          </p:cNvPr>
          <p:cNvSpPr>
            <a:spLocks noGrp="1"/>
          </p:cNvSpPr>
          <p:nvPr>
            <p:ph type="dt" sz="half" idx="10"/>
          </p:nvPr>
        </p:nvSpPr>
        <p:spPr/>
        <p:txBody>
          <a:bodyPr/>
          <a:lstStyle/>
          <a:p>
            <a:fld id="{EBF17F73-DB04-42B9-8DFD-963B07E5A985}" type="datetimeFigureOut">
              <a:rPr lang="en-IN" smtClean="0"/>
              <a:t>15-04-2023</a:t>
            </a:fld>
            <a:endParaRPr lang="en-IN"/>
          </a:p>
        </p:txBody>
      </p:sp>
      <p:sp>
        <p:nvSpPr>
          <p:cNvPr id="6" name="Footer Placeholder 5">
            <a:extLst>
              <a:ext uri="{FF2B5EF4-FFF2-40B4-BE49-F238E27FC236}">
                <a16:creationId xmlns:a16="http://schemas.microsoft.com/office/drawing/2014/main" id="{B0B10E12-00A5-E08E-F161-E09E31F1CE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868F71-BF96-3C62-E029-FBD02EDF81E9}"/>
              </a:ext>
            </a:extLst>
          </p:cNvPr>
          <p:cNvSpPr>
            <a:spLocks noGrp="1"/>
          </p:cNvSpPr>
          <p:nvPr>
            <p:ph type="sldNum" sz="quarter" idx="12"/>
          </p:nvPr>
        </p:nvSpPr>
        <p:spPr/>
        <p:txBody>
          <a:bodyPr/>
          <a:lstStyle/>
          <a:p>
            <a:fld id="{0C57FB84-C42C-44F8-A5B6-DA335D70A45C}" type="slidenum">
              <a:rPr lang="en-IN" smtClean="0"/>
              <a:t>‹#›</a:t>
            </a:fld>
            <a:endParaRPr lang="en-IN"/>
          </a:p>
        </p:txBody>
      </p:sp>
    </p:spTree>
    <p:extLst>
      <p:ext uri="{BB962C8B-B14F-4D97-AF65-F5344CB8AC3E}">
        <p14:creationId xmlns:p14="http://schemas.microsoft.com/office/powerpoint/2010/main" val="757030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141AF-8053-607F-7CEF-7CBAF89136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00A18B-B052-16B4-160F-1B3D25CF6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D8148C-A4CE-1EED-E0B2-4E3C525D48CD}"/>
              </a:ext>
            </a:extLst>
          </p:cNvPr>
          <p:cNvSpPr>
            <a:spLocks noGrp="1"/>
          </p:cNvSpPr>
          <p:nvPr>
            <p:ph type="dt" sz="half" idx="10"/>
          </p:nvPr>
        </p:nvSpPr>
        <p:spPr/>
        <p:txBody>
          <a:bodyPr/>
          <a:lstStyle/>
          <a:p>
            <a:fld id="{EBF17F73-DB04-42B9-8DFD-963B07E5A985}" type="datetimeFigureOut">
              <a:rPr lang="en-IN" smtClean="0"/>
              <a:t>15-04-2023</a:t>
            </a:fld>
            <a:endParaRPr lang="en-IN"/>
          </a:p>
        </p:txBody>
      </p:sp>
      <p:sp>
        <p:nvSpPr>
          <p:cNvPr id="5" name="Footer Placeholder 4">
            <a:extLst>
              <a:ext uri="{FF2B5EF4-FFF2-40B4-BE49-F238E27FC236}">
                <a16:creationId xmlns:a16="http://schemas.microsoft.com/office/drawing/2014/main" id="{F181C15E-987E-1463-41A4-99E1F96B2D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AB1704-0E6D-B13F-AC9A-1966B6CE87E2}"/>
              </a:ext>
            </a:extLst>
          </p:cNvPr>
          <p:cNvSpPr>
            <a:spLocks noGrp="1"/>
          </p:cNvSpPr>
          <p:nvPr>
            <p:ph type="sldNum" sz="quarter" idx="12"/>
          </p:nvPr>
        </p:nvSpPr>
        <p:spPr/>
        <p:txBody>
          <a:bodyPr/>
          <a:lstStyle/>
          <a:p>
            <a:fld id="{0C57FB84-C42C-44F8-A5B6-DA335D70A45C}" type="slidenum">
              <a:rPr lang="en-IN" smtClean="0"/>
              <a:t>‹#›</a:t>
            </a:fld>
            <a:endParaRPr lang="en-IN"/>
          </a:p>
        </p:txBody>
      </p:sp>
    </p:spTree>
    <p:extLst>
      <p:ext uri="{BB962C8B-B14F-4D97-AF65-F5344CB8AC3E}">
        <p14:creationId xmlns:p14="http://schemas.microsoft.com/office/powerpoint/2010/main" val="2956000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0277B7-0634-5543-EB2D-ACE690CE275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46C1C86-9801-9EDF-C3F1-E97BFC0F1D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CE4128-7A47-B9E6-3768-8F635CF50381}"/>
              </a:ext>
            </a:extLst>
          </p:cNvPr>
          <p:cNvSpPr>
            <a:spLocks noGrp="1"/>
          </p:cNvSpPr>
          <p:nvPr>
            <p:ph type="dt" sz="half" idx="10"/>
          </p:nvPr>
        </p:nvSpPr>
        <p:spPr/>
        <p:txBody>
          <a:bodyPr/>
          <a:lstStyle/>
          <a:p>
            <a:fld id="{EBF17F73-DB04-42B9-8DFD-963B07E5A985}" type="datetimeFigureOut">
              <a:rPr lang="en-IN" smtClean="0"/>
              <a:t>15-04-2023</a:t>
            </a:fld>
            <a:endParaRPr lang="en-IN"/>
          </a:p>
        </p:txBody>
      </p:sp>
      <p:sp>
        <p:nvSpPr>
          <p:cNvPr id="5" name="Footer Placeholder 4">
            <a:extLst>
              <a:ext uri="{FF2B5EF4-FFF2-40B4-BE49-F238E27FC236}">
                <a16:creationId xmlns:a16="http://schemas.microsoft.com/office/drawing/2014/main" id="{7B00E3C6-D83F-57A0-9753-9139D575C7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65B41E-2087-60BE-37B0-286D1D8E1E12}"/>
              </a:ext>
            </a:extLst>
          </p:cNvPr>
          <p:cNvSpPr>
            <a:spLocks noGrp="1"/>
          </p:cNvSpPr>
          <p:nvPr>
            <p:ph type="sldNum" sz="quarter" idx="12"/>
          </p:nvPr>
        </p:nvSpPr>
        <p:spPr/>
        <p:txBody>
          <a:bodyPr/>
          <a:lstStyle/>
          <a:p>
            <a:fld id="{0C57FB84-C42C-44F8-A5B6-DA335D70A45C}" type="slidenum">
              <a:rPr lang="en-IN" smtClean="0"/>
              <a:t>‹#›</a:t>
            </a:fld>
            <a:endParaRPr lang="en-IN"/>
          </a:p>
        </p:txBody>
      </p:sp>
    </p:spTree>
    <p:extLst>
      <p:ext uri="{BB962C8B-B14F-4D97-AF65-F5344CB8AC3E}">
        <p14:creationId xmlns:p14="http://schemas.microsoft.com/office/powerpoint/2010/main" val="19417116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D2B0-4A09-4077-A16F-47EF53C7B9AB}"/>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F999B8F7-FB15-4E52-99EA-D5C8DA45F0CB}"/>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2A00E3-0B9B-461E-8769-6733F6B06C82}"/>
              </a:ext>
            </a:extLst>
          </p:cNvPr>
          <p:cNvSpPr>
            <a:spLocks noGrp="1"/>
          </p:cNvSpPr>
          <p:nvPr>
            <p:ph type="dt" sz="half" idx="10"/>
          </p:nvPr>
        </p:nvSpPr>
        <p:spPr/>
        <p:txBody>
          <a:bodyPr/>
          <a:lstStyle/>
          <a:p>
            <a:fld id="{CA63E55B-20EA-41BC-BD1C-971839B344EB}" type="datetimeFigureOut">
              <a:rPr lang="en-US" smtClean="0"/>
              <a:t>4/15/2023</a:t>
            </a:fld>
            <a:endParaRPr lang="en-US"/>
          </a:p>
        </p:txBody>
      </p:sp>
      <p:sp>
        <p:nvSpPr>
          <p:cNvPr id="5" name="Footer Placeholder 4">
            <a:extLst>
              <a:ext uri="{FF2B5EF4-FFF2-40B4-BE49-F238E27FC236}">
                <a16:creationId xmlns:a16="http://schemas.microsoft.com/office/drawing/2014/main" id="{EB2DB9E8-792D-48AB-B5DC-6339AF8C5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AE14BD-A444-4EE6-9F1F-9FDA24758213}"/>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8" name="Rectangle 7">
            <a:extLst>
              <a:ext uri="{FF2B5EF4-FFF2-40B4-BE49-F238E27FC236}">
                <a16:creationId xmlns:a16="http://schemas.microsoft.com/office/drawing/2014/main" id="{BABFEB1C-F450-428A-83D7-340C83DC860D}"/>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594299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AC40-2D59-4D63-A85F-88A1B05AB556}"/>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5236B28-72B5-448B-9EB7-D6B17A3D6163}"/>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2D14418-9775-4183-8BED-2D31C2F1878C}"/>
              </a:ext>
            </a:extLst>
          </p:cNvPr>
          <p:cNvSpPr>
            <a:spLocks noGrp="1"/>
          </p:cNvSpPr>
          <p:nvPr>
            <p:ph type="dt" sz="half" idx="10"/>
          </p:nvPr>
        </p:nvSpPr>
        <p:spPr/>
        <p:txBody>
          <a:bodyPr/>
          <a:lstStyle/>
          <a:p>
            <a:fld id="{CA63E55B-20EA-41BC-BD1C-971839B344EB}" type="datetimeFigureOut">
              <a:rPr lang="en-US" smtClean="0"/>
              <a:t>4/15/2023</a:t>
            </a:fld>
            <a:endParaRPr lang="en-US"/>
          </a:p>
        </p:txBody>
      </p:sp>
      <p:sp>
        <p:nvSpPr>
          <p:cNvPr id="5" name="Footer Placeholder 4">
            <a:extLst>
              <a:ext uri="{FF2B5EF4-FFF2-40B4-BE49-F238E27FC236}">
                <a16:creationId xmlns:a16="http://schemas.microsoft.com/office/drawing/2014/main" id="{8AB95571-159D-4E16-9442-1A64A5950E6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178B35A-86EE-4F1D-B326-E2422DD54D04}"/>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9216428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270A-6F8F-4629-BAF7-7FD05F1541E8}"/>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7F87B2F-F56F-4E5D-9CBE-9507142DA187}"/>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206FFD-1B08-439C-A38C-0E7806B715BD}"/>
              </a:ext>
            </a:extLst>
          </p:cNvPr>
          <p:cNvSpPr>
            <a:spLocks noGrp="1"/>
          </p:cNvSpPr>
          <p:nvPr>
            <p:ph type="dt" sz="half" idx="10"/>
          </p:nvPr>
        </p:nvSpPr>
        <p:spPr/>
        <p:txBody>
          <a:bodyPr/>
          <a:lstStyle/>
          <a:p>
            <a:fld id="{CA63E55B-20EA-41BC-BD1C-971839B344EB}" type="datetimeFigureOut">
              <a:rPr lang="en-US" smtClean="0"/>
              <a:t>4/15/2023</a:t>
            </a:fld>
            <a:endParaRPr lang="en-US"/>
          </a:p>
        </p:txBody>
      </p:sp>
      <p:sp>
        <p:nvSpPr>
          <p:cNvPr id="5" name="Footer Placeholder 4">
            <a:extLst>
              <a:ext uri="{FF2B5EF4-FFF2-40B4-BE49-F238E27FC236}">
                <a16:creationId xmlns:a16="http://schemas.microsoft.com/office/drawing/2014/main" id="{4674952C-2D91-4955-807D-D44B144062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896C4-BDA4-4F8B-B0CB-A3F2D6DF2912}"/>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0" name="Rectangle 9">
            <a:extLst>
              <a:ext uri="{FF2B5EF4-FFF2-40B4-BE49-F238E27FC236}">
                <a16:creationId xmlns:a16="http://schemas.microsoft.com/office/drawing/2014/main" id="{2C19E40E-1E09-4FBD-93DB-5D61896E4676}"/>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6576974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CCB-2FA4-4084-BD4F-FA292A024F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E53C5E-BCDC-4D34-9F70-040FD30B4319}"/>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a:extLst>
              <a:ext uri="{FF2B5EF4-FFF2-40B4-BE49-F238E27FC236}">
                <a16:creationId xmlns:a16="http://schemas.microsoft.com/office/drawing/2014/main" id="{F84DEE8A-AA47-4E02-ACE2-30603FDF46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A2DF106-7445-4B25-88A6-F8375332AE0D}"/>
              </a:ext>
            </a:extLst>
          </p:cNvPr>
          <p:cNvSpPr>
            <a:spLocks noGrp="1"/>
          </p:cNvSpPr>
          <p:nvPr>
            <p:ph type="dt" sz="half" idx="10"/>
          </p:nvPr>
        </p:nvSpPr>
        <p:spPr/>
        <p:txBody>
          <a:bodyPr/>
          <a:lstStyle/>
          <a:p>
            <a:fld id="{CA63E55B-20EA-41BC-BD1C-971839B344EB}" type="datetimeFigureOut">
              <a:rPr lang="en-US" smtClean="0"/>
              <a:t>4/15/2023</a:t>
            </a:fld>
            <a:endParaRPr lang="en-US"/>
          </a:p>
        </p:txBody>
      </p:sp>
      <p:sp>
        <p:nvSpPr>
          <p:cNvPr id="6" name="Footer Placeholder 5">
            <a:extLst>
              <a:ext uri="{FF2B5EF4-FFF2-40B4-BE49-F238E27FC236}">
                <a16:creationId xmlns:a16="http://schemas.microsoft.com/office/drawing/2014/main" id="{A886E2C9-014B-4C9D-865C-277DE17797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D34B14-67D2-4200-A9A1-E02FB5F859D0}"/>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4536222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03A8-E3C2-4521-BAB0-EEA84642CD60}"/>
              </a:ext>
            </a:extLst>
          </p:cNvPr>
          <p:cNvSpPr>
            <a:spLocks noGrp="1"/>
          </p:cNvSpPr>
          <p:nvPr>
            <p:ph type="title"/>
          </p:nvPr>
        </p:nvSpPr>
        <p:spPr>
          <a:xfrm>
            <a:off x="839788" y="365127"/>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05B118-C53A-4E78-BEC8-3F4EAA240CA0}"/>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45913-94E8-4A79-8EF4-F9C118ED014D}"/>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D531397-8C84-4B9B-B5B8-CEEEFC58857E}"/>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FDF4B68-3FC3-4FB2-A053-7B0FCDAFFEAC}"/>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958C094-6BBF-4769-B9C8-0267561CC4F6}"/>
              </a:ext>
            </a:extLst>
          </p:cNvPr>
          <p:cNvSpPr>
            <a:spLocks noGrp="1"/>
          </p:cNvSpPr>
          <p:nvPr>
            <p:ph type="dt" sz="half" idx="10"/>
          </p:nvPr>
        </p:nvSpPr>
        <p:spPr/>
        <p:txBody>
          <a:bodyPr/>
          <a:lstStyle/>
          <a:p>
            <a:fld id="{CA63E55B-20EA-41BC-BD1C-971839B344EB}" type="datetimeFigureOut">
              <a:rPr lang="en-US" smtClean="0"/>
              <a:t>4/15/2023</a:t>
            </a:fld>
            <a:endParaRPr lang="en-US"/>
          </a:p>
        </p:txBody>
      </p:sp>
      <p:sp>
        <p:nvSpPr>
          <p:cNvPr id="8" name="Footer Placeholder 7">
            <a:extLst>
              <a:ext uri="{FF2B5EF4-FFF2-40B4-BE49-F238E27FC236}">
                <a16:creationId xmlns:a16="http://schemas.microsoft.com/office/drawing/2014/main" id="{F65B6ED7-A64A-4564-A7BC-AF2199FEF3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FDBFF9-C2DC-47A6-A290-9D0B53D2A49B}"/>
              </a:ext>
            </a:extLst>
          </p:cNvPr>
          <p:cNvSpPr>
            <a:spLocks noGrp="1"/>
          </p:cNvSpPr>
          <p:nvPr>
            <p:ph type="sldNum" sz="quarter" idx="12"/>
          </p:nvPr>
        </p:nvSpPr>
        <p:spPr/>
        <p:txBody>
          <a:bodyPr/>
          <a:lstStyle/>
          <a:p>
            <a:fld id="{4D6E2103-0152-4525-945D-993C97345546}" type="slidenum">
              <a:rPr lang="en-US" smtClean="0"/>
              <a:t>‹#›</a:t>
            </a:fld>
            <a:endParaRPr lang="en-US"/>
          </a:p>
        </p:txBody>
      </p:sp>
      <p:pic>
        <p:nvPicPr>
          <p:cNvPr id="11" name="Picture 10">
            <a:extLst>
              <a:ext uri="{FF2B5EF4-FFF2-40B4-BE49-F238E27FC236}">
                <a16:creationId xmlns:a16="http://schemas.microsoft.com/office/drawing/2014/main" id="{F44B7B4C-9242-41F9-9EFA-37803263D9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710265" cy="857534"/>
          </a:xfrm>
          <a:prstGeom prst="rect">
            <a:avLst/>
          </a:prstGeom>
        </p:spPr>
      </p:pic>
      <p:sp>
        <p:nvSpPr>
          <p:cNvPr id="13" name="Rectangle 12">
            <a:extLst>
              <a:ext uri="{FF2B5EF4-FFF2-40B4-BE49-F238E27FC236}">
                <a16:creationId xmlns:a16="http://schemas.microsoft.com/office/drawing/2014/main" id="{5ADFB1EB-EA8A-4B40-B65B-E5F97A5BDEA6}"/>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3580385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18B92-803A-43F1-96E0-15B5A9CB28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67875B-CA21-4A34-815A-AC8E46B65D10}"/>
              </a:ext>
            </a:extLst>
          </p:cNvPr>
          <p:cNvSpPr>
            <a:spLocks noGrp="1"/>
          </p:cNvSpPr>
          <p:nvPr>
            <p:ph type="dt" sz="half" idx="10"/>
          </p:nvPr>
        </p:nvSpPr>
        <p:spPr/>
        <p:txBody>
          <a:bodyPr/>
          <a:lstStyle/>
          <a:p>
            <a:fld id="{CA63E55B-20EA-41BC-BD1C-971839B344EB}" type="datetimeFigureOut">
              <a:rPr lang="en-US" smtClean="0"/>
              <a:t>4/15/2023</a:t>
            </a:fld>
            <a:endParaRPr lang="en-US"/>
          </a:p>
        </p:txBody>
      </p:sp>
      <p:sp>
        <p:nvSpPr>
          <p:cNvPr id="4" name="Footer Placeholder 3">
            <a:extLst>
              <a:ext uri="{FF2B5EF4-FFF2-40B4-BE49-F238E27FC236}">
                <a16:creationId xmlns:a16="http://schemas.microsoft.com/office/drawing/2014/main" id="{22051392-43F0-4389-8EE8-963F90F1AC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9F3021-3732-4E7B-B105-8D53733AED62}"/>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5852863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105B1C-D14F-4038-92D6-2AD4B375CE08}"/>
              </a:ext>
            </a:extLst>
          </p:cNvPr>
          <p:cNvSpPr>
            <a:spLocks noGrp="1"/>
          </p:cNvSpPr>
          <p:nvPr>
            <p:ph type="dt" sz="half" idx="10"/>
          </p:nvPr>
        </p:nvSpPr>
        <p:spPr/>
        <p:txBody>
          <a:bodyPr/>
          <a:lstStyle/>
          <a:p>
            <a:fld id="{CA63E55B-20EA-41BC-BD1C-971839B344EB}" type="datetimeFigureOut">
              <a:rPr lang="en-US" smtClean="0"/>
              <a:t>4/15/2023</a:t>
            </a:fld>
            <a:endParaRPr lang="en-US"/>
          </a:p>
        </p:txBody>
      </p:sp>
      <p:sp>
        <p:nvSpPr>
          <p:cNvPr id="3" name="Footer Placeholder 2">
            <a:extLst>
              <a:ext uri="{FF2B5EF4-FFF2-40B4-BE49-F238E27FC236}">
                <a16:creationId xmlns:a16="http://schemas.microsoft.com/office/drawing/2014/main" id="{8439ADE9-7ED1-44FE-9A63-2DF37671EA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E109B7-7EF5-44C2-8821-DFB5084812E5}"/>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1485676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8C241-CE34-485A-B25B-5B17F6196392}"/>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86EDE76-2F56-4722-A19F-90CF92396944}"/>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92879C-E670-44C6-B777-E4CC693E3ADC}"/>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2F925B6-8CF3-455D-B73D-119D0B4E441A}"/>
              </a:ext>
            </a:extLst>
          </p:cNvPr>
          <p:cNvSpPr>
            <a:spLocks noGrp="1"/>
          </p:cNvSpPr>
          <p:nvPr>
            <p:ph type="dt" sz="half" idx="10"/>
          </p:nvPr>
        </p:nvSpPr>
        <p:spPr/>
        <p:txBody>
          <a:bodyPr/>
          <a:lstStyle/>
          <a:p>
            <a:fld id="{CA63E55B-20EA-41BC-BD1C-971839B344EB}" type="datetimeFigureOut">
              <a:rPr lang="en-US" smtClean="0"/>
              <a:t>4/15/2023</a:t>
            </a:fld>
            <a:endParaRPr lang="en-US"/>
          </a:p>
        </p:txBody>
      </p:sp>
      <p:sp>
        <p:nvSpPr>
          <p:cNvPr id="6" name="Footer Placeholder 5">
            <a:extLst>
              <a:ext uri="{FF2B5EF4-FFF2-40B4-BE49-F238E27FC236}">
                <a16:creationId xmlns:a16="http://schemas.microsoft.com/office/drawing/2014/main" id="{DC7BEC62-2B2D-47D8-814E-CEB11FBDE0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4B180D-9A69-407A-B767-849DC3F09309}"/>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3311094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2B198-AFEA-40C2-BE37-C68CFDF483DD}"/>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7B8C5B-9A98-470A-8110-499A6518DD56}"/>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F09FA6F1-1813-4B57-B473-833646D2E825}"/>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B4D1A94-0748-4E41-9D2F-C83D9F732710}"/>
              </a:ext>
            </a:extLst>
          </p:cNvPr>
          <p:cNvSpPr>
            <a:spLocks noGrp="1"/>
          </p:cNvSpPr>
          <p:nvPr>
            <p:ph type="dt" sz="half" idx="10"/>
          </p:nvPr>
        </p:nvSpPr>
        <p:spPr/>
        <p:txBody>
          <a:bodyPr/>
          <a:lstStyle/>
          <a:p>
            <a:fld id="{CA63E55B-20EA-41BC-BD1C-971839B344EB}" type="datetimeFigureOut">
              <a:rPr lang="en-US" smtClean="0"/>
              <a:t>4/15/2023</a:t>
            </a:fld>
            <a:endParaRPr lang="en-US"/>
          </a:p>
        </p:txBody>
      </p:sp>
      <p:sp>
        <p:nvSpPr>
          <p:cNvPr id="6" name="Footer Placeholder 5">
            <a:extLst>
              <a:ext uri="{FF2B5EF4-FFF2-40B4-BE49-F238E27FC236}">
                <a16:creationId xmlns:a16="http://schemas.microsoft.com/office/drawing/2014/main" id="{34FA210D-43D8-47ED-9949-2CED61B4BA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42B31-3A2B-4E1F-B426-BCF9E3DD68BE}"/>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19251727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A8523-61C0-453B-8977-7E823EDCC3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B0E370-F9F6-4D63-86BA-0C0C7ABB2E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7AF5E7-A24A-4D4F-9251-D3C3CD538475}"/>
              </a:ext>
            </a:extLst>
          </p:cNvPr>
          <p:cNvSpPr>
            <a:spLocks noGrp="1"/>
          </p:cNvSpPr>
          <p:nvPr>
            <p:ph type="dt" sz="half" idx="10"/>
          </p:nvPr>
        </p:nvSpPr>
        <p:spPr/>
        <p:txBody>
          <a:bodyPr/>
          <a:lstStyle/>
          <a:p>
            <a:fld id="{CA63E55B-20EA-41BC-BD1C-971839B344EB}" type="datetimeFigureOut">
              <a:rPr lang="en-US" smtClean="0"/>
              <a:t>4/15/2023</a:t>
            </a:fld>
            <a:endParaRPr lang="en-US"/>
          </a:p>
        </p:txBody>
      </p:sp>
      <p:sp>
        <p:nvSpPr>
          <p:cNvPr id="5" name="Footer Placeholder 4">
            <a:extLst>
              <a:ext uri="{FF2B5EF4-FFF2-40B4-BE49-F238E27FC236}">
                <a16:creationId xmlns:a16="http://schemas.microsoft.com/office/drawing/2014/main" id="{A5469C26-5F35-4403-BB25-270B7A428F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C1B4A1-1332-4B3D-9570-914A118EEFE5}"/>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33888918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866256-29E0-4FB4-B70D-23F0615B4331}"/>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49EE83-F08B-4085-92DD-887191E74932}"/>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C09255-745E-47C1-A734-54C4277C6AAF}"/>
              </a:ext>
            </a:extLst>
          </p:cNvPr>
          <p:cNvSpPr>
            <a:spLocks noGrp="1"/>
          </p:cNvSpPr>
          <p:nvPr>
            <p:ph type="dt" sz="half" idx="10"/>
          </p:nvPr>
        </p:nvSpPr>
        <p:spPr/>
        <p:txBody>
          <a:bodyPr/>
          <a:lstStyle/>
          <a:p>
            <a:fld id="{CA63E55B-20EA-41BC-BD1C-971839B344EB}" type="datetimeFigureOut">
              <a:rPr lang="en-US" smtClean="0"/>
              <a:t>4/15/2023</a:t>
            </a:fld>
            <a:endParaRPr lang="en-US"/>
          </a:p>
        </p:txBody>
      </p:sp>
      <p:sp>
        <p:nvSpPr>
          <p:cNvPr id="5" name="Footer Placeholder 4">
            <a:extLst>
              <a:ext uri="{FF2B5EF4-FFF2-40B4-BE49-F238E27FC236}">
                <a16:creationId xmlns:a16="http://schemas.microsoft.com/office/drawing/2014/main" id="{6FEE1911-73E7-44C4-8A47-7A3E73020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76C518-9C28-479C-BDDC-CCEAD9D83CC2}"/>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7366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B08A96-4C98-A24B-262F-48D4B25A6F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0D7403-9777-139F-B555-1CC50D3B71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4EB9BA-83A2-1E0A-5F80-1505BE9C97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F17F73-DB04-42B9-8DFD-963B07E5A985}" type="datetimeFigureOut">
              <a:rPr lang="en-IN" smtClean="0"/>
              <a:t>15-04-2023</a:t>
            </a:fld>
            <a:endParaRPr lang="en-IN"/>
          </a:p>
        </p:txBody>
      </p:sp>
      <p:sp>
        <p:nvSpPr>
          <p:cNvPr id="5" name="Footer Placeholder 4">
            <a:extLst>
              <a:ext uri="{FF2B5EF4-FFF2-40B4-BE49-F238E27FC236}">
                <a16:creationId xmlns:a16="http://schemas.microsoft.com/office/drawing/2014/main" id="{AE05590E-0036-4C47-6C31-F292BAC3DC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7D079BD-BA27-9DCD-88CF-5E884355B3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57FB84-C42C-44F8-A5B6-DA335D70A45C}" type="slidenum">
              <a:rPr lang="en-IN" smtClean="0"/>
              <a:t>‹#›</a:t>
            </a:fld>
            <a:endParaRPr lang="en-IN"/>
          </a:p>
        </p:txBody>
      </p:sp>
    </p:spTree>
    <p:extLst>
      <p:ext uri="{BB962C8B-B14F-4D97-AF65-F5344CB8AC3E}">
        <p14:creationId xmlns:p14="http://schemas.microsoft.com/office/powerpoint/2010/main" val="2813520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A40FBA-4B31-4400-8703-448B6BB92946}"/>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A55A2560-6694-4066-9BBE-CDBCA95271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CE10E3E-5C9C-477B-9737-59527A0399B4}"/>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A63E55B-20EA-41BC-BD1C-971839B344EB}" type="datetimeFigureOut">
              <a:rPr lang="en-US" smtClean="0"/>
              <a:t>4/15/2023</a:t>
            </a:fld>
            <a:endParaRPr lang="en-US"/>
          </a:p>
        </p:txBody>
      </p:sp>
      <p:sp>
        <p:nvSpPr>
          <p:cNvPr id="5" name="Footer Placeholder 4">
            <a:extLst>
              <a:ext uri="{FF2B5EF4-FFF2-40B4-BE49-F238E27FC236}">
                <a16:creationId xmlns:a16="http://schemas.microsoft.com/office/drawing/2014/main" id="{3D5B4180-7DA2-4E7A-9EAC-CB2B7A99B58B}"/>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5689F4-61E0-46DF-9DC0-37CC35E22E28}"/>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D6E2103-0152-4525-945D-993C97345546}" type="slidenum">
              <a:rPr lang="en-US" smtClean="0"/>
              <a:t>‹#›</a:t>
            </a:fld>
            <a:endParaRPr lang="en-US"/>
          </a:p>
        </p:txBody>
      </p:sp>
    </p:spTree>
    <p:extLst>
      <p:ext uri="{BB962C8B-B14F-4D97-AF65-F5344CB8AC3E}">
        <p14:creationId xmlns:p14="http://schemas.microsoft.com/office/powerpoint/2010/main" val="22756150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devblogs.microsoft.com/dotnet/announcing-net-6/"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dotnet/aspnetcore" TargetMode="External"/><Relationship Id="rId7" Type="http://schemas.openxmlformats.org/officeDocument/2006/relationships/image" Target="../media/image2.png"/><Relationship Id="rId2" Type="http://schemas.openxmlformats.org/officeDocument/2006/relationships/hyperlink" Target="https://github.com/dotnet/aspnetcore/tree/main/src/Components" TargetMode="External"/><Relationship Id="rId1" Type="http://schemas.openxmlformats.org/officeDocument/2006/relationships/slideLayout" Target="../slideLayouts/slideLayout2.xml"/><Relationship Id="rId6" Type="http://schemas.openxmlformats.org/officeDocument/2006/relationships/hyperlink" Target="https://github.com/dotnet/maui" TargetMode="External"/><Relationship Id="rId5" Type="http://schemas.openxmlformats.org/officeDocument/2006/relationships/hyperlink" Target="https://github.com/dotnet/iot/" TargetMode="External"/><Relationship Id="rId4" Type="http://schemas.openxmlformats.org/officeDocument/2006/relationships/hyperlink" Target="https://github.com/dotnet/winforms"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github.com/dotnet/winforms" TargetMode="External"/><Relationship Id="rId3" Type="http://schemas.openxmlformats.org/officeDocument/2006/relationships/hyperlink" Target="https://docs.microsoft.com/aspnet/core/blazor/host-and-deploy/webassembly?view=aspnetcore-6.0#ahead-of-time-aot-compilation" TargetMode="External"/><Relationship Id="rId7" Type="http://schemas.openxmlformats.org/officeDocument/2006/relationships/hyperlink" Target="https://docs.microsoft.com/dotnet/desktop/" TargetMode="External"/><Relationship Id="rId2" Type="http://schemas.openxmlformats.org/officeDocument/2006/relationships/hyperlink" Target="https://github.com/dotnet/machinelearning" TargetMode="External"/><Relationship Id="rId1" Type="http://schemas.openxmlformats.org/officeDocument/2006/relationships/slideLayout" Target="../slideLayouts/slideLayout2.xml"/><Relationship Id="rId6" Type="http://schemas.openxmlformats.org/officeDocument/2006/relationships/hyperlink" Target="https://github.com/dotnet/maui" TargetMode="External"/><Relationship Id="rId5" Type="http://schemas.openxmlformats.org/officeDocument/2006/relationships/hyperlink" Target="https://docs.microsoft.com/aspnet/core/blazor/components/?view=aspnetcore-6.0#render-razor-components-from-javascript" TargetMode="External"/><Relationship Id="rId4" Type="http://schemas.openxmlformats.org/officeDocument/2006/relationships/hyperlink" Target="http://blazor.net/" TargetMode="External"/><Relationship Id="rId9" Type="http://schemas.openxmlformats.org/officeDocument/2006/relationships/hyperlink" Target="https://github.com/dotnet/wpf"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docs.microsoft.com/dotnet/core/whats-new/dotnet-6"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8" Type="http://schemas.openxmlformats.org/officeDocument/2006/relationships/hyperlink" Target="https://github.com/dotnet/sdk" TargetMode="External"/><Relationship Id="rId13" Type="http://schemas.openxmlformats.org/officeDocument/2006/relationships/hyperlink" Target="https://docs.microsoft.com/en-us/dotnet/standard/net-standard" TargetMode="External"/><Relationship Id="rId3" Type="http://schemas.openxmlformats.org/officeDocument/2006/relationships/hyperlink" Target="https://github.com/dotnet/runtime/blob/master/LICENSE.TXT" TargetMode="External"/><Relationship Id="rId7" Type="http://schemas.openxmlformats.org/officeDocument/2006/relationships/hyperlink" Target="https://github.com/dotnet/runtime" TargetMode="External"/><Relationship Id="rId12" Type="http://schemas.openxmlformats.org/officeDocument/2006/relationships/hyperlink" Target="https://docs.microsoft.com/en-us/dotnet/core/docker/introduction" TargetMode="External"/><Relationship Id="rId2" Type="http://schemas.openxmlformats.org/officeDocument/2006/relationships/hyperlink" Target="https://dotnet.microsoft.com/platform/open-source" TargetMode="External"/><Relationship Id="rId1" Type="http://schemas.openxmlformats.org/officeDocument/2006/relationships/slideLayout" Target="../slideLayouts/slideLayout13.xml"/><Relationship Id="rId6" Type="http://schemas.openxmlformats.org/officeDocument/2006/relationships/hyperlink" Target="https://github.com/dotnet/roslyn" TargetMode="External"/><Relationship Id="rId11" Type="http://schemas.openxmlformats.org/officeDocument/2006/relationships/hyperlink" Target="https://www.tutorialsteacher.com/core/net-core-command-line-interface" TargetMode="External"/><Relationship Id="rId5" Type="http://schemas.openxmlformats.org/officeDocument/2006/relationships/hyperlink" Target="https://dotnetfoundation.org/" TargetMode="External"/><Relationship Id="rId10" Type="http://schemas.openxmlformats.org/officeDocument/2006/relationships/hyperlink" Target="https://www.nuget.org/packages/Microsoft.NETCore.App" TargetMode="External"/><Relationship Id="rId4" Type="http://schemas.openxmlformats.org/officeDocument/2006/relationships/hyperlink" Target="https://www.apache.org/licenses/LICENSE-2.0" TargetMode="External"/><Relationship Id="rId9" Type="http://schemas.openxmlformats.org/officeDocument/2006/relationships/hyperlink" Target="https://github.com/dotnet/aspnetcor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D4111-05ED-A4A5-E18A-3B9B6EC23FD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CB5C69F-7243-CC9B-52C8-72D2BF1BC72A}"/>
              </a:ext>
            </a:extLst>
          </p:cNvPr>
          <p:cNvSpPr>
            <a:spLocks noGrp="1"/>
          </p:cNvSpPr>
          <p:nvPr>
            <p:ph idx="1"/>
          </p:nvPr>
        </p:nvSpPr>
        <p:spPr/>
        <p:txBody>
          <a:bodyPr/>
          <a:lstStyle/>
          <a:p>
            <a:r>
              <a:rPr lang="en-IN" dirty="0">
                <a:hlinkClick r:id="rId2"/>
              </a:rPr>
              <a:t>https://devblogs.microsoft.com/dotnet/announcing-net-6/</a:t>
            </a:r>
            <a:endParaRPr lang="en-IN" dirty="0"/>
          </a:p>
          <a:p>
            <a:r>
              <a:rPr lang="en-IN"/>
              <a:t>https://learn.microsoft.com/en-us/training/modules/persist-data-ef-core/3-migrations</a:t>
            </a:r>
            <a:endParaRPr lang="en-IN" dirty="0"/>
          </a:p>
        </p:txBody>
      </p:sp>
    </p:spTree>
    <p:extLst>
      <p:ext uri="{BB962C8B-B14F-4D97-AF65-F5344CB8AC3E}">
        <p14:creationId xmlns:p14="http://schemas.microsoft.com/office/powerpoint/2010/main" val="2256459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78CEFD-D762-3E7A-2043-A8E572E936AC}"/>
              </a:ext>
            </a:extLst>
          </p:cNvPr>
          <p:cNvSpPr txBox="1"/>
          <p:nvPr/>
        </p:nvSpPr>
        <p:spPr>
          <a:xfrm>
            <a:off x="3650531" y="399795"/>
            <a:ext cx="6094428" cy="369332"/>
          </a:xfrm>
          <a:prstGeom prst="rect">
            <a:avLst/>
          </a:prstGeom>
          <a:noFill/>
        </p:spPr>
        <p:txBody>
          <a:bodyPr wrap="square">
            <a:spAutoFit/>
          </a:bodyPr>
          <a:lstStyle/>
          <a:p>
            <a:r>
              <a:rPr lang="en-IN" b="1" i="0" dirty="0">
                <a:solidFill>
                  <a:srgbClr val="333333"/>
                </a:solidFill>
                <a:effectLst/>
                <a:latin typeface="Segoe UI" panose="020B0502040204020203" pitchFamily="34" charset="0"/>
              </a:rPr>
              <a:t>Unified and extended platform</a:t>
            </a:r>
            <a:endParaRPr lang="en-IN" dirty="0"/>
          </a:p>
        </p:txBody>
      </p:sp>
      <p:sp>
        <p:nvSpPr>
          <p:cNvPr id="7" name="TextBox 6">
            <a:extLst>
              <a:ext uri="{FF2B5EF4-FFF2-40B4-BE49-F238E27FC236}">
                <a16:creationId xmlns:a16="http://schemas.microsoft.com/office/drawing/2014/main" id="{461E9863-3804-76D3-43D8-F984A399F528}"/>
              </a:ext>
            </a:extLst>
          </p:cNvPr>
          <p:cNvSpPr txBox="1"/>
          <p:nvPr/>
        </p:nvSpPr>
        <p:spPr>
          <a:xfrm>
            <a:off x="737646" y="769127"/>
            <a:ext cx="10197445" cy="1477328"/>
          </a:xfrm>
          <a:prstGeom prst="rect">
            <a:avLst/>
          </a:prstGeom>
          <a:noFill/>
        </p:spPr>
        <p:txBody>
          <a:bodyPr wrap="square">
            <a:spAutoFit/>
          </a:bodyPr>
          <a:lstStyle/>
          <a:p>
            <a:r>
              <a:rPr lang="en-US" b="0" i="0" dirty="0">
                <a:solidFill>
                  <a:srgbClr val="333333"/>
                </a:solidFill>
                <a:effectLst/>
                <a:latin typeface="Segoe UI" panose="020B0502040204020203" pitchFamily="34" charset="0"/>
              </a:rPr>
              <a:t>.NET 6 delivers a unified platform, for </a:t>
            </a:r>
            <a:r>
              <a:rPr lang="en-US" b="0" i="0" u="sng" dirty="0">
                <a:solidFill>
                  <a:srgbClr val="005DA6"/>
                </a:solidFill>
                <a:effectLst/>
                <a:latin typeface="Segoe UI" panose="020B0502040204020203" pitchFamily="34" charset="0"/>
                <a:hlinkClick r:id="rId2"/>
              </a:rPr>
              <a:t>browser</a:t>
            </a:r>
            <a:r>
              <a:rPr lang="en-US" b="0" i="0" dirty="0">
                <a:solidFill>
                  <a:srgbClr val="333333"/>
                </a:solidFill>
                <a:effectLst/>
                <a:latin typeface="Segoe UI" panose="020B0502040204020203" pitchFamily="34" charset="0"/>
              </a:rPr>
              <a:t>, </a:t>
            </a:r>
            <a:r>
              <a:rPr lang="en-US" b="0" i="0" u="sng" dirty="0">
                <a:solidFill>
                  <a:srgbClr val="005DA6"/>
                </a:solidFill>
                <a:effectLst/>
                <a:latin typeface="Segoe UI" panose="020B0502040204020203" pitchFamily="34" charset="0"/>
                <a:hlinkClick r:id="rId3"/>
              </a:rPr>
              <a:t>cloud</a:t>
            </a:r>
            <a:r>
              <a:rPr lang="en-US" b="0" i="0" dirty="0">
                <a:solidFill>
                  <a:srgbClr val="333333"/>
                </a:solidFill>
                <a:effectLst/>
                <a:latin typeface="Segoe UI" panose="020B0502040204020203" pitchFamily="34" charset="0"/>
              </a:rPr>
              <a:t>, </a:t>
            </a:r>
            <a:r>
              <a:rPr lang="en-US" b="0" i="0" u="sng" dirty="0">
                <a:solidFill>
                  <a:srgbClr val="005DA6"/>
                </a:solidFill>
                <a:effectLst/>
                <a:latin typeface="Segoe UI" panose="020B0502040204020203" pitchFamily="34" charset="0"/>
                <a:hlinkClick r:id="rId4"/>
              </a:rPr>
              <a:t>desktop</a:t>
            </a:r>
            <a:r>
              <a:rPr lang="en-US" b="0" i="0" dirty="0">
                <a:solidFill>
                  <a:srgbClr val="333333"/>
                </a:solidFill>
                <a:effectLst/>
                <a:latin typeface="Segoe UI" panose="020B0502040204020203" pitchFamily="34" charset="0"/>
              </a:rPr>
              <a:t>, </a:t>
            </a:r>
            <a:r>
              <a:rPr lang="en-US" b="0" i="0" u="sng" dirty="0">
                <a:solidFill>
                  <a:srgbClr val="005DA6"/>
                </a:solidFill>
                <a:effectLst/>
                <a:latin typeface="Segoe UI" panose="020B0502040204020203" pitchFamily="34" charset="0"/>
                <a:hlinkClick r:id="rId5"/>
              </a:rPr>
              <a:t>IoT</a:t>
            </a:r>
            <a:r>
              <a:rPr lang="en-US" b="0" i="0" dirty="0">
                <a:solidFill>
                  <a:srgbClr val="333333"/>
                </a:solidFill>
                <a:effectLst/>
                <a:latin typeface="Segoe UI" panose="020B0502040204020203" pitchFamily="34" charset="0"/>
              </a:rPr>
              <a:t>, and </a:t>
            </a:r>
            <a:r>
              <a:rPr lang="en-US" b="0" i="0" u="sng" dirty="0">
                <a:solidFill>
                  <a:srgbClr val="005DA6"/>
                </a:solidFill>
                <a:effectLst/>
                <a:latin typeface="Segoe UI" panose="020B0502040204020203" pitchFamily="34" charset="0"/>
                <a:hlinkClick r:id="rId6"/>
              </a:rPr>
              <a:t>mobile apps</a:t>
            </a:r>
            <a:r>
              <a:rPr lang="en-US" b="0" i="0" dirty="0">
                <a:solidFill>
                  <a:srgbClr val="333333"/>
                </a:solidFill>
                <a:effectLst/>
                <a:latin typeface="Segoe UI" panose="020B0502040204020203" pitchFamily="34" charset="0"/>
              </a:rPr>
              <a:t>. The underlying platform has been updated to serve the needs of all app types and to make it easy to re-use code across all your apps. New capabilities and improvements are available to all apps at the same time, so that your code running in the cloud or on a mobile device behaves the same way and has the same benefits.</a:t>
            </a:r>
            <a:endParaRPr lang="en-IN" dirty="0"/>
          </a:p>
        </p:txBody>
      </p:sp>
      <p:pic>
        <p:nvPicPr>
          <p:cNvPr id="8" name="Picture 7">
            <a:extLst>
              <a:ext uri="{FF2B5EF4-FFF2-40B4-BE49-F238E27FC236}">
                <a16:creationId xmlns:a16="http://schemas.microsoft.com/office/drawing/2014/main" id="{F93B19C8-CA98-008C-0C3A-481500298DF8}"/>
              </a:ext>
            </a:extLst>
          </p:cNvPr>
          <p:cNvPicPr>
            <a:picLocks noChangeAspect="1"/>
          </p:cNvPicPr>
          <p:nvPr/>
        </p:nvPicPr>
        <p:blipFill>
          <a:blip r:embed="rId7"/>
          <a:stretch>
            <a:fillRect/>
          </a:stretch>
        </p:blipFill>
        <p:spPr>
          <a:xfrm>
            <a:off x="2205087" y="2682733"/>
            <a:ext cx="6858000" cy="3857625"/>
          </a:xfrm>
          <a:prstGeom prst="rect">
            <a:avLst/>
          </a:prstGeom>
        </p:spPr>
      </p:pic>
    </p:spTree>
    <p:extLst>
      <p:ext uri="{BB962C8B-B14F-4D97-AF65-F5344CB8AC3E}">
        <p14:creationId xmlns:p14="http://schemas.microsoft.com/office/powerpoint/2010/main" val="3342111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F1ADB2-3E69-9CC0-704F-4BF89FE8EF3D}"/>
              </a:ext>
            </a:extLst>
          </p:cNvPr>
          <p:cNvSpPr txBox="1"/>
          <p:nvPr/>
        </p:nvSpPr>
        <p:spPr>
          <a:xfrm>
            <a:off x="301658" y="697584"/>
            <a:ext cx="11717517" cy="3693319"/>
          </a:xfrm>
          <a:prstGeom prst="rect">
            <a:avLst/>
          </a:prstGeom>
          <a:noFill/>
        </p:spPr>
        <p:txBody>
          <a:bodyPr wrap="square">
            <a:spAutoFit/>
          </a:bodyPr>
          <a:lstStyle/>
          <a:p>
            <a:pPr algn="l"/>
            <a:r>
              <a:rPr lang="en-US" b="0" i="0" dirty="0">
                <a:solidFill>
                  <a:srgbClr val="333333"/>
                </a:solidFill>
                <a:effectLst/>
                <a:latin typeface="Segoe UI" panose="020B0502040204020203" pitchFamily="34" charset="0"/>
              </a:rPr>
              <a:t>The reach of .NET developers continues to widen with each release. </a:t>
            </a:r>
            <a:r>
              <a:rPr lang="en-US" b="0" i="0" u="sng" dirty="0">
                <a:solidFill>
                  <a:srgbClr val="005DA6"/>
                </a:solidFill>
                <a:effectLst/>
                <a:latin typeface="Segoe UI" panose="020B0502040204020203" pitchFamily="34" charset="0"/>
                <a:hlinkClick r:id="rId2"/>
              </a:rPr>
              <a:t>Machine learning</a:t>
            </a:r>
            <a:r>
              <a:rPr lang="en-US" b="0" i="0" dirty="0">
                <a:solidFill>
                  <a:srgbClr val="333333"/>
                </a:solidFill>
                <a:effectLst/>
                <a:latin typeface="Segoe UI" panose="020B0502040204020203" pitchFamily="34" charset="0"/>
              </a:rPr>
              <a:t> and </a:t>
            </a:r>
            <a:r>
              <a:rPr lang="en-US" b="0" i="0" u="sng" dirty="0" err="1">
                <a:solidFill>
                  <a:srgbClr val="005DA6"/>
                </a:solidFill>
                <a:effectLst/>
                <a:latin typeface="Segoe UI" panose="020B0502040204020203" pitchFamily="34" charset="0"/>
                <a:hlinkClick r:id="rId3"/>
              </a:rPr>
              <a:t>WebAssembly</a:t>
            </a:r>
            <a:r>
              <a:rPr lang="en-US" b="0" i="0" dirty="0">
                <a:solidFill>
                  <a:srgbClr val="333333"/>
                </a:solidFill>
                <a:effectLst/>
                <a:latin typeface="Segoe UI" panose="020B0502040204020203" pitchFamily="34" charset="0"/>
              </a:rPr>
              <a:t> are two of the most recent additions. For example, with machine learning, you can write apps that look for anomalies in streaming data. With </a:t>
            </a:r>
            <a:r>
              <a:rPr lang="en-US" b="0" i="0" dirty="0" err="1">
                <a:solidFill>
                  <a:srgbClr val="333333"/>
                </a:solidFill>
                <a:effectLst/>
                <a:latin typeface="Segoe UI" panose="020B0502040204020203" pitchFamily="34" charset="0"/>
              </a:rPr>
              <a:t>WebAssembly</a:t>
            </a:r>
            <a:r>
              <a:rPr lang="en-US" b="0" i="0" dirty="0">
                <a:solidFill>
                  <a:srgbClr val="333333"/>
                </a:solidFill>
                <a:effectLst/>
                <a:latin typeface="Segoe UI" panose="020B0502040204020203" pitchFamily="34" charset="0"/>
              </a:rPr>
              <a:t>, you can </a:t>
            </a:r>
            <a:r>
              <a:rPr lang="en-US" b="0" i="0" u="sng" dirty="0">
                <a:solidFill>
                  <a:srgbClr val="005DA6"/>
                </a:solidFill>
                <a:effectLst/>
                <a:latin typeface="Segoe UI" panose="020B0502040204020203" pitchFamily="34" charset="0"/>
                <a:hlinkClick r:id="rId4"/>
              </a:rPr>
              <a:t>host .NET apps in the browser</a:t>
            </a:r>
            <a:r>
              <a:rPr lang="en-US" b="0" i="0" dirty="0">
                <a:solidFill>
                  <a:srgbClr val="333333"/>
                </a:solidFill>
                <a:effectLst/>
                <a:latin typeface="Segoe UI" panose="020B0502040204020203" pitchFamily="34" charset="0"/>
              </a:rPr>
              <a:t>, just like HTML and JavaScript, or </a:t>
            </a:r>
            <a:r>
              <a:rPr lang="en-US" b="0" i="0" u="sng" dirty="0">
                <a:solidFill>
                  <a:srgbClr val="005DA6"/>
                </a:solidFill>
                <a:effectLst/>
                <a:latin typeface="Segoe UI" panose="020B0502040204020203" pitchFamily="34" charset="0"/>
                <a:hlinkClick r:id="rId5"/>
              </a:rPr>
              <a:t>mix them with HTML and JavaScript</a:t>
            </a:r>
            <a:r>
              <a:rPr lang="en-US" b="0" i="0" dirty="0">
                <a:solidFill>
                  <a:srgbClr val="333333"/>
                </a:solidFill>
                <a:effectLst/>
                <a:latin typeface="Segoe UI" panose="020B0502040204020203" pitchFamily="34" charset="0"/>
              </a:rPr>
              <a:t>.</a:t>
            </a:r>
          </a:p>
          <a:p>
            <a:pPr algn="l"/>
            <a:endParaRPr lang="en-US" b="0" i="0" dirty="0">
              <a:solidFill>
                <a:srgbClr val="333333"/>
              </a:solidFill>
              <a:effectLst/>
              <a:latin typeface="Segoe UI" panose="020B0502040204020203" pitchFamily="34" charset="0"/>
            </a:endParaRPr>
          </a:p>
          <a:p>
            <a:pPr algn="l"/>
            <a:r>
              <a:rPr lang="en-US" b="0" i="0" dirty="0">
                <a:solidFill>
                  <a:srgbClr val="333333"/>
                </a:solidFill>
                <a:effectLst/>
                <a:latin typeface="Segoe UI" panose="020B0502040204020203" pitchFamily="34" charset="0"/>
              </a:rPr>
              <a:t>One of the most exciting additions is </a:t>
            </a:r>
            <a:r>
              <a:rPr lang="en-US" b="0" i="0" u="sng" dirty="0">
                <a:solidFill>
                  <a:srgbClr val="005DA6"/>
                </a:solidFill>
                <a:effectLst/>
                <a:latin typeface="Segoe UI" panose="020B0502040204020203" pitchFamily="34" charset="0"/>
                <a:hlinkClick r:id="rId6"/>
              </a:rPr>
              <a:t>.NET Multi-platform App UI (.NET MAUI)</a:t>
            </a:r>
            <a:r>
              <a:rPr lang="en-US" b="0" i="0" dirty="0">
                <a:solidFill>
                  <a:srgbClr val="333333"/>
                </a:solidFill>
                <a:effectLst/>
                <a:latin typeface="Segoe UI" panose="020B0502040204020203" pitchFamily="34" charset="0"/>
              </a:rPr>
              <a:t>. You can now write code — in a single project — that delivers a modern client app experience across desktop and mobile operating systems. .NET MAUI will be released a little later than .NET 6. We’ve put a lot of time and effort into .NET MAUI and are very excited to release it and see .NET MAUI apps in production.</a:t>
            </a:r>
          </a:p>
          <a:p>
            <a:pPr algn="l"/>
            <a:endParaRPr lang="en-US" b="0" i="0" dirty="0">
              <a:solidFill>
                <a:srgbClr val="333333"/>
              </a:solidFill>
              <a:effectLst/>
              <a:latin typeface="Segoe UI" panose="020B0502040204020203" pitchFamily="34" charset="0"/>
            </a:endParaRPr>
          </a:p>
          <a:p>
            <a:pPr algn="l"/>
            <a:r>
              <a:rPr lang="en-US" b="0" i="0" dirty="0">
                <a:solidFill>
                  <a:srgbClr val="333333"/>
                </a:solidFill>
                <a:effectLst/>
                <a:latin typeface="Segoe UI" panose="020B0502040204020203" pitchFamily="34" charset="0"/>
              </a:rPr>
              <a:t>Of course, .NET apps are also at home on </a:t>
            </a:r>
            <a:r>
              <a:rPr lang="en-US" b="0" i="0" u="sng" dirty="0">
                <a:solidFill>
                  <a:srgbClr val="005DA6"/>
                </a:solidFill>
                <a:effectLst/>
                <a:latin typeface="Segoe UI" panose="020B0502040204020203" pitchFamily="34" charset="0"/>
                <a:hlinkClick r:id="rId7"/>
              </a:rPr>
              <a:t>Windows desktop</a:t>
            </a:r>
            <a:r>
              <a:rPr lang="en-US" b="0" i="0" dirty="0">
                <a:solidFill>
                  <a:srgbClr val="333333"/>
                </a:solidFill>
                <a:effectLst/>
                <a:latin typeface="Segoe UI" panose="020B0502040204020203" pitchFamily="34" charset="0"/>
              </a:rPr>
              <a:t> — with </a:t>
            </a:r>
            <a:r>
              <a:rPr lang="en-US" b="0" i="0" u="sng" dirty="0">
                <a:solidFill>
                  <a:srgbClr val="005DA6"/>
                </a:solidFill>
                <a:effectLst/>
                <a:latin typeface="Segoe UI" panose="020B0502040204020203" pitchFamily="34" charset="0"/>
                <a:hlinkClick r:id="rId8"/>
              </a:rPr>
              <a:t>Windows Forms</a:t>
            </a:r>
            <a:r>
              <a:rPr lang="en-US" b="0" i="0" dirty="0">
                <a:solidFill>
                  <a:srgbClr val="333333"/>
                </a:solidFill>
                <a:effectLst/>
                <a:latin typeface="Segoe UI" panose="020B0502040204020203" pitchFamily="34" charset="0"/>
              </a:rPr>
              <a:t> and </a:t>
            </a:r>
            <a:r>
              <a:rPr lang="en-US" b="0" i="0" u="sng" dirty="0">
                <a:solidFill>
                  <a:srgbClr val="005DA6"/>
                </a:solidFill>
                <a:effectLst/>
                <a:latin typeface="Segoe UI" panose="020B0502040204020203" pitchFamily="34" charset="0"/>
                <a:hlinkClick r:id="rId9"/>
              </a:rPr>
              <a:t>WPF</a:t>
            </a:r>
            <a:r>
              <a:rPr lang="en-US" b="0" i="0" dirty="0">
                <a:solidFill>
                  <a:srgbClr val="333333"/>
                </a:solidFill>
                <a:effectLst/>
                <a:latin typeface="Segoe UI" panose="020B0502040204020203" pitchFamily="34" charset="0"/>
              </a:rPr>
              <a:t> — and in the cloud with ASP.NET Core. They are the app types we’ve offered for the longest and they continue to be very popular, and we’ve improved them in .NET 6.</a:t>
            </a:r>
          </a:p>
        </p:txBody>
      </p:sp>
    </p:spTree>
    <p:extLst>
      <p:ext uri="{BB962C8B-B14F-4D97-AF65-F5344CB8AC3E}">
        <p14:creationId xmlns:p14="http://schemas.microsoft.com/office/powerpoint/2010/main" val="289534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4DA6345-BA98-3ED4-6A30-27D0C6B62435}"/>
              </a:ext>
            </a:extLst>
          </p:cNvPr>
          <p:cNvSpPr txBox="1"/>
          <p:nvPr/>
        </p:nvSpPr>
        <p:spPr>
          <a:xfrm>
            <a:off x="3612823" y="0"/>
            <a:ext cx="6094428" cy="646331"/>
          </a:xfrm>
          <a:prstGeom prst="rect">
            <a:avLst/>
          </a:prstGeom>
          <a:noFill/>
        </p:spPr>
        <p:txBody>
          <a:bodyPr wrap="square">
            <a:spAutoFit/>
          </a:bodyPr>
          <a:lstStyle/>
          <a:p>
            <a:pPr algn="l"/>
            <a:r>
              <a:rPr lang="nl-NL" b="1" i="0" dirty="0">
                <a:solidFill>
                  <a:srgbClr val="333333"/>
                </a:solidFill>
                <a:effectLst/>
                <a:latin typeface="Segoe UI" panose="020B0502040204020203" pitchFamily="34" charset="0"/>
              </a:rPr>
              <a:t>.NET 6 Highlights</a:t>
            </a:r>
          </a:p>
          <a:p>
            <a:pPr algn="l"/>
            <a:r>
              <a:rPr lang="nl-NL" b="0" i="0" u="sng" dirty="0">
                <a:solidFill>
                  <a:srgbClr val="005DA6"/>
                </a:solidFill>
                <a:effectLst/>
                <a:latin typeface="Segoe UI" panose="020B0502040204020203" pitchFamily="34" charset="0"/>
                <a:hlinkClick r:id="rId2"/>
              </a:rPr>
              <a:t>.NET 6 is:</a:t>
            </a:r>
            <a:endParaRPr lang="nl-NL" b="0" i="0" dirty="0">
              <a:solidFill>
                <a:srgbClr val="333333"/>
              </a:solidFill>
              <a:effectLst/>
              <a:latin typeface="Segoe UI" panose="020B0502040204020203" pitchFamily="34" charset="0"/>
            </a:endParaRPr>
          </a:p>
        </p:txBody>
      </p:sp>
      <p:sp>
        <p:nvSpPr>
          <p:cNvPr id="7" name="TextBox 6">
            <a:extLst>
              <a:ext uri="{FF2B5EF4-FFF2-40B4-BE49-F238E27FC236}">
                <a16:creationId xmlns:a16="http://schemas.microsoft.com/office/drawing/2014/main" id="{90A343E0-DA50-718F-F3DB-45C3E3A5B2E6}"/>
              </a:ext>
            </a:extLst>
          </p:cNvPr>
          <p:cNvSpPr txBox="1"/>
          <p:nvPr/>
        </p:nvSpPr>
        <p:spPr>
          <a:xfrm>
            <a:off x="1572" y="646331"/>
            <a:ext cx="6094428" cy="6186309"/>
          </a:xfrm>
          <a:prstGeom prst="rect">
            <a:avLst/>
          </a:prstGeom>
          <a:noFill/>
        </p:spPr>
        <p:txBody>
          <a:bodyPr wrap="square">
            <a:spAutoFit/>
          </a:bodyPr>
          <a:lstStyle/>
          <a:p>
            <a:pPr marL="285750" indent="-285750">
              <a:buFont typeface="Arial" panose="020B0604020202020204" pitchFamily="34" charset="0"/>
              <a:buChar char="•"/>
            </a:pPr>
            <a:r>
              <a:rPr lang="en-US" dirty="0"/>
              <a:t>Production stress-tested with Microsoft services, cloud apps run by other companies, and open source projects.</a:t>
            </a:r>
          </a:p>
          <a:p>
            <a:pPr marL="285750" indent="-285750">
              <a:buFont typeface="Arial" panose="020B0604020202020204" pitchFamily="34" charset="0"/>
              <a:buChar char="•"/>
            </a:pPr>
            <a:r>
              <a:rPr lang="en-US" dirty="0"/>
              <a:t>Supported for three years as the latest long term support (LTS) release.</a:t>
            </a:r>
          </a:p>
          <a:p>
            <a:pPr marL="285750" indent="-285750">
              <a:buFont typeface="Arial" panose="020B0604020202020204" pitchFamily="34" charset="0"/>
              <a:buChar char="•"/>
            </a:pPr>
            <a:r>
              <a:rPr lang="en-US" dirty="0"/>
              <a:t>Unified platform across browser, cloud, desktop, IoT, and mobile apps, all using the same .NET Libraries and the ability to share code easily.</a:t>
            </a:r>
          </a:p>
          <a:p>
            <a:pPr marL="285750" indent="-285750">
              <a:buFont typeface="Arial" panose="020B0604020202020204" pitchFamily="34" charset="0"/>
              <a:buChar char="•"/>
            </a:pPr>
            <a:r>
              <a:rPr lang="en-US" dirty="0"/>
              <a:t>Performance is greatly improved across the board and for file I/O in particular, which together result in decreased execution time, latency, and memory use.</a:t>
            </a:r>
          </a:p>
          <a:p>
            <a:pPr marL="285750" indent="-285750">
              <a:buFont typeface="Arial" panose="020B0604020202020204" pitchFamily="34" charset="0"/>
              <a:buChar char="•"/>
            </a:pPr>
            <a:r>
              <a:rPr lang="en-US" dirty="0"/>
              <a:t>C# 10 offers language improvements such as record structs, implicit using, and new lambda capabilities, while the compiler adds incremental source generators. F# 6 adds new features including Task based async, pipeline debugging and numerous performance improvements.</a:t>
            </a:r>
          </a:p>
          <a:p>
            <a:pPr marL="285750" indent="-285750">
              <a:buFont typeface="Arial" panose="020B0604020202020204" pitchFamily="34" charset="0"/>
              <a:buChar char="•"/>
            </a:pPr>
            <a:r>
              <a:rPr lang="en-US" dirty="0"/>
              <a:t>Visual Basic has improvements in the Visual Studio experience and for Windows Forms project open experience.</a:t>
            </a:r>
          </a:p>
          <a:p>
            <a:pPr marL="285750" indent="-285750">
              <a:buFont typeface="Arial" panose="020B0604020202020204" pitchFamily="34" charset="0"/>
              <a:buChar char="•"/>
            </a:pPr>
            <a:r>
              <a:rPr lang="en-US" dirty="0"/>
              <a:t>Hot Reload enables you to skip rebuilding and restarting your app to view a new change — while your app is running — supported in Visual Studio 2022 and from the .NET CLI, for C# and Visual Basic.</a:t>
            </a:r>
            <a:endParaRPr lang="en-IN" dirty="0"/>
          </a:p>
        </p:txBody>
      </p:sp>
      <p:sp>
        <p:nvSpPr>
          <p:cNvPr id="9" name="TextBox 8">
            <a:extLst>
              <a:ext uri="{FF2B5EF4-FFF2-40B4-BE49-F238E27FC236}">
                <a16:creationId xmlns:a16="http://schemas.microsoft.com/office/drawing/2014/main" id="{E6E96564-1EAF-FF2D-36A0-3F5C626A067A}"/>
              </a:ext>
            </a:extLst>
          </p:cNvPr>
          <p:cNvSpPr txBox="1"/>
          <p:nvPr/>
        </p:nvSpPr>
        <p:spPr>
          <a:xfrm>
            <a:off x="6170629" y="-329237"/>
            <a:ext cx="6094428" cy="772519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Cloud diagnostics have been improved with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OpenTelemetry</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and dotnet monitor, which is now supported in production and available with Azure App Service.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JSON APIs are more capable and have higher performance with a source generator for the serializer.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Minimal APIs introduced in ASP.NET Core to simplify the getting started experience and improve the performance of HTTP services.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Blazor</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components can now be rendered from JavaScript and integrated with existing JavaScript based apps.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WebAssembly</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AOT compilation for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Blazor</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WebAssembly</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Wasm</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apps, as well as support for runtime relinking and native dependencies.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Single-page apps built with ASP.NET Core now use a more flexible pattern that can be used with Angular, React, and other popular frontend JavaScript frameworks.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HTTP/3 has been added so that ASP.NET Core,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HttpClient</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gRPC</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can all interact with HTTP/3 clients and servers.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File IO now has support for symbolic links and has greatly improved performance with a re-written-from-scratch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FileStream</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Security has been improved with support for OpenSSL 3, the ChaCha20Poly1305 encryption scheme, and runtime defense-in-depth mitigations, specifically W^X and CET.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Single-file apps (extraction-free) can be published for Linux, macOS, and Windows (previously only Linux).</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IL trimming is now more capable and effective, with new warnings and analyzers to ensure correct final results.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Source generators and analyzers have been added that help you produce better, safer, and higher performance code.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Source build enables organizations like Red Hat to build .NET from source and offer their own builds to their users.</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3703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B35BE1-0971-B0F2-5B46-9FBA85C02885}"/>
              </a:ext>
            </a:extLst>
          </p:cNvPr>
          <p:cNvSpPr txBox="1"/>
          <p:nvPr/>
        </p:nvSpPr>
        <p:spPr>
          <a:xfrm>
            <a:off x="0" y="394692"/>
            <a:ext cx="5769205" cy="6186309"/>
          </a:xfrm>
          <a:prstGeom prst="rect">
            <a:avLst/>
          </a:prstGeom>
          <a:noFill/>
        </p:spPr>
        <p:txBody>
          <a:bodyPr wrap="square">
            <a:spAutoFit/>
          </a:bodyPr>
          <a:lstStyle/>
          <a:p>
            <a:r>
              <a:rPr lang="en-US" dirty="0"/>
              <a:t>Global using directives</a:t>
            </a:r>
          </a:p>
          <a:p>
            <a:r>
              <a:rPr lang="en-US" dirty="0"/>
              <a:t>Global using directives let you specify a using directive just once and have it applied to every file that you compile.</a:t>
            </a:r>
          </a:p>
          <a:p>
            <a:endParaRPr lang="en-US" dirty="0"/>
          </a:p>
          <a:p>
            <a:r>
              <a:rPr lang="en-US" dirty="0"/>
              <a:t>The following examples show the breadth of the syntax:</a:t>
            </a:r>
          </a:p>
          <a:p>
            <a:endParaRPr lang="en-US" dirty="0"/>
          </a:p>
          <a:p>
            <a:r>
              <a:rPr lang="en-US" dirty="0"/>
              <a:t>global using System;</a:t>
            </a:r>
          </a:p>
          <a:p>
            <a:r>
              <a:rPr lang="en-US" dirty="0"/>
              <a:t>global using static </a:t>
            </a:r>
            <a:r>
              <a:rPr lang="en-US" dirty="0" err="1"/>
              <a:t>System.Console</a:t>
            </a:r>
            <a:r>
              <a:rPr lang="en-US" dirty="0"/>
              <a:t>;</a:t>
            </a:r>
          </a:p>
          <a:p>
            <a:r>
              <a:rPr lang="en-US" dirty="0"/>
              <a:t>global using Env = </a:t>
            </a:r>
            <a:r>
              <a:rPr lang="en-US" dirty="0" err="1"/>
              <a:t>System.Environment</a:t>
            </a:r>
            <a:r>
              <a:rPr lang="en-US" dirty="0"/>
              <a:t>;</a:t>
            </a:r>
          </a:p>
          <a:p>
            <a:r>
              <a:rPr lang="en-US" dirty="0"/>
              <a:t>You can put global using statements in any .cs file, including in </a:t>
            </a:r>
            <a:r>
              <a:rPr lang="en-US" dirty="0" err="1"/>
              <a:t>Program.cs</a:t>
            </a:r>
            <a:r>
              <a:rPr lang="en-US" dirty="0"/>
              <a:t>.</a:t>
            </a:r>
          </a:p>
          <a:p>
            <a:endParaRPr lang="en-US" dirty="0"/>
          </a:p>
          <a:p>
            <a:r>
              <a:rPr lang="en-US" dirty="0"/>
              <a:t>Implicit usings is an </a:t>
            </a:r>
            <a:r>
              <a:rPr lang="en-US" dirty="0" err="1"/>
              <a:t>MSBuild</a:t>
            </a:r>
            <a:r>
              <a:rPr lang="en-US" dirty="0"/>
              <a:t> concept that automatically adds a set of global using directives depending on the SDK. For example, console app implicit usings differ from ASP.NET Core.</a:t>
            </a:r>
          </a:p>
          <a:p>
            <a:endParaRPr lang="en-US" dirty="0"/>
          </a:p>
          <a:p>
            <a:r>
              <a:rPr lang="en-US" dirty="0"/>
              <a:t>Implicit usings are opt-in, and enabled in a </a:t>
            </a:r>
            <a:r>
              <a:rPr lang="en-US" dirty="0" err="1"/>
              <a:t>PropertyGroup</a:t>
            </a:r>
            <a:r>
              <a:rPr lang="en-US" dirty="0"/>
              <a:t>:</a:t>
            </a:r>
          </a:p>
          <a:p>
            <a:endParaRPr lang="en-US" dirty="0"/>
          </a:p>
          <a:p>
            <a:r>
              <a:rPr lang="en-US" dirty="0"/>
              <a:t>&lt;</a:t>
            </a:r>
            <a:r>
              <a:rPr lang="en-US" dirty="0" err="1"/>
              <a:t>ImplicitUsings</a:t>
            </a:r>
            <a:r>
              <a:rPr lang="en-US" dirty="0"/>
              <a:t>&gt;enable&lt;/</a:t>
            </a:r>
            <a:r>
              <a:rPr lang="en-US" dirty="0" err="1"/>
              <a:t>ImplicitUsings</a:t>
            </a:r>
            <a:r>
              <a:rPr lang="en-US" dirty="0"/>
              <a:t>&gt;</a:t>
            </a:r>
          </a:p>
          <a:p>
            <a:r>
              <a:rPr lang="en-US" dirty="0"/>
              <a:t>Implicit usings are opt-in for existing projects but included by default for new C# projects</a:t>
            </a:r>
            <a:endParaRPr lang="en-IN" dirty="0"/>
          </a:p>
        </p:txBody>
      </p:sp>
      <p:sp>
        <p:nvSpPr>
          <p:cNvPr id="6" name="Rectangle 1">
            <a:extLst>
              <a:ext uri="{FF2B5EF4-FFF2-40B4-BE49-F238E27FC236}">
                <a16:creationId xmlns:a16="http://schemas.microsoft.com/office/drawing/2014/main" id="{92D21831-EDB9-5BE5-D486-B8DAF93E12C1}"/>
              </a:ext>
            </a:extLst>
          </p:cNvPr>
          <p:cNvSpPr>
            <a:spLocks noChangeArrowheads="1"/>
          </p:cNvSpPr>
          <p:nvPr/>
        </p:nvSpPr>
        <p:spPr bwMode="auto">
          <a:xfrm>
            <a:off x="6096000" y="0"/>
            <a:ext cx="5844618" cy="614014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48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Global and implicit usings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CC0000"/>
                </a:solidFill>
                <a:effectLst/>
                <a:latin typeface="SFMono-Regular"/>
                <a:cs typeface="Segoe UI" panose="020B0502040204020203" pitchFamily="34" charset="0"/>
              </a:rPr>
              <a:t>using</a:t>
            </a:r>
            <a:r>
              <a:rPr kumimoji="0" lang="en-US" altLang="en-US"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 directives simplify how you work with namespaces. C# 10 includes a new </a:t>
            </a:r>
            <a:r>
              <a:rPr kumimoji="0" lang="en-US" altLang="en-US" b="0" i="0" u="none" strike="noStrike" cap="none" normalizeH="0" baseline="0" dirty="0">
                <a:ln>
                  <a:noFill/>
                </a:ln>
                <a:solidFill>
                  <a:srgbClr val="CC0000"/>
                </a:solidFill>
                <a:effectLst/>
                <a:latin typeface="SFMono-Regular"/>
                <a:cs typeface="Segoe UI" panose="020B0502040204020203" pitchFamily="34" charset="0"/>
              </a:rPr>
              <a:t>global using</a:t>
            </a:r>
            <a:r>
              <a:rPr kumimoji="0" lang="en-US" altLang="en-US"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 directive and </a:t>
            </a:r>
            <a:r>
              <a:rPr kumimoji="0" lang="en-US" altLang="en-US" b="0" i="1" u="none" strike="noStrike" cap="none" normalizeH="0" baseline="0" dirty="0">
                <a:ln>
                  <a:noFill/>
                </a:ln>
                <a:solidFill>
                  <a:srgbClr val="333333"/>
                </a:solidFill>
                <a:effectLst/>
                <a:latin typeface="Segoe UI" panose="020B0502040204020203" pitchFamily="34" charset="0"/>
                <a:cs typeface="Segoe UI" panose="020B0502040204020203" pitchFamily="34" charset="0"/>
              </a:rPr>
              <a:t>implicit usings</a:t>
            </a:r>
            <a:r>
              <a:rPr kumimoji="0" lang="en-US" altLang="en-US"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 to reduce the number of usings you need to specify at the top of each file.</a:t>
            </a:r>
            <a:endParaRPr kumimoji="0" lang="en-US" altLang="en-US" b="1" i="0" u="none" strike="noStrike" cap="none" normalizeH="0" baseline="0" dirty="0">
              <a:ln>
                <a:noFill/>
              </a:ln>
              <a:solidFill>
                <a:srgbClr val="333333"/>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Global using directives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If the keyword </a:t>
            </a:r>
            <a:r>
              <a:rPr kumimoji="0" lang="en-US" altLang="en-US" b="0" i="0" u="none" strike="noStrike" cap="none" normalizeH="0" baseline="0" dirty="0">
                <a:ln>
                  <a:noFill/>
                </a:ln>
                <a:solidFill>
                  <a:srgbClr val="CC0000"/>
                </a:solidFill>
                <a:effectLst/>
                <a:latin typeface="SFMono-Regular"/>
                <a:cs typeface="Segoe UI" panose="020B0502040204020203" pitchFamily="34" charset="0"/>
              </a:rPr>
              <a:t>global</a:t>
            </a:r>
            <a:r>
              <a:rPr kumimoji="0" lang="en-US" altLang="en-US"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 appears prior to a </a:t>
            </a:r>
            <a:r>
              <a:rPr kumimoji="0" lang="en-US" altLang="en-US" b="0" i="0" u="none" strike="noStrike" cap="none" normalizeH="0" baseline="0" dirty="0">
                <a:ln>
                  <a:noFill/>
                </a:ln>
                <a:solidFill>
                  <a:srgbClr val="CC0000"/>
                </a:solidFill>
                <a:effectLst/>
                <a:latin typeface="SFMono-Regular"/>
                <a:cs typeface="Segoe UI" panose="020B0502040204020203" pitchFamily="34" charset="0"/>
              </a:rPr>
              <a:t>using</a:t>
            </a:r>
            <a:r>
              <a:rPr kumimoji="0" lang="en-US" altLang="en-US"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 directive, that using applies to the entire project:</a:t>
            </a:r>
            <a:endParaRPr kumimoji="0" lang="en-US" altLang="en-US" b="0" i="0" u="none" strike="noStrike" cap="none" normalizeH="0" baseline="0" dirty="0">
              <a:ln>
                <a:noFill/>
              </a:ln>
              <a:solidFill>
                <a:srgbClr val="1E1EFF"/>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E1EFF"/>
                </a:solidFill>
                <a:effectLst/>
                <a:latin typeface="SFMono-Regular"/>
              </a:rPr>
              <a:t>global</a:t>
            </a:r>
            <a:r>
              <a:rPr kumimoji="0" lang="en-US" altLang="en-US" b="0" i="0" u="none" strike="noStrike" cap="none" normalizeH="0" baseline="0" dirty="0">
                <a:ln>
                  <a:noFill/>
                </a:ln>
                <a:solidFill>
                  <a:srgbClr val="000000"/>
                </a:solidFill>
                <a:effectLst/>
                <a:latin typeface="SFMono-Regular"/>
              </a:rPr>
              <a:t> </a:t>
            </a:r>
            <a:r>
              <a:rPr kumimoji="0" lang="en-US" altLang="en-US" b="0" i="0" u="none" strike="noStrike" cap="none" normalizeH="0" baseline="0" dirty="0">
                <a:ln>
                  <a:noFill/>
                </a:ln>
                <a:solidFill>
                  <a:srgbClr val="1E1EFF"/>
                </a:solidFill>
                <a:effectLst/>
                <a:latin typeface="SFMono-Regular"/>
              </a:rPr>
              <a:t>using</a:t>
            </a:r>
            <a:r>
              <a:rPr kumimoji="0" lang="en-US" altLang="en-US" b="0" i="0" u="none" strike="noStrike" cap="none" normalizeH="0" baseline="0" dirty="0">
                <a:ln>
                  <a:noFill/>
                </a:ln>
                <a:solidFill>
                  <a:srgbClr val="000000"/>
                </a:solidFill>
                <a:effectLst/>
                <a:latin typeface="SFMono-Regular"/>
              </a:rPr>
              <a:t> </a:t>
            </a:r>
            <a:r>
              <a:rPr kumimoji="0" lang="en-US" altLang="en-US" b="0" i="0" u="none" strike="noStrike" cap="none" normalizeH="0" baseline="0" dirty="0">
                <a:ln>
                  <a:noFill/>
                </a:ln>
                <a:solidFill>
                  <a:srgbClr val="660066"/>
                </a:solidFill>
                <a:effectLst/>
                <a:latin typeface="SFMono-Regular"/>
              </a:rPr>
              <a:t>System</a:t>
            </a:r>
            <a:r>
              <a:rPr kumimoji="0" lang="en-US" altLang="en-US" b="0" i="0" u="none" strike="noStrike" cap="none" normalizeH="0" baseline="0" dirty="0">
                <a:ln>
                  <a:noFill/>
                </a:ln>
                <a:solidFill>
                  <a:srgbClr val="000000"/>
                </a:solidFill>
                <a:effectLst/>
                <a:latin typeface="SFMono-Regular"/>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You can use any feature of </a:t>
            </a:r>
            <a:r>
              <a:rPr kumimoji="0" lang="en-US" altLang="en-US" b="0" i="0" u="none" strike="noStrike" cap="none" normalizeH="0" baseline="0" dirty="0">
                <a:ln>
                  <a:noFill/>
                </a:ln>
                <a:solidFill>
                  <a:srgbClr val="CC0000"/>
                </a:solidFill>
                <a:effectLst/>
                <a:latin typeface="SFMono-Regular"/>
                <a:cs typeface="Segoe UI" panose="020B0502040204020203" pitchFamily="34" charset="0"/>
              </a:rPr>
              <a:t>using</a:t>
            </a:r>
            <a:r>
              <a:rPr kumimoji="0" lang="en-US" altLang="en-US"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 within a </a:t>
            </a:r>
            <a:r>
              <a:rPr kumimoji="0" lang="en-US" altLang="en-US" b="0" i="0" u="none" strike="noStrike" cap="none" normalizeH="0" baseline="0" dirty="0">
                <a:ln>
                  <a:noFill/>
                </a:ln>
                <a:solidFill>
                  <a:srgbClr val="CC0000"/>
                </a:solidFill>
                <a:effectLst/>
                <a:latin typeface="SFMono-Regular"/>
                <a:cs typeface="Segoe UI" panose="020B0502040204020203" pitchFamily="34" charset="0"/>
              </a:rPr>
              <a:t>global using</a:t>
            </a:r>
            <a:r>
              <a:rPr kumimoji="0" lang="en-US" altLang="en-US"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 directive. For example, adding </a:t>
            </a:r>
            <a:r>
              <a:rPr kumimoji="0" lang="en-US" altLang="en-US" b="0" i="0" u="none" strike="noStrike" cap="none" normalizeH="0" baseline="0" dirty="0">
                <a:ln>
                  <a:noFill/>
                </a:ln>
                <a:solidFill>
                  <a:srgbClr val="CC0000"/>
                </a:solidFill>
                <a:effectLst/>
                <a:latin typeface="SFMono-Regular"/>
                <a:cs typeface="Segoe UI" panose="020B0502040204020203" pitchFamily="34" charset="0"/>
              </a:rPr>
              <a:t>static</a:t>
            </a:r>
            <a:r>
              <a:rPr kumimoji="0" lang="en-US" altLang="en-US"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 imports a type and makes the type’s members and nested types available throughout your project. If you use an alias in your using directive, that alias will also affect your entire project:</a:t>
            </a:r>
            <a:endParaRPr kumimoji="0" lang="en-US" altLang="en-US" b="0" i="0" u="none" strike="noStrike" cap="none" normalizeH="0" baseline="0" dirty="0">
              <a:ln>
                <a:noFill/>
              </a:ln>
              <a:solidFill>
                <a:srgbClr val="1E1EFF"/>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E1EFF"/>
                </a:solidFill>
                <a:effectLst/>
                <a:latin typeface="SFMono-Regular"/>
              </a:rPr>
              <a:t>global</a:t>
            </a:r>
            <a:r>
              <a:rPr kumimoji="0" lang="en-US" altLang="en-US" b="0" i="0" u="none" strike="noStrike" cap="none" normalizeH="0" baseline="0" dirty="0">
                <a:ln>
                  <a:noFill/>
                </a:ln>
                <a:solidFill>
                  <a:srgbClr val="000000"/>
                </a:solidFill>
                <a:effectLst/>
                <a:latin typeface="SFMono-Regular"/>
              </a:rPr>
              <a:t> </a:t>
            </a:r>
            <a:r>
              <a:rPr kumimoji="0" lang="en-US" altLang="en-US" b="0" i="0" u="none" strike="noStrike" cap="none" normalizeH="0" baseline="0" dirty="0">
                <a:ln>
                  <a:noFill/>
                </a:ln>
                <a:solidFill>
                  <a:srgbClr val="1E1EFF"/>
                </a:solidFill>
                <a:effectLst/>
                <a:latin typeface="SFMono-Regular"/>
              </a:rPr>
              <a:t>using</a:t>
            </a:r>
            <a:r>
              <a:rPr kumimoji="0" lang="en-US" altLang="en-US" b="0" i="0" u="none" strike="noStrike" cap="none" normalizeH="0" baseline="0" dirty="0">
                <a:ln>
                  <a:noFill/>
                </a:ln>
                <a:solidFill>
                  <a:srgbClr val="000000"/>
                </a:solidFill>
                <a:effectLst/>
                <a:latin typeface="SFMono-Regular"/>
              </a:rPr>
              <a:t> </a:t>
            </a:r>
            <a:r>
              <a:rPr kumimoji="0" lang="en-US" altLang="en-US" b="0" i="0" u="none" strike="noStrike" cap="none" normalizeH="0" baseline="0" dirty="0">
                <a:ln>
                  <a:noFill/>
                </a:ln>
                <a:solidFill>
                  <a:srgbClr val="1E1EFF"/>
                </a:solidFill>
                <a:effectLst/>
                <a:latin typeface="SFMono-Regular"/>
              </a:rPr>
              <a:t>static</a:t>
            </a:r>
            <a:r>
              <a:rPr kumimoji="0" lang="en-US" altLang="en-US" b="0" i="0" u="none" strike="noStrike" cap="none" normalizeH="0" baseline="0" dirty="0">
                <a:ln>
                  <a:noFill/>
                </a:ln>
                <a:solidFill>
                  <a:srgbClr val="000000"/>
                </a:solidFill>
                <a:effectLst/>
                <a:latin typeface="SFMono-Regular"/>
              </a:rPr>
              <a:t> </a:t>
            </a:r>
            <a:r>
              <a:rPr kumimoji="0" lang="en-US" altLang="en-US" b="0" i="0" u="none" strike="noStrike" cap="none" normalizeH="0" baseline="0" dirty="0" err="1">
                <a:ln>
                  <a:noFill/>
                </a:ln>
                <a:solidFill>
                  <a:srgbClr val="660066"/>
                </a:solidFill>
                <a:effectLst/>
                <a:latin typeface="SFMono-Regular"/>
              </a:rPr>
              <a:t>System</a:t>
            </a:r>
            <a:r>
              <a:rPr kumimoji="0" lang="en-US" altLang="en-US" b="0" i="0" u="none" strike="noStrike" cap="none" normalizeH="0" baseline="0" dirty="0" err="1">
                <a:ln>
                  <a:noFill/>
                </a:ln>
                <a:solidFill>
                  <a:srgbClr val="000000"/>
                </a:solidFill>
                <a:effectLst/>
                <a:latin typeface="SFMono-Regular"/>
              </a:rPr>
              <a:t>.</a:t>
            </a:r>
            <a:r>
              <a:rPr kumimoji="0" lang="en-US" altLang="en-US" b="0" i="0" u="none" strike="noStrike" cap="none" normalizeH="0" baseline="0" dirty="0" err="1">
                <a:ln>
                  <a:noFill/>
                </a:ln>
                <a:solidFill>
                  <a:srgbClr val="660066"/>
                </a:solidFill>
                <a:effectLst/>
                <a:latin typeface="SFMono-Regular"/>
              </a:rPr>
              <a:t>Console</a:t>
            </a:r>
            <a:r>
              <a:rPr kumimoji="0" lang="en-US" altLang="en-US" b="0" i="0" u="none" strike="noStrike" cap="none" normalizeH="0" baseline="0" dirty="0">
                <a:ln>
                  <a:noFill/>
                </a:ln>
                <a:solidFill>
                  <a:srgbClr val="000000"/>
                </a:solidFill>
                <a:effectLst/>
                <a:latin typeface="SFMono-Regular"/>
              </a:rPr>
              <a:t>; </a:t>
            </a:r>
            <a:r>
              <a:rPr kumimoji="0" lang="en-US" altLang="en-US" b="0" i="0" u="none" strike="noStrike" cap="none" normalizeH="0" baseline="0" dirty="0">
                <a:ln>
                  <a:noFill/>
                </a:ln>
                <a:solidFill>
                  <a:srgbClr val="1E1EFF"/>
                </a:solidFill>
                <a:effectLst/>
                <a:latin typeface="SFMono-Regular"/>
              </a:rPr>
              <a:t>global</a:t>
            </a:r>
            <a:r>
              <a:rPr kumimoji="0" lang="en-US" altLang="en-US" b="0" i="0" u="none" strike="noStrike" cap="none" normalizeH="0" baseline="0" dirty="0">
                <a:ln>
                  <a:noFill/>
                </a:ln>
                <a:solidFill>
                  <a:srgbClr val="000000"/>
                </a:solidFill>
                <a:effectLst/>
                <a:latin typeface="SFMono-Regular"/>
              </a:rPr>
              <a:t> </a:t>
            </a:r>
            <a:r>
              <a:rPr kumimoji="0" lang="en-US" altLang="en-US" b="0" i="0" u="none" strike="noStrike" cap="none" normalizeH="0" baseline="0" dirty="0">
                <a:ln>
                  <a:noFill/>
                </a:ln>
                <a:solidFill>
                  <a:srgbClr val="1E1EFF"/>
                </a:solidFill>
                <a:effectLst/>
                <a:latin typeface="SFMono-Regular"/>
              </a:rPr>
              <a:t>using</a:t>
            </a:r>
            <a:r>
              <a:rPr kumimoji="0" lang="en-US" altLang="en-US" b="0" i="0" u="none" strike="noStrike" cap="none" normalizeH="0" baseline="0" dirty="0">
                <a:ln>
                  <a:noFill/>
                </a:ln>
                <a:solidFill>
                  <a:srgbClr val="000000"/>
                </a:solidFill>
                <a:effectLst/>
                <a:latin typeface="SFMono-Regular"/>
              </a:rPr>
              <a:t> </a:t>
            </a:r>
            <a:r>
              <a:rPr kumimoji="0" lang="en-US" altLang="en-US" b="0" i="0" u="none" strike="noStrike" cap="none" normalizeH="0" baseline="0" dirty="0">
                <a:ln>
                  <a:noFill/>
                </a:ln>
                <a:solidFill>
                  <a:srgbClr val="660066"/>
                </a:solidFill>
                <a:effectLst/>
                <a:latin typeface="SFMono-Regular"/>
              </a:rPr>
              <a:t>Env</a:t>
            </a:r>
            <a:r>
              <a:rPr kumimoji="0" lang="en-US" altLang="en-US" b="0" i="0" u="none" strike="noStrike" cap="none" normalizeH="0" baseline="0" dirty="0">
                <a:ln>
                  <a:noFill/>
                </a:ln>
                <a:solidFill>
                  <a:srgbClr val="000000"/>
                </a:solidFill>
                <a:effectLst/>
                <a:latin typeface="SFMono-Regular"/>
              </a:rPr>
              <a:t> = </a:t>
            </a:r>
            <a:r>
              <a:rPr kumimoji="0" lang="en-US" altLang="en-US" b="0" i="0" u="none" strike="noStrike" cap="none" normalizeH="0" baseline="0" dirty="0" err="1">
                <a:ln>
                  <a:noFill/>
                </a:ln>
                <a:solidFill>
                  <a:srgbClr val="660066"/>
                </a:solidFill>
                <a:effectLst/>
                <a:latin typeface="SFMono-Regular"/>
              </a:rPr>
              <a:t>System</a:t>
            </a:r>
            <a:r>
              <a:rPr kumimoji="0" lang="en-US" altLang="en-US" b="0" i="0" u="none" strike="noStrike" cap="none" normalizeH="0" baseline="0" dirty="0" err="1">
                <a:ln>
                  <a:noFill/>
                </a:ln>
                <a:solidFill>
                  <a:srgbClr val="000000"/>
                </a:solidFill>
                <a:effectLst/>
                <a:latin typeface="SFMono-Regular"/>
              </a:rPr>
              <a:t>.</a:t>
            </a:r>
            <a:r>
              <a:rPr kumimoji="0" lang="en-US" altLang="en-US" b="0" i="0" u="none" strike="noStrike" cap="none" normalizeH="0" baseline="0" dirty="0" err="1">
                <a:ln>
                  <a:noFill/>
                </a:ln>
                <a:solidFill>
                  <a:srgbClr val="660066"/>
                </a:solidFill>
                <a:effectLst/>
                <a:latin typeface="SFMono-Regular"/>
              </a:rPr>
              <a:t>Environment</a:t>
            </a:r>
            <a:r>
              <a:rPr kumimoji="0" lang="en-US" altLang="en-US" b="0" i="0" u="none" strike="noStrike" cap="none" normalizeH="0" baseline="0" dirty="0">
                <a:ln>
                  <a:noFill/>
                </a:ln>
                <a:solidFill>
                  <a:srgbClr val="000000"/>
                </a:solidFill>
                <a:effectLst/>
                <a:latin typeface="SFMono-Regular"/>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You can put global usings in any </a:t>
            </a:r>
            <a:r>
              <a:rPr kumimoji="0" lang="en-US" altLang="en-US" b="0" i="0" u="none" strike="noStrike" cap="none" normalizeH="0" baseline="0" dirty="0">
                <a:ln>
                  <a:noFill/>
                </a:ln>
                <a:solidFill>
                  <a:srgbClr val="CC0000"/>
                </a:solidFill>
                <a:effectLst/>
                <a:latin typeface="SFMono-Regular"/>
                <a:cs typeface="Segoe UI" panose="020B0502040204020203" pitchFamily="34" charset="0"/>
              </a:rPr>
              <a:t>.cs</a:t>
            </a:r>
            <a:r>
              <a:rPr kumimoji="0" lang="en-US" altLang="en-US"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 file, including </a:t>
            </a:r>
            <a:r>
              <a:rPr kumimoji="0" lang="en-US" altLang="en-US" b="0" i="0" u="none" strike="noStrike" cap="none" normalizeH="0" baseline="0" dirty="0" err="1">
                <a:ln>
                  <a:noFill/>
                </a:ln>
                <a:solidFill>
                  <a:srgbClr val="CC0000"/>
                </a:solidFill>
                <a:effectLst/>
                <a:latin typeface="SFMono-Regular"/>
                <a:cs typeface="Segoe UI" panose="020B0502040204020203" pitchFamily="34" charset="0"/>
              </a:rPr>
              <a:t>Program.cs</a:t>
            </a:r>
            <a:r>
              <a:rPr kumimoji="0" lang="en-US" altLang="en-US"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 or a specifically named file like </a:t>
            </a:r>
            <a:r>
              <a:rPr kumimoji="0" lang="en-US" altLang="en-US" b="0" i="0" u="none" strike="noStrike" cap="none" normalizeH="0" baseline="0" dirty="0" err="1">
                <a:ln>
                  <a:noFill/>
                </a:ln>
                <a:solidFill>
                  <a:srgbClr val="CC0000"/>
                </a:solidFill>
                <a:effectLst/>
                <a:latin typeface="SFMono-Regular"/>
                <a:cs typeface="Segoe UI" panose="020B0502040204020203" pitchFamily="34" charset="0"/>
              </a:rPr>
              <a:t>globalusings.cs</a:t>
            </a:r>
            <a:r>
              <a:rPr kumimoji="0" lang="en-US" altLang="en-US"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 The scope of global usings is the current compilation, which generally corresponds to the current project.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96470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A7AAF1-789E-7EAC-4315-D5945CA7B2C1}"/>
              </a:ext>
            </a:extLst>
          </p:cNvPr>
          <p:cNvSpPr txBox="1"/>
          <p:nvPr/>
        </p:nvSpPr>
        <p:spPr>
          <a:xfrm>
            <a:off x="539685" y="0"/>
            <a:ext cx="11338087" cy="3139321"/>
          </a:xfrm>
          <a:prstGeom prst="rect">
            <a:avLst/>
          </a:prstGeom>
          <a:noFill/>
        </p:spPr>
        <p:txBody>
          <a:bodyPr wrap="square">
            <a:spAutoFit/>
          </a:bodyPr>
          <a:lstStyle/>
          <a:p>
            <a:r>
              <a:rPr lang="en-US" dirty="0"/>
              <a:t>File-scoped namespaces</a:t>
            </a:r>
          </a:p>
          <a:p>
            <a:r>
              <a:rPr lang="en-US" dirty="0"/>
              <a:t>Many files contain code for a single namespace. Starting in C# 10, you can include a namespace as a statement, followed by a semi-colon and without the curly brackets:</a:t>
            </a:r>
          </a:p>
          <a:p>
            <a:endParaRPr lang="en-US" dirty="0"/>
          </a:p>
          <a:p>
            <a:r>
              <a:rPr lang="en-US" dirty="0"/>
              <a:t>namespace </a:t>
            </a:r>
            <a:r>
              <a:rPr lang="en-US" dirty="0" err="1"/>
              <a:t>MyCompany.MyNamespace</a:t>
            </a:r>
            <a:r>
              <a:rPr lang="en-US" dirty="0"/>
              <a:t>;</a:t>
            </a:r>
          </a:p>
          <a:p>
            <a:endParaRPr lang="en-US" dirty="0"/>
          </a:p>
          <a:p>
            <a:r>
              <a:rPr lang="en-US" dirty="0"/>
              <a:t>class </a:t>
            </a:r>
            <a:r>
              <a:rPr lang="en-US" dirty="0" err="1"/>
              <a:t>MyClass</a:t>
            </a:r>
            <a:r>
              <a:rPr lang="en-US" dirty="0"/>
              <a:t> // Note: no indentation</a:t>
            </a:r>
          </a:p>
          <a:p>
            <a:r>
              <a:rPr lang="en-US" dirty="0"/>
              <a:t>{ ... } </a:t>
            </a:r>
          </a:p>
          <a:p>
            <a:r>
              <a:rPr lang="en-US" dirty="0"/>
              <a:t>This simplifies the code and removes a level of nesting. Only one file-scoped namespace declaration is allowed, and it must come before any types are declared.</a:t>
            </a:r>
          </a:p>
          <a:p>
            <a:endParaRPr lang="en-US" dirty="0"/>
          </a:p>
        </p:txBody>
      </p:sp>
    </p:spTree>
    <p:extLst>
      <p:ext uri="{BB962C8B-B14F-4D97-AF65-F5344CB8AC3E}">
        <p14:creationId xmlns:p14="http://schemas.microsoft.com/office/powerpoint/2010/main" val="2096898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C47BA8-6DCF-E813-979E-DDCC42B4170B}"/>
              </a:ext>
            </a:extLst>
          </p:cNvPr>
          <p:cNvSpPr txBox="1"/>
          <p:nvPr/>
        </p:nvSpPr>
        <p:spPr>
          <a:xfrm>
            <a:off x="1133572" y="1061856"/>
            <a:ext cx="9537569" cy="923330"/>
          </a:xfrm>
          <a:prstGeom prst="rect">
            <a:avLst/>
          </a:prstGeom>
          <a:noFill/>
        </p:spPr>
        <p:txBody>
          <a:bodyPr wrap="square">
            <a:spAutoFit/>
          </a:bodyPr>
          <a:lstStyle/>
          <a:p>
            <a:r>
              <a:rPr lang="en-US" dirty="0"/>
              <a:t>dotnet-apphost-pack-6.0 - </a:t>
            </a:r>
            <a:r>
              <a:rPr lang="en-US" dirty="0" err="1"/>
              <a:t>Microsoft.NETCore.App.Host</a:t>
            </a:r>
            <a:r>
              <a:rPr lang="en-US" dirty="0"/>
              <a:t> 6.0.7.NET is a development platform that you can use to build command-line applications, microservices and modern websites. It is open source, cross-platform and is supported by Microsoft.</a:t>
            </a:r>
            <a:endParaRPr lang="en-IN" dirty="0"/>
          </a:p>
        </p:txBody>
      </p:sp>
    </p:spTree>
    <p:extLst>
      <p:ext uri="{BB962C8B-B14F-4D97-AF65-F5344CB8AC3E}">
        <p14:creationId xmlns:p14="http://schemas.microsoft.com/office/powerpoint/2010/main" val="3815682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CD494BE-D09D-D3DE-63A7-FB9E350C89E1}"/>
              </a:ext>
            </a:extLst>
          </p:cNvPr>
          <p:cNvSpPr txBox="1"/>
          <p:nvPr/>
        </p:nvSpPr>
        <p:spPr>
          <a:xfrm>
            <a:off x="426562" y="88737"/>
            <a:ext cx="11460637" cy="2308324"/>
          </a:xfrm>
          <a:prstGeom prst="rect">
            <a:avLst/>
          </a:prstGeom>
          <a:noFill/>
        </p:spPr>
        <p:txBody>
          <a:bodyPr wrap="square">
            <a:spAutoFit/>
          </a:bodyPr>
          <a:lstStyle/>
          <a:p>
            <a:pPr algn="l"/>
            <a:r>
              <a:rPr lang="en-US" b="0" i="0" dirty="0">
                <a:solidFill>
                  <a:srgbClr val="212121"/>
                </a:solidFill>
                <a:effectLst/>
                <a:latin typeface="Roboto" panose="02000000000000000000" pitchFamily="2" charset="0"/>
              </a:rPr>
              <a:t>What is .NET Core?</a:t>
            </a:r>
          </a:p>
          <a:p>
            <a:pPr algn="l"/>
            <a:r>
              <a:rPr lang="en-US" b="0" i="0" dirty="0">
                <a:solidFill>
                  <a:srgbClr val="212121"/>
                </a:solidFill>
                <a:effectLst/>
                <a:latin typeface="open sans" panose="020B0606030504020204" pitchFamily="34" charset="0"/>
              </a:rPr>
              <a:t>.NET Core is a new version of </a:t>
            </a:r>
            <a:r>
              <a:rPr lang="en-US" b="0" i="0" dirty="0" err="1">
                <a:solidFill>
                  <a:srgbClr val="212121"/>
                </a:solidFill>
                <a:effectLst/>
                <a:latin typeface="open sans" panose="020B0606030504020204" pitchFamily="34" charset="0"/>
              </a:rPr>
              <a:t>.Net</a:t>
            </a:r>
            <a:r>
              <a:rPr lang="en-US" b="0" i="0" dirty="0">
                <a:solidFill>
                  <a:srgbClr val="212121"/>
                </a:solidFill>
                <a:effectLst/>
                <a:latin typeface="open sans" panose="020B0606030504020204" pitchFamily="34" charset="0"/>
              </a:rPr>
              <a:t> framework, developed by Microsoft. It is an open-source framework for developing windows, web applications, services, and mobile applications and it can be run on Windows, Mac, or Linux. </a:t>
            </a:r>
            <a:r>
              <a:rPr lang="en-US" b="0" i="0" dirty="0" err="1">
                <a:solidFill>
                  <a:srgbClr val="212121"/>
                </a:solidFill>
                <a:effectLst/>
                <a:latin typeface="open sans" panose="020B0606030504020204" pitchFamily="34" charset="0"/>
              </a:rPr>
              <a:t>.Net</a:t>
            </a:r>
            <a:r>
              <a:rPr lang="en-US" b="0" i="0" dirty="0">
                <a:solidFill>
                  <a:srgbClr val="212121"/>
                </a:solidFill>
                <a:effectLst/>
                <a:latin typeface="open sans" panose="020B0606030504020204" pitchFamily="34" charset="0"/>
              </a:rPr>
              <a:t> Core application can run on both .NET CORE and traditional .NET Framework (.NET framework 4.x). It is completely rewritten from scratch and it was initially launched as </a:t>
            </a:r>
            <a:r>
              <a:rPr lang="en-US" b="0" i="0" dirty="0" err="1">
                <a:solidFill>
                  <a:srgbClr val="212121"/>
                </a:solidFill>
                <a:effectLst/>
                <a:latin typeface="open sans" panose="020B0606030504020204" pitchFamily="34" charset="0"/>
              </a:rPr>
              <a:t>.Net</a:t>
            </a:r>
            <a:r>
              <a:rPr lang="en-US" b="0" i="0" dirty="0">
                <a:solidFill>
                  <a:srgbClr val="212121"/>
                </a:solidFill>
                <a:effectLst/>
                <a:latin typeface="open sans" panose="020B0606030504020204" pitchFamily="34" charset="0"/>
              </a:rPr>
              <a:t> 5 but then it was renamed to .NET CORE 1.0.</a:t>
            </a:r>
          </a:p>
          <a:p>
            <a:pPr algn="l"/>
            <a:r>
              <a:rPr lang="en-US" b="0" i="0" dirty="0">
                <a:solidFill>
                  <a:srgbClr val="212121"/>
                </a:solidFill>
                <a:effectLst/>
                <a:latin typeface="open sans" panose="020B0606030504020204" pitchFamily="34" charset="0"/>
              </a:rPr>
              <a:t>In simple words, </a:t>
            </a:r>
            <a:r>
              <a:rPr lang="en-US" b="0" i="0" dirty="0" err="1">
                <a:solidFill>
                  <a:srgbClr val="212121"/>
                </a:solidFill>
                <a:effectLst/>
                <a:latin typeface="open sans" panose="020B0606030504020204" pitchFamily="34" charset="0"/>
              </a:rPr>
              <a:t>.Net</a:t>
            </a:r>
            <a:r>
              <a:rPr lang="en-US" b="0" i="0" dirty="0">
                <a:solidFill>
                  <a:srgbClr val="212121"/>
                </a:solidFill>
                <a:effectLst/>
                <a:latin typeface="open sans" panose="020B0606030504020204" pitchFamily="34" charset="0"/>
              </a:rPr>
              <a:t> Core is a Cross platform, High-performance, unified, fast, lightweight, Open-source framework for building modern, Mobile, web, windows applications and services.</a:t>
            </a:r>
          </a:p>
        </p:txBody>
      </p:sp>
      <p:sp>
        <p:nvSpPr>
          <p:cNvPr id="7" name="TextBox 6">
            <a:extLst>
              <a:ext uri="{FF2B5EF4-FFF2-40B4-BE49-F238E27FC236}">
                <a16:creationId xmlns:a16="http://schemas.microsoft.com/office/drawing/2014/main" id="{4B1F631F-437E-BCBE-5869-8EDBA22CD8F8}"/>
              </a:ext>
            </a:extLst>
          </p:cNvPr>
          <p:cNvSpPr txBox="1"/>
          <p:nvPr/>
        </p:nvSpPr>
        <p:spPr>
          <a:xfrm>
            <a:off x="219173" y="2567960"/>
            <a:ext cx="6094428" cy="369332"/>
          </a:xfrm>
          <a:prstGeom prst="rect">
            <a:avLst/>
          </a:prstGeom>
          <a:noFill/>
        </p:spPr>
        <p:txBody>
          <a:bodyPr wrap="square">
            <a:spAutoFit/>
          </a:bodyPr>
          <a:lstStyle/>
          <a:p>
            <a:r>
              <a:rPr lang="en-IN" dirty="0"/>
              <a:t>.NET Core Versions</a:t>
            </a:r>
          </a:p>
        </p:txBody>
      </p:sp>
      <p:pic>
        <p:nvPicPr>
          <p:cNvPr id="2050" name="Picture 2" descr=".NET Core Versions">
            <a:extLst>
              <a:ext uri="{FF2B5EF4-FFF2-40B4-BE49-F238E27FC236}">
                <a16:creationId xmlns:a16="http://schemas.microsoft.com/office/drawing/2014/main" id="{BAFFABB8-26AC-4C53-5FCF-0AF3E545E4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6126" y="2397061"/>
            <a:ext cx="4946532" cy="4245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4663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876649-9D91-09EE-C989-AD0DF34C80BB}"/>
              </a:ext>
            </a:extLst>
          </p:cNvPr>
          <p:cNvSpPr txBox="1"/>
          <p:nvPr/>
        </p:nvSpPr>
        <p:spPr>
          <a:xfrm>
            <a:off x="445416" y="82186"/>
            <a:ext cx="6094428" cy="646331"/>
          </a:xfrm>
          <a:prstGeom prst="rect">
            <a:avLst/>
          </a:prstGeom>
          <a:noFill/>
        </p:spPr>
        <p:txBody>
          <a:bodyPr wrap="square">
            <a:spAutoFit/>
          </a:bodyPr>
          <a:lstStyle/>
          <a:p>
            <a:r>
              <a:rPr lang="en-US" dirty="0"/>
              <a:t>History of .NET Core Versions</a:t>
            </a:r>
          </a:p>
          <a:p>
            <a:r>
              <a:rPr lang="en-US" dirty="0"/>
              <a:t>The below table shows the details of </a:t>
            </a:r>
            <a:r>
              <a:rPr lang="en-US" dirty="0" err="1"/>
              <a:t>.Net</a:t>
            </a:r>
            <a:r>
              <a:rPr lang="en-US" dirty="0"/>
              <a:t> Core Versions.</a:t>
            </a:r>
            <a:endParaRPr lang="en-IN" dirty="0"/>
          </a:p>
        </p:txBody>
      </p:sp>
      <p:graphicFrame>
        <p:nvGraphicFramePr>
          <p:cNvPr id="6" name="Table 5">
            <a:extLst>
              <a:ext uri="{FF2B5EF4-FFF2-40B4-BE49-F238E27FC236}">
                <a16:creationId xmlns:a16="http://schemas.microsoft.com/office/drawing/2014/main" id="{448AA565-8ED8-4C69-2165-3877072D7938}"/>
              </a:ext>
            </a:extLst>
          </p:cNvPr>
          <p:cNvGraphicFramePr>
            <a:graphicFrameLocks noGrp="1"/>
          </p:cNvGraphicFramePr>
          <p:nvPr>
            <p:extLst>
              <p:ext uri="{D42A27DB-BD31-4B8C-83A1-F6EECF244321}">
                <p14:modId xmlns:p14="http://schemas.microsoft.com/office/powerpoint/2010/main" val="1188992487"/>
              </p:ext>
            </p:extLst>
          </p:nvPr>
        </p:nvGraphicFramePr>
        <p:xfrm>
          <a:off x="829558" y="782414"/>
          <a:ext cx="9134572" cy="5993400"/>
        </p:xfrm>
        <a:graphic>
          <a:graphicData uri="http://schemas.openxmlformats.org/drawingml/2006/table">
            <a:tbl>
              <a:tblPr/>
              <a:tblGrid>
                <a:gridCol w="2283643">
                  <a:extLst>
                    <a:ext uri="{9D8B030D-6E8A-4147-A177-3AD203B41FA5}">
                      <a16:colId xmlns:a16="http://schemas.microsoft.com/office/drawing/2014/main" val="3238714884"/>
                    </a:ext>
                  </a:extLst>
                </a:gridCol>
                <a:gridCol w="2283643">
                  <a:extLst>
                    <a:ext uri="{9D8B030D-6E8A-4147-A177-3AD203B41FA5}">
                      <a16:colId xmlns:a16="http://schemas.microsoft.com/office/drawing/2014/main" val="2888608843"/>
                    </a:ext>
                  </a:extLst>
                </a:gridCol>
                <a:gridCol w="2283643">
                  <a:extLst>
                    <a:ext uri="{9D8B030D-6E8A-4147-A177-3AD203B41FA5}">
                      <a16:colId xmlns:a16="http://schemas.microsoft.com/office/drawing/2014/main" val="1279348751"/>
                    </a:ext>
                  </a:extLst>
                </a:gridCol>
                <a:gridCol w="2283643">
                  <a:extLst>
                    <a:ext uri="{9D8B030D-6E8A-4147-A177-3AD203B41FA5}">
                      <a16:colId xmlns:a16="http://schemas.microsoft.com/office/drawing/2014/main" val="767058773"/>
                    </a:ext>
                  </a:extLst>
                </a:gridCol>
              </a:tblGrid>
              <a:tr h="310737">
                <a:tc>
                  <a:txBody>
                    <a:bodyPr/>
                    <a:lstStyle/>
                    <a:p>
                      <a:r>
                        <a:rPr lang="en-IN" sz="1600" b="1">
                          <a:effectLst/>
                        </a:rPr>
                        <a:t>Version</a:t>
                      </a:r>
                      <a:r>
                        <a:rPr lang="en-IN" sz="1600">
                          <a:effectLst/>
                        </a:rPr>
                        <a:t>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b="1">
                          <a:effectLst/>
                        </a:rPr>
                        <a:t>Release Date</a:t>
                      </a:r>
                      <a:r>
                        <a:rPr lang="en-IN" sz="1600">
                          <a:effectLst/>
                        </a:rPr>
                        <a:t>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b="1" dirty="0">
                          <a:effectLst/>
                        </a:rPr>
                        <a:t>Development/Editor Tool</a:t>
                      </a:r>
                      <a:r>
                        <a:rPr lang="en-IN" sz="1600" dirty="0">
                          <a:effectLst/>
                        </a:rPr>
                        <a:t>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b="1">
                          <a:effectLst/>
                        </a:rPr>
                        <a:t>Support</a:t>
                      </a:r>
                      <a:r>
                        <a:rPr lang="en-IN" sz="1600">
                          <a:effectLst/>
                        </a:rPr>
                        <a:t>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extLst>
                  <a:ext uri="{0D108BD9-81ED-4DB2-BD59-A6C34878D82A}">
                    <a16:rowId xmlns:a16="http://schemas.microsoft.com/office/drawing/2014/main" val="2157093483"/>
                  </a:ext>
                </a:extLst>
              </a:tr>
              <a:tr h="444586">
                <a:tc>
                  <a:txBody>
                    <a:bodyPr/>
                    <a:lstStyle/>
                    <a:p>
                      <a:r>
                        <a:rPr lang="en-IN" sz="1600">
                          <a:effectLst/>
                        </a:rPr>
                        <a:t>.Net Core 1.0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Jun-27-2016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US" sz="1600">
                          <a:effectLst/>
                        </a:rPr>
                        <a:t>Visual Studio 2015 updated version 3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1.0  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extLst>
                  <a:ext uri="{0D108BD9-81ED-4DB2-BD59-A6C34878D82A}">
                    <a16:rowId xmlns:a16="http://schemas.microsoft.com/office/drawing/2014/main" val="638074051"/>
                  </a:ext>
                </a:extLst>
              </a:tr>
              <a:tr h="310737">
                <a:tc>
                  <a:txBody>
                    <a:bodyPr/>
                    <a:lstStyle/>
                    <a:p>
                      <a:r>
                        <a:rPr lang="en-IN" sz="1600">
                          <a:effectLst/>
                        </a:rPr>
                        <a:t>.Net Core 1.1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Nov-18-2016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Visual Studio 2015,2017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1.0,1.1  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extLst>
                  <a:ext uri="{0D108BD9-81ED-4DB2-BD59-A6C34878D82A}">
                    <a16:rowId xmlns:a16="http://schemas.microsoft.com/office/drawing/2014/main" val="3236725811"/>
                  </a:ext>
                </a:extLst>
              </a:tr>
              <a:tr h="444586">
                <a:tc>
                  <a:txBody>
                    <a:bodyPr/>
                    <a:lstStyle/>
                    <a:p>
                      <a:r>
                        <a:rPr lang="en-IN" sz="1600">
                          <a:effectLst/>
                        </a:rPr>
                        <a:t>.Net Core 2.0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Aug-14-2017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it-IT" sz="1600">
                          <a:effectLst/>
                        </a:rPr>
                        <a:t>Visual Studio 2017 Version 15.3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1.0,1.1,2.0  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extLst>
                  <a:ext uri="{0D108BD9-81ED-4DB2-BD59-A6C34878D82A}">
                    <a16:rowId xmlns:a16="http://schemas.microsoft.com/office/drawing/2014/main" val="1652620513"/>
                  </a:ext>
                </a:extLst>
              </a:tr>
              <a:tr h="444586">
                <a:tc>
                  <a:txBody>
                    <a:bodyPr/>
                    <a:lstStyle/>
                    <a:p>
                      <a:r>
                        <a:rPr lang="en-US" sz="1600">
                          <a:effectLst/>
                        </a:rPr>
                        <a:t>.Net Core 2.1 Long Term Support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May-30-2018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it-IT" sz="1600">
                          <a:effectLst/>
                        </a:rPr>
                        <a:t>Visual Studio 2017 Version 15.7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1.0,1.1,2.0,2.1  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extLst>
                  <a:ext uri="{0D108BD9-81ED-4DB2-BD59-A6C34878D82A}">
                    <a16:rowId xmlns:a16="http://schemas.microsoft.com/office/drawing/2014/main" val="1055776134"/>
                  </a:ext>
                </a:extLst>
              </a:tr>
              <a:tr h="444586">
                <a:tc>
                  <a:txBody>
                    <a:bodyPr/>
                    <a:lstStyle/>
                    <a:p>
                      <a:r>
                        <a:rPr lang="en-IN" sz="1600">
                          <a:effectLst/>
                        </a:rPr>
                        <a:t>.Net Core 2.2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Dec-04-2018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Visual Studio 2017 Version15.9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1.0,1.1,2.0,2.1,2.2  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extLst>
                  <a:ext uri="{0D108BD9-81ED-4DB2-BD59-A6C34878D82A}">
                    <a16:rowId xmlns:a16="http://schemas.microsoft.com/office/drawing/2014/main" val="3841138875"/>
                  </a:ext>
                </a:extLst>
              </a:tr>
              <a:tr h="444586">
                <a:tc>
                  <a:txBody>
                    <a:bodyPr/>
                    <a:lstStyle/>
                    <a:p>
                      <a:r>
                        <a:rPr lang="en-IN" sz="1600">
                          <a:effectLst/>
                        </a:rPr>
                        <a:t>.Net Core 3.0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Sep-23-2019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it-IT" sz="1600">
                          <a:effectLst/>
                        </a:rPr>
                        <a:t>Visual Studio 2019  </a:t>
                      </a:r>
                      <a:br>
                        <a:rPr lang="it-IT" sz="1600">
                          <a:effectLst/>
                        </a:rPr>
                      </a:br>
                      <a:r>
                        <a:rPr lang="it-IT" sz="1600">
                          <a:effectLst/>
                        </a:rPr>
                        <a:t>Version 16.3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1.0,1.1,2.0,2.1,2.2,3.0  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extLst>
                  <a:ext uri="{0D108BD9-81ED-4DB2-BD59-A6C34878D82A}">
                    <a16:rowId xmlns:a16="http://schemas.microsoft.com/office/drawing/2014/main" val="4258996633"/>
                  </a:ext>
                </a:extLst>
              </a:tr>
              <a:tr h="578435">
                <a:tc>
                  <a:txBody>
                    <a:bodyPr/>
                    <a:lstStyle/>
                    <a:p>
                      <a:r>
                        <a:rPr lang="en-US" sz="1600">
                          <a:effectLst/>
                        </a:rPr>
                        <a:t>.Net Core 3.1 (3 yr Long-term support)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Dec-03-2019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it-IT" sz="1600">
                          <a:effectLst/>
                        </a:rPr>
                        <a:t>Visual Studio 2019  </a:t>
                      </a:r>
                      <a:br>
                        <a:rPr lang="it-IT" sz="1600">
                          <a:effectLst/>
                        </a:rPr>
                      </a:br>
                      <a:r>
                        <a:rPr lang="it-IT" sz="1600">
                          <a:effectLst/>
                        </a:rPr>
                        <a:t>Version 16.4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1.0,1.1,2.0,2.1,2.2,3.0,  </a:t>
                      </a:r>
                      <a:br>
                        <a:rPr lang="en-IN" sz="1600">
                          <a:effectLst/>
                        </a:rPr>
                      </a:br>
                      <a:r>
                        <a:rPr lang="en-IN" sz="1600">
                          <a:effectLst/>
                        </a:rPr>
                        <a:t>3.1  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extLst>
                  <a:ext uri="{0D108BD9-81ED-4DB2-BD59-A6C34878D82A}">
                    <a16:rowId xmlns:a16="http://schemas.microsoft.com/office/drawing/2014/main" val="530227115"/>
                  </a:ext>
                </a:extLst>
              </a:tr>
              <a:tr h="444586">
                <a:tc>
                  <a:txBody>
                    <a:bodyPr/>
                    <a:lstStyle/>
                    <a:p>
                      <a:r>
                        <a:rPr lang="en-IN" sz="1600">
                          <a:effectLst/>
                        </a:rPr>
                        <a:t>.NET 5.0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Nov-10-2020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it-IT" sz="1600">
                          <a:effectLst/>
                        </a:rPr>
                        <a:t>Visual Studio 2019  </a:t>
                      </a:r>
                      <a:br>
                        <a:rPr lang="it-IT" sz="1600">
                          <a:effectLst/>
                        </a:rPr>
                      </a:br>
                      <a:r>
                        <a:rPr lang="it-IT" sz="1600">
                          <a:effectLst/>
                        </a:rPr>
                        <a:t>Version 16.8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1.0,1.1,2.0,2.1,2.2,3.0,  </a:t>
                      </a:r>
                      <a:br>
                        <a:rPr lang="en-IN" sz="1600">
                          <a:effectLst/>
                        </a:rPr>
                      </a:br>
                      <a:r>
                        <a:rPr lang="en-IN" sz="1600">
                          <a:effectLst/>
                        </a:rPr>
                        <a:t>3.1,5.0  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extLst>
                  <a:ext uri="{0D108BD9-81ED-4DB2-BD59-A6C34878D82A}">
                    <a16:rowId xmlns:a16="http://schemas.microsoft.com/office/drawing/2014/main" val="2742825807"/>
                  </a:ext>
                </a:extLst>
              </a:tr>
              <a:tr h="444586">
                <a:tc>
                  <a:txBody>
                    <a:bodyPr/>
                    <a:lstStyle/>
                    <a:p>
                      <a:r>
                        <a:rPr lang="en-US" sz="1600">
                          <a:effectLst/>
                        </a:rPr>
                        <a:t>.NET 6.0 1 (3 yr Long-term support)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Nov-08-2021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it-IT" sz="1600">
                          <a:effectLst/>
                        </a:rPr>
                        <a:t>Visual Studio 2022  </a:t>
                      </a:r>
                      <a:br>
                        <a:rPr lang="it-IT" sz="1600">
                          <a:effectLst/>
                        </a:rPr>
                      </a:br>
                      <a:r>
                        <a:rPr lang="it-IT" sz="1600">
                          <a:effectLst/>
                        </a:rPr>
                        <a:t>Version 17.0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6.0  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extLst>
                  <a:ext uri="{0D108BD9-81ED-4DB2-BD59-A6C34878D82A}">
                    <a16:rowId xmlns:a16="http://schemas.microsoft.com/office/drawing/2014/main" val="2803433774"/>
                  </a:ext>
                </a:extLst>
              </a:tr>
              <a:tr h="444586">
                <a:tc>
                  <a:txBody>
                    <a:bodyPr/>
                    <a:lstStyle/>
                    <a:p>
                      <a:r>
                        <a:rPr lang="en-IN" sz="1600">
                          <a:effectLst/>
                        </a:rPr>
                        <a:t>.NET 7.0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2022-11(projected)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extLst>
                  <a:ext uri="{0D108BD9-81ED-4DB2-BD59-A6C34878D82A}">
                    <a16:rowId xmlns:a16="http://schemas.microsoft.com/office/drawing/2014/main" val="2206903259"/>
                  </a:ext>
                </a:extLst>
              </a:tr>
              <a:tr h="444586">
                <a:tc>
                  <a:txBody>
                    <a:bodyPr/>
                    <a:lstStyle/>
                    <a:p>
                      <a:r>
                        <a:rPr lang="en-IN" sz="1600">
                          <a:effectLst/>
                        </a:rPr>
                        <a:t>.NET 8.0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2023-11(projected)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a:effectLst/>
                        </a:rPr>
                        <a:t> </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tc>
                  <a:txBody>
                    <a:bodyPr/>
                    <a:lstStyle/>
                    <a:p>
                      <a:r>
                        <a:rPr lang="en-IN" sz="1600" dirty="0">
                          <a:effectLst/>
                        </a:rPr>
                        <a:t>-</a:t>
                      </a:r>
                    </a:p>
                  </a:txBody>
                  <a:tcPr marL="39201" marR="39201" marT="19601" marB="19601" anchor="ctr">
                    <a:lnL w="7620" cap="flat" cmpd="sng" algn="ctr">
                      <a:solidFill>
                        <a:srgbClr val="ABABAB"/>
                      </a:solidFill>
                      <a:prstDash val="dash"/>
                      <a:round/>
                      <a:headEnd type="none" w="med" len="med"/>
                      <a:tailEnd type="none" w="med" len="med"/>
                    </a:lnL>
                    <a:lnR w="7620" cap="flat" cmpd="sng" algn="ctr">
                      <a:solidFill>
                        <a:srgbClr val="ABABAB"/>
                      </a:solidFill>
                      <a:prstDash val="dash"/>
                      <a:round/>
                      <a:headEnd type="none" w="med" len="med"/>
                      <a:tailEnd type="none" w="med" len="med"/>
                    </a:lnR>
                    <a:lnT w="7620" cap="flat" cmpd="sng" algn="ctr">
                      <a:solidFill>
                        <a:srgbClr val="ABABAB"/>
                      </a:solidFill>
                      <a:prstDash val="dash"/>
                      <a:round/>
                      <a:headEnd type="none" w="med" len="med"/>
                      <a:tailEnd type="none" w="med" len="med"/>
                    </a:lnT>
                    <a:lnB w="7620" cap="flat" cmpd="sng" algn="ctr">
                      <a:solidFill>
                        <a:srgbClr val="ABABAB"/>
                      </a:solidFill>
                      <a:prstDash val="dash"/>
                      <a:round/>
                      <a:headEnd type="none" w="med" len="med"/>
                      <a:tailEnd type="none" w="med" len="med"/>
                    </a:lnB>
                    <a:solidFill>
                      <a:srgbClr val="FFFFFF"/>
                    </a:solidFill>
                  </a:tcPr>
                </a:tc>
                <a:extLst>
                  <a:ext uri="{0D108BD9-81ED-4DB2-BD59-A6C34878D82A}">
                    <a16:rowId xmlns:a16="http://schemas.microsoft.com/office/drawing/2014/main" val="500531191"/>
                  </a:ext>
                </a:extLst>
              </a:tr>
            </a:tbl>
          </a:graphicData>
        </a:graphic>
      </p:graphicFrame>
    </p:spTree>
    <p:extLst>
      <p:ext uri="{BB962C8B-B14F-4D97-AF65-F5344CB8AC3E}">
        <p14:creationId xmlns:p14="http://schemas.microsoft.com/office/powerpoint/2010/main" val="1456977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E414AB-8A6B-94E0-15D6-3158D3E1C942}"/>
              </a:ext>
            </a:extLst>
          </p:cNvPr>
          <p:cNvSpPr txBox="1"/>
          <p:nvPr/>
        </p:nvSpPr>
        <p:spPr>
          <a:xfrm>
            <a:off x="445416" y="135899"/>
            <a:ext cx="10414261" cy="4801314"/>
          </a:xfrm>
          <a:prstGeom prst="rect">
            <a:avLst/>
          </a:prstGeom>
          <a:noFill/>
        </p:spPr>
        <p:txBody>
          <a:bodyPr wrap="square">
            <a:spAutoFit/>
          </a:bodyPr>
          <a:lstStyle/>
          <a:p>
            <a:pPr algn="l"/>
            <a:r>
              <a:rPr lang="en-US" b="0" i="0" dirty="0">
                <a:solidFill>
                  <a:srgbClr val="212121"/>
                </a:solidFill>
                <a:effectLst/>
                <a:latin typeface="Roboto" panose="02000000000000000000" pitchFamily="2" charset="0"/>
              </a:rPr>
              <a:t>Why Use </a:t>
            </a:r>
            <a:r>
              <a:rPr lang="en-US" b="0" i="0" dirty="0" err="1">
                <a:solidFill>
                  <a:srgbClr val="212121"/>
                </a:solidFill>
                <a:effectLst/>
                <a:latin typeface="Roboto" panose="02000000000000000000" pitchFamily="2" charset="0"/>
              </a:rPr>
              <a:t>.Net</a:t>
            </a:r>
            <a:r>
              <a:rPr lang="en-US" b="0" i="0" dirty="0">
                <a:solidFill>
                  <a:srgbClr val="212121"/>
                </a:solidFill>
                <a:effectLst/>
                <a:latin typeface="Roboto" panose="02000000000000000000" pitchFamily="2" charset="0"/>
              </a:rPr>
              <a:t> Core?</a:t>
            </a:r>
          </a:p>
          <a:p>
            <a:pPr algn="l">
              <a:buFont typeface="Arial" panose="020B0604020202020204" pitchFamily="34" charset="0"/>
              <a:buChar char="•"/>
            </a:pPr>
            <a:r>
              <a:rPr lang="en-US" b="1" i="0" dirty="0">
                <a:solidFill>
                  <a:srgbClr val="212121"/>
                </a:solidFill>
                <a:effectLst/>
                <a:latin typeface="open sans" panose="020B0606030504020204" pitchFamily="34" charset="0"/>
              </a:rPr>
              <a:t>Cross platform - </a:t>
            </a:r>
            <a:r>
              <a:rPr lang="en-US" b="0" i="0" dirty="0">
                <a:solidFill>
                  <a:srgbClr val="212121"/>
                </a:solidFill>
                <a:effectLst/>
                <a:latin typeface="open sans" panose="020B0606030504020204" pitchFamily="34" charset="0"/>
              </a:rPr>
              <a:t>It can run on Windows, Linux and Mac.</a:t>
            </a:r>
          </a:p>
          <a:p>
            <a:pPr algn="l">
              <a:buFont typeface="Arial" panose="020B0604020202020204" pitchFamily="34" charset="0"/>
              <a:buChar char="•"/>
            </a:pPr>
            <a:r>
              <a:rPr lang="en-US" b="1" i="0" dirty="0">
                <a:solidFill>
                  <a:srgbClr val="212121"/>
                </a:solidFill>
                <a:effectLst/>
                <a:latin typeface="open sans" panose="020B0606030504020204" pitchFamily="34" charset="0"/>
              </a:rPr>
              <a:t>Unified - </a:t>
            </a:r>
            <a:r>
              <a:rPr lang="en-US" b="0" i="0" dirty="0">
                <a:solidFill>
                  <a:srgbClr val="212121"/>
                </a:solidFill>
                <a:effectLst/>
                <a:latin typeface="open sans" panose="020B0606030504020204" pitchFamily="34" charset="0"/>
              </a:rPr>
              <a:t>It offers a single unified component like .NET Standard library for all platforms with the same code, same languages, and same tools.</a:t>
            </a:r>
          </a:p>
          <a:p>
            <a:pPr algn="l">
              <a:buFont typeface="Arial" panose="020B0604020202020204" pitchFamily="34" charset="0"/>
              <a:buChar char="•"/>
            </a:pPr>
            <a:r>
              <a:rPr lang="en-US" b="1" i="0" dirty="0">
                <a:solidFill>
                  <a:srgbClr val="212121"/>
                </a:solidFill>
                <a:effectLst/>
                <a:latin typeface="open sans" panose="020B0606030504020204" pitchFamily="34" charset="0"/>
              </a:rPr>
              <a:t>Better performance - </a:t>
            </a:r>
            <a:r>
              <a:rPr lang="en-US" b="0" i="0" dirty="0" err="1">
                <a:solidFill>
                  <a:srgbClr val="212121"/>
                </a:solidFill>
                <a:effectLst/>
                <a:latin typeface="open sans" panose="020B0606030504020204" pitchFamily="34" charset="0"/>
              </a:rPr>
              <a:t>.Net</a:t>
            </a:r>
            <a:r>
              <a:rPr lang="en-US" b="0" i="0" dirty="0">
                <a:solidFill>
                  <a:srgbClr val="212121"/>
                </a:solidFill>
                <a:effectLst/>
                <a:latin typeface="open sans" panose="020B0606030504020204" pitchFamily="34" charset="0"/>
              </a:rPr>
              <a:t> core does not depend on system.web.dll for communication between Browser-server. In </a:t>
            </a:r>
            <a:r>
              <a:rPr lang="en-US" b="0" i="0" dirty="0" err="1">
                <a:solidFill>
                  <a:srgbClr val="212121"/>
                </a:solidFill>
                <a:effectLst/>
                <a:latin typeface="open sans" panose="020B0606030504020204" pitchFamily="34" charset="0"/>
              </a:rPr>
              <a:t>.Net</a:t>
            </a:r>
            <a:r>
              <a:rPr lang="en-US" b="0" i="0" dirty="0">
                <a:solidFill>
                  <a:srgbClr val="212121"/>
                </a:solidFill>
                <a:effectLst/>
                <a:latin typeface="open sans" panose="020B0606030504020204" pitchFamily="34" charset="0"/>
              </a:rPr>
              <a:t> core everything is packages which we need for our application. Packages reduce the request pipeline and improve the application performance.</a:t>
            </a:r>
          </a:p>
          <a:p>
            <a:pPr algn="l">
              <a:buFont typeface="Arial" panose="020B0604020202020204" pitchFamily="34" charset="0"/>
              <a:buChar char="•"/>
            </a:pPr>
            <a:r>
              <a:rPr lang="en-US" b="1" i="0" dirty="0">
                <a:solidFill>
                  <a:srgbClr val="212121"/>
                </a:solidFill>
                <a:effectLst/>
                <a:latin typeface="open sans" panose="020B0606030504020204" pitchFamily="34" charset="0"/>
              </a:rPr>
              <a:t>Lightweight - </a:t>
            </a:r>
            <a:r>
              <a:rPr lang="en-US" b="0" i="0" dirty="0">
                <a:solidFill>
                  <a:srgbClr val="212121"/>
                </a:solidFill>
                <a:effectLst/>
                <a:latin typeface="open sans" panose="020B0606030504020204" pitchFamily="34" charset="0"/>
              </a:rPr>
              <a:t>It is a lightweight framework. It allows developers to deploy libraries and components that are needed in a set of packages.</a:t>
            </a:r>
          </a:p>
          <a:p>
            <a:pPr algn="l">
              <a:buFont typeface="Arial" panose="020B0604020202020204" pitchFamily="34" charset="0"/>
              <a:buChar char="•"/>
            </a:pPr>
            <a:r>
              <a:rPr lang="en-US" b="1" i="0" dirty="0">
                <a:solidFill>
                  <a:srgbClr val="212121"/>
                </a:solidFill>
                <a:effectLst/>
                <a:latin typeface="open sans" panose="020B0606030504020204" pitchFamily="34" charset="0"/>
              </a:rPr>
              <a:t>Dependency Injection - </a:t>
            </a:r>
            <a:r>
              <a:rPr lang="en-US" b="0" i="0" dirty="0">
                <a:solidFill>
                  <a:srgbClr val="212121"/>
                </a:solidFill>
                <a:effectLst/>
                <a:latin typeface="open sans" panose="020B0606030504020204" pitchFamily="34" charset="0"/>
              </a:rPr>
              <a:t>Dependency Injection is in-built in </a:t>
            </a:r>
            <a:r>
              <a:rPr lang="en-US" b="0" i="0" dirty="0" err="1">
                <a:solidFill>
                  <a:srgbClr val="212121"/>
                </a:solidFill>
                <a:effectLst/>
                <a:latin typeface="open sans" panose="020B0606030504020204" pitchFamily="34" charset="0"/>
              </a:rPr>
              <a:t>.Net</a:t>
            </a:r>
            <a:r>
              <a:rPr lang="en-US" b="0" i="0" dirty="0">
                <a:solidFill>
                  <a:srgbClr val="212121"/>
                </a:solidFill>
                <a:effectLst/>
                <a:latin typeface="open sans" panose="020B0606030504020204" pitchFamily="34" charset="0"/>
              </a:rPr>
              <a:t> Core.</a:t>
            </a:r>
          </a:p>
          <a:p>
            <a:pPr algn="l">
              <a:buFont typeface="Arial" panose="020B0604020202020204" pitchFamily="34" charset="0"/>
              <a:buChar char="•"/>
            </a:pPr>
            <a:r>
              <a:rPr lang="en-US" b="1" i="0" dirty="0">
                <a:solidFill>
                  <a:srgbClr val="212121"/>
                </a:solidFill>
                <a:effectLst/>
                <a:latin typeface="open sans" panose="020B0606030504020204" pitchFamily="34" charset="0"/>
              </a:rPr>
              <a:t>Hosting -</a:t>
            </a:r>
            <a:r>
              <a:rPr lang="en-US" b="0" i="0" dirty="0">
                <a:solidFill>
                  <a:srgbClr val="212121"/>
                </a:solidFill>
                <a:effectLst/>
                <a:latin typeface="open sans" panose="020B0606030504020204" pitchFamily="34" charset="0"/>
              </a:rPr>
              <a:t> </a:t>
            </a:r>
            <a:r>
              <a:rPr lang="en-US" b="0" i="0" dirty="0" err="1">
                <a:solidFill>
                  <a:srgbClr val="212121"/>
                </a:solidFill>
                <a:effectLst/>
                <a:latin typeface="open sans" panose="020B0606030504020204" pitchFamily="34" charset="0"/>
              </a:rPr>
              <a:t>.Net</a:t>
            </a:r>
            <a:r>
              <a:rPr lang="en-US" b="0" i="0" dirty="0">
                <a:solidFill>
                  <a:srgbClr val="212121"/>
                </a:solidFill>
                <a:effectLst/>
                <a:latin typeface="open sans" panose="020B0606030504020204" pitchFamily="34" charset="0"/>
              </a:rPr>
              <a:t> Core application can be hosted on multiple Web server such as IIS, Apache, Docker, etc. It is not dependent on IIS.</a:t>
            </a:r>
          </a:p>
          <a:p>
            <a:pPr algn="l">
              <a:buFont typeface="Arial" panose="020B0604020202020204" pitchFamily="34" charset="0"/>
              <a:buChar char="•"/>
            </a:pPr>
            <a:r>
              <a:rPr lang="en-US" b="1" i="0" dirty="0">
                <a:solidFill>
                  <a:srgbClr val="212121"/>
                </a:solidFill>
                <a:effectLst/>
                <a:latin typeface="open sans" panose="020B0606030504020204" pitchFamily="34" charset="0"/>
              </a:rPr>
              <a:t>Open Source -</a:t>
            </a:r>
            <a:r>
              <a:rPr lang="en-US" b="0" i="0" dirty="0">
                <a:solidFill>
                  <a:srgbClr val="212121"/>
                </a:solidFill>
                <a:effectLst/>
                <a:latin typeface="open sans" panose="020B0606030504020204" pitchFamily="34" charset="0"/>
              </a:rPr>
              <a:t> It is a fully open-source framework. That means, it is free of cost and its source code is available.</a:t>
            </a:r>
          </a:p>
          <a:p>
            <a:pPr algn="l">
              <a:buFont typeface="Arial" panose="020B0604020202020204" pitchFamily="34" charset="0"/>
              <a:buChar char="•"/>
            </a:pPr>
            <a:r>
              <a:rPr lang="en-US" b="1" i="0" dirty="0">
                <a:solidFill>
                  <a:srgbClr val="212121"/>
                </a:solidFill>
                <a:effectLst/>
                <a:latin typeface="open sans" panose="020B0606030504020204" pitchFamily="34" charset="0"/>
              </a:rPr>
              <a:t>Testability -</a:t>
            </a:r>
            <a:r>
              <a:rPr lang="en-US" b="0" i="0" dirty="0">
                <a:solidFill>
                  <a:srgbClr val="212121"/>
                </a:solidFill>
                <a:effectLst/>
                <a:latin typeface="open sans" panose="020B0606030504020204" pitchFamily="34" charset="0"/>
              </a:rPr>
              <a:t> Unit testing is very easy in </a:t>
            </a:r>
            <a:r>
              <a:rPr lang="en-US" b="0" i="0" dirty="0" err="1">
                <a:solidFill>
                  <a:srgbClr val="212121"/>
                </a:solidFill>
                <a:effectLst/>
                <a:latin typeface="open sans" panose="020B0606030504020204" pitchFamily="34" charset="0"/>
              </a:rPr>
              <a:t>.Net</a:t>
            </a:r>
            <a:r>
              <a:rPr lang="en-US" b="0" i="0" dirty="0">
                <a:solidFill>
                  <a:srgbClr val="212121"/>
                </a:solidFill>
                <a:effectLst/>
                <a:latin typeface="open sans" panose="020B0606030504020204" pitchFamily="34" charset="0"/>
              </a:rPr>
              <a:t> core application.</a:t>
            </a:r>
          </a:p>
          <a:p>
            <a:pPr algn="l">
              <a:buFont typeface="Arial" panose="020B0604020202020204" pitchFamily="34" charset="0"/>
              <a:buChar char="•"/>
            </a:pPr>
            <a:r>
              <a:rPr lang="en-US" b="1" i="0" dirty="0">
                <a:solidFill>
                  <a:srgbClr val="212121"/>
                </a:solidFill>
                <a:effectLst/>
                <a:latin typeface="open sans" panose="020B0606030504020204" pitchFamily="34" charset="0"/>
              </a:rPr>
              <a:t>Side-by-side App Versioning - </a:t>
            </a:r>
            <a:r>
              <a:rPr lang="en-US" b="0" i="0" dirty="0" err="1">
                <a:solidFill>
                  <a:srgbClr val="212121"/>
                </a:solidFill>
                <a:effectLst/>
                <a:latin typeface="open sans" panose="020B0606030504020204" pitchFamily="34" charset="0"/>
              </a:rPr>
              <a:t>.Net</a:t>
            </a:r>
            <a:r>
              <a:rPr lang="en-US" b="0" i="0" dirty="0">
                <a:solidFill>
                  <a:srgbClr val="212121"/>
                </a:solidFill>
                <a:effectLst/>
                <a:latin typeface="open sans" panose="020B0606030504020204" pitchFamily="34" charset="0"/>
              </a:rPr>
              <a:t> Core runs on .NET Core, which supports simultaneously running in multiple versions of applications.</a:t>
            </a:r>
          </a:p>
        </p:txBody>
      </p:sp>
    </p:spTree>
    <p:extLst>
      <p:ext uri="{BB962C8B-B14F-4D97-AF65-F5344CB8AC3E}">
        <p14:creationId xmlns:p14="http://schemas.microsoft.com/office/powerpoint/2010/main" val="918171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903E9-EB1A-4850-99E2-1B32BE5DE9E9}"/>
              </a:ext>
            </a:extLst>
          </p:cNvPr>
          <p:cNvSpPr>
            <a:spLocks noGrp="1"/>
          </p:cNvSpPr>
          <p:nvPr>
            <p:ph type="title"/>
          </p:nvPr>
        </p:nvSpPr>
        <p:spPr>
          <a:xfrm>
            <a:off x="3048000" y="1"/>
            <a:ext cx="7886700" cy="1325563"/>
          </a:xfrm>
        </p:spPr>
        <p:txBody>
          <a:bodyPr/>
          <a:lstStyle/>
          <a:p>
            <a:r>
              <a:rPr lang="en-US" dirty="0"/>
              <a:t>Why .NET Core?</a:t>
            </a:r>
            <a:br>
              <a:rPr lang="en-US" dirty="0"/>
            </a:br>
            <a:endParaRPr lang="en-IN" dirty="0"/>
          </a:p>
        </p:txBody>
      </p:sp>
      <p:sp>
        <p:nvSpPr>
          <p:cNvPr id="3" name="Content Placeholder 2">
            <a:extLst>
              <a:ext uri="{FF2B5EF4-FFF2-40B4-BE49-F238E27FC236}">
                <a16:creationId xmlns:a16="http://schemas.microsoft.com/office/drawing/2014/main" id="{69F6315A-BD3B-4331-86DB-5010A2EBC5D2}"/>
              </a:ext>
            </a:extLst>
          </p:cNvPr>
          <p:cNvSpPr>
            <a:spLocks noGrp="1"/>
          </p:cNvSpPr>
          <p:nvPr>
            <p:ph idx="1"/>
          </p:nvPr>
        </p:nvSpPr>
        <p:spPr>
          <a:xfrm>
            <a:off x="641807" y="558539"/>
            <a:ext cx="10783479" cy="2971800"/>
          </a:xfrm>
        </p:spPr>
        <p:txBody>
          <a:bodyPr>
            <a:noAutofit/>
          </a:bodyPr>
          <a:lstStyle/>
          <a:p>
            <a:pPr>
              <a:lnSpc>
                <a:spcPct val="200000"/>
              </a:lnSpc>
              <a:spcBef>
                <a:spcPts val="1200"/>
              </a:spcBef>
              <a:spcAft>
                <a:spcPts val="1200"/>
              </a:spcAft>
            </a:pPr>
            <a:r>
              <a:rPr lang="en-US" sz="1800" dirty="0"/>
              <a:t>There are some limitations with the .NET Framework. For example, it only runs on the Windows platform. Also, you need to use different .NET APIs for different Windows devices such as Windows Desktop, Windows Store, Windows Phone, and Web applications. In addition to this, the .NET Framework is a machine-wide framework. Any changes made to it affect all applications taking a dependency on it. </a:t>
            </a:r>
          </a:p>
          <a:p>
            <a:pPr>
              <a:lnSpc>
                <a:spcPct val="200000"/>
              </a:lnSpc>
              <a:spcBef>
                <a:spcPts val="1200"/>
              </a:spcBef>
              <a:spcAft>
                <a:spcPts val="1200"/>
              </a:spcAft>
            </a:pPr>
            <a:endParaRPr lang="en-US" dirty="0"/>
          </a:p>
          <a:p>
            <a:pPr>
              <a:lnSpc>
                <a:spcPct val="200000"/>
              </a:lnSpc>
              <a:spcBef>
                <a:spcPts val="1200"/>
              </a:spcBef>
              <a:spcAft>
                <a:spcPts val="1200"/>
              </a:spcAft>
            </a:pPr>
            <a:r>
              <a:rPr lang="en-US" sz="1800" dirty="0"/>
              <a:t>Today, it's common to have an application that runs </a:t>
            </a:r>
            <a:r>
              <a:rPr lang="en-US" sz="1800" b="1" dirty="0"/>
              <a:t>across devices</a:t>
            </a:r>
            <a:r>
              <a:rPr lang="en-US" sz="1800" dirty="0"/>
              <a:t>; a </a:t>
            </a:r>
            <a:r>
              <a:rPr lang="en-US" sz="1800" b="1" dirty="0">
                <a:solidFill>
                  <a:schemeClr val="accent2">
                    <a:lumMod val="75000"/>
                  </a:schemeClr>
                </a:solidFill>
              </a:rPr>
              <a:t>backend on the web server</a:t>
            </a:r>
            <a:r>
              <a:rPr lang="en-US" sz="1800" dirty="0"/>
              <a:t>, </a:t>
            </a:r>
            <a:r>
              <a:rPr lang="en-US" sz="1800" b="1" dirty="0">
                <a:solidFill>
                  <a:schemeClr val="accent6">
                    <a:lumMod val="75000"/>
                  </a:schemeClr>
                </a:solidFill>
              </a:rPr>
              <a:t>admin front-end on windows desktop</a:t>
            </a:r>
            <a:r>
              <a:rPr lang="en-US" sz="1800" b="1" dirty="0"/>
              <a:t>, </a:t>
            </a:r>
            <a:r>
              <a:rPr lang="en-US" sz="1800" b="1" dirty="0">
                <a:solidFill>
                  <a:srgbClr val="FF0000"/>
                </a:solidFill>
              </a:rPr>
              <a:t>web,</a:t>
            </a:r>
            <a:r>
              <a:rPr lang="en-US" sz="1800" b="1" dirty="0"/>
              <a:t> </a:t>
            </a:r>
            <a:r>
              <a:rPr lang="en-US" sz="1800" dirty="0"/>
              <a:t>and</a:t>
            </a:r>
            <a:r>
              <a:rPr lang="en-US" sz="1800" b="1" dirty="0"/>
              <a:t> </a:t>
            </a:r>
            <a:r>
              <a:rPr lang="en-US" sz="1800" b="1" dirty="0">
                <a:solidFill>
                  <a:schemeClr val="accent1">
                    <a:lumMod val="60000"/>
                    <a:lumOff val="40000"/>
                  </a:schemeClr>
                </a:solidFill>
              </a:rPr>
              <a:t>mobile apps for consumers</a:t>
            </a:r>
            <a:r>
              <a:rPr lang="en-US" sz="1800" dirty="0"/>
              <a:t>. So, there is a need for a </a:t>
            </a:r>
            <a:r>
              <a:rPr lang="en-US" sz="1800" i="1" u="sng" dirty="0"/>
              <a:t>single</a:t>
            </a:r>
            <a:r>
              <a:rPr lang="en-US" sz="1800" dirty="0"/>
              <a:t> framework that works everywhere. So, considering this, Microsoft created .NET Core. The main objective of .NET Core is to make </a:t>
            </a:r>
            <a:r>
              <a:rPr lang="en-US" sz="1800" b="1" dirty="0"/>
              <a:t>.NET Framework open-source, cross-platform compatible that can be used in a wide variety of verticals, from the data center to touch-based devices.</a:t>
            </a:r>
            <a:endParaRPr lang="en-IN" sz="1800" b="1" dirty="0"/>
          </a:p>
        </p:txBody>
      </p:sp>
    </p:spTree>
    <p:extLst>
      <p:ext uri="{BB962C8B-B14F-4D97-AF65-F5344CB8AC3E}">
        <p14:creationId xmlns:p14="http://schemas.microsoft.com/office/powerpoint/2010/main" val="1844289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6702C2-4633-4265-998E-4EA43FB5EC19}"/>
              </a:ext>
            </a:extLst>
          </p:cNvPr>
          <p:cNvSpPr>
            <a:spLocks noGrp="1"/>
          </p:cNvSpPr>
          <p:nvPr>
            <p:ph idx="1"/>
          </p:nvPr>
        </p:nvSpPr>
        <p:spPr>
          <a:xfrm>
            <a:off x="1830867" y="152401"/>
            <a:ext cx="7903683" cy="1600200"/>
          </a:xfrm>
        </p:spPr>
        <p:txBody>
          <a:bodyPr>
            <a:normAutofit/>
          </a:bodyPr>
          <a:lstStyle/>
          <a:p>
            <a:pPr lvl="2"/>
            <a:r>
              <a:rPr lang="en-US" dirty="0">
                <a:solidFill>
                  <a:prstClr val="black"/>
                </a:solidFill>
                <a:latin typeface="Garamond" panose="02020404030301010803"/>
              </a:rPr>
              <a:t>NET Framework. For example, it only runs on the Windows platform. Also, you need to use different .NET APIs for different Windows devices such as Windows Desktop, Windows Store, Windows Phone, and Web applications. In addition to this, the .NET Framework is a machine-wide framework.</a:t>
            </a:r>
          </a:p>
          <a:p>
            <a:endParaRPr lang="en-US" dirty="0">
              <a:solidFill>
                <a:prstClr val="black"/>
              </a:solidFill>
              <a:latin typeface="Garamond" panose="02020404030301010803"/>
            </a:endParaRPr>
          </a:p>
          <a:p>
            <a:r>
              <a:rPr lang="en-US" sz="2100" dirty="0">
                <a:solidFill>
                  <a:prstClr val="black"/>
                </a:solidFill>
                <a:latin typeface="Garamond" panose="02020404030301010803"/>
              </a:rPr>
              <a:t>Windows Desktop,                  Windows Store,      Windows Phone, and</a:t>
            </a:r>
            <a:endParaRPr lang="en-IN" dirty="0"/>
          </a:p>
        </p:txBody>
      </p:sp>
      <p:pic>
        <p:nvPicPr>
          <p:cNvPr id="1026" name="Picture 2" descr="Windows 10 tips and tricks How to set a desktop wallpaper background  slideshow - YouTube">
            <a:extLst>
              <a:ext uri="{FF2B5EF4-FFF2-40B4-BE49-F238E27FC236}">
                <a16:creationId xmlns:a16="http://schemas.microsoft.com/office/drawing/2014/main" id="{F3D82FE2-BB57-46A4-9E71-E448FF1865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0867" y="1909456"/>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indows Store App Gets a Major Update | IT Pro">
            <a:extLst>
              <a:ext uri="{FF2B5EF4-FFF2-40B4-BE49-F238E27FC236}">
                <a16:creationId xmlns:a16="http://schemas.microsoft.com/office/drawing/2014/main" id="{0AA9FFC1-7DB8-4C45-9E17-9A9ACC8FC8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820" y="1909456"/>
            <a:ext cx="2971800" cy="15430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indows-phone-the-final-review">
            <a:extLst>
              <a:ext uri="{FF2B5EF4-FFF2-40B4-BE49-F238E27FC236}">
                <a16:creationId xmlns:a16="http://schemas.microsoft.com/office/drawing/2014/main" id="{256BFDFC-DB94-454E-9DD4-2B7CC934F13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072" t="4704" r="13204" b="4025"/>
          <a:stretch/>
        </p:blipFill>
        <p:spPr bwMode="auto">
          <a:xfrm rot="2609007">
            <a:off x="8202663" y="1830664"/>
            <a:ext cx="2373839" cy="219716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Web Application Development – The Definitive Guide for 2020">
            <a:extLst>
              <a:ext uri="{FF2B5EF4-FFF2-40B4-BE49-F238E27FC236}">
                <a16:creationId xmlns:a16="http://schemas.microsoft.com/office/drawing/2014/main" id="{8DC91336-DA6A-407B-AD1B-6F22B1B46FE1}"/>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5444" t="6666" r="4366" b="11111"/>
          <a:stretch/>
        </p:blipFill>
        <p:spPr bwMode="auto">
          <a:xfrm>
            <a:off x="4688368" y="3886199"/>
            <a:ext cx="4011061" cy="28194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65037E0-D760-428D-86E8-5E906670A152}"/>
              </a:ext>
            </a:extLst>
          </p:cNvPr>
          <p:cNvSpPr txBox="1"/>
          <p:nvPr/>
        </p:nvSpPr>
        <p:spPr>
          <a:xfrm>
            <a:off x="2209800" y="4335372"/>
            <a:ext cx="4783392" cy="415498"/>
          </a:xfrm>
          <a:prstGeom prst="rect">
            <a:avLst/>
          </a:prstGeom>
          <a:noFill/>
        </p:spPr>
        <p:txBody>
          <a:bodyPr wrap="square">
            <a:spAutoFit/>
          </a:bodyPr>
          <a:lstStyle/>
          <a:p>
            <a:r>
              <a:rPr lang="en-US" sz="2100" dirty="0">
                <a:solidFill>
                  <a:prstClr val="black"/>
                </a:solidFill>
                <a:latin typeface="Garamond" panose="02020404030301010803"/>
              </a:rPr>
              <a:t>Web applications</a:t>
            </a:r>
            <a:endParaRPr lang="en-IN" dirty="0">
              <a:solidFill>
                <a:prstClr val="black"/>
              </a:solidFill>
              <a:latin typeface="Garamond" panose="02020404030301010803"/>
            </a:endParaRPr>
          </a:p>
        </p:txBody>
      </p:sp>
    </p:spTree>
    <p:extLst>
      <p:ext uri="{BB962C8B-B14F-4D97-AF65-F5344CB8AC3E}">
        <p14:creationId xmlns:p14="http://schemas.microsoft.com/office/powerpoint/2010/main" val="692405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DEA7D-4932-4A69-BD8A-F807E46FAB72}"/>
              </a:ext>
            </a:extLst>
          </p:cNvPr>
          <p:cNvSpPr>
            <a:spLocks noGrp="1"/>
          </p:cNvSpPr>
          <p:nvPr>
            <p:ph type="title"/>
          </p:nvPr>
        </p:nvSpPr>
        <p:spPr>
          <a:xfrm>
            <a:off x="3079956" y="-152400"/>
            <a:ext cx="7588045" cy="683495"/>
          </a:xfrm>
        </p:spPr>
        <p:txBody>
          <a:bodyPr/>
          <a:lstStyle/>
          <a:p>
            <a:r>
              <a:rPr lang="en-IN" dirty="0"/>
              <a:t>NET Core Characteristics</a:t>
            </a:r>
          </a:p>
        </p:txBody>
      </p:sp>
      <p:sp>
        <p:nvSpPr>
          <p:cNvPr id="3" name="Content Placeholder 2">
            <a:extLst>
              <a:ext uri="{FF2B5EF4-FFF2-40B4-BE49-F238E27FC236}">
                <a16:creationId xmlns:a16="http://schemas.microsoft.com/office/drawing/2014/main" id="{D2DF847C-CDBB-4B31-81CF-CDDA1FF31748}"/>
              </a:ext>
            </a:extLst>
          </p:cNvPr>
          <p:cNvSpPr>
            <a:spLocks noGrp="1"/>
          </p:cNvSpPr>
          <p:nvPr>
            <p:ph idx="1"/>
          </p:nvPr>
        </p:nvSpPr>
        <p:spPr>
          <a:xfrm>
            <a:off x="678730" y="377072"/>
            <a:ext cx="11236750" cy="6328528"/>
          </a:xfrm>
        </p:spPr>
        <p:txBody>
          <a:bodyPr>
            <a:noAutofit/>
          </a:bodyPr>
          <a:lstStyle/>
          <a:p>
            <a:r>
              <a:rPr lang="en-US" b="1" dirty="0"/>
              <a:t>Open-source Framework:</a:t>
            </a:r>
            <a:r>
              <a:rPr lang="en-US" dirty="0"/>
              <a:t> .NET Core is an </a:t>
            </a:r>
            <a:r>
              <a:rPr lang="en-US" dirty="0">
                <a:hlinkClick r:id="rId2"/>
              </a:rPr>
              <a:t>open-source framework</a:t>
            </a:r>
            <a:r>
              <a:rPr lang="en-US" dirty="0"/>
              <a:t> maintained by Microsoft and available </a:t>
            </a:r>
            <a:r>
              <a:rPr lang="en-US" dirty="0">
                <a:highlight>
                  <a:srgbClr val="FFFF00"/>
                </a:highlight>
              </a:rPr>
              <a:t>on GitHub under </a:t>
            </a:r>
            <a:r>
              <a:rPr lang="en-US" dirty="0">
                <a:highlight>
                  <a:srgbClr val="FFFF00"/>
                </a:highlight>
                <a:hlinkClick r:id="rId3"/>
              </a:rPr>
              <a:t>MIT</a:t>
            </a:r>
            <a:r>
              <a:rPr lang="en-US" dirty="0">
                <a:highlight>
                  <a:srgbClr val="FFFF00"/>
                </a:highlight>
              </a:rPr>
              <a:t> and </a:t>
            </a:r>
            <a:r>
              <a:rPr lang="en-US" dirty="0">
                <a:highlight>
                  <a:srgbClr val="FFFF00"/>
                </a:highlight>
                <a:hlinkClick r:id="rId4"/>
              </a:rPr>
              <a:t>Apache 2</a:t>
            </a:r>
            <a:r>
              <a:rPr lang="en-US" dirty="0">
                <a:highlight>
                  <a:srgbClr val="FFFF00"/>
                </a:highlight>
              </a:rPr>
              <a:t> licenses</a:t>
            </a:r>
            <a:r>
              <a:rPr lang="en-US" dirty="0"/>
              <a:t>. It is a </a:t>
            </a:r>
            <a:r>
              <a:rPr lang="en-US" dirty="0">
                <a:hlinkClick r:id="rId5"/>
              </a:rPr>
              <a:t>.NET Foundation project</a:t>
            </a:r>
            <a:r>
              <a:rPr lang="en-US" dirty="0"/>
              <a:t>.</a:t>
            </a:r>
          </a:p>
          <a:p>
            <a:r>
              <a:rPr lang="en-US" dirty="0"/>
              <a:t>You can view, download, or contribute to the source code using the following GitHub repositories:</a:t>
            </a:r>
          </a:p>
          <a:p>
            <a:r>
              <a:rPr lang="en-US" dirty="0"/>
              <a:t>Language compiler platform Roslyn: </a:t>
            </a:r>
            <a:r>
              <a:rPr lang="en-US" dirty="0">
                <a:hlinkClick r:id="rId6"/>
              </a:rPr>
              <a:t>https://github.com/dotnet/roslyn</a:t>
            </a:r>
            <a:endParaRPr lang="en-US" dirty="0"/>
          </a:p>
          <a:p>
            <a:r>
              <a:rPr lang="en-US" dirty="0"/>
              <a:t>.NET Core runtime: </a:t>
            </a:r>
            <a:r>
              <a:rPr lang="en-US" dirty="0">
                <a:hlinkClick r:id="rId7"/>
              </a:rPr>
              <a:t>https://github.com/dotnet/runtime</a:t>
            </a:r>
            <a:endParaRPr lang="en-US" dirty="0"/>
          </a:p>
          <a:p>
            <a:r>
              <a:rPr lang="en-US" dirty="0"/>
              <a:t>.NET Core SDK repository. </a:t>
            </a:r>
            <a:r>
              <a:rPr lang="en-US" dirty="0">
                <a:hlinkClick r:id="rId8"/>
              </a:rPr>
              <a:t>https://github.com/dotnet/sdk</a:t>
            </a:r>
            <a:endParaRPr lang="en-US" dirty="0"/>
          </a:p>
          <a:p>
            <a:r>
              <a:rPr lang="en-US" dirty="0"/>
              <a:t>ASP.NET Core repository. </a:t>
            </a:r>
            <a:r>
              <a:rPr lang="en-US" dirty="0">
                <a:hlinkClick r:id="rId9"/>
              </a:rPr>
              <a:t>https://github.com/dotnet/aspnetcore</a:t>
            </a:r>
            <a:endParaRPr lang="en-US" dirty="0"/>
          </a:p>
          <a:p>
            <a:r>
              <a:rPr lang="en-US" b="1" dirty="0"/>
              <a:t>Cross-platform:</a:t>
            </a:r>
            <a:r>
              <a:rPr lang="en-US" dirty="0"/>
              <a:t> .NET Core runs on Windows, macOS, and Linux operating systems. There are different runtime for each operating system that executes the code and generates the same output.</a:t>
            </a:r>
          </a:p>
          <a:p>
            <a:r>
              <a:rPr lang="en-US" b="1" dirty="0"/>
              <a:t>Consistent across Architectures:</a:t>
            </a:r>
            <a:r>
              <a:rPr lang="en-US" dirty="0"/>
              <a:t> Execute the code with the same behavior in different instruction set architectures, including x64, x86, and ARM.</a:t>
            </a:r>
          </a:p>
          <a:p>
            <a:r>
              <a:rPr lang="en-US" b="1" dirty="0"/>
              <a:t>Wide-range of Applications:</a:t>
            </a:r>
            <a:r>
              <a:rPr lang="en-US" dirty="0"/>
              <a:t> Various types of applications can be developed and run on .NET Core platform such as mobile, desktop, web, cloud, IoT, machine learning, microservices, game, etc.</a:t>
            </a:r>
          </a:p>
          <a:p>
            <a:r>
              <a:rPr lang="en-US" b="1" dirty="0"/>
              <a:t>Supports Multiple Languages:</a:t>
            </a:r>
            <a:r>
              <a:rPr lang="en-US" dirty="0"/>
              <a:t> You can use C#, F#, and Visual Basic programming languages to develop .NET Core applications. You can use your favorite IDE, including Visual Studio 2017/2019, Visual Studio Code, Sublime Text, Vim, etc.</a:t>
            </a:r>
          </a:p>
          <a:p>
            <a:r>
              <a:rPr lang="en-US" b="1" dirty="0"/>
              <a:t>Modular Architecture:</a:t>
            </a:r>
            <a:r>
              <a:rPr lang="en-US" dirty="0"/>
              <a:t> .NET Core supports modular architecture approach using NuGet packages. There are different NuGet packages for various features that can be added to the .NET Core project as needed. Even the .NET Core library is provided as a NuGet package. The NuGet package for the default .NET Core application model is </a:t>
            </a:r>
            <a:r>
              <a:rPr lang="en-US" dirty="0" err="1">
                <a:hlinkClick r:id="rId10"/>
              </a:rPr>
              <a:t>Microsoft.NETCore.App</a:t>
            </a:r>
            <a:r>
              <a:rPr lang="en-US" dirty="0"/>
              <a:t>.</a:t>
            </a:r>
          </a:p>
          <a:p>
            <a:r>
              <a:rPr lang="en-US" dirty="0"/>
              <a:t>This way, it reduces the memory footprint, speeds up the performance, and easy to maintain.</a:t>
            </a:r>
          </a:p>
          <a:p>
            <a:r>
              <a:rPr lang="en-US" b="1" dirty="0"/>
              <a:t>CLI Tools:</a:t>
            </a:r>
            <a:r>
              <a:rPr lang="en-US" dirty="0"/>
              <a:t> .NET Core includes </a:t>
            </a:r>
            <a:r>
              <a:rPr lang="en-US" dirty="0">
                <a:hlinkClick r:id="rId11"/>
              </a:rPr>
              <a:t>CLI tools</a:t>
            </a:r>
            <a:r>
              <a:rPr lang="en-US" dirty="0"/>
              <a:t> (Command-line interface) for development and continuous-integration.</a:t>
            </a:r>
          </a:p>
          <a:p>
            <a:r>
              <a:rPr lang="en-US" b="1" dirty="0"/>
              <a:t>Flexible Deployment:</a:t>
            </a:r>
            <a:r>
              <a:rPr lang="en-US" dirty="0"/>
              <a:t> .NET Core application can be deployed user-wide or system-wide or with </a:t>
            </a:r>
            <a:r>
              <a:rPr lang="en-US" dirty="0">
                <a:hlinkClick r:id="rId12"/>
              </a:rPr>
              <a:t>Docker Containers</a:t>
            </a:r>
            <a:r>
              <a:rPr lang="en-US" dirty="0"/>
              <a:t>.</a:t>
            </a:r>
          </a:p>
          <a:p>
            <a:r>
              <a:rPr lang="en-US" b="1" dirty="0"/>
              <a:t>Compatibility:</a:t>
            </a:r>
            <a:r>
              <a:rPr lang="en-US" dirty="0"/>
              <a:t> Compatible with .NET Framework and Mono APIs by using </a:t>
            </a:r>
            <a:r>
              <a:rPr lang="en-US" dirty="0">
                <a:hlinkClick r:id="rId13"/>
              </a:rPr>
              <a:t>.NET Standard specification</a:t>
            </a:r>
            <a:r>
              <a:rPr lang="en-US" dirty="0"/>
              <a:t>.</a:t>
            </a:r>
          </a:p>
          <a:p>
            <a:br>
              <a:rPr lang="en-US" dirty="0"/>
            </a:br>
            <a:endParaRPr lang="en-IN" dirty="0"/>
          </a:p>
        </p:txBody>
      </p:sp>
    </p:spTree>
    <p:extLst>
      <p:ext uri="{BB962C8B-B14F-4D97-AF65-F5344CB8AC3E}">
        <p14:creationId xmlns:p14="http://schemas.microsoft.com/office/powerpoint/2010/main" val="4225923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4C48357-3B3D-4336-9165-1D409A118FF6}"/>
              </a:ext>
            </a:extLst>
          </p:cNvPr>
          <p:cNvGraphicFramePr>
            <a:graphicFrameLocks noGrp="1"/>
          </p:cNvGraphicFramePr>
          <p:nvPr>
            <p:ph idx="1"/>
          </p:nvPr>
        </p:nvGraphicFramePr>
        <p:xfrm>
          <a:off x="2133600" y="990600"/>
          <a:ext cx="6327650" cy="2103120"/>
        </p:xfrm>
        <a:graphic>
          <a:graphicData uri="http://schemas.openxmlformats.org/drawingml/2006/table">
            <a:tbl>
              <a:tblPr/>
              <a:tblGrid>
                <a:gridCol w="1265530">
                  <a:extLst>
                    <a:ext uri="{9D8B030D-6E8A-4147-A177-3AD203B41FA5}">
                      <a16:colId xmlns:a16="http://schemas.microsoft.com/office/drawing/2014/main" val="3873094832"/>
                    </a:ext>
                  </a:extLst>
                </a:gridCol>
                <a:gridCol w="1265530">
                  <a:extLst>
                    <a:ext uri="{9D8B030D-6E8A-4147-A177-3AD203B41FA5}">
                      <a16:colId xmlns:a16="http://schemas.microsoft.com/office/drawing/2014/main" val="4041917331"/>
                    </a:ext>
                  </a:extLst>
                </a:gridCol>
                <a:gridCol w="1265530">
                  <a:extLst>
                    <a:ext uri="{9D8B030D-6E8A-4147-A177-3AD203B41FA5}">
                      <a16:colId xmlns:a16="http://schemas.microsoft.com/office/drawing/2014/main" val="300993394"/>
                    </a:ext>
                  </a:extLst>
                </a:gridCol>
                <a:gridCol w="1265530">
                  <a:extLst>
                    <a:ext uri="{9D8B030D-6E8A-4147-A177-3AD203B41FA5}">
                      <a16:colId xmlns:a16="http://schemas.microsoft.com/office/drawing/2014/main" val="1860155116"/>
                    </a:ext>
                  </a:extLst>
                </a:gridCol>
                <a:gridCol w="1265530">
                  <a:extLst>
                    <a:ext uri="{9D8B030D-6E8A-4147-A177-3AD203B41FA5}">
                      <a16:colId xmlns:a16="http://schemas.microsoft.com/office/drawing/2014/main" val="3461568745"/>
                    </a:ext>
                  </a:extLst>
                </a:gridCol>
              </a:tblGrid>
              <a:tr h="0">
                <a:tc>
                  <a:txBody>
                    <a:bodyPr/>
                    <a:lstStyle/>
                    <a:p>
                      <a:pPr algn="l" fontAlgn="b"/>
                      <a:r>
                        <a:rPr lang="en-IN" b="0">
                          <a:solidFill>
                            <a:srgbClr val="FFFFFF"/>
                          </a:solidFill>
                          <a:effectLst/>
                        </a:rPr>
                        <a:t>Version</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a:solidFill>
                            <a:srgbClr val="FFFFFF"/>
                          </a:solidFill>
                          <a:effectLst/>
                        </a:rPr>
                        <a:t>Latest Version</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a:solidFill>
                            <a:srgbClr val="FFFFFF"/>
                          </a:solidFill>
                          <a:effectLst/>
                        </a:rPr>
                        <a:t>Visual Studio</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a:solidFill>
                            <a:srgbClr val="FFFFFF"/>
                          </a:solidFill>
                          <a:effectLst/>
                        </a:rPr>
                        <a:t>Release Date</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tc>
                  <a:txBody>
                    <a:bodyPr/>
                    <a:lstStyle/>
                    <a:p>
                      <a:pPr algn="l" fontAlgn="b"/>
                      <a:r>
                        <a:rPr lang="en-IN" b="0">
                          <a:solidFill>
                            <a:srgbClr val="FFFFFF"/>
                          </a:solidFill>
                          <a:effectLst/>
                        </a:rPr>
                        <a:t>End of Support</a:t>
                      </a:r>
                    </a:p>
                  </a:txBody>
                  <a:tcPr anchor="b">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63A9E0"/>
                    </a:solidFill>
                  </a:tcPr>
                </a:tc>
                <a:extLst>
                  <a:ext uri="{0D108BD9-81ED-4DB2-BD59-A6C34878D82A}">
                    <a16:rowId xmlns:a16="http://schemas.microsoft.com/office/drawing/2014/main" val="111676"/>
                  </a:ext>
                </a:extLst>
              </a:tr>
              <a:tr h="0">
                <a:tc>
                  <a:txBody>
                    <a:bodyPr/>
                    <a:lstStyle/>
                    <a:p>
                      <a:pPr fontAlgn="t"/>
                      <a:r>
                        <a:rPr lang="en-IN" dirty="0">
                          <a:solidFill>
                            <a:srgbClr val="414141"/>
                          </a:solidFill>
                          <a:effectLst/>
                        </a:rPr>
                        <a:t>.NET 5</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Preview 1</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VS 2019</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16th March, 2020</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endParaRPr lang="en-IN" dirty="0">
                        <a:solidFill>
                          <a:srgbClr val="414141"/>
                        </a:solidFill>
                        <a:effectLst/>
                      </a:endParaRP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532134957"/>
                  </a:ext>
                </a:extLst>
              </a:tr>
              <a:tr h="0">
                <a:tc>
                  <a:txBody>
                    <a:bodyPr/>
                    <a:lstStyle/>
                    <a:p>
                      <a:pPr fontAlgn="t"/>
                      <a:r>
                        <a:rPr lang="en-IN">
                          <a:solidFill>
                            <a:srgbClr val="414141"/>
                          </a:solidFill>
                          <a:effectLst/>
                        </a:rPr>
                        <a:t>.NET Core 3.x - latest</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3.1.3</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VS 209</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24th March, 2020</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12th March, 2022</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818432073"/>
                  </a:ext>
                </a:extLst>
              </a:tr>
              <a:tr h="0">
                <a:tc>
                  <a:txBody>
                    <a:bodyPr/>
                    <a:lstStyle/>
                    <a:p>
                      <a:pPr fontAlgn="t"/>
                      <a:r>
                        <a:rPr lang="en-IN">
                          <a:solidFill>
                            <a:srgbClr val="414141"/>
                          </a:solidFill>
                          <a:effectLst/>
                        </a:rPr>
                        <a:t>.NET Core 2.x</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2.1.17</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VS 2017, 2019</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24th March, 2020</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tc>
                  <a:txBody>
                    <a:bodyPr/>
                    <a:lstStyle/>
                    <a:p>
                      <a:pPr fontAlgn="t"/>
                      <a:r>
                        <a:rPr lang="en-IN">
                          <a:solidFill>
                            <a:srgbClr val="414141"/>
                          </a:solidFill>
                          <a:effectLst/>
                        </a:rPr>
                        <a:t>21st August, 2021</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430077054"/>
                  </a:ext>
                </a:extLst>
              </a:tr>
              <a:tr h="0">
                <a:tc>
                  <a:txBody>
                    <a:bodyPr/>
                    <a:lstStyle/>
                    <a:p>
                      <a:pPr fontAlgn="t"/>
                      <a:r>
                        <a:rPr lang="en-IN">
                          <a:solidFill>
                            <a:srgbClr val="414141"/>
                          </a:solidFill>
                          <a:effectLst/>
                        </a:rPr>
                        <a:t>.NET Core 1.x</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1.1.13</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VS 2017</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a:solidFill>
                            <a:srgbClr val="414141"/>
                          </a:solidFill>
                          <a:effectLst/>
                        </a:rPr>
                        <a:t>14th May, 2019</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tc>
                  <a:txBody>
                    <a:bodyPr/>
                    <a:lstStyle/>
                    <a:p>
                      <a:pPr fontAlgn="t"/>
                      <a:r>
                        <a:rPr lang="en-IN" dirty="0">
                          <a:solidFill>
                            <a:srgbClr val="414141"/>
                          </a:solidFill>
                          <a:effectLst/>
                        </a:rPr>
                        <a:t>27th May, 2019</a:t>
                      </a:r>
                    </a:p>
                  </a:txBody>
                  <a:tcPr>
                    <a:lnL w="7620" cap="flat" cmpd="sng" algn="ctr">
                      <a:solidFill>
                        <a:srgbClr val="DFDFDF"/>
                      </a:solidFill>
                      <a:prstDash val="solid"/>
                      <a:round/>
                      <a:headEnd type="none" w="med" len="med"/>
                      <a:tailEnd type="none" w="med" len="med"/>
                    </a:lnL>
                    <a:lnR w="7620" cap="flat" cmpd="sng" algn="ctr">
                      <a:solidFill>
                        <a:srgbClr val="DFDFDF"/>
                      </a:solidFill>
                      <a:prstDash val="solid"/>
                      <a:round/>
                      <a:headEnd type="none" w="med" len="med"/>
                      <a:tailEnd type="none" w="med" len="med"/>
                    </a:lnR>
                    <a:lnT w="7620" cap="flat" cmpd="sng" algn="ctr">
                      <a:solidFill>
                        <a:srgbClr val="DFDFDF"/>
                      </a:solidFill>
                      <a:prstDash val="solid"/>
                      <a:round/>
                      <a:headEnd type="none" w="med" len="med"/>
                      <a:tailEnd type="none" w="med" len="med"/>
                    </a:lnT>
                    <a:lnB w="7620"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680316209"/>
                  </a:ext>
                </a:extLst>
              </a:tr>
            </a:tbl>
          </a:graphicData>
        </a:graphic>
      </p:graphicFrame>
      <p:sp>
        <p:nvSpPr>
          <p:cNvPr id="9" name="TextBox 8">
            <a:extLst>
              <a:ext uri="{FF2B5EF4-FFF2-40B4-BE49-F238E27FC236}">
                <a16:creationId xmlns:a16="http://schemas.microsoft.com/office/drawing/2014/main" id="{8ADBFDA8-E9F9-4544-949D-B207245F3A54}"/>
              </a:ext>
            </a:extLst>
          </p:cNvPr>
          <p:cNvSpPr txBox="1"/>
          <p:nvPr/>
        </p:nvSpPr>
        <p:spPr>
          <a:xfrm>
            <a:off x="1752600" y="3559076"/>
            <a:ext cx="8153400" cy="1477328"/>
          </a:xfrm>
          <a:prstGeom prst="rect">
            <a:avLst/>
          </a:prstGeom>
          <a:noFill/>
        </p:spPr>
        <p:txBody>
          <a:bodyPr wrap="square">
            <a:spAutoFit/>
          </a:bodyPr>
          <a:lstStyle/>
          <a:p>
            <a:r>
              <a:rPr lang="en-US" dirty="0">
                <a:solidFill>
                  <a:prstClr val="black"/>
                </a:solidFill>
                <a:latin typeface="Garamond" panose="02020404030301010803"/>
              </a:rPr>
              <a:t>Both, .NET 3.1, and .NET Core 2.1 will have long term support.</a:t>
            </a:r>
          </a:p>
          <a:p>
            <a:endParaRPr lang="en-US" dirty="0">
              <a:solidFill>
                <a:prstClr val="black"/>
              </a:solidFill>
              <a:latin typeface="Garamond" panose="02020404030301010803"/>
            </a:endParaRPr>
          </a:p>
          <a:p>
            <a:r>
              <a:rPr lang="en-US" dirty="0">
                <a:solidFill>
                  <a:prstClr val="black"/>
                </a:solidFill>
                <a:latin typeface="Garamond" panose="02020404030301010803"/>
              </a:rPr>
              <a:t>.NET Core 3.x applications only run on .NET Core Framework.</a:t>
            </a:r>
          </a:p>
          <a:p>
            <a:endParaRPr lang="en-US" dirty="0">
              <a:solidFill>
                <a:prstClr val="black"/>
              </a:solidFill>
              <a:latin typeface="Garamond" panose="02020404030301010803"/>
            </a:endParaRPr>
          </a:p>
          <a:p>
            <a:r>
              <a:rPr lang="en-US" dirty="0">
                <a:solidFill>
                  <a:prstClr val="black"/>
                </a:solidFill>
                <a:latin typeface="Garamond" panose="02020404030301010803"/>
              </a:rPr>
              <a:t>.NET Core 2.x applications run on .NET Core as well as .NET Framework.</a:t>
            </a:r>
            <a:endParaRPr lang="en-IN" dirty="0">
              <a:solidFill>
                <a:prstClr val="black"/>
              </a:solidFill>
              <a:latin typeface="Garamond" panose="02020404030301010803"/>
            </a:endParaRPr>
          </a:p>
        </p:txBody>
      </p:sp>
    </p:spTree>
    <p:extLst>
      <p:ext uri="{BB962C8B-B14F-4D97-AF65-F5344CB8AC3E}">
        <p14:creationId xmlns:p14="http://schemas.microsoft.com/office/powerpoint/2010/main" val="3572754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355544F-704C-4215-971D-5AE009DF6D58}"/>
              </a:ext>
            </a:extLst>
          </p:cNvPr>
          <p:cNvSpPr>
            <a:spLocks noChangeArrowheads="1"/>
          </p:cNvSpPr>
          <p:nvPr/>
        </p:nvSpPr>
        <p:spPr bwMode="auto">
          <a:xfrm>
            <a:off x="735291" y="297330"/>
            <a:ext cx="10633435" cy="26930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dirty="0">
                <a:solidFill>
                  <a:srgbClr val="181717"/>
                </a:solidFill>
                <a:latin typeface="Segoe UI" panose="020B0502040204020203" pitchFamily="34" charset="0"/>
                <a:cs typeface="Segoe UI" panose="020B0502040204020203" pitchFamily="34" charset="0"/>
              </a:rPr>
              <a:t>NET Core Composition</a:t>
            </a:r>
          </a:p>
          <a:p>
            <a:r>
              <a:rPr lang="en-US" altLang="en-US" sz="1600" dirty="0">
                <a:solidFill>
                  <a:srgbClr val="181717"/>
                </a:solidFill>
                <a:latin typeface="Verdana" panose="020B0604030504040204" pitchFamily="34" charset="0"/>
              </a:rPr>
              <a:t>The .NET Core Framework composed of the following parts:</a:t>
            </a:r>
          </a:p>
          <a:p>
            <a:endParaRPr lang="en-US" altLang="en-US" sz="1600" dirty="0">
              <a:solidFill>
                <a:srgbClr val="181717"/>
              </a:solidFill>
              <a:latin typeface="Verdana" panose="020B0604030504040204" pitchFamily="34" charset="0"/>
            </a:endParaRPr>
          </a:p>
          <a:p>
            <a:r>
              <a:rPr lang="en-US" altLang="en-US" sz="2400" dirty="0">
                <a:solidFill>
                  <a:prstClr val="black"/>
                </a:solidFill>
              </a:rPr>
              <a:t>.NET Core</a:t>
            </a:r>
          </a:p>
          <a:p>
            <a:pPr>
              <a:buFontTx/>
              <a:buChar char="•"/>
            </a:pPr>
            <a:r>
              <a:rPr lang="en-US" altLang="en-US" sz="1600" dirty="0">
                <a:solidFill>
                  <a:srgbClr val="181717"/>
                </a:solidFill>
                <a:latin typeface="Verdana" panose="020B0604030504040204" pitchFamily="34" charset="0"/>
              </a:rPr>
              <a:t>CLI Tools: A set of tooling for development and deployment.</a:t>
            </a:r>
          </a:p>
          <a:p>
            <a:pPr>
              <a:buFontTx/>
              <a:buChar char="•"/>
            </a:pPr>
            <a:r>
              <a:rPr lang="en-US" altLang="en-US" sz="1600" dirty="0">
                <a:solidFill>
                  <a:srgbClr val="181717"/>
                </a:solidFill>
                <a:latin typeface="Verdana" panose="020B0604030504040204" pitchFamily="34" charset="0"/>
              </a:rPr>
              <a:t>Roslyn: Language compiler for C# and Visual Basic</a:t>
            </a:r>
          </a:p>
          <a:p>
            <a:pPr>
              <a:buFontTx/>
              <a:buChar char="•"/>
            </a:pPr>
            <a:r>
              <a:rPr lang="en-US" altLang="en-US" sz="1600" dirty="0" err="1">
                <a:solidFill>
                  <a:srgbClr val="181717"/>
                </a:solidFill>
                <a:latin typeface="Verdana" panose="020B0604030504040204" pitchFamily="34" charset="0"/>
              </a:rPr>
              <a:t>CoreFX</a:t>
            </a:r>
            <a:r>
              <a:rPr lang="en-US" altLang="en-US" sz="1600" dirty="0">
                <a:solidFill>
                  <a:srgbClr val="181717"/>
                </a:solidFill>
                <a:latin typeface="Verdana" panose="020B0604030504040204" pitchFamily="34" charset="0"/>
              </a:rPr>
              <a:t>: Set of framework libraries.</a:t>
            </a:r>
          </a:p>
          <a:p>
            <a:pPr>
              <a:buFontTx/>
              <a:buChar char="•"/>
            </a:pPr>
            <a:r>
              <a:rPr lang="en-US" altLang="en-US" sz="1600" dirty="0" err="1">
                <a:solidFill>
                  <a:srgbClr val="181717"/>
                </a:solidFill>
                <a:latin typeface="Verdana" panose="020B0604030504040204" pitchFamily="34" charset="0"/>
              </a:rPr>
              <a:t>CoreCLR</a:t>
            </a:r>
            <a:r>
              <a:rPr lang="en-US" altLang="en-US" sz="1600" dirty="0">
                <a:solidFill>
                  <a:srgbClr val="181717"/>
                </a:solidFill>
                <a:latin typeface="Verdana" panose="020B0604030504040204" pitchFamily="34" charset="0"/>
              </a:rPr>
              <a:t>: A JIT based CLR (Command Language Runtime).</a:t>
            </a:r>
          </a:p>
          <a:p>
            <a:endParaRPr lang="en-US" altLang="en-US" sz="2400" dirty="0">
              <a:solidFill>
                <a:prstClr val="black"/>
              </a:solidFill>
            </a:endParaRPr>
          </a:p>
        </p:txBody>
      </p:sp>
      <p:grpSp>
        <p:nvGrpSpPr>
          <p:cNvPr id="6" name="Group 5">
            <a:extLst>
              <a:ext uri="{FF2B5EF4-FFF2-40B4-BE49-F238E27FC236}">
                <a16:creationId xmlns:a16="http://schemas.microsoft.com/office/drawing/2014/main" id="{771621AF-0759-4A17-8C9B-FA70215B4B69}"/>
              </a:ext>
            </a:extLst>
          </p:cNvPr>
          <p:cNvGrpSpPr/>
          <p:nvPr/>
        </p:nvGrpSpPr>
        <p:grpSpPr>
          <a:xfrm>
            <a:off x="7620000" y="3048000"/>
            <a:ext cx="2514600" cy="1981200"/>
            <a:chOff x="4686300" y="3048000"/>
            <a:chExt cx="2514600" cy="1981200"/>
          </a:xfrm>
        </p:grpSpPr>
        <p:sp>
          <p:nvSpPr>
            <p:cNvPr id="2" name="Rectangle 1">
              <a:extLst>
                <a:ext uri="{FF2B5EF4-FFF2-40B4-BE49-F238E27FC236}">
                  <a16:creationId xmlns:a16="http://schemas.microsoft.com/office/drawing/2014/main" id="{FBCF900A-4BDF-4089-85C4-5F791088F306}"/>
                </a:ext>
              </a:extLst>
            </p:cNvPr>
            <p:cNvSpPr/>
            <p:nvPr/>
          </p:nvSpPr>
          <p:spPr>
            <a:xfrm>
              <a:off x="4686300" y="3048000"/>
              <a:ext cx="25146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dirty="0">
                  <a:solidFill>
                    <a:prstClr val="white"/>
                  </a:solidFill>
                  <a:latin typeface="Garamond" panose="02020404030301010803"/>
                </a:rPr>
                <a:t>.</a:t>
              </a:r>
              <a:r>
                <a:rPr lang="en-IN" dirty="0" err="1">
                  <a:solidFill>
                    <a:prstClr val="white"/>
                  </a:solidFill>
                  <a:latin typeface="Garamond" panose="02020404030301010803"/>
                </a:rPr>
                <a:t>netCore</a:t>
              </a:r>
              <a:endParaRPr lang="en-IN" dirty="0">
                <a:solidFill>
                  <a:prstClr val="white"/>
                </a:solidFill>
                <a:latin typeface="Garamond" panose="02020404030301010803"/>
              </a:endParaRPr>
            </a:p>
          </p:txBody>
        </p:sp>
        <p:sp>
          <p:nvSpPr>
            <p:cNvPr id="3" name="Rectangle 2">
              <a:extLst>
                <a:ext uri="{FF2B5EF4-FFF2-40B4-BE49-F238E27FC236}">
                  <a16:creationId xmlns:a16="http://schemas.microsoft.com/office/drawing/2014/main" id="{4389AE3A-607A-460E-A894-25B0C47DDFEA}"/>
                </a:ext>
              </a:extLst>
            </p:cNvPr>
            <p:cNvSpPr/>
            <p:nvPr/>
          </p:nvSpPr>
          <p:spPr>
            <a:xfrm>
              <a:off x="5334000" y="3429000"/>
              <a:ext cx="1600200" cy="3048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1200" dirty="0">
                  <a:solidFill>
                    <a:prstClr val="black"/>
                  </a:solidFill>
                  <a:latin typeface="Garamond" panose="02020404030301010803"/>
                </a:rPr>
                <a:t>CLI Tool</a:t>
              </a:r>
            </a:p>
          </p:txBody>
        </p:sp>
        <p:sp>
          <p:nvSpPr>
            <p:cNvPr id="7" name="Rectangle 6">
              <a:extLst>
                <a:ext uri="{FF2B5EF4-FFF2-40B4-BE49-F238E27FC236}">
                  <a16:creationId xmlns:a16="http://schemas.microsoft.com/office/drawing/2014/main" id="{157B5E46-4C44-486C-B150-078B8C8AB504}"/>
                </a:ext>
              </a:extLst>
            </p:cNvPr>
            <p:cNvSpPr/>
            <p:nvPr/>
          </p:nvSpPr>
          <p:spPr>
            <a:xfrm>
              <a:off x="5325291" y="3807325"/>
              <a:ext cx="1600200" cy="3048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1200" dirty="0">
                  <a:solidFill>
                    <a:prstClr val="black"/>
                  </a:solidFill>
                  <a:latin typeface="Garamond" panose="02020404030301010803"/>
                </a:rPr>
                <a:t>Roslyn</a:t>
              </a:r>
            </a:p>
          </p:txBody>
        </p:sp>
        <p:sp>
          <p:nvSpPr>
            <p:cNvPr id="8" name="Rectangle 7">
              <a:extLst>
                <a:ext uri="{FF2B5EF4-FFF2-40B4-BE49-F238E27FC236}">
                  <a16:creationId xmlns:a16="http://schemas.microsoft.com/office/drawing/2014/main" id="{74B73AFE-A146-498A-8A2E-1FC8959DEED8}"/>
                </a:ext>
              </a:extLst>
            </p:cNvPr>
            <p:cNvSpPr/>
            <p:nvPr/>
          </p:nvSpPr>
          <p:spPr>
            <a:xfrm>
              <a:off x="5334000" y="4191000"/>
              <a:ext cx="1600200" cy="3048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1200" dirty="0" err="1">
                  <a:solidFill>
                    <a:prstClr val="black"/>
                  </a:solidFill>
                  <a:latin typeface="Garamond" panose="02020404030301010803"/>
                </a:rPr>
                <a:t>CoreFX</a:t>
              </a:r>
              <a:endParaRPr lang="en-IN" sz="1200" dirty="0">
                <a:solidFill>
                  <a:prstClr val="black"/>
                </a:solidFill>
                <a:latin typeface="Garamond" panose="02020404030301010803"/>
              </a:endParaRPr>
            </a:p>
          </p:txBody>
        </p:sp>
        <p:sp>
          <p:nvSpPr>
            <p:cNvPr id="9" name="Rectangle 8">
              <a:extLst>
                <a:ext uri="{FF2B5EF4-FFF2-40B4-BE49-F238E27FC236}">
                  <a16:creationId xmlns:a16="http://schemas.microsoft.com/office/drawing/2014/main" id="{09F377F8-4742-41E7-BB33-AC0D5C643D88}"/>
                </a:ext>
              </a:extLst>
            </p:cNvPr>
            <p:cNvSpPr/>
            <p:nvPr/>
          </p:nvSpPr>
          <p:spPr>
            <a:xfrm>
              <a:off x="5342709" y="4558222"/>
              <a:ext cx="1600200" cy="3048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1200" dirty="0" err="1">
                  <a:solidFill>
                    <a:prstClr val="black"/>
                  </a:solidFill>
                  <a:latin typeface="Garamond" panose="02020404030301010803"/>
                </a:rPr>
                <a:t>CoreCLR</a:t>
              </a:r>
              <a:endParaRPr lang="en-IN" sz="1200" dirty="0">
                <a:solidFill>
                  <a:prstClr val="black"/>
                </a:solidFill>
                <a:latin typeface="Garamond" panose="02020404030301010803"/>
              </a:endParaRPr>
            </a:p>
          </p:txBody>
        </p:sp>
      </p:grpSp>
      <p:sp>
        <p:nvSpPr>
          <p:cNvPr id="10" name="TextBox 9">
            <a:extLst>
              <a:ext uri="{FF2B5EF4-FFF2-40B4-BE49-F238E27FC236}">
                <a16:creationId xmlns:a16="http://schemas.microsoft.com/office/drawing/2014/main" id="{22CCF4CF-A673-4E7C-BCC8-B3E4917D49B2}"/>
              </a:ext>
            </a:extLst>
          </p:cNvPr>
          <p:cNvSpPr txBox="1"/>
          <p:nvPr/>
        </p:nvSpPr>
        <p:spPr>
          <a:xfrm>
            <a:off x="1752600" y="3287704"/>
            <a:ext cx="5410200" cy="3139321"/>
          </a:xfrm>
          <a:prstGeom prst="rect">
            <a:avLst/>
          </a:prstGeom>
          <a:noFill/>
        </p:spPr>
        <p:txBody>
          <a:bodyPr wrap="square">
            <a:spAutoFit/>
          </a:bodyPr>
          <a:lstStyle/>
          <a:p>
            <a:r>
              <a:rPr lang="en-US" dirty="0">
                <a:solidFill>
                  <a:srgbClr val="1A0DAB"/>
                </a:solidFill>
                <a:latin typeface="arial" panose="020B0604020202020204" pitchFamily="34" charset="0"/>
              </a:rPr>
              <a:t>What does .NET Core consists of?</a:t>
            </a:r>
          </a:p>
          <a:p>
            <a:endParaRPr lang="en-US" dirty="0">
              <a:solidFill>
                <a:srgbClr val="202124"/>
              </a:solidFill>
              <a:latin typeface="arial" panose="020B0604020202020204" pitchFamily="34" charset="0"/>
            </a:endParaRPr>
          </a:p>
          <a:p>
            <a:r>
              <a:rPr lang="en-US" dirty="0">
                <a:solidFill>
                  <a:srgbClr val="202124"/>
                </a:solidFill>
                <a:latin typeface="arial" panose="020B0604020202020204" pitchFamily="34" charset="0"/>
              </a:rPr>
              <a:t>Which is the </a:t>
            </a:r>
            <a:r>
              <a:rPr lang="en-US" b="1" dirty="0">
                <a:solidFill>
                  <a:srgbClr val="202124"/>
                </a:solidFill>
                <a:latin typeface="arial" panose="020B0604020202020204" pitchFamily="34" charset="0"/>
              </a:rPr>
              <a:t>main component </a:t>
            </a:r>
            <a:r>
              <a:rPr lang="en-US" dirty="0">
                <a:solidFill>
                  <a:srgbClr val="202124"/>
                </a:solidFill>
                <a:latin typeface="arial" panose="020B0604020202020204" pitchFamily="34" charset="0"/>
              </a:rPr>
              <a:t>of .NET Core composition?</a:t>
            </a:r>
          </a:p>
          <a:p>
            <a:endParaRPr lang="en-US" dirty="0">
              <a:solidFill>
                <a:srgbClr val="202124"/>
              </a:solidFill>
              <a:latin typeface="arial" panose="020B0604020202020204" pitchFamily="34" charset="0"/>
            </a:endParaRPr>
          </a:p>
          <a:p>
            <a:r>
              <a:rPr lang="en-US" dirty="0">
                <a:solidFill>
                  <a:srgbClr val="202124"/>
                </a:solidFill>
                <a:latin typeface="arial" panose="020B0604020202020204" pitchFamily="34" charset="0"/>
              </a:rPr>
              <a:t>The two main components of . NET are </a:t>
            </a:r>
          </a:p>
          <a:p>
            <a:r>
              <a:rPr lang="en-US" b="1" dirty="0" err="1">
                <a:solidFill>
                  <a:srgbClr val="FF0000"/>
                </a:solidFill>
                <a:latin typeface="arial" panose="020B0604020202020204" pitchFamily="34" charset="0"/>
              </a:rPr>
              <a:t>CoreCLR</a:t>
            </a:r>
            <a:r>
              <a:rPr lang="en-US" b="1" dirty="0">
                <a:solidFill>
                  <a:srgbClr val="202124"/>
                </a:solidFill>
                <a:latin typeface="arial" panose="020B0604020202020204" pitchFamily="34" charset="0"/>
              </a:rPr>
              <a:t> and </a:t>
            </a:r>
            <a:r>
              <a:rPr lang="en-US" b="1" dirty="0" err="1">
                <a:solidFill>
                  <a:srgbClr val="70AD47"/>
                </a:solidFill>
                <a:latin typeface="arial" panose="020B0604020202020204" pitchFamily="34" charset="0"/>
              </a:rPr>
              <a:t>CoreFX</a:t>
            </a:r>
            <a:r>
              <a:rPr lang="en-US" dirty="0">
                <a:solidFill>
                  <a:srgbClr val="70AD47"/>
                </a:solidFill>
                <a:latin typeface="arial" panose="020B0604020202020204" pitchFamily="34" charset="0"/>
              </a:rPr>
              <a:t>, </a:t>
            </a:r>
            <a:r>
              <a:rPr lang="en-US" dirty="0">
                <a:solidFill>
                  <a:srgbClr val="202124"/>
                </a:solidFill>
                <a:latin typeface="arial" panose="020B0604020202020204" pitchFamily="34" charset="0"/>
              </a:rPr>
              <a:t>which are comparable to the Common Language Runtime (</a:t>
            </a:r>
            <a:r>
              <a:rPr lang="en-US" dirty="0">
                <a:solidFill>
                  <a:srgbClr val="FF0000"/>
                </a:solidFill>
                <a:latin typeface="arial" panose="020B0604020202020204" pitchFamily="34" charset="0"/>
              </a:rPr>
              <a:t>CLR</a:t>
            </a:r>
            <a:r>
              <a:rPr lang="en-US" dirty="0">
                <a:solidFill>
                  <a:srgbClr val="202124"/>
                </a:solidFill>
                <a:latin typeface="arial" panose="020B0604020202020204" pitchFamily="34" charset="0"/>
              </a:rPr>
              <a:t>) and </a:t>
            </a:r>
          </a:p>
          <a:p>
            <a:r>
              <a:rPr lang="en-US" dirty="0">
                <a:solidFill>
                  <a:srgbClr val="202124"/>
                </a:solidFill>
                <a:latin typeface="arial" panose="020B0604020202020204" pitchFamily="34" charset="0"/>
              </a:rPr>
              <a:t>the Framework Class Library </a:t>
            </a:r>
            <a:r>
              <a:rPr lang="en-US" dirty="0">
                <a:solidFill>
                  <a:srgbClr val="70AD47"/>
                </a:solidFill>
                <a:latin typeface="arial" panose="020B0604020202020204" pitchFamily="34" charset="0"/>
              </a:rPr>
              <a:t>(FCL</a:t>
            </a:r>
            <a:r>
              <a:rPr lang="en-US" dirty="0">
                <a:solidFill>
                  <a:srgbClr val="202124"/>
                </a:solidFill>
                <a:latin typeface="arial" panose="020B0604020202020204" pitchFamily="34" charset="0"/>
              </a:rPr>
              <a:t>) of the . NET Framework's </a:t>
            </a:r>
            <a:r>
              <a:rPr lang="en-US" b="1" dirty="0">
                <a:solidFill>
                  <a:srgbClr val="202124"/>
                </a:solidFill>
                <a:latin typeface="arial" panose="020B0604020202020204" pitchFamily="34" charset="0"/>
              </a:rPr>
              <a:t>Common Language Infrastructure (CLI) implementation</a:t>
            </a:r>
            <a:r>
              <a:rPr lang="en-US" dirty="0">
                <a:solidFill>
                  <a:srgbClr val="202124"/>
                </a:solidFill>
                <a:latin typeface="arial" panose="020B0604020202020204" pitchFamily="34" charset="0"/>
              </a:rPr>
              <a:t>.</a:t>
            </a:r>
          </a:p>
        </p:txBody>
      </p:sp>
    </p:spTree>
    <p:extLst>
      <p:ext uri="{BB962C8B-B14F-4D97-AF65-F5344CB8AC3E}">
        <p14:creationId xmlns:p14="http://schemas.microsoft.com/office/powerpoint/2010/main" val="3215731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A94CB5-B1A5-FCDE-1F41-B994E8689A07}"/>
              </a:ext>
            </a:extLst>
          </p:cNvPr>
          <p:cNvSpPr txBox="1"/>
          <p:nvPr/>
        </p:nvSpPr>
        <p:spPr>
          <a:xfrm>
            <a:off x="3048786" y="56561"/>
            <a:ext cx="6094428" cy="369332"/>
          </a:xfrm>
          <a:prstGeom prst="rect">
            <a:avLst/>
          </a:prstGeom>
          <a:noFill/>
        </p:spPr>
        <p:txBody>
          <a:bodyPr wrap="square">
            <a:spAutoFit/>
          </a:bodyPr>
          <a:lstStyle/>
          <a:p>
            <a:pPr algn="l"/>
            <a:r>
              <a:rPr lang="en-US" b="0" i="0" u="none" strike="noStrike" dirty="0">
                <a:solidFill>
                  <a:srgbClr val="161616"/>
                </a:solidFill>
                <a:effectLst/>
                <a:latin typeface="Segoe UI" panose="020B0502040204020203" pitchFamily="34" charset="0"/>
              </a:rPr>
              <a:t>The .NET Compiler Platform SDK (Roslyn APIs) overview</a:t>
            </a:r>
            <a:endParaRPr lang="en-US" b="0" i="0" dirty="0">
              <a:solidFill>
                <a:srgbClr val="161616"/>
              </a:solidFill>
              <a:effectLst/>
              <a:latin typeface="Segoe UI" panose="020B0502040204020203" pitchFamily="34" charset="0"/>
            </a:endParaRPr>
          </a:p>
        </p:txBody>
      </p:sp>
      <p:pic>
        <p:nvPicPr>
          <p:cNvPr id="6" name="Picture 5">
            <a:extLst>
              <a:ext uri="{FF2B5EF4-FFF2-40B4-BE49-F238E27FC236}">
                <a16:creationId xmlns:a16="http://schemas.microsoft.com/office/drawing/2014/main" id="{18F4D26A-2A8B-3C8D-7C2F-C2BCE4B7DA12}"/>
              </a:ext>
            </a:extLst>
          </p:cNvPr>
          <p:cNvPicPr>
            <a:picLocks noChangeAspect="1"/>
          </p:cNvPicPr>
          <p:nvPr/>
        </p:nvPicPr>
        <p:blipFill>
          <a:blip r:embed="rId2"/>
          <a:stretch>
            <a:fillRect/>
          </a:stretch>
        </p:blipFill>
        <p:spPr>
          <a:xfrm>
            <a:off x="200747" y="1765861"/>
            <a:ext cx="8942467" cy="4514009"/>
          </a:xfrm>
          <a:prstGeom prst="rect">
            <a:avLst/>
          </a:prstGeom>
        </p:spPr>
      </p:pic>
      <p:sp>
        <p:nvSpPr>
          <p:cNvPr id="8" name="TextBox 7">
            <a:extLst>
              <a:ext uri="{FF2B5EF4-FFF2-40B4-BE49-F238E27FC236}">
                <a16:creationId xmlns:a16="http://schemas.microsoft.com/office/drawing/2014/main" id="{39570A33-9964-7BB3-8A4B-A7FBF48A98C2}"/>
              </a:ext>
            </a:extLst>
          </p:cNvPr>
          <p:cNvSpPr txBox="1"/>
          <p:nvPr/>
        </p:nvSpPr>
        <p:spPr>
          <a:xfrm>
            <a:off x="9306613" y="120192"/>
            <a:ext cx="2505173" cy="5632311"/>
          </a:xfrm>
          <a:prstGeom prst="rect">
            <a:avLst/>
          </a:prstGeom>
          <a:noFill/>
        </p:spPr>
        <p:txBody>
          <a:bodyPr wrap="square">
            <a:spAutoFit/>
          </a:bodyPr>
          <a:lstStyle/>
          <a:p>
            <a:r>
              <a:rPr lang="en-US" b="0" i="0" dirty="0">
                <a:solidFill>
                  <a:srgbClr val="161616"/>
                </a:solidFill>
                <a:effectLst/>
                <a:latin typeface="Segoe UI" panose="020B0502040204020203" pitchFamily="34" charset="0"/>
              </a:rPr>
              <a:t>Corresponding to each of those phases, the .NET Compiler Platform SDK exposes an object model that allows access to the information at that phase. The parsing phase exposes a syntax tree, the declaration phase exposes a hierarchical symbol table, the binding phase exposes the result of the compiler's semantic analysis, and the emit phase is an API that produces IL byte codes.</a:t>
            </a:r>
            <a:endParaRPr lang="en-IN" dirty="0"/>
          </a:p>
        </p:txBody>
      </p:sp>
    </p:spTree>
    <p:extLst>
      <p:ext uri="{BB962C8B-B14F-4D97-AF65-F5344CB8AC3E}">
        <p14:creationId xmlns:p14="http://schemas.microsoft.com/office/powerpoint/2010/main" val="16944365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2763</Words>
  <Application>Microsoft Office PowerPoint</Application>
  <PresentationFormat>Widescreen</PresentationFormat>
  <Paragraphs>205</Paragraphs>
  <Slides>16</Slides>
  <Notes>0</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16</vt:i4>
      </vt:variant>
    </vt:vector>
  </HeadingPairs>
  <TitlesOfParts>
    <vt:vector size="29" baseType="lpstr">
      <vt:lpstr>Arial</vt:lpstr>
      <vt:lpstr>Arial</vt:lpstr>
      <vt:lpstr>Calibri</vt:lpstr>
      <vt:lpstr>Calibri Light</vt:lpstr>
      <vt:lpstr>Cambria</vt:lpstr>
      <vt:lpstr>Garamond</vt:lpstr>
      <vt:lpstr>open sans</vt:lpstr>
      <vt:lpstr>Roboto</vt:lpstr>
      <vt:lpstr>Segoe UI</vt:lpstr>
      <vt:lpstr>SFMono-Regular</vt:lpstr>
      <vt:lpstr>Verdana</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.NET Core? </vt:lpstr>
      <vt:lpstr>PowerPoint Presentation</vt:lpstr>
      <vt:lpstr>NET Core Characteristics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vidyanidhi school</cp:lastModifiedBy>
  <cp:revision>15</cp:revision>
  <dcterms:created xsi:type="dcterms:W3CDTF">2022-11-21T15:56:41Z</dcterms:created>
  <dcterms:modified xsi:type="dcterms:W3CDTF">2023-04-15T03:08:31Z</dcterms:modified>
</cp:coreProperties>
</file>