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1" r:id="rId14"/>
    <p:sldId id="270" r:id="rId15"/>
    <p:sldId id="272"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466"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B0264-3BF5-4905-9D22-2E48AFB256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5893D99-4ABF-47F9-B876-B28457167E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8FA27FB-BB36-430E-BEE9-4C3D0D3A7B30}"/>
              </a:ext>
            </a:extLst>
          </p:cNvPr>
          <p:cNvSpPr>
            <a:spLocks noGrp="1"/>
          </p:cNvSpPr>
          <p:nvPr>
            <p:ph type="dt" sz="half" idx="10"/>
          </p:nvPr>
        </p:nvSpPr>
        <p:spPr/>
        <p:txBody>
          <a:bodyPr/>
          <a:lstStyle/>
          <a:p>
            <a:fld id="{ACB2A7E4-765F-443F-8869-C3C7EF9C3B45}" type="datetimeFigureOut">
              <a:rPr lang="en-IN" smtClean="0"/>
              <a:t>19-09-2024</a:t>
            </a:fld>
            <a:endParaRPr lang="en-IN"/>
          </a:p>
        </p:txBody>
      </p:sp>
      <p:sp>
        <p:nvSpPr>
          <p:cNvPr id="5" name="Footer Placeholder 4">
            <a:extLst>
              <a:ext uri="{FF2B5EF4-FFF2-40B4-BE49-F238E27FC236}">
                <a16:creationId xmlns:a16="http://schemas.microsoft.com/office/drawing/2014/main" id="{7F883D07-96BF-4505-BAFD-0AF3BDA6C7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618F23-0264-4D5F-B460-F9ED0E3C73B7}"/>
              </a:ext>
            </a:extLst>
          </p:cNvPr>
          <p:cNvSpPr>
            <a:spLocks noGrp="1"/>
          </p:cNvSpPr>
          <p:nvPr>
            <p:ph type="sldNum" sz="quarter" idx="12"/>
          </p:nvPr>
        </p:nvSpPr>
        <p:spPr/>
        <p:txBody>
          <a:bodyPr/>
          <a:lstStyle/>
          <a:p>
            <a:fld id="{B8E43653-67B8-4E27-B577-98746AF0E2C0}" type="slidenum">
              <a:rPr lang="en-IN" smtClean="0"/>
              <a:t>‹#›</a:t>
            </a:fld>
            <a:endParaRPr lang="en-IN"/>
          </a:p>
        </p:txBody>
      </p:sp>
    </p:spTree>
    <p:extLst>
      <p:ext uri="{BB962C8B-B14F-4D97-AF65-F5344CB8AC3E}">
        <p14:creationId xmlns:p14="http://schemas.microsoft.com/office/powerpoint/2010/main" val="3067167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8E12-C7A1-4BBC-9148-5163527369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91FACC-6636-4A02-9C73-3C94B533E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A09CF6-EA30-4DCE-8B9F-6EABDCC42175}"/>
              </a:ext>
            </a:extLst>
          </p:cNvPr>
          <p:cNvSpPr>
            <a:spLocks noGrp="1"/>
          </p:cNvSpPr>
          <p:nvPr>
            <p:ph type="dt" sz="half" idx="10"/>
          </p:nvPr>
        </p:nvSpPr>
        <p:spPr/>
        <p:txBody>
          <a:bodyPr/>
          <a:lstStyle/>
          <a:p>
            <a:fld id="{ACB2A7E4-765F-443F-8869-C3C7EF9C3B45}" type="datetimeFigureOut">
              <a:rPr lang="en-IN" smtClean="0"/>
              <a:t>19-09-2024</a:t>
            </a:fld>
            <a:endParaRPr lang="en-IN"/>
          </a:p>
        </p:txBody>
      </p:sp>
      <p:sp>
        <p:nvSpPr>
          <p:cNvPr id="5" name="Footer Placeholder 4">
            <a:extLst>
              <a:ext uri="{FF2B5EF4-FFF2-40B4-BE49-F238E27FC236}">
                <a16:creationId xmlns:a16="http://schemas.microsoft.com/office/drawing/2014/main" id="{07B219B5-B48B-43D3-BC42-4FE8EB82B9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5603F9-E079-450A-B182-02839A0F4EDB}"/>
              </a:ext>
            </a:extLst>
          </p:cNvPr>
          <p:cNvSpPr>
            <a:spLocks noGrp="1"/>
          </p:cNvSpPr>
          <p:nvPr>
            <p:ph type="sldNum" sz="quarter" idx="12"/>
          </p:nvPr>
        </p:nvSpPr>
        <p:spPr/>
        <p:txBody>
          <a:bodyPr/>
          <a:lstStyle/>
          <a:p>
            <a:fld id="{B8E43653-67B8-4E27-B577-98746AF0E2C0}" type="slidenum">
              <a:rPr lang="en-IN" smtClean="0"/>
              <a:t>‹#›</a:t>
            </a:fld>
            <a:endParaRPr lang="en-IN"/>
          </a:p>
        </p:txBody>
      </p:sp>
    </p:spTree>
    <p:extLst>
      <p:ext uri="{BB962C8B-B14F-4D97-AF65-F5344CB8AC3E}">
        <p14:creationId xmlns:p14="http://schemas.microsoft.com/office/powerpoint/2010/main" val="4212365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937CA-2CAF-4F7E-81A8-1D5FA5EFE9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9A36689-1C83-4744-993B-9B66EF6970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CBC00F-7D94-41DF-BACF-3193C4B08C2D}"/>
              </a:ext>
            </a:extLst>
          </p:cNvPr>
          <p:cNvSpPr>
            <a:spLocks noGrp="1"/>
          </p:cNvSpPr>
          <p:nvPr>
            <p:ph type="dt" sz="half" idx="10"/>
          </p:nvPr>
        </p:nvSpPr>
        <p:spPr/>
        <p:txBody>
          <a:bodyPr/>
          <a:lstStyle/>
          <a:p>
            <a:fld id="{ACB2A7E4-765F-443F-8869-C3C7EF9C3B45}" type="datetimeFigureOut">
              <a:rPr lang="en-IN" smtClean="0"/>
              <a:t>19-09-2024</a:t>
            </a:fld>
            <a:endParaRPr lang="en-IN"/>
          </a:p>
        </p:txBody>
      </p:sp>
      <p:sp>
        <p:nvSpPr>
          <p:cNvPr id="5" name="Footer Placeholder 4">
            <a:extLst>
              <a:ext uri="{FF2B5EF4-FFF2-40B4-BE49-F238E27FC236}">
                <a16:creationId xmlns:a16="http://schemas.microsoft.com/office/drawing/2014/main" id="{D4170710-D222-498A-8CC7-BC5C65F450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0D6E75-904A-4AFC-9AAE-894A1F84FB70}"/>
              </a:ext>
            </a:extLst>
          </p:cNvPr>
          <p:cNvSpPr>
            <a:spLocks noGrp="1"/>
          </p:cNvSpPr>
          <p:nvPr>
            <p:ph type="sldNum" sz="quarter" idx="12"/>
          </p:nvPr>
        </p:nvSpPr>
        <p:spPr/>
        <p:txBody>
          <a:bodyPr/>
          <a:lstStyle/>
          <a:p>
            <a:fld id="{B8E43653-67B8-4E27-B577-98746AF0E2C0}" type="slidenum">
              <a:rPr lang="en-IN" smtClean="0"/>
              <a:t>‹#›</a:t>
            </a:fld>
            <a:endParaRPr lang="en-IN"/>
          </a:p>
        </p:txBody>
      </p:sp>
    </p:spTree>
    <p:extLst>
      <p:ext uri="{BB962C8B-B14F-4D97-AF65-F5344CB8AC3E}">
        <p14:creationId xmlns:p14="http://schemas.microsoft.com/office/powerpoint/2010/main" val="1843353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9DC72-3777-43EB-9091-E9F455EC35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F224C9-CEB0-4592-A8BE-E8C1F1B132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C3D4AA4-FC73-48A1-9B67-6AE5E41890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698713-AD2B-4763-8CB2-BEEA9FC0713B}"/>
              </a:ext>
            </a:extLst>
          </p:cNvPr>
          <p:cNvSpPr>
            <a:spLocks noGrp="1"/>
          </p:cNvSpPr>
          <p:nvPr>
            <p:ph type="dt" sz="half" idx="10"/>
          </p:nvPr>
        </p:nvSpPr>
        <p:spPr/>
        <p:txBody>
          <a:bodyPr/>
          <a:lstStyle/>
          <a:p>
            <a:fld id="{ACB2A7E4-765F-443F-8869-C3C7EF9C3B45}" type="datetimeFigureOut">
              <a:rPr lang="en-IN" smtClean="0"/>
              <a:t>19-09-2024</a:t>
            </a:fld>
            <a:endParaRPr lang="en-IN"/>
          </a:p>
        </p:txBody>
      </p:sp>
      <p:sp>
        <p:nvSpPr>
          <p:cNvPr id="6" name="Footer Placeholder 5">
            <a:extLst>
              <a:ext uri="{FF2B5EF4-FFF2-40B4-BE49-F238E27FC236}">
                <a16:creationId xmlns:a16="http://schemas.microsoft.com/office/drawing/2014/main" id="{3068123C-4E28-46CB-ACB9-59C6F6ABBF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5F392C-5B5F-4C0C-A1EA-9FD16A064477}"/>
              </a:ext>
            </a:extLst>
          </p:cNvPr>
          <p:cNvSpPr>
            <a:spLocks noGrp="1"/>
          </p:cNvSpPr>
          <p:nvPr>
            <p:ph type="sldNum" sz="quarter" idx="12"/>
          </p:nvPr>
        </p:nvSpPr>
        <p:spPr/>
        <p:txBody>
          <a:bodyPr/>
          <a:lstStyle/>
          <a:p>
            <a:fld id="{B8E43653-67B8-4E27-B577-98746AF0E2C0}" type="slidenum">
              <a:rPr lang="en-IN" smtClean="0"/>
              <a:t>‹#›</a:t>
            </a:fld>
            <a:endParaRPr lang="en-IN"/>
          </a:p>
        </p:txBody>
      </p:sp>
    </p:spTree>
    <p:extLst>
      <p:ext uri="{BB962C8B-B14F-4D97-AF65-F5344CB8AC3E}">
        <p14:creationId xmlns:p14="http://schemas.microsoft.com/office/powerpoint/2010/main" val="1186226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761AB-8B58-4ED3-A609-F5D4F7A48CA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967C4F-27B1-457E-8F7B-4FBF13CA0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A48257-5494-4A5A-8983-645B9C1330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15E561-822E-4F5A-A0A3-C8A7CE9BFF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DB0C61-74B2-4A4B-B50E-D72633093D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DF9710-6A56-49C8-A99D-B8C8E203D926}"/>
              </a:ext>
            </a:extLst>
          </p:cNvPr>
          <p:cNvSpPr>
            <a:spLocks noGrp="1"/>
          </p:cNvSpPr>
          <p:nvPr>
            <p:ph type="dt" sz="half" idx="10"/>
          </p:nvPr>
        </p:nvSpPr>
        <p:spPr/>
        <p:txBody>
          <a:bodyPr/>
          <a:lstStyle/>
          <a:p>
            <a:fld id="{ACB2A7E4-765F-443F-8869-C3C7EF9C3B45}" type="datetimeFigureOut">
              <a:rPr lang="en-IN" smtClean="0"/>
              <a:t>19-09-2024</a:t>
            </a:fld>
            <a:endParaRPr lang="en-IN"/>
          </a:p>
        </p:txBody>
      </p:sp>
      <p:sp>
        <p:nvSpPr>
          <p:cNvPr id="8" name="Footer Placeholder 7">
            <a:extLst>
              <a:ext uri="{FF2B5EF4-FFF2-40B4-BE49-F238E27FC236}">
                <a16:creationId xmlns:a16="http://schemas.microsoft.com/office/drawing/2014/main" id="{28821993-E048-4228-84C3-26C7452327E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9E49483-8316-43D0-A637-ABE9A5502DA5}"/>
              </a:ext>
            </a:extLst>
          </p:cNvPr>
          <p:cNvSpPr>
            <a:spLocks noGrp="1"/>
          </p:cNvSpPr>
          <p:nvPr>
            <p:ph type="sldNum" sz="quarter" idx="12"/>
          </p:nvPr>
        </p:nvSpPr>
        <p:spPr/>
        <p:txBody>
          <a:bodyPr/>
          <a:lstStyle/>
          <a:p>
            <a:fld id="{B8E43653-67B8-4E27-B577-98746AF0E2C0}" type="slidenum">
              <a:rPr lang="en-IN" smtClean="0"/>
              <a:t>‹#›</a:t>
            </a:fld>
            <a:endParaRPr lang="en-IN"/>
          </a:p>
        </p:txBody>
      </p:sp>
    </p:spTree>
    <p:extLst>
      <p:ext uri="{BB962C8B-B14F-4D97-AF65-F5344CB8AC3E}">
        <p14:creationId xmlns:p14="http://schemas.microsoft.com/office/powerpoint/2010/main" val="2462791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868A1-3CE4-4380-B029-93EAB77DF1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76C73C9-F0EB-41D1-B75A-EF02A03D0FAD}"/>
              </a:ext>
            </a:extLst>
          </p:cNvPr>
          <p:cNvSpPr>
            <a:spLocks noGrp="1"/>
          </p:cNvSpPr>
          <p:nvPr>
            <p:ph type="dt" sz="half" idx="10"/>
          </p:nvPr>
        </p:nvSpPr>
        <p:spPr/>
        <p:txBody>
          <a:bodyPr/>
          <a:lstStyle/>
          <a:p>
            <a:fld id="{ACB2A7E4-765F-443F-8869-C3C7EF9C3B45}" type="datetimeFigureOut">
              <a:rPr lang="en-IN" smtClean="0"/>
              <a:t>19-09-2024</a:t>
            </a:fld>
            <a:endParaRPr lang="en-IN"/>
          </a:p>
        </p:txBody>
      </p:sp>
      <p:sp>
        <p:nvSpPr>
          <p:cNvPr id="4" name="Footer Placeholder 3">
            <a:extLst>
              <a:ext uri="{FF2B5EF4-FFF2-40B4-BE49-F238E27FC236}">
                <a16:creationId xmlns:a16="http://schemas.microsoft.com/office/drawing/2014/main" id="{04AE4B3A-D732-489A-8D85-93D1DA712ED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04216C5-822B-4B86-A8D4-0304614BCCA1}"/>
              </a:ext>
            </a:extLst>
          </p:cNvPr>
          <p:cNvSpPr>
            <a:spLocks noGrp="1"/>
          </p:cNvSpPr>
          <p:nvPr>
            <p:ph type="sldNum" sz="quarter" idx="12"/>
          </p:nvPr>
        </p:nvSpPr>
        <p:spPr/>
        <p:txBody>
          <a:bodyPr/>
          <a:lstStyle/>
          <a:p>
            <a:fld id="{B8E43653-67B8-4E27-B577-98746AF0E2C0}" type="slidenum">
              <a:rPr lang="en-IN" smtClean="0"/>
              <a:t>‹#›</a:t>
            </a:fld>
            <a:endParaRPr lang="en-IN"/>
          </a:p>
        </p:txBody>
      </p:sp>
    </p:spTree>
    <p:extLst>
      <p:ext uri="{BB962C8B-B14F-4D97-AF65-F5344CB8AC3E}">
        <p14:creationId xmlns:p14="http://schemas.microsoft.com/office/powerpoint/2010/main" val="1071226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3BBFF9-3DCF-493B-A106-A92FEF019CF2}"/>
              </a:ext>
            </a:extLst>
          </p:cNvPr>
          <p:cNvSpPr>
            <a:spLocks noGrp="1"/>
          </p:cNvSpPr>
          <p:nvPr>
            <p:ph type="dt" sz="half" idx="10"/>
          </p:nvPr>
        </p:nvSpPr>
        <p:spPr/>
        <p:txBody>
          <a:bodyPr/>
          <a:lstStyle/>
          <a:p>
            <a:fld id="{ACB2A7E4-765F-443F-8869-C3C7EF9C3B45}" type="datetimeFigureOut">
              <a:rPr lang="en-IN" smtClean="0"/>
              <a:t>19-09-2024</a:t>
            </a:fld>
            <a:endParaRPr lang="en-IN"/>
          </a:p>
        </p:txBody>
      </p:sp>
      <p:sp>
        <p:nvSpPr>
          <p:cNvPr id="3" name="Footer Placeholder 2">
            <a:extLst>
              <a:ext uri="{FF2B5EF4-FFF2-40B4-BE49-F238E27FC236}">
                <a16:creationId xmlns:a16="http://schemas.microsoft.com/office/drawing/2014/main" id="{AF02E21D-1695-494F-B656-379E1FE4CED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0B0E2C3-BDBB-4FC4-B183-26A815EE878B}"/>
              </a:ext>
            </a:extLst>
          </p:cNvPr>
          <p:cNvSpPr>
            <a:spLocks noGrp="1"/>
          </p:cNvSpPr>
          <p:nvPr>
            <p:ph type="sldNum" sz="quarter" idx="12"/>
          </p:nvPr>
        </p:nvSpPr>
        <p:spPr/>
        <p:txBody>
          <a:bodyPr/>
          <a:lstStyle/>
          <a:p>
            <a:fld id="{B8E43653-67B8-4E27-B577-98746AF0E2C0}" type="slidenum">
              <a:rPr lang="en-IN" smtClean="0"/>
              <a:t>‹#›</a:t>
            </a:fld>
            <a:endParaRPr lang="en-IN"/>
          </a:p>
        </p:txBody>
      </p:sp>
    </p:spTree>
    <p:extLst>
      <p:ext uri="{BB962C8B-B14F-4D97-AF65-F5344CB8AC3E}">
        <p14:creationId xmlns:p14="http://schemas.microsoft.com/office/powerpoint/2010/main" val="2925196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CCABC-BA2B-4869-BD3D-2331C8B244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0AD963-9B6E-4FC9-A6EE-34E4271CE1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63C893-E8ED-453A-8E28-1394C464B5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F07836-14DD-4D55-8AD3-CA83ED2E3F27}"/>
              </a:ext>
            </a:extLst>
          </p:cNvPr>
          <p:cNvSpPr>
            <a:spLocks noGrp="1"/>
          </p:cNvSpPr>
          <p:nvPr>
            <p:ph type="dt" sz="half" idx="10"/>
          </p:nvPr>
        </p:nvSpPr>
        <p:spPr/>
        <p:txBody>
          <a:bodyPr/>
          <a:lstStyle/>
          <a:p>
            <a:fld id="{ACB2A7E4-765F-443F-8869-C3C7EF9C3B45}" type="datetimeFigureOut">
              <a:rPr lang="en-IN" smtClean="0"/>
              <a:t>19-09-2024</a:t>
            </a:fld>
            <a:endParaRPr lang="en-IN"/>
          </a:p>
        </p:txBody>
      </p:sp>
      <p:sp>
        <p:nvSpPr>
          <p:cNvPr id="6" name="Footer Placeholder 5">
            <a:extLst>
              <a:ext uri="{FF2B5EF4-FFF2-40B4-BE49-F238E27FC236}">
                <a16:creationId xmlns:a16="http://schemas.microsoft.com/office/drawing/2014/main" id="{A3AFFCA4-D0A4-499C-B5AD-688AB36343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CD671E-662B-4566-8879-664DCF46DCC5}"/>
              </a:ext>
            </a:extLst>
          </p:cNvPr>
          <p:cNvSpPr>
            <a:spLocks noGrp="1"/>
          </p:cNvSpPr>
          <p:nvPr>
            <p:ph type="sldNum" sz="quarter" idx="12"/>
          </p:nvPr>
        </p:nvSpPr>
        <p:spPr/>
        <p:txBody>
          <a:bodyPr/>
          <a:lstStyle/>
          <a:p>
            <a:fld id="{B8E43653-67B8-4E27-B577-98746AF0E2C0}" type="slidenum">
              <a:rPr lang="en-IN" smtClean="0"/>
              <a:t>‹#›</a:t>
            </a:fld>
            <a:endParaRPr lang="en-IN"/>
          </a:p>
        </p:txBody>
      </p:sp>
    </p:spTree>
    <p:extLst>
      <p:ext uri="{BB962C8B-B14F-4D97-AF65-F5344CB8AC3E}">
        <p14:creationId xmlns:p14="http://schemas.microsoft.com/office/powerpoint/2010/main" val="2790910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8F10B-CAE9-4040-97E3-9F0B3F0CF9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545C08B-2000-47BD-96BB-D13D1D9DE6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DD4E63D-1EBD-497A-99F8-632409258D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426ED2-CF79-4FCC-9DBC-296FAFBF50DE}"/>
              </a:ext>
            </a:extLst>
          </p:cNvPr>
          <p:cNvSpPr>
            <a:spLocks noGrp="1"/>
          </p:cNvSpPr>
          <p:nvPr>
            <p:ph type="dt" sz="half" idx="10"/>
          </p:nvPr>
        </p:nvSpPr>
        <p:spPr/>
        <p:txBody>
          <a:bodyPr/>
          <a:lstStyle/>
          <a:p>
            <a:fld id="{ACB2A7E4-765F-443F-8869-C3C7EF9C3B45}" type="datetimeFigureOut">
              <a:rPr lang="en-IN" smtClean="0"/>
              <a:t>19-09-2024</a:t>
            </a:fld>
            <a:endParaRPr lang="en-IN"/>
          </a:p>
        </p:txBody>
      </p:sp>
      <p:sp>
        <p:nvSpPr>
          <p:cNvPr id="6" name="Footer Placeholder 5">
            <a:extLst>
              <a:ext uri="{FF2B5EF4-FFF2-40B4-BE49-F238E27FC236}">
                <a16:creationId xmlns:a16="http://schemas.microsoft.com/office/drawing/2014/main" id="{5D847DE2-B5B7-4F50-8AA4-5AC921C49F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A17777-121A-4FE0-82C1-D49ACE415B0F}"/>
              </a:ext>
            </a:extLst>
          </p:cNvPr>
          <p:cNvSpPr>
            <a:spLocks noGrp="1"/>
          </p:cNvSpPr>
          <p:nvPr>
            <p:ph type="sldNum" sz="quarter" idx="12"/>
          </p:nvPr>
        </p:nvSpPr>
        <p:spPr/>
        <p:txBody>
          <a:bodyPr/>
          <a:lstStyle/>
          <a:p>
            <a:fld id="{B8E43653-67B8-4E27-B577-98746AF0E2C0}" type="slidenum">
              <a:rPr lang="en-IN" smtClean="0"/>
              <a:t>‹#›</a:t>
            </a:fld>
            <a:endParaRPr lang="en-IN"/>
          </a:p>
        </p:txBody>
      </p:sp>
    </p:spTree>
    <p:extLst>
      <p:ext uri="{BB962C8B-B14F-4D97-AF65-F5344CB8AC3E}">
        <p14:creationId xmlns:p14="http://schemas.microsoft.com/office/powerpoint/2010/main" val="2863415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FB300-6233-47BF-ACF9-4A5600FA772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6C4627-8526-428D-9711-6BF3765CF5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271971-7BDE-42C5-AFDE-37979FAE769B}"/>
              </a:ext>
            </a:extLst>
          </p:cNvPr>
          <p:cNvSpPr>
            <a:spLocks noGrp="1"/>
          </p:cNvSpPr>
          <p:nvPr>
            <p:ph type="dt" sz="half" idx="10"/>
          </p:nvPr>
        </p:nvSpPr>
        <p:spPr/>
        <p:txBody>
          <a:bodyPr/>
          <a:lstStyle/>
          <a:p>
            <a:fld id="{ACB2A7E4-765F-443F-8869-C3C7EF9C3B45}" type="datetimeFigureOut">
              <a:rPr lang="en-IN" smtClean="0"/>
              <a:t>19-09-2024</a:t>
            </a:fld>
            <a:endParaRPr lang="en-IN"/>
          </a:p>
        </p:txBody>
      </p:sp>
      <p:sp>
        <p:nvSpPr>
          <p:cNvPr id="5" name="Footer Placeholder 4">
            <a:extLst>
              <a:ext uri="{FF2B5EF4-FFF2-40B4-BE49-F238E27FC236}">
                <a16:creationId xmlns:a16="http://schemas.microsoft.com/office/drawing/2014/main" id="{2F83D371-5E95-414D-B332-234E83D685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F197F4-073E-44F1-9613-42C62C3600F9}"/>
              </a:ext>
            </a:extLst>
          </p:cNvPr>
          <p:cNvSpPr>
            <a:spLocks noGrp="1"/>
          </p:cNvSpPr>
          <p:nvPr>
            <p:ph type="sldNum" sz="quarter" idx="12"/>
          </p:nvPr>
        </p:nvSpPr>
        <p:spPr/>
        <p:txBody>
          <a:bodyPr/>
          <a:lstStyle/>
          <a:p>
            <a:fld id="{B8E43653-67B8-4E27-B577-98746AF0E2C0}" type="slidenum">
              <a:rPr lang="en-IN" smtClean="0"/>
              <a:t>‹#›</a:t>
            </a:fld>
            <a:endParaRPr lang="en-IN"/>
          </a:p>
        </p:txBody>
      </p:sp>
    </p:spTree>
    <p:extLst>
      <p:ext uri="{BB962C8B-B14F-4D97-AF65-F5344CB8AC3E}">
        <p14:creationId xmlns:p14="http://schemas.microsoft.com/office/powerpoint/2010/main" val="1152133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1CC1AE-6D1D-46F3-85E1-1FE1E10A7A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B24058-50F2-49F2-8F0A-CC33189346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40103A-F542-435C-AA9A-E00C1A23816C}"/>
              </a:ext>
            </a:extLst>
          </p:cNvPr>
          <p:cNvSpPr>
            <a:spLocks noGrp="1"/>
          </p:cNvSpPr>
          <p:nvPr>
            <p:ph type="dt" sz="half" idx="10"/>
          </p:nvPr>
        </p:nvSpPr>
        <p:spPr/>
        <p:txBody>
          <a:bodyPr/>
          <a:lstStyle/>
          <a:p>
            <a:fld id="{ACB2A7E4-765F-443F-8869-C3C7EF9C3B45}" type="datetimeFigureOut">
              <a:rPr lang="en-IN" smtClean="0"/>
              <a:t>19-09-2024</a:t>
            </a:fld>
            <a:endParaRPr lang="en-IN"/>
          </a:p>
        </p:txBody>
      </p:sp>
      <p:sp>
        <p:nvSpPr>
          <p:cNvPr id="5" name="Footer Placeholder 4">
            <a:extLst>
              <a:ext uri="{FF2B5EF4-FFF2-40B4-BE49-F238E27FC236}">
                <a16:creationId xmlns:a16="http://schemas.microsoft.com/office/drawing/2014/main" id="{34FDD146-5C55-41F5-AD9A-138A6CF66F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CA9998-B134-4141-9E83-450FD35D8DB2}"/>
              </a:ext>
            </a:extLst>
          </p:cNvPr>
          <p:cNvSpPr>
            <a:spLocks noGrp="1"/>
          </p:cNvSpPr>
          <p:nvPr>
            <p:ph type="sldNum" sz="quarter" idx="12"/>
          </p:nvPr>
        </p:nvSpPr>
        <p:spPr/>
        <p:txBody>
          <a:bodyPr/>
          <a:lstStyle/>
          <a:p>
            <a:fld id="{B8E43653-67B8-4E27-B577-98746AF0E2C0}" type="slidenum">
              <a:rPr lang="en-IN" smtClean="0"/>
              <a:t>‹#›</a:t>
            </a:fld>
            <a:endParaRPr lang="en-IN"/>
          </a:p>
        </p:txBody>
      </p:sp>
    </p:spTree>
    <p:extLst>
      <p:ext uri="{BB962C8B-B14F-4D97-AF65-F5344CB8AC3E}">
        <p14:creationId xmlns:p14="http://schemas.microsoft.com/office/powerpoint/2010/main" val="3668407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482A43-E685-496E-AAB9-744F26368B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04C7FB-46CD-441A-B411-FCC262344B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26E191-A306-48F4-B586-426AB48F26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B2A7E4-765F-443F-8869-C3C7EF9C3B45}" type="datetimeFigureOut">
              <a:rPr lang="en-IN" smtClean="0"/>
              <a:t>19-09-2024</a:t>
            </a:fld>
            <a:endParaRPr lang="en-IN"/>
          </a:p>
        </p:txBody>
      </p:sp>
      <p:sp>
        <p:nvSpPr>
          <p:cNvPr id="5" name="Footer Placeholder 4">
            <a:extLst>
              <a:ext uri="{FF2B5EF4-FFF2-40B4-BE49-F238E27FC236}">
                <a16:creationId xmlns:a16="http://schemas.microsoft.com/office/drawing/2014/main" id="{17DB8803-72BA-496E-8EA7-1DFDE72C84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6B38C4D-2D07-40A4-8CB4-C63D93AD99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E43653-67B8-4E27-B577-98746AF0E2C0}" type="slidenum">
              <a:rPr lang="en-IN" smtClean="0"/>
              <a:t>‹#›</a:t>
            </a:fld>
            <a:endParaRPr lang="en-IN"/>
          </a:p>
        </p:txBody>
      </p:sp>
    </p:spTree>
    <p:extLst>
      <p:ext uri="{BB962C8B-B14F-4D97-AF65-F5344CB8AC3E}">
        <p14:creationId xmlns:p14="http://schemas.microsoft.com/office/powerpoint/2010/main" val="823721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en-us/dotnet/api/microsoft.aspnetcore.http.httprequest.query" TargetMode="External"/><Relationship Id="rId2" Type="http://schemas.openxmlformats.org/officeDocument/2006/relationships/hyperlink" Target="https://learn.microsoft.com/en-us/dotnet/api/microsoft.aspnetcore.http.iquerycollection.key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965085-14D7-4C83-B021-0022DF061483}"/>
              </a:ext>
            </a:extLst>
          </p:cNvPr>
          <p:cNvPicPr>
            <a:picLocks noChangeAspect="1"/>
          </p:cNvPicPr>
          <p:nvPr/>
        </p:nvPicPr>
        <p:blipFill>
          <a:blip r:embed="rId2"/>
          <a:stretch>
            <a:fillRect/>
          </a:stretch>
        </p:blipFill>
        <p:spPr>
          <a:xfrm>
            <a:off x="222453" y="0"/>
            <a:ext cx="5214785" cy="2576052"/>
          </a:xfrm>
          <a:prstGeom prst="rect">
            <a:avLst/>
          </a:prstGeom>
        </p:spPr>
      </p:pic>
      <p:sp>
        <p:nvSpPr>
          <p:cNvPr id="6" name="TextBox 5">
            <a:extLst>
              <a:ext uri="{FF2B5EF4-FFF2-40B4-BE49-F238E27FC236}">
                <a16:creationId xmlns:a16="http://schemas.microsoft.com/office/drawing/2014/main" id="{F0A32A65-B00D-4D4D-85C6-66ACD9FA2E01}"/>
              </a:ext>
            </a:extLst>
          </p:cNvPr>
          <p:cNvSpPr txBox="1"/>
          <p:nvPr/>
        </p:nvSpPr>
        <p:spPr>
          <a:xfrm>
            <a:off x="0" y="2713704"/>
            <a:ext cx="5899355" cy="4278094"/>
          </a:xfrm>
          <a:prstGeom prst="rect">
            <a:avLst/>
          </a:prstGeom>
          <a:noFill/>
        </p:spPr>
        <p:txBody>
          <a:bodyPr wrap="square">
            <a:spAutoFit/>
          </a:bodyPr>
          <a:lstStyle/>
          <a:p>
            <a:pPr algn="just"/>
            <a:r>
              <a:rPr lang="en-US" sz="1600" b="1" i="0" dirty="0">
                <a:solidFill>
                  <a:srgbClr val="212121"/>
                </a:solidFill>
                <a:effectLst/>
                <a:latin typeface="open sans" panose="020B0606030504020204" pitchFamily="34" charset="0"/>
              </a:rPr>
              <a:t>Caching </a:t>
            </a:r>
            <a:r>
              <a:rPr lang="en-US" sz="1600" b="0" i="0" dirty="0">
                <a:solidFill>
                  <a:srgbClr val="212121"/>
                </a:solidFill>
                <a:effectLst/>
                <a:latin typeface="open sans" panose="020B0606030504020204" pitchFamily="34" charset="0"/>
              </a:rPr>
              <a:t>refers to the process of storing frequently used data so that those data can be served much faster for any </a:t>
            </a:r>
            <a:r>
              <a:rPr lang="en-US" sz="1600" b="1" i="0" dirty="0">
                <a:solidFill>
                  <a:srgbClr val="212121"/>
                </a:solidFill>
                <a:effectLst/>
                <a:latin typeface="open sans" panose="020B0606030504020204" pitchFamily="34" charset="0"/>
              </a:rPr>
              <a:t>future requests</a:t>
            </a:r>
            <a:r>
              <a:rPr lang="en-US" sz="1600" b="0" i="0" dirty="0">
                <a:solidFill>
                  <a:srgbClr val="212121"/>
                </a:solidFill>
                <a:effectLst/>
                <a:latin typeface="open sans" panose="020B0606030504020204" pitchFamily="34" charset="0"/>
              </a:rPr>
              <a:t>. So we take the most </a:t>
            </a:r>
            <a:r>
              <a:rPr lang="en-US" sz="1600" b="1" i="0" dirty="0">
                <a:solidFill>
                  <a:srgbClr val="212121"/>
                </a:solidFill>
                <a:effectLst/>
                <a:latin typeface="open sans" panose="020B0606030504020204" pitchFamily="34" charset="0"/>
              </a:rPr>
              <a:t>frequently </a:t>
            </a:r>
            <a:r>
              <a:rPr lang="en-US" sz="1600" b="0" i="0" dirty="0">
                <a:solidFill>
                  <a:srgbClr val="212121"/>
                </a:solidFill>
                <a:effectLst/>
                <a:latin typeface="open sans" panose="020B0606030504020204" pitchFamily="34" charset="0"/>
              </a:rPr>
              <a:t>used data and copy it into temporary storage so that it can be accessed much </a:t>
            </a:r>
            <a:r>
              <a:rPr lang="en-US" sz="1600" b="1" i="0" dirty="0">
                <a:solidFill>
                  <a:srgbClr val="212121"/>
                </a:solidFill>
                <a:effectLst/>
                <a:latin typeface="open sans" panose="020B0606030504020204" pitchFamily="34" charset="0"/>
              </a:rPr>
              <a:t>faster </a:t>
            </a:r>
            <a:r>
              <a:rPr lang="en-US" sz="1600" b="0" i="0" dirty="0">
                <a:solidFill>
                  <a:srgbClr val="212121"/>
                </a:solidFill>
                <a:effectLst/>
                <a:latin typeface="open sans" panose="020B0606030504020204" pitchFamily="34" charset="0"/>
              </a:rPr>
              <a:t>in future calls from the client. If we try to explain with a simple example, Let User-1 request some data and it takes 12-15 seconds for the server to fetch the data. While fetching, we will make a copy of our fetched data parallelly to any temporary storage. So now, when User-2 requests the same data, this time we will simply serve his from the cache and it will take only 1-2 seconds for the response as we already stored the response in our cache.</a:t>
            </a:r>
          </a:p>
          <a:p>
            <a:pPr algn="just"/>
            <a:r>
              <a:rPr lang="en-US" sz="1600" b="0" i="0" dirty="0">
                <a:solidFill>
                  <a:srgbClr val="212121"/>
                </a:solidFill>
                <a:effectLst/>
                <a:latin typeface="open sans" panose="020B0606030504020204" pitchFamily="34" charset="0"/>
              </a:rPr>
              <a:t>There are two important terms used with cache, </a:t>
            </a:r>
            <a:r>
              <a:rPr lang="en-US" sz="1600" b="1" i="0" dirty="0">
                <a:solidFill>
                  <a:srgbClr val="212121"/>
                </a:solidFill>
                <a:effectLst/>
                <a:latin typeface="open sans" panose="020B0606030504020204" pitchFamily="34" charset="0"/>
              </a:rPr>
              <a:t>cache hit</a:t>
            </a:r>
            <a:r>
              <a:rPr lang="en-US" sz="1600" b="0" i="0" dirty="0">
                <a:solidFill>
                  <a:srgbClr val="212121"/>
                </a:solidFill>
                <a:effectLst/>
                <a:latin typeface="open sans" panose="020B0606030504020204" pitchFamily="34" charset="0"/>
              </a:rPr>
              <a:t> and </a:t>
            </a:r>
            <a:r>
              <a:rPr lang="en-US" sz="1600" b="1" i="0" dirty="0">
                <a:solidFill>
                  <a:srgbClr val="212121"/>
                </a:solidFill>
                <a:effectLst/>
                <a:latin typeface="open sans" panose="020B0606030504020204" pitchFamily="34" charset="0"/>
              </a:rPr>
              <a:t>cache miss</a:t>
            </a:r>
            <a:r>
              <a:rPr lang="en-US" sz="1600" b="0" i="0" dirty="0">
                <a:solidFill>
                  <a:srgbClr val="212121"/>
                </a:solidFill>
                <a:effectLst/>
                <a:latin typeface="open sans" panose="020B0606030504020204" pitchFamily="34" charset="0"/>
              </a:rPr>
              <a:t>. A cache hit occurs when data can be found in a cache and a cache miss occurs when data can't be found in the cache.</a:t>
            </a:r>
          </a:p>
        </p:txBody>
      </p:sp>
      <p:sp>
        <p:nvSpPr>
          <p:cNvPr id="8" name="TextBox 7">
            <a:extLst>
              <a:ext uri="{FF2B5EF4-FFF2-40B4-BE49-F238E27FC236}">
                <a16:creationId xmlns:a16="http://schemas.microsoft.com/office/drawing/2014/main" id="{96F00205-74A2-4DF3-A3A8-7CADB1CAC43A}"/>
              </a:ext>
            </a:extLst>
          </p:cNvPr>
          <p:cNvSpPr txBox="1"/>
          <p:nvPr/>
        </p:nvSpPr>
        <p:spPr>
          <a:xfrm>
            <a:off x="5853883" y="-143983"/>
            <a:ext cx="6115664" cy="3970318"/>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12121"/>
              </a:solidFill>
              <a:effectLst/>
              <a:uLnTx/>
              <a:uFillTx/>
              <a:latin typeface="open sans" panose="020B0606030504020204" pitchFamily="34"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2121"/>
                </a:solidFill>
                <a:effectLst/>
                <a:uLnTx/>
                <a:uFillTx/>
                <a:latin typeface="open sans" panose="020B0606030504020204" pitchFamily="34" charset="0"/>
                <a:ea typeface="+mn-ea"/>
                <a:cs typeface="+mn-cs"/>
              </a:rPr>
              <a:t>Caching significantly improves the performance of an application, reducing the complexity to generate content. It is important to design an application so that it never depends directly on the cached memory. The application should only cache data that don't change frequently and use the cache data only if it is available.</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2121"/>
                </a:solidFill>
                <a:effectLst/>
                <a:uLnTx/>
                <a:uFillTx/>
                <a:latin typeface="open sans" panose="020B0606030504020204" pitchFamily="34" charset="0"/>
                <a:ea typeface="+mn-ea"/>
                <a:cs typeface="+mn-cs"/>
              </a:rPr>
              <a:t>ASP.NET Core has many caching features. But among them</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solidFill>
                <a:srgbClr val="212121"/>
              </a:solidFill>
              <a:latin typeface="open sans" panose="020B0606030504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2121"/>
                </a:solidFill>
                <a:effectLst/>
                <a:uLnTx/>
                <a:uFillTx/>
                <a:latin typeface="open sans" panose="020B0606030504020204" pitchFamily="34" charset="0"/>
                <a:ea typeface="+mn-ea"/>
                <a:cs typeface="+mn-cs"/>
              </a:rPr>
              <a:t> the </a:t>
            </a:r>
            <a:r>
              <a:rPr kumimoji="0" lang="en-US" sz="1800" b="1" i="0" u="none" strike="noStrike" kern="1200" cap="none" spc="0" normalizeH="0" baseline="0" noProof="0" dirty="0">
                <a:ln>
                  <a:noFill/>
                </a:ln>
                <a:solidFill>
                  <a:srgbClr val="212121"/>
                </a:solidFill>
                <a:effectLst/>
                <a:uLnTx/>
                <a:uFillTx/>
                <a:latin typeface="open sans" panose="020B0606030504020204" pitchFamily="34" charset="0"/>
                <a:ea typeface="+mn-ea"/>
                <a:cs typeface="+mn-cs"/>
              </a:rPr>
              <a:t>two </a:t>
            </a:r>
            <a:r>
              <a:rPr kumimoji="0" lang="en-US" sz="1800" b="0" i="0" u="none" strike="noStrike" kern="1200" cap="none" spc="0" normalizeH="0" baseline="0" noProof="0" dirty="0">
                <a:ln>
                  <a:noFill/>
                </a:ln>
                <a:solidFill>
                  <a:srgbClr val="212121"/>
                </a:solidFill>
                <a:effectLst/>
                <a:uLnTx/>
                <a:uFillTx/>
                <a:latin typeface="open sans" panose="020B0606030504020204" pitchFamily="34" charset="0"/>
                <a:ea typeface="+mn-ea"/>
                <a:cs typeface="+mn-cs"/>
              </a:rPr>
              <a:t>main types are,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212121"/>
              </a:solidFill>
              <a:effectLst/>
              <a:uLnTx/>
              <a:uFillTx/>
              <a:latin typeface="open sans" panose="020B0606030504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212121"/>
                </a:solidFill>
                <a:effectLst/>
                <a:uLnTx/>
                <a:uFillTx/>
                <a:latin typeface="open sans" panose="020B0606030504020204" pitchFamily="34" charset="0"/>
                <a:ea typeface="+mn-ea"/>
                <a:cs typeface="+mn-cs"/>
              </a:rPr>
              <a:t>In-memory caching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212121"/>
                </a:solidFill>
                <a:effectLst/>
                <a:uLnTx/>
                <a:uFillTx/>
                <a:latin typeface="open sans" panose="020B0606030504020204" pitchFamily="34" charset="0"/>
                <a:ea typeface="+mn-ea"/>
                <a:cs typeface="+mn-cs"/>
              </a:rPr>
              <a:t>Distributed Caching</a:t>
            </a:r>
          </a:p>
        </p:txBody>
      </p:sp>
    </p:spTree>
    <p:extLst>
      <p:ext uri="{BB962C8B-B14F-4D97-AF65-F5344CB8AC3E}">
        <p14:creationId xmlns:p14="http://schemas.microsoft.com/office/powerpoint/2010/main" val="3546919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AC4BCD6-4BB9-4E9D-9AD6-CB870FC7CAEB}"/>
              </a:ext>
            </a:extLst>
          </p:cNvPr>
          <p:cNvSpPr txBox="1"/>
          <p:nvPr/>
        </p:nvSpPr>
        <p:spPr>
          <a:xfrm>
            <a:off x="157316" y="0"/>
            <a:ext cx="12034684" cy="1754326"/>
          </a:xfrm>
          <a:prstGeom prst="rect">
            <a:avLst/>
          </a:prstGeom>
          <a:noFill/>
        </p:spPr>
        <p:txBody>
          <a:bodyPr wrap="square">
            <a:spAutoFit/>
          </a:bodyPr>
          <a:lstStyle/>
          <a:p>
            <a:pPr algn="just"/>
            <a:r>
              <a:rPr lang="en-US" b="0" i="0" dirty="0">
                <a:solidFill>
                  <a:srgbClr val="212121"/>
                </a:solidFill>
                <a:effectLst/>
                <a:latin typeface="Roboto" panose="02000000000000000000" pitchFamily="2" charset="0"/>
              </a:rPr>
              <a:t>In-memory caching</a:t>
            </a:r>
          </a:p>
          <a:p>
            <a:pPr algn="just"/>
            <a:r>
              <a:rPr lang="en-US" b="0" i="0" dirty="0">
                <a:solidFill>
                  <a:srgbClr val="212121"/>
                </a:solidFill>
                <a:effectLst/>
                <a:latin typeface="open sans" panose="020B0606030504020204" pitchFamily="34" charset="0"/>
              </a:rPr>
              <a:t>An</a:t>
            </a:r>
            <a:r>
              <a:rPr lang="en-US" b="1" i="0" dirty="0">
                <a:solidFill>
                  <a:srgbClr val="212121"/>
                </a:solidFill>
                <a:effectLst/>
                <a:latin typeface="open sans" panose="020B0606030504020204" pitchFamily="34" charset="0"/>
              </a:rPr>
              <a:t> in-memory</a:t>
            </a:r>
            <a:r>
              <a:rPr lang="en-US" b="0" i="0" dirty="0">
                <a:solidFill>
                  <a:srgbClr val="212121"/>
                </a:solidFill>
                <a:effectLst/>
                <a:latin typeface="open sans" panose="020B0606030504020204" pitchFamily="34" charset="0"/>
              </a:rPr>
              <a:t> cache is stored in the memory of a single server hosting the application. Basically, the data is cached within the application. This is the easiest way to drastically improve application performance.</a:t>
            </a:r>
          </a:p>
          <a:p>
            <a:pPr algn="just"/>
            <a:r>
              <a:rPr lang="en-US" b="0" i="0" dirty="0">
                <a:solidFill>
                  <a:srgbClr val="212121"/>
                </a:solidFill>
                <a:effectLst/>
                <a:latin typeface="open sans" panose="020B0606030504020204" pitchFamily="34" charset="0"/>
              </a:rPr>
              <a:t>The main advantage of In-memory caching is it is much quicker than distributed caching because it avoids communicating over a network and it's suitable for small-scale applications. And the main disadvantage is maintaining the consistency of caches while deployed in the cloud.</a:t>
            </a:r>
          </a:p>
        </p:txBody>
      </p:sp>
      <p:sp>
        <p:nvSpPr>
          <p:cNvPr id="7" name="TextBox 6">
            <a:extLst>
              <a:ext uri="{FF2B5EF4-FFF2-40B4-BE49-F238E27FC236}">
                <a16:creationId xmlns:a16="http://schemas.microsoft.com/office/drawing/2014/main" id="{4F072AF8-3FA2-4B20-9008-F5E1D37613C1}"/>
              </a:ext>
            </a:extLst>
          </p:cNvPr>
          <p:cNvSpPr txBox="1"/>
          <p:nvPr/>
        </p:nvSpPr>
        <p:spPr>
          <a:xfrm>
            <a:off x="157316" y="2040644"/>
            <a:ext cx="11198942" cy="646331"/>
          </a:xfrm>
          <a:prstGeom prst="rect">
            <a:avLst/>
          </a:prstGeom>
          <a:noFill/>
        </p:spPr>
        <p:txBody>
          <a:bodyPr wrap="square">
            <a:spAutoFit/>
          </a:bodyPr>
          <a:lstStyle/>
          <a:p>
            <a:r>
              <a:rPr lang="en-IN" b="0" i="0" dirty="0">
                <a:solidFill>
                  <a:srgbClr val="212121"/>
                </a:solidFill>
                <a:effectLst/>
                <a:latin typeface="open sans" panose="020B0606030504020204" pitchFamily="34" charset="0"/>
              </a:rPr>
              <a:t>The </a:t>
            </a:r>
            <a:r>
              <a:rPr lang="en-IN" b="0" i="0" dirty="0" err="1">
                <a:solidFill>
                  <a:srgbClr val="212121"/>
                </a:solidFill>
                <a:effectLst/>
                <a:latin typeface="open sans" panose="020B0606030504020204" pitchFamily="34" charset="0"/>
              </a:rPr>
              <a:t>InMemory</a:t>
            </a:r>
            <a:r>
              <a:rPr lang="en-IN" b="0" i="0" dirty="0">
                <a:solidFill>
                  <a:srgbClr val="212121"/>
                </a:solidFill>
                <a:effectLst/>
                <a:latin typeface="open sans" panose="020B0606030504020204" pitchFamily="34" charset="0"/>
              </a:rPr>
              <a:t> cache which uses </a:t>
            </a:r>
            <a:r>
              <a:rPr lang="en-IN" b="0" i="0" dirty="0" err="1">
                <a:solidFill>
                  <a:srgbClr val="212121"/>
                </a:solidFill>
                <a:effectLst/>
                <a:latin typeface="open sans" panose="020B0606030504020204" pitchFamily="34" charset="0"/>
              </a:rPr>
              <a:t>ImemoryCache</a:t>
            </a:r>
            <a:r>
              <a:rPr lang="en-IN" b="0" i="0" dirty="0">
                <a:solidFill>
                  <a:srgbClr val="212121"/>
                </a:solidFill>
                <a:effectLst/>
                <a:latin typeface="open sans" panose="020B0606030504020204" pitchFamily="34" charset="0"/>
              </a:rPr>
              <a:t> interface requires </a:t>
            </a:r>
            <a:r>
              <a:rPr lang="en-IN" b="1" i="0" dirty="0">
                <a:solidFill>
                  <a:srgbClr val="212121"/>
                </a:solidFill>
                <a:effectLst/>
                <a:latin typeface="open sans" panose="020B0606030504020204" pitchFamily="34" charset="0"/>
              </a:rPr>
              <a:t>NuGet package </a:t>
            </a:r>
            <a:r>
              <a:rPr lang="en-IN" b="0" i="0" dirty="0">
                <a:solidFill>
                  <a:srgbClr val="212121"/>
                </a:solidFill>
                <a:effectLst/>
                <a:latin typeface="open sans" panose="020B0606030504020204" pitchFamily="34" charset="0"/>
              </a:rPr>
              <a:t>"</a:t>
            </a:r>
            <a:r>
              <a:rPr lang="en-IN" b="0" i="0" dirty="0" err="1">
                <a:solidFill>
                  <a:srgbClr val="212121"/>
                </a:solidFill>
                <a:effectLst/>
                <a:highlight>
                  <a:srgbClr val="FFFF00"/>
                </a:highlight>
                <a:latin typeface="open sans" panose="020B0606030504020204" pitchFamily="34" charset="0"/>
              </a:rPr>
              <a:t>Microsoft.Extensions.Caching.Memory</a:t>
            </a:r>
            <a:r>
              <a:rPr lang="en-IN" b="0" i="0" dirty="0">
                <a:solidFill>
                  <a:srgbClr val="212121"/>
                </a:solidFill>
                <a:effectLst/>
                <a:highlight>
                  <a:srgbClr val="FFFF00"/>
                </a:highlight>
                <a:latin typeface="open sans" panose="020B0606030504020204" pitchFamily="34" charset="0"/>
              </a:rPr>
              <a:t>"</a:t>
            </a:r>
            <a:endParaRPr lang="en-IN" dirty="0">
              <a:highlight>
                <a:srgbClr val="FFFF00"/>
              </a:highlight>
            </a:endParaRPr>
          </a:p>
        </p:txBody>
      </p:sp>
      <p:sp>
        <p:nvSpPr>
          <p:cNvPr id="9" name="TextBox 8">
            <a:extLst>
              <a:ext uri="{FF2B5EF4-FFF2-40B4-BE49-F238E27FC236}">
                <a16:creationId xmlns:a16="http://schemas.microsoft.com/office/drawing/2014/main" id="{C5EAC028-B611-485F-8EFF-09491C18B8F7}"/>
              </a:ext>
            </a:extLst>
          </p:cNvPr>
          <p:cNvSpPr txBox="1"/>
          <p:nvPr/>
        </p:nvSpPr>
        <p:spPr>
          <a:xfrm>
            <a:off x="157316" y="2828835"/>
            <a:ext cx="10903974" cy="646331"/>
          </a:xfrm>
          <a:prstGeom prst="rect">
            <a:avLst/>
          </a:prstGeom>
          <a:noFill/>
        </p:spPr>
        <p:txBody>
          <a:bodyPr wrap="square">
            <a:spAutoFit/>
          </a:bodyPr>
          <a:lstStyle/>
          <a:p>
            <a:r>
              <a:rPr lang="en-US" b="0" i="0" dirty="0">
                <a:solidFill>
                  <a:srgbClr val="212121"/>
                </a:solidFill>
                <a:effectLst/>
                <a:latin typeface="open sans" panose="020B0606030504020204" pitchFamily="34" charset="0"/>
              </a:rPr>
              <a:t>The In-Memory caching is a service called by dependency injection in the application, so we register it in the Configure Services in </a:t>
            </a:r>
            <a:r>
              <a:rPr lang="en-US" b="0" i="0" dirty="0" err="1">
                <a:solidFill>
                  <a:srgbClr val="212121"/>
                </a:solidFill>
                <a:effectLst/>
                <a:latin typeface="open sans" panose="020B0606030504020204" pitchFamily="34" charset="0"/>
              </a:rPr>
              <a:t>program.cs</a:t>
            </a:r>
            <a:r>
              <a:rPr lang="en-US" b="0" i="0" dirty="0">
                <a:solidFill>
                  <a:srgbClr val="212121"/>
                </a:solidFill>
                <a:effectLst/>
                <a:latin typeface="open sans" panose="020B0606030504020204" pitchFamily="34" charset="0"/>
              </a:rPr>
              <a:t> file , as per the following code snippet.</a:t>
            </a:r>
            <a:endParaRPr lang="en-IN" dirty="0"/>
          </a:p>
        </p:txBody>
      </p:sp>
      <p:sp>
        <p:nvSpPr>
          <p:cNvPr id="11" name="TextBox 10">
            <a:extLst>
              <a:ext uri="{FF2B5EF4-FFF2-40B4-BE49-F238E27FC236}">
                <a16:creationId xmlns:a16="http://schemas.microsoft.com/office/drawing/2014/main" id="{5A9A46A6-DC62-41E7-BB83-F55528A02A0A}"/>
              </a:ext>
            </a:extLst>
          </p:cNvPr>
          <p:cNvSpPr txBox="1"/>
          <p:nvPr/>
        </p:nvSpPr>
        <p:spPr>
          <a:xfrm>
            <a:off x="700547" y="3778410"/>
            <a:ext cx="8413955" cy="646331"/>
          </a:xfrm>
          <a:prstGeom prst="rect">
            <a:avLst/>
          </a:prstGeom>
          <a:noFill/>
        </p:spPr>
        <p:txBody>
          <a:bodyPr wrap="square">
            <a:spAutoFit/>
          </a:bodyPr>
          <a:lstStyle/>
          <a:p>
            <a:pPr algn="l">
              <a:buFont typeface="+mj-lt"/>
              <a:buAutoNum type="arabicPeriod"/>
            </a:pP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builder.Services.AddMemoryCache</a:t>
            </a:r>
            <a:r>
              <a:rPr lang="en-IN" b="0" i="0" dirty="0">
                <a:solidFill>
                  <a:srgbClr val="000000"/>
                </a:solidFill>
                <a:effectLst/>
                <a:latin typeface="Consolas" panose="020B0609020204030204" pitchFamily="49" charset="0"/>
              </a:rPr>
              <a:t>();  </a:t>
            </a:r>
            <a:endParaRPr lang="en-IN" b="0" i="0" dirty="0">
              <a:solidFill>
                <a:srgbClr val="5C5C5C"/>
              </a:solidFill>
              <a:effectLst/>
              <a:latin typeface="Consolas" panose="020B0609020204030204" pitchFamily="49" charset="0"/>
            </a:endParaRPr>
          </a:p>
          <a:p>
            <a:pPr algn="l"/>
            <a:endParaRPr lang="en-IN" b="0" i="0" dirty="0">
              <a:solidFill>
                <a:srgbClr val="5C5C5C"/>
              </a:solidFill>
              <a:effectLst/>
              <a:latin typeface="Consolas" panose="020B0609020204030204" pitchFamily="49" charset="0"/>
            </a:endParaRPr>
          </a:p>
        </p:txBody>
      </p:sp>
    </p:spTree>
    <p:extLst>
      <p:ext uri="{BB962C8B-B14F-4D97-AF65-F5344CB8AC3E}">
        <p14:creationId xmlns:p14="http://schemas.microsoft.com/office/powerpoint/2010/main" val="3156462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F09B0D5-47E4-4C94-8DA4-E327508B2D21}"/>
              </a:ext>
            </a:extLst>
          </p:cNvPr>
          <p:cNvSpPr txBox="1"/>
          <p:nvPr/>
        </p:nvSpPr>
        <p:spPr>
          <a:xfrm>
            <a:off x="403122" y="83007"/>
            <a:ext cx="11395588" cy="2031325"/>
          </a:xfrm>
          <a:prstGeom prst="rect">
            <a:avLst/>
          </a:prstGeom>
          <a:noFill/>
        </p:spPr>
        <p:txBody>
          <a:bodyPr wrap="square">
            <a:spAutoFit/>
          </a:bodyPr>
          <a:lstStyle/>
          <a:p>
            <a:pPr algn="ctr"/>
            <a:r>
              <a:rPr lang="en-US" b="1" i="0" dirty="0">
                <a:solidFill>
                  <a:srgbClr val="212121"/>
                </a:solidFill>
                <a:effectLst/>
                <a:latin typeface="open sans" panose="020B0606030504020204" pitchFamily="34" charset="0"/>
              </a:rPr>
              <a:t>Implement In-Memory Cache</a:t>
            </a:r>
            <a:endParaRPr lang="en-US" b="0" i="0" dirty="0">
              <a:solidFill>
                <a:srgbClr val="212121"/>
              </a:solidFill>
              <a:effectLst/>
              <a:latin typeface="open sans" panose="020B0606030504020204" pitchFamily="34" charset="0"/>
            </a:endParaRPr>
          </a:p>
          <a:p>
            <a:pPr algn="l"/>
            <a:r>
              <a:rPr lang="en-US" b="0" i="0" dirty="0">
                <a:solidFill>
                  <a:srgbClr val="212121"/>
                </a:solidFill>
                <a:effectLst/>
                <a:latin typeface="open sans" panose="020B0606030504020204" pitchFamily="34" charset="0"/>
              </a:rPr>
              <a:t> </a:t>
            </a:r>
          </a:p>
          <a:p>
            <a:pPr algn="l"/>
            <a:r>
              <a:rPr lang="en-US" b="0" i="0" dirty="0">
                <a:solidFill>
                  <a:srgbClr val="212121"/>
                </a:solidFill>
                <a:effectLst/>
                <a:latin typeface="open sans" panose="020B0606030504020204" pitchFamily="34" charset="0"/>
              </a:rPr>
              <a:t>To implement the In-Memory cache, we create a Controller named </a:t>
            </a:r>
            <a:r>
              <a:rPr lang="en-US" b="0" i="0" dirty="0" err="1">
                <a:solidFill>
                  <a:srgbClr val="212121"/>
                </a:solidFill>
                <a:effectLst/>
                <a:latin typeface="open sans" panose="020B0606030504020204" pitchFamily="34" charset="0"/>
              </a:rPr>
              <a:t>HomeController</a:t>
            </a:r>
            <a:r>
              <a:rPr lang="en-US" b="0" i="0" dirty="0">
                <a:solidFill>
                  <a:srgbClr val="212121"/>
                </a:solidFill>
                <a:effectLst/>
                <a:latin typeface="open sans" panose="020B0606030504020204" pitchFamily="34" charset="0"/>
              </a:rPr>
              <a:t>. This Controller holds the implementation of the In-Memory cache.</a:t>
            </a:r>
          </a:p>
          <a:p>
            <a:pPr algn="l"/>
            <a:r>
              <a:rPr lang="en-US" b="0" i="0" dirty="0">
                <a:solidFill>
                  <a:srgbClr val="212121"/>
                </a:solidFill>
                <a:effectLst/>
                <a:latin typeface="open sans" panose="020B0606030504020204" pitchFamily="34" charset="0"/>
              </a:rPr>
              <a:t> </a:t>
            </a:r>
          </a:p>
          <a:p>
            <a:pPr algn="l"/>
            <a:r>
              <a:rPr lang="en-US" b="0" i="0" dirty="0">
                <a:solidFill>
                  <a:srgbClr val="212121"/>
                </a:solidFill>
                <a:effectLst/>
                <a:latin typeface="open sans" panose="020B0606030504020204" pitchFamily="34" charset="0"/>
              </a:rPr>
              <a:t>Now, we create </a:t>
            </a:r>
            <a:r>
              <a:rPr lang="en-US" b="0" i="0" dirty="0" err="1">
                <a:solidFill>
                  <a:srgbClr val="212121"/>
                </a:solidFill>
                <a:effectLst/>
                <a:latin typeface="open sans" panose="020B0606030504020204" pitchFamily="34" charset="0"/>
              </a:rPr>
              <a:t>ImemoryCache</a:t>
            </a:r>
            <a:r>
              <a:rPr lang="en-US" b="0" i="0" dirty="0">
                <a:solidFill>
                  <a:srgbClr val="212121"/>
                </a:solidFill>
                <a:effectLst/>
                <a:latin typeface="open sans" panose="020B0606030504020204" pitchFamily="34" charset="0"/>
              </a:rPr>
              <a:t> interface instance in the </a:t>
            </a:r>
            <a:r>
              <a:rPr lang="en-US" b="0" i="0" dirty="0" err="1">
                <a:solidFill>
                  <a:srgbClr val="212121"/>
                </a:solidFill>
                <a:effectLst/>
                <a:latin typeface="open sans" panose="020B0606030504020204" pitchFamily="34" charset="0"/>
              </a:rPr>
              <a:t>HomeController</a:t>
            </a:r>
            <a:r>
              <a:rPr lang="en-US" b="0" i="0" dirty="0">
                <a:solidFill>
                  <a:srgbClr val="212121"/>
                </a:solidFill>
                <a:effectLst/>
                <a:latin typeface="open sans" panose="020B0606030504020204" pitchFamily="34" charset="0"/>
              </a:rPr>
              <a:t> using constructor dependency injection. The following code snippet can be used for the same</a:t>
            </a:r>
          </a:p>
        </p:txBody>
      </p:sp>
      <p:sp>
        <p:nvSpPr>
          <p:cNvPr id="7" name="TextBox 6">
            <a:extLst>
              <a:ext uri="{FF2B5EF4-FFF2-40B4-BE49-F238E27FC236}">
                <a16:creationId xmlns:a16="http://schemas.microsoft.com/office/drawing/2014/main" id="{50E731B0-69AF-4ECC-B457-F42E0DC9F88E}"/>
              </a:ext>
            </a:extLst>
          </p:cNvPr>
          <p:cNvSpPr txBox="1"/>
          <p:nvPr/>
        </p:nvSpPr>
        <p:spPr>
          <a:xfrm>
            <a:off x="255637" y="2183553"/>
            <a:ext cx="6194323" cy="3754874"/>
          </a:xfrm>
          <a:prstGeom prst="rect">
            <a:avLst/>
          </a:prstGeom>
          <a:noFill/>
        </p:spPr>
        <p:txBody>
          <a:bodyPr wrap="square">
            <a:spAutoFit/>
          </a:bodyPr>
          <a:lstStyle/>
          <a:p>
            <a:pPr algn="l">
              <a:buFont typeface="+mj-lt"/>
              <a:buAutoNum type="arabicPeriod"/>
            </a:pPr>
            <a:r>
              <a:rPr lang="en-IN" sz="1400" b="1" i="0" dirty="0">
                <a:solidFill>
                  <a:srgbClr val="006699"/>
                </a:solidFill>
                <a:effectLst/>
                <a:latin typeface="Consolas" panose="020B0609020204030204" pitchFamily="49" charset="0"/>
              </a:rPr>
              <a:t>using</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Microsoft.AspNetCore.Mvc</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1" i="0" dirty="0">
                <a:solidFill>
                  <a:srgbClr val="006699"/>
                </a:solidFill>
                <a:effectLst/>
                <a:latin typeface="Consolas" panose="020B0609020204030204" pitchFamily="49" charset="0"/>
              </a:rPr>
              <a:t>using</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Microsoft.Extensions.Caching.Memory</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1" i="0" dirty="0">
                <a:solidFill>
                  <a:srgbClr val="006699"/>
                </a:solidFill>
                <a:effectLst/>
                <a:latin typeface="Consolas" panose="020B0609020204030204" pitchFamily="49" charset="0"/>
              </a:rPr>
              <a:t>using</a:t>
            </a:r>
            <a:r>
              <a:rPr lang="en-IN" sz="1400" b="0" i="0" dirty="0">
                <a:solidFill>
                  <a:srgbClr val="000000"/>
                </a:solidFill>
                <a:effectLst/>
                <a:latin typeface="Consolas" panose="020B0609020204030204" pitchFamily="49" charset="0"/>
              </a:rPr>
              <a:t> System;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1" i="0" dirty="0">
                <a:solidFill>
                  <a:srgbClr val="006699"/>
                </a:solidFill>
                <a:effectLst/>
                <a:latin typeface="Consolas" panose="020B0609020204030204" pitchFamily="49" charset="0"/>
              </a:rPr>
              <a:t>namespace</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MemoryCacheApplication.Controllers</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public</a:t>
            </a: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class</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HomeController</a:t>
            </a:r>
            <a:r>
              <a:rPr lang="en-IN" sz="1400" b="0" i="0" dirty="0">
                <a:solidFill>
                  <a:srgbClr val="000000"/>
                </a:solidFill>
                <a:effectLst/>
                <a:latin typeface="Consolas" panose="020B0609020204030204" pitchFamily="49" charset="0"/>
              </a:rPr>
              <a:t> : Controller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private</a:t>
            </a:r>
            <a:r>
              <a:rPr lang="en-IN" sz="1400" b="0" i="0" dirty="0">
                <a:solidFill>
                  <a:srgbClr val="000000"/>
                </a:solidFill>
                <a:effectLst/>
                <a:latin typeface="Consolas" panose="020B0609020204030204" pitchFamily="49" charset="0"/>
              </a:rPr>
              <a:t> </a:t>
            </a:r>
            <a:r>
              <a:rPr lang="en-IN" sz="1400" b="1" i="0" dirty="0" err="1">
                <a:solidFill>
                  <a:srgbClr val="006699"/>
                </a:solidFill>
                <a:effectLst/>
                <a:latin typeface="Consolas" panose="020B0609020204030204" pitchFamily="49" charset="0"/>
              </a:rPr>
              <a:t>readonly</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IMemoryCache</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memoryCache</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public</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HomeController</a:t>
            </a:r>
            <a:r>
              <a:rPr lang="en-IN" sz="1400" b="0" i="0" dirty="0">
                <a:solidFill>
                  <a:srgbClr val="000000"/>
                </a:solidFill>
                <a:effectLst/>
                <a:latin typeface="Consolas" panose="020B0609020204030204" pitchFamily="49" charset="0"/>
              </a:rPr>
              <a:t>(</a:t>
            </a:r>
            <a:r>
              <a:rPr lang="en-IN" sz="1400" b="0" i="0" dirty="0" err="1">
                <a:solidFill>
                  <a:srgbClr val="000000"/>
                </a:solidFill>
                <a:effectLst/>
                <a:latin typeface="Consolas" panose="020B0609020204030204" pitchFamily="49" charset="0"/>
              </a:rPr>
              <a:t>IMemoryCache</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memoryCache</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1" i="0" dirty="0" err="1">
                <a:solidFill>
                  <a:srgbClr val="006699"/>
                </a:solidFill>
                <a:effectLst/>
                <a:latin typeface="Consolas" panose="020B0609020204030204" pitchFamily="49" charset="0"/>
              </a:rPr>
              <a:t>this</a:t>
            </a:r>
            <a:r>
              <a:rPr lang="en-IN" sz="1400" b="0" i="0" dirty="0" err="1">
                <a:solidFill>
                  <a:srgbClr val="000000"/>
                </a:solidFill>
                <a:effectLst/>
                <a:latin typeface="Consolas" panose="020B0609020204030204" pitchFamily="49" charset="0"/>
              </a:rPr>
              <a:t>.memoryCache</a:t>
            </a:r>
            <a:r>
              <a:rPr lang="en-IN" sz="1400" b="0" i="0" dirty="0">
                <a:solidFill>
                  <a:srgbClr val="000000"/>
                </a:solidFill>
                <a:effectLst/>
                <a:latin typeface="Consolas" panose="020B0609020204030204" pitchFamily="49" charset="0"/>
              </a:rPr>
              <a:t> = </a:t>
            </a:r>
            <a:r>
              <a:rPr lang="en-IN" sz="1400" b="0" i="0" dirty="0" err="1">
                <a:solidFill>
                  <a:srgbClr val="000000"/>
                </a:solidFill>
                <a:effectLst/>
                <a:latin typeface="Consolas" panose="020B0609020204030204" pitchFamily="49" charset="0"/>
              </a:rPr>
              <a:t>memoryCache</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p:txBody>
      </p:sp>
    </p:spTree>
    <p:extLst>
      <p:ext uri="{BB962C8B-B14F-4D97-AF65-F5344CB8AC3E}">
        <p14:creationId xmlns:p14="http://schemas.microsoft.com/office/powerpoint/2010/main" val="2098823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FF53E0-2588-4475-BA2D-1EE6FB289C9A}"/>
              </a:ext>
            </a:extLst>
          </p:cNvPr>
          <p:cNvSpPr txBox="1"/>
          <p:nvPr/>
        </p:nvSpPr>
        <p:spPr>
          <a:xfrm>
            <a:off x="147483" y="69277"/>
            <a:ext cx="11090787" cy="646331"/>
          </a:xfrm>
          <a:prstGeom prst="rect">
            <a:avLst/>
          </a:prstGeom>
          <a:noFill/>
        </p:spPr>
        <p:txBody>
          <a:bodyPr wrap="square">
            <a:spAutoFit/>
          </a:bodyPr>
          <a:lstStyle/>
          <a:p>
            <a:r>
              <a:rPr lang="en-US" b="0" i="0" dirty="0">
                <a:solidFill>
                  <a:srgbClr val="212121"/>
                </a:solidFill>
                <a:effectLst/>
                <a:latin typeface="open sans" panose="020B0606030504020204" pitchFamily="34" charset="0"/>
              </a:rPr>
              <a:t>Now, we need to create an action method named Index. This action method sets data in the cache. The following code snippet is for the same. </a:t>
            </a:r>
            <a:endParaRPr lang="en-IN" dirty="0"/>
          </a:p>
        </p:txBody>
      </p:sp>
      <p:sp>
        <p:nvSpPr>
          <p:cNvPr id="7" name="TextBox 6">
            <a:extLst>
              <a:ext uri="{FF2B5EF4-FFF2-40B4-BE49-F238E27FC236}">
                <a16:creationId xmlns:a16="http://schemas.microsoft.com/office/drawing/2014/main" id="{A182D45E-DF7F-40FF-B042-D478F1662071}"/>
              </a:ext>
            </a:extLst>
          </p:cNvPr>
          <p:cNvSpPr txBox="1"/>
          <p:nvPr/>
        </p:nvSpPr>
        <p:spPr>
          <a:xfrm>
            <a:off x="294968" y="822628"/>
            <a:ext cx="8652388" cy="3108543"/>
          </a:xfrm>
          <a:prstGeom prst="rect">
            <a:avLst/>
          </a:prstGeom>
          <a:noFill/>
        </p:spPr>
        <p:txBody>
          <a:bodyPr wrap="square">
            <a:spAutoFit/>
          </a:bodyPr>
          <a:lstStyle/>
          <a:p>
            <a:pPr algn="l">
              <a:buFont typeface="+mj-lt"/>
              <a:buAutoNum type="arabicPeriod"/>
            </a:pPr>
            <a:r>
              <a:rPr lang="en-IN" sz="1400" b="1" i="0" dirty="0">
                <a:solidFill>
                  <a:srgbClr val="006699"/>
                </a:solidFill>
                <a:effectLst/>
                <a:latin typeface="Consolas" panose="020B0609020204030204" pitchFamily="49" charset="0"/>
              </a:rPr>
              <a:t>public</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IActionResult</a:t>
            </a:r>
            <a:r>
              <a:rPr lang="en-IN" sz="1400" b="0" i="0" dirty="0">
                <a:solidFill>
                  <a:srgbClr val="000000"/>
                </a:solidFill>
                <a:effectLst/>
                <a:latin typeface="Consolas" panose="020B0609020204030204" pitchFamily="49" charset="0"/>
              </a:rPr>
              <a:t> Index()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DateTime</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currentTime</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bool </a:t>
            </a:r>
            <a:r>
              <a:rPr lang="en-IN" sz="1400" b="0" i="0" dirty="0" err="1">
                <a:solidFill>
                  <a:srgbClr val="000000"/>
                </a:solidFill>
                <a:effectLst/>
                <a:latin typeface="Consolas" panose="020B0609020204030204" pitchFamily="49" charset="0"/>
              </a:rPr>
              <a:t>isExist</a:t>
            </a:r>
            <a:r>
              <a:rPr lang="en-IN" sz="1400" b="0" i="0" dirty="0">
                <a:solidFill>
                  <a:srgbClr val="000000"/>
                </a:solidFill>
                <a:effectLst/>
                <a:latin typeface="Consolas" panose="020B0609020204030204" pitchFamily="49" charset="0"/>
              </a:rPr>
              <a:t> = </a:t>
            </a:r>
            <a:r>
              <a:rPr lang="en-IN" sz="1400" b="0" i="0" dirty="0" err="1">
                <a:solidFill>
                  <a:srgbClr val="000000"/>
                </a:solidFill>
                <a:effectLst/>
                <a:latin typeface="Consolas" panose="020B0609020204030204" pitchFamily="49" charset="0"/>
              </a:rPr>
              <a:t>memoryCache.TryGetValue</a:t>
            </a:r>
            <a:r>
              <a:rPr lang="en-IN" sz="1400" b="0" i="0" dirty="0">
                <a:solidFill>
                  <a:srgbClr val="000000"/>
                </a:solidFill>
                <a:effectLst/>
                <a:latin typeface="Consolas" panose="020B0609020204030204" pitchFamily="49" charset="0"/>
              </a:rPr>
              <a:t>(</a:t>
            </a:r>
            <a:r>
              <a:rPr lang="en-IN" sz="1400" b="0" i="0" dirty="0">
                <a:solidFill>
                  <a:srgbClr val="0000FF"/>
                </a:solidFill>
                <a:effectLst/>
                <a:latin typeface="Consolas" panose="020B0609020204030204" pitchFamily="49" charset="0"/>
              </a:rPr>
              <a:t>"</a:t>
            </a:r>
            <a:r>
              <a:rPr lang="en-IN" sz="1400" b="0" i="0" dirty="0" err="1">
                <a:solidFill>
                  <a:srgbClr val="0000FF"/>
                </a:solidFill>
                <a:effectLst/>
                <a:latin typeface="Consolas" panose="020B0609020204030204" pitchFamily="49" charset="0"/>
              </a:rPr>
              <a:t>CacheTime</a:t>
            </a:r>
            <a:r>
              <a:rPr lang="en-IN" sz="1400" b="0" i="0" dirty="0">
                <a:solidFill>
                  <a:srgbClr val="0000FF"/>
                </a:solidFill>
                <a:effectLst/>
                <a:latin typeface="Consolas" panose="020B0609020204030204" pitchFamily="49" charset="0"/>
              </a:rPr>
              <a:t>"</a:t>
            </a:r>
            <a:r>
              <a:rPr lang="en-IN" sz="1400" b="0" i="0" dirty="0">
                <a:solidFill>
                  <a:srgbClr val="000000"/>
                </a:solidFill>
                <a:effectLst/>
                <a:latin typeface="Consolas" panose="020B0609020204030204" pitchFamily="49" charset="0"/>
              </a:rPr>
              <a:t>, out </a:t>
            </a:r>
            <a:r>
              <a:rPr lang="en-IN" sz="1400" b="0" i="0" dirty="0" err="1">
                <a:solidFill>
                  <a:srgbClr val="000000"/>
                </a:solidFill>
                <a:effectLst/>
                <a:latin typeface="Consolas" panose="020B0609020204030204" pitchFamily="49" charset="0"/>
              </a:rPr>
              <a:t>currentTime</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if</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isExist</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currentTime</a:t>
            </a:r>
            <a:r>
              <a:rPr lang="en-IN" sz="1400" b="0" i="0" dirty="0">
                <a:solidFill>
                  <a:srgbClr val="000000"/>
                </a:solidFill>
                <a:effectLst/>
                <a:latin typeface="Consolas" panose="020B0609020204030204" pitchFamily="49" charset="0"/>
              </a:rPr>
              <a:t> = </a:t>
            </a:r>
            <a:r>
              <a:rPr lang="en-IN" sz="1400" b="0" i="0" dirty="0" err="1">
                <a:solidFill>
                  <a:srgbClr val="000000"/>
                </a:solidFill>
                <a:effectLst/>
                <a:latin typeface="Consolas" panose="020B0609020204030204" pitchFamily="49" charset="0"/>
              </a:rPr>
              <a:t>DateTime.Now</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var</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cacheEntryOptions</a:t>
            </a:r>
            <a:r>
              <a:rPr lang="en-IN" sz="1400" b="0" i="0" dirty="0">
                <a:solidFill>
                  <a:srgbClr val="000000"/>
                </a:solidFill>
                <a:effectLst/>
                <a:latin typeface="Consolas" panose="020B0609020204030204" pitchFamily="49" charset="0"/>
              </a:rPr>
              <a:t> = </a:t>
            </a:r>
            <a:r>
              <a:rPr lang="en-IN" sz="1400" b="1" i="0" dirty="0">
                <a:solidFill>
                  <a:srgbClr val="006699"/>
                </a:solidFill>
                <a:effectLst/>
                <a:latin typeface="Consolas" panose="020B0609020204030204" pitchFamily="49" charset="0"/>
              </a:rPr>
              <a:t>new</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MemoryCacheEntryOptions</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SetSlidingExpiration</a:t>
            </a:r>
            <a:r>
              <a:rPr lang="en-IN" sz="1400" b="0" i="0" dirty="0">
                <a:solidFill>
                  <a:srgbClr val="000000"/>
                </a:solidFill>
                <a:effectLst/>
                <a:latin typeface="Consolas" panose="020B0609020204030204" pitchFamily="49" charset="0"/>
              </a:rPr>
              <a:t>(</a:t>
            </a:r>
            <a:r>
              <a:rPr lang="en-IN" sz="1400" b="0" i="0" dirty="0" err="1">
                <a:solidFill>
                  <a:srgbClr val="000000"/>
                </a:solidFill>
                <a:effectLst/>
                <a:latin typeface="Consolas" panose="020B0609020204030204" pitchFamily="49" charset="0"/>
              </a:rPr>
              <a:t>TimeSpan.FromSeconds</a:t>
            </a:r>
            <a:r>
              <a:rPr lang="en-IN" sz="1400" b="0" i="0" dirty="0">
                <a:solidFill>
                  <a:srgbClr val="000000"/>
                </a:solidFill>
                <a:effectLst/>
                <a:latin typeface="Consolas" panose="020B0609020204030204" pitchFamily="49" charset="0"/>
              </a:rPr>
              <a:t>(30));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memoryCache.Set</a:t>
            </a:r>
            <a:r>
              <a:rPr lang="en-IN" sz="1400" b="0" i="0" dirty="0">
                <a:solidFill>
                  <a:srgbClr val="000000"/>
                </a:solidFill>
                <a:effectLst/>
                <a:latin typeface="Consolas" panose="020B0609020204030204" pitchFamily="49" charset="0"/>
              </a:rPr>
              <a:t>(</a:t>
            </a:r>
            <a:r>
              <a:rPr lang="en-IN" sz="1400" b="0" i="0" dirty="0">
                <a:solidFill>
                  <a:srgbClr val="0000FF"/>
                </a:solidFill>
                <a:effectLst/>
                <a:latin typeface="Consolas" panose="020B0609020204030204" pitchFamily="49" charset="0"/>
              </a:rPr>
              <a:t>"</a:t>
            </a:r>
            <a:r>
              <a:rPr lang="en-IN" sz="1400" b="0" i="0" dirty="0" err="1">
                <a:solidFill>
                  <a:srgbClr val="0000FF"/>
                </a:solidFill>
                <a:effectLst/>
                <a:latin typeface="Consolas" panose="020B0609020204030204" pitchFamily="49" charset="0"/>
              </a:rPr>
              <a:t>CacheTime</a:t>
            </a:r>
            <a:r>
              <a:rPr lang="en-IN" sz="1400" b="0" i="0" dirty="0">
                <a:solidFill>
                  <a:srgbClr val="0000FF"/>
                </a:solidFill>
                <a:effectLst/>
                <a:latin typeface="Consolas" panose="020B0609020204030204" pitchFamily="49" charset="0"/>
              </a:rPr>
              <a:t>"</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currentTime</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cacheEntryOptions</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return</a:t>
            </a:r>
            <a:r>
              <a:rPr lang="en-IN" sz="1400" b="0" i="0" dirty="0">
                <a:solidFill>
                  <a:srgbClr val="000000"/>
                </a:solidFill>
                <a:effectLst/>
                <a:latin typeface="Consolas" panose="020B0609020204030204" pitchFamily="49" charset="0"/>
              </a:rPr>
              <a:t> View(</a:t>
            </a:r>
            <a:r>
              <a:rPr lang="en-IN" sz="1400" b="0" i="0" dirty="0" err="1">
                <a:solidFill>
                  <a:srgbClr val="000000"/>
                </a:solidFill>
                <a:effectLst/>
                <a:latin typeface="Consolas" panose="020B0609020204030204" pitchFamily="49" charset="0"/>
              </a:rPr>
              <a:t>currentTime</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p:txBody>
      </p:sp>
      <p:sp>
        <p:nvSpPr>
          <p:cNvPr id="9" name="TextBox 8">
            <a:extLst>
              <a:ext uri="{FF2B5EF4-FFF2-40B4-BE49-F238E27FC236}">
                <a16:creationId xmlns:a16="http://schemas.microsoft.com/office/drawing/2014/main" id="{8DEEA34D-41B6-4893-AF34-2917E5332393}"/>
              </a:ext>
            </a:extLst>
          </p:cNvPr>
          <p:cNvSpPr txBox="1"/>
          <p:nvPr/>
        </p:nvSpPr>
        <p:spPr>
          <a:xfrm>
            <a:off x="147483" y="3931171"/>
            <a:ext cx="12044517" cy="2462213"/>
          </a:xfrm>
          <a:prstGeom prst="rect">
            <a:avLst/>
          </a:prstGeom>
          <a:noFill/>
        </p:spPr>
        <p:txBody>
          <a:bodyPr wrap="square">
            <a:spAutoFit/>
          </a:bodyPr>
          <a:lstStyle/>
          <a:p>
            <a:pPr algn="l"/>
            <a:r>
              <a:rPr lang="en-US" sz="1400" b="0" i="0" dirty="0">
                <a:solidFill>
                  <a:srgbClr val="212121"/>
                </a:solidFill>
                <a:effectLst/>
                <a:latin typeface="open sans" panose="020B0606030504020204" pitchFamily="34" charset="0"/>
              </a:rPr>
              <a:t>The above code snippet has consumed some methods of </a:t>
            </a:r>
            <a:r>
              <a:rPr lang="en-US" sz="1400" b="0" i="0" dirty="0" err="1">
                <a:solidFill>
                  <a:srgbClr val="212121"/>
                </a:solidFill>
                <a:effectLst/>
                <a:latin typeface="open sans" panose="020B0606030504020204" pitchFamily="34" charset="0"/>
              </a:rPr>
              <a:t>InMemory</a:t>
            </a:r>
            <a:r>
              <a:rPr lang="en-US" sz="1400" b="0" i="0" dirty="0">
                <a:solidFill>
                  <a:srgbClr val="212121"/>
                </a:solidFill>
                <a:effectLst/>
                <a:latin typeface="open sans" panose="020B0606030504020204" pitchFamily="34" charset="0"/>
              </a:rPr>
              <a:t> cache service for reading and writing the data in the cache.</a:t>
            </a:r>
          </a:p>
          <a:p>
            <a:pPr algn="l">
              <a:buFont typeface="+mj-lt"/>
              <a:buAutoNum type="arabicPeriod"/>
            </a:pPr>
            <a:r>
              <a:rPr lang="en-US" sz="1400" b="1" i="1" dirty="0" err="1">
                <a:solidFill>
                  <a:srgbClr val="212121"/>
                </a:solidFill>
                <a:effectLst/>
                <a:latin typeface="open sans" panose="020B0606030504020204" pitchFamily="34" charset="0"/>
              </a:rPr>
              <a:t>TryGetValue</a:t>
            </a:r>
            <a:br>
              <a:rPr lang="en-US" sz="1400" b="0" i="1" dirty="0">
                <a:solidFill>
                  <a:srgbClr val="212121"/>
                </a:solidFill>
                <a:effectLst/>
                <a:latin typeface="open sans" panose="020B0606030504020204" pitchFamily="34" charset="0"/>
              </a:rPr>
            </a:br>
            <a:r>
              <a:rPr lang="en-US" sz="1400" b="0" i="0" dirty="0">
                <a:solidFill>
                  <a:srgbClr val="212121"/>
                </a:solidFill>
                <a:effectLst/>
                <a:latin typeface="open sans" panose="020B0606030504020204" pitchFamily="34" charset="0"/>
              </a:rPr>
              <a:t>This method reads value and assigns it in out parameter. It returns true if the value exists otherwise returns false.</a:t>
            </a:r>
            <a:br>
              <a:rPr lang="en-US" sz="1400" b="0" i="0" dirty="0">
                <a:solidFill>
                  <a:srgbClr val="212121"/>
                </a:solidFill>
                <a:effectLst/>
                <a:latin typeface="open sans" panose="020B0606030504020204" pitchFamily="34" charset="0"/>
              </a:rPr>
            </a:br>
            <a:r>
              <a:rPr lang="en-US" sz="1400" b="0" i="1" dirty="0">
                <a:solidFill>
                  <a:srgbClr val="212121"/>
                </a:solidFill>
                <a:effectLst/>
                <a:latin typeface="open sans" panose="020B0606030504020204" pitchFamily="34" charset="0"/>
              </a:rPr>
              <a:t>Set</a:t>
            </a:r>
            <a:br>
              <a:rPr lang="en-US" sz="1400" b="0" i="1" dirty="0">
                <a:solidFill>
                  <a:srgbClr val="212121"/>
                </a:solidFill>
                <a:effectLst/>
                <a:latin typeface="open sans" panose="020B0606030504020204" pitchFamily="34" charset="0"/>
              </a:rPr>
            </a:br>
            <a:r>
              <a:rPr lang="en-US" sz="1400" b="0" i="0" dirty="0">
                <a:solidFill>
                  <a:srgbClr val="212121"/>
                </a:solidFill>
                <a:effectLst/>
                <a:latin typeface="open sans" panose="020B0606030504020204" pitchFamily="34" charset="0"/>
              </a:rPr>
              <a:t>This method writes data in the cache. This method has three options - Cache Key name, data which is to be cached, and expiration option respectively.</a:t>
            </a:r>
            <a:br>
              <a:rPr lang="en-US" sz="1400" b="0" i="0" dirty="0">
                <a:solidFill>
                  <a:srgbClr val="212121"/>
                </a:solidFill>
                <a:effectLst/>
                <a:latin typeface="open sans" panose="020B0606030504020204" pitchFamily="34" charset="0"/>
              </a:rPr>
            </a:br>
            <a:endParaRPr lang="en-US" sz="1400" b="0" i="0" dirty="0">
              <a:solidFill>
                <a:srgbClr val="212121"/>
              </a:solidFill>
              <a:effectLst/>
              <a:latin typeface="open sans" panose="020B0606030504020204" pitchFamily="34" charset="0"/>
            </a:endParaRPr>
          </a:p>
          <a:p>
            <a:pPr algn="l">
              <a:buFont typeface="+mj-lt"/>
              <a:buAutoNum type="arabicPeriod"/>
            </a:pPr>
            <a:r>
              <a:rPr lang="en-US" sz="1400" b="1" i="1" dirty="0" err="1">
                <a:solidFill>
                  <a:srgbClr val="212121"/>
                </a:solidFill>
                <a:effectLst/>
                <a:latin typeface="open sans" panose="020B0606030504020204" pitchFamily="34" charset="0"/>
              </a:rPr>
              <a:t>SetSlidingExpiration</a:t>
            </a:r>
            <a:br>
              <a:rPr lang="en-US" sz="1400" b="0" i="1" dirty="0">
                <a:solidFill>
                  <a:srgbClr val="212121"/>
                </a:solidFill>
                <a:effectLst/>
                <a:latin typeface="open sans" panose="020B0606030504020204" pitchFamily="34" charset="0"/>
              </a:rPr>
            </a:br>
            <a:r>
              <a:rPr lang="en-US" sz="1400" b="0" i="0" dirty="0">
                <a:solidFill>
                  <a:srgbClr val="212121"/>
                </a:solidFill>
                <a:effectLst/>
                <a:latin typeface="open sans" panose="020B0606030504020204" pitchFamily="34" charset="0"/>
              </a:rPr>
              <a:t>It sets cache expiration from absolute to sliding. When we make </a:t>
            </a:r>
            <a:r>
              <a:rPr lang="en-US" sz="1400" b="0" i="0" dirty="0">
                <a:solidFill>
                  <a:srgbClr val="212121"/>
                </a:solidFill>
                <a:effectLst/>
                <a:highlight>
                  <a:srgbClr val="FFFF00"/>
                </a:highlight>
                <a:latin typeface="open sans" panose="020B0606030504020204" pitchFamily="34" charset="0"/>
              </a:rPr>
              <a:t>another request with expiration time, then it will be renewed with each response. </a:t>
            </a:r>
            <a:r>
              <a:rPr lang="en-US" sz="1400" b="0" i="0" dirty="0">
                <a:solidFill>
                  <a:srgbClr val="212121"/>
                </a:solidFill>
                <a:effectLst/>
                <a:latin typeface="open sans" panose="020B0606030504020204" pitchFamily="34" charset="0"/>
              </a:rPr>
              <a:t>Now, we create a View named "Index" under </a:t>
            </a:r>
            <a:r>
              <a:rPr lang="en-US" sz="1400" b="1" i="0" dirty="0">
                <a:solidFill>
                  <a:srgbClr val="212121"/>
                </a:solidFill>
                <a:effectLst/>
                <a:latin typeface="open sans" panose="020B0606030504020204" pitchFamily="34" charset="0"/>
              </a:rPr>
              <a:t>Views/Home </a:t>
            </a:r>
            <a:r>
              <a:rPr lang="en-US" sz="1400" b="0" i="0" dirty="0">
                <a:solidFill>
                  <a:srgbClr val="212121"/>
                </a:solidFill>
                <a:effectLst/>
                <a:latin typeface="open sans" panose="020B0606030504020204" pitchFamily="34" charset="0"/>
              </a:rPr>
              <a:t>folder for the Index action method as per the following code snippet.</a:t>
            </a:r>
            <a:br>
              <a:rPr lang="en-US" sz="1400" b="0" i="0" dirty="0">
                <a:solidFill>
                  <a:srgbClr val="212121"/>
                </a:solidFill>
                <a:effectLst/>
                <a:latin typeface="open sans" panose="020B0606030504020204" pitchFamily="34" charset="0"/>
              </a:rPr>
            </a:br>
            <a:endParaRPr lang="en-US" sz="1400" b="0" i="0" dirty="0">
              <a:solidFill>
                <a:srgbClr val="5C5C5C"/>
              </a:solidFill>
              <a:effectLst/>
              <a:latin typeface="Consolas" panose="020B0609020204030204" pitchFamily="49" charset="0"/>
            </a:endParaRPr>
          </a:p>
        </p:txBody>
      </p:sp>
    </p:spTree>
    <p:extLst>
      <p:ext uri="{BB962C8B-B14F-4D97-AF65-F5344CB8AC3E}">
        <p14:creationId xmlns:p14="http://schemas.microsoft.com/office/powerpoint/2010/main" val="41588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74739C-E87A-4C21-8EBD-A9CB26E7F11B}"/>
              </a:ext>
            </a:extLst>
          </p:cNvPr>
          <p:cNvSpPr txBox="1"/>
          <p:nvPr/>
        </p:nvSpPr>
        <p:spPr>
          <a:xfrm>
            <a:off x="363793" y="200147"/>
            <a:ext cx="5801034" cy="1754326"/>
          </a:xfrm>
          <a:prstGeom prst="rect">
            <a:avLst/>
          </a:prstGeom>
          <a:noFill/>
        </p:spPr>
        <p:txBody>
          <a:bodyPr wrap="square">
            <a:spAutoFit/>
          </a:bodyPr>
          <a:lstStyle/>
          <a:p>
            <a:pPr algn="l">
              <a:buFont typeface="+mj-lt"/>
              <a:buAutoNum type="arabicPeriod"/>
            </a:pPr>
            <a:r>
              <a:rPr lang="en-IN" sz="1200" b="0" i="0" dirty="0">
                <a:solidFill>
                  <a:srgbClr val="000000"/>
                </a:solidFill>
                <a:effectLst/>
                <a:latin typeface="Consolas" panose="020B0609020204030204" pitchFamily="49" charset="0"/>
              </a:rPr>
              <a:t>@model </a:t>
            </a:r>
            <a:r>
              <a:rPr lang="en-IN" sz="1200" b="0" i="0" dirty="0" err="1">
                <a:solidFill>
                  <a:srgbClr val="000000"/>
                </a:solidFill>
                <a:effectLst/>
                <a:latin typeface="Consolas" panose="020B0609020204030204" pitchFamily="49" charset="0"/>
              </a:rPr>
              <a:t>DateTime</a:t>
            </a:r>
            <a:r>
              <a:rPr lang="en-IN" sz="1200" b="0" i="0" dirty="0">
                <a:solidFill>
                  <a:srgbClr val="000000"/>
                </a:solidFill>
                <a:effectLst/>
                <a:latin typeface="Consolas" panose="020B0609020204030204" pitchFamily="49" charset="0"/>
              </a:rPr>
              <a: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&lt;div </a:t>
            </a:r>
            <a:r>
              <a:rPr lang="en-IN" sz="1200" b="1" i="0" dirty="0">
                <a:solidFill>
                  <a:srgbClr val="006699"/>
                </a:solidFill>
                <a:effectLst/>
                <a:latin typeface="Consolas" panose="020B0609020204030204" pitchFamily="49" charset="0"/>
              </a:rPr>
              <a:t>class</a:t>
            </a:r>
            <a:r>
              <a:rPr lang="en-IN" sz="1200" b="0" i="0" dirty="0">
                <a:solidFill>
                  <a:srgbClr val="000000"/>
                </a:solidFill>
                <a:effectLst/>
                <a:latin typeface="Consolas" panose="020B0609020204030204" pitchFamily="49" charset="0"/>
              </a:rPr>
              <a:t>=</a:t>
            </a:r>
            <a:r>
              <a:rPr lang="en-IN" sz="1200" b="0" i="0" dirty="0">
                <a:solidFill>
                  <a:srgbClr val="0000FF"/>
                </a:solidFill>
                <a:effectLst/>
                <a:latin typeface="Consolas" panose="020B0609020204030204" pitchFamily="49" charset="0"/>
              </a:rPr>
              <a:t>"row"</a:t>
            </a:r>
            <a:r>
              <a:rPr lang="en-IN" sz="1200" b="0" i="0" dirty="0">
                <a:solidFill>
                  <a:srgbClr val="000000"/>
                </a:solidFill>
                <a:effectLst/>
                <a:latin typeface="Consolas" panose="020B0609020204030204" pitchFamily="49" charset="0"/>
              </a:rPr>
              <a:t>&gt;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&lt;div </a:t>
            </a:r>
            <a:r>
              <a:rPr lang="en-IN" sz="1200" b="1" i="0" dirty="0">
                <a:solidFill>
                  <a:srgbClr val="006699"/>
                </a:solidFill>
                <a:effectLst/>
                <a:latin typeface="Consolas" panose="020B0609020204030204" pitchFamily="49" charset="0"/>
              </a:rPr>
              <a:t>class</a:t>
            </a:r>
            <a:r>
              <a:rPr lang="en-IN" sz="1200" b="0" i="0" dirty="0">
                <a:solidFill>
                  <a:srgbClr val="000000"/>
                </a:solidFill>
                <a:effectLst/>
                <a:latin typeface="Consolas" panose="020B0609020204030204" pitchFamily="49" charset="0"/>
              </a:rPr>
              <a:t>=</a:t>
            </a:r>
            <a:r>
              <a:rPr lang="en-IN" sz="1200" b="0" i="0" dirty="0">
                <a:solidFill>
                  <a:srgbClr val="0000FF"/>
                </a:solidFill>
                <a:effectLst/>
                <a:latin typeface="Consolas" panose="020B0609020204030204" pitchFamily="49" charset="0"/>
              </a:rPr>
              <a:t>"col-md-3"</a:t>
            </a:r>
            <a:r>
              <a:rPr lang="en-IN" sz="1200" b="0" i="0" dirty="0">
                <a:solidFill>
                  <a:srgbClr val="000000"/>
                </a:solidFill>
                <a:effectLst/>
                <a:latin typeface="Consolas" panose="020B0609020204030204" pitchFamily="49" charset="0"/>
              </a:rPr>
              <a:t>&gt;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&lt;h3&gt; Current Time: @DateTime.Now.ToString()&lt;/h3&gt;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&lt;/div&gt;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&lt;div </a:t>
            </a:r>
            <a:r>
              <a:rPr lang="en-IN" sz="1200" b="1" i="0" dirty="0">
                <a:solidFill>
                  <a:srgbClr val="006699"/>
                </a:solidFill>
                <a:effectLst/>
                <a:latin typeface="Consolas" panose="020B0609020204030204" pitchFamily="49" charset="0"/>
              </a:rPr>
              <a:t>class</a:t>
            </a:r>
            <a:r>
              <a:rPr lang="en-IN" sz="1200" b="0" i="0" dirty="0">
                <a:solidFill>
                  <a:srgbClr val="000000"/>
                </a:solidFill>
                <a:effectLst/>
                <a:latin typeface="Consolas" panose="020B0609020204030204" pitchFamily="49" charset="0"/>
              </a:rPr>
              <a:t>=</a:t>
            </a:r>
            <a:r>
              <a:rPr lang="en-IN" sz="1200" b="0" i="0" dirty="0">
                <a:solidFill>
                  <a:srgbClr val="0000FF"/>
                </a:solidFill>
                <a:effectLst/>
                <a:latin typeface="Consolas" panose="020B0609020204030204" pitchFamily="49" charset="0"/>
              </a:rPr>
              <a:t>"col-md-3"</a:t>
            </a:r>
            <a:r>
              <a:rPr lang="en-IN" sz="1200" b="0" i="0" dirty="0">
                <a:solidFill>
                  <a:srgbClr val="000000"/>
                </a:solidFill>
                <a:effectLst/>
                <a:latin typeface="Consolas" panose="020B0609020204030204" pitchFamily="49" charset="0"/>
              </a:rPr>
              <a:t>&gt;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&lt;h3&gt;Cached Time: @Model.Value.ToString()&lt;/h3&gt;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&lt;/div&gt;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&lt;/div&gt;   </a:t>
            </a:r>
            <a:endParaRPr lang="en-IN" sz="1200" b="0" i="0" dirty="0">
              <a:solidFill>
                <a:srgbClr val="5C5C5C"/>
              </a:solidFill>
              <a:effectLst/>
              <a:latin typeface="Consolas" panose="020B0609020204030204" pitchFamily="49" charset="0"/>
            </a:endParaRPr>
          </a:p>
        </p:txBody>
      </p:sp>
      <p:sp>
        <p:nvSpPr>
          <p:cNvPr id="7" name="TextBox 6">
            <a:extLst>
              <a:ext uri="{FF2B5EF4-FFF2-40B4-BE49-F238E27FC236}">
                <a16:creationId xmlns:a16="http://schemas.microsoft.com/office/drawing/2014/main" id="{7A4707EA-CD60-423E-9E4F-370646763493}"/>
              </a:ext>
            </a:extLst>
          </p:cNvPr>
          <p:cNvSpPr txBox="1"/>
          <p:nvPr/>
        </p:nvSpPr>
        <p:spPr>
          <a:xfrm>
            <a:off x="363793" y="2228671"/>
            <a:ext cx="6096000" cy="1200329"/>
          </a:xfrm>
          <a:prstGeom prst="rect">
            <a:avLst/>
          </a:prstGeom>
          <a:noFill/>
        </p:spPr>
        <p:txBody>
          <a:bodyPr wrap="square">
            <a:spAutoFit/>
          </a:bodyPr>
          <a:lstStyle/>
          <a:p>
            <a:r>
              <a:rPr lang="en-US" dirty="0"/>
              <a:t>The above code shows current time and cached time. Now, we will run the application and make another request within 30 seconds with the same client. The result shows as per the below figure.</a:t>
            </a:r>
            <a:endParaRPr lang="en-IN" dirty="0"/>
          </a:p>
        </p:txBody>
      </p:sp>
      <p:sp>
        <p:nvSpPr>
          <p:cNvPr id="11" name="TextBox 10">
            <a:extLst>
              <a:ext uri="{FF2B5EF4-FFF2-40B4-BE49-F238E27FC236}">
                <a16:creationId xmlns:a16="http://schemas.microsoft.com/office/drawing/2014/main" id="{6C36EAD6-8327-479F-9CD6-D661406F4059}"/>
              </a:ext>
            </a:extLst>
          </p:cNvPr>
          <p:cNvSpPr txBox="1"/>
          <p:nvPr/>
        </p:nvSpPr>
        <p:spPr>
          <a:xfrm>
            <a:off x="245807" y="6266308"/>
            <a:ext cx="10668000" cy="369332"/>
          </a:xfrm>
          <a:prstGeom prst="rect">
            <a:avLst/>
          </a:prstGeom>
          <a:noFill/>
        </p:spPr>
        <p:txBody>
          <a:bodyPr wrap="square">
            <a:spAutoFit/>
          </a:bodyPr>
          <a:lstStyle/>
          <a:p>
            <a:r>
              <a:rPr lang="en-US" dirty="0"/>
              <a:t>The result shows that when we request within expiration time, then it returns cache data.</a:t>
            </a:r>
            <a:endParaRPr lang="en-IN" dirty="0"/>
          </a:p>
        </p:txBody>
      </p:sp>
      <p:pic>
        <p:nvPicPr>
          <p:cNvPr id="3" name="Picture 2">
            <a:extLst>
              <a:ext uri="{FF2B5EF4-FFF2-40B4-BE49-F238E27FC236}">
                <a16:creationId xmlns:a16="http://schemas.microsoft.com/office/drawing/2014/main" id="{31FABDA2-EB82-CCE9-07BC-8085C2FE1527}"/>
              </a:ext>
            </a:extLst>
          </p:cNvPr>
          <p:cNvPicPr>
            <a:picLocks noChangeAspect="1"/>
          </p:cNvPicPr>
          <p:nvPr/>
        </p:nvPicPr>
        <p:blipFill>
          <a:blip r:embed="rId2"/>
          <a:stretch>
            <a:fillRect/>
          </a:stretch>
        </p:blipFill>
        <p:spPr>
          <a:xfrm>
            <a:off x="6288033" y="3175072"/>
            <a:ext cx="5281115" cy="3091236"/>
          </a:xfrm>
          <a:prstGeom prst="rect">
            <a:avLst/>
          </a:prstGeom>
        </p:spPr>
      </p:pic>
    </p:spTree>
    <p:extLst>
      <p:ext uri="{BB962C8B-B14F-4D97-AF65-F5344CB8AC3E}">
        <p14:creationId xmlns:p14="http://schemas.microsoft.com/office/powerpoint/2010/main" val="160981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BD91156-5588-4C14-8425-93763CF46ADA}"/>
              </a:ext>
            </a:extLst>
          </p:cNvPr>
          <p:cNvSpPr txBox="1"/>
          <p:nvPr/>
        </p:nvSpPr>
        <p:spPr>
          <a:xfrm>
            <a:off x="226141" y="95042"/>
            <a:ext cx="11621729" cy="3693319"/>
          </a:xfrm>
          <a:prstGeom prst="rect">
            <a:avLst/>
          </a:prstGeom>
          <a:noFill/>
        </p:spPr>
        <p:txBody>
          <a:bodyPr wrap="square">
            <a:spAutoFit/>
          </a:bodyPr>
          <a:lstStyle/>
          <a:p>
            <a:pPr algn="ctr"/>
            <a:r>
              <a:rPr lang="en-US" b="1" i="0" dirty="0">
                <a:solidFill>
                  <a:srgbClr val="212121"/>
                </a:solidFill>
                <a:effectLst/>
                <a:latin typeface="open sans" panose="020B0606030504020204" pitchFamily="34" charset="0"/>
              </a:rPr>
              <a:t>Read and Write In-Memory Cache</a:t>
            </a:r>
            <a:endParaRPr lang="en-US" b="0" i="0" dirty="0">
              <a:solidFill>
                <a:srgbClr val="212121"/>
              </a:solidFill>
              <a:effectLst/>
              <a:latin typeface="open sans" panose="020B0606030504020204" pitchFamily="34" charset="0"/>
            </a:endParaRPr>
          </a:p>
          <a:p>
            <a:pPr algn="l"/>
            <a:r>
              <a:rPr lang="en-US" b="0" i="0" dirty="0">
                <a:solidFill>
                  <a:srgbClr val="212121"/>
                </a:solidFill>
                <a:effectLst/>
                <a:latin typeface="open sans" panose="020B0606030504020204" pitchFamily="34" charset="0"/>
              </a:rPr>
              <a:t> </a:t>
            </a:r>
          </a:p>
          <a:p>
            <a:pPr algn="l"/>
            <a:r>
              <a:rPr lang="en-US" b="0" i="0" dirty="0">
                <a:solidFill>
                  <a:srgbClr val="212121"/>
                </a:solidFill>
                <a:effectLst/>
                <a:latin typeface="open sans" panose="020B0606030504020204" pitchFamily="34" charset="0"/>
              </a:rPr>
              <a:t>The In-Memory Cache provides another option to read and write data in the cache. There are two methods - Get and </a:t>
            </a:r>
            <a:r>
              <a:rPr lang="en-US" b="0" i="0" dirty="0" err="1">
                <a:solidFill>
                  <a:srgbClr val="212121"/>
                </a:solidFill>
                <a:effectLst/>
                <a:latin typeface="open sans" panose="020B0606030504020204" pitchFamily="34" charset="0"/>
              </a:rPr>
              <a:t>GetOrCreate</a:t>
            </a:r>
            <a:r>
              <a:rPr lang="en-US" b="0" i="0" dirty="0">
                <a:solidFill>
                  <a:srgbClr val="212121"/>
                </a:solidFill>
                <a:effectLst/>
                <a:latin typeface="open sans" panose="020B0606030504020204" pitchFamily="34" charset="0"/>
              </a:rPr>
              <a:t>.</a:t>
            </a:r>
          </a:p>
          <a:p>
            <a:pPr algn="l">
              <a:buFont typeface="+mj-lt"/>
              <a:buAutoNum type="arabicPeriod"/>
            </a:pPr>
            <a:r>
              <a:rPr lang="en-US" b="1" i="1" dirty="0">
                <a:solidFill>
                  <a:srgbClr val="212121"/>
                </a:solidFill>
                <a:effectLst/>
                <a:latin typeface="open sans" panose="020B0606030504020204" pitchFamily="34" charset="0"/>
              </a:rPr>
              <a:t>Get</a:t>
            </a:r>
            <a:br>
              <a:rPr lang="en-US" b="0" i="1" dirty="0">
                <a:solidFill>
                  <a:srgbClr val="212121"/>
                </a:solidFill>
                <a:effectLst/>
                <a:latin typeface="open sans" panose="020B0606030504020204" pitchFamily="34" charset="0"/>
              </a:rPr>
            </a:br>
            <a:r>
              <a:rPr lang="en-US" b="0" i="0" dirty="0">
                <a:solidFill>
                  <a:srgbClr val="212121"/>
                </a:solidFill>
                <a:effectLst/>
                <a:latin typeface="open sans" panose="020B0606030504020204" pitchFamily="34" charset="0"/>
              </a:rPr>
              <a:t>This method is used to get cached data. It takes cache key as a parameter and returns data stored based on this key.</a:t>
            </a:r>
            <a:br>
              <a:rPr lang="en-US" b="0" i="0" dirty="0">
                <a:solidFill>
                  <a:srgbClr val="212121"/>
                </a:solidFill>
                <a:effectLst/>
                <a:latin typeface="open sans" panose="020B0606030504020204" pitchFamily="34" charset="0"/>
              </a:rPr>
            </a:br>
            <a:endParaRPr lang="en-US" b="0" i="0" dirty="0">
              <a:solidFill>
                <a:srgbClr val="212121"/>
              </a:solidFill>
              <a:effectLst/>
              <a:latin typeface="open sans" panose="020B0606030504020204" pitchFamily="34" charset="0"/>
            </a:endParaRPr>
          </a:p>
          <a:p>
            <a:pPr algn="l">
              <a:buFont typeface="+mj-lt"/>
              <a:buAutoNum type="arabicPeriod"/>
            </a:pPr>
            <a:r>
              <a:rPr lang="en-US" b="1" i="1" dirty="0" err="1">
                <a:solidFill>
                  <a:srgbClr val="212121"/>
                </a:solidFill>
                <a:effectLst/>
                <a:latin typeface="open sans" panose="020B0606030504020204" pitchFamily="34" charset="0"/>
              </a:rPr>
              <a:t>GetOrCreate</a:t>
            </a:r>
            <a:br>
              <a:rPr lang="en-US" b="0" i="1" dirty="0">
                <a:solidFill>
                  <a:srgbClr val="212121"/>
                </a:solidFill>
                <a:effectLst/>
                <a:latin typeface="open sans" panose="020B0606030504020204" pitchFamily="34" charset="0"/>
              </a:rPr>
            </a:br>
            <a:r>
              <a:rPr lang="en-US" b="0" i="0" dirty="0">
                <a:solidFill>
                  <a:srgbClr val="212121"/>
                </a:solidFill>
                <a:effectLst/>
                <a:latin typeface="open sans" panose="020B0606030504020204" pitchFamily="34" charset="0"/>
              </a:rPr>
              <a:t>If the data exists for a cache key, then this method </a:t>
            </a:r>
            <a:r>
              <a:rPr lang="en-US" b="0" i="0" dirty="0">
                <a:solidFill>
                  <a:srgbClr val="212121"/>
                </a:solidFill>
                <a:effectLst/>
                <a:highlight>
                  <a:srgbClr val="FFFF00"/>
                </a:highlight>
                <a:latin typeface="open sans" panose="020B0606030504020204" pitchFamily="34" charset="0"/>
              </a:rPr>
              <a:t>reads that data and returns</a:t>
            </a:r>
            <a:r>
              <a:rPr lang="en-US" b="0" i="0" dirty="0">
                <a:solidFill>
                  <a:srgbClr val="212121"/>
                </a:solidFill>
                <a:effectLst/>
                <a:latin typeface="open sans" panose="020B0606030504020204" pitchFamily="34" charset="0"/>
              </a:rPr>
              <a:t>. If cache data for that cache key doesn’t exist, then it </a:t>
            </a:r>
            <a:r>
              <a:rPr lang="en-US" b="0" i="0" dirty="0">
                <a:solidFill>
                  <a:srgbClr val="212121"/>
                </a:solidFill>
                <a:effectLst/>
                <a:highlight>
                  <a:srgbClr val="FFFF00"/>
                </a:highlight>
                <a:latin typeface="open sans" panose="020B0606030504020204" pitchFamily="34" charset="0"/>
              </a:rPr>
              <a:t>writes data in the cache</a:t>
            </a:r>
            <a:r>
              <a:rPr lang="en-US" b="0" i="0" dirty="0">
                <a:solidFill>
                  <a:srgbClr val="212121"/>
                </a:solidFill>
                <a:effectLst/>
                <a:latin typeface="open sans" panose="020B0606030504020204" pitchFamily="34" charset="0"/>
              </a:rPr>
              <a:t>.</a:t>
            </a:r>
          </a:p>
          <a:p>
            <a:pPr algn="l"/>
            <a:r>
              <a:rPr lang="en-US" b="0" i="0" dirty="0">
                <a:solidFill>
                  <a:srgbClr val="212121"/>
                </a:solidFill>
                <a:effectLst/>
                <a:latin typeface="open sans" panose="020B0606030504020204" pitchFamily="34" charset="0"/>
              </a:rPr>
              <a:t>Now, we will create another example in the same application while using these two methods. We have created View Model named </a:t>
            </a:r>
            <a:r>
              <a:rPr lang="en-US" b="0" i="0" dirty="0" err="1">
                <a:solidFill>
                  <a:srgbClr val="212121"/>
                </a:solidFill>
                <a:effectLst/>
                <a:latin typeface="open sans" panose="020B0606030504020204" pitchFamily="34" charset="0"/>
              </a:rPr>
              <a:t>CacheViewModel</a:t>
            </a:r>
            <a:r>
              <a:rPr lang="en-US" b="0" i="0" dirty="0">
                <a:solidFill>
                  <a:srgbClr val="212121"/>
                </a:solidFill>
                <a:effectLst/>
                <a:latin typeface="open sans" panose="020B0606030504020204" pitchFamily="34" charset="0"/>
              </a:rPr>
              <a:t> as per the following code snippet.</a:t>
            </a:r>
          </a:p>
        </p:txBody>
      </p:sp>
      <p:sp>
        <p:nvSpPr>
          <p:cNvPr id="7" name="TextBox 6">
            <a:extLst>
              <a:ext uri="{FF2B5EF4-FFF2-40B4-BE49-F238E27FC236}">
                <a16:creationId xmlns:a16="http://schemas.microsoft.com/office/drawing/2014/main" id="{0A5313EE-2E46-4360-ACF4-EF6736FDAA7C}"/>
              </a:ext>
            </a:extLst>
          </p:cNvPr>
          <p:cNvSpPr txBox="1"/>
          <p:nvPr/>
        </p:nvSpPr>
        <p:spPr>
          <a:xfrm>
            <a:off x="452284" y="4192043"/>
            <a:ext cx="6096000" cy="2031325"/>
          </a:xfrm>
          <a:prstGeom prst="rect">
            <a:avLst/>
          </a:prstGeom>
          <a:noFill/>
        </p:spPr>
        <p:txBody>
          <a:bodyPr wrap="square">
            <a:spAutoFit/>
          </a:bodyPr>
          <a:lstStyle/>
          <a:p>
            <a:pPr algn="l">
              <a:buFont typeface="+mj-lt"/>
              <a:buAutoNum type="arabicPeriod"/>
            </a:pPr>
            <a:r>
              <a:rPr lang="en-IN" sz="1400" b="1" i="0" dirty="0">
                <a:solidFill>
                  <a:srgbClr val="006699"/>
                </a:solidFill>
                <a:effectLst/>
                <a:latin typeface="Consolas" panose="020B0609020204030204" pitchFamily="49" charset="0"/>
              </a:rPr>
              <a:t>using</a:t>
            </a:r>
            <a:r>
              <a:rPr lang="en-IN" sz="1400" b="0" i="0" dirty="0">
                <a:solidFill>
                  <a:srgbClr val="000000"/>
                </a:solidFill>
                <a:effectLst/>
                <a:latin typeface="Consolas" panose="020B0609020204030204" pitchFamily="49" charset="0"/>
              </a:rPr>
              <a:t> System;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1" i="0" dirty="0">
                <a:solidFill>
                  <a:srgbClr val="006699"/>
                </a:solidFill>
                <a:effectLst/>
                <a:latin typeface="Consolas" panose="020B0609020204030204" pitchFamily="49" charset="0"/>
              </a:rPr>
              <a:t>namespace</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MemoryCacheApplication.Models</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public</a:t>
            </a: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class</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CacheViewModel</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public</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DateTime</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FirstTime</a:t>
            </a:r>
            <a:r>
              <a:rPr lang="en-IN" sz="1400" b="0" i="0" dirty="0">
                <a:solidFill>
                  <a:srgbClr val="000000"/>
                </a:solidFill>
                <a:effectLst/>
                <a:latin typeface="Consolas" panose="020B0609020204030204" pitchFamily="49" charset="0"/>
              </a:rPr>
              <a:t> { </a:t>
            </a:r>
            <a:r>
              <a:rPr lang="en-IN" sz="1400" b="1" i="0" dirty="0">
                <a:solidFill>
                  <a:srgbClr val="006699"/>
                </a:solidFill>
                <a:effectLst/>
                <a:latin typeface="Consolas" panose="020B0609020204030204" pitchFamily="49" charset="0"/>
              </a:rPr>
              <a:t>get</a:t>
            </a: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set</a:t>
            </a: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public</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DateTime</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SecondTime</a:t>
            </a:r>
            <a:r>
              <a:rPr lang="en-IN" sz="1400" b="0" i="0" dirty="0">
                <a:solidFill>
                  <a:srgbClr val="000000"/>
                </a:solidFill>
                <a:effectLst/>
                <a:latin typeface="Consolas" panose="020B0609020204030204" pitchFamily="49" charset="0"/>
              </a:rPr>
              <a:t> { </a:t>
            </a:r>
            <a:r>
              <a:rPr lang="en-IN" sz="1400" b="1" i="0" dirty="0">
                <a:solidFill>
                  <a:srgbClr val="006699"/>
                </a:solidFill>
                <a:effectLst/>
                <a:latin typeface="Consolas" panose="020B0609020204030204" pitchFamily="49" charset="0"/>
              </a:rPr>
              <a:t>get</a:t>
            </a: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set</a:t>
            </a: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p:txBody>
      </p:sp>
    </p:spTree>
    <p:extLst>
      <p:ext uri="{BB962C8B-B14F-4D97-AF65-F5344CB8AC3E}">
        <p14:creationId xmlns:p14="http://schemas.microsoft.com/office/powerpoint/2010/main" val="2828966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764694-45DD-4FEA-9680-41B265D560B7}"/>
              </a:ext>
            </a:extLst>
          </p:cNvPr>
          <p:cNvSpPr txBox="1"/>
          <p:nvPr/>
        </p:nvSpPr>
        <p:spPr>
          <a:xfrm>
            <a:off x="157315" y="88942"/>
            <a:ext cx="11926529"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0" i="0" dirty="0">
                <a:solidFill>
                  <a:srgbClr val="212121"/>
                </a:solidFill>
                <a:effectLst/>
                <a:latin typeface="open sans" panose="020B0606030504020204" pitchFamily="34" charset="0"/>
              </a:rPr>
              <a:t>Now, create Index action method in </a:t>
            </a:r>
            <a:r>
              <a:rPr lang="en-US" b="0" i="0" dirty="0" err="1">
                <a:solidFill>
                  <a:srgbClr val="212121"/>
                </a:solidFill>
                <a:effectLst/>
                <a:latin typeface="open sans" panose="020B0606030504020204" pitchFamily="34" charset="0"/>
              </a:rPr>
              <a:t>HomeController</a:t>
            </a:r>
            <a:r>
              <a:rPr lang="en-US" b="0" i="0" dirty="0">
                <a:solidFill>
                  <a:srgbClr val="212121"/>
                </a:solidFill>
                <a:effectLst/>
                <a:latin typeface="open sans" panose="020B0606030504020204" pitchFamily="34" charset="0"/>
              </a:rPr>
              <a:t>. This action method implements both cache In-Memory methods. See the code snippet. </a:t>
            </a:r>
            <a:endParaRPr lang="en-IN" dirty="0"/>
          </a:p>
        </p:txBody>
      </p:sp>
      <p:sp>
        <p:nvSpPr>
          <p:cNvPr id="7" name="TextBox 6">
            <a:extLst>
              <a:ext uri="{FF2B5EF4-FFF2-40B4-BE49-F238E27FC236}">
                <a16:creationId xmlns:a16="http://schemas.microsoft.com/office/drawing/2014/main" id="{7E30BE46-3E23-4162-847C-43FA93864AA0}"/>
              </a:ext>
            </a:extLst>
          </p:cNvPr>
          <p:cNvSpPr txBox="1"/>
          <p:nvPr/>
        </p:nvSpPr>
        <p:spPr>
          <a:xfrm>
            <a:off x="157315" y="912814"/>
            <a:ext cx="6096000" cy="2492990"/>
          </a:xfrm>
          <a:prstGeom prst="rect">
            <a:avLst/>
          </a:prstGeom>
          <a:noFill/>
        </p:spPr>
        <p:txBody>
          <a:bodyPr wrap="square">
            <a:spAutoFit/>
          </a:bodyPr>
          <a:lstStyle/>
          <a:p>
            <a:pPr algn="l">
              <a:buFont typeface="+mj-lt"/>
              <a:buAutoNum type="arabicPeriod"/>
            </a:pPr>
            <a:r>
              <a:rPr lang="en-IN" sz="1200" b="1" i="0" dirty="0">
                <a:solidFill>
                  <a:srgbClr val="006699"/>
                </a:solidFill>
                <a:effectLst/>
                <a:latin typeface="Consolas" panose="020B0609020204030204" pitchFamily="49" charset="0"/>
              </a:rPr>
              <a:t>public</a:t>
            </a:r>
            <a:r>
              <a:rPr lang="en-IN" sz="1200" b="0" i="0" dirty="0">
                <a:solidFill>
                  <a:srgbClr val="000000"/>
                </a:solidFill>
                <a:effectLst/>
                <a:latin typeface="Consolas" panose="020B0609020204030204" pitchFamily="49" charset="0"/>
              </a:rPr>
              <a:t> </a:t>
            </a:r>
            <a:r>
              <a:rPr lang="en-IN" sz="1200" b="0" i="0" dirty="0" err="1">
                <a:solidFill>
                  <a:srgbClr val="000000"/>
                </a:solidFill>
                <a:effectLst/>
                <a:latin typeface="Consolas" panose="020B0609020204030204" pitchFamily="49" charset="0"/>
              </a:rPr>
              <a:t>IActionResult</a:t>
            </a:r>
            <a:r>
              <a:rPr lang="en-IN" sz="1200" b="0" i="0" dirty="0">
                <a:solidFill>
                  <a:srgbClr val="000000"/>
                </a:solidFill>
                <a:effectLst/>
                <a:latin typeface="Consolas" panose="020B0609020204030204" pitchFamily="49" charset="0"/>
              </a:rPr>
              <a:t> Index()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a:t>
            </a:r>
            <a:r>
              <a:rPr lang="en-IN" sz="1200" b="0" i="0" dirty="0" err="1">
                <a:solidFill>
                  <a:srgbClr val="000000"/>
                </a:solidFill>
                <a:effectLst/>
                <a:latin typeface="Consolas" panose="020B0609020204030204" pitchFamily="49" charset="0"/>
              </a:rPr>
              <a:t>CacheViewModel</a:t>
            </a:r>
            <a:r>
              <a:rPr lang="en-IN" sz="1200" b="0" i="0" dirty="0">
                <a:solidFill>
                  <a:srgbClr val="000000"/>
                </a:solidFill>
                <a:effectLst/>
                <a:latin typeface="Consolas" panose="020B0609020204030204" pitchFamily="49" charset="0"/>
              </a:rPr>
              <a:t> model = </a:t>
            </a:r>
            <a:r>
              <a:rPr lang="en-IN" sz="1200" b="1" i="0" dirty="0">
                <a:solidFill>
                  <a:srgbClr val="006699"/>
                </a:solidFill>
                <a:effectLst/>
                <a:latin typeface="Consolas" panose="020B0609020204030204" pitchFamily="49" charset="0"/>
              </a:rPr>
              <a:t>new</a:t>
            </a:r>
            <a:r>
              <a:rPr lang="en-IN" sz="1200" b="0" i="0" dirty="0">
                <a:solidFill>
                  <a:srgbClr val="000000"/>
                </a:solidFill>
                <a:effectLst/>
                <a:latin typeface="Consolas" panose="020B0609020204030204" pitchFamily="49" charset="0"/>
              </a:rPr>
              <a:t> </a:t>
            </a:r>
            <a:r>
              <a:rPr lang="en-IN" sz="1200" b="0" i="0" dirty="0" err="1">
                <a:solidFill>
                  <a:srgbClr val="000000"/>
                </a:solidFill>
                <a:effectLst/>
                <a:latin typeface="Consolas" panose="020B0609020204030204" pitchFamily="49" charset="0"/>
              </a:rPr>
              <a:t>CacheViewModel</a:t>
            </a:r>
            <a:r>
              <a:rPr lang="en-IN" sz="1200" b="0" i="0" dirty="0">
                <a:solidFill>
                  <a:srgbClr val="000000"/>
                </a:solidFill>
                <a:effectLst/>
                <a:latin typeface="Consolas" panose="020B0609020204030204" pitchFamily="49" charset="0"/>
              </a:rPr>
              <a: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a:t>
            </a:r>
            <a:r>
              <a:rPr lang="en-IN" sz="1200" b="0" i="0" dirty="0" err="1">
                <a:solidFill>
                  <a:srgbClr val="000000"/>
                </a:solidFill>
                <a:effectLst/>
                <a:latin typeface="Consolas" panose="020B0609020204030204" pitchFamily="49" charset="0"/>
              </a:rPr>
              <a:t>FirstTime</a:t>
            </a:r>
            <a:r>
              <a:rPr lang="en-IN" sz="1200" b="0" i="0" dirty="0">
                <a:solidFill>
                  <a:srgbClr val="000000"/>
                </a:solidFill>
                <a:effectLst/>
                <a:latin typeface="Consolas" panose="020B0609020204030204" pitchFamily="49" charset="0"/>
              </a:rPr>
              <a:t> = </a:t>
            </a:r>
            <a:r>
              <a:rPr lang="en-IN" sz="1200" b="0" i="0" dirty="0" err="1">
                <a:solidFill>
                  <a:srgbClr val="000000"/>
                </a:solidFill>
                <a:effectLst/>
                <a:latin typeface="Consolas" panose="020B0609020204030204" pitchFamily="49" charset="0"/>
              </a:rPr>
              <a:t>memoryCache.Get</a:t>
            </a:r>
            <a:r>
              <a:rPr lang="en-IN" sz="1200" b="0" i="0" dirty="0">
                <a:solidFill>
                  <a:srgbClr val="000000"/>
                </a:solidFill>
                <a:effectLst/>
                <a:latin typeface="Consolas" panose="020B0609020204030204" pitchFamily="49" charset="0"/>
              </a:rPr>
              <a:t>&lt;</a:t>
            </a:r>
            <a:r>
              <a:rPr lang="en-IN" sz="1200" b="0" i="0" dirty="0" err="1">
                <a:solidFill>
                  <a:srgbClr val="000000"/>
                </a:solidFill>
                <a:effectLst/>
                <a:latin typeface="Consolas" panose="020B0609020204030204" pitchFamily="49" charset="0"/>
              </a:rPr>
              <a:t>DateTime</a:t>
            </a:r>
            <a:r>
              <a:rPr lang="en-IN" sz="1200" b="0" i="0" dirty="0">
                <a:solidFill>
                  <a:srgbClr val="000000"/>
                </a:solidFill>
                <a:effectLst/>
                <a:latin typeface="Consolas" panose="020B0609020204030204" pitchFamily="49" charset="0"/>
              </a:rPr>
              <a:t>?&gt;(</a:t>
            </a:r>
            <a:r>
              <a:rPr lang="en-IN" sz="1200" b="0" i="0" dirty="0">
                <a:solidFill>
                  <a:srgbClr val="0000FF"/>
                </a:solidFill>
                <a:effectLst/>
                <a:latin typeface="Consolas" panose="020B0609020204030204" pitchFamily="49" charset="0"/>
              </a:rPr>
              <a:t>"</a:t>
            </a:r>
            <a:r>
              <a:rPr lang="en-IN" sz="1200" b="0" i="0" dirty="0" err="1">
                <a:solidFill>
                  <a:srgbClr val="0000FF"/>
                </a:solidFill>
                <a:effectLst/>
                <a:latin typeface="Consolas" panose="020B0609020204030204" pitchFamily="49" charset="0"/>
              </a:rPr>
              <a:t>CacheTime</a:t>
            </a:r>
            <a:r>
              <a:rPr lang="en-IN" sz="1200" b="0" i="0" dirty="0">
                <a:solidFill>
                  <a:srgbClr val="0000FF"/>
                </a:solidFill>
                <a:effectLst/>
                <a:latin typeface="Consolas" panose="020B0609020204030204" pitchFamily="49" charset="0"/>
              </a:rPr>
              <a:t>"</a:t>
            </a:r>
            <a:r>
              <a:rPr lang="en-IN" sz="1200" b="0" i="0" dirty="0">
                <a:solidFill>
                  <a:srgbClr val="000000"/>
                </a:solidFill>
                <a:effectLst/>
                <a:latin typeface="Consolas" panose="020B0609020204030204" pitchFamily="49" charset="0"/>
              </a:rPr>
              <a: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a:t>
            </a:r>
            <a:r>
              <a:rPr lang="en-IN" sz="1200" b="0" i="0" dirty="0" err="1">
                <a:solidFill>
                  <a:srgbClr val="000000"/>
                </a:solidFill>
                <a:effectLst/>
                <a:latin typeface="Consolas" panose="020B0609020204030204" pitchFamily="49" charset="0"/>
              </a:rPr>
              <a:t>SecondTime</a:t>
            </a:r>
            <a:r>
              <a:rPr lang="en-IN" sz="1200" b="0" i="0" dirty="0">
                <a:solidFill>
                  <a:srgbClr val="000000"/>
                </a:solidFill>
                <a:effectLst/>
                <a:latin typeface="Consolas" panose="020B0609020204030204" pitchFamily="49" charset="0"/>
              </a:rPr>
              <a:t> = </a:t>
            </a:r>
            <a:r>
              <a:rPr lang="en-IN" sz="1200" b="0" i="0" dirty="0" err="1">
                <a:solidFill>
                  <a:srgbClr val="000000"/>
                </a:solidFill>
                <a:effectLst/>
                <a:latin typeface="Consolas" panose="020B0609020204030204" pitchFamily="49" charset="0"/>
              </a:rPr>
              <a:t>memoryCache.GetOrCreate</a:t>
            </a:r>
            <a:r>
              <a:rPr lang="en-IN" sz="1200" b="0" i="0" dirty="0">
                <a:solidFill>
                  <a:srgbClr val="000000"/>
                </a:solidFill>
                <a:effectLst/>
                <a:latin typeface="Consolas" panose="020B0609020204030204" pitchFamily="49" charset="0"/>
              </a:rPr>
              <a:t>(</a:t>
            </a:r>
            <a:r>
              <a:rPr lang="en-IN" sz="1200" b="0" i="0" dirty="0">
                <a:solidFill>
                  <a:srgbClr val="0000FF"/>
                </a:solidFill>
                <a:effectLst/>
                <a:latin typeface="Consolas" panose="020B0609020204030204" pitchFamily="49" charset="0"/>
              </a:rPr>
              <a:t>"</a:t>
            </a:r>
            <a:r>
              <a:rPr lang="en-IN" sz="1200" b="0" i="0" dirty="0" err="1">
                <a:solidFill>
                  <a:srgbClr val="0000FF"/>
                </a:solidFill>
                <a:effectLst/>
                <a:latin typeface="Consolas" panose="020B0609020204030204" pitchFamily="49" charset="0"/>
              </a:rPr>
              <a:t>CacheTime</a:t>
            </a:r>
            <a:r>
              <a:rPr lang="en-IN" sz="1200" b="0" i="0" dirty="0">
                <a:solidFill>
                  <a:srgbClr val="0000FF"/>
                </a:solidFill>
                <a:effectLst/>
                <a:latin typeface="Consolas" panose="020B0609020204030204" pitchFamily="49" charset="0"/>
              </a:rPr>
              <a:t>"</a:t>
            </a:r>
            <a:r>
              <a:rPr lang="en-IN" sz="1200" b="0" i="0" dirty="0">
                <a:solidFill>
                  <a:srgbClr val="000000"/>
                </a:solidFill>
                <a:effectLst/>
                <a:latin typeface="Consolas" panose="020B0609020204030204" pitchFamily="49" charset="0"/>
              </a:rPr>
              <a:t>, entry =&gt;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a:t>
            </a:r>
            <a:r>
              <a:rPr lang="en-IN" sz="1200" b="0" i="0" dirty="0" err="1">
                <a:solidFill>
                  <a:srgbClr val="000000"/>
                </a:solidFill>
                <a:effectLst/>
                <a:latin typeface="Consolas" panose="020B0609020204030204" pitchFamily="49" charset="0"/>
              </a:rPr>
              <a:t>entry.SlidingExpiration</a:t>
            </a:r>
            <a:r>
              <a:rPr lang="en-IN" sz="1200" b="0" i="0" dirty="0">
                <a:solidFill>
                  <a:srgbClr val="000000"/>
                </a:solidFill>
                <a:effectLst/>
                <a:latin typeface="Consolas" panose="020B0609020204030204" pitchFamily="49" charset="0"/>
              </a:rPr>
              <a:t> = </a:t>
            </a:r>
            <a:r>
              <a:rPr lang="en-IN" sz="1200" b="0" i="0" dirty="0" err="1">
                <a:solidFill>
                  <a:srgbClr val="000000"/>
                </a:solidFill>
                <a:effectLst/>
                <a:latin typeface="Consolas" panose="020B0609020204030204" pitchFamily="49" charset="0"/>
              </a:rPr>
              <a:t>TimeSpan.FromSeconds</a:t>
            </a:r>
            <a:r>
              <a:rPr lang="en-IN" sz="1200" b="0" i="0" dirty="0">
                <a:solidFill>
                  <a:srgbClr val="000000"/>
                </a:solidFill>
                <a:effectLst/>
                <a:latin typeface="Consolas" panose="020B0609020204030204" pitchFamily="49" charset="0"/>
              </a:rPr>
              <a:t>(45);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a:t>
            </a:r>
            <a:r>
              <a:rPr lang="en-IN" sz="1200" b="1" i="0" dirty="0">
                <a:solidFill>
                  <a:srgbClr val="006699"/>
                </a:solidFill>
                <a:effectLst/>
                <a:latin typeface="Consolas" panose="020B0609020204030204" pitchFamily="49" charset="0"/>
              </a:rPr>
              <a:t>return</a:t>
            </a:r>
            <a:r>
              <a:rPr lang="en-IN" sz="1200" b="0" i="0" dirty="0">
                <a:solidFill>
                  <a:srgbClr val="000000"/>
                </a:solidFill>
                <a:effectLst/>
                <a:latin typeface="Consolas" panose="020B0609020204030204" pitchFamily="49" charset="0"/>
              </a:rPr>
              <a:t> </a:t>
            </a:r>
            <a:r>
              <a:rPr lang="en-IN" sz="1200" b="0" i="0" dirty="0" err="1">
                <a:solidFill>
                  <a:srgbClr val="000000"/>
                </a:solidFill>
                <a:effectLst/>
                <a:latin typeface="Consolas" panose="020B0609020204030204" pitchFamily="49" charset="0"/>
              </a:rPr>
              <a:t>DateTime.Now</a:t>
            </a:r>
            <a:r>
              <a:rPr lang="en-IN" sz="1200" b="0" i="0" dirty="0">
                <a:solidFill>
                  <a:srgbClr val="000000"/>
                </a:solidFill>
                <a:effectLst/>
                <a:latin typeface="Consolas" panose="020B0609020204030204" pitchFamily="49" charset="0"/>
              </a:rPr>
              <a: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a:t>
            </a:r>
            <a:r>
              <a:rPr lang="en-IN" sz="1200" b="1" i="0" dirty="0">
                <a:solidFill>
                  <a:srgbClr val="006699"/>
                </a:solidFill>
                <a:effectLst/>
                <a:latin typeface="Consolas" panose="020B0609020204030204" pitchFamily="49" charset="0"/>
              </a:rPr>
              <a:t>return</a:t>
            </a:r>
            <a:r>
              <a:rPr lang="en-IN" sz="1200" b="0" i="0" dirty="0">
                <a:solidFill>
                  <a:srgbClr val="000000"/>
                </a:solidFill>
                <a:effectLst/>
                <a:latin typeface="Consolas" panose="020B0609020204030204" pitchFamily="49" charset="0"/>
              </a:rPr>
              <a:t> View(model);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a:t>
            </a:r>
            <a:r>
              <a:rPr lang="en-IN" sz="1200" b="0" i="0" dirty="0">
                <a:solidFill>
                  <a:srgbClr val="5C5C5C"/>
                </a:solidFill>
                <a:effectLst/>
                <a:latin typeface="Consolas" panose="020B0609020204030204" pitchFamily="49" charset="0"/>
              </a:rPr>
              <a:t> </a:t>
            </a:r>
          </a:p>
        </p:txBody>
      </p:sp>
      <p:sp>
        <p:nvSpPr>
          <p:cNvPr id="9" name="TextBox 8">
            <a:extLst>
              <a:ext uri="{FF2B5EF4-FFF2-40B4-BE49-F238E27FC236}">
                <a16:creationId xmlns:a16="http://schemas.microsoft.com/office/drawing/2014/main" id="{BCE70A49-8E89-4BF7-9EC0-0ADA4B7DCBC4}"/>
              </a:ext>
            </a:extLst>
          </p:cNvPr>
          <p:cNvSpPr txBox="1"/>
          <p:nvPr/>
        </p:nvSpPr>
        <p:spPr>
          <a:xfrm>
            <a:off x="157315" y="3452197"/>
            <a:ext cx="6096000" cy="523220"/>
          </a:xfrm>
          <a:prstGeom prst="rect">
            <a:avLst/>
          </a:prstGeom>
          <a:noFill/>
        </p:spPr>
        <p:txBody>
          <a:bodyPr wrap="square">
            <a:spAutoFit/>
          </a:bodyPr>
          <a:lstStyle/>
          <a:p>
            <a:r>
              <a:rPr lang="en-US" sz="1400" b="0" i="0" dirty="0">
                <a:solidFill>
                  <a:srgbClr val="212121"/>
                </a:solidFill>
                <a:effectLst/>
                <a:latin typeface="open sans" panose="020B0606030504020204" pitchFamily="34" charset="0"/>
              </a:rPr>
              <a:t>Now, we create a View named "Index" under Views/Home folder for the Index action method, as per the following code snippet. </a:t>
            </a:r>
            <a:endParaRPr lang="en-IN" sz="1400" dirty="0"/>
          </a:p>
        </p:txBody>
      </p:sp>
      <p:sp>
        <p:nvSpPr>
          <p:cNvPr id="11" name="TextBox 10">
            <a:extLst>
              <a:ext uri="{FF2B5EF4-FFF2-40B4-BE49-F238E27FC236}">
                <a16:creationId xmlns:a16="http://schemas.microsoft.com/office/drawing/2014/main" id="{70A90B99-D0C3-4B5B-8127-0587DD0DE2EC}"/>
              </a:ext>
            </a:extLst>
          </p:cNvPr>
          <p:cNvSpPr txBox="1"/>
          <p:nvPr/>
        </p:nvSpPr>
        <p:spPr>
          <a:xfrm>
            <a:off x="157315" y="4108297"/>
            <a:ext cx="6096000" cy="2492990"/>
          </a:xfrm>
          <a:prstGeom prst="rect">
            <a:avLst/>
          </a:prstGeom>
          <a:noFill/>
        </p:spPr>
        <p:txBody>
          <a:bodyPr wrap="square">
            <a:spAutoFit/>
          </a:bodyPr>
          <a:lstStyle/>
          <a:p>
            <a:pPr algn="l">
              <a:buFont typeface="+mj-lt"/>
              <a:buAutoNum type="arabicPeriod"/>
            </a:pPr>
            <a:r>
              <a:rPr lang="en-IN" sz="1200" b="0" i="0" dirty="0">
                <a:solidFill>
                  <a:srgbClr val="000000"/>
                </a:solidFill>
                <a:effectLst/>
                <a:latin typeface="Consolas" panose="020B0609020204030204" pitchFamily="49" charset="0"/>
              </a:rPr>
              <a:t>@model </a:t>
            </a:r>
            <a:r>
              <a:rPr lang="en-IN" sz="1200" b="0" i="0" dirty="0" err="1">
                <a:solidFill>
                  <a:srgbClr val="000000"/>
                </a:solidFill>
                <a:effectLst/>
                <a:latin typeface="Consolas" panose="020B0609020204030204" pitchFamily="49" charset="0"/>
              </a:rPr>
              <a:t>MemoryCacheApplication.Models.CacheViewModel</a:t>
            </a:r>
            <a:r>
              <a:rPr lang="en-IN" sz="1200" b="0" i="0" dirty="0">
                <a:solidFill>
                  <a:srgbClr val="000000"/>
                </a:solidFill>
                <a:effectLst/>
                <a:latin typeface="Consolas" panose="020B0609020204030204" pitchFamily="49" charset="0"/>
              </a:rPr>
              <a: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&lt;div </a:t>
            </a:r>
            <a:r>
              <a:rPr lang="en-IN" sz="1200" b="1" i="0" dirty="0">
                <a:solidFill>
                  <a:srgbClr val="006699"/>
                </a:solidFill>
                <a:effectLst/>
                <a:latin typeface="Consolas" panose="020B0609020204030204" pitchFamily="49" charset="0"/>
              </a:rPr>
              <a:t>class</a:t>
            </a:r>
            <a:r>
              <a:rPr lang="en-IN" sz="1200" b="0" i="0" dirty="0">
                <a:solidFill>
                  <a:srgbClr val="000000"/>
                </a:solidFill>
                <a:effectLst/>
                <a:latin typeface="Consolas" panose="020B0609020204030204" pitchFamily="49" charset="0"/>
              </a:rPr>
              <a:t>=</a:t>
            </a:r>
            <a:r>
              <a:rPr lang="en-IN" sz="1200" b="0" i="0" dirty="0">
                <a:solidFill>
                  <a:srgbClr val="0000FF"/>
                </a:solidFill>
                <a:effectLst/>
                <a:latin typeface="Consolas" panose="020B0609020204030204" pitchFamily="49" charset="0"/>
              </a:rPr>
              <a:t>"row"</a:t>
            </a:r>
            <a:r>
              <a:rPr lang="en-IN" sz="1200" b="0" i="0" dirty="0">
                <a:solidFill>
                  <a:srgbClr val="000000"/>
                </a:solidFill>
                <a:effectLst/>
                <a:latin typeface="Consolas" panose="020B0609020204030204" pitchFamily="49" charset="0"/>
              </a:rPr>
              <a:t>&gt;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&lt;div </a:t>
            </a:r>
            <a:r>
              <a:rPr lang="en-IN" sz="1200" b="1" i="0" dirty="0">
                <a:solidFill>
                  <a:srgbClr val="006699"/>
                </a:solidFill>
                <a:effectLst/>
                <a:latin typeface="Consolas" panose="020B0609020204030204" pitchFamily="49" charset="0"/>
              </a:rPr>
              <a:t>class</a:t>
            </a:r>
            <a:r>
              <a:rPr lang="en-IN" sz="1200" b="0" i="0" dirty="0">
                <a:solidFill>
                  <a:srgbClr val="000000"/>
                </a:solidFill>
                <a:effectLst/>
                <a:latin typeface="Consolas" panose="020B0609020204030204" pitchFamily="49" charset="0"/>
              </a:rPr>
              <a:t>=</a:t>
            </a:r>
            <a:r>
              <a:rPr lang="en-IN" sz="1200" b="0" i="0" dirty="0">
                <a:solidFill>
                  <a:srgbClr val="0000FF"/>
                </a:solidFill>
                <a:effectLst/>
                <a:latin typeface="Consolas" panose="020B0609020204030204" pitchFamily="49" charset="0"/>
              </a:rPr>
              <a:t>"col-md-3"</a:t>
            </a:r>
            <a:r>
              <a:rPr lang="en-IN" sz="1200" b="0" i="0" dirty="0">
                <a:solidFill>
                  <a:srgbClr val="000000"/>
                </a:solidFill>
                <a:effectLst/>
                <a:latin typeface="Consolas" panose="020B0609020204030204" pitchFamily="49" charset="0"/>
              </a:rPr>
              <a:t>&gt;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&lt;h3&gt; Current Time: @DateTime.Now.ToString()&lt;/h3&gt;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&lt;/div&gt;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&lt;div </a:t>
            </a:r>
            <a:r>
              <a:rPr lang="en-IN" sz="1200" b="1" i="0" dirty="0">
                <a:solidFill>
                  <a:srgbClr val="006699"/>
                </a:solidFill>
                <a:effectLst/>
                <a:latin typeface="Consolas" panose="020B0609020204030204" pitchFamily="49" charset="0"/>
              </a:rPr>
              <a:t>class</a:t>
            </a:r>
            <a:r>
              <a:rPr lang="en-IN" sz="1200" b="0" i="0" dirty="0">
                <a:solidFill>
                  <a:srgbClr val="000000"/>
                </a:solidFill>
                <a:effectLst/>
                <a:latin typeface="Consolas" panose="020B0609020204030204" pitchFamily="49" charset="0"/>
              </a:rPr>
              <a:t>=</a:t>
            </a:r>
            <a:r>
              <a:rPr lang="en-IN" sz="1200" b="0" i="0" dirty="0">
                <a:solidFill>
                  <a:srgbClr val="0000FF"/>
                </a:solidFill>
                <a:effectLst/>
                <a:latin typeface="Consolas" panose="020B0609020204030204" pitchFamily="49" charset="0"/>
              </a:rPr>
              <a:t>"col-md-3"</a:t>
            </a:r>
            <a:r>
              <a:rPr lang="en-IN" sz="1200" b="0" i="0" dirty="0">
                <a:solidFill>
                  <a:srgbClr val="000000"/>
                </a:solidFill>
                <a:effectLst/>
                <a:latin typeface="Consolas" panose="020B0609020204030204" pitchFamily="49" charset="0"/>
              </a:rPr>
              <a:t>&gt;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&lt;h3&gt; First Time: @(Model.FirstTime.HasValue</a:t>
            </a:r>
            <a:r>
              <a:rPr lang="en-IN" sz="1200" b="1" i="0" dirty="0">
                <a:solidFill>
                  <a:srgbClr val="FF0000"/>
                </a:solidFill>
                <a:effectLst/>
                <a:latin typeface="Consolas" panose="020B0609020204030204" pitchFamily="49" charset="0"/>
              </a:rPr>
              <a:t>?</a:t>
            </a:r>
            <a:r>
              <a:rPr lang="en-IN" sz="1200" b="0" i="0" dirty="0">
                <a:solidFill>
                  <a:srgbClr val="000000"/>
                </a:solidFill>
                <a:effectLst/>
                <a:latin typeface="Consolas" panose="020B0609020204030204" pitchFamily="49" charset="0"/>
              </a:rPr>
              <a:t>Model.FirstTime.ToString()</a:t>
            </a:r>
            <a:r>
              <a:rPr lang="en-IN" sz="1200" b="1" i="0" dirty="0">
                <a:solidFill>
                  <a:srgbClr val="FF0000"/>
                </a:solidFill>
                <a:effectLst/>
                <a:latin typeface="Consolas" panose="020B0609020204030204" pitchFamily="49" charset="0"/>
              </a:rPr>
              <a:t>:</a:t>
            </a:r>
            <a:r>
              <a:rPr lang="en-IN" sz="1200" b="0" i="0" dirty="0">
                <a:solidFill>
                  <a:srgbClr val="0000FF"/>
                </a:solidFill>
                <a:effectLst/>
                <a:latin typeface="Consolas" panose="020B0609020204030204" pitchFamily="49" charset="0"/>
              </a:rPr>
              <a:t>"Cache is not available"</a:t>
            </a:r>
            <a:r>
              <a:rPr lang="en-IN" sz="1200" b="0" i="0" dirty="0">
                <a:solidFill>
                  <a:srgbClr val="000000"/>
                </a:solidFill>
                <a:effectLst/>
                <a:latin typeface="Consolas" panose="020B0609020204030204" pitchFamily="49" charset="0"/>
              </a:rPr>
              <a:t>)&lt;/h3&gt;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&lt;/div&gt;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&lt;div </a:t>
            </a:r>
            <a:r>
              <a:rPr lang="en-IN" sz="1200" b="1" i="0" dirty="0">
                <a:solidFill>
                  <a:srgbClr val="006699"/>
                </a:solidFill>
                <a:effectLst/>
                <a:latin typeface="Consolas" panose="020B0609020204030204" pitchFamily="49" charset="0"/>
              </a:rPr>
              <a:t>class</a:t>
            </a:r>
            <a:r>
              <a:rPr lang="en-IN" sz="1200" b="0" i="0" dirty="0">
                <a:solidFill>
                  <a:srgbClr val="000000"/>
                </a:solidFill>
                <a:effectLst/>
                <a:latin typeface="Consolas" panose="020B0609020204030204" pitchFamily="49" charset="0"/>
              </a:rPr>
              <a:t>=</a:t>
            </a:r>
            <a:r>
              <a:rPr lang="en-IN" sz="1200" b="0" i="0" dirty="0">
                <a:solidFill>
                  <a:srgbClr val="0000FF"/>
                </a:solidFill>
                <a:effectLst/>
                <a:latin typeface="Consolas" panose="020B0609020204030204" pitchFamily="49" charset="0"/>
              </a:rPr>
              <a:t>"col-md-3"</a:t>
            </a:r>
            <a:r>
              <a:rPr lang="en-IN" sz="1200" b="0" i="0" dirty="0">
                <a:solidFill>
                  <a:srgbClr val="000000"/>
                </a:solidFill>
                <a:effectLst/>
                <a:latin typeface="Consolas" panose="020B0609020204030204" pitchFamily="49" charset="0"/>
              </a:rPr>
              <a:t>&gt;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&lt;h3&gt;Second Time: @Model.SecondTime.ToString()&lt;/h3&gt;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    &lt;/div&gt;         </a:t>
            </a:r>
            <a:endParaRPr lang="en-IN" sz="1200" b="0" i="0" dirty="0">
              <a:solidFill>
                <a:srgbClr val="5C5C5C"/>
              </a:solidFill>
              <a:effectLst/>
              <a:latin typeface="Consolas" panose="020B0609020204030204" pitchFamily="49" charset="0"/>
            </a:endParaRPr>
          </a:p>
          <a:p>
            <a:pPr algn="l">
              <a:buFont typeface="+mj-lt"/>
              <a:buAutoNum type="arabicPeriod"/>
            </a:pPr>
            <a:r>
              <a:rPr lang="en-IN" sz="1200" b="0" i="0" dirty="0">
                <a:solidFill>
                  <a:srgbClr val="000000"/>
                </a:solidFill>
                <a:effectLst/>
                <a:latin typeface="Consolas" panose="020B0609020204030204" pitchFamily="49" charset="0"/>
              </a:rPr>
              <a:t>&lt;/div&gt;  </a:t>
            </a:r>
            <a:endParaRPr lang="en-IN" sz="1200" b="0" i="0" dirty="0">
              <a:solidFill>
                <a:srgbClr val="5C5C5C"/>
              </a:solidFill>
              <a:effectLst/>
              <a:latin typeface="Consolas" panose="020B0609020204030204" pitchFamily="49" charset="0"/>
            </a:endParaRPr>
          </a:p>
        </p:txBody>
      </p:sp>
      <p:sp>
        <p:nvSpPr>
          <p:cNvPr id="13" name="TextBox 12">
            <a:extLst>
              <a:ext uri="{FF2B5EF4-FFF2-40B4-BE49-F238E27FC236}">
                <a16:creationId xmlns:a16="http://schemas.microsoft.com/office/drawing/2014/main" id="{C0CA9ABD-8D32-4A98-A1CA-7D53290229D1}"/>
              </a:ext>
            </a:extLst>
          </p:cNvPr>
          <p:cNvSpPr txBox="1"/>
          <p:nvPr/>
        </p:nvSpPr>
        <p:spPr>
          <a:xfrm>
            <a:off x="6096000" y="861024"/>
            <a:ext cx="6096000" cy="1384995"/>
          </a:xfrm>
          <a:prstGeom prst="rect">
            <a:avLst/>
          </a:prstGeom>
          <a:noFill/>
        </p:spPr>
        <p:txBody>
          <a:bodyPr wrap="square">
            <a:spAutoFit/>
          </a:bodyPr>
          <a:lstStyle/>
          <a:p>
            <a:pPr algn="l"/>
            <a:r>
              <a:rPr lang="en-US" sz="1400" b="0" i="0" dirty="0">
                <a:solidFill>
                  <a:srgbClr val="212121"/>
                </a:solidFill>
                <a:effectLst/>
                <a:latin typeface="open sans" panose="020B0606030504020204" pitchFamily="34" charset="0"/>
              </a:rPr>
              <a:t>The above code shows the current time and cached time.</a:t>
            </a:r>
          </a:p>
          <a:p>
            <a:pPr algn="l"/>
            <a:r>
              <a:rPr lang="en-US" sz="1400" b="0" i="0" dirty="0">
                <a:solidFill>
                  <a:srgbClr val="212121"/>
                </a:solidFill>
                <a:effectLst/>
                <a:latin typeface="open sans" panose="020B0606030504020204" pitchFamily="34" charset="0"/>
              </a:rPr>
              <a:t> </a:t>
            </a:r>
          </a:p>
          <a:p>
            <a:pPr algn="l"/>
            <a:r>
              <a:rPr lang="en-US" sz="1400" b="0" i="0" dirty="0">
                <a:solidFill>
                  <a:srgbClr val="212121"/>
                </a:solidFill>
                <a:effectLst/>
                <a:latin typeface="open sans" panose="020B0606030504020204" pitchFamily="34" charset="0"/>
              </a:rPr>
              <a:t>Now, we will run the application and make another request within 45 seconds with the same client. The result shows as per the below figure for both methods.</a:t>
            </a:r>
          </a:p>
          <a:p>
            <a:pPr algn="l"/>
            <a:r>
              <a:rPr lang="en-US" sz="1400" b="0" i="0" dirty="0">
                <a:solidFill>
                  <a:srgbClr val="212121"/>
                </a:solidFill>
                <a:effectLst/>
                <a:latin typeface="open sans" panose="020B0606030504020204" pitchFamily="34" charset="0"/>
              </a:rPr>
              <a:t> </a:t>
            </a:r>
          </a:p>
        </p:txBody>
      </p:sp>
      <p:pic>
        <p:nvPicPr>
          <p:cNvPr id="3" name="Picture 2">
            <a:extLst>
              <a:ext uri="{FF2B5EF4-FFF2-40B4-BE49-F238E27FC236}">
                <a16:creationId xmlns:a16="http://schemas.microsoft.com/office/drawing/2014/main" id="{E8A25AAB-4F2A-BD46-87E9-660E1D4CF212}"/>
              </a:ext>
            </a:extLst>
          </p:cNvPr>
          <p:cNvPicPr>
            <a:picLocks noChangeAspect="1"/>
          </p:cNvPicPr>
          <p:nvPr/>
        </p:nvPicPr>
        <p:blipFill>
          <a:blip r:embed="rId2"/>
          <a:stretch>
            <a:fillRect/>
          </a:stretch>
        </p:blipFill>
        <p:spPr>
          <a:xfrm>
            <a:off x="6711309" y="2006277"/>
            <a:ext cx="5183691" cy="2650801"/>
          </a:xfrm>
          <a:prstGeom prst="rect">
            <a:avLst/>
          </a:prstGeom>
        </p:spPr>
      </p:pic>
      <p:pic>
        <p:nvPicPr>
          <p:cNvPr id="6" name="Picture 5">
            <a:extLst>
              <a:ext uri="{FF2B5EF4-FFF2-40B4-BE49-F238E27FC236}">
                <a16:creationId xmlns:a16="http://schemas.microsoft.com/office/drawing/2014/main" id="{4CC3A443-6822-372C-9EDA-D1E3328A2BC4}"/>
              </a:ext>
            </a:extLst>
          </p:cNvPr>
          <p:cNvPicPr>
            <a:picLocks noChangeAspect="1"/>
          </p:cNvPicPr>
          <p:nvPr/>
        </p:nvPicPr>
        <p:blipFill>
          <a:blip r:embed="rId3"/>
          <a:stretch>
            <a:fillRect/>
          </a:stretch>
        </p:blipFill>
        <p:spPr>
          <a:xfrm>
            <a:off x="7150213" y="4513509"/>
            <a:ext cx="4474272" cy="2344491"/>
          </a:xfrm>
          <a:prstGeom prst="rect">
            <a:avLst/>
          </a:prstGeom>
        </p:spPr>
      </p:pic>
    </p:spTree>
    <p:extLst>
      <p:ext uri="{BB962C8B-B14F-4D97-AF65-F5344CB8AC3E}">
        <p14:creationId xmlns:p14="http://schemas.microsoft.com/office/powerpoint/2010/main" val="4004425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2466C12-FBB1-4C63-A9B8-4EB532C60DBD}"/>
              </a:ext>
            </a:extLst>
          </p:cNvPr>
          <p:cNvSpPr txBox="1"/>
          <p:nvPr/>
        </p:nvSpPr>
        <p:spPr>
          <a:xfrm>
            <a:off x="108154" y="191668"/>
            <a:ext cx="11769213" cy="2246769"/>
          </a:xfrm>
          <a:prstGeom prst="rect">
            <a:avLst/>
          </a:prstGeom>
          <a:noFill/>
        </p:spPr>
        <p:txBody>
          <a:bodyPr wrap="square">
            <a:spAutoFit/>
          </a:bodyPr>
          <a:lstStyle/>
          <a:p>
            <a:pPr algn="ctr"/>
            <a:r>
              <a:rPr lang="en-US" sz="1400" b="1" i="0" dirty="0">
                <a:solidFill>
                  <a:srgbClr val="212121"/>
                </a:solidFill>
                <a:effectLst/>
                <a:latin typeface="open sans" panose="020B0606030504020204" pitchFamily="34" charset="0"/>
              </a:rPr>
              <a:t>Remove Data from In-Memory Cache</a:t>
            </a:r>
            <a:endParaRPr lang="en-US" sz="1400" b="0" i="0" dirty="0">
              <a:solidFill>
                <a:srgbClr val="212121"/>
              </a:solidFill>
              <a:effectLst/>
              <a:latin typeface="open sans" panose="020B0606030504020204" pitchFamily="34" charset="0"/>
            </a:endParaRPr>
          </a:p>
          <a:p>
            <a:pPr algn="l"/>
            <a:r>
              <a:rPr lang="en-US" sz="1400" b="0" i="0" dirty="0">
                <a:solidFill>
                  <a:srgbClr val="212121"/>
                </a:solidFill>
                <a:effectLst/>
                <a:latin typeface="open sans" panose="020B0606030504020204" pitchFamily="34" charset="0"/>
              </a:rPr>
              <a:t> </a:t>
            </a:r>
          </a:p>
          <a:p>
            <a:pPr algn="l"/>
            <a:r>
              <a:rPr lang="en-US" sz="1400" b="0" i="0" dirty="0">
                <a:solidFill>
                  <a:srgbClr val="212121"/>
                </a:solidFill>
                <a:effectLst/>
                <a:latin typeface="open sans" panose="020B0606030504020204" pitchFamily="34" charset="0"/>
              </a:rPr>
              <a:t>The In-Memory cache can be evicted either automatically or manually. There are some cases when cache evicts automatically. </a:t>
            </a:r>
          </a:p>
          <a:p>
            <a:pPr algn="l"/>
            <a:endParaRPr lang="en-US" sz="1400" b="0" i="0" dirty="0">
              <a:solidFill>
                <a:srgbClr val="212121"/>
              </a:solidFill>
              <a:effectLst/>
              <a:latin typeface="open sans" panose="020B0606030504020204" pitchFamily="34" charset="0"/>
            </a:endParaRPr>
          </a:p>
          <a:p>
            <a:pPr algn="l">
              <a:buFont typeface="+mj-lt"/>
              <a:buAutoNum type="arabicPeriod"/>
            </a:pPr>
            <a:r>
              <a:rPr lang="en-US" sz="1400" b="0" i="1" dirty="0">
                <a:solidFill>
                  <a:srgbClr val="212121"/>
                </a:solidFill>
                <a:effectLst/>
                <a:latin typeface="open sans" panose="020B0606030504020204" pitchFamily="34" charset="0"/>
              </a:rPr>
              <a:t>Sliding Expiration</a:t>
            </a:r>
            <a:br>
              <a:rPr lang="en-US" sz="1400" b="0" i="1" dirty="0">
                <a:solidFill>
                  <a:srgbClr val="212121"/>
                </a:solidFill>
                <a:effectLst/>
                <a:latin typeface="open sans" panose="020B0606030504020204" pitchFamily="34" charset="0"/>
              </a:rPr>
            </a:br>
            <a:r>
              <a:rPr lang="en-US" sz="1400" b="0" i="0" dirty="0">
                <a:solidFill>
                  <a:srgbClr val="212121"/>
                </a:solidFill>
                <a:effectLst/>
                <a:latin typeface="open sans" panose="020B0606030504020204" pitchFamily="34" charset="0"/>
              </a:rPr>
              <a:t>We set the value in timespan for how long a cache entry can be inactive before removing it from the cache. If a request doesn't make for that period, then it removes automatically.</a:t>
            </a:r>
          </a:p>
          <a:p>
            <a:pPr algn="l">
              <a:buFont typeface="+mj-lt"/>
              <a:buAutoNum type="arabicPeriod"/>
            </a:pPr>
            <a:endParaRPr lang="en-US" sz="1400" b="0" i="0" dirty="0">
              <a:solidFill>
                <a:srgbClr val="212121"/>
              </a:solidFill>
              <a:effectLst/>
              <a:latin typeface="open sans" panose="020B0606030504020204" pitchFamily="34" charset="0"/>
            </a:endParaRPr>
          </a:p>
          <a:p>
            <a:pPr algn="l"/>
            <a:r>
              <a:rPr lang="en-US" sz="1400" b="0" i="0" dirty="0">
                <a:solidFill>
                  <a:srgbClr val="212121"/>
                </a:solidFill>
                <a:effectLst/>
                <a:latin typeface="open sans" panose="020B0606030504020204" pitchFamily="34" charset="0"/>
              </a:rPr>
              <a:t>There is </a:t>
            </a:r>
            <a:r>
              <a:rPr lang="en-US" sz="1400" b="0" i="0" dirty="0">
                <a:solidFill>
                  <a:srgbClr val="212121"/>
                </a:solidFill>
                <a:effectLst/>
                <a:highlight>
                  <a:srgbClr val="FFFF00"/>
                </a:highlight>
                <a:latin typeface="open sans" panose="020B0606030504020204" pitchFamily="34" charset="0"/>
              </a:rPr>
              <a:t>Remove </a:t>
            </a:r>
            <a:r>
              <a:rPr lang="en-US" sz="1400" b="0" i="0" dirty="0">
                <a:solidFill>
                  <a:srgbClr val="212121"/>
                </a:solidFill>
                <a:effectLst/>
                <a:latin typeface="open sans" panose="020B0606030504020204" pitchFamily="34" charset="0"/>
              </a:rPr>
              <a:t>method of </a:t>
            </a:r>
            <a:r>
              <a:rPr lang="en-US" sz="1400" b="0" i="0" dirty="0" err="1">
                <a:solidFill>
                  <a:srgbClr val="212121"/>
                </a:solidFill>
                <a:effectLst/>
                <a:latin typeface="open sans" panose="020B0606030504020204" pitchFamily="34" charset="0"/>
              </a:rPr>
              <a:t>IMemoryCache</a:t>
            </a:r>
            <a:r>
              <a:rPr lang="en-US" sz="1400" b="0" i="0" dirty="0">
                <a:solidFill>
                  <a:srgbClr val="212121"/>
                </a:solidFill>
                <a:effectLst/>
                <a:latin typeface="open sans" panose="020B0606030504020204" pitchFamily="34" charset="0"/>
              </a:rPr>
              <a:t> interface which removes the cache from the memory. We create Index action method which writes data in the cache if cache does not exist already. The following code snippet is used for the same. </a:t>
            </a:r>
          </a:p>
        </p:txBody>
      </p:sp>
      <p:sp>
        <p:nvSpPr>
          <p:cNvPr id="7" name="TextBox 6">
            <a:extLst>
              <a:ext uri="{FF2B5EF4-FFF2-40B4-BE49-F238E27FC236}">
                <a16:creationId xmlns:a16="http://schemas.microsoft.com/office/drawing/2014/main" id="{E81C392A-18DD-486B-891C-5F40A54275EF}"/>
              </a:ext>
            </a:extLst>
          </p:cNvPr>
          <p:cNvSpPr txBox="1"/>
          <p:nvPr/>
        </p:nvSpPr>
        <p:spPr>
          <a:xfrm>
            <a:off x="0" y="3429000"/>
            <a:ext cx="4591665" cy="2677656"/>
          </a:xfrm>
          <a:prstGeom prst="rect">
            <a:avLst/>
          </a:prstGeom>
          <a:noFill/>
        </p:spPr>
        <p:txBody>
          <a:bodyPr wrap="square">
            <a:spAutoFit/>
          </a:bodyPr>
          <a:lstStyle/>
          <a:p>
            <a:pPr algn="l">
              <a:buFont typeface="+mj-lt"/>
              <a:buAutoNum type="arabicPeriod"/>
            </a:pPr>
            <a:r>
              <a:rPr lang="en-IN" sz="1400" b="0" i="0" dirty="0">
                <a:solidFill>
                  <a:srgbClr val="000000"/>
                </a:solidFill>
                <a:effectLst/>
                <a:latin typeface="Consolas" panose="020B0609020204030204" pitchFamily="49" charset="0"/>
              </a:rPr>
              <a:t>[</a:t>
            </a:r>
            <a:r>
              <a:rPr lang="en-IN" sz="1400" b="0" i="0" dirty="0" err="1">
                <a:solidFill>
                  <a:srgbClr val="000000"/>
                </a:solidFill>
                <a:effectLst/>
                <a:latin typeface="Consolas" panose="020B0609020204030204" pitchFamily="49" charset="0"/>
              </a:rPr>
              <a:t>HttpGet</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1" i="0" dirty="0">
                <a:solidFill>
                  <a:srgbClr val="006699"/>
                </a:solidFill>
                <a:effectLst/>
                <a:latin typeface="Consolas" panose="020B0609020204030204" pitchFamily="49" charset="0"/>
              </a:rPr>
              <a:t>public</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IActionResult</a:t>
            </a:r>
            <a:r>
              <a:rPr lang="en-IN" sz="1400" b="0" i="0" dirty="0">
                <a:solidFill>
                  <a:srgbClr val="000000"/>
                </a:solidFill>
                <a:effectLst/>
                <a:latin typeface="Consolas" panose="020B0609020204030204" pitchFamily="49" charset="0"/>
              </a:rPr>
              <a:t> Index()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DateTime</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currentTime</a:t>
            </a:r>
            <a:r>
              <a:rPr lang="en-IN" sz="1400" b="0" i="0" dirty="0">
                <a:solidFill>
                  <a:srgbClr val="000000"/>
                </a:solidFill>
                <a:effectLst/>
                <a:latin typeface="Consolas" panose="020B0609020204030204" pitchFamily="49" charset="0"/>
              </a:rPr>
              <a:t> = </a:t>
            </a:r>
            <a:r>
              <a:rPr lang="en-IN" sz="1400" b="0" i="0" dirty="0" err="1">
                <a:solidFill>
                  <a:srgbClr val="000000"/>
                </a:solidFill>
                <a:effectLst/>
                <a:latin typeface="Consolas" panose="020B0609020204030204" pitchFamily="49" charset="0"/>
              </a:rPr>
              <a:t>memoryCache.GetOrCreate</a:t>
            </a:r>
            <a:r>
              <a:rPr lang="en-IN" sz="1400" b="0" i="0" dirty="0">
                <a:solidFill>
                  <a:srgbClr val="000000"/>
                </a:solidFill>
                <a:effectLst/>
                <a:latin typeface="Consolas" panose="020B0609020204030204" pitchFamily="49" charset="0"/>
              </a:rPr>
              <a:t>(</a:t>
            </a:r>
            <a:r>
              <a:rPr lang="en-IN" sz="1400" b="0" i="0" dirty="0">
                <a:solidFill>
                  <a:srgbClr val="0000FF"/>
                </a:solidFill>
                <a:effectLst/>
                <a:latin typeface="Consolas" panose="020B0609020204030204" pitchFamily="49" charset="0"/>
              </a:rPr>
              <a:t>"</a:t>
            </a:r>
            <a:r>
              <a:rPr lang="en-IN" sz="1400" b="0" i="0" dirty="0" err="1">
                <a:solidFill>
                  <a:srgbClr val="0000FF"/>
                </a:solidFill>
                <a:effectLst/>
                <a:latin typeface="Consolas" panose="020B0609020204030204" pitchFamily="49" charset="0"/>
              </a:rPr>
              <a:t>CacheTime</a:t>
            </a:r>
            <a:r>
              <a:rPr lang="en-IN" sz="1400" b="0" i="0" dirty="0">
                <a:solidFill>
                  <a:srgbClr val="0000FF"/>
                </a:solidFill>
                <a:effectLst/>
                <a:latin typeface="Consolas" panose="020B0609020204030204" pitchFamily="49" charset="0"/>
              </a:rPr>
              <a:t>"</a:t>
            </a:r>
            <a:r>
              <a:rPr lang="en-IN" sz="1400" b="0" i="0" dirty="0">
                <a:solidFill>
                  <a:srgbClr val="000000"/>
                </a:solidFill>
                <a:effectLst/>
                <a:latin typeface="Consolas" panose="020B0609020204030204" pitchFamily="49" charset="0"/>
              </a:rPr>
              <a:t>, entry =&gt;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entry.SlidingExpiration</a:t>
            </a:r>
            <a:r>
              <a:rPr lang="en-IN" sz="1400" b="0" i="0" dirty="0">
                <a:solidFill>
                  <a:srgbClr val="000000"/>
                </a:solidFill>
                <a:effectLst/>
                <a:latin typeface="Consolas" panose="020B0609020204030204" pitchFamily="49" charset="0"/>
              </a:rPr>
              <a:t> = </a:t>
            </a:r>
            <a:r>
              <a:rPr lang="en-IN" sz="1400" b="0" i="0" dirty="0" err="1">
                <a:solidFill>
                  <a:srgbClr val="000000"/>
                </a:solidFill>
                <a:effectLst/>
                <a:latin typeface="Consolas" panose="020B0609020204030204" pitchFamily="49" charset="0"/>
              </a:rPr>
              <a:t>TimeSpan.FromSeconds</a:t>
            </a:r>
            <a:r>
              <a:rPr lang="en-IN" sz="1400" b="0" i="0" dirty="0">
                <a:solidFill>
                  <a:srgbClr val="000000"/>
                </a:solidFill>
                <a:effectLst/>
                <a:latin typeface="Consolas" panose="020B0609020204030204" pitchFamily="49" charset="0"/>
              </a:rPr>
              <a:t>(45);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return</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DateTime.Now</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1" i="0" dirty="0">
                <a:solidFill>
                  <a:srgbClr val="006699"/>
                </a:solidFill>
                <a:effectLst/>
                <a:latin typeface="Consolas" panose="020B0609020204030204" pitchFamily="49" charset="0"/>
              </a:rPr>
              <a:t>return</a:t>
            </a:r>
            <a:r>
              <a:rPr lang="en-IN" sz="1400" b="0" i="0" dirty="0">
                <a:solidFill>
                  <a:srgbClr val="000000"/>
                </a:solidFill>
                <a:effectLst/>
                <a:latin typeface="Consolas" panose="020B0609020204030204" pitchFamily="49" charset="0"/>
              </a:rPr>
              <a:t> View(</a:t>
            </a:r>
            <a:r>
              <a:rPr lang="en-IN" sz="1400" b="0" i="0" dirty="0" err="1">
                <a:solidFill>
                  <a:srgbClr val="000000"/>
                </a:solidFill>
                <a:effectLst/>
                <a:latin typeface="Consolas" panose="020B0609020204030204" pitchFamily="49" charset="0"/>
              </a:rPr>
              <a:t>currentTime</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0" i="0" dirty="0">
                <a:solidFill>
                  <a:srgbClr val="5C5C5C"/>
                </a:solidFill>
                <a:effectLst/>
                <a:latin typeface="Consolas" panose="020B0609020204030204" pitchFamily="49" charset="0"/>
              </a:rPr>
              <a:t> </a:t>
            </a:r>
          </a:p>
        </p:txBody>
      </p:sp>
      <p:sp>
        <p:nvSpPr>
          <p:cNvPr id="9" name="TextBox 8">
            <a:extLst>
              <a:ext uri="{FF2B5EF4-FFF2-40B4-BE49-F238E27FC236}">
                <a16:creationId xmlns:a16="http://schemas.microsoft.com/office/drawing/2014/main" id="{BE5CD3F9-C3D3-4C0A-9F32-4A862312B2E4}"/>
              </a:ext>
            </a:extLst>
          </p:cNvPr>
          <p:cNvSpPr txBox="1"/>
          <p:nvPr/>
        </p:nvSpPr>
        <p:spPr>
          <a:xfrm>
            <a:off x="5421955" y="2410498"/>
            <a:ext cx="6105832" cy="523220"/>
          </a:xfrm>
          <a:prstGeom prst="rect">
            <a:avLst/>
          </a:prstGeom>
          <a:noFill/>
        </p:spPr>
        <p:txBody>
          <a:bodyPr wrap="square">
            <a:spAutoFit/>
          </a:bodyPr>
          <a:lstStyle/>
          <a:p>
            <a:r>
              <a:rPr lang="en-US" sz="1400" b="0" i="0" dirty="0">
                <a:solidFill>
                  <a:srgbClr val="212121"/>
                </a:solidFill>
                <a:effectLst/>
                <a:latin typeface="open sans" panose="020B0606030504020204" pitchFamily="34" charset="0"/>
              </a:rPr>
              <a:t>Now, we will create a View named Index under Views/Home folder for the Index action method as per following code snippet. </a:t>
            </a:r>
            <a:endParaRPr lang="en-IN" sz="1400" dirty="0"/>
          </a:p>
        </p:txBody>
      </p:sp>
      <p:sp>
        <p:nvSpPr>
          <p:cNvPr id="11" name="TextBox 10">
            <a:extLst>
              <a:ext uri="{FF2B5EF4-FFF2-40B4-BE49-F238E27FC236}">
                <a16:creationId xmlns:a16="http://schemas.microsoft.com/office/drawing/2014/main" id="{2335BE11-24FC-4CD6-A4DD-24B645DC0FE8}"/>
              </a:ext>
            </a:extLst>
          </p:cNvPr>
          <p:cNvSpPr txBox="1"/>
          <p:nvPr/>
        </p:nvSpPr>
        <p:spPr>
          <a:xfrm>
            <a:off x="5261218" y="2933718"/>
            <a:ext cx="6516651" cy="3393237"/>
          </a:xfrm>
          <a:prstGeom prst="rect">
            <a:avLst/>
          </a:prstGeom>
          <a:noFill/>
        </p:spPr>
        <p:txBody>
          <a:bodyPr wrap="square">
            <a:spAutoFit/>
          </a:bodyPr>
          <a:lstStyle/>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@model </a:t>
            </a:r>
            <a:r>
              <a:rPr lang="en-IN" sz="1200" dirty="0" err="1">
                <a:solidFill>
                  <a:srgbClr val="2B91AF"/>
                </a:solidFill>
                <a:latin typeface="Cascadia Mono" panose="020B0609020000020004" pitchFamily="49" charset="0"/>
              </a:rPr>
              <a:t>DateTime</a:t>
            </a:r>
            <a:r>
              <a:rPr lang="en-IN" sz="1200" dirty="0">
                <a:solidFill>
                  <a:srgbClr val="000000"/>
                </a:solidFill>
                <a:latin typeface="Cascadia Mono" panose="020B0609020000020004" pitchFamily="49" charset="0"/>
              </a:rPr>
              <a:t>? </a:t>
            </a:r>
          </a:p>
          <a:p>
            <a:r>
              <a:rPr lang="en-US" sz="1200" dirty="0">
                <a:solidFill>
                  <a:srgbClr val="0000FF"/>
                </a:solidFill>
                <a:latin typeface="Cascadia Mono" panose="020B0609020000020004" pitchFamily="49" charset="0"/>
              </a:rPr>
              <a:t>&lt;</a:t>
            </a:r>
            <a:r>
              <a:rPr lang="en-US" sz="1200" b="1" dirty="0">
                <a:solidFill>
                  <a:srgbClr val="800080"/>
                </a:solidFill>
                <a:latin typeface="Cascadia Mono" panose="020B0609020000020004" pitchFamily="49" charset="0"/>
              </a:rPr>
              <a:t>form</a:t>
            </a:r>
            <a:r>
              <a:rPr lang="en-US" sz="1200" b="0" dirty="0">
                <a:solidFill>
                  <a:srgbClr val="000000"/>
                </a:solidFill>
                <a:latin typeface="Cascadia Mono" panose="020B0609020000020004" pitchFamily="49" charset="0"/>
              </a:rPr>
              <a:t> </a:t>
            </a:r>
            <a:r>
              <a:rPr lang="en-US" sz="1200" b="1" dirty="0">
                <a:solidFill>
                  <a:srgbClr val="800080"/>
                </a:solidFill>
                <a:latin typeface="Cascadia Mono" panose="020B0609020000020004" pitchFamily="49" charset="0"/>
              </a:rPr>
              <a:t>asp-controller</a:t>
            </a:r>
            <a:r>
              <a:rPr lang="en-US" sz="1200" b="0" dirty="0">
                <a:solidFill>
                  <a:srgbClr val="0000FF"/>
                </a:solidFill>
                <a:latin typeface="Cascadia Mono" panose="020B0609020000020004" pitchFamily="49" charset="0"/>
              </a:rPr>
              <a:t>="</a:t>
            </a:r>
            <a:r>
              <a:rPr lang="en-US" sz="1200" b="0" dirty="0" err="1">
                <a:solidFill>
                  <a:srgbClr val="0000FF"/>
                </a:solidFill>
                <a:latin typeface="Cascadia Mono" panose="020B0609020000020004" pitchFamily="49" charset="0"/>
              </a:rPr>
              <a:t>DemoRemove</a:t>
            </a:r>
            <a:r>
              <a:rPr lang="en-US" sz="1200" b="0" dirty="0">
                <a:solidFill>
                  <a:srgbClr val="0000FF"/>
                </a:solidFill>
                <a:latin typeface="Cascadia Mono" panose="020B0609020000020004" pitchFamily="49" charset="0"/>
              </a:rPr>
              <a:t>"</a:t>
            </a:r>
            <a:r>
              <a:rPr lang="en-US" sz="1200" b="0" dirty="0">
                <a:solidFill>
                  <a:srgbClr val="000000"/>
                </a:solidFill>
                <a:latin typeface="Cascadia Mono" panose="020B0609020000020004" pitchFamily="49" charset="0"/>
              </a:rPr>
              <a:t> </a:t>
            </a:r>
            <a:r>
              <a:rPr lang="en-US" sz="1200" b="1" dirty="0">
                <a:solidFill>
                  <a:srgbClr val="800080"/>
                </a:solidFill>
                <a:latin typeface="Cascadia Mono" panose="020B0609020000020004" pitchFamily="49" charset="0"/>
              </a:rPr>
              <a:t>asp-action</a:t>
            </a:r>
            <a:r>
              <a:rPr lang="en-US" sz="1200" b="0" dirty="0">
                <a:solidFill>
                  <a:srgbClr val="0000FF"/>
                </a:solidFill>
                <a:latin typeface="Cascadia Mono" panose="020B0609020000020004" pitchFamily="49" charset="0"/>
              </a:rPr>
              <a:t>="</a:t>
            </a:r>
            <a:r>
              <a:rPr lang="en-US" sz="1200" b="0" dirty="0" err="1">
                <a:solidFill>
                  <a:srgbClr val="0000FF"/>
                </a:solidFill>
                <a:latin typeface="Cascadia Mono" panose="020B0609020000020004" pitchFamily="49" charset="0"/>
              </a:rPr>
              <a:t>RemoveCache</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input</a:t>
            </a:r>
            <a:r>
              <a:rPr lang="en-US" sz="1200" b="0" dirty="0">
                <a:solidFill>
                  <a:srgbClr val="000000"/>
                </a:solidFill>
                <a:latin typeface="Cascadia Mono" panose="020B0609020000020004" pitchFamily="49" charset="0"/>
              </a:rPr>
              <a:t> </a:t>
            </a:r>
            <a:r>
              <a:rPr lang="en-US" sz="1200" b="0" dirty="0">
                <a:solidFill>
                  <a:srgbClr val="FF0000"/>
                </a:solidFill>
                <a:latin typeface="Cascadia Mono" panose="020B0609020000020004" pitchFamily="49" charset="0"/>
              </a:rPr>
              <a:t>type</a:t>
            </a:r>
            <a:r>
              <a:rPr lang="en-US" sz="1200" b="0" dirty="0">
                <a:solidFill>
                  <a:srgbClr val="0000FF"/>
                </a:solidFill>
                <a:latin typeface="Cascadia Mono" panose="020B0609020000020004" pitchFamily="49" charset="0"/>
              </a:rPr>
              <a:t>="submit"</a:t>
            </a:r>
            <a:r>
              <a:rPr lang="en-US" sz="1200" b="0" dirty="0">
                <a:solidFill>
                  <a:srgbClr val="000000"/>
                </a:solidFill>
                <a:latin typeface="Cascadia Mono" panose="020B0609020000020004" pitchFamily="49" charset="0"/>
              </a:rPr>
              <a:t> </a:t>
            </a:r>
            <a:r>
              <a:rPr lang="en-US" sz="1200" b="0" dirty="0">
                <a:solidFill>
                  <a:srgbClr val="FF0000"/>
                </a:solidFill>
                <a:latin typeface="Cascadia Mono" panose="020B0609020000020004" pitchFamily="49" charset="0"/>
              </a:rPr>
              <a:t>class</a:t>
            </a:r>
            <a:r>
              <a:rPr lang="en-US" sz="1200" b="0" dirty="0">
                <a:solidFill>
                  <a:srgbClr val="0000FF"/>
                </a:solidFill>
                <a:latin typeface="Cascadia Mono" panose="020B0609020000020004" pitchFamily="49" charset="0"/>
              </a:rPr>
              <a:t>="</a:t>
            </a:r>
            <a:r>
              <a:rPr lang="en-US" sz="1200" b="0" dirty="0" err="1">
                <a:solidFill>
                  <a:srgbClr val="0000FF"/>
                </a:solidFill>
                <a:latin typeface="Cascadia Mono" panose="020B0609020000020004" pitchFamily="49" charset="0"/>
              </a:rPr>
              <a:t>btn</a:t>
            </a:r>
            <a:r>
              <a:rPr lang="en-US" sz="1200" b="0" dirty="0">
                <a:solidFill>
                  <a:srgbClr val="0000FF"/>
                </a:solidFill>
                <a:latin typeface="Cascadia Mono" panose="020B0609020000020004" pitchFamily="49" charset="0"/>
              </a:rPr>
              <a:t> </a:t>
            </a:r>
            <a:r>
              <a:rPr lang="en-US" sz="1200" b="0" dirty="0" err="1">
                <a:solidFill>
                  <a:srgbClr val="0000FF"/>
                </a:solidFill>
                <a:latin typeface="Cascadia Mono" panose="020B0609020000020004" pitchFamily="49" charset="0"/>
              </a:rPr>
              <a:t>btn</a:t>
            </a:r>
            <a:r>
              <a:rPr lang="en-US" sz="1200" b="0" dirty="0">
                <a:solidFill>
                  <a:srgbClr val="0000FF"/>
                </a:solidFill>
                <a:latin typeface="Cascadia Mono" panose="020B0609020000020004" pitchFamily="49" charset="0"/>
              </a:rPr>
              <a:t>-danger"</a:t>
            </a:r>
            <a:r>
              <a:rPr lang="en-US" sz="1200" b="0" dirty="0">
                <a:solidFill>
                  <a:srgbClr val="000000"/>
                </a:solidFill>
                <a:latin typeface="Cascadia Mono" panose="020B0609020000020004" pitchFamily="49" charset="0"/>
              </a:rPr>
              <a:t> </a:t>
            </a:r>
            <a:r>
              <a:rPr lang="en-US" sz="1200" b="0" dirty="0">
                <a:solidFill>
                  <a:srgbClr val="FF0000"/>
                </a:solidFill>
                <a:latin typeface="Cascadia Mono" panose="020B0609020000020004" pitchFamily="49" charset="0"/>
              </a:rPr>
              <a:t>value</a:t>
            </a:r>
            <a:r>
              <a:rPr lang="en-US" sz="1200" b="0" dirty="0">
                <a:solidFill>
                  <a:srgbClr val="0000FF"/>
                </a:solidFill>
                <a:latin typeface="Cascadia Mono" panose="020B0609020000020004" pitchFamily="49" charset="0"/>
              </a:rPr>
              <a:t>="Remove"</a:t>
            </a: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r>
              <a:rPr lang="en-IN" sz="1200" b="0" dirty="0">
                <a:solidFill>
                  <a:srgbClr val="0000FF"/>
                </a:solidFill>
                <a:latin typeface="Cascadia Mono" panose="020B0609020000020004" pitchFamily="49" charset="0"/>
              </a:rPr>
              <a:t>&lt;/</a:t>
            </a:r>
            <a:r>
              <a:rPr lang="en-IN" sz="1200" b="1" dirty="0">
                <a:solidFill>
                  <a:srgbClr val="800080"/>
                </a:solidFill>
                <a:latin typeface="Cascadia Mono" panose="020B0609020000020004" pitchFamily="49" charset="0"/>
              </a:rPr>
              <a:t>form</a:t>
            </a:r>
            <a:r>
              <a:rPr lang="en-IN" sz="1200" b="0" dirty="0">
                <a:solidFill>
                  <a:srgbClr val="0000FF"/>
                </a:solidFill>
                <a:latin typeface="Cascadia Mono" panose="020B0609020000020004" pitchFamily="49" charset="0"/>
              </a:rPr>
              <a:t>&gt;</a:t>
            </a:r>
            <a:endParaRPr lang="en-IN" sz="1200" b="0" dirty="0">
              <a:solidFill>
                <a:srgbClr val="000000"/>
              </a:solidFill>
              <a:latin typeface="Cascadia Mono" panose="020B0609020000020004" pitchFamily="49" charset="0"/>
            </a:endParaRPr>
          </a:p>
          <a:p>
            <a:r>
              <a:rPr lang="en-IN" sz="1200" b="0" dirty="0">
                <a:solidFill>
                  <a:srgbClr val="000000"/>
                </a:solidFill>
                <a:latin typeface="Cascadia Mono" panose="020B0609020000020004" pitchFamily="49" charset="0"/>
              </a:rPr>
              <a:t>    </a:t>
            </a:r>
            <a:r>
              <a:rPr lang="en-IN" sz="1200" b="0" dirty="0">
                <a:solidFill>
                  <a:srgbClr val="0000FF"/>
                </a:solidFill>
                <a:latin typeface="Cascadia Mono" panose="020B0609020000020004" pitchFamily="49" charset="0"/>
              </a:rPr>
              <a:t>&lt;</a:t>
            </a:r>
            <a:r>
              <a:rPr lang="en-IN" sz="1200" b="0" dirty="0">
                <a:solidFill>
                  <a:srgbClr val="800000"/>
                </a:solidFill>
                <a:latin typeface="Cascadia Mono" panose="020B0609020000020004" pitchFamily="49" charset="0"/>
              </a:rPr>
              <a:t>div</a:t>
            </a:r>
            <a:r>
              <a:rPr lang="en-IN" sz="1200" b="0" dirty="0">
                <a:solidFill>
                  <a:srgbClr val="000000"/>
                </a:solidFill>
                <a:latin typeface="Cascadia Mono" panose="020B0609020000020004" pitchFamily="49" charset="0"/>
              </a:rPr>
              <a:t> </a:t>
            </a:r>
            <a:r>
              <a:rPr lang="en-IN" sz="1200" b="0" dirty="0">
                <a:solidFill>
                  <a:srgbClr val="FF0000"/>
                </a:solidFill>
                <a:latin typeface="Cascadia Mono" panose="020B0609020000020004" pitchFamily="49" charset="0"/>
              </a:rPr>
              <a:t>class</a:t>
            </a:r>
            <a:r>
              <a:rPr lang="en-IN" sz="1200" b="0" dirty="0">
                <a:solidFill>
                  <a:srgbClr val="000000"/>
                </a:solidFill>
                <a:latin typeface="Cascadia Mono" panose="020B0609020000020004" pitchFamily="49" charset="0"/>
              </a:rPr>
              <a:t> </a:t>
            </a:r>
            <a:r>
              <a:rPr lang="en-IN" sz="1200" b="0" dirty="0">
                <a:solidFill>
                  <a:srgbClr val="0000FF"/>
                </a:solidFill>
                <a:latin typeface="Cascadia Mono" panose="020B0609020000020004" pitchFamily="49" charset="0"/>
              </a:rPr>
              <a:t>="row"&gt;</a:t>
            </a:r>
            <a:endParaRPr lang="en-IN" sz="1200" b="0" dirty="0">
              <a:solidFill>
                <a:srgbClr val="000000"/>
              </a:solidFill>
              <a:latin typeface="Cascadia Mono" panose="020B0609020000020004" pitchFamily="49" charset="0"/>
            </a:endParaRPr>
          </a:p>
          <a:p>
            <a:r>
              <a:rPr lang="en-IN" sz="1200" b="0" dirty="0">
                <a:solidFill>
                  <a:srgbClr val="000000"/>
                </a:solidFill>
                <a:latin typeface="Cascadia Mono" panose="020B0609020000020004" pitchFamily="49" charset="0"/>
              </a:rPr>
              <a:t>        </a:t>
            </a:r>
            <a:r>
              <a:rPr lang="en-IN" sz="1200" b="0" dirty="0">
                <a:solidFill>
                  <a:srgbClr val="0000FF"/>
                </a:solidFill>
                <a:latin typeface="Cascadia Mono" panose="020B0609020000020004" pitchFamily="49" charset="0"/>
              </a:rPr>
              <a:t>&lt;</a:t>
            </a:r>
            <a:r>
              <a:rPr lang="en-IN" sz="1200" b="0" dirty="0">
                <a:solidFill>
                  <a:srgbClr val="800000"/>
                </a:solidFill>
                <a:latin typeface="Cascadia Mono" panose="020B0609020000020004" pitchFamily="49" charset="0"/>
              </a:rPr>
              <a:t>div</a:t>
            </a:r>
            <a:r>
              <a:rPr lang="en-IN" sz="1200" b="0" dirty="0">
                <a:solidFill>
                  <a:srgbClr val="000000"/>
                </a:solidFill>
                <a:latin typeface="Cascadia Mono" panose="020B0609020000020004" pitchFamily="49" charset="0"/>
              </a:rPr>
              <a:t> </a:t>
            </a:r>
            <a:r>
              <a:rPr lang="en-IN" sz="1200" b="0" dirty="0">
                <a:solidFill>
                  <a:srgbClr val="FF0000"/>
                </a:solidFill>
                <a:latin typeface="Cascadia Mono" panose="020B0609020000020004" pitchFamily="49" charset="0"/>
              </a:rPr>
              <a:t>class</a:t>
            </a:r>
            <a:r>
              <a:rPr lang="en-IN" sz="1200" b="0" dirty="0">
                <a:solidFill>
                  <a:srgbClr val="000000"/>
                </a:solidFill>
                <a:latin typeface="Cascadia Mono" panose="020B0609020000020004" pitchFamily="49" charset="0"/>
              </a:rPr>
              <a:t> </a:t>
            </a:r>
            <a:r>
              <a:rPr lang="en-IN" sz="1200" b="0" dirty="0">
                <a:solidFill>
                  <a:srgbClr val="0000FF"/>
                </a:solidFill>
                <a:latin typeface="Cascadia Mono" panose="020B0609020000020004" pitchFamily="49" charset="0"/>
              </a:rPr>
              <a:t>="col-md-3"&gt;</a:t>
            </a:r>
            <a:endParaRPr lang="en-IN" sz="1200" b="0" dirty="0">
              <a:solidFill>
                <a:srgbClr val="000000"/>
              </a:solidFill>
              <a:latin typeface="Cascadia Mono" panose="020B0609020000020004" pitchFamily="49" charset="0"/>
            </a:endParaRPr>
          </a:p>
          <a:p>
            <a:r>
              <a:rPr lang="en-IN" sz="1200" b="0" dirty="0">
                <a:solidFill>
                  <a:srgbClr val="000000"/>
                </a:solidFill>
                <a:latin typeface="Cascadia Mono" panose="020B0609020000020004" pitchFamily="49" charset="0"/>
              </a:rPr>
              <a:t>            </a:t>
            </a:r>
            <a:r>
              <a:rPr lang="en-IN" sz="1200" b="0" dirty="0">
                <a:solidFill>
                  <a:srgbClr val="0000FF"/>
                </a:solidFill>
                <a:latin typeface="Cascadia Mono" panose="020B0609020000020004" pitchFamily="49" charset="0"/>
              </a:rPr>
              <a:t>&lt;</a:t>
            </a:r>
            <a:r>
              <a:rPr lang="en-IN" sz="1200" b="0" dirty="0">
                <a:solidFill>
                  <a:srgbClr val="800000"/>
                </a:solidFill>
                <a:latin typeface="Cascadia Mono" panose="020B0609020000020004" pitchFamily="49" charset="0"/>
              </a:rPr>
              <a:t>h3</a:t>
            </a:r>
            <a:r>
              <a:rPr lang="en-IN" sz="1200" b="0" dirty="0">
                <a:solidFill>
                  <a:srgbClr val="0000FF"/>
                </a:solidFill>
                <a:latin typeface="Cascadia Mono" panose="020B0609020000020004" pitchFamily="49" charset="0"/>
              </a:rPr>
              <a:t>&gt;</a:t>
            </a:r>
            <a:r>
              <a:rPr lang="en-IN" sz="1200" b="0" dirty="0">
                <a:solidFill>
                  <a:srgbClr val="000000"/>
                </a:solidFill>
                <a:latin typeface="Cascadia Mono" panose="020B0609020000020004" pitchFamily="49" charset="0"/>
              </a:rPr>
              <a:t> Current Time: @</a:t>
            </a:r>
            <a:r>
              <a:rPr lang="en-IN" sz="1200" b="0" dirty="0">
                <a:solidFill>
                  <a:srgbClr val="2B91AF"/>
                </a:solidFill>
                <a:latin typeface="Cascadia Mono" panose="020B0609020000020004" pitchFamily="49" charset="0"/>
              </a:rPr>
              <a:t>DateTime</a:t>
            </a:r>
            <a:r>
              <a:rPr lang="en-IN" sz="1200" b="0" dirty="0">
                <a:solidFill>
                  <a:srgbClr val="000000"/>
                </a:solidFill>
                <a:latin typeface="Cascadia Mono" panose="020B0609020000020004" pitchFamily="49" charset="0"/>
              </a:rPr>
              <a:t>.Now.ToString()</a:t>
            </a:r>
            <a:r>
              <a:rPr lang="en-IN" sz="1200" b="0" dirty="0">
                <a:solidFill>
                  <a:srgbClr val="0000FF"/>
                </a:solidFill>
                <a:latin typeface="Cascadia Mono" panose="020B0609020000020004" pitchFamily="49" charset="0"/>
              </a:rPr>
              <a:t>&lt;/</a:t>
            </a:r>
            <a:r>
              <a:rPr lang="en-IN" sz="1200" b="0" dirty="0">
                <a:solidFill>
                  <a:srgbClr val="800000"/>
                </a:solidFill>
                <a:latin typeface="Cascadia Mono" panose="020B0609020000020004" pitchFamily="49" charset="0"/>
              </a:rPr>
              <a:t>h3</a:t>
            </a:r>
            <a:r>
              <a:rPr lang="en-IN" sz="1200" b="0" dirty="0">
                <a:solidFill>
                  <a:srgbClr val="0000FF"/>
                </a:solidFill>
                <a:latin typeface="Cascadia Mono" panose="020B0609020000020004" pitchFamily="49" charset="0"/>
              </a:rPr>
              <a:t>&gt;</a:t>
            </a:r>
            <a:endParaRPr lang="en-IN" sz="1200" b="0" dirty="0">
              <a:solidFill>
                <a:srgbClr val="000000"/>
              </a:solidFill>
              <a:latin typeface="Cascadia Mono" panose="020B0609020000020004" pitchFamily="49" charset="0"/>
            </a:endParaRPr>
          </a:p>
          <a:p>
            <a:r>
              <a:rPr lang="en-IN" sz="1200" b="0" dirty="0">
                <a:solidFill>
                  <a:srgbClr val="000000"/>
                </a:solidFill>
                <a:latin typeface="Cascadia Mono" panose="020B0609020000020004" pitchFamily="49" charset="0"/>
              </a:rPr>
              <a:t>            </a:t>
            </a:r>
            <a:r>
              <a:rPr lang="en-IN" sz="1200" b="0" dirty="0">
                <a:solidFill>
                  <a:srgbClr val="0000FF"/>
                </a:solidFill>
                <a:latin typeface="Cascadia Mono" panose="020B0609020000020004" pitchFamily="49" charset="0"/>
              </a:rPr>
              <a:t>&lt;/</a:t>
            </a:r>
            <a:r>
              <a:rPr lang="en-IN" sz="1200" b="0" dirty="0">
                <a:solidFill>
                  <a:srgbClr val="800000"/>
                </a:solidFill>
                <a:latin typeface="Cascadia Mono" panose="020B0609020000020004" pitchFamily="49" charset="0"/>
              </a:rPr>
              <a:t>div</a:t>
            </a:r>
            <a:r>
              <a:rPr lang="en-IN" sz="1200" b="0" dirty="0">
                <a:solidFill>
                  <a:srgbClr val="0000FF"/>
                </a:solidFill>
                <a:latin typeface="Cascadia Mono" panose="020B0609020000020004" pitchFamily="49" charset="0"/>
              </a:rPr>
              <a:t>&gt;</a:t>
            </a:r>
            <a:r>
              <a:rPr lang="en-IN" sz="1200" b="0" dirty="0">
                <a:solidFill>
                  <a:srgbClr val="000000"/>
                </a:solidFill>
                <a:latin typeface="Cascadia Mono" panose="020B0609020000020004" pitchFamily="49" charset="0"/>
              </a:rPr>
              <a:t>  </a:t>
            </a:r>
          </a:p>
          <a:p>
            <a:r>
              <a:rPr lang="en-IN" sz="1200" b="0" dirty="0">
                <a:solidFill>
                  <a:srgbClr val="000000"/>
                </a:solidFill>
                <a:latin typeface="Cascadia Mono" panose="020B0609020000020004" pitchFamily="49" charset="0"/>
              </a:rPr>
              <a:t>            </a:t>
            </a:r>
            <a:r>
              <a:rPr lang="en-IN" sz="1200" b="0" dirty="0">
                <a:solidFill>
                  <a:srgbClr val="0000FF"/>
                </a:solidFill>
                <a:latin typeface="Cascadia Mono" panose="020B0609020000020004" pitchFamily="49" charset="0"/>
              </a:rPr>
              <a:t>&lt;</a:t>
            </a:r>
            <a:r>
              <a:rPr lang="en-IN" sz="1200" b="0" dirty="0">
                <a:solidFill>
                  <a:srgbClr val="800000"/>
                </a:solidFill>
                <a:latin typeface="Cascadia Mono" panose="020B0609020000020004" pitchFamily="49" charset="0"/>
              </a:rPr>
              <a:t>div</a:t>
            </a:r>
            <a:r>
              <a:rPr lang="en-IN" sz="1200" b="0" dirty="0">
                <a:solidFill>
                  <a:srgbClr val="000000"/>
                </a:solidFill>
                <a:latin typeface="Cascadia Mono" panose="020B0609020000020004" pitchFamily="49" charset="0"/>
              </a:rPr>
              <a:t> </a:t>
            </a:r>
            <a:r>
              <a:rPr lang="en-IN" sz="1200" b="0" dirty="0">
                <a:solidFill>
                  <a:srgbClr val="FF0000"/>
                </a:solidFill>
                <a:latin typeface="Cascadia Mono" panose="020B0609020000020004" pitchFamily="49" charset="0"/>
              </a:rPr>
              <a:t>class</a:t>
            </a:r>
            <a:r>
              <a:rPr lang="en-IN" sz="1200" b="0" dirty="0">
                <a:solidFill>
                  <a:srgbClr val="000000"/>
                </a:solidFill>
                <a:latin typeface="Cascadia Mono" panose="020B0609020000020004" pitchFamily="49" charset="0"/>
              </a:rPr>
              <a:t> </a:t>
            </a:r>
            <a:r>
              <a:rPr lang="en-IN" sz="1200" b="0" dirty="0">
                <a:solidFill>
                  <a:srgbClr val="0000FF"/>
                </a:solidFill>
                <a:latin typeface="Cascadia Mono" panose="020B0609020000020004" pitchFamily="49" charset="0"/>
              </a:rPr>
              <a:t>="col-md-3"&gt;</a:t>
            </a:r>
            <a:endParaRPr lang="en-IN" sz="1200" b="0" dirty="0">
              <a:solidFill>
                <a:srgbClr val="000000"/>
              </a:solidFill>
              <a:latin typeface="Cascadia Mono" panose="020B0609020000020004" pitchFamily="49" charset="0"/>
            </a:endParaRPr>
          </a:p>
          <a:p>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h3</a:t>
            </a:r>
            <a:r>
              <a:rPr lang="en-US" sz="1200" b="0" dirty="0">
                <a:solidFill>
                  <a:srgbClr val="0000FF"/>
                </a:solidFill>
                <a:latin typeface="Cascadia Mono" panose="020B0609020000020004" pitchFamily="49" charset="0"/>
              </a:rPr>
              <a:t>&gt;</a:t>
            </a:r>
            <a:r>
              <a:rPr lang="en-US" sz="1200" b="0" dirty="0">
                <a:solidFill>
                  <a:srgbClr val="000000"/>
                </a:solidFill>
                <a:latin typeface="Cascadia Mono" panose="020B0609020000020004" pitchFamily="49" charset="0"/>
              </a:rPr>
              <a:t> Cache Time: @(Model != </a:t>
            </a:r>
            <a:r>
              <a:rPr lang="en-US" sz="1200" b="0" dirty="0">
                <a:solidFill>
                  <a:srgbClr val="0000FF"/>
                </a:solidFill>
                <a:latin typeface="Cascadia Mono" panose="020B0609020000020004" pitchFamily="49" charset="0"/>
              </a:rPr>
              <a:t>null</a:t>
            </a:r>
            <a:r>
              <a:rPr lang="en-US" sz="1200" b="0" dirty="0">
                <a:solidFill>
                  <a:srgbClr val="000000"/>
                </a:solidFill>
                <a:latin typeface="Cascadia Mono" panose="020B0609020000020004" pitchFamily="49" charset="0"/>
              </a:rPr>
              <a:t> ? @Model.ToString() : </a:t>
            </a:r>
            <a:r>
              <a:rPr lang="en-US" sz="1200" b="0" dirty="0">
                <a:solidFill>
                  <a:srgbClr val="A31515"/>
                </a:solidFill>
                <a:latin typeface="Cascadia Mono" panose="020B0609020000020004" pitchFamily="49" charset="0"/>
              </a:rPr>
              <a:t>"Cache is not available"</a:t>
            </a:r>
            <a:r>
              <a:rPr lang="en-US" sz="1200" b="0" dirty="0">
                <a:solidFill>
                  <a:srgbClr val="000000"/>
                </a:solidFill>
                <a:latin typeface="Cascadia Mono" panose="020B0609020000020004" pitchFamily="49" charset="0"/>
              </a:rPr>
              <a:t>)</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h3</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r>
              <a:rPr lang="en-IN" sz="1200" b="0" dirty="0">
                <a:solidFill>
                  <a:srgbClr val="000000"/>
                </a:solidFill>
                <a:latin typeface="Cascadia Mono" panose="020B0609020000020004" pitchFamily="49" charset="0"/>
              </a:rPr>
              <a:t>                </a:t>
            </a:r>
            <a:r>
              <a:rPr lang="en-IN" sz="1200" b="0" dirty="0">
                <a:solidFill>
                  <a:srgbClr val="0000FF"/>
                </a:solidFill>
                <a:latin typeface="Cascadia Mono" panose="020B0609020000020004" pitchFamily="49" charset="0"/>
              </a:rPr>
              <a:t>&lt;/</a:t>
            </a:r>
            <a:r>
              <a:rPr lang="en-IN" sz="1200" b="0" dirty="0">
                <a:solidFill>
                  <a:srgbClr val="800000"/>
                </a:solidFill>
                <a:latin typeface="Cascadia Mono" panose="020B0609020000020004" pitchFamily="49" charset="0"/>
              </a:rPr>
              <a:t>div</a:t>
            </a:r>
            <a:r>
              <a:rPr lang="en-IN" sz="1200" b="0" dirty="0">
                <a:solidFill>
                  <a:srgbClr val="0000FF"/>
                </a:solidFill>
                <a:latin typeface="Cascadia Mono" panose="020B0609020000020004" pitchFamily="49" charset="0"/>
              </a:rPr>
              <a:t>&gt;</a:t>
            </a:r>
            <a:r>
              <a:rPr lang="en-IN" sz="1200" b="0" dirty="0">
                <a:solidFill>
                  <a:srgbClr val="000000"/>
                </a:solidFill>
                <a:latin typeface="Cascadia Mono" panose="020B0609020000020004" pitchFamily="49" charset="0"/>
              </a:rPr>
              <a:t>  </a:t>
            </a:r>
          </a:p>
          <a:p>
            <a:r>
              <a:rPr lang="en-IN" sz="1200" b="0" dirty="0">
                <a:solidFill>
                  <a:srgbClr val="000000"/>
                </a:solidFill>
                <a:latin typeface="Cascadia Mono" panose="020B0609020000020004" pitchFamily="49" charset="0"/>
              </a:rPr>
              <a:t>                </a:t>
            </a:r>
            <a:r>
              <a:rPr lang="en-IN" sz="1200" b="0" dirty="0">
                <a:solidFill>
                  <a:srgbClr val="0000FF"/>
                </a:solidFill>
                <a:latin typeface="Cascadia Mono" panose="020B0609020000020004" pitchFamily="49" charset="0"/>
              </a:rPr>
              <a:t>&lt;</a:t>
            </a:r>
            <a:r>
              <a:rPr lang="en-IN" sz="1200" b="0" dirty="0">
                <a:solidFill>
                  <a:srgbClr val="800000"/>
                </a:solidFill>
                <a:latin typeface="Cascadia Mono" panose="020B0609020000020004" pitchFamily="49" charset="0"/>
              </a:rPr>
              <a:t>div</a:t>
            </a:r>
            <a:r>
              <a:rPr lang="en-IN" sz="1200" b="0" dirty="0">
                <a:solidFill>
                  <a:srgbClr val="000000"/>
                </a:solidFill>
                <a:latin typeface="Cascadia Mono" panose="020B0609020000020004" pitchFamily="49" charset="0"/>
              </a:rPr>
              <a:t> </a:t>
            </a:r>
            <a:r>
              <a:rPr lang="en-IN" sz="1200" b="0" dirty="0">
                <a:solidFill>
                  <a:srgbClr val="FF0000"/>
                </a:solidFill>
                <a:latin typeface="Cascadia Mono" panose="020B0609020000020004" pitchFamily="49" charset="0"/>
              </a:rPr>
              <a:t>class</a:t>
            </a:r>
            <a:r>
              <a:rPr lang="en-IN" sz="1200" b="0" dirty="0">
                <a:solidFill>
                  <a:srgbClr val="000000"/>
                </a:solidFill>
                <a:latin typeface="Cascadia Mono" panose="020B0609020000020004" pitchFamily="49" charset="0"/>
              </a:rPr>
              <a:t> </a:t>
            </a:r>
            <a:r>
              <a:rPr lang="en-IN" sz="1200" b="0" dirty="0">
                <a:solidFill>
                  <a:srgbClr val="0000FF"/>
                </a:solidFill>
                <a:latin typeface="Cascadia Mono" panose="020B0609020000020004" pitchFamily="49" charset="0"/>
              </a:rPr>
              <a:t>="col-md-3"&gt;</a:t>
            </a:r>
            <a:r>
              <a:rPr lang="en-IN" sz="1200" b="0" dirty="0">
                <a:solidFill>
                  <a:srgbClr val="000000"/>
                </a:solidFill>
                <a:latin typeface="Cascadia Mono" panose="020B0609020000020004" pitchFamily="49" charset="0"/>
              </a:rPr>
              <a:t>                </a:t>
            </a:r>
          </a:p>
          <a:p>
            <a:r>
              <a:rPr lang="en-IN" sz="1200" b="0" dirty="0">
                <a:solidFill>
                  <a:srgbClr val="000000"/>
                </a:solidFill>
                <a:latin typeface="Cascadia Mono" panose="020B0609020000020004" pitchFamily="49" charset="0"/>
              </a:rPr>
              <a:t>                    </a:t>
            </a:r>
            <a:r>
              <a:rPr lang="en-IN" sz="1200" b="0" dirty="0">
                <a:solidFill>
                  <a:srgbClr val="0000FF"/>
                </a:solidFill>
                <a:latin typeface="Cascadia Mono" panose="020B0609020000020004" pitchFamily="49" charset="0"/>
              </a:rPr>
              <a:t>&lt;/</a:t>
            </a:r>
            <a:r>
              <a:rPr lang="en-IN" sz="1200" b="0" dirty="0">
                <a:solidFill>
                  <a:srgbClr val="800000"/>
                </a:solidFill>
                <a:latin typeface="Cascadia Mono" panose="020B0609020000020004" pitchFamily="49" charset="0"/>
              </a:rPr>
              <a:t>div</a:t>
            </a:r>
            <a:r>
              <a:rPr lang="en-IN" sz="1200" b="0" dirty="0">
                <a:solidFill>
                  <a:srgbClr val="0000FF"/>
                </a:solidFill>
                <a:latin typeface="Cascadia Mono" panose="020B0609020000020004" pitchFamily="49" charset="0"/>
              </a:rPr>
              <a:t>&gt;</a:t>
            </a:r>
            <a:r>
              <a:rPr lang="en-IN" sz="1200" b="0" dirty="0">
                <a:solidFill>
                  <a:srgbClr val="000000"/>
                </a:solidFill>
                <a:latin typeface="Cascadia Mono" panose="020B0609020000020004" pitchFamily="49" charset="0"/>
              </a:rPr>
              <a:t>                   </a:t>
            </a:r>
          </a:p>
          <a:p>
            <a:r>
              <a:rPr lang="en-IN" sz="1200" b="0" dirty="0">
                <a:solidFill>
                  <a:srgbClr val="000000"/>
                </a:solidFill>
                <a:latin typeface="Cascadia Mono" panose="020B0609020000020004" pitchFamily="49" charset="0"/>
              </a:rPr>
              <a:t>                </a:t>
            </a:r>
          </a:p>
          <a:p>
            <a:r>
              <a:rPr lang="en-IN" sz="1200" b="0" dirty="0">
                <a:solidFill>
                  <a:srgbClr val="000000"/>
                </a:solidFill>
                <a:latin typeface="Cascadia Mono" panose="020B0609020000020004" pitchFamily="49" charset="0"/>
              </a:rPr>
              <a:t>                </a:t>
            </a:r>
            <a:r>
              <a:rPr lang="en-IN" sz="1200" b="0" dirty="0">
                <a:solidFill>
                  <a:srgbClr val="0000FF"/>
                </a:solidFill>
                <a:latin typeface="Cascadia Mono" panose="020B0609020000020004" pitchFamily="49" charset="0"/>
              </a:rPr>
              <a:t>&lt;/</a:t>
            </a:r>
            <a:r>
              <a:rPr lang="en-IN" sz="1200" b="0" dirty="0">
                <a:solidFill>
                  <a:srgbClr val="800000"/>
                </a:solidFill>
                <a:latin typeface="Cascadia Mono" panose="020B0609020000020004" pitchFamily="49" charset="0"/>
              </a:rPr>
              <a:t>div</a:t>
            </a:r>
            <a:r>
              <a:rPr lang="en-IN" sz="1200" b="0" dirty="0">
                <a:solidFill>
                  <a:srgbClr val="0000FF"/>
                </a:solidFill>
                <a:latin typeface="Cascadia Mono" panose="020B0609020000020004" pitchFamily="49" charset="0"/>
              </a:rPr>
              <a:t>&gt;</a:t>
            </a:r>
            <a:r>
              <a:rPr lang="en-IN" sz="1200" b="0" dirty="0">
                <a:solidFill>
                  <a:srgbClr val="000000"/>
                </a:solidFill>
                <a:latin typeface="Cascadia Mono" panose="020B0609020000020004" pitchFamily="49" charset="0"/>
              </a:rPr>
              <a:t> </a:t>
            </a:r>
          </a:p>
          <a:p>
            <a:pPr algn="l">
              <a:buFont typeface="+mj-lt"/>
              <a:buAutoNum type="arabicPeriod"/>
            </a:pPr>
            <a:endParaRPr lang="en-IN" sz="1000" b="0" i="0" dirty="0">
              <a:solidFill>
                <a:srgbClr val="5C5C5C"/>
              </a:solidFill>
              <a:effectLst/>
              <a:latin typeface="Consolas" panose="020B0609020204030204" pitchFamily="49" charset="0"/>
            </a:endParaRPr>
          </a:p>
        </p:txBody>
      </p:sp>
    </p:spTree>
    <p:extLst>
      <p:ext uri="{BB962C8B-B14F-4D97-AF65-F5344CB8AC3E}">
        <p14:creationId xmlns:p14="http://schemas.microsoft.com/office/powerpoint/2010/main" val="2198399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AAC504-9834-4E42-BEA6-0F40DBBABC1A}"/>
              </a:ext>
            </a:extLst>
          </p:cNvPr>
          <p:cNvSpPr txBox="1"/>
          <p:nvPr/>
        </p:nvSpPr>
        <p:spPr>
          <a:xfrm>
            <a:off x="0" y="0"/>
            <a:ext cx="11641394" cy="646331"/>
          </a:xfrm>
          <a:prstGeom prst="rect">
            <a:avLst/>
          </a:prstGeom>
          <a:noFill/>
        </p:spPr>
        <p:txBody>
          <a:bodyPr wrap="square">
            <a:spAutoFit/>
          </a:bodyPr>
          <a:lstStyle/>
          <a:p>
            <a:r>
              <a:rPr lang="en-US" b="0" i="0" dirty="0">
                <a:solidFill>
                  <a:srgbClr val="212121"/>
                </a:solidFill>
                <a:effectLst/>
                <a:latin typeface="open sans" panose="020B0606030504020204" pitchFamily="34" charset="0"/>
              </a:rPr>
              <a:t>Now, run the application. It shows both current time and cached data along with Remove button. When clicked on Remove button, it calls action method and removes the cached data.</a:t>
            </a:r>
            <a:endParaRPr lang="en-IN" dirty="0"/>
          </a:p>
        </p:txBody>
      </p:sp>
      <p:sp>
        <p:nvSpPr>
          <p:cNvPr id="7" name="TextBox 6">
            <a:extLst>
              <a:ext uri="{FF2B5EF4-FFF2-40B4-BE49-F238E27FC236}">
                <a16:creationId xmlns:a16="http://schemas.microsoft.com/office/drawing/2014/main" id="{F5EE3D68-8F4D-4CA3-A53B-92C6CEFCB552}"/>
              </a:ext>
            </a:extLst>
          </p:cNvPr>
          <p:cNvSpPr txBox="1"/>
          <p:nvPr/>
        </p:nvSpPr>
        <p:spPr>
          <a:xfrm>
            <a:off x="6943618" y="1941372"/>
            <a:ext cx="6120580"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HttpPost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endParaRPr kumimoji="0" lang="en-IN" sz="1400" b="0" i="0" u="none" strike="noStrike" kern="1200" cap="none" spc="0" normalizeH="0" baseline="0" noProof="0" dirty="0">
              <a:ln>
                <a:noFill/>
              </a:ln>
              <a:solidFill>
                <a:srgbClr val="5C5C5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400" b="1" i="0" u="none" strike="noStrike" kern="1200" cap="none" spc="0" normalizeH="0" baseline="0" noProof="0" dirty="0">
                <a:ln>
                  <a:noFill/>
                </a:ln>
                <a:solidFill>
                  <a:srgbClr val="006699"/>
                </a:solidFill>
                <a:effectLst/>
                <a:uLnTx/>
                <a:uFillTx/>
                <a:latin typeface="Consolas" panose="020B0609020204030204" pitchFamily="49" charset="0"/>
                <a:ea typeface="+mn-ea"/>
                <a:cs typeface="+mn-cs"/>
              </a:rPr>
              <a:t>public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IActionResult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lang="en-IN" sz="1400" b="0" i="0" dirty="0">
                <a:solidFill>
                  <a:srgbClr val="0000FF"/>
                </a:solidFill>
                <a:effectLst/>
                <a:latin typeface="Consolas" panose="020B0609020204030204" pitchFamily="49" charset="0"/>
              </a:rPr>
              <a:t> </a:t>
            </a:r>
            <a:r>
              <a:rPr lang="en-IN" sz="1400" b="0" i="0" dirty="0" err="1">
                <a:solidFill>
                  <a:srgbClr val="0000FF"/>
                </a:solidFill>
                <a:effectLst/>
                <a:latin typeface="Consolas" panose="020B0609020204030204" pitchFamily="49" charset="0"/>
              </a:rPr>
              <a:t>RemoveCache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endParaRPr kumimoji="0" lang="en-IN" sz="1400" b="0" i="0" u="none" strike="noStrike" kern="1200" cap="none" spc="0" normalizeH="0" baseline="0" noProof="0" dirty="0">
              <a:ln>
                <a:noFill/>
              </a:ln>
              <a:solidFill>
                <a:srgbClr val="5C5C5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memoryCache.Remove</a:t>
            </a:r>
            <a:r>
              <a:rPr lang="en-IN" sz="1400" b="0" i="0" dirty="0">
                <a:solidFill>
                  <a:srgbClr val="000000"/>
                </a:solidFill>
                <a:effectLst/>
                <a:latin typeface="Consolas" panose="020B0609020204030204" pitchFamily="49" charset="0"/>
              </a:rPr>
              <a:t>(“</a:t>
            </a:r>
            <a:r>
              <a:rPr lang="en-IN" sz="1400" b="0" i="0" dirty="0" err="1">
                <a:solidFill>
                  <a:srgbClr val="0000FF"/>
                </a:solidFill>
                <a:effectLst/>
                <a:latin typeface="Consolas" panose="020B0609020204030204" pitchFamily="49" charset="0"/>
              </a:rPr>
              <a:t>CacheTime</a:t>
            </a:r>
            <a:r>
              <a:rPr lang="en-IN" sz="1400" b="0" i="0" dirty="0">
                <a:solidFill>
                  <a:srgbClr val="000000"/>
                </a:solidFill>
                <a:effectLst/>
                <a:latin typeface="Consolas" panose="020B0609020204030204" pitchFamily="49" charset="0"/>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1" i="0" u="none" strike="noStrike" kern="1200" cap="none" spc="0" normalizeH="0" baseline="0" noProof="0" dirty="0">
                <a:ln>
                  <a:noFill/>
                </a:ln>
                <a:solidFill>
                  <a:srgbClr val="006699"/>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View(“Index”);  </a:t>
            </a:r>
            <a:endParaRPr kumimoji="0" lang="en-IN" sz="1400" b="0" i="0" u="none" strike="noStrike" kern="1200" cap="none" spc="0" normalizeH="0" baseline="0" noProof="0" dirty="0">
              <a:ln>
                <a:noFill/>
              </a:ln>
              <a:solidFill>
                <a:srgbClr val="5C5C5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p:txBody>
      </p:sp>
      <p:pic>
        <p:nvPicPr>
          <p:cNvPr id="3" name="Picture 2">
            <a:extLst>
              <a:ext uri="{FF2B5EF4-FFF2-40B4-BE49-F238E27FC236}">
                <a16:creationId xmlns:a16="http://schemas.microsoft.com/office/drawing/2014/main" id="{964CDBE1-3B9D-E7FB-F09B-A0CEC3504BB0}"/>
              </a:ext>
            </a:extLst>
          </p:cNvPr>
          <p:cNvPicPr>
            <a:picLocks noChangeAspect="1"/>
          </p:cNvPicPr>
          <p:nvPr/>
        </p:nvPicPr>
        <p:blipFill>
          <a:blip r:embed="rId2"/>
          <a:stretch>
            <a:fillRect/>
          </a:stretch>
        </p:blipFill>
        <p:spPr>
          <a:xfrm>
            <a:off x="563233" y="1788732"/>
            <a:ext cx="4302278" cy="1981599"/>
          </a:xfrm>
          <a:prstGeom prst="rect">
            <a:avLst/>
          </a:prstGeom>
        </p:spPr>
      </p:pic>
      <p:pic>
        <p:nvPicPr>
          <p:cNvPr id="8" name="Picture 7">
            <a:extLst>
              <a:ext uri="{FF2B5EF4-FFF2-40B4-BE49-F238E27FC236}">
                <a16:creationId xmlns:a16="http://schemas.microsoft.com/office/drawing/2014/main" id="{CF339778-3536-2788-E161-E8D15DF9153E}"/>
              </a:ext>
            </a:extLst>
          </p:cNvPr>
          <p:cNvPicPr>
            <a:picLocks noChangeAspect="1"/>
          </p:cNvPicPr>
          <p:nvPr/>
        </p:nvPicPr>
        <p:blipFill>
          <a:blip r:embed="rId3"/>
          <a:stretch>
            <a:fillRect/>
          </a:stretch>
        </p:blipFill>
        <p:spPr>
          <a:xfrm>
            <a:off x="563233" y="4078468"/>
            <a:ext cx="3859681" cy="1971031"/>
          </a:xfrm>
          <a:prstGeom prst="rect">
            <a:avLst/>
          </a:prstGeom>
        </p:spPr>
      </p:pic>
    </p:spTree>
    <p:extLst>
      <p:ext uri="{BB962C8B-B14F-4D97-AF65-F5344CB8AC3E}">
        <p14:creationId xmlns:p14="http://schemas.microsoft.com/office/powerpoint/2010/main" val="2464086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AC69225-485F-4059-B641-9011C913DA5D}"/>
              </a:ext>
            </a:extLst>
          </p:cNvPr>
          <p:cNvSpPr txBox="1"/>
          <p:nvPr/>
        </p:nvSpPr>
        <p:spPr>
          <a:xfrm>
            <a:off x="206478" y="2941457"/>
            <a:ext cx="6096000" cy="175432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dirty="0"/>
              <a:t>public interface </a:t>
            </a:r>
            <a:r>
              <a:rPr lang="en-IN" dirty="0" err="1"/>
              <a:t>IMemoryCache</a:t>
            </a:r>
            <a:r>
              <a:rPr lang="en-IN" dirty="0"/>
              <a:t> : </a:t>
            </a:r>
            <a:r>
              <a:rPr lang="en-IN" dirty="0" err="1"/>
              <a:t>IDisposable</a:t>
            </a:r>
            <a:endParaRPr lang="en-IN" dirty="0"/>
          </a:p>
          <a:p>
            <a:r>
              <a:rPr lang="en-IN" dirty="0"/>
              <a:t>{</a:t>
            </a:r>
          </a:p>
          <a:p>
            <a:r>
              <a:rPr lang="en-IN" dirty="0"/>
              <a:t>    bool </a:t>
            </a:r>
            <a:r>
              <a:rPr lang="en-IN" dirty="0" err="1"/>
              <a:t>TryGetValue</a:t>
            </a:r>
            <a:r>
              <a:rPr lang="en-IN" dirty="0"/>
              <a:t>(object key, out object value);</a:t>
            </a:r>
          </a:p>
          <a:p>
            <a:r>
              <a:rPr lang="en-IN" dirty="0"/>
              <a:t>    </a:t>
            </a:r>
            <a:r>
              <a:rPr lang="en-IN" dirty="0" err="1"/>
              <a:t>ICacheEntry</a:t>
            </a:r>
            <a:r>
              <a:rPr lang="en-IN" dirty="0"/>
              <a:t> </a:t>
            </a:r>
            <a:r>
              <a:rPr lang="en-IN" dirty="0" err="1"/>
              <a:t>CreateEntry</a:t>
            </a:r>
            <a:r>
              <a:rPr lang="en-IN" dirty="0"/>
              <a:t>(object key);</a:t>
            </a:r>
          </a:p>
          <a:p>
            <a:r>
              <a:rPr lang="en-IN" dirty="0"/>
              <a:t>    void Remove(object key);</a:t>
            </a:r>
          </a:p>
          <a:p>
            <a:r>
              <a:rPr lang="en-IN" dirty="0"/>
              <a:t>}</a:t>
            </a:r>
          </a:p>
        </p:txBody>
      </p:sp>
      <p:sp>
        <p:nvSpPr>
          <p:cNvPr id="7" name="TextBox 6">
            <a:extLst>
              <a:ext uri="{FF2B5EF4-FFF2-40B4-BE49-F238E27FC236}">
                <a16:creationId xmlns:a16="http://schemas.microsoft.com/office/drawing/2014/main" id="{0ADE3F3F-CB3A-4B4A-84D8-07193734FF34}"/>
              </a:ext>
            </a:extLst>
          </p:cNvPr>
          <p:cNvSpPr txBox="1"/>
          <p:nvPr/>
        </p:nvSpPr>
        <p:spPr>
          <a:xfrm>
            <a:off x="133479" y="1253585"/>
            <a:ext cx="6096000" cy="1200329"/>
          </a:xfrm>
          <a:prstGeom prst="rect">
            <a:avLst/>
          </a:prstGeom>
          <a:noFill/>
        </p:spPr>
        <p:txBody>
          <a:bodyPr wrap="square">
            <a:spAutoFit/>
          </a:bodyPr>
          <a:lstStyle/>
          <a:p>
            <a:r>
              <a:rPr lang="en-US" dirty="0"/>
              <a:t>The </a:t>
            </a:r>
            <a:r>
              <a:rPr lang="en-US" dirty="0" err="1"/>
              <a:t>AddMemoryCache</a:t>
            </a:r>
            <a:r>
              <a:rPr lang="en-US" dirty="0"/>
              <a:t> method allows us to register the </a:t>
            </a:r>
            <a:r>
              <a:rPr lang="en-US" dirty="0" err="1"/>
              <a:t>IMemoryCache</a:t>
            </a:r>
            <a:r>
              <a:rPr lang="en-US" dirty="0"/>
              <a:t> interface that, as mentioned above, is the basis to be used for the caching. Below we see the definition of the interface in the framework:</a:t>
            </a:r>
            <a:endParaRPr lang="en-IN" dirty="0"/>
          </a:p>
        </p:txBody>
      </p:sp>
      <p:sp>
        <p:nvSpPr>
          <p:cNvPr id="9" name="TextBox 8">
            <a:extLst>
              <a:ext uri="{FF2B5EF4-FFF2-40B4-BE49-F238E27FC236}">
                <a16:creationId xmlns:a16="http://schemas.microsoft.com/office/drawing/2014/main" id="{0F65DA8B-A4AB-4785-A5A1-717E63F6B3F1}"/>
              </a:ext>
            </a:extLst>
          </p:cNvPr>
          <p:cNvSpPr txBox="1"/>
          <p:nvPr/>
        </p:nvSpPr>
        <p:spPr>
          <a:xfrm>
            <a:off x="294967" y="197346"/>
            <a:ext cx="4672959"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err="1"/>
              <a:t>services.AddMemoryCache</a:t>
            </a:r>
            <a:r>
              <a:rPr lang="en-IN" dirty="0"/>
              <a:t>();</a:t>
            </a:r>
          </a:p>
          <a:p>
            <a:endParaRPr lang="en-IN" dirty="0"/>
          </a:p>
        </p:txBody>
      </p:sp>
      <p:sp>
        <p:nvSpPr>
          <p:cNvPr id="11" name="TextBox 10">
            <a:extLst>
              <a:ext uri="{FF2B5EF4-FFF2-40B4-BE49-F238E27FC236}">
                <a16:creationId xmlns:a16="http://schemas.microsoft.com/office/drawing/2014/main" id="{AF0F209B-3BDC-4118-82BE-C677B63B6754}"/>
              </a:ext>
            </a:extLst>
          </p:cNvPr>
          <p:cNvSpPr txBox="1"/>
          <p:nvPr/>
        </p:nvSpPr>
        <p:spPr>
          <a:xfrm>
            <a:off x="0" y="5183326"/>
            <a:ext cx="6096000" cy="1077218"/>
          </a:xfrm>
          <a:prstGeom prst="rect">
            <a:avLst/>
          </a:prstGeom>
          <a:noFill/>
        </p:spPr>
        <p:txBody>
          <a:bodyPr wrap="square">
            <a:spAutoFit/>
          </a:bodyPr>
          <a:lstStyle/>
          <a:p>
            <a:r>
              <a:rPr lang="en-US" sz="1600" dirty="0"/>
              <a:t>Methods present in the interface are not the only ones available to work with the cache: there are different extensions that enrich the available APIs and greatly facilitate their use, as we will see later. For example:</a:t>
            </a:r>
            <a:endParaRPr lang="en-IN" sz="1600" dirty="0"/>
          </a:p>
        </p:txBody>
      </p:sp>
      <p:sp>
        <p:nvSpPr>
          <p:cNvPr id="13" name="TextBox 12">
            <a:extLst>
              <a:ext uri="{FF2B5EF4-FFF2-40B4-BE49-F238E27FC236}">
                <a16:creationId xmlns:a16="http://schemas.microsoft.com/office/drawing/2014/main" id="{C44537F4-6982-4ADF-80CF-74CD58560D0D}"/>
              </a:ext>
            </a:extLst>
          </p:cNvPr>
          <p:cNvSpPr txBox="1"/>
          <p:nvPr/>
        </p:nvSpPr>
        <p:spPr>
          <a:xfrm>
            <a:off x="6469625" y="22479"/>
            <a:ext cx="5958348" cy="246221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sz="1400" dirty="0"/>
              <a:t>public static class </a:t>
            </a:r>
            <a:r>
              <a:rPr lang="en-IN" sz="1400" dirty="0" err="1"/>
              <a:t>CacheExtensions</a:t>
            </a:r>
            <a:endParaRPr lang="en-IN" sz="1400" dirty="0"/>
          </a:p>
          <a:p>
            <a:r>
              <a:rPr lang="en-IN" sz="1400" dirty="0"/>
              <a:t>{</a:t>
            </a:r>
          </a:p>
          <a:p>
            <a:r>
              <a:rPr lang="en-IN" sz="1400" dirty="0"/>
              <a:t>    public static </a:t>
            </a:r>
            <a:r>
              <a:rPr lang="en-IN" sz="1400" dirty="0" err="1"/>
              <a:t>TItem</a:t>
            </a:r>
            <a:r>
              <a:rPr lang="en-IN" sz="1400" dirty="0"/>
              <a:t> Get&lt;</a:t>
            </a:r>
            <a:r>
              <a:rPr lang="en-IN" sz="1400" dirty="0" err="1"/>
              <a:t>titem</a:t>
            </a:r>
            <a:r>
              <a:rPr lang="en-IN" sz="1400" dirty="0"/>
              <a:t>&gt;(this </a:t>
            </a:r>
            <a:r>
              <a:rPr lang="en-IN" sz="1400" dirty="0" err="1"/>
              <a:t>IMemoryCache</a:t>
            </a:r>
            <a:r>
              <a:rPr lang="en-IN" sz="1400" dirty="0"/>
              <a:t> cache, object key);</a:t>
            </a:r>
          </a:p>
          <a:p>
            <a:r>
              <a:rPr lang="en-IN" sz="1400" dirty="0"/>
              <a:t>      </a:t>
            </a:r>
          </a:p>
          <a:p>
            <a:r>
              <a:rPr lang="en-IN" sz="1400" dirty="0"/>
              <a:t>    public static </a:t>
            </a:r>
            <a:r>
              <a:rPr lang="en-IN" sz="1400" dirty="0" err="1"/>
              <a:t>TItem</a:t>
            </a:r>
            <a:r>
              <a:rPr lang="en-IN" sz="1400" dirty="0"/>
              <a:t> Set&lt;</a:t>
            </a:r>
            <a:r>
              <a:rPr lang="en-IN" sz="1400" dirty="0" err="1"/>
              <a:t>titem</a:t>
            </a:r>
            <a:r>
              <a:rPr lang="en-IN" sz="1400" dirty="0"/>
              <a:t>&gt;(this </a:t>
            </a:r>
            <a:r>
              <a:rPr lang="en-IN" sz="1400" dirty="0" err="1"/>
              <a:t>IMemoryCache</a:t>
            </a:r>
            <a:r>
              <a:rPr lang="en-IN" sz="1400" dirty="0"/>
              <a:t> cache, object key, </a:t>
            </a:r>
            <a:r>
              <a:rPr lang="en-IN" sz="1400" dirty="0" err="1"/>
              <a:t>TItem</a:t>
            </a:r>
            <a:r>
              <a:rPr lang="en-IN" sz="1400" dirty="0"/>
              <a:t> value, </a:t>
            </a:r>
            <a:r>
              <a:rPr lang="en-IN" sz="1400" dirty="0" err="1"/>
              <a:t>MemoryCacheEntryOptions</a:t>
            </a:r>
            <a:r>
              <a:rPr lang="en-IN" sz="1400" dirty="0"/>
              <a:t> options);</a:t>
            </a:r>
          </a:p>
          <a:p>
            <a:r>
              <a:rPr lang="en-IN" sz="1400" dirty="0"/>
              <a:t>  </a:t>
            </a:r>
          </a:p>
          <a:p>
            <a:r>
              <a:rPr lang="en-IN" sz="1400" dirty="0"/>
              <a:t>    public static bool </a:t>
            </a:r>
            <a:r>
              <a:rPr lang="en-IN" sz="1400" dirty="0" err="1"/>
              <a:t>TryGetValue</a:t>
            </a:r>
            <a:r>
              <a:rPr lang="en-IN" sz="1400" dirty="0"/>
              <a:t>&lt;</a:t>
            </a:r>
            <a:r>
              <a:rPr lang="en-IN" sz="1400" dirty="0" err="1"/>
              <a:t>titem</a:t>
            </a:r>
            <a:r>
              <a:rPr lang="en-IN" sz="1400" dirty="0"/>
              <a:t>&gt;(this </a:t>
            </a:r>
            <a:r>
              <a:rPr lang="en-IN" sz="1400" dirty="0" err="1"/>
              <a:t>IMemoryCache</a:t>
            </a:r>
            <a:r>
              <a:rPr lang="en-IN" sz="1400" dirty="0"/>
              <a:t> cache, object key, out </a:t>
            </a:r>
            <a:r>
              <a:rPr lang="en-IN" sz="1400" dirty="0" err="1"/>
              <a:t>TItem</a:t>
            </a:r>
            <a:r>
              <a:rPr lang="en-IN" sz="1400" dirty="0"/>
              <a:t> value);</a:t>
            </a:r>
          </a:p>
          <a:p>
            <a:r>
              <a:rPr lang="en-IN" sz="1400" dirty="0"/>
              <a:t>    ...</a:t>
            </a:r>
          </a:p>
          <a:p>
            <a:r>
              <a:rPr lang="en-IN" sz="1400" dirty="0"/>
              <a:t>}</a:t>
            </a:r>
          </a:p>
        </p:txBody>
      </p:sp>
      <p:sp>
        <p:nvSpPr>
          <p:cNvPr id="15" name="TextBox 14">
            <a:extLst>
              <a:ext uri="{FF2B5EF4-FFF2-40B4-BE49-F238E27FC236}">
                <a16:creationId xmlns:a16="http://schemas.microsoft.com/office/drawing/2014/main" id="{B0AB5928-934A-4EAE-BE16-C15A37D18B1E}"/>
              </a:ext>
            </a:extLst>
          </p:cNvPr>
          <p:cNvSpPr txBox="1"/>
          <p:nvPr/>
        </p:nvSpPr>
        <p:spPr>
          <a:xfrm>
            <a:off x="6553200" y="2484691"/>
            <a:ext cx="5223164" cy="180098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fontAlgn="base"/>
            <a:r>
              <a:rPr lang="en-US" sz="1600" b="0" i="0" dirty="0">
                <a:solidFill>
                  <a:srgbClr val="666666"/>
                </a:solidFill>
                <a:effectLst/>
                <a:latin typeface="Roboto" panose="02000000000000000000" pitchFamily="2" charset="0"/>
              </a:rPr>
              <a:t>If we are not sure that a specific key is present in our cache, the </a:t>
            </a:r>
            <a:r>
              <a:rPr lang="en-US" sz="1600" b="0" i="0" dirty="0" err="1">
                <a:solidFill>
                  <a:srgbClr val="666666"/>
                </a:solidFill>
                <a:effectLst/>
                <a:latin typeface="Roboto" panose="02000000000000000000" pitchFamily="2" charset="0"/>
              </a:rPr>
              <a:t>TryGetValue</a:t>
            </a:r>
            <a:r>
              <a:rPr lang="en-US" sz="1600" b="0" i="0" dirty="0">
                <a:solidFill>
                  <a:srgbClr val="666666"/>
                </a:solidFill>
                <a:effectLst/>
                <a:latin typeface="Roboto" panose="02000000000000000000" pitchFamily="2" charset="0"/>
              </a:rPr>
              <a:t>() method comes to help: it returns a Boolean, that indicates the existence or non-existence of the requested key.</a:t>
            </a:r>
          </a:p>
          <a:p>
            <a:pPr algn="l" fontAlgn="base"/>
            <a:r>
              <a:rPr lang="en-US" sz="1600" b="0" i="0" dirty="0">
                <a:solidFill>
                  <a:srgbClr val="666666"/>
                </a:solidFill>
                <a:effectLst/>
                <a:latin typeface="Roboto" panose="02000000000000000000" pitchFamily="2" charset="0"/>
              </a:rPr>
              <a:t>Below is how you can modify the </a:t>
            </a:r>
            <a:r>
              <a:rPr lang="en-US" sz="1600" b="0" i="1" dirty="0">
                <a:solidFill>
                  <a:srgbClr val="666666"/>
                </a:solidFill>
                <a:effectLst/>
                <a:latin typeface="Roboto" panose="02000000000000000000" pitchFamily="2" charset="0"/>
              </a:rPr>
              <a:t>Get() </a:t>
            </a:r>
            <a:r>
              <a:rPr lang="en-US" sz="1600" b="0" i="0" dirty="0">
                <a:solidFill>
                  <a:srgbClr val="666666"/>
                </a:solidFill>
                <a:effectLst/>
                <a:latin typeface="Roboto" panose="02000000000000000000" pitchFamily="2" charset="0"/>
              </a:rPr>
              <a:t>method using the </a:t>
            </a:r>
            <a:r>
              <a:rPr lang="en-US" sz="1600" b="0" i="1" dirty="0" err="1">
                <a:solidFill>
                  <a:srgbClr val="666666"/>
                </a:solidFill>
                <a:effectLst/>
                <a:latin typeface="Roboto" panose="02000000000000000000" pitchFamily="2" charset="0"/>
              </a:rPr>
              <a:t>TryGetValue</a:t>
            </a:r>
            <a:r>
              <a:rPr lang="en-US" sz="1600" b="0" i="0" dirty="0">
                <a:solidFill>
                  <a:srgbClr val="666666"/>
                </a:solidFill>
                <a:effectLst/>
                <a:latin typeface="Roboto" panose="02000000000000000000" pitchFamily="2" charset="0"/>
              </a:rPr>
              <a:t>.</a:t>
            </a:r>
          </a:p>
        </p:txBody>
      </p:sp>
      <p:sp>
        <p:nvSpPr>
          <p:cNvPr id="17" name="TextBox 16">
            <a:extLst>
              <a:ext uri="{FF2B5EF4-FFF2-40B4-BE49-F238E27FC236}">
                <a16:creationId xmlns:a16="http://schemas.microsoft.com/office/drawing/2014/main" id="{9D37128E-2F7B-4A6F-BC3C-7598807BA2BC}"/>
              </a:ext>
            </a:extLst>
          </p:cNvPr>
          <p:cNvSpPr txBox="1"/>
          <p:nvPr/>
        </p:nvSpPr>
        <p:spPr>
          <a:xfrm>
            <a:off x="6553200" y="4395787"/>
            <a:ext cx="5132440" cy="246221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400" dirty="0"/>
              <a:t>[</a:t>
            </a:r>
            <a:r>
              <a:rPr lang="en-IN" sz="1400" dirty="0" err="1"/>
              <a:t>HttpGet</a:t>
            </a:r>
            <a:r>
              <a:rPr lang="en-IN" sz="1400" dirty="0"/>
              <a:t>(“{key}”)]</a:t>
            </a:r>
          </a:p>
          <a:p>
            <a:r>
              <a:rPr lang="en-IN" sz="1400" dirty="0"/>
              <a:t>public string Get(string key)</a:t>
            </a:r>
          </a:p>
          <a:p>
            <a:r>
              <a:rPr lang="en-IN" sz="1400" dirty="0"/>
              <a:t>{</a:t>
            </a:r>
          </a:p>
          <a:p>
            <a:r>
              <a:rPr lang="en-IN" sz="1400" dirty="0"/>
              <a:t>    string </a:t>
            </a:r>
            <a:r>
              <a:rPr lang="en-IN" sz="1400" dirty="0" err="1"/>
              <a:t>obj</a:t>
            </a:r>
            <a:r>
              <a:rPr lang="en-IN" sz="1400" dirty="0"/>
              <a:t>;</a:t>
            </a:r>
          </a:p>
          <a:p>
            <a:r>
              <a:rPr lang="en-IN" sz="1400" dirty="0"/>
              <a:t>    if (!</a:t>
            </a:r>
            <a:r>
              <a:rPr lang="en-IN" sz="1400" dirty="0" err="1"/>
              <a:t>cache.TryGetValue</a:t>
            </a:r>
            <a:r>
              <a:rPr lang="en-IN" sz="1400" dirty="0"/>
              <a:t>&lt;string&gt;(key, out </a:t>
            </a:r>
            <a:r>
              <a:rPr lang="en-IN" sz="1400" dirty="0" err="1"/>
              <a:t>obj</a:t>
            </a:r>
            <a:r>
              <a:rPr lang="en-IN" sz="1400" dirty="0"/>
              <a:t>))</a:t>
            </a:r>
          </a:p>
          <a:p>
            <a:r>
              <a:rPr lang="en-IN" sz="1400" dirty="0"/>
              <a:t>      </a:t>
            </a:r>
          </a:p>
          <a:p>
            <a:r>
              <a:rPr lang="en-IN" sz="1400" dirty="0"/>
              <a:t>        </a:t>
            </a:r>
            <a:r>
              <a:rPr lang="en-IN" sz="1400" dirty="0" err="1"/>
              <a:t>obj</a:t>
            </a:r>
            <a:r>
              <a:rPr lang="en-IN" sz="1400" dirty="0"/>
              <a:t> = </a:t>
            </a:r>
            <a:r>
              <a:rPr lang="en-IN" sz="1400" dirty="0" err="1"/>
              <a:t>DateTime.Now.ToString</a:t>
            </a:r>
            <a:r>
              <a:rPr lang="en-IN" sz="1400" dirty="0"/>
              <a:t>();</a:t>
            </a:r>
          </a:p>
          <a:p>
            <a:r>
              <a:rPr lang="en-IN" sz="1400" dirty="0"/>
              <a:t>        </a:t>
            </a:r>
            <a:r>
              <a:rPr lang="en-IN" sz="1400" dirty="0" err="1"/>
              <a:t>cache.Set</a:t>
            </a:r>
            <a:r>
              <a:rPr lang="en-IN" sz="1400" dirty="0"/>
              <a:t>&lt;string&gt;(key, </a:t>
            </a:r>
            <a:r>
              <a:rPr lang="en-IN" sz="1400" dirty="0" err="1"/>
              <a:t>obj</a:t>
            </a:r>
            <a:r>
              <a:rPr lang="en-IN" sz="1400" dirty="0"/>
              <a:t>);</a:t>
            </a:r>
          </a:p>
          <a:p>
            <a:r>
              <a:rPr lang="en-IN" sz="1400" dirty="0"/>
              <a:t>      </a:t>
            </a:r>
          </a:p>
          <a:p>
            <a:r>
              <a:rPr lang="en-IN" sz="1400" dirty="0"/>
              <a:t>    return </a:t>
            </a:r>
            <a:r>
              <a:rPr lang="en-IN" sz="1400" dirty="0" err="1"/>
              <a:t>obj</a:t>
            </a:r>
            <a:r>
              <a:rPr lang="en-IN" sz="1400" dirty="0"/>
              <a:t>;</a:t>
            </a:r>
          </a:p>
          <a:p>
            <a:r>
              <a:rPr lang="en-IN" sz="1400" dirty="0"/>
              <a:t>}</a:t>
            </a:r>
          </a:p>
        </p:txBody>
      </p:sp>
    </p:spTree>
    <p:extLst>
      <p:ext uri="{BB962C8B-B14F-4D97-AF65-F5344CB8AC3E}">
        <p14:creationId xmlns:p14="http://schemas.microsoft.com/office/powerpoint/2010/main" val="1236626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25C52A-2CE7-4662-82A9-957ABBC6689C}"/>
              </a:ext>
            </a:extLst>
          </p:cNvPr>
          <p:cNvSpPr txBox="1"/>
          <p:nvPr/>
        </p:nvSpPr>
        <p:spPr>
          <a:xfrm>
            <a:off x="186813" y="69277"/>
            <a:ext cx="6096000" cy="923330"/>
          </a:xfrm>
          <a:prstGeom prst="rect">
            <a:avLst/>
          </a:prstGeom>
          <a:noFill/>
        </p:spPr>
        <p:txBody>
          <a:bodyPr wrap="square">
            <a:spAutoFit/>
          </a:bodyPr>
          <a:lstStyle/>
          <a:p>
            <a:r>
              <a:rPr lang="en-US" dirty="0"/>
              <a:t>We can indicate a fixed time after which a certain key expires (absolute expiry), or it can expire if it is not accessed after a certain time (sliding expiry).</a:t>
            </a:r>
            <a:endParaRPr lang="en-IN" dirty="0"/>
          </a:p>
        </p:txBody>
      </p:sp>
      <p:sp>
        <p:nvSpPr>
          <p:cNvPr id="7" name="TextBox 6">
            <a:extLst>
              <a:ext uri="{FF2B5EF4-FFF2-40B4-BE49-F238E27FC236}">
                <a16:creationId xmlns:a16="http://schemas.microsoft.com/office/drawing/2014/main" id="{5CB384DA-FF71-4B6F-A272-DE064D21542E}"/>
              </a:ext>
            </a:extLst>
          </p:cNvPr>
          <p:cNvSpPr txBox="1"/>
          <p:nvPr/>
        </p:nvSpPr>
        <p:spPr>
          <a:xfrm>
            <a:off x="0" y="2237381"/>
            <a:ext cx="6096000" cy="3970318"/>
          </a:xfrm>
          <a:prstGeom prst="rect">
            <a:avLst/>
          </a:prstGeom>
          <a:noFill/>
        </p:spPr>
        <p:txBody>
          <a:bodyPr wrap="square">
            <a:spAutoFit/>
          </a:bodyPr>
          <a:lstStyle/>
          <a:p>
            <a:r>
              <a:rPr lang="en-IN" sz="1400" dirty="0"/>
              <a:t>//absolute expiration using </a:t>
            </a:r>
            <a:r>
              <a:rPr lang="en-IN" sz="1400" dirty="0" err="1"/>
              <a:t>TimeSpan</a:t>
            </a:r>
            <a:endParaRPr lang="en-IN" sz="1400" dirty="0"/>
          </a:p>
          <a:p>
            <a:r>
              <a:rPr lang="en-IN" sz="1400" dirty="0"/>
              <a:t>_</a:t>
            </a:r>
            <a:r>
              <a:rPr lang="en-IN" sz="1400" dirty="0" err="1"/>
              <a:t>cache.Set</a:t>
            </a:r>
            <a:r>
              <a:rPr lang="en-IN" sz="1400" dirty="0"/>
              <a:t>("key", item, </a:t>
            </a:r>
            <a:r>
              <a:rPr lang="en-IN" sz="1400" dirty="0" err="1"/>
              <a:t>TimeSpan.FromDays</a:t>
            </a:r>
            <a:r>
              <a:rPr lang="en-IN" sz="1400" dirty="0"/>
              <a:t>(1));</a:t>
            </a:r>
          </a:p>
          <a:p>
            <a:r>
              <a:rPr lang="en-IN" sz="1400" dirty="0"/>
              <a:t>  </a:t>
            </a:r>
          </a:p>
          <a:p>
            <a:r>
              <a:rPr lang="en-IN" sz="1400" dirty="0"/>
              <a:t>//absolute expiration using </a:t>
            </a:r>
            <a:r>
              <a:rPr lang="en-IN" sz="1400" dirty="0" err="1"/>
              <a:t>DateTime</a:t>
            </a:r>
            <a:endParaRPr lang="en-IN" sz="1400" dirty="0"/>
          </a:p>
          <a:p>
            <a:r>
              <a:rPr lang="en-IN" sz="1400" dirty="0"/>
              <a:t>_</a:t>
            </a:r>
            <a:r>
              <a:rPr lang="en-IN" sz="1400" dirty="0" err="1"/>
              <a:t>cache.Set</a:t>
            </a:r>
            <a:r>
              <a:rPr lang="en-IN" sz="1400" dirty="0"/>
              <a:t>("key", item, new </a:t>
            </a:r>
            <a:r>
              <a:rPr lang="en-IN" sz="1400" dirty="0" err="1"/>
              <a:t>DateTime</a:t>
            </a:r>
            <a:r>
              <a:rPr lang="en-IN" sz="1400" dirty="0"/>
              <a:t>(2020, 1, 1));</a:t>
            </a:r>
          </a:p>
          <a:p>
            <a:r>
              <a:rPr lang="en-IN" sz="1400" dirty="0"/>
              <a:t>  </a:t>
            </a:r>
          </a:p>
          <a:p>
            <a:r>
              <a:rPr lang="en-IN" sz="1400" dirty="0"/>
              <a:t>//sliding expiration </a:t>
            </a:r>
          </a:p>
          <a:p>
            <a:r>
              <a:rPr lang="en-IN" sz="1400" dirty="0"/>
              <a:t>_</a:t>
            </a:r>
            <a:r>
              <a:rPr lang="en-IN" sz="1400" dirty="0" err="1"/>
              <a:t>cache.Set</a:t>
            </a:r>
            <a:r>
              <a:rPr lang="en-IN" sz="1400" dirty="0"/>
              <a:t>("key", item, new </a:t>
            </a:r>
            <a:r>
              <a:rPr lang="en-IN" sz="1400" dirty="0" err="1"/>
              <a:t>MemoryCacheEntryOptions</a:t>
            </a:r>
            <a:endParaRPr lang="en-IN" sz="1400" dirty="0"/>
          </a:p>
          <a:p>
            <a:r>
              <a:rPr lang="en-IN" sz="1400" dirty="0"/>
              <a:t>{</a:t>
            </a:r>
          </a:p>
          <a:p>
            <a:r>
              <a:rPr lang="en-IN" sz="1400" dirty="0"/>
              <a:t>    </a:t>
            </a:r>
            <a:r>
              <a:rPr lang="en-IN" sz="1400" dirty="0" err="1"/>
              <a:t>SlidingExpiration</a:t>
            </a:r>
            <a:r>
              <a:rPr lang="en-IN" sz="1400" dirty="0"/>
              <a:t> = </a:t>
            </a:r>
            <a:r>
              <a:rPr lang="en-IN" sz="1400" dirty="0" err="1"/>
              <a:t>TimeSpan.FromDays</a:t>
            </a:r>
            <a:r>
              <a:rPr lang="en-IN" sz="1400" dirty="0"/>
              <a:t>(7)</a:t>
            </a:r>
          </a:p>
          <a:p>
            <a:r>
              <a:rPr lang="en-IN" sz="1400" dirty="0"/>
              <a:t>});</a:t>
            </a:r>
          </a:p>
          <a:p>
            <a:r>
              <a:rPr lang="en-IN" sz="1400" dirty="0"/>
              <a:t>  </a:t>
            </a:r>
          </a:p>
          <a:p>
            <a:r>
              <a:rPr lang="en-IN" sz="1400" dirty="0"/>
              <a:t>//use both absolute and sliding expiration</a:t>
            </a:r>
          </a:p>
          <a:p>
            <a:r>
              <a:rPr lang="en-IN" sz="1400" dirty="0"/>
              <a:t>_</a:t>
            </a:r>
            <a:r>
              <a:rPr lang="en-IN" sz="1400" dirty="0" err="1"/>
              <a:t>cache.Set</a:t>
            </a:r>
            <a:r>
              <a:rPr lang="en-IN" sz="1400" dirty="0"/>
              <a:t>("key", item, new </a:t>
            </a:r>
            <a:r>
              <a:rPr lang="en-IN" sz="1400" dirty="0" err="1"/>
              <a:t>MemoryCacheEntryOptions</a:t>
            </a:r>
            <a:endParaRPr lang="en-IN" sz="1400" dirty="0"/>
          </a:p>
          <a:p>
            <a:r>
              <a:rPr lang="en-IN" sz="1400" dirty="0"/>
              <a:t>{</a:t>
            </a:r>
          </a:p>
          <a:p>
            <a:r>
              <a:rPr lang="en-IN" sz="1400" dirty="0"/>
              <a:t>    </a:t>
            </a:r>
            <a:r>
              <a:rPr lang="en-IN" sz="1400" dirty="0" err="1"/>
              <a:t>AbsoluteExpirationRelativeToNow</a:t>
            </a:r>
            <a:r>
              <a:rPr lang="en-IN" sz="1400" dirty="0"/>
              <a:t> = </a:t>
            </a:r>
            <a:r>
              <a:rPr lang="en-IN" sz="1400" dirty="0" err="1"/>
              <a:t>TimeSpan.FromDays</a:t>
            </a:r>
            <a:r>
              <a:rPr lang="en-IN" sz="1400" dirty="0"/>
              <a:t>(30),</a:t>
            </a:r>
          </a:p>
          <a:p>
            <a:r>
              <a:rPr lang="en-IN" sz="1400" dirty="0"/>
              <a:t>    </a:t>
            </a:r>
            <a:r>
              <a:rPr lang="en-IN" sz="1400" dirty="0" err="1"/>
              <a:t>SlidingExpiration</a:t>
            </a:r>
            <a:r>
              <a:rPr lang="en-IN" sz="1400" dirty="0"/>
              <a:t> = </a:t>
            </a:r>
            <a:r>
              <a:rPr lang="en-IN" sz="1400" dirty="0" err="1"/>
              <a:t>TimeSpan.FromDays</a:t>
            </a:r>
            <a:r>
              <a:rPr lang="en-IN" sz="1400" dirty="0"/>
              <a:t>(7)</a:t>
            </a:r>
          </a:p>
          <a:p>
            <a:r>
              <a:rPr lang="en-IN" sz="1400" dirty="0"/>
              <a:t>});</a:t>
            </a:r>
          </a:p>
        </p:txBody>
      </p:sp>
      <p:sp>
        <p:nvSpPr>
          <p:cNvPr id="9" name="TextBox 8">
            <a:extLst>
              <a:ext uri="{FF2B5EF4-FFF2-40B4-BE49-F238E27FC236}">
                <a16:creationId xmlns:a16="http://schemas.microsoft.com/office/drawing/2014/main" id="{32B6656E-ED80-4D55-BAF0-E467781A821B}"/>
              </a:ext>
            </a:extLst>
          </p:cNvPr>
          <p:cNvSpPr txBox="1"/>
          <p:nvPr/>
        </p:nvSpPr>
        <p:spPr>
          <a:xfrm>
            <a:off x="6096000" y="-7918"/>
            <a:ext cx="6096000" cy="255454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600" b="1" dirty="0"/>
              <a:t>Cache Tag Helper</a:t>
            </a:r>
          </a:p>
          <a:p>
            <a:r>
              <a:rPr lang="en-US" sz="1600" dirty="0"/>
              <a:t>We have seen so far the use of APIs made available by .NET Core, to be able to manually write and read item in the cache using the </a:t>
            </a:r>
            <a:r>
              <a:rPr lang="en-US" sz="1600" dirty="0" err="1"/>
              <a:t>IMemoryCache</a:t>
            </a:r>
            <a:r>
              <a:rPr lang="en-US" sz="1600" dirty="0"/>
              <a:t> interface directly. </a:t>
            </a:r>
          </a:p>
          <a:p>
            <a:endParaRPr lang="en-US" sz="1600" dirty="0"/>
          </a:p>
          <a:p>
            <a:r>
              <a:rPr lang="en-US" sz="1600" dirty="0"/>
              <a:t>There are also other implementations of this interface, that can be very useful. For example, in the Web environment, if we use the .NET Core MVC framework, we can store parts of pages using the helper cache tag. It’s really simple to use: you can wrap part of a view in cache tags to enable caching:</a:t>
            </a:r>
            <a:endParaRPr lang="en-IN" sz="1600" dirty="0"/>
          </a:p>
        </p:txBody>
      </p:sp>
      <p:sp>
        <p:nvSpPr>
          <p:cNvPr id="11" name="TextBox 10">
            <a:extLst>
              <a:ext uri="{FF2B5EF4-FFF2-40B4-BE49-F238E27FC236}">
                <a16:creationId xmlns:a16="http://schemas.microsoft.com/office/drawing/2014/main" id="{FD28F97F-40DC-4BAC-83FE-334E157D870D}"/>
              </a:ext>
            </a:extLst>
          </p:cNvPr>
          <p:cNvSpPr txBox="1"/>
          <p:nvPr/>
        </p:nvSpPr>
        <p:spPr>
          <a:xfrm>
            <a:off x="6553699" y="2771047"/>
            <a:ext cx="4036141" cy="923330"/>
          </a:xfrm>
          <a:prstGeom prst="rect">
            <a:avLst/>
          </a:prstGeom>
          <a:noFill/>
        </p:spPr>
        <p:txBody>
          <a:bodyPr wrap="square">
            <a:spAutoFit/>
          </a:bodyPr>
          <a:lstStyle/>
          <a:p>
            <a:r>
              <a:rPr lang="it-IT" dirty="0"/>
              <a:t>&lt;cache&gt;</a:t>
            </a:r>
          </a:p>
          <a:p>
            <a:r>
              <a:rPr lang="it-IT" dirty="0"/>
              <a:t>&lt;p&gt;Ora: @DateTime.Now&lt;/p&gt;</a:t>
            </a:r>
          </a:p>
          <a:p>
            <a:r>
              <a:rPr lang="it-IT" dirty="0"/>
              <a:t>&lt;/cache&gt;</a:t>
            </a:r>
            <a:endParaRPr lang="en-IN" dirty="0"/>
          </a:p>
        </p:txBody>
      </p:sp>
      <p:sp>
        <p:nvSpPr>
          <p:cNvPr id="14" name="TextBox 13">
            <a:extLst>
              <a:ext uri="{FF2B5EF4-FFF2-40B4-BE49-F238E27FC236}">
                <a16:creationId xmlns:a16="http://schemas.microsoft.com/office/drawing/2014/main" id="{E0F73266-18EC-469B-9329-13A2B6CB6D44}"/>
              </a:ext>
            </a:extLst>
          </p:cNvPr>
          <p:cNvSpPr txBox="1"/>
          <p:nvPr/>
        </p:nvSpPr>
        <p:spPr>
          <a:xfrm>
            <a:off x="5691716" y="5080194"/>
            <a:ext cx="6125496" cy="923330"/>
          </a:xfrm>
          <a:prstGeom prst="rect">
            <a:avLst/>
          </a:prstGeom>
          <a:noFill/>
        </p:spPr>
        <p:txBody>
          <a:bodyPr wrap="square">
            <a:spAutoFit/>
          </a:bodyPr>
          <a:lstStyle/>
          <a:p>
            <a:r>
              <a:rPr lang="en-IN" dirty="0"/>
              <a:t>&lt;cache expires-on="</a:t>
            </a:r>
            <a:r>
              <a:rPr lang="en-IN" b="0" i="0" dirty="0">
                <a:solidFill>
                  <a:srgbClr val="0101FD"/>
                </a:solidFill>
                <a:effectLst/>
                <a:latin typeface="SFMono-Regular"/>
              </a:rPr>
              <a:t>@new</a:t>
            </a:r>
            <a:r>
              <a:rPr lang="en-IN" b="0" i="0" dirty="0">
                <a:solidFill>
                  <a:srgbClr val="A31515"/>
                </a:solidFill>
                <a:effectLst/>
                <a:latin typeface="SFMono-Regular"/>
              </a:rPr>
              <a:t> </a:t>
            </a:r>
            <a:r>
              <a:rPr lang="en-IN" b="0" i="0" dirty="0" err="1">
                <a:solidFill>
                  <a:srgbClr val="A31515"/>
                </a:solidFill>
                <a:effectLst/>
                <a:latin typeface="SFMono-Regular"/>
              </a:rPr>
              <a:t>DateTime</a:t>
            </a:r>
            <a:r>
              <a:rPr lang="en-IN" b="0" i="0" dirty="0">
                <a:solidFill>
                  <a:srgbClr val="A31515"/>
                </a:solidFill>
                <a:effectLst/>
                <a:latin typeface="SFMono-Regular"/>
              </a:rPr>
              <a:t>(2025,1,29,17,02,0)</a:t>
            </a:r>
            <a:r>
              <a:rPr lang="en-IN" dirty="0"/>
              <a:t>"&gt;</a:t>
            </a:r>
          </a:p>
          <a:p>
            <a:r>
              <a:rPr lang="en-IN" dirty="0"/>
              <a:t>    @---------</a:t>
            </a:r>
          </a:p>
          <a:p>
            <a:r>
              <a:rPr lang="en-IN" dirty="0"/>
              <a:t>&lt;/cache&gt;</a:t>
            </a:r>
          </a:p>
        </p:txBody>
      </p:sp>
      <p:sp>
        <p:nvSpPr>
          <p:cNvPr id="3" name="TextBox 2">
            <a:extLst>
              <a:ext uri="{FF2B5EF4-FFF2-40B4-BE49-F238E27FC236}">
                <a16:creationId xmlns:a16="http://schemas.microsoft.com/office/drawing/2014/main" id="{8AA397D1-59DF-6FF6-0B14-968E7A06FD22}"/>
              </a:ext>
            </a:extLst>
          </p:cNvPr>
          <p:cNvSpPr txBox="1"/>
          <p:nvPr/>
        </p:nvSpPr>
        <p:spPr>
          <a:xfrm>
            <a:off x="186813" y="1145634"/>
            <a:ext cx="4658285" cy="938719"/>
          </a:xfrm>
          <a:prstGeom prst="rect">
            <a:avLst/>
          </a:prstGeom>
          <a:noFill/>
        </p:spPr>
        <p:txBody>
          <a:bodyPr wrap="square">
            <a:spAutoFit/>
          </a:bodyPr>
          <a:lstStyle/>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private</a:t>
            </a:r>
            <a:r>
              <a:rPr lang="en-IN" sz="1100" dirty="0">
                <a:solidFill>
                  <a:srgbClr val="000000"/>
                </a:solidFill>
                <a:highlight>
                  <a:srgbClr val="FFFFFF"/>
                </a:highlight>
                <a:latin typeface="Cascadia Mono" panose="020B0609020000020004" pitchFamily="49" charset="0"/>
              </a:rPr>
              <a:t> </a:t>
            </a:r>
            <a:r>
              <a:rPr lang="en-IN" sz="1100" dirty="0" err="1">
                <a:solidFill>
                  <a:srgbClr val="0000FF"/>
                </a:solidFill>
                <a:highlight>
                  <a:srgbClr val="FFFFFF"/>
                </a:highlight>
                <a:latin typeface="Cascadia Mono" panose="020B0609020000020004" pitchFamily="49" charset="0"/>
              </a:rPr>
              <a:t>readonly</a:t>
            </a:r>
            <a:r>
              <a:rPr lang="en-IN" sz="1100" dirty="0">
                <a:solidFill>
                  <a:srgbClr val="000000"/>
                </a:solidFill>
                <a:highlight>
                  <a:srgbClr val="FFFFFF"/>
                </a:highlight>
                <a:latin typeface="Cascadia Mono" panose="020B0609020000020004" pitchFamily="49" charset="0"/>
              </a:rPr>
              <a:t> </a:t>
            </a:r>
            <a:r>
              <a:rPr lang="en-IN" sz="1100" dirty="0" err="1">
                <a:solidFill>
                  <a:srgbClr val="2B91AF"/>
                </a:solidFill>
                <a:highlight>
                  <a:srgbClr val="FFFFFF"/>
                </a:highlight>
                <a:latin typeface="Cascadia Mono" panose="020B0609020000020004" pitchFamily="49" charset="0"/>
              </a:rPr>
              <a:t>IMemoryCache</a:t>
            </a:r>
            <a:r>
              <a:rPr lang="en-IN" sz="1100" dirty="0">
                <a:solidFill>
                  <a:srgbClr val="000000"/>
                </a:solidFill>
                <a:highlight>
                  <a:srgbClr val="FFFFFF"/>
                </a:highlight>
                <a:latin typeface="Cascadia Mono" panose="020B0609020000020004" pitchFamily="49" charset="0"/>
              </a:rPr>
              <a:t> </a:t>
            </a:r>
            <a:r>
              <a:rPr lang="en-IN" sz="1100" dirty="0"/>
              <a:t>_cache</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public</a:t>
            </a:r>
            <a:r>
              <a:rPr lang="en-IN" sz="1100" dirty="0">
                <a:solidFill>
                  <a:srgbClr val="000000"/>
                </a:solidFill>
                <a:highlight>
                  <a:srgbClr val="FFFFFF"/>
                </a:highlight>
                <a:latin typeface="Cascadia Mono" panose="020B0609020000020004" pitchFamily="49" charset="0"/>
              </a:rPr>
              <a:t> </a:t>
            </a:r>
            <a:r>
              <a:rPr lang="en-IN" sz="1100" dirty="0" err="1">
                <a:solidFill>
                  <a:srgbClr val="2B91AF"/>
                </a:solidFill>
                <a:highlight>
                  <a:srgbClr val="FFFFFF"/>
                </a:highlight>
                <a:latin typeface="Cascadia Mono" panose="020B0609020000020004" pitchFamily="49" charset="0"/>
              </a:rPr>
              <a:t>CachedemoController</a:t>
            </a:r>
            <a:r>
              <a:rPr lang="en-IN" sz="1100" dirty="0">
                <a:solidFill>
                  <a:srgbClr val="000000"/>
                </a:solidFill>
                <a:highlight>
                  <a:srgbClr val="FFFFFF"/>
                </a:highlight>
                <a:latin typeface="Cascadia Mono" panose="020B0609020000020004" pitchFamily="49" charset="0"/>
              </a:rPr>
              <a:t>(</a:t>
            </a:r>
            <a:r>
              <a:rPr lang="en-IN" sz="1100" dirty="0" err="1">
                <a:solidFill>
                  <a:srgbClr val="2B91AF"/>
                </a:solidFill>
                <a:highlight>
                  <a:srgbClr val="FFFFFF"/>
                </a:highlight>
                <a:latin typeface="Cascadia Mono" panose="020B0609020000020004" pitchFamily="49" charset="0"/>
              </a:rPr>
              <a:t>IMemoryCache</a:t>
            </a:r>
            <a:r>
              <a:rPr lang="en-IN" sz="1100" dirty="0">
                <a:solidFill>
                  <a:srgbClr val="000000"/>
                </a:solidFill>
                <a:highlight>
                  <a:srgbClr val="FFFFFF"/>
                </a:highlight>
                <a:latin typeface="Cascadia Mono" panose="020B0609020000020004" pitchFamily="49" charset="0"/>
              </a:rPr>
              <a:t> </a:t>
            </a:r>
            <a:r>
              <a:rPr lang="en-IN" sz="1100" dirty="0"/>
              <a:t>_cache</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this</a:t>
            </a:r>
            <a:r>
              <a:rPr lang="en-IN" sz="1100" dirty="0">
                <a:solidFill>
                  <a:srgbClr val="000000"/>
                </a:solidFill>
                <a:highlight>
                  <a:srgbClr val="FFFFFF"/>
                </a:highlight>
                <a:latin typeface="Cascadia Mono" panose="020B0609020000020004" pitchFamily="49" charset="0"/>
              </a:rPr>
              <a:t>.</a:t>
            </a:r>
            <a:r>
              <a:rPr lang="en-IN" sz="1100" dirty="0"/>
              <a:t> _cache</a:t>
            </a:r>
            <a:r>
              <a:rPr lang="en-IN" sz="1100" dirty="0">
                <a:solidFill>
                  <a:srgbClr val="000000"/>
                </a:solidFill>
                <a:highlight>
                  <a:srgbClr val="FFFFFF"/>
                </a:highlight>
                <a:latin typeface="Cascadia Mono" panose="020B0609020000020004" pitchFamily="49" charset="0"/>
              </a:rPr>
              <a:t> = </a:t>
            </a:r>
            <a:r>
              <a:rPr lang="en-IN" sz="1100" dirty="0"/>
              <a:t>_cache</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endParaRPr lang="en-IN" sz="2800" dirty="0"/>
          </a:p>
        </p:txBody>
      </p:sp>
      <p:sp>
        <p:nvSpPr>
          <p:cNvPr id="6" name="TextBox 5">
            <a:extLst>
              <a:ext uri="{FF2B5EF4-FFF2-40B4-BE49-F238E27FC236}">
                <a16:creationId xmlns:a16="http://schemas.microsoft.com/office/drawing/2014/main" id="{B88A1159-83DE-3322-047C-97FC99C601DB}"/>
              </a:ext>
            </a:extLst>
          </p:cNvPr>
          <p:cNvSpPr txBox="1"/>
          <p:nvPr/>
        </p:nvSpPr>
        <p:spPr>
          <a:xfrm>
            <a:off x="5691716" y="3638499"/>
            <a:ext cx="5619750" cy="1477328"/>
          </a:xfrm>
          <a:prstGeom prst="rect">
            <a:avLst/>
          </a:prstGeom>
          <a:noFill/>
        </p:spPr>
        <p:txBody>
          <a:bodyPr wrap="square">
            <a:spAutoFit/>
          </a:bodyPr>
          <a:lstStyle/>
          <a:p>
            <a:r>
              <a:rPr lang="en-US" b="0" i="0" dirty="0">
                <a:solidFill>
                  <a:srgbClr val="161616"/>
                </a:solidFill>
                <a:effectLst/>
                <a:latin typeface="Segoe UI" panose="020B0502040204020203" pitchFamily="34" charset="0"/>
              </a:rPr>
              <a:t>The first request to the page that contains the Tag Helper displays the current date. Additional requests show the cached value until the cache expires (default 20 minutes) or until the cached date is evicted from the cache.</a:t>
            </a:r>
            <a:endParaRPr lang="en-IN" dirty="0"/>
          </a:p>
        </p:txBody>
      </p:sp>
    </p:spTree>
    <p:extLst>
      <p:ext uri="{BB962C8B-B14F-4D97-AF65-F5344CB8AC3E}">
        <p14:creationId xmlns:p14="http://schemas.microsoft.com/office/powerpoint/2010/main" val="1224838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5325F5-2557-417D-814F-E61C294D4A71}"/>
              </a:ext>
            </a:extLst>
          </p:cNvPr>
          <p:cNvSpPr txBox="1"/>
          <p:nvPr/>
        </p:nvSpPr>
        <p:spPr>
          <a:xfrm>
            <a:off x="243620" y="-93134"/>
            <a:ext cx="12083845" cy="6817251"/>
          </a:xfrm>
          <a:prstGeom prst="rect">
            <a:avLst/>
          </a:prstGeom>
          <a:noFill/>
        </p:spPr>
        <p:txBody>
          <a:bodyPr wrap="square">
            <a:spAutoFit/>
          </a:bodyPr>
          <a:lstStyle/>
          <a:p>
            <a:r>
              <a:rPr lang="en-US" sz="1600" dirty="0">
                <a:highlight>
                  <a:srgbClr val="FFFF00"/>
                </a:highlight>
              </a:rPr>
              <a:t>Caching in the browser</a:t>
            </a:r>
          </a:p>
          <a:p>
            <a:r>
              <a:rPr lang="en-US" sz="1600" dirty="0"/>
              <a:t>You can set cache headers manually using </a:t>
            </a:r>
            <a:r>
              <a:rPr lang="en-US" sz="1600" dirty="0" err="1"/>
              <a:t>Response.Headers</a:t>
            </a:r>
            <a:r>
              <a:rPr lang="en-US" sz="1600" dirty="0"/>
              <a:t> but the preferred approach for caching actions is to make use of the </a:t>
            </a:r>
            <a:r>
              <a:rPr lang="en-US" sz="1600" dirty="0" err="1"/>
              <a:t>ResponseCache</a:t>
            </a:r>
            <a:r>
              <a:rPr lang="en-US" sz="1600" dirty="0"/>
              <a:t> attribute which can be applied to both actions and controllers.</a:t>
            </a:r>
          </a:p>
          <a:p>
            <a:endParaRPr lang="en-US" sz="1050" dirty="0"/>
          </a:p>
          <a:p>
            <a:r>
              <a:rPr lang="en-US" sz="1600" dirty="0"/>
              <a:t>[</a:t>
            </a:r>
            <a:r>
              <a:rPr lang="en-US" sz="1600" b="1" dirty="0" err="1"/>
              <a:t>ResponseCache</a:t>
            </a:r>
            <a:r>
              <a:rPr lang="en-US" sz="1600" dirty="0"/>
              <a:t>(Duration = 3600)]</a:t>
            </a:r>
          </a:p>
          <a:p>
            <a:r>
              <a:rPr lang="en-US" sz="1600" dirty="0"/>
              <a:t>Duration is measures in seconds so the above attribute would cache the page in the browser for 3600 seconds </a:t>
            </a:r>
            <a:r>
              <a:rPr lang="en-US" sz="1600" dirty="0">
                <a:highlight>
                  <a:srgbClr val="FFFF00"/>
                </a:highlight>
              </a:rPr>
              <a:t>or one hour.</a:t>
            </a:r>
          </a:p>
          <a:p>
            <a:endParaRPr lang="en-US" sz="1050" dirty="0"/>
          </a:p>
          <a:p>
            <a:r>
              <a:rPr lang="en-US" sz="1600" dirty="0"/>
              <a:t>Instead of specifying values for each instance of the attribute, we can also configure one or more cache profiles.</a:t>
            </a:r>
          </a:p>
          <a:p>
            <a:r>
              <a:rPr lang="en-US" sz="1600" dirty="0"/>
              <a:t> </a:t>
            </a:r>
            <a:r>
              <a:rPr lang="en-US" sz="1600" dirty="0">
                <a:highlight>
                  <a:srgbClr val="FFFF00"/>
                </a:highlight>
              </a:rPr>
              <a:t>Cache profiles are configured </a:t>
            </a:r>
            <a:r>
              <a:rPr lang="en-US" sz="1600" dirty="0"/>
              <a:t>in </a:t>
            </a:r>
            <a:r>
              <a:rPr lang="en-US" sz="1600" dirty="0" err="1"/>
              <a:t>ConfiguresServices</a:t>
            </a:r>
            <a:r>
              <a:rPr lang="en-US" sz="1600" dirty="0"/>
              <a:t> when you add the MVC middleware:</a:t>
            </a:r>
          </a:p>
          <a:p>
            <a:endParaRPr lang="en-US" sz="1600" dirty="0"/>
          </a:p>
          <a:p>
            <a:r>
              <a:rPr lang="en-US" sz="1600" dirty="0" err="1"/>
              <a:t>Builder.Services.AddMvc</a:t>
            </a:r>
            <a:r>
              <a:rPr lang="en-US" sz="1600" dirty="0"/>
              <a:t>(options =&gt;</a:t>
            </a:r>
          </a:p>
          <a:p>
            <a:r>
              <a:rPr lang="en-US" sz="1600" dirty="0"/>
              <a:t>{</a:t>
            </a:r>
          </a:p>
          <a:p>
            <a:r>
              <a:rPr lang="en-US" sz="1600" dirty="0"/>
              <a:t>    </a:t>
            </a:r>
            <a:r>
              <a:rPr lang="en-US" sz="1600" dirty="0" err="1"/>
              <a:t>options.CacheProfiles.Add</a:t>
            </a:r>
            <a:r>
              <a:rPr lang="en-US" sz="1600" dirty="0"/>
              <a:t>("Hourly", new </a:t>
            </a:r>
            <a:r>
              <a:rPr lang="en-US" sz="1600" dirty="0" err="1"/>
              <a:t>CacheProfile</a:t>
            </a:r>
            <a:r>
              <a:rPr lang="en-US" sz="1600" dirty="0"/>
              <a:t>()</a:t>
            </a:r>
          </a:p>
          <a:p>
            <a:r>
              <a:rPr lang="en-US" sz="1600" dirty="0"/>
              <a:t>    {</a:t>
            </a:r>
          </a:p>
          <a:p>
            <a:r>
              <a:rPr lang="en-US" sz="1600" dirty="0"/>
              <a:t>        Duration = 60 * 60 // 1 hour</a:t>
            </a:r>
          </a:p>
          <a:p>
            <a:r>
              <a:rPr lang="en-US" sz="1600" dirty="0"/>
              <a:t>    });</a:t>
            </a:r>
          </a:p>
          <a:p>
            <a:r>
              <a:rPr lang="en-US" sz="1600" dirty="0"/>
              <a:t>    </a:t>
            </a:r>
            <a:r>
              <a:rPr lang="en-US" sz="1600" dirty="0" err="1"/>
              <a:t>options.CacheProfiles.Add</a:t>
            </a:r>
            <a:r>
              <a:rPr lang="en-US" sz="1600" dirty="0">
                <a:highlight>
                  <a:srgbClr val="FFFF00"/>
                </a:highlight>
              </a:rPr>
              <a:t>("Weekly", </a:t>
            </a:r>
            <a:r>
              <a:rPr lang="en-US" sz="1600" dirty="0"/>
              <a:t>new </a:t>
            </a:r>
            <a:r>
              <a:rPr lang="en-US" sz="1600" dirty="0" err="1"/>
              <a:t>CacheProfile</a:t>
            </a:r>
            <a:r>
              <a:rPr lang="en-US" sz="1600" dirty="0"/>
              <a:t>()</a:t>
            </a:r>
          </a:p>
          <a:p>
            <a:r>
              <a:rPr lang="en-US" sz="1600" dirty="0"/>
              <a:t>    {</a:t>
            </a:r>
          </a:p>
          <a:p>
            <a:r>
              <a:rPr lang="en-US" sz="1600" dirty="0"/>
              <a:t>        Duration = 60 * 60 * 24 * 7 // 7 days</a:t>
            </a:r>
          </a:p>
          <a:p>
            <a:r>
              <a:rPr lang="en-US" sz="1600" dirty="0"/>
              <a:t>    });</a:t>
            </a:r>
          </a:p>
          <a:p>
            <a:r>
              <a:rPr lang="en-US" sz="1600" dirty="0"/>
              <a:t>});</a:t>
            </a:r>
          </a:p>
          <a:p>
            <a:r>
              <a:rPr lang="en-US" sz="1600" dirty="0"/>
              <a:t>You can then reference the cache profile names in the </a:t>
            </a:r>
            <a:r>
              <a:rPr lang="en-US" sz="1600" dirty="0" err="1"/>
              <a:t>ResponseCache</a:t>
            </a:r>
            <a:r>
              <a:rPr lang="en-US" sz="1600" dirty="0"/>
              <a:t> attributes</a:t>
            </a:r>
            <a:endParaRPr lang="en-US" sz="1100" dirty="0"/>
          </a:p>
          <a:p>
            <a:r>
              <a:rPr lang="en-US" sz="1600" dirty="0"/>
              <a:t>[</a:t>
            </a:r>
            <a:r>
              <a:rPr lang="en-US" sz="1600" dirty="0" err="1"/>
              <a:t>ResponseCache</a:t>
            </a:r>
            <a:r>
              <a:rPr lang="en-US" sz="1600" dirty="0"/>
              <a:t>(</a:t>
            </a:r>
            <a:r>
              <a:rPr lang="en-US" sz="1600" dirty="0" err="1">
                <a:highlight>
                  <a:srgbClr val="FFFF00"/>
                </a:highlight>
              </a:rPr>
              <a:t>CacheProfileName</a:t>
            </a:r>
            <a:r>
              <a:rPr lang="en-US" sz="1600" dirty="0">
                <a:highlight>
                  <a:srgbClr val="FFFF00"/>
                </a:highlight>
              </a:rPr>
              <a:t> = "Weekly"</a:t>
            </a:r>
            <a:r>
              <a:rPr lang="en-US" sz="1600" dirty="0"/>
              <a:t>)]</a:t>
            </a:r>
          </a:p>
          <a:p>
            <a:endParaRPr lang="en-US" sz="1600" dirty="0"/>
          </a:p>
          <a:p>
            <a:r>
              <a:rPr lang="en-US" sz="1600" dirty="0"/>
              <a:t>You can also explicitly disable any caching with the following:</a:t>
            </a:r>
          </a:p>
          <a:p>
            <a:r>
              <a:rPr lang="en-US" sz="1600" dirty="0"/>
              <a:t>[</a:t>
            </a:r>
            <a:r>
              <a:rPr lang="en-US" sz="1600" dirty="0" err="1"/>
              <a:t>ResponseCache</a:t>
            </a:r>
            <a:r>
              <a:rPr lang="en-US" sz="1600" dirty="0"/>
              <a:t>(Location = </a:t>
            </a:r>
            <a:r>
              <a:rPr lang="en-US" sz="1600" dirty="0" err="1"/>
              <a:t>ResponseCacheLocation.None</a:t>
            </a:r>
            <a:r>
              <a:rPr lang="en-US" sz="1600" dirty="0"/>
              <a:t>, </a:t>
            </a:r>
            <a:r>
              <a:rPr lang="en-US" sz="1600" dirty="0" err="1"/>
              <a:t>NoStore</a:t>
            </a:r>
            <a:r>
              <a:rPr lang="en-US" sz="1600" dirty="0"/>
              <a:t> = true)]</a:t>
            </a:r>
          </a:p>
          <a:p>
            <a:r>
              <a:rPr lang="en-US" sz="1600" dirty="0"/>
              <a:t>Note that both Location and </a:t>
            </a:r>
            <a:r>
              <a:rPr lang="en-US" sz="1600" dirty="0" err="1"/>
              <a:t>NoStore</a:t>
            </a:r>
            <a:r>
              <a:rPr lang="en-US" sz="1600" dirty="0"/>
              <a:t> are required. </a:t>
            </a:r>
            <a:r>
              <a:rPr lang="en-US" sz="1600" dirty="0" err="1"/>
              <a:t>NoStore</a:t>
            </a:r>
            <a:r>
              <a:rPr lang="en-US" sz="1600" dirty="0"/>
              <a:t> returns the standard "cache-control: no-store" header but some older proxies do not understand this so Location = </a:t>
            </a:r>
            <a:r>
              <a:rPr lang="en-US" sz="1600" dirty="0" err="1"/>
              <a:t>ResponseCacheLocation.None</a:t>
            </a:r>
            <a:r>
              <a:rPr lang="en-US" sz="1600" dirty="0"/>
              <a:t> adds "no-cache" values to cache-control and pragma headers.</a:t>
            </a:r>
            <a:endParaRPr lang="en-IN" sz="1600" dirty="0"/>
          </a:p>
        </p:txBody>
      </p:sp>
    </p:spTree>
    <p:extLst>
      <p:ext uri="{BB962C8B-B14F-4D97-AF65-F5344CB8AC3E}">
        <p14:creationId xmlns:p14="http://schemas.microsoft.com/office/powerpoint/2010/main" val="329981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E789CD-79B0-6B1A-C513-74EF2017A188}"/>
              </a:ext>
            </a:extLst>
          </p:cNvPr>
          <p:cNvSpPr txBox="1"/>
          <p:nvPr/>
        </p:nvSpPr>
        <p:spPr>
          <a:xfrm>
            <a:off x="388856" y="0"/>
            <a:ext cx="9792092" cy="7294305"/>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Microsoft.AspNetCore.Mvc</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Microsoft.EntityFrameworkCore</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WebAppSqlserver.Models</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WebAppSqlserver</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var</a:t>
            </a:r>
            <a:r>
              <a:rPr lang="en-US" sz="900" dirty="0">
                <a:solidFill>
                  <a:srgbClr val="000000"/>
                </a:solidFill>
                <a:latin typeface="Cascadia Mono" panose="020B0609020000020004" pitchFamily="49" charset="0"/>
              </a:rPr>
              <a:t> builder = </a:t>
            </a:r>
            <a:r>
              <a:rPr lang="en-US" sz="900" dirty="0" err="1">
                <a:solidFill>
                  <a:srgbClr val="000000"/>
                </a:solidFill>
                <a:latin typeface="Cascadia Mono" panose="020B0609020000020004" pitchFamily="49" charset="0"/>
              </a:rPr>
              <a:t>WebApplication.CreateBuilder</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Add services to the container.</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builder.Services.AddControllersWithViews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options =&gt;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options.CacheProfiles.Add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"Hourly"</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CacheProfile</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Duration = 60 * 60 </a:t>
            </a:r>
            <a:r>
              <a:rPr lang="en-US" sz="900" dirty="0">
                <a:solidFill>
                  <a:srgbClr val="008000"/>
                </a:solidFill>
                <a:latin typeface="Cascadia Mono" panose="020B0609020000020004" pitchFamily="49" charset="0"/>
              </a:rPr>
              <a:t>// 1 hour</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options.CacheProfiles.Add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"Weekly"</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CacheProfile</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Duration = 60 * 60 * 24 * 7 </a:t>
            </a:r>
            <a:r>
              <a:rPr lang="en-US" sz="900" dirty="0">
                <a:solidFill>
                  <a:srgbClr val="008000"/>
                </a:solidFill>
                <a:latin typeface="Cascadia Mono" panose="020B0609020000020004" pitchFamily="49" charset="0"/>
              </a:rPr>
              <a:t>// 7 days</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builder.Services.AddScoped</a:t>
            </a:r>
            <a:r>
              <a:rPr lang="en-US" sz="900" dirty="0">
                <a:solidFill>
                  <a:srgbClr val="000000"/>
                </a:solidFill>
                <a:latin typeface="Cascadia Mono" panose="020B0609020000020004" pitchFamily="49" charset="0"/>
              </a:rPr>
              <a:t>&lt;</a:t>
            </a:r>
            <a:r>
              <a:rPr lang="en-US" sz="900" dirty="0" err="1">
                <a:solidFill>
                  <a:srgbClr val="000000"/>
                </a:solidFill>
                <a:latin typeface="Cascadia Mono" panose="020B0609020000020004" pitchFamily="49" charset="0"/>
              </a:rPr>
              <a:t>IEmployeeRepository</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SqlemployeeRepository</a:t>
            </a:r>
            <a:r>
              <a:rPr lang="en-US" sz="900" dirty="0">
                <a:solidFill>
                  <a:srgbClr val="000000"/>
                </a:solidFill>
                <a:latin typeface="Cascadia Mono" panose="020B0609020000020004" pitchFamily="49" charset="0"/>
              </a:rPr>
              <a:t>&gt;();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builder.Services.AddDbContextPool</a:t>
            </a:r>
            <a:r>
              <a:rPr lang="en-IN" sz="900" dirty="0">
                <a:solidFill>
                  <a:srgbClr val="000000"/>
                </a:solidFill>
                <a:latin typeface="Cascadia Mono" panose="020B0609020000020004" pitchFamily="49" charset="0"/>
              </a:rPr>
              <a:t>&lt;</a:t>
            </a:r>
            <a:r>
              <a:rPr lang="en-IN" sz="900" dirty="0" err="1">
                <a:solidFill>
                  <a:srgbClr val="000000"/>
                </a:solidFill>
                <a:latin typeface="Cascadia Mono" panose="020B0609020000020004" pitchFamily="49" charset="0"/>
              </a:rPr>
              <a:t>Appdbcontext</a:t>
            </a:r>
            <a:r>
              <a:rPr lang="en-IN" sz="900" dirty="0">
                <a:solidFill>
                  <a:srgbClr val="000000"/>
                </a:solidFill>
                <a:latin typeface="Cascadia Mono" panose="020B0609020000020004" pitchFamily="49" charset="0"/>
              </a:rPr>
              <a:t>&gt;(</a:t>
            </a:r>
          </a:p>
          <a:p>
            <a:r>
              <a:rPr lang="en-US" sz="900" dirty="0">
                <a:solidFill>
                  <a:srgbClr val="000000"/>
                </a:solidFill>
                <a:latin typeface="Cascadia Mono" panose="020B0609020000020004" pitchFamily="49" charset="0"/>
              </a:rPr>
              <a:t>    options =&gt; </a:t>
            </a:r>
            <a:r>
              <a:rPr lang="en-US" sz="900" dirty="0" err="1">
                <a:solidFill>
                  <a:srgbClr val="000000"/>
                </a:solidFill>
                <a:latin typeface="Cascadia Mono" panose="020B0609020000020004" pitchFamily="49" charset="0"/>
              </a:rPr>
              <a:t>options.UseSqlServer</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builder.Configuration.GetConnectionString</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EmployeeDBConnection</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a:t>
            </a:r>
          </a:p>
          <a:p>
            <a:r>
              <a:rPr lang="en-IN" sz="900" dirty="0">
                <a:solidFill>
                  <a:srgbClr val="000000"/>
                </a:solidFill>
                <a:highlight>
                  <a:srgbClr val="FFFF00"/>
                </a:highlight>
                <a:latin typeface="Cascadia Mono" panose="020B0609020000020004" pitchFamily="49" charset="0"/>
              </a:rPr>
              <a:t>            </a:t>
            </a:r>
            <a:r>
              <a:rPr lang="en-IN" sz="900" dirty="0" err="1">
                <a:solidFill>
                  <a:srgbClr val="000000"/>
                </a:solidFill>
                <a:highlight>
                  <a:srgbClr val="FFFF00"/>
                </a:highlight>
                <a:latin typeface="Cascadia Mono" panose="020B0609020000020004" pitchFamily="49" charset="0"/>
              </a:rPr>
              <a:t>builder.Services.AddMemoryCache</a:t>
            </a:r>
            <a:r>
              <a:rPr lang="en-IN" sz="900" dirty="0">
                <a:solidFill>
                  <a:srgbClr val="000000"/>
                </a:solidFill>
                <a:highlight>
                  <a:srgbClr val="FFFF00"/>
                </a:highlight>
                <a:latin typeface="Cascadia Mono" panose="020B0609020000020004" pitchFamily="49" charset="0"/>
              </a:rPr>
              <a:t>();</a:t>
            </a:r>
          </a:p>
          <a:p>
            <a:r>
              <a:rPr lang="en-IN" sz="900" dirty="0">
                <a:solidFill>
                  <a:srgbClr val="000000"/>
                </a:solidFill>
                <a:highlight>
                  <a:srgbClr val="FFFF00"/>
                </a:highlight>
                <a:latin typeface="Cascadia Mono" panose="020B0609020000020004" pitchFamily="49" charset="0"/>
              </a:rPr>
              <a:t>            </a:t>
            </a:r>
            <a:r>
              <a:rPr lang="en-IN" sz="900" dirty="0" err="1">
                <a:solidFill>
                  <a:srgbClr val="000000"/>
                </a:solidFill>
                <a:highlight>
                  <a:srgbClr val="FFFF00"/>
                </a:highlight>
                <a:latin typeface="Cascadia Mono" panose="020B0609020000020004" pitchFamily="49" charset="0"/>
              </a:rPr>
              <a:t>builder.Services.AddResponseCaching</a:t>
            </a:r>
            <a:r>
              <a:rPr lang="en-IN" sz="900" dirty="0">
                <a:solidFill>
                  <a:srgbClr val="000000"/>
                </a:solidFill>
                <a:highlight>
                  <a:srgbClr val="FFFF00"/>
                </a:highlight>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app = </a:t>
            </a:r>
            <a:r>
              <a:rPr lang="en-IN" sz="900" dirty="0" err="1">
                <a:solidFill>
                  <a:srgbClr val="000000"/>
                </a:solidFill>
                <a:latin typeface="Cascadia Mono" panose="020B0609020000020004" pitchFamily="49" charset="0"/>
              </a:rPr>
              <a:t>builder.Build</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Configure the HTTP request pipeline.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app.Environment.IsDevelopment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app.UseExceptionHandler</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"/Home/Error"</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The default HSTS value is 30 days. You may want to change this for production scenarios, see https://aka.ms/aspnetcore-hsts.</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app.UseHsts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app.UseHttpsRedirection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app.UseStaticFiles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highlight>
                  <a:srgbClr val="FFFF00"/>
                </a:highlight>
                <a:latin typeface="Cascadia Mono" panose="020B0609020000020004" pitchFamily="49" charset="0"/>
              </a:rPr>
              <a:t>app.UseResponseCaching</a:t>
            </a:r>
            <a:r>
              <a:rPr lang="en-IN" sz="900" dirty="0">
                <a:solidFill>
                  <a:srgbClr val="000000"/>
                </a:solidFill>
                <a:highlight>
                  <a:srgbClr val="FFFF00"/>
                </a:highlight>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app.UseRouting</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app.UseAuthorization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app.MapControllerRoute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name: </a:t>
            </a:r>
            <a:r>
              <a:rPr lang="en-IN" sz="900" dirty="0">
                <a:solidFill>
                  <a:srgbClr val="A31515"/>
                </a:solidFill>
                <a:latin typeface="Cascadia Mono" panose="020B0609020000020004" pitchFamily="49" charset="0"/>
              </a:rPr>
              <a:t>"default"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pattern: </a:t>
            </a:r>
            <a:r>
              <a:rPr lang="en-IN" sz="900" dirty="0">
                <a:solidFill>
                  <a:srgbClr val="A31515"/>
                </a:solidFill>
                <a:latin typeface="Cascadia Mono" panose="020B0609020000020004" pitchFamily="49" charset="0"/>
              </a:rPr>
              <a:t>"{controller=Home}/{action=Index}/{id?}"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app.Run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
        <p:nvSpPr>
          <p:cNvPr id="2" name="TextBox 1">
            <a:extLst>
              <a:ext uri="{FF2B5EF4-FFF2-40B4-BE49-F238E27FC236}">
                <a16:creationId xmlns:a16="http://schemas.microsoft.com/office/drawing/2014/main" id="{7FF73496-24B9-DFAA-8339-20FE2BC7C1CB}"/>
              </a:ext>
            </a:extLst>
          </p:cNvPr>
          <p:cNvSpPr txBox="1"/>
          <p:nvPr/>
        </p:nvSpPr>
        <p:spPr>
          <a:xfrm>
            <a:off x="8070574" y="795131"/>
            <a:ext cx="3975652" cy="91440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Response cache is browser dependent</a:t>
            </a:r>
          </a:p>
          <a:p>
            <a:r>
              <a:rPr lang="en-US" dirty="0"/>
              <a:t>Not supported in chrome</a:t>
            </a:r>
          </a:p>
          <a:p>
            <a:r>
              <a:rPr lang="en-US" dirty="0"/>
              <a:t>But </a:t>
            </a:r>
            <a:r>
              <a:rPr lang="en-US" dirty="0" err="1"/>
              <a:t>firefox</a:t>
            </a:r>
            <a:r>
              <a:rPr lang="en-US" dirty="0"/>
              <a:t> do support</a:t>
            </a:r>
            <a:endParaRPr lang="en-IN" dirty="0"/>
          </a:p>
        </p:txBody>
      </p:sp>
    </p:spTree>
    <p:extLst>
      <p:ext uri="{BB962C8B-B14F-4D97-AF65-F5344CB8AC3E}">
        <p14:creationId xmlns:p14="http://schemas.microsoft.com/office/powerpoint/2010/main" val="272635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30F9A3E-B2FC-4FE8-8CEC-4B28388AD933}"/>
              </a:ext>
            </a:extLst>
          </p:cNvPr>
          <p:cNvSpPr txBox="1"/>
          <p:nvPr/>
        </p:nvSpPr>
        <p:spPr>
          <a:xfrm>
            <a:off x="835742" y="629265"/>
            <a:ext cx="8731045" cy="1477328"/>
          </a:xfrm>
          <a:prstGeom prst="rect">
            <a:avLst/>
          </a:prstGeom>
          <a:noFill/>
        </p:spPr>
        <p:txBody>
          <a:bodyPr wrap="square" rtlCol="0">
            <a:spAutoFit/>
          </a:bodyPr>
          <a:lstStyle/>
          <a:p>
            <a:r>
              <a:rPr lang="en-IN" dirty="0"/>
              <a:t>Task :</a:t>
            </a:r>
          </a:p>
          <a:p>
            <a:r>
              <a:rPr lang="en-IN" dirty="0"/>
              <a:t>Create MVC Core Crud.</a:t>
            </a:r>
          </a:p>
          <a:p>
            <a:r>
              <a:rPr lang="en-IN" dirty="0"/>
              <a:t>When you load page let all employee detail should com from database but </a:t>
            </a:r>
          </a:p>
          <a:p>
            <a:r>
              <a:rPr lang="en-IN" dirty="0"/>
              <a:t>On Second request it should come </a:t>
            </a:r>
            <a:r>
              <a:rPr lang="en-IN" dirty="0" err="1"/>
              <a:t>fromCache</a:t>
            </a:r>
            <a:r>
              <a:rPr lang="en-IN" dirty="0"/>
              <a:t> memory</a:t>
            </a:r>
          </a:p>
          <a:p>
            <a:endParaRPr lang="en-IN" dirty="0"/>
          </a:p>
        </p:txBody>
      </p:sp>
    </p:spTree>
    <p:extLst>
      <p:ext uri="{BB962C8B-B14F-4D97-AF65-F5344CB8AC3E}">
        <p14:creationId xmlns:p14="http://schemas.microsoft.com/office/powerpoint/2010/main" val="3654705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a:extLst>
              <a:ext uri="{FF2B5EF4-FFF2-40B4-BE49-F238E27FC236}">
                <a16:creationId xmlns:a16="http://schemas.microsoft.com/office/drawing/2014/main" id="{5DB822E2-2099-A223-8AD6-E8D8F1C0DF61}"/>
              </a:ext>
            </a:extLst>
          </p:cNvPr>
          <p:cNvSpPr>
            <a:spLocks noChangeArrowheads="1"/>
          </p:cNvSpPr>
          <p:nvPr/>
        </p:nvSpPr>
        <p:spPr bwMode="auto">
          <a:xfrm>
            <a:off x="60960" y="85673"/>
            <a:ext cx="12131040" cy="71096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Cache Tag Helper Attributes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enabled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enabled</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determines if the content enclosed by the Cache Tag Helper is cached. The default is </a:t>
            </a: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true</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If set to </a:t>
            </a: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false</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the rendered output is </a:t>
            </a:r>
            <a:r>
              <a:rPr kumimoji="0" lang="en-US" altLang="en-US" sz="1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not</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cached.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Example: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101FD"/>
                </a:solidFill>
                <a:effectLst/>
                <a:latin typeface="SFMono-Regular"/>
              </a:rPr>
              <a:t>&lt;cache </a:t>
            </a:r>
            <a:r>
              <a:rPr kumimoji="0" lang="en-US" altLang="en-US" sz="1400" b="0" i="0" u="none" strike="noStrike" cap="none" normalizeH="0" baseline="0" dirty="0">
                <a:ln>
                  <a:noFill/>
                </a:ln>
                <a:solidFill>
                  <a:srgbClr val="0451A5"/>
                </a:solidFill>
                <a:effectLst/>
                <a:latin typeface="SFMono-Regular"/>
              </a:rPr>
              <a:t>enabled</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a:ln>
                  <a:noFill/>
                </a:ln>
                <a:solidFill>
                  <a:srgbClr val="A31515"/>
                </a:solidFill>
                <a:effectLst/>
                <a:latin typeface="SFMono-Regular"/>
              </a:rPr>
              <a:t>"true"</a:t>
            </a:r>
            <a:r>
              <a:rPr kumimoji="0" lang="en-US" altLang="en-US" sz="1400" b="0" i="0" u="none" strike="noStrike" cap="none" normalizeH="0" baseline="0" dirty="0">
                <a:ln>
                  <a:noFill/>
                </a:ln>
                <a:solidFill>
                  <a:srgbClr val="0101FD"/>
                </a:solidFill>
                <a:effectLst/>
                <a:latin typeface="SFMono-Regular"/>
              </a:rPr>
              <a:t>&gt;</a:t>
            </a:r>
            <a:r>
              <a:rPr kumimoji="0" lang="en-US" altLang="en-US" sz="1400" b="0" i="0" u="none" strike="noStrike" cap="none" normalizeH="0" baseline="0" dirty="0">
                <a:ln>
                  <a:noFill/>
                </a:ln>
                <a:solidFill>
                  <a:srgbClr val="161616"/>
                </a:solidFill>
                <a:effectLst/>
                <a:latin typeface="SFMono-Regular"/>
              </a:rPr>
              <a:t> Current Time Inside Cache Tag Helper: </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a:ln>
                  <a:noFill/>
                </a:ln>
                <a:solidFill>
                  <a:srgbClr val="161616"/>
                </a:solidFill>
                <a:effectLst/>
                <a:latin typeface="SFMono-Regular"/>
              </a:rPr>
              <a:t>DateTime.Now </a:t>
            </a:r>
            <a:r>
              <a:rPr kumimoji="0" lang="en-US" altLang="en-US" sz="1400" b="0" i="0" u="none" strike="noStrike" cap="none" normalizeH="0" baseline="0" dirty="0">
                <a:ln>
                  <a:noFill/>
                </a:ln>
                <a:solidFill>
                  <a:srgbClr val="0101FD"/>
                </a:solidFill>
                <a:effectLst/>
                <a:latin typeface="SFMono-Regular"/>
              </a:rPr>
              <a:t>&lt;/cache&gt;</a:t>
            </a:r>
            <a:r>
              <a:rPr kumimoji="0" lang="en-US" altLang="en-US" sz="1400" b="0" i="0" u="none" strike="noStrike" cap="none" normalizeH="0" baseline="0" dirty="0">
                <a:ln>
                  <a:noFill/>
                </a:ln>
                <a:solidFill>
                  <a:srgbClr val="161616"/>
                </a:solidFill>
                <a:effectLst/>
                <a:latin typeface="SFMono-Regular"/>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expires-on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expires-on</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sets an absolute expiration date for the cached item.</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The following example caches the contents of the Cache Tag Helper until 5:02 PM on January 29, 2025:</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101FD"/>
                </a:solidFill>
                <a:effectLst/>
                <a:latin typeface="SFMono-Regular"/>
              </a:rPr>
              <a:t>&lt;cache </a:t>
            </a:r>
            <a:r>
              <a:rPr kumimoji="0" lang="en-US" altLang="en-US" sz="1400" b="0" i="0" u="none" strike="noStrike" cap="none" normalizeH="0" baseline="0" dirty="0">
                <a:ln>
                  <a:noFill/>
                </a:ln>
                <a:solidFill>
                  <a:srgbClr val="0451A5"/>
                </a:solidFill>
                <a:effectLst/>
                <a:latin typeface="SFMono-Regular"/>
              </a:rPr>
              <a:t>expires-on</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a:ln>
                  <a:noFill/>
                </a:ln>
                <a:solidFill>
                  <a:srgbClr val="A31515"/>
                </a:solidFill>
                <a:effectLst/>
                <a:latin typeface="SFMono-Regular"/>
              </a:rPr>
              <a:t>"</a:t>
            </a:r>
            <a:r>
              <a:rPr kumimoji="0" lang="en-US" altLang="en-US" sz="1400" b="0" i="0" u="none" strike="noStrike" cap="none" normalizeH="0" baseline="0" dirty="0">
                <a:ln>
                  <a:noFill/>
                </a:ln>
                <a:solidFill>
                  <a:srgbClr val="0101FD"/>
                </a:solidFill>
                <a:effectLst/>
                <a:latin typeface="SFMono-Regular"/>
              </a:rPr>
              <a:t>@new</a:t>
            </a:r>
            <a:r>
              <a:rPr kumimoji="0" lang="en-US" altLang="en-US" sz="1400" b="0" i="0" u="none" strike="noStrike" cap="none" normalizeH="0" baseline="0" dirty="0">
                <a:ln>
                  <a:noFill/>
                </a:ln>
                <a:solidFill>
                  <a:srgbClr val="A31515"/>
                </a:solidFill>
                <a:effectLst/>
                <a:latin typeface="SFMono-Regular"/>
              </a:rPr>
              <a:t> </a:t>
            </a:r>
            <a:r>
              <a:rPr kumimoji="0" lang="en-US" altLang="en-US" sz="1400" b="0" i="0" u="none" strike="noStrike" cap="none" normalizeH="0" baseline="0" dirty="0" err="1">
                <a:ln>
                  <a:noFill/>
                </a:ln>
                <a:solidFill>
                  <a:srgbClr val="A31515"/>
                </a:solidFill>
                <a:effectLst/>
                <a:latin typeface="SFMono-Regular"/>
              </a:rPr>
              <a:t>DateTime</a:t>
            </a:r>
            <a:r>
              <a:rPr kumimoji="0" lang="en-US" altLang="en-US" sz="1400" b="0" i="0" u="none" strike="noStrike" cap="none" normalizeH="0" baseline="0" dirty="0">
                <a:ln>
                  <a:noFill/>
                </a:ln>
                <a:solidFill>
                  <a:srgbClr val="A31515"/>
                </a:solidFill>
                <a:effectLst/>
                <a:latin typeface="SFMono-Regular"/>
              </a:rPr>
              <a:t>(2025,1,29,17,02,0)"</a:t>
            </a:r>
            <a:r>
              <a:rPr kumimoji="0" lang="en-US" altLang="en-US" sz="1400" b="0" i="0" u="none" strike="noStrike" cap="none" normalizeH="0" baseline="0" dirty="0">
                <a:ln>
                  <a:noFill/>
                </a:ln>
                <a:solidFill>
                  <a:srgbClr val="0101FD"/>
                </a:solidFill>
                <a:effectLst/>
                <a:latin typeface="SFMono-Regular"/>
              </a:rPr>
              <a:t>&gt;</a:t>
            </a:r>
            <a:r>
              <a:rPr kumimoji="0" lang="en-US" altLang="en-US" sz="1400" b="0" i="0" u="none" strike="noStrike" cap="none" normalizeH="0" baseline="0" dirty="0">
                <a:ln>
                  <a:noFill/>
                </a:ln>
                <a:solidFill>
                  <a:srgbClr val="161616"/>
                </a:solidFill>
                <a:effectLst/>
                <a:latin typeface="SFMono-Regular"/>
              </a:rPr>
              <a:t> Current Time Inside Cache Tag Helper: </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a:ln>
                  <a:noFill/>
                </a:ln>
                <a:solidFill>
                  <a:srgbClr val="161616"/>
                </a:solidFill>
                <a:effectLst/>
                <a:latin typeface="SFMono-Regular"/>
              </a:rPr>
              <a:t>DateTime.Now </a:t>
            </a:r>
            <a:r>
              <a:rPr kumimoji="0" lang="en-US" altLang="en-US" sz="1400" b="0" i="0" u="none" strike="noStrike" cap="none" normalizeH="0" baseline="0" dirty="0">
                <a:ln>
                  <a:noFill/>
                </a:ln>
                <a:solidFill>
                  <a:srgbClr val="0101FD"/>
                </a:solidFill>
                <a:effectLst/>
                <a:latin typeface="SFMono-Regular"/>
              </a:rPr>
              <a:t>&lt;/cache&gt;</a:t>
            </a:r>
            <a:r>
              <a:rPr kumimoji="0" lang="en-US" altLang="en-US" sz="1400" b="0" i="0" u="none" strike="noStrike" cap="none" normalizeH="0" baseline="0" dirty="0">
                <a:ln>
                  <a:noFill/>
                </a:ln>
                <a:solidFill>
                  <a:srgbClr val="161616"/>
                </a:solidFill>
                <a:effectLst/>
                <a:latin typeface="SFMono-Regular"/>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expires-after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expires-after</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sets the length of time from the first request time to cache the contents.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Example: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101FD"/>
                </a:solidFill>
                <a:effectLst/>
                <a:latin typeface="SFMono-Regular"/>
              </a:rPr>
              <a:t>&lt;cache </a:t>
            </a:r>
            <a:r>
              <a:rPr kumimoji="0" lang="en-US" altLang="en-US" sz="1400" b="0" i="0" u="none" strike="noStrike" cap="none" normalizeH="0" baseline="0" dirty="0">
                <a:ln>
                  <a:noFill/>
                </a:ln>
                <a:solidFill>
                  <a:srgbClr val="0451A5"/>
                </a:solidFill>
                <a:effectLst/>
                <a:latin typeface="SFMono-Regular"/>
              </a:rPr>
              <a:t>expires-after</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a:ln>
                  <a:noFill/>
                </a:ln>
                <a:solidFill>
                  <a:srgbClr val="A31515"/>
                </a:solidFill>
                <a:effectLst/>
                <a:latin typeface="SFMono-Regular"/>
              </a:rPr>
              <a:t>"</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err="1">
                <a:ln>
                  <a:noFill/>
                </a:ln>
                <a:solidFill>
                  <a:srgbClr val="161616"/>
                </a:solidFill>
                <a:effectLst/>
                <a:latin typeface="SFMono-Regular"/>
              </a:rPr>
              <a:t>TimeSpan.FromSeconds</a:t>
            </a:r>
            <a:r>
              <a:rPr kumimoji="0" lang="en-US" altLang="en-US" sz="1400" b="0" i="0" u="none" strike="noStrike" cap="none" normalizeH="0" baseline="0" dirty="0">
                <a:ln>
                  <a:noFill/>
                </a:ln>
                <a:solidFill>
                  <a:srgbClr val="161616"/>
                </a:solidFill>
                <a:effectLst/>
                <a:latin typeface="SFMono-Regular"/>
              </a:rPr>
              <a:t>(120)"</a:t>
            </a:r>
            <a:r>
              <a:rPr kumimoji="0" lang="en-US" altLang="en-US" sz="1400" b="0" i="0" u="none" strike="noStrike" cap="none" normalizeH="0" baseline="0" dirty="0">
                <a:ln>
                  <a:noFill/>
                </a:ln>
                <a:solidFill>
                  <a:srgbClr val="A31515"/>
                </a:solidFill>
                <a:effectLst/>
                <a:latin typeface="SFMono-Regular"/>
              </a:rPr>
              <a:t>&gt; Current Time Inside Cache Tag Helper: </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a:ln>
                  <a:noFill/>
                </a:ln>
                <a:solidFill>
                  <a:srgbClr val="161616"/>
                </a:solidFill>
                <a:effectLst/>
                <a:latin typeface="SFMono-Regular"/>
              </a:rPr>
              <a:t>DateTime.Now</a:t>
            </a:r>
            <a:r>
              <a:rPr kumimoji="0" lang="en-US" altLang="en-US" sz="1400" b="0" i="0" u="none" strike="noStrike" cap="none" normalizeH="0" baseline="0" dirty="0">
                <a:ln>
                  <a:noFill/>
                </a:ln>
                <a:solidFill>
                  <a:srgbClr val="A31515"/>
                </a:solidFill>
                <a:effectLst/>
                <a:latin typeface="SFMono-Regular"/>
              </a:rPr>
              <a:t> &lt;/cache&gt;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The Razor View Engine sets the default </a:t>
            </a: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expires-after</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value to twenty minutes.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expires-sliding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Sets the time that a cache entry should be evicted if its value hasn't been accessed.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Example: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101FD"/>
                </a:solidFill>
                <a:effectLst/>
                <a:latin typeface="SFMono-Regular"/>
              </a:rPr>
              <a:t>&lt;cache </a:t>
            </a:r>
            <a:r>
              <a:rPr kumimoji="0" lang="en-US" altLang="en-US" sz="1400" b="0" i="0" u="none" strike="noStrike" cap="none" normalizeH="0" baseline="0" dirty="0">
                <a:ln>
                  <a:noFill/>
                </a:ln>
                <a:solidFill>
                  <a:srgbClr val="0451A5"/>
                </a:solidFill>
                <a:effectLst/>
                <a:latin typeface="SFMono-Regular"/>
              </a:rPr>
              <a:t>expires-sliding</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a:ln>
                  <a:noFill/>
                </a:ln>
                <a:solidFill>
                  <a:srgbClr val="A31515"/>
                </a:solidFill>
                <a:effectLst/>
                <a:latin typeface="SFMono-Regular"/>
              </a:rPr>
              <a:t>"</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err="1">
                <a:ln>
                  <a:noFill/>
                </a:ln>
                <a:solidFill>
                  <a:srgbClr val="161616"/>
                </a:solidFill>
                <a:effectLst/>
                <a:latin typeface="SFMono-Regular"/>
              </a:rPr>
              <a:t>TimeSpan.FromSeconds</a:t>
            </a:r>
            <a:r>
              <a:rPr kumimoji="0" lang="en-US" altLang="en-US" sz="1400" b="0" i="0" u="none" strike="noStrike" cap="none" normalizeH="0" baseline="0" dirty="0">
                <a:ln>
                  <a:noFill/>
                </a:ln>
                <a:solidFill>
                  <a:srgbClr val="161616"/>
                </a:solidFill>
                <a:effectLst/>
                <a:latin typeface="SFMono-Regular"/>
              </a:rPr>
              <a:t>(60)"</a:t>
            </a:r>
            <a:r>
              <a:rPr kumimoji="0" lang="en-US" altLang="en-US" sz="1400" b="0" i="0" u="none" strike="noStrike" cap="none" normalizeH="0" baseline="0" dirty="0">
                <a:ln>
                  <a:noFill/>
                </a:ln>
                <a:solidFill>
                  <a:srgbClr val="A31515"/>
                </a:solidFill>
                <a:effectLst/>
                <a:latin typeface="SFMono-Regular"/>
              </a:rPr>
              <a:t>&gt; Current Time Inside Cache Tag Helper: </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a:ln>
                  <a:noFill/>
                </a:ln>
                <a:solidFill>
                  <a:srgbClr val="161616"/>
                </a:solidFill>
                <a:effectLst/>
                <a:latin typeface="SFMono-Regular"/>
              </a:rPr>
              <a:t>DateTime.Now</a:t>
            </a:r>
            <a:r>
              <a:rPr kumimoji="0" lang="en-US" altLang="en-US" sz="1400" b="0" i="0" u="none" strike="noStrike" cap="none" normalizeH="0" baseline="0" dirty="0">
                <a:ln>
                  <a:noFill/>
                </a:ln>
                <a:solidFill>
                  <a:srgbClr val="A31515"/>
                </a:solidFill>
                <a:effectLst/>
                <a:latin typeface="SFMono-Regular"/>
              </a:rPr>
              <a:t> &lt;/cache&gt;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vary-by-header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vary-by-header</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accepts a comma-delimited list of header values that trigger a cache refresh when they change.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The following example monitors the header value </a:t>
            </a: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User-Agent</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The example caches the content for every different </a:t>
            </a: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User-Agent</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presented to the web server:</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101FD"/>
                </a:solidFill>
                <a:effectLst/>
                <a:latin typeface="SFMono-Regular"/>
              </a:rPr>
              <a:t>&lt;cache </a:t>
            </a:r>
            <a:r>
              <a:rPr kumimoji="0" lang="en-US" altLang="en-US" sz="1400" b="0" i="0" u="none" strike="noStrike" cap="none" normalizeH="0" baseline="0" dirty="0">
                <a:ln>
                  <a:noFill/>
                </a:ln>
                <a:solidFill>
                  <a:srgbClr val="0451A5"/>
                </a:solidFill>
                <a:effectLst/>
                <a:latin typeface="SFMono-Regular"/>
              </a:rPr>
              <a:t>vary-by-header</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a:ln>
                  <a:noFill/>
                </a:ln>
                <a:solidFill>
                  <a:srgbClr val="A31515"/>
                </a:solidFill>
                <a:effectLst/>
                <a:latin typeface="SFMono-Regular"/>
              </a:rPr>
              <a:t>"User-Agent"</a:t>
            </a:r>
            <a:r>
              <a:rPr kumimoji="0" lang="en-US" altLang="en-US" sz="1400" b="0" i="0" u="none" strike="noStrike" cap="none" normalizeH="0" baseline="0" dirty="0">
                <a:ln>
                  <a:noFill/>
                </a:ln>
                <a:solidFill>
                  <a:srgbClr val="0101FD"/>
                </a:solidFill>
                <a:effectLst/>
                <a:latin typeface="SFMono-Regular"/>
              </a:rPr>
              <a:t>&gt;</a:t>
            </a:r>
            <a:r>
              <a:rPr kumimoji="0" lang="en-US" altLang="en-US" sz="1400" b="0" i="0" u="none" strike="noStrike" cap="none" normalizeH="0" baseline="0" dirty="0">
                <a:ln>
                  <a:noFill/>
                </a:ln>
                <a:solidFill>
                  <a:srgbClr val="161616"/>
                </a:solidFill>
                <a:effectLst/>
                <a:latin typeface="SFMono-Regular"/>
              </a:rPr>
              <a:t> Current Time Inside Cache Tag Helper: </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a:ln>
                  <a:noFill/>
                </a:ln>
                <a:solidFill>
                  <a:srgbClr val="161616"/>
                </a:solidFill>
                <a:effectLst/>
                <a:latin typeface="SFMono-Regular"/>
              </a:rPr>
              <a:t>DateTime.Now </a:t>
            </a:r>
            <a:r>
              <a:rPr kumimoji="0" lang="en-US" altLang="en-US" sz="1400" b="0" i="0" u="none" strike="noStrike" cap="none" normalizeH="0" baseline="0" dirty="0">
                <a:ln>
                  <a:noFill/>
                </a:ln>
                <a:solidFill>
                  <a:srgbClr val="0101FD"/>
                </a:solidFill>
                <a:effectLst/>
                <a:latin typeface="SFMono-Regular"/>
              </a:rPr>
              <a:t>&lt;/cache&gt;</a:t>
            </a:r>
            <a:r>
              <a:rPr kumimoji="0" lang="en-US" altLang="en-US" sz="1400" b="0" i="0" u="none" strike="noStrike" cap="none" normalizeH="0" baseline="0" dirty="0">
                <a:ln>
                  <a:noFill/>
                </a:ln>
                <a:solidFill>
                  <a:srgbClr val="161616"/>
                </a:solidFill>
                <a:effectLst/>
                <a:latin typeface="SFMono-Regular"/>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vary-by-query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vary-by-query</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accepts a comma-delimited list of </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hlinkClick r:id="rId2"/>
              </a:rPr>
              <a:t>Keys</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in a query string (</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hlinkClick r:id="rId3"/>
              </a:rPr>
              <a:t>Query</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that trigger a cache refresh when the value of any listed key changes.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The following example monitors the values of </a:t>
            </a: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Make</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and </a:t>
            </a: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Model</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The example caches the content for every different </a:t>
            </a: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Make</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and </a:t>
            </a:r>
            <a:r>
              <a:rPr kumimoji="0" lang="en-US" altLang="en-US" sz="1400" b="0" i="0" u="none" strike="noStrike" cap="none" normalizeH="0" baseline="0" dirty="0">
                <a:ln>
                  <a:noFill/>
                </a:ln>
                <a:solidFill>
                  <a:srgbClr val="161616"/>
                </a:solidFill>
                <a:effectLst/>
                <a:latin typeface="SFMono-Regular"/>
                <a:cs typeface="Segoe UI" panose="020B0502040204020203" pitchFamily="34" charset="0"/>
              </a:rPr>
              <a:t>Model</a:t>
            </a:r>
            <a:r>
              <a:rPr kumimoji="0" lang="en-US" altLang="en-US" sz="14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presented to the web server:</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101FD"/>
                </a:solidFill>
                <a:effectLst/>
                <a:latin typeface="SFMono-Regular"/>
              </a:rPr>
              <a:t>&lt;cache </a:t>
            </a:r>
            <a:r>
              <a:rPr kumimoji="0" lang="en-US" altLang="en-US" sz="1400" b="0" i="0" u="none" strike="noStrike" cap="none" normalizeH="0" baseline="0" dirty="0">
                <a:ln>
                  <a:noFill/>
                </a:ln>
                <a:solidFill>
                  <a:srgbClr val="0451A5"/>
                </a:solidFill>
                <a:effectLst/>
                <a:latin typeface="SFMono-Regular"/>
              </a:rPr>
              <a:t>vary-by-query</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a:ln>
                  <a:noFill/>
                </a:ln>
                <a:solidFill>
                  <a:srgbClr val="A31515"/>
                </a:solidFill>
                <a:effectLst/>
                <a:latin typeface="SFMono-Regular"/>
              </a:rPr>
              <a:t>"</a:t>
            </a:r>
            <a:r>
              <a:rPr kumimoji="0" lang="en-US" altLang="en-US" sz="1400" b="0" i="0" u="none" strike="noStrike" cap="none" normalizeH="0" baseline="0" dirty="0" err="1">
                <a:ln>
                  <a:noFill/>
                </a:ln>
                <a:solidFill>
                  <a:srgbClr val="A31515"/>
                </a:solidFill>
                <a:effectLst/>
                <a:latin typeface="SFMono-Regular"/>
              </a:rPr>
              <a:t>Make,Model</a:t>
            </a:r>
            <a:r>
              <a:rPr kumimoji="0" lang="en-US" altLang="en-US" sz="1400" b="0" i="0" u="none" strike="noStrike" cap="none" normalizeH="0" baseline="0" dirty="0">
                <a:ln>
                  <a:noFill/>
                </a:ln>
                <a:solidFill>
                  <a:srgbClr val="A31515"/>
                </a:solidFill>
                <a:effectLst/>
                <a:latin typeface="SFMono-Regular"/>
              </a:rPr>
              <a:t>"</a:t>
            </a:r>
            <a:r>
              <a:rPr kumimoji="0" lang="en-US" altLang="en-US" sz="1400" b="0" i="0" u="none" strike="noStrike" cap="none" normalizeH="0" baseline="0" dirty="0">
                <a:ln>
                  <a:noFill/>
                </a:ln>
                <a:solidFill>
                  <a:srgbClr val="0101FD"/>
                </a:solidFill>
                <a:effectLst/>
                <a:latin typeface="SFMono-Regular"/>
              </a:rPr>
              <a:t>&gt;</a:t>
            </a:r>
            <a:r>
              <a:rPr kumimoji="0" lang="en-US" altLang="en-US" sz="1400" b="0" i="0" u="none" strike="noStrike" cap="none" normalizeH="0" baseline="0" dirty="0">
                <a:ln>
                  <a:noFill/>
                </a:ln>
                <a:solidFill>
                  <a:srgbClr val="161616"/>
                </a:solidFill>
                <a:effectLst/>
                <a:latin typeface="SFMono-Regular"/>
              </a:rPr>
              <a:t> Current Time Inside Cache Tag Helper: </a:t>
            </a:r>
            <a:r>
              <a:rPr kumimoji="0" lang="en-US" altLang="en-US" sz="1400" b="0" i="0" u="none" strike="noStrike" cap="none" normalizeH="0" baseline="0" dirty="0">
                <a:ln>
                  <a:noFill/>
                </a:ln>
                <a:solidFill>
                  <a:srgbClr val="0101FD"/>
                </a:solidFill>
                <a:effectLst/>
                <a:latin typeface="SFMono-Regular"/>
              </a:rPr>
              <a:t>@</a:t>
            </a:r>
            <a:r>
              <a:rPr kumimoji="0" lang="en-US" altLang="en-US" sz="1400" b="0" i="0" u="none" strike="noStrike" cap="none" normalizeH="0" baseline="0" dirty="0">
                <a:ln>
                  <a:noFill/>
                </a:ln>
                <a:solidFill>
                  <a:srgbClr val="161616"/>
                </a:solidFill>
                <a:effectLst/>
                <a:latin typeface="SFMono-Regular"/>
              </a:rPr>
              <a:t>DateTime.Now </a:t>
            </a:r>
            <a:r>
              <a:rPr kumimoji="0" lang="en-US" altLang="en-US" sz="1400" b="0" i="0" u="none" strike="noStrike" cap="none" normalizeH="0" baseline="0" dirty="0">
                <a:ln>
                  <a:noFill/>
                </a:ln>
                <a:solidFill>
                  <a:srgbClr val="0101FD"/>
                </a:solidFill>
                <a:effectLst/>
                <a:latin typeface="SFMono-Regular"/>
              </a:rPr>
              <a:t>&lt;/cache&gt;</a:t>
            </a:r>
            <a:r>
              <a:rPr kumimoji="0" lang="en-US" altLang="en-US" sz="1400" b="0" i="0" u="none" strike="noStrike" cap="none" normalizeH="0" baseline="0" dirty="0">
                <a:ln>
                  <a:noFill/>
                </a:ln>
                <a:solidFill>
                  <a:srgbClr val="161616"/>
                </a:solidFill>
                <a:effectLst/>
                <a:latin typeface="SFMono-Regular"/>
              </a:rPr>
              <a:t> </a:t>
            </a:r>
            <a:endParaRPr kumimoji="0" lang="en-US" altLang="en-US" sz="1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916582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A85DDB-C77C-886C-CC0A-39F175C85B8C}"/>
              </a:ext>
            </a:extLst>
          </p:cNvPr>
          <p:cNvSpPr txBox="1"/>
          <p:nvPr/>
        </p:nvSpPr>
        <p:spPr>
          <a:xfrm>
            <a:off x="217714" y="181710"/>
            <a:ext cx="11826239" cy="193899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dirty="0">
              <a:ln>
                <a:noFill/>
              </a:ln>
              <a:solidFill>
                <a:srgbClr val="161616"/>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1" i="0" u="none" strike="noStrike" kern="1200" cap="none" spc="0" normalizeH="0" baseline="0" noProof="0" dirty="0">
                <a:ln>
                  <a:noFill/>
                </a:ln>
                <a:solidFill>
                  <a:srgbClr val="161616"/>
                </a:solidFill>
                <a:effectLst/>
                <a:uLnTx/>
                <a:uFillTx/>
                <a:latin typeface="Segoe UI" panose="020B0502040204020203" pitchFamily="34" charset="0"/>
                <a:ea typeface="+mn-ea"/>
                <a:cs typeface="Segoe UI" panose="020B0502040204020203" pitchFamily="34" charset="0"/>
              </a:rPr>
              <a:t>vary-by-route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161616"/>
                </a:solidFill>
                <a:effectLst/>
                <a:uLnTx/>
                <a:uFillTx/>
                <a:latin typeface="SFMono-Regular"/>
                <a:ea typeface="+mn-ea"/>
                <a:cs typeface="Segoe UI" panose="020B0502040204020203" pitchFamily="34" charset="0"/>
              </a:rPr>
              <a:t>vary-by-route</a:t>
            </a:r>
            <a:r>
              <a:rPr kumimoji="0" lang="en-US" altLang="en-US" sz="1200" b="0" i="0" u="none" strike="noStrike" kern="1200" cap="none" spc="0" normalizeH="0" baseline="0" noProof="0" dirty="0">
                <a:ln>
                  <a:noFill/>
                </a:ln>
                <a:solidFill>
                  <a:srgbClr val="161616"/>
                </a:solidFill>
                <a:effectLst/>
                <a:uLnTx/>
                <a:uFillTx/>
                <a:latin typeface="Segoe UI" panose="020B0502040204020203" pitchFamily="34" charset="0"/>
                <a:ea typeface="+mn-ea"/>
                <a:cs typeface="Segoe UI" panose="020B0502040204020203" pitchFamily="34" charset="0"/>
              </a:rPr>
              <a:t> accepts a comma-delimited list of route parameter names that trigger a cache refresh when the route data parameter value changes.</a:t>
            </a:r>
            <a:endParaRPr kumimoji="0" lang="en-US" alt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161616"/>
                </a:solidFill>
                <a:effectLst/>
                <a:uLnTx/>
                <a:uFillTx/>
                <a:latin typeface="Segoe UI" panose="020B0502040204020203" pitchFamily="34" charset="0"/>
                <a:ea typeface="+mn-ea"/>
                <a:cs typeface="Segoe UI" panose="020B0502040204020203" pitchFamily="34" charset="0"/>
              </a:rPr>
              <a:t>Example:</a:t>
            </a:r>
            <a:endParaRPr kumimoji="0" lang="en-US" alt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err="1">
                <a:ln>
                  <a:noFill/>
                </a:ln>
                <a:solidFill>
                  <a:srgbClr val="161616"/>
                </a:solidFill>
                <a:effectLst/>
                <a:uLnTx/>
                <a:uFillTx/>
                <a:latin typeface="SFMono-Regular"/>
                <a:ea typeface="+mn-ea"/>
                <a:cs typeface="Segoe UI" panose="020B0502040204020203" pitchFamily="34" charset="0"/>
              </a:rPr>
              <a:t>Startup.cs</a:t>
            </a:r>
            <a:r>
              <a:rPr kumimoji="0" lang="en-US" altLang="en-US" sz="1200" b="0" i="0" u="none" strike="noStrike" kern="1200" cap="none" spc="0" normalizeH="0" baseline="0" noProof="0" dirty="0">
                <a:ln>
                  <a:noFill/>
                </a:ln>
                <a:solidFill>
                  <a:srgbClr val="161616"/>
                </a:solidFill>
                <a:effectLst/>
                <a:uLnTx/>
                <a:uFillTx/>
                <a:latin typeface="Segoe UI" panose="020B0502040204020203" pitchFamily="34" charset="0"/>
                <a:ea typeface="+mn-ea"/>
                <a:cs typeface="Segoe UI" panose="020B0502040204020203" pitchFamily="34" charset="0"/>
              </a:rPr>
              <a:t>:</a:t>
            </a:r>
            <a:endParaRPr kumimoji="0" lang="en-US" alt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161616"/>
                </a:solidFill>
                <a:effectLst/>
                <a:uLnTx/>
                <a:uFillTx/>
                <a:latin typeface="Segoe UI" panose="020B0502040204020203" pitchFamily="34" charset="0"/>
                <a:ea typeface="+mn-ea"/>
                <a:cs typeface="Segoe UI" panose="020B0502040204020203" pitchFamily="34" charset="0"/>
              </a:rPr>
              <a:t>C#</a:t>
            </a:r>
            <a:endParaRPr kumimoji="0" lang="en-US" altLang="en-US" sz="1200" b="0" i="0" u="none" strike="noStrike" kern="1200" cap="none" spc="0" normalizeH="0" baseline="0" noProof="0" dirty="0">
              <a:ln>
                <a:noFill/>
              </a:ln>
              <a:solidFill>
                <a:srgbClr val="161616"/>
              </a:solidFill>
              <a:effectLst/>
              <a:uLnTx/>
              <a:uFillTx/>
              <a:latin typeface="SFMono-Regular"/>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err="1">
                <a:ln>
                  <a:noFill/>
                </a:ln>
                <a:solidFill>
                  <a:srgbClr val="161616"/>
                </a:solidFill>
                <a:effectLst/>
                <a:uLnTx/>
                <a:uFillTx/>
                <a:latin typeface="SFMono-Regular"/>
                <a:ea typeface="+mn-ea"/>
                <a:cs typeface="+mn-cs"/>
              </a:rPr>
              <a:t>routes.MapRoute</a:t>
            </a:r>
            <a:r>
              <a:rPr kumimoji="0" lang="en-US" altLang="en-US" sz="1200" b="0" i="0" u="none" strike="noStrike" kern="1200" cap="none" spc="0" normalizeH="0" baseline="0" noProof="0" dirty="0">
                <a:ln>
                  <a:noFill/>
                </a:ln>
                <a:solidFill>
                  <a:srgbClr val="161616"/>
                </a:solidFill>
                <a:effectLst/>
                <a:uLnTx/>
                <a:uFillTx/>
                <a:latin typeface="SFMono-Regular"/>
                <a:ea typeface="+mn-ea"/>
                <a:cs typeface="+mn-cs"/>
              </a:rPr>
              <a:t>( name: </a:t>
            </a:r>
            <a:r>
              <a:rPr kumimoji="0" lang="en-US" altLang="en-US" sz="1200" b="0" i="0" u="none" strike="noStrike" kern="1200" cap="none" spc="0" normalizeH="0" baseline="0" noProof="0" dirty="0">
                <a:ln>
                  <a:noFill/>
                </a:ln>
                <a:solidFill>
                  <a:srgbClr val="A31515"/>
                </a:solidFill>
                <a:effectLst/>
                <a:uLnTx/>
                <a:uFillTx/>
                <a:latin typeface="SFMono-Regular"/>
                <a:ea typeface="+mn-ea"/>
                <a:cs typeface="+mn-cs"/>
              </a:rPr>
              <a:t>"default"</a:t>
            </a:r>
            <a:r>
              <a:rPr kumimoji="0" lang="en-US" altLang="en-US" sz="1200" b="0" i="0" u="none" strike="noStrike" kern="1200" cap="none" spc="0" normalizeH="0" baseline="0" noProof="0" dirty="0">
                <a:ln>
                  <a:noFill/>
                </a:ln>
                <a:solidFill>
                  <a:srgbClr val="161616"/>
                </a:solidFill>
                <a:effectLst/>
                <a:uLnTx/>
                <a:uFillTx/>
                <a:latin typeface="SFMono-Regular"/>
                <a:ea typeface="+mn-ea"/>
                <a:cs typeface="+mn-cs"/>
              </a:rPr>
              <a:t>, template: </a:t>
            </a:r>
            <a:r>
              <a:rPr kumimoji="0" lang="en-US" altLang="en-US" sz="1200" b="0" i="0" u="none" strike="noStrike" kern="1200" cap="none" spc="0" normalizeH="0" baseline="0" noProof="0" dirty="0">
                <a:ln>
                  <a:noFill/>
                </a:ln>
                <a:solidFill>
                  <a:srgbClr val="A31515"/>
                </a:solidFill>
                <a:effectLst/>
                <a:uLnTx/>
                <a:uFillTx/>
                <a:latin typeface="SFMono-Regular"/>
                <a:ea typeface="+mn-ea"/>
                <a:cs typeface="+mn-cs"/>
              </a:rPr>
              <a:t>"{controller=Home}/{action=Index}/{Make?}/{Model?}"</a:t>
            </a:r>
            <a:r>
              <a:rPr kumimoji="0" lang="en-US" altLang="en-US" sz="1200" b="0" i="0" u="none" strike="noStrike" kern="1200" cap="none" spc="0" normalizeH="0" baseline="0" noProof="0" dirty="0">
                <a:ln>
                  <a:noFill/>
                </a:ln>
                <a:solidFill>
                  <a:srgbClr val="161616"/>
                </a:solidFill>
                <a:effectLst/>
                <a:uLnTx/>
                <a:uFillTx/>
                <a:latin typeface="SFMono-Regular"/>
                <a:ea typeface="+mn-ea"/>
                <a:cs typeface="+mn-cs"/>
              </a:rPr>
              <a:t>); </a:t>
            </a:r>
            <a:endParaRPr kumimoji="0" lang="en-US" alt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err="1">
                <a:ln>
                  <a:noFill/>
                </a:ln>
                <a:solidFill>
                  <a:srgbClr val="161616"/>
                </a:solidFill>
                <a:effectLst/>
                <a:uLnTx/>
                <a:uFillTx/>
                <a:latin typeface="SFMono-Regular"/>
                <a:ea typeface="+mn-ea"/>
                <a:cs typeface="Segoe UI" panose="020B0502040204020203" pitchFamily="34" charset="0"/>
              </a:rPr>
              <a:t>Index.cshtml</a:t>
            </a:r>
            <a:r>
              <a:rPr kumimoji="0" lang="en-US" altLang="en-US" sz="1200" b="0" i="0" u="none" strike="noStrike" kern="1200" cap="none" spc="0" normalizeH="0" baseline="0" noProof="0" dirty="0">
                <a:ln>
                  <a:noFill/>
                </a:ln>
                <a:solidFill>
                  <a:srgbClr val="161616"/>
                </a:solidFill>
                <a:effectLst/>
                <a:uLnTx/>
                <a:uFillTx/>
                <a:latin typeface="Segoe UI" panose="020B0502040204020203" pitchFamily="34" charset="0"/>
                <a:ea typeface="+mn-ea"/>
                <a:cs typeface="Segoe UI" panose="020B0502040204020203" pitchFamily="34" charset="0"/>
              </a:rPr>
              <a:t>:</a:t>
            </a:r>
            <a:endParaRPr kumimoji="0" lang="en-US" alt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161616"/>
                </a:solidFill>
                <a:effectLst/>
                <a:uLnTx/>
                <a:uFillTx/>
                <a:latin typeface="Segoe UI" panose="020B0502040204020203" pitchFamily="34" charset="0"/>
                <a:ea typeface="+mn-ea"/>
                <a:cs typeface="Segoe UI" panose="020B0502040204020203" pitchFamily="34" charset="0"/>
              </a:rPr>
              <a:t>CSHTML</a:t>
            </a:r>
            <a:endParaRPr kumimoji="0" lang="en-US" altLang="en-US" sz="1200" b="0" i="0" u="none" strike="noStrike" kern="1200" cap="none" spc="0" normalizeH="0" baseline="0" noProof="0" dirty="0">
              <a:ln>
                <a:noFill/>
              </a:ln>
              <a:solidFill>
                <a:srgbClr val="0101FD"/>
              </a:solidFill>
              <a:effectLst/>
              <a:uLnTx/>
              <a:uFillTx/>
              <a:latin typeface="SFMono-Regular"/>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101FD"/>
                </a:solidFill>
                <a:effectLst/>
                <a:uLnTx/>
                <a:uFillTx/>
                <a:latin typeface="SFMono-Regular"/>
                <a:ea typeface="+mn-ea"/>
                <a:cs typeface="+mn-cs"/>
              </a:rPr>
              <a:t>&lt;cache </a:t>
            </a:r>
            <a:r>
              <a:rPr kumimoji="0" lang="en-US" altLang="en-US" sz="1200" b="0" i="0" u="none" strike="noStrike" kern="1200" cap="none" spc="0" normalizeH="0" baseline="0" noProof="0" dirty="0">
                <a:ln>
                  <a:noFill/>
                </a:ln>
                <a:solidFill>
                  <a:srgbClr val="0451A5"/>
                </a:solidFill>
                <a:effectLst/>
                <a:uLnTx/>
                <a:uFillTx/>
                <a:latin typeface="SFMono-Regular"/>
                <a:ea typeface="+mn-ea"/>
                <a:cs typeface="+mn-cs"/>
              </a:rPr>
              <a:t>vary-by-route</a:t>
            </a:r>
            <a:r>
              <a:rPr kumimoji="0" lang="en-US" altLang="en-US" sz="1200" b="0" i="0" u="none" strike="noStrike" kern="1200" cap="none" spc="0" normalizeH="0" baseline="0" noProof="0" dirty="0">
                <a:ln>
                  <a:noFill/>
                </a:ln>
                <a:solidFill>
                  <a:srgbClr val="0101FD"/>
                </a:solidFill>
                <a:effectLst/>
                <a:uLnTx/>
                <a:uFillTx/>
                <a:latin typeface="SFMono-Regular"/>
                <a:ea typeface="+mn-ea"/>
                <a:cs typeface="+mn-cs"/>
              </a:rPr>
              <a:t>=</a:t>
            </a:r>
            <a:r>
              <a:rPr kumimoji="0" lang="en-US" altLang="en-US" sz="1200" b="0" i="0" u="none" strike="noStrike" kern="1200" cap="none" spc="0" normalizeH="0" baseline="0" noProof="0" dirty="0">
                <a:ln>
                  <a:noFill/>
                </a:ln>
                <a:solidFill>
                  <a:srgbClr val="A31515"/>
                </a:solidFill>
                <a:effectLst/>
                <a:uLnTx/>
                <a:uFillTx/>
                <a:latin typeface="SFMono-Regular"/>
                <a:ea typeface="+mn-ea"/>
                <a:cs typeface="+mn-cs"/>
              </a:rPr>
              <a:t>"</a:t>
            </a:r>
            <a:r>
              <a:rPr kumimoji="0" lang="en-US" altLang="en-US" sz="1200" b="0" i="0" u="none" strike="noStrike" kern="1200" cap="none" spc="0" normalizeH="0" baseline="0" noProof="0" dirty="0" err="1">
                <a:ln>
                  <a:noFill/>
                </a:ln>
                <a:solidFill>
                  <a:srgbClr val="A31515"/>
                </a:solidFill>
                <a:effectLst/>
                <a:uLnTx/>
                <a:uFillTx/>
                <a:latin typeface="SFMono-Regular"/>
                <a:ea typeface="+mn-ea"/>
                <a:cs typeface="+mn-cs"/>
              </a:rPr>
              <a:t>Make,Model</a:t>
            </a:r>
            <a:r>
              <a:rPr kumimoji="0" lang="en-US" altLang="en-US" sz="1200" b="0" i="0" u="none" strike="noStrike" kern="1200" cap="none" spc="0" normalizeH="0" baseline="0" noProof="0" dirty="0">
                <a:ln>
                  <a:noFill/>
                </a:ln>
                <a:solidFill>
                  <a:srgbClr val="A31515"/>
                </a:solidFill>
                <a:effectLst/>
                <a:uLnTx/>
                <a:uFillTx/>
                <a:latin typeface="SFMono-Regular"/>
                <a:ea typeface="+mn-ea"/>
                <a:cs typeface="+mn-cs"/>
              </a:rPr>
              <a:t>"</a:t>
            </a:r>
            <a:r>
              <a:rPr kumimoji="0" lang="en-US" altLang="en-US" sz="1200" b="0" i="0" u="none" strike="noStrike" kern="1200" cap="none" spc="0" normalizeH="0" baseline="0" noProof="0" dirty="0">
                <a:ln>
                  <a:noFill/>
                </a:ln>
                <a:solidFill>
                  <a:srgbClr val="0101FD"/>
                </a:solidFill>
                <a:effectLst/>
                <a:uLnTx/>
                <a:uFillTx/>
                <a:latin typeface="SFMono-Regular"/>
                <a:ea typeface="+mn-ea"/>
                <a:cs typeface="+mn-cs"/>
              </a:rPr>
              <a:t>&gt;</a:t>
            </a:r>
            <a:r>
              <a:rPr kumimoji="0" lang="en-US" altLang="en-US" sz="1200" b="0" i="0" u="none" strike="noStrike" kern="1200" cap="none" spc="0" normalizeH="0" baseline="0" noProof="0" dirty="0">
                <a:ln>
                  <a:noFill/>
                </a:ln>
                <a:solidFill>
                  <a:srgbClr val="161616"/>
                </a:solidFill>
                <a:effectLst/>
                <a:uLnTx/>
                <a:uFillTx/>
                <a:latin typeface="SFMono-Regular"/>
                <a:ea typeface="+mn-ea"/>
                <a:cs typeface="+mn-cs"/>
              </a:rPr>
              <a:t> Current Time Inside Cache Tag Helper: </a:t>
            </a:r>
            <a:r>
              <a:rPr kumimoji="0" lang="en-US" altLang="en-US" sz="1200" b="0" i="0" u="none" strike="noStrike" kern="1200" cap="none" spc="0" normalizeH="0" baseline="0" noProof="0" dirty="0">
                <a:ln>
                  <a:noFill/>
                </a:ln>
                <a:solidFill>
                  <a:srgbClr val="0101FD"/>
                </a:solidFill>
                <a:effectLst/>
                <a:uLnTx/>
                <a:uFillTx/>
                <a:latin typeface="SFMono-Regular"/>
                <a:ea typeface="+mn-ea"/>
                <a:cs typeface="+mn-cs"/>
              </a:rPr>
              <a:t>@</a:t>
            </a:r>
            <a:r>
              <a:rPr kumimoji="0" lang="en-US" altLang="en-US" sz="1200" b="0" i="0" u="none" strike="noStrike" kern="1200" cap="none" spc="0" normalizeH="0" baseline="0" noProof="0" dirty="0">
                <a:ln>
                  <a:noFill/>
                </a:ln>
                <a:solidFill>
                  <a:srgbClr val="161616"/>
                </a:solidFill>
                <a:effectLst/>
                <a:uLnTx/>
                <a:uFillTx/>
                <a:latin typeface="SFMono-Regular"/>
                <a:ea typeface="+mn-ea"/>
                <a:cs typeface="+mn-cs"/>
              </a:rPr>
              <a:t>DateTime.Now </a:t>
            </a:r>
            <a:r>
              <a:rPr kumimoji="0" lang="en-US" altLang="en-US" sz="1200" b="0" i="0" u="none" strike="noStrike" kern="1200" cap="none" spc="0" normalizeH="0" baseline="0" noProof="0" dirty="0">
                <a:ln>
                  <a:noFill/>
                </a:ln>
                <a:solidFill>
                  <a:srgbClr val="0101FD"/>
                </a:solidFill>
                <a:effectLst/>
                <a:uLnTx/>
                <a:uFillTx/>
                <a:latin typeface="SFMono-Regular"/>
                <a:ea typeface="+mn-ea"/>
                <a:cs typeface="+mn-cs"/>
              </a:rPr>
              <a:t>&lt;/cache&gt;</a:t>
            </a:r>
            <a:r>
              <a:rPr kumimoji="0" lang="en-US" altLang="en-US" sz="12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Tree>
    <p:extLst>
      <p:ext uri="{BB962C8B-B14F-4D97-AF65-F5344CB8AC3E}">
        <p14:creationId xmlns:p14="http://schemas.microsoft.com/office/powerpoint/2010/main" val="1508051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5156</TotalTime>
  <Words>3346</Words>
  <Application>Microsoft Office PowerPoint</Application>
  <PresentationFormat>Widescreen</PresentationFormat>
  <Paragraphs>345</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Calibri</vt:lpstr>
      <vt:lpstr>Calibri Light</vt:lpstr>
      <vt:lpstr>Cascadia Mono</vt:lpstr>
      <vt:lpstr>Consolas</vt:lpstr>
      <vt:lpstr>Open Sans</vt:lpstr>
      <vt:lpstr>Roboto</vt:lpstr>
      <vt:lpstr>Segoe UI</vt:lpstr>
      <vt:lpstr>SFMono-Regular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47</cp:revision>
  <dcterms:created xsi:type="dcterms:W3CDTF">2022-04-07T08:30:00Z</dcterms:created>
  <dcterms:modified xsi:type="dcterms:W3CDTF">2024-09-19T04:36:17Z</dcterms:modified>
</cp:coreProperties>
</file>