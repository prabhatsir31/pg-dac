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2"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B2506-126B-41D4-AAB1-59AE09E435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F744A3-D71D-4F8B-BE73-DA9B127DF6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B3A9ECA-7B0A-4C76-BF03-8BDEC102E3A0}"/>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5" name="Footer Placeholder 4">
            <a:extLst>
              <a:ext uri="{FF2B5EF4-FFF2-40B4-BE49-F238E27FC236}">
                <a16:creationId xmlns:a16="http://schemas.microsoft.com/office/drawing/2014/main" id="{B724A1F8-3490-4703-8008-724F6EE21E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281FB4-8622-4B77-AE84-8FA85AA6DFFB}"/>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3073520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6A102-50B8-494D-91D7-247F4DA83F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A49E02-46B9-4B3B-A2C5-28C252A277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74CD04-B89A-4433-9BBC-B1190CB16A8E}"/>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5" name="Footer Placeholder 4">
            <a:extLst>
              <a:ext uri="{FF2B5EF4-FFF2-40B4-BE49-F238E27FC236}">
                <a16:creationId xmlns:a16="http://schemas.microsoft.com/office/drawing/2014/main" id="{44FC446E-A9A8-4CB7-A042-58CCB18BF4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A46F6B-55C6-4E68-B6E8-0970569D1A38}"/>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2197442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CEC00-07E9-4B27-9380-C02DAA49BC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396BD0-A410-4F26-90CC-80C320BFFA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B3FCFA-3754-4E50-A44B-EB608D052B0E}"/>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5" name="Footer Placeholder 4">
            <a:extLst>
              <a:ext uri="{FF2B5EF4-FFF2-40B4-BE49-F238E27FC236}">
                <a16:creationId xmlns:a16="http://schemas.microsoft.com/office/drawing/2014/main" id="{FDF27FF7-7B1F-498C-9EF3-A4E12DA73E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CB8068-8CC6-4E06-B765-DB06BDFA6379}"/>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3484925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5FE06-50C5-4836-A970-64D792CE45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756952-5DFB-4216-A4E2-AD42A755F1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ACE866-46E8-4BC6-95B8-FCD8979607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B95050-0DBD-4693-BB75-7FA0DAD288DA}"/>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6" name="Footer Placeholder 5">
            <a:extLst>
              <a:ext uri="{FF2B5EF4-FFF2-40B4-BE49-F238E27FC236}">
                <a16:creationId xmlns:a16="http://schemas.microsoft.com/office/drawing/2014/main" id="{12363095-6508-44AE-93BA-0071300D9D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E8D419-00A3-4E82-9903-D74393728FF8}"/>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365230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4CED9-0C7D-4543-8849-0702D0D516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F3BA51-BD30-49D2-B07C-73147C3A4C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FA9EF3-38B1-4804-B15D-242585503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7DAFECF-9969-4E4A-A3E6-F737EDF6C7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C461A0-B809-4B21-9429-5FA4D14676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34778BF-5589-4E12-8036-DA8A247A8E82}"/>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8" name="Footer Placeholder 7">
            <a:extLst>
              <a:ext uri="{FF2B5EF4-FFF2-40B4-BE49-F238E27FC236}">
                <a16:creationId xmlns:a16="http://schemas.microsoft.com/office/drawing/2014/main" id="{1641532A-7D82-4247-9889-86996F075D6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2A516D-1986-4FE2-A890-5DC785B61B2B}"/>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2719877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11C1F-CD9F-45D4-9E4B-2003FB728F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460078B-5496-40DB-9513-F637B345468E}"/>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4" name="Footer Placeholder 3">
            <a:extLst>
              <a:ext uri="{FF2B5EF4-FFF2-40B4-BE49-F238E27FC236}">
                <a16:creationId xmlns:a16="http://schemas.microsoft.com/office/drawing/2014/main" id="{E98C69AA-3787-40FC-AA1E-8C1A8A9940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A60936-0A24-47C6-BA71-D918A774751F}"/>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2355453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61C1E2-EAF4-47AA-AA09-5FF38D2BB054}"/>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3" name="Footer Placeholder 2">
            <a:extLst>
              <a:ext uri="{FF2B5EF4-FFF2-40B4-BE49-F238E27FC236}">
                <a16:creationId xmlns:a16="http://schemas.microsoft.com/office/drawing/2014/main" id="{CE69E092-41ED-4975-86B5-D40A3DABB6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2FFCDF-6412-4FE7-A4CD-8B2812B094CB}"/>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2631177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36B54-D43F-475E-96AC-682D1C8966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FA854D-9AC7-4FBC-BF63-E032663C56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1DD867-BDED-4EDA-AAD1-B54A607B03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0803B7-690A-4B61-95BB-52598BC3F9AD}"/>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6" name="Footer Placeholder 5">
            <a:extLst>
              <a:ext uri="{FF2B5EF4-FFF2-40B4-BE49-F238E27FC236}">
                <a16:creationId xmlns:a16="http://schemas.microsoft.com/office/drawing/2014/main" id="{126BFBCA-6BC8-4EB7-80CB-3C4D8E1743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23617B-4B41-48FE-81BF-D1A2FFDE0CAF}"/>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4126139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A555C-3B39-4F37-9DF3-0C0496074C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DEE04F-C490-4AA0-BC53-E680E13B1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DE9F5B-A328-4ADB-AE4F-EDA95DBF4E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91CF3B-1C4B-4E76-8DE9-C58F85E05A65}"/>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6" name="Footer Placeholder 5">
            <a:extLst>
              <a:ext uri="{FF2B5EF4-FFF2-40B4-BE49-F238E27FC236}">
                <a16:creationId xmlns:a16="http://schemas.microsoft.com/office/drawing/2014/main" id="{56431BA0-459B-41DF-BA77-13C494B085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47E0C5-1FE6-4968-B762-ACED51A6130C}"/>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112727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433A6-5AED-41C7-9B77-7D6DBB55BF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A06A35-4F5E-4064-AB54-D28511913A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687B55-9644-4A78-8E8C-D3EF181524D3}"/>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5" name="Footer Placeholder 4">
            <a:extLst>
              <a:ext uri="{FF2B5EF4-FFF2-40B4-BE49-F238E27FC236}">
                <a16:creationId xmlns:a16="http://schemas.microsoft.com/office/drawing/2014/main" id="{12A713E9-1B45-4389-B6E1-108A5AD4EF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4BBCE1-2046-4508-9601-B537B9E206AC}"/>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2912476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1C7E6D-DD96-4194-B4F6-F96F043460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80DF43-D5BE-4FAB-8D9A-E6E03B1F09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4D8069-0CC4-4BA1-9484-A5B5ED4ACA05}"/>
              </a:ext>
            </a:extLst>
          </p:cNvPr>
          <p:cNvSpPr>
            <a:spLocks noGrp="1"/>
          </p:cNvSpPr>
          <p:nvPr>
            <p:ph type="dt" sz="half" idx="10"/>
          </p:nvPr>
        </p:nvSpPr>
        <p:spPr/>
        <p:txBody>
          <a:bodyPr/>
          <a:lstStyle/>
          <a:p>
            <a:fld id="{75D4B3CB-F0DF-48E1-9336-A2276A59E202}" type="datetimeFigureOut">
              <a:rPr lang="en-IN" smtClean="0"/>
              <a:t>23-04-2025</a:t>
            </a:fld>
            <a:endParaRPr lang="en-IN"/>
          </a:p>
        </p:txBody>
      </p:sp>
      <p:sp>
        <p:nvSpPr>
          <p:cNvPr id="5" name="Footer Placeholder 4">
            <a:extLst>
              <a:ext uri="{FF2B5EF4-FFF2-40B4-BE49-F238E27FC236}">
                <a16:creationId xmlns:a16="http://schemas.microsoft.com/office/drawing/2014/main" id="{29FE29B1-9B65-4C38-A12D-1921D903DC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E41BD-1377-4883-86C4-244D1D300109}"/>
              </a:ext>
            </a:extLst>
          </p:cNvPr>
          <p:cNvSpPr>
            <a:spLocks noGrp="1"/>
          </p:cNvSpPr>
          <p:nvPr>
            <p:ph type="sldNum" sz="quarter" idx="12"/>
          </p:nvPr>
        </p:nvSpPr>
        <p:spPr/>
        <p:txBody>
          <a:bodyPr/>
          <a:lstStyle/>
          <a:p>
            <a:fld id="{D7542795-09A5-4AD7-A91D-EACEDAB500FB}" type="slidenum">
              <a:rPr lang="en-IN" smtClean="0"/>
              <a:t>‹#›</a:t>
            </a:fld>
            <a:endParaRPr lang="en-IN"/>
          </a:p>
        </p:txBody>
      </p:sp>
    </p:spTree>
    <p:extLst>
      <p:ext uri="{BB962C8B-B14F-4D97-AF65-F5344CB8AC3E}">
        <p14:creationId xmlns:p14="http://schemas.microsoft.com/office/powerpoint/2010/main" val="53408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8C6A0E-7F03-4618-8D08-AF4885058E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FE85DE-9618-4C3E-9F1A-B4F85FD298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9D4A1D-EFDC-45FD-AA2D-CFF0FF283A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D4B3CB-F0DF-48E1-9336-A2276A59E202}" type="datetimeFigureOut">
              <a:rPr lang="en-IN" smtClean="0"/>
              <a:t>23-04-2025</a:t>
            </a:fld>
            <a:endParaRPr lang="en-IN"/>
          </a:p>
        </p:txBody>
      </p:sp>
      <p:sp>
        <p:nvSpPr>
          <p:cNvPr id="5" name="Footer Placeholder 4">
            <a:extLst>
              <a:ext uri="{FF2B5EF4-FFF2-40B4-BE49-F238E27FC236}">
                <a16:creationId xmlns:a16="http://schemas.microsoft.com/office/drawing/2014/main" id="{035E7526-C642-4E1E-9560-353D4CA9FC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AF138B-6974-4D47-8148-020B8FDE3E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542795-09A5-4AD7-A91D-EACEDAB500FB}" type="slidenum">
              <a:rPr lang="en-IN" smtClean="0"/>
              <a:t>‹#›</a:t>
            </a:fld>
            <a:endParaRPr lang="en-IN"/>
          </a:p>
        </p:txBody>
      </p:sp>
    </p:spTree>
    <p:extLst>
      <p:ext uri="{BB962C8B-B14F-4D97-AF65-F5344CB8AC3E}">
        <p14:creationId xmlns:p14="http://schemas.microsoft.com/office/powerpoint/2010/main" val="1286241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localhost:445/images/ap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C1D65-D810-4B2B-93DA-8F51B13023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3F95E0-357F-4E7A-B5A3-8195249288F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85261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A39D43-677F-4DE4-BFA4-B3215049B884}"/>
              </a:ext>
            </a:extLst>
          </p:cNvPr>
          <p:cNvSpPr txBox="1"/>
          <p:nvPr/>
        </p:nvSpPr>
        <p:spPr>
          <a:xfrm>
            <a:off x="5889523" y="31647"/>
            <a:ext cx="5063612" cy="369332"/>
          </a:xfrm>
          <a:prstGeom prst="rect">
            <a:avLst/>
          </a:prstGeom>
          <a:noFill/>
        </p:spPr>
        <p:txBody>
          <a:bodyPr wrap="square">
            <a:spAutoFit/>
          </a:bodyPr>
          <a:lstStyle/>
          <a:p>
            <a:r>
              <a:rPr lang="en-IN" b="0" i="0" dirty="0">
                <a:solidFill>
                  <a:srgbClr val="333333"/>
                </a:solidFill>
                <a:effectLst/>
                <a:latin typeface="arial" panose="020B0604020202020204" pitchFamily="34" charset="0"/>
              </a:rPr>
              <a:t> </a:t>
            </a:r>
            <a:r>
              <a:rPr lang="en-IN" b="1" i="0" dirty="0">
                <a:solidFill>
                  <a:srgbClr val="333333"/>
                </a:solidFill>
                <a:effectLst/>
                <a:latin typeface="arial" panose="020B0604020202020204" pitchFamily="34" charset="0"/>
              </a:rPr>
              <a:t>model validation in ASP.NET Core</a:t>
            </a:r>
            <a:endParaRPr lang="en-IN" dirty="0"/>
          </a:p>
        </p:txBody>
      </p:sp>
      <p:sp>
        <p:nvSpPr>
          <p:cNvPr id="7" name="TextBox 6">
            <a:extLst>
              <a:ext uri="{FF2B5EF4-FFF2-40B4-BE49-F238E27FC236}">
                <a16:creationId xmlns:a16="http://schemas.microsoft.com/office/drawing/2014/main" id="{6B5F0B2F-5732-4B5E-8258-223610E9CD4F}"/>
              </a:ext>
            </a:extLst>
          </p:cNvPr>
          <p:cNvSpPr txBox="1"/>
          <p:nvPr/>
        </p:nvSpPr>
        <p:spPr>
          <a:xfrm>
            <a:off x="186813" y="0"/>
            <a:ext cx="6096000"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Consider the following </a:t>
            </a:r>
            <a:r>
              <a:rPr lang="en-US" b="0" i="1" dirty="0">
                <a:solidFill>
                  <a:srgbClr val="0000FF"/>
                </a:solidFill>
                <a:effectLst/>
                <a:latin typeface="arial" panose="020B0604020202020204" pitchFamily="34" charset="0"/>
              </a:rPr>
              <a:t>Create Employee Form</a:t>
            </a:r>
            <a:br>
              <a:rPr lang="en-US" dirty="0"/>
            </a:br>
            <a:endParaRPr lang="en-IN" dirty="0"/>
          </a:p>
        </p:txBody>
      </p:sp>
      <p:pic>
        <p:nvPicPr>
          <p:cNvPr id="1026" name="Picture 2" descr="asp.net core model validation">
            <a:extLst>
              <a:ext uri="{FF2B5EF4-FFF2-40B4-BE49-F238E27FC236}">
                <a16:creationId xmlns:a16="http://schemas.microsoft.com/office/drawing/2014/main" id="{9C9CBAE8-FDE0-4920-879E-2AF9B4104D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813" y="323165"/>
            <a:ext cx="4962525" cy="26955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8CD45E5-D2C4-4DD3-9022-B401D8E5E302}"/>
              </a:ext>
            </a:extLst>
          </p:cNvPr>
          <p:cNvSpPr txBox="1"/>
          <p:nvPr/>
        </p:nvSpPr>
        <p:spPr>
          <a:xfrm>
            <a:off x="5810865" y="336351"/>
            <a:ext cx="6096000" cy="1200329"/>
          </a:xfrm>
          <a:prstGeom prst="rect">
            <a:avLst/>
          </a:prstGeom>
          <a:noFill/>
        </p:spPr>
        <p:txBody>
          <a:bodyPr wrap="square">
            <a:spAutoFit/>
          </a:bodyPr>
          <a:lstStyle/>
          <a:p>
            <a:r>
              <a:rPr lang="en-US" b="0" i="0" dirty="0">
                <a:solidFill>
                  <a:srgbClr val="333333"/>
                </a:solidFill>
                <a:effectLst/>
                <a:latin typeface="arial" panose="020B0604020202020204" pitchFamily="34" charset="0"/>
              </a:rPr>
              <a:t>We want to make both </a:t>
            </a:r>
            <a:r>
              <a:rPr lang="en-US" b="0" i="1" dirty="0">
                <a:solidFill>
                  <a:srgbClr val="0000FF"/>
                </a:solidFill>
                <a:effectLst/>
                <a:latin typeface="arial" panose="020B0604020202020204" pitchFamily="34" charset="0"/>
              </a:rPr>
              <a:t>Name </a:t>
            </a:r>
            <a:r>
              <a:rPr lang="en-US" b="0" i="0" dirty="0">
                <a:solidFill>
                  <a:srgbClr val="333333"/>
                </a:solidFill>
                <a:effectLst/>
                <a:latin typeface="arial" panose="020B0604020202020204" pitchFamily="34" charset="0"/>
              </a:rPr>
              <a:t>and </a:t>
            </a:r>
            <a:r>
              <a:rPr lang="en-US" b="0" i="1" dirty="0">
                <a:solidFill>
                  <a:srgbClr val="0000FF"/>
                </a:solidFill>
                <a:effectLst/>
                <a:latin typeface="arial" panose="020B0604020202020204" pitchFamily="34" charset="0"/>
              </a:rPr>
              <a:t>Office Email </a:t>
            </a:r>
            <a:r>
              <a:rPr lang="en-US" b="0" i="0" dirty="0">
                <a:solidFill>
                  <a:srgbClr val="333333"/>
                </a:solidFill>
                <a:effectLst/>
                <a:latin typeface="arial" panose="020B0604020202020204" pitchFamily="34" charset="0"/>
              </a:rPr>
              <a:t>fields required. If the required values are not provided and the form is submitted we want to display required validation errors as shown below.</a:t>
            </a:r>
            <a:endParaRPr lang="en-IN" dirty="0"/>
          </a:p>
        </p:txBody>
      </p:sp>
      <p:pic>
        <p:nvPicPr>
          <p:cNvPr id="1028" name="Picture 4" descr="asp.net core mvc form validation">
            <a:extLst>
              <a:ext uri="{FF2B5EF4-FFF2-40B4-BE49-F238E27FC236}">
                <a16:creationId xmlns:a16="http://schemas.microsoft.com/office/drawing/2014/main" id="{C63ED715-3253-4E5E-BC2D-4D47AC58B6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7278" y="1536680"/>
            <a:ext cx="4943475" cy="37338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BA892DC-5E0B-49A9-ABCE-B58F3B517FCD}"/>
              </a:ext>
            </a:extLst>
          </p:cNvPr>
          <p:cNvSpPr txBox="1"/>
          <p:nvPr/>
        </p:nvSpPr>
        <p:spPr>
          <a:xfrm>
            <a:off x="0" y="2936009"/>
            <a:ext cx="6096000"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If invalid </a:t>
            </a:r>
            <a:r>
              <a:rPr lang="en-US" b="0" i="1" dirty="0">
                <a:solidFill>
                  <a:srgbClr val="0000FF"/>
                </a:solidFill>
                <a:effectLst/>
                <a:latin typeface="arial" panose="020B0604020202020204" pitchFamily="34" charset="0"/>
              </a:rPr>
              <a:t>email</a:t>
            </a:r>
            <a:r>
              <a:rPr lang="en-US" b="0" i="0" dirty="0">
                <a:solidFill>
                  <a:srgbClr val="333333"/>
                </a:solidFill>
                <a:effectLst/>
                <a:latin typeface="arial" panose="020B0604020202020204" pitchFamily="34" charset="0"/>
              </a:rPr>
              <a:t> is provided we want to display </a:t>
            </a:r>
            <a:r>
              <a:rPr lang="en-US" b="0" i="1" dirty="0">
                <a:solidFill>
                  <a:srgbClr val="FF0000"/>
                </a:solidFill>
                <a:effectLst/>
                <a:latin typeface="arial" panose="020B0604020202020204" pitchFamily="34" charset="0"/>
              </a:rPr>
              <a:t>Invalid Email Format </a:t>
            </a:r>
            <a:r>
              <a:rPr lang="en-US" b="0" i="0" dirty="0">
                <a:solidFill>
                  <a:srgbClr val="333333"/>
                </a:solidFill>
                <a:effectLst/>
                <a:latin typeface="arial" panose="020B0604020202020204" pitchFamily="34" charset="0"/>
              </a:rPr>
              <a:t>validation error as shown below.</a:t>
            </a:r>
            <a:endParaRPr lang="en-IN" dirty="0"/>
          </a:p>
        </p:txBody>
      </p:sp>
      <p:pic>
        <p:nvPicPr>
          <p:cNvPr id="1030" name="Picture 6" descr="asp.net core email validation">
            <a:extLst>
              <a:ext uri="{FF2B5EF4-FFF2-40B4-BE49-F238E27FC236}">
                <a16:creationId xmlns:a16="http://schemas.microsoft.com/office/drawing/2014/main" id="{AAA88FA2-E9C1-4689-99DC-E0608999FF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841" y="3503744"/>
            <a:ext cx="4834243" cy="3533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708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4D02E7-317B-47ED-B643-34112C381E19}"/>
              </a:ext>
            </a:extLst>
          </p:cNvPr>
          <p:cNvSpPr txBox="1"/>
          <p:nvPr/>
        </p:nvSpPr>
        <p:spPr>
          <a:xfrm>
            <a:off x="226141" y="77413"/>
            <a:ext cx="11611897" cy="1200329"/>
          </a:xfrm>
          <a:prstGeom prst="rect">
            <a:avLst/>
          </a:prstGeom>
          <a:noFill/>
        </p:spPr>
        <p:txBody>
          <a:bodyPr wrap="square">
            <a:spAutoFit/>
          </a:bodyPr>
          <a:lstStyle/>
          <a:p>
            <a:r>
              <a:rPr lang="en-US" b="0" i="0" dirty="0">
                <a:solidFill>
                  <a:srgbClr val="333333"/>
                </a:solidFill>
                <a:effectLst/>
                <a:latin typeface="arial" panose="020B0604020202020204" pitchFamily="34" charset="0"/>
              </a:rPr>
              <a:t>To make </a:t>
            </a:r>
            <a:r>
              <a:rPr lang="en-US" b="0" i="1" dirty="0">
                <a:solidFill>
                  <a:srgbClr val="0000FF"/>
                </a:solidFill>
                <a:effectLst/>
                <a:latin typeface="arial" panose="020B0604020202020204" pitchFamily="34" charset="0"/>
              </a:rPr>
              <a:t>Name </a:t>
            </a:r>
            <a:r>
              <a:rPr lang="en-US" b="0" i="0" dirty="0">
                <a:solidFill>
                  <a:srgbClr val="333333"/>
                </a:solidFill>
                <a:effectLst/>
                <a:latin typeface="arial" panose="020B0604020202020204" pitchFamily="34" charset="0"/>
              </a:rPr>
              <a:t>field a required field, apply </a:t>
            </a:r>
            <a:r>
              <a:rPr lang="en-US" b="0" i="1" dirty="0">
                <a:solidFill>
                  <a:srgbClr val="0000FF"/>
                </a:solidFill>
                <a:effectLst/>
                <a:latin typeface="arial" panose="020B0604020202020204" pitchFamily="34" charset="0"/>
              </a:rPr>
              <a:t>Required </a:t>
            </a:r>
            <a:r>
              <a:rPr lang="en-US" b="0" i="0" dirty="0">
                <a:solidFill>
                  <a:srgbClr val="333333"/>
                </a:solidFill>
                <a:effectLst/>
                <a:latin typeface="arial" panose="020B0604020202020204" pitchFamily="34" charset="0"/>
              </a:rPr>
              <a:t>attribute on the </a:t>
            </a:r>
            <a:r>
              <a:rPr lang="en-US" b="0" i="1" dirty="0">
                <a:solidFill>
                  <a:srgbClr val="0000FF"/>
                </a:solidFill>
                <a:effectLst/>
                <a:latin typeface="arial" panose="020B0604020202020204" pitchFamily="34" charset="0"/>
              </a:rPr>
              <a:t>Name</a:t>
            </a:r>
            <a:r>
              <a:rPr lang="en-US" b="0" i="0" dirty="0">
                <a:solidFill>
                  <a:srgbClr val="333333"/>
                </a:solidFill>
                <a:effectLst/>
                <a:latin typeface="arial" panose="020B0604020202020204" pitchFamily="34" charset="0"/>
              </a:rPr>
              <a:t> property of the </a:t>
            </a:r>
            <a:r>
              <a:rPr lang="en-US" b="0" i="0" dirty="0">
                <a:solidFill>
                  <a:srgbClr val="3D85C6"/>
                </a:solidFill>
                <a:effectLst/>
                <a:latin typeface="arial" panose="020B0604020202020204" pitchFamily="34" charset="0"/>
              </a:rPr>
              <a:t>Employee </a:t>
            </a:r>
            <a:r>
              <a:rPr lang="en-US" b="0" i="0" dirty="0">
                <a:solidFill>
                  <a:srgbClr val="333333"/>
                </a:solidFill>
                <a:effectLst/>
                <a:latin typeface="arial" panose="020B0604020202020204" pitchFamily="34" charset="0"/>
              </a:rPr>
              <a:t>model class. </a:t>
            </a:r>
            <a:r>
              <a:rPr lang="en-US" b="0" i="1" dirty="0">
                <a:solidFill>
                  <a:srgbClr val="0000FF"/>
                </a:solidFill>
                <a:effectLst/>
                <a:latin typeface="arial" panose="020B0604020202020204" pitchFamily="34" charset="0"/>
              </a:rPr>
              <a:t>Required </a:t>
            </a:r>
            <a:r>
              <a:rPr lang="en-US" b="0" i="0" dirty="0">
                <a:solidFill>
                  <a:srgbClr val="333333"/>
                </a:solidFill>
                <a:effectLst/>
                <a:latin typeface="arial" panose="020B0604020202020204" pitchFamily="34" charset="0"/>
              </a:rPr>
              <a:t>attribute is in namespace.</a:t>
            </a:r>
          </a:p>
          <a:p>
            <a:r>
              <a:rPr lang="en-IN" sz="1800" dirty="0" err="1">
                <a:solidFill>
                  <a:srgbClr val="000000"/>
                </a:solidFill>
                <a:highlight>
                  <a:srgbClr val="FFFF00"/>
                </a:highlight>
                <a:latin typeface="Cascadia Mono" panose="020B0609020000020004" pitchFamily="49" charset="0"/>
              </a:rPr>
              <a:t>System.ComponentModel.DataAnnotations</a:t>
            </a:r>
            <a:r>
              <a:rPr lang="en-IN" sz="1800" dirty="0">
                <a:solidFill>
                  <a:srgbClr val="000000"/>
                </a:solidFill>
                <a:latin typeface="Cascadia Mono" panose="020B0609020000020004" pitchFamily="49" charset="0"/>
              </a:rPr>
              <a:t>;</a:t>
            </a:r>
          </a:p>
          <a:p>
            <a:endParaRPr lang="en-IN" dirty="0"/>
          </a:p>
        </p:txBody>
      </p:sp>
      <p:sp>
        <p:nvSpPr>
          <p:cNvPr id="6" name="Rectangle 1">
            <a:extLst>
              <a:ext uri="{FF2B5EF4-FFF2-40B4-BE49-F238E27FC236}">
                <a16:creationId xmlns:a16="http://schemas.microsoft.com/office/drawing/2014/main" id="{08C1D995-1384-448C-A9BD-8CB51CF83620}"/>
              </a:ext>
            </a:extLst>
          </p:cNvPr>
          <p:cNvSpPr>
            <a:spLocks noChangeArrowheads="1"/>
          </p:cNvSpPr>
          <p:nvPr/>
        </p:nvSpPr>
        <p:spPr bwMode="auto">
          <a:xfrm>
            <a:off x="263746" y="1765443"/>
            <a:ext cx="1053034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2B91AF"/>
                </a:solidFill>
                <a:effectLst/>
                <a:latin typeface="Arial" panose="020B0604020202020204" pitchFamily="34" charset="0"/>
                <a:cs typeface="Arial" panose="020B0604020202020204" pitchFamily="34" charset="0"/>
              </a:rPr>
              <a:t>Employee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 {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[Required, </a:t>
            </a:r>
            <a:r>
              <a:rPr kumimoji="0" lang="en-US" altLang="en-US"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MaxLength</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(50, </a:t>
            </a:r>
            <a:r>
              <a:rPr kumimoji="0" lang="en-US" altLang="en-US"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ErrorMessage</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b="0" i="0" u="none" strike="noStrike" cap="none" normalizeH="0" baseline="0" dirty="0">
                <a:ln>
                  <a:noFill/>
                </a:ln>
                <a:solidFill>
                  <a:srgbClr val="A31515"/>
                </a:solidFill>
                <a:effectLst/>
                <a:latin typeface="Arial" panose="020B0604020202020204" pitchFamily="34" charset="0"/>
                <a:cs typeface="Arial" panose="020B0604020202020204" pitchFamily="34" charset="0"/>
              </a:rPr>
              <a:t>"Name cannot exceed 50 characters"</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Name {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cs typeface="Arial" panose="020B0604020202020204" pitchFamily="34" charset="0"/>
              </a:rPr>
              <a:t>    </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[Display(Name = </a:t>
            </a:r>
            <a:r>
              <a:rPr kumimoji="0" lang="en-US" altLang="en-US" b="0" i="0" u="none" strike="noStrike" cap="none" normalizeH="0" baseline="0" dirty="0">
                <a:ln>
                  <a:noFill/>
                </a:ln>
                <a:solidFill>
                  <a:srgbClr val="A31515"/>
                </a:solidFill>
                <a:effectLst/>
                <a:latin typeface="Arial" panose="020B0604020202020204" pitchFamily="34" charset="0"/>
                <a:cs typeface="Arial" panose="020B0604020202020204" pitchFamily="34" charset="0"/>
              </a:rPr>
              <a:t>"Office Email"</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RegularExpression</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b="0" i="0" u="none" strike="noStrike" cap="none" normalizeH="0" baseline="0" dirty="0">
                <a:ln>
                  <a:noFill/>
                </a:ln>
                <a:solidFill>
                  <a:srgbClr val="800000"/>
                </a:solidFill>
                <a:effectLst/>
                <a:latin typeface="Arial" panose="020B0604020202020204" pitchFamily="34" charset="0"/>
                <a:cs typeface="Arial" panose="020B0604020202020204" pitchFamily="34" charset="0"/>
              </a:rPr>
              <a:t>@"^[a-zA-Z0-9_.+-]+@[a-zA-Z0-9-]+\.[a-zA-Z0-9-.]+$"</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ErrorMessage</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b="0" i="0" u="none" strike="noStrike" cap="none" normalizeH="0" baseline="0" dirty="0">
                <a:ln>
                  <a:noFill/>
                </a:ln>
                <a:solidFill>
                  <a:srgbClr val="A31515"/>
                </a:solidFill>
                <a:effectLst/>
                <a:latin typeface="Arial" panose="020B0604020202020204" pitchFamily="34" charset="0"/>
                <a:cs typeface="Arial" panose="020B0604020202020204" pitchFamily="34" charset="0"/>
              </a:rPr>
              <a:t>"Invalid email format"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[Required]</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Email {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Dept Department {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965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FB4819-C027-4310-9EE4-598AE6750E68}"/>
              </a:ext>
            </a:extLst>
          </p:cNvPr>
          <p:cNvSpPr txBox="1"/>
          <p:nvPr/>
        </p:nvSpPr>
        <p:spPr>
          <a:xfrm>
            <a:off x="78658" y="139799"/>
            <a:ext cx="6096000" cy="369332"/>
          </a:xfrm>
          <a:prstGeom prst="rect">
            <a:avLst/>
          </a:prstGeom>
          <a:noFill/>
        </p:spPr>
        <p:txBody>
          <a:bodyPr wrap="square">
            <a:spAutoFit/>
          </a:bodyPr>
          <a:lstStyle/>
          <a:p>
            <a:r>
              <a:rPr lang="en-IN" b="1" i="0" dirty="0" err="1">
                <a:solidFill>
                  <a:srgbClr val="333333"/>
                </a:solidFill>
                <a:effectLst/>
                <a:latin typeface="arial" panose="020B0604020202020204" pitchFamily="34" charset="0"/>
              </a:rPr>
              <a:t>ModelState.IsValid</a:t>
            </a:r>
            <a:r>
              <a:rPr lang="en-IN" b="1" i="0" dirty="0">
                <a:solidFill>
                  <a:srgbClr val="333333"/>
                </a:solidFill>
                <a:effectLst/>
                <a:latin typeface="arial" panose="020B0604020202020204" pitchFamily="34" charset="0"/>
              </a:rPr>
              <a:t> Property</a:t>
            </a:r>
            <a:endParaRPr lang="en-IN" dirty="0"/>
          </a:p>
        </p:txBody>
      </p:sp>
      <p:sp>
        <p:nvSpPr>
          <p:cNvPr id="7" name="TextBox 6">
            <a:extLst>
              <a:ext uri="{FF2B5EF4-FFF2-40B4-BE49-F238E27FC236}">
                <a16:creationId xmlns:a16="http://schemas.microsoft.com/office/drawing/2014/main" id="{8DC291D6-6425-42FE-8089-2DE9F376E1AB}"/>
              </a:ext>
            </a:extLst>
          </p:cNvPr>
          <p:cNvSpPr txBox="1"/>
          <p:nvPr/>
        </p:nvSpPr>
        <p:spPr>
          <a:xfrm>
            <a:off x="78658" y="739225"/>
            <a:ext cx="6017342" cy="3539430"/>
          </a:xfrm>
          <a:prstGeom prst="rect">
            <a:avLst/>
          </a:prstGeom>
          <a:noFill/>
        </p:spPr>
        <p:txBody>
          <a:bodyPr wrap="square">
            <a:spAutoFit/>
          </a:bodyPr>
          <a:lstStyle/>
          <a:p>
            <a:pPr algn="l">
              <a:buFont typeface="Arial" panose="020B0604020202020204" pitchFamily="34" charset="0"/>
              <a:buChar char="•"/>
            </a:pPr>
            <a:r>
              <a:rPr lang="en-US" sz="1400" b="0" i="0" dirty="0">
                <a:solidFill>
                  <a:srgbClr val="333333"/>
                </a:solidFill>
                <a:effectLst/>
                <a:latin typeface="arial" panose="020B0604020202020204" pitchFamily="34" charset="0"/>
              </a:rPr>
              <a:t>When the form is submitted, the following </a:t>
            </a:r>
            <a:r>
              <a:rPr lang="en-US" sz="1400" b="0" i="1" dirty="0">
                <a:solidFill>
                  <a:srgbClr val="0000FF"/>
                </a:solidFill>
                <a:effectLst/>
                <a:latin typeface="arial" panose="020B0604020202020204" pitchFamily="34" charset="0"/>
              </a:rPr>
              <a:t>Create()</a:t>
            </a:r>
            <a:r>
              <a:rPr lang="en-US" sz="1400" b="0" i="0" dirty="0">
                <a:solidFill>
                  <a:srgbClr val="333333"/>
                </a:solidFill>
                <a:effectLst/>
                <a:latin typeface="arial" panose="020B0604020202020204" pitchFamily="34" charset="0"/>
              </a:rPr>
              <a:t> action method is executed</a:t>
            </a:r>
          </a:p>
          <a:p>
            <a:pPr algn="l">
              <a:buFont typeface="Arial" panose="020B0604020202020204" pitchFamily="34" charset="0"/>
              <a:buChar char="•"/>
            </a:pPr>
            <a:endParaRPr lang="en-US" sz="1400" b="0" i="0" dirty="0">
              <a:solidFill>
                <a:srgbClr val="333333"/>
              </a:solidFill>
              <a:effectLst/>
              <a:latin typeface="Arial" panose="020B0604020202020204" pitchFamily="34" charset="0"/>
            </a:endParaRPr>
          </a:p>
          <a:p>
            <a:pPr algn="l">
              <a:buFont typeface="Arial" panose="020B0604020202020204" pitchFamily="34" charset="0"/>
              <a:buChar char="•"/>
            </a:pPr>
            <a:r>
              <a:rPr lang="en-US" sz="1400" b="0" i="0" dirty="0">
                <a:solidFill>
                  <a:srgbClr val="333333"/>
                </a:solidFill>
                <a:effectLst/>
                <a:latin typeface="arial" panose="020B0604020202020204" pitchFamily="34" charset="0"/>
              </a:rPr>
              <a:t>The model for </a:t>
            </a:r>
            <a:r>
              <a:rPr lang="en-US" sz="1400" b="0" i="1" dirty="0">
                <a:solidFill>
                  <a:srgbClr val="0000FF"/>
                </a:solidFill>
                <a:effectLst/>
                <a:latin typeface="arial" panose="020B0604020202020204" pitchFamily="34" charset="0"/>
              </a:rPr>
              <a:t>Create Employee Form</a:t>
            </a:r>
            <a:r>
              <a:rPr lang="en-US" sz="1400" b="0" i="0" dirty="0">
                <a:solidFill>
                  <a:srgbClr val="333333"/>
                </a:solidFill>
                <a:effectLst/>
                <a:latin typeface="arial" panose="020B0604020202020204" pitchFamily="34" charset="0"/>
              </a:rPr>
              <a:t> is </a:t>
            </a:r>
            <a:r>
              <a:rPr lang="en-US" sz="1400" b="0" i="0" dirty="0">
                <a:solidFill>
                  <a:srgbClr val="3D85C6"/>
                </a:solidFill>
                <a:effectLst/>
                <a:latin typeface="arial" panose="020B0604020202020204" pitchFamily="34" charset="0"/>
              </a:rPr>
              <a:t>Employee </a:t>
            </a:r>
            <a:r>
              <a:rPr lang="en-US" sz="1400" b="0" i="0" dirty="0">
                <a:solidFill>
                  <a:srgbClr val="333333"/>
                </a:solidFill>
                <a:effectLst/>
                <a:latin typeface="arial" panose="020B0604020202020204" pitchFamily="34" charset="0"/>
              </a:rPr>
              <a:t>class</a:t>
            </a:r>
          </a:p>
          <a:p>
            <a:pPr algn="l">
              <a:buFont typeface="Arial" panose="020B0604020202020204" pitchFamily="34" charset="0"/>
              <a:buChar char="•"/>
            </a:pPr>
            <a:endParaRPr lang="en-US" sz="1400" b="0" i="0" dirty="0">
              <a:solidFill>
                <a:srgbClr val="333333"/>
              </a:solidFill>
              <a:effectLst/>
              <a:latin typeface="Arial" panose="020B0604020202020204" pitchFamily="34" charset="0"/>
            </a:endParaRPr>
          </a:p>
          <a:p>
            <a:pPr algn="l">
              <a:buFont typeface="Arial" panose="020B0604020202020204" pitchFamily="34" charset="0"/>
              <a:buChar char="•"/>
            </a:pPr>
            <a:r>
              <a:rPr lang="en-US" sz="1400" b="0" i="0" dirty="0">
                <a:solidFill>
                  <a:srgbClr val="333333"/>
                </a:solidFill>
                <a:effectLst/>
                <a:latin typeface="arial" panose="020B0604020202020204" pitchFamily="34" charset="0"/>
              </a:rPr>
              <a:t>When the form is submitted, model binding maps the posted form values to the respective properties of the </a:t>
            </a:r>
            <a:r>
              <a:rPr lang="en-US" sz="1400" b="0" i="0" dirty="0">
                <a:solidFill>
                  <a:srgbClr val="3D85C6"/>
                </a:solidFill>
                <a:effectLst/>
                <a:latin typeface="arial" panose="020B0604020202020204" pitchFamily="34" charset="0"/>
              </a:rPr>
              <a:t>Employee </a:t>
            </a:r>
            <a:r>
              <a:rPr lang="en-US" sz="1400" b="0" i="0" dirty="0">
                <a:solidFill>
                  <a:srgbClr val="333333"/>
                </a:solidFill>
                <a:effectLst/>
                <a:latin typeface="arial" panose="020B0604020202020204" pitchFamily="34" charset="0"/>
              </a:rPr>
              <a:t>class</a:t>
            </a:r>
          </a:p>
          <a:p>
            <a:pPr algn="l">
              <a:buFont typeface="Arial" panose="020B0604020202020204" pitchFamily="34" charset="0"/>
              <a:buChar char="•"/>
            </a:pPr>
            <a:endParaRPr lang="en-US" sz="1400" b="0" i="0" dirty="0">
              <a:solidFill>
                <a:srgbClr val="333333"/>
              </a:solidFill>
              <a:effectLst/>
              <a:latin typeface="Arial" panose="020B0604020202020204" pitchFamily="34" charset="0"/>
            </a:endParaRPr>
          </a:p>
          <a:p>
            <a:pPr algn="l">
              <a:buFont typeface="Arial" panose="020B0604020202020204" pitchFamily="34" charset="0"/>
              <a:buChar char="•"/>
            </a:pPr>
            <a:r>
              <a:rPr lang="en-US" sz="1400" b="0" i="0" dirty="0">
                <a:solidFill>
                  <a:srgbClr val="333333"/>
                </a:solidFill>
                <a:effectLst/>
                <a:latin typeface="arial" panose="020B0604020202020204" pitchFamily="34" charset="0"/>
              </a:rPr>
              <a:t>With the </a:t>
            </a:r>
            <a:r>
              <a:rPr lang="en-US" sz="1400" b="0" i="1" dirty="0">
                <a:solidFill>
                  <a:srgbClr val="0000FF"/>
                </a:solidFill>
                <a:effectLst/>
                <a:latin typeface="arial" panose="020B0604020202020204" pitchFamily="34" charset="0"/>
              </a:rPr>
              <a:t>Required </a:t>
            </a:r>
            <a:r>
              <a:rPr lang="en-US" sz="1400" b="0" i="0" dirty="0">
                <a:solidFill>
                  <a:srgbClr val="333333"/>
                </a:solidFill>
                <a:effectLst/>
                <a:latin typeface="arial" panose="020B0604020202020204" pitchFamily="34" charset="0"/>
              </a:rPr>
              <a:t>attribute on the </a:t>
            </a:r>
            <a:r>
              <a:rPr lang="en-US" sz="1400" b="0" i="1" dirty="0">
                <a:solidFill>
                  <a:srgbClr val="0000FF"/>
                </a:solidFill>
                <a:effectLst/>
                <a:latin typeface="arial" panose="020B0604020202020204" pitchFamily="34" charset="0"/>
              </a:rPr>
              <a:t>Name</a:t>
            </a:r>
            <a:r>
              <a:rPr lang="en-US" sz="1400" b="0" i="0" dirty="0">
                <a:solidFill>
                  <a:srgbClr val="333333"/>
                </a:solidFill>
                <a:effectLst/>
                <a:latin typeface="arial" panose="020B0604020202020204" pitchFamily="34" charset="0"/>
              </a:rPr>
              <a:t> property of the </a:t>
            </a:r>
            <a:r>
              <a:rPr lang="en-US" sz="1400" b="0" i="0" dirty="0">
                <a:solidFill>
                  <a:srgbClr val="3D85C6"/>
                </a:solidFill>
                <a:effectLst/>
                <a:latin typeface="arial" panose="020B0604020202020204" pitchFamily="34" charset="0"/>
              </a:rPr>
              <a:t>Employee </a:t>
            </a:r>
            <a:r>
              <a:rPr lang="en-US" sz="1400" b="0" i="0" dirty="0">
                <a:solidFill>
                  <a:srgbClr val="333333"/>
                </a:solidFill>
                <a:effectLst/>
                <a:latin typeface="arial" panose="020B0604020202020204" pitchFamily="34" charset="0"/>
              </a:rPr>
              <a:t>class, if a value for the </a:t>
            </a:r>
            <a:r>
              <a:rPr lang="en-US" sz="1400" b="0" i="1" dirty="0">
                <a:solidFill>
                  <a:srgbClr val="0000FF"/>
                </a:solidFill>
                <a:effectLst/>
                <a:latin typeface="arial" panose="020B0604020202020204" pitchFamily="34" charset="0"/>
              </a:rPr>
              <a:t>Name </a:t>
            </a:r>
            <a:r>
              <a:rPr lang="en-US" sz="1400" b="0" i="0" dirty="0">
                <a:solidFill>
                  <a:srgbClr val="333333"/>
                </a:solidFill>
                <a:effectLst/>
                <a:latin typeface="arial" panose="020B0604020202020204" pitchFamily="34" charset="0"/>
              </a:rPr>
              <a:t>property is not present, the validation fails</a:t>
            </a:r>
          </a:p>
          <a:p>
            <a:pPr algn="l">
              <a:buFont typeface="Arial" panose="020B0604020202020204" pitchFamily="34" charset="0"/>
              <a:buChar char="•"/>
            </a:pPr>
            <a:endParaRPr lang="en-US" sz="1400" b="0" i="0" dirty="0">
              <a:solidFill>
                <a:srgbClr val="333333"/>
              </a:solidFill>
              <a:effectLst/>
              <a:latin typeface="Arial" panose="020B0604020202020204" pitchFamily="34" charset="0"/>
            </a:endParaRPr>
          </a:p>
          <a:p>
            <a:pPr algn="l">
              <a:buFont typeface="Arial" panose="020B0604020202020204" pitchFamily="34" charset="0"/>
              <a:buChar char="•"/>
            </a:pPr>
            <a:r>
              <a:rPr lang="en-US" sz="1400" b="0" i="0" dirty="0">
                <a:solidFill>
                  <a:srgbClr val="333333"/>
                </a:solidFill>
                <a:effectLst/>
                <a:latin typeface="arial" panose="020B0604020202020204" pitchFamily="34" charset="0"/>
              </a:rPr>
              <a:t>Use </a:t>
            </a:r>
            <a:r>
              <a:rPr lang="en-US" sz="1400" b="0" i="1" dirty="0" err="1">
                <a:solidFill>
                  <a:srgbClr val="0000FF"/>
                </a:solidFill>
                <a:effectLst/>
                <a:latin typeface="arial" panose="020B0604020202020204" pitchFamily="34" charset="0"/>
              </a:rPr>
              <a:t>ModelState.IsValid</a:t>
            </a:r>
            <a:r>
              <a:rPr lang="en-US" sz="1400" b="0" i="0" dirty="0">
                <a:solidFill>
                  <a:srgbClr val="333333"/>
                </a:solidFill>
                <a:effectLst/>
                <a:latin typeface="arial" panose="020B0604020202020204" pitchFamily="34" charset="0"/>
              </a:rPr>
              <a:t> property to check if validation has failed or succeeded</a:t>
            </a:r>
          </a:p>
          <a:p>
            <a:pPr algn="l">
              <a:buFont typeface="Arial" panose="020B0604020202020204" pitchFamily="34" charset="0"/>
              <a:buChar char="•"/>
            </a:pPr>
            <a:endParaRPr lang="en-US" sz="1400" b="0" i="0" dirty="0">
              <a:solidFill>
                <a:srgbClr val="333333"/>
              </a:solidFill>
              <a:effectLst/>
              <a:latin typeface="Arial" panose="020B0604020202020204" pitchFamily="34" charset="0"/>
            </a:endParaRPr>
          </a:p>
          <a:p>
            <a:pPr algn="l">
              <a:buFont typeface="Arial" panose="020B0604020202020204" pitchFamily="34" charset="0"/>
              <a:buChar char="•"/>
            </a:pPr>
            <a:r>
              <a:rPr lang="en-US" sz="1400" b="0" i="0" dirty="0">
                <a:solidFill>
                  <a:srgbClr val="333333"/>
                </a:solidFill>
                <a:effectLst/>
                <a:latin typeface="arial" panose="020B0604020202020204" pitchFamily="34" charset="0"/>
              </a:rPr>
              <a:t>If validation has failed we return the same view so the user can provide the required data and resubmit the form.</a:t>
            </a:r>
            <a:endParaRPr lang="en-US" sz="1400" b="0" i="0" dirty="0">
              <a:solidFill>
                <a:srgbClr val="333333"/>
              </a:solidFill>
              <a:effectLst/>
              <a:latin typeface="Arial" panose="020B0604020202020204" pitchFamily="34" charset="0"/>
            </a:endParaRPr>
          </a:p>
        </p:txBody>
      </p:sp>
      <p:sp>
        <p:nvSpPr>
          <p:cNvPr id="8" name="Rectangle 1">
            <a:extLst>
              <a:ext uri="{FF2B5EF4-FFF2-40B4-BE49-F238E27FC236}">
                <a16:creationId xmlns:a16="http://schemas.microsoft.com/office/drawing/2014/main" id="{A63E54CF-061E-4BFA-94BF-252A041DC048}"/>
              </a:ext>
            </a:extLst>
          </p:cNvPr>
          <p:cNvSpPr>
            <a:spLocks noChangeArrowheads="1"/>
          </p:cNvSpPr>
          <p:nvPr/>
        </p:nvSpPr>
        <p:spPr bwMode="auto">
          <a:xfrm>
            <a:off x="6174658" y="637346"/>
            <a:ext cx="5978013"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cs typeface="Arial" panose="020B0604020202020204" pitchFamily="34" charset="0"/>
              </a:rPr>
              <a:t>[</a:t>
            </a:r>
            <a:r>
              <a:rPr kumimoji="0" lang="en-US" altLang="en-US" sz="1600" b="0" i="0" u="none" strike="noStrike" cap="none" normalizeH="0" baseline="0" dirty="0" err="1">
                <a:ln>
                  <a:noFill/>
                </a:ln>
                <a:solidFill>
                  <a:srgbClr val="3D85C6"/>
                </a:solidFill>
                <a:effectLst/>
                <a:cs typeface="Arial" panose="020B0604020202020204" pitchFamily="34" charset="0"/>
              </a:rPr>
              <a:t>HttpPost</a:t>
            </a:r>
            <a:r>
              <a:rPr kumimoji="0" lang="en-US" altLang="en-US" sz="1600" b="0" i="0" u="none" strike="noStrike" cap="none" normalizeH="0" baseline="0" dirty="0">
                <a:ln>
                  <a:noFill/>
                </a:ln>
                <a:solidFill>
                  <a:srgbClr val="333333"/>
                </a:solidFill>
                <a:effectLst/>
                <a:cs typeface="Arial" panose="020B0604020202020204" pitchFamily="34"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cs typeface="Arial" panose="020B0604020202020204" pitchFamily="34" charset="0"/>
              </a:rPr>
              <a:t>public</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err="1">
                <a:ln>
                  <a:noFill/>
                </a:ln>
                <a:solidFill>
                  <a:srgbClr val="3D85C6"/>
                </a:solidFill>
                <a:effectLst/>
                <a:cs typeface="Arial" panose="020B0604020202020204" pitchFamily="34" charset="0"/>
              </a:rPr>
              <a:t>IActionResult</a:t>
            </a:r>
            <a:r>
              <a:rPr kumimoji="0" lang="en-US" altLang="en-US" sz="1600" b="0" i="0" u="none" strike="noStrike" cap="none" normalizeH="0" baseline="0" dirty="0">
                <a:ln>
                  <a:noFill/>
                </a:ln>
                <a:solidFill>
                  <a:srgbClr val="3D85C6"/>
                </a:solidFill>
                <a:effectLst/>
                <a:cs typeface="Arial" panose="020B0604020202020204" pitchFamily="34" charset="0"/>
              </a:rPr>
              <a:t> </a:t>
            </a:r>
            <a:r>
              <a:rPr kumimoji="0" lang="en-US" altLang="en-US" sz="1600" b="0" i="0" u="none" strike="noStrike" cap="none" normalizeH="0" baseline="0" dirty="0">
                <a:ln>
                  <a:noFill/>
                </a:ln>
                <a:solidFill>
                  <a:srgbClr val="000000"/>
                </a:solidFill>
                <a:effectLst/>
                <a:cs typeface="Arial" panose="020B0604020202020204" pitchFamily="34" charset="0"/>
              </a:rPr>
              <a:t>Create(</a:t>
            </a:r>
            <a:r>
              <a:rPr kumimoji="0" lang="en-US" altLang="en-US" sz="1600" b="0" i="0" u="none" strike="noStrike" cap="none" normalizeH="0" baseline="0" dirty="0">
                <a:ln>
                  <a:noFill/>
                </a:ln>
                <a:solidFill>
                  <a:srgbClr val="3D85C6"/>
                </a:solidFill>
                <a:effectLst/>
                <a:cs typeface="Arial" panose="020B0604020202020204" pitchFamily="34" charset="0"/>
              </a:rPr>
              <a:t>Employee </a:t>
            </a:r>
            <a:r>
              <a:rPr kumimoji="0" lang="en-US" altLang="en-US" sz="1600" b="0" i="0" u="none" strike="noStrike" cap="none" normalizeH="0" baseline="0" dirty="0">
                <a:ln>
                  <a:noFill/>
                </a:ln>
                <a:solidFill>
                  <a:srgbClr val="000000"/>
                </a:solidFill>
                <a:effectLst/>
                <a:cs typeface="Arial" panose="020B0604020202020204" pitchFamily="34" charset="0"/>
              </a:rPr>
              <a:t>employee)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if</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err="1">
                <a:ln>
                  <a:noFill/>
                </a:ln>
                <a:solidFill>
                  <a:srgbClr val="000000"/>
                </a:solidFill>
                <a:effectLst/>
                <a:cs typeface="Arial" panose="020B0604020202020204" pitchFamily="34" charset="0"/>
              </a:rPr>
              <a:t>ModelState.IsValid</a:t>
            </a:r>
            <a:r>
              <a:rPr kumimoji="0" lang="en-US" altLang="en-US" sz="1600" b="0" i="0" u="none" strike="noStrike" cap="none" normalizeH="0" baseline="0" dirty="0">
                <a:ln>
                  <a:noFill/>
                </a:ln>
                <a:solidFill>
                  <a:srgbClr val="000000"/>
                </a:solidFill>
                <a:effectLst/>
                <a:cs typeface="Arial" panose="020B0604020202020204" pitchFamily="34"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endParaRPr kumimoji="0" lang="en-US" altLang="en-US" sz="1400" b="0" i="0" u="none" strike="noStrike" cap="none" normalizeH="0" baseline="0" dirty="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000000"/>
                </a:solidFill>
                <a:cs typeface="Arial" panose="020B0604020202020204" pitchFamily="34" charset="0"/>
              </a:rPr>
              <a:t> </a:t>
            </a:r>
            <a:r>
              <a:rPr kumimoji="0" lang="en-US" altLang="en-US" sz="1400" b="0" i="0" u="none" strike="noStrike" cap="none" normalizeH="0" baseline="0" dirty="0">
                <a:ln>
                  <a:noFill/>
                </a:ln>
                <a:solidFill>
                  <a:srgbClr val="3D85C6"/>
                </a:solidFill>
                <a:effectLst/>
                <a:cs typeface="Arial" panose="020B0604020202020204" pitchFamily="34" charset="0"/>
              </a:rPr>
              <a:t>Employee </a:t>
            </a:r>
            <a:r>
              <a:rPr kumimoji="0" lang="en-US" altLang="en-US" sz="1400" b="0" i="0" u="none" strike="noStrike" cap="none" normalizeH="0" baseline="0" dirty="0" err="1">
                <a:ln>
                  <a:noFill/>
                </a:ln>
                <a:solidFill>
                  <a:srgbClr val="333333"/>
                </a:solidFill>
                <a:effectLst/>
                <a:cs typeface="Arial" panose="020B0604020202020204" pitchFamily="34" charset="0"/>
              </a:rPr>
              <a:t>newEmployee</a:t>
            </a:r>
            <a:r>
              <a:rPr kumimoji="0" lang="en-US" altLang="en-US" sz="1400" b="0" i="0" u="none" strike="noStrike" cap="none" normalizeH="0" baseline="0" dirty="0">
                <a:ln>
                  <a:noFill/>
                </a:ln>
                <a:solidFill>
                  <a:srgbClr val="333333"/>
                </a:solidFill>
                <a:effectLst/>
                <a:cs typeface="Arial" panose="020B0604020202020204" pitchFamily="34" charset="0"/>
              </a:rPr>
              <a:t> = _</a:t>
            </a:r>
            <a:r>
              <a:rPr kumimoji="0" lang="en-US" altLang="en-US" sz="1400" b="0" i="0" u="none" strike="noStrike" cap="none" normalizeH="0" baseline="0" dirty="0" err="1">
                <a:ln>
                  <a:noFill/>
                </a:ln>
                <a:solidFill>
                  <a:srgbClr val="333333"/>
                </a:solidFill>
                <a:effectLst/>
                <a:cs typeface="Arial" panose="020B0604020202020204" pitchFamily="34" charset="0"/>
              </a:rPr>
              <a:t>employeeRepository.Add</a:t>
            </a:r>
            <a:r>
              <a:rPr kumimoji="0" lang="en-US" altLang="en-US" sz="1400" b="0" i="0" u="none" strike="noStrike" cap="none" normalizeH="0" baseline="0" dirty="0">
                <a:ln>
                  <a:noFill/>
                </a:ln>
                <a:solidFill>
                  <a:srgbClr val="333333"/>
                </a:solidFill>
                <a:effectLst/>
                <a:cs typeface="Arial" panose="020B0604020202020204" pitchFamily="34" charset="0"/>
              </a:rPr>
              <a:t>(employee);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cs typeface="Arial" panose="020B0604020202020204" pitchFamily="34" charset="0"/>
              </a:rPr>
              <a:t>return</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err="1">
                <a:ln>
                  <a:noFill/>
                </a:ln>
                <a:solidFill>
                  <a:srgbClr val="000000"/>
                </a:solidFill>
                <a:effectLst/>
                <a:cs typeface="Arial" panose="020B0604020202020204" pitchFamily="34" charset="0"/>
              </a:rPr>
              <a:t>RedirectToAction</a:t>
            </a:r>
            <a:r>
              <a:rPr kumimoji="0" lang="en-US" altLang="en-US" sz="1600" b="0" i="0" u="none" strike="noStrike" cap="none" normalizeH="0" baseline="0" dirty="0">
                <a:ln>
                  <a:noFill/>
                </a:ln>
                <a:solidFill>
                  <a:srgbClr val="000000"/>
                </a:solidFill>
                <a:effectLst/>
                <a:cs typeface="Arial" panose="020B0604020202020204" pitchFamily="34" charset="0"/>
              </a:rPr>
              <a:t>(</a:t>
            </a:r>
            <a:r>
              <a:rPr kumimoji="0" lang="en-US" altLang="en-US" sz="1600" b="0" i="0" u="none" strike="noStrike" cap="none" normalizeH="0" baseline="0" dirty="0">
                <a:ln>
                  <a:noFill/>
                </a:ln>
                <a:solidFill>
                  <a:srgbClr val="A31515"/>
                </a:solidFill>
                <a:effectLst/>
                <a:cs typeface="Arial" panose="020B0604020202020204" pitchFamily="34" charset="0"/>
              </a:rPr>
              <a:t>"details"</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new</a:t>
            </a:r>
            <a:r>
              <a:rPr kumimoji="0" lang="en-US" altLang="en-US" sz="1600" b="0" i="0" u="none" strike="noStrike" cap="none" normalizeH="0" baseline="0" dirty="0">
                <a:ln>
                  <a:noFill/>
                </a:ln>
                <a:solidFill>
                  <a:srgbClr val="000000"/>
                </a:solidFill>
                <a:effectLst/>
                <a:cs typeface="Arial" panose="020B0604020202020204" pitchFamily="34" charset="0"/>
              </a:rPr>
              <a:t> { id = </a:t>
            </a:r>
            <a:r>
              <a:rPr kumimoji="0" lang="en-US" altLang="en-US" sz="1600" b="0" i="0" u="none" strike="noStrike" cap="none" normalizeH="0" baseline="0" dirty="0" err="1">
                <a:ln>
                  <a:noFill/>
                </a:ln>
                <a:solidFill>
                  <a:srgbClr val="000000"/>
                </a:solidFill>
                <a:effectLst/>
                <a:cs typeface="Arial" panose="020B0604020202020204" pitchFamily="34" charset="0"/>
              </a:rPr>
              <a:t>newEmployee.Id</a:t>
            </a:r>
            <a:r>
              <a:rPr kumimoji="0" lang="en-US" altLang="en-US" sz="1600" b="0" i="0" u="none" strike="noStrike" cap="none" normalizeH="0" baseline="0" dirty="0">
                <a:ln>
                  <a:noFill/>
                </a:ln>
                <a:solidFill>
                  <a:srgbClr val="000000"/>
                </a:solidFill>
                <a:effectLst/>
                <a:cs typeface="Arial" panose="020B0604020202020204" pitchFamily="34"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rgbClr val="333333"/>
                </a:solidFill>
                <a:effectLst/>
                <a:cs typeface="Arial" panose="020B0604020202020204" pitchFamily="34" charset="0"/>
              </a:rPr>
            </a:b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return</a:t>
            </a:r>
            <a:r>
              <a:rPr kumimoji="0" lang="en-US" altLang="en-US" sz="1600" b="0" i="0" u="none" strike="noStrike" cap="none" normalizeH="0" baseline="0" dirty="0">
                <a:ln>
                  <a:noFill/>
                </a:ln>
                <a:solidFill>
                  <a:srgbClr val="000000"/>
                </a:solidFill>
                <a:effectLst/>
                <a:cs typeface="Arial" panose="020B0604020202020204" pitchFamily="34" charset="0"/>
              </a:rPr>
              <a:t> View();</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a:t>
            </a:r>
            <a:endParaRPr kumimoji="0" lang="en-US"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662463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18D98A-2A06-4288-A9C1-77C706CE2727}"/>
              </a:ext>
            </a:extLst>
          </p:cNvPr>
          <p:cNvSpPr txBox="1"/>
          <p:nvPr/>
        </p:nvSpPr>
        <p:spPr>
          <a:xfrm>
            <a:off x="3323303" y="4293"/>
            <a:ext cx="6096000" cy="369332"/>
          </a:xfrm>
          <a:prstGeom prst="rect">
            <a:avLst/>
          </a:prstGeom>
          <a:noFill/>
        </p:spPr>
        <p:txBody>
          <a:bodyPr wrap="square">
            <a:spAutoFit/>
          </a:bodyPr>
          <a:lstStyle/>
          <a:p>
            <a:r>
              <a:rPr lang="en-IN" b="1" i="0" dirty="0">
                <a:solidFill>
                  <a:srgbClr val="333333"/>
                </a:solidFill>
                <a:effectLst/>
                <a:latin typeface="arial" panose="020B0604020202020204" pitchFamily="34" charset="0"/>
              </a:rPr>
              <a:t>Displaying Model Validation Errors</a:t>
            </a:r>
            <a:endParaRPr lang="en-IN" dirty="0"/>
          </a:p>
        </p:txBody>
      </p:sp>
      <p:sp>
        <p:nvSpPr>
          <p:cNvPr id="7" name="TextBox 6">
            <a:extLst>
              <a:ext uri="{FF2B5EF4-FFF2-40B4-BE49-F238E27FC236}">
                <a16:creationId xmlns:a16="http://schemas.microsoft.com/office/drawing/2014/main" id="{159E0658-4CC1-4263-8BD2-B91D924B9FB8}"/>
              </a:ext>
            </a:extLst>
          </p:cNvPr>
          <p:cNvSpPr txBox="1"/>
          <p:nvPr/>
        </p:nvSpPr>
        <p:spPr>
          <a:xfrm>
            <a:off x="88490" y="373625"/>
            <a:ext cx="5830529" cy="4247317"/>
          </a:xfrm>
          <a:prstGeom prst="rect">
            <a:avLst/>
          </a:prstGeom>
          <a:noFill/>
        </p:spPr>
        <p:txBody>
          <a:bodyPr wrap="square">
            <a:spAutoFit/>
          </a:bodyPr>
          <a:lstStyle/>
          <a:p>
            <a:r>
              <a:rPr lang="en-US" b="0" i="0" dirty="0">
                <a:solidFill>
                  <a:srgbClr val="333333"/>
                </a:solidFill>
                <a:effectLst/>
                <a:latin typeface="arial" panose="020B0604020202020204" pitchFamily="34" charset="0"/>
              </a:rPr>
              <a:t>To display validation errors use</a:t>
            </a:r>
          </a:p>
          <a:p>
            <a:endParaRPr lang="en-US"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 </a:t>
            </a:r>
            <a:r>
              <a:rPr lang="en-US" b="0" i="1" dirty="0">
                <a:solidFill>
                  <a:srgbClr val="333333"/>
                </a:solidFill>
                <a:effectLst/>
                <a:latin typeface="arial" panose="020B0604020202020204" pitchFamily="34" charset="0"/>
              </a:rPr>
              <a:t>asp-validation-for </a:t>
            </a:r>
            <a:r>
              <a:rPr lang="en-US" b="0" i="0" dirty="0">
                <a:solidFill>
                  <a:srgbClr val="333333"/>
                </a:solidFill>
                <a:effectLst/>
                <a:latin typeface="arial" panose="020B0604020202020204" pitchFamily="34" charset="0"/>
              </a:rPr>
              <a:t>and </a:t>
            </a:r>
            <a:r>
              <a:rPr lang="en-US" b="0" i="1" dirty="0">
                <a:solidFill>
                  <a:srgbClr val="333333"/>
                </a:solidFill>
                <a:effectLst/>
                <a:latin typeface="arial" panose="020B0604020202020204" pitchFamily="34" charset="0"/>
              </a:rPr>
              <a:t>asp-validation-summary</a:t>
            </a:r>
          </a:p>
          <a:p>
            <a:endParaRPr lang="en-US" i="1" dirty="0">
              <a:solidFill>
                <a:srgbClr val="333333"/>
              </a:solidFill>
              <a:latin typeface="arial" panose="020B0604020202020204" pitchFamily="34" charset="0"/>
            </a:endParaRPr>
          </a:p>
          <a:p>
            <a:r>
              <a:rPr lang="en-US" b="0" i="1" dirty="0">
                <a:solidFill>
                  <a:srgbClr val="333333"/>
                </a:solidFill>
                <a:effectLst/>
                <a:latin typeface="arial" panose="020B0604020202020204" pitchFamily="34" charset="0"/>
              </a:rPr>
              <a:t> </a:t>
            </a:r>
            <a:r>
              <a:rPr lang="en-US" b="0" i="0" dirty="0">
                <a:solidFill>
                  <a:srgbClr val="333333"/>
                </a:solidFill>
                <a:effectLst/>
                <a:latin typeface="arial" panose="020B0604020202020204" pitchFamily="34" charset="0"/>
              </a:rPr>
              <a:t>tag helpers. </a:t>
            </a:r>
          </a:p>
          <a:p>
            <a:r>
              <a:rPr lang="en-US" b="0" i="1" dirty="0">
                <a:solidFill>
                  <a:srgbClr val="333333"/>
                </a:solidFill>
                <a:effectLst/>
                <a:latin typeface="arial" panose="020B0604020202020204" pitchFamily="34" charset="0"/>
              </a:rPr>
              <a:t>asp-validation-for </a:t>
            </a:r>
            <a:r>
              <a:rPr lang="en-US" b="0" i="0" dirty="0">
                <a:solidFill>
                  <a:srgbClr val="333333"/>
                </a:solidFill>
                <a:effectLst/>
                <a:latin typeface="arial" panose="020B0604020202020204" pitchFamily="34" charset="0"/>
              </a:rPr>
              <a:t>tag helper displays a validation message for a single property of our model class. </a:t>
            </a:r>
          </a:p>
          <a:p>
            <a:endParaRPr lang="en-US" dirty="0">
              <a:solidFill>
                <a:srgbClr val="333333"/>
              </a:solidFill>
              <a:latin typeface="arial" panose="020B0604020202020204" pitchFamily="34" charset="0"/>
            </a:endParaRPr>
          </a:p>
          <a:p>
            <a:r>
              <a:rPr lang="en-US" b="0" i="1" dirty="0">
                <a:solidFill>
                  <a:srgbClr val="333333"/>
                </a:solidFill>
                <a:effectLst/>
                <a:latin typeface="arial" panose="020B0604020202020204" pitchFamily="34" charset="0"/>
              </a:rPr>
              <a:t>asp-validation-summary </a:t>
            </a:r>
            <a:r>
              <a:rPr lang="en-US" b="0" i="0" dirty="0">
                <a:solidFill>
                  <a:srgbClr val="333333"/>
                </a:solidFill>
                <a:effectLst/>
                <a:latin typeface="arial" panose="020B0604020202020204" pitchFamily="34" charset="0"/>
              </a:rPr>
              <a:t>tag helper displays a summary of validation errors.</a:t>
            </a:r>
            <a:br>
              <a:rPr lang="en-US" dirty="0"/>
            </a:br>
            <a:br>
              <a:rPr lang="en-US" dirty="0"/>
            </a:br>
            <a:r>
              <a:rPr lang="en-US" b="0" i="0" dirty="0">
                <a:solidFill>
                  <a:srgbClr val="333333"/>
                </a:solidFill>
                <a:effectLst/>
                <a:latin typeface="arial" panose="020B0604020202020204" pitchFamily="34" charset="0"/>
              </a:rPr>
              <a:t>To display the validation error associated with the </a:t>
            </a:r>
            <a:r>
              <a:rPr lang="en-US" b="0" i="1" dirty="0">
                <a:solidFill>
                  <a:srgbClr val="333333"/>
                </a:solidFill>
                <a:effectLst/>
                <a:latin typeface="arial" panose="020B0604020202020204" pitchFamily="34" charset="0"/>
              </a:rPr>
              <a:t>Name </a:t>
            </a:r>
            <a:r>
              <a:rPr lang="en-US" b="0" i="0" dirty="0">
                <a:solidFill>
                  <a:srgbClr val="333333"/>
                </a:solidFill>
                <a:effectLst/>
                <a:latin typeface="arial" panose="020B0604020202020204" pitchFamily="34" charset="0"/>
              </a:rPr>
              <a:t>property of the </a:t>
            </a:r>
            <a:r>
              <a:rPr lang="en-US" b="0" i="1" dirty="0">
                <a:solidFill>
                  <a:srgbClr val="3D85C6"/>
                </a:solidFill>
                <a:effectLst/>
                <a:latin typeface="arial" panose="020B0604020202020204" pitchFamily="34" charset="0"/>
              </a:rPr>
              <a:t>Employee </a:t>
            </a:r>
            <a:r>
              <a:rPr lang="en-US" b="0" i="0" dirty="0">
                <a:solidFill>
                  <a:srgbClr val="333333"/>
                </a:solidFill>
                <a:effectLst/>
                <a:latin typeface="arial" panose="020B0604020202020204" pitchFamily="34" charset="0"/>
              </a:rPr>
              <a:t>class use</a:t>
            </a:r>
          </a:p>
          <a:p>
            <a:r>
              <a:rPr lang="en-US" b="0" i="0" dirty="0">
                <a:solidFill>
                  <a:srgbClr val="333333"/>
                </a:solidFill>
                <a:effectLst/>
                <a:latin typeface="arial" panose="020B0604020202020204" pitchFamily="34" charset="0"/>
              </a:rPr>
              <a:t> </a:t>
            </a:r>
            <a:r>
              <a:rPr lang="en-US" b="0" i="1" dirty="0">
                <a:solidFill>
                  <a:srgbClr val="333333"/>
                </a:solidFill>
                <a:effectLst/>
                <a:latin typeface="arial" panose="020B0604020202020204" pitchFamily="34" charset="0"/>
              </a:rPr>
              <a:t>asp-validation-for</a:t>
            </a:r>
            <a:r>
              <a:rPr lang="en-US" b="0" i="0" dirty="0">
                <a:solidFill>
                  <a:srgbClr val="333333"/>
                </a:solidFill>
                <a:effectLst/>
                <a:latin typeface="arial" panose="020B0604020202020204" pitchFamily="34" charset="0"/>
              </a:rPr>
              <a:t> tag helper on a </a:t>
            </a:r>
            <a:r>
              <a:rPr lang="en-US" b="0" i="0" dirty="0">
                <a:solidFill>
                  <a:srgbClr val="0000FF"/>
                </a:solidFill>
                <a:effectLst/>
                <a:latin typeface="arial" panose="020B0604020202020204" pitchFamily="34" charset="0"/>
              </a:rPr>
              <a:t>&lt;</a:t>
            </a:r>
            <a:r>
              <a:rPr lang="en-US" b="0" i="0" dirty="0">
                <a:solidFill>
                  <a:srgbClr val="990000"/>
                </a:solidFill>
                <a:effectLst/>
                <a:latin typeface="arial" panose="020B0604020202020204" pitchFamily="34" charset="0"/>
              </a:rPr>
              <a:t>span</a:t>
            </a:r>
            <a:r>
              <a:rPr lang="en-US" b="0" i="0" dirty="0">
                <a:solidFill>
                  <a:srgbClr val="0000FF"/>
                </a:solidFill>
                <a:effectLst/>
                <a:latin typeface="arial" panose="020B0604020202020204" pitchFamily="34" charset="0"/>
              </a:rPr>
              <a:t>&gt;</a:t>
            </a:r>
            <a:r>
              <a:rPr lang="en-US" b="0" i="0" dirty="0">
                <a:solidFill>
                  <a:srgbClr val="333333"/>
                </a:solidFill>
                <a:effectLst/>
                <a:latin typeface="arial" panose="020B0604020202020204" pitchFamily="34" charset="0"/>
              </a:rPr>
              <a:t> element as shown below.</a:t>
            </a:r>
            <a:endParaRPr lang="en-IN" dirty="0"/>
          </a:p>
        </p:txBody>
      </p:sp>
      <p:sp>
        <p:nvSpPr>
          <p:cNvPr id="8" name="Rectangle 1">
            <a:extLst>
              <a:ext uri="{FF2B5EF4-FFF2-40B4-BE49-F238E27FC236}">
                <a16:creationId xmlns:a16="http://schemas.microsoft.com/office/drawing/2014/main" id="{58F19198-58B2-4B36-B433-069D757ED6F5}"/>
              </a:ext>
            </a:extLst>
          </p:cNvPr>
          <p:cNvSpPr>
            <a:spLocks noChangeArrowheads="1"/>
          </p:cNvSpPr>
          <p:nvPr/>
        </p:nvSpPr>
        <p:spPr bwMode="auto">
          <a:xfrm>
            <a:off x="5791200" y="751601"/>
            <a:ext cx="640080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0" i="0" u="none" strike="noStrike" cap="none" normalizeH="0" baseline="0" dirty="0">
                <a:ln>
                  <a:noFill/>
                </a:ln>
                <a:solidFill>
                  <a:srgbClr val="800000"/>
                </a:solidFill>
                <a:effectLst/>
                <a:cs typeface="Arial" panose="020B0604020202020204" pitchFamily="34" charset="0"/>
              </a:rPr>
              <a:t>div</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FF0000"/>
                </a:solidFill>
                <a:effectLst/>
                <a:cs typeface="Arial" panose="020B0604020202020204" pitchFamily="34" charset="0"/>
              </a:rPr>
              <a:t>class</a:t>
            </a:r>
            <a:r>
              <a:rPr kumimoji="0" lang="en-US" altLang="en-US" sz="1600" b="0" i="0" u="none" strike="noStrike" cap="none" normalizeH="0" baseline="0" dirty="0">
                <a:ln>
                  <a:noFill/>
                </a:ln>
                <a:solidFill>
                  <a:srgbClr val="0000FF"/>
                </a:solidFill>
                <a:effectLst/>
                <a:cs typeface="Arial" panose="020B0604020202020204" pitchFamily="34" charset="0"/>
              </a:rPr>
              <a:t>="form-group row"&gt;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1" i="0" u="none" strike="noStrike" cap="none" normalizeH="0" baseline="0" dirty="0">
                <a:ln>
                  <a:noFill/>
                </a:ln>
                <a:solidFill>
                  <a:srgbClr val="800080"/>
                </a:solidFill>
                <a:effectLst/>
                <a:cs typeface="Arial" panose="020B0604020202020204" pitchFamily="34" charset="0"/>
              </a:rPr>
              <a:t>label</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1" i="0" u="none" strike="noStrike" cap="none" normalizeH="0" baseline="0" dirty="0">
                <a:ln>
                  <a:noFill/>
                </a:ln>
                <a:solidFill>
                  <a:srgbClr val="800080"/>
                </a:solidFill>
                <a:effectLst/>
                <a:cs typeface="Arial" panose="020B0604020202020204" pitchFamily="34" charset="0"/>
              </a:rPr>
              <a:t>asp-for</a:t>
            </a:r>
            <a:r>
              <a:rPr kumimoji="0" lang="en-US" altLang="en-US" sz="1600" b="0" i="0" u="none" strike="noStrike" cap="none" normalizeH="0" baseline="0" dirty="0">
                <a:ln>
                  <a:noFill/>
                </a:ln>
                <a:solidFill>
                  <a:srgbClr val="0000FF"/>
                </a:solidFill>
                <a:effectLst/>
                <a:cs typeface="Arial" panose="020B0604020202020204" pitchFamily="34" charset="0"/>
              </a:rPr>
              <a:t>="</a:t>
            </a:r>
            <a:r>
              <a:rPr kumimoji="0" lang="en-US" altLang="en-US" sz="1600" b="0" i="0" u="none" strike="noStrike" cap="none" normalizeH="0" baseline="0" dirty="0">
                <a:ln>
                  <a:noFill/>
                </a:ln>
                <a:solidFill>
                  <a:srgbClr val="000000"/>
                </a:solidFill>
                <a:effectLst/>
                <a:cs typeface="Arial" panose="020B0604020202020204" pitchFamily="34" charset="0"/>
              </a:rPr>
              <a:t>Name</a:t>
            </a:r>
            <a:r>
              <a:rPr kumimoji="0" lang="en-US" altLang="en-US" sz="1600" b="0" i="0" u="none" strike="noStrike" cap="none" normalizeH="0" baseline="0" dirty="0">
                <a:ln>
                  <a:noFill/>
                </a:ln>
                <a:solidFill>
                  <a:srgbClr val="0000FF"/>
                </a:solidFill>
                <a:effectLst/>
                <a:cs typeface="Arial" panose="020B0604020202020204" pitchFamily="34" charset="0"/>
              </a:rPr>
              <a:t>"</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FF0000"/>
                </a:solidFill>
                <a:effectLst/>
                <a:cs typeface="Arial" panose="020B0604020202020204" pitchFamily="34" charset="0"/>
              </a:rPr>
              <a:t>class</a:t>
            </a:r>
            <a:r>
              <a:rPr kumimoji="0" lang="en-US" altLang="en-US" sz="1600" b="0" i="0" u="none" strike="noStrike" cap="none" normalizeH="0" baseline="0" dirty="0">
                <a:ln>
                  <a:noFill/>
                </a:ln>
                <a:solidFill>
                  <a:srgbClr val="0000FF"/>
                </a:solidFill>
                <a:effectLst/>
                <a:cs typeface="Arial" panose="020B0604020202020204" pitchFamily="34" charset="0"/>
              </a:rPr>
              <a:t>="col-sm-2 col-form-label"&gt;&lt;/</a:t>
            </a:r>
            <a:r>
              <a:rPr kumimoji="0" lang="en-US" altLang="en-US" sz="1600" b="1" i="0" u="none" strike="noStrike" cap="none" normalizeH="0" baseline="0" dirty="0">
                <a:ln>
                  <a:noFill/>
                </a:ln>
                <a:solidFill>
                  <a:srgbClr val="800080"/>
                </a:solidFill>
                <a:effectLst/>
                <a:cs typeface="Arial" panose="020B0604020202020204" pitchFamily="34" charset="0"/>
              </a:rPr>
              <a:t>label</a:t>
            </a:r>
            <a:r>
              <a:rPr kumimoji="0" lang="en-US" altLang="en-US" sz="1600" b="0" i="0" u="none" strike="noStrike" cap="none" normalizeH="0" baseline="0" dirty="0">
                <a:ln>
                  <a:noFill/>
                </a:ln>
                <a:solidFill>
                  <a:srgbClr val="0000FF"/>
                </a:solidFill>
                <a:effectLst/>
                <a:cs typeface="Arial" panose="020B0604020202020204" pitchFamily="34"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0" i="0" u="none" strike="noStrike" cap="none" normalizeH="0" baseline="0" dirty="0">
                <a:ln>
                  <a:noFill/>
                </a:ln>
                <a:solidFill>
                  <a:srgbClr val="800000"/>
                </a:solidFill>
                <a:effectLst/>
                <a:cs typeface="Arial" panose="020B0604020202020204" pitchFamily="34" charset="0"/>
              </a:rPr>
              <a:t>div</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FF0000"/>
                </a:solidFill>
                <a:effectLst/>
                <a:cs typeface="Arial" panose="020B0604020202020204" pitchFamily="34" charset="0"/>
              </a:rPr>
              <a:t>class</a:t>
            </a:r>
            <a:r>
              <a:rPr kumimoji="0" lang="en-US" altLang="en-US" sz="1600" b="0" i="0" u="none" strike="noStrike" cap="none" normalizeH="0" baseline="0" dirty="0">
                <a:ln>
                  <a:noFill/>
                </a:ln>
                <a:solidFill>
                  <a:srgbClr val="0000FF"/>
                </a:solidFill>
                <a:effectLst/>
                <a:cs typeface="Arial" panose="020B0604020202020204" pitchFamily="34" charset="0"/>
              </a:rPr>
              <a:t>="col-sm-10"&gt;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1" i="0" u="none" strike="noStrike" cap="none" normalizeH="0" baseline="0" dirty="0">
                <a:ln>
                  <a:noFill/>
                </a:ln>
                <a:solidFill>
                  <a:srgbClr val="800080"/>
                </a:solidFill>
                <a:effectLst/>
                <a:cs typeface="Arial" panose="020B0604020202020204" pitchFamily="34" charset="0"/>
              </a:rPr>
              <a:t>input</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1" i="0" u="none" strike="noStrike" cap="none" normalizeH="0" baseline="0" dirty="0">
                <a:ln>
                  <a:noFill/>
                </a:ln>
                <a:solidFill>
                  <a:srgbClr val="800080"/>
                </a:solidFill>
                <a:effectLst/>
                <a:cs typeface="Arial" panose="020B0604020202020204" pitchFamily="34" charset="0"/>
              </a:rPr>
              <a:t>asp-for</a:t>
            </a:r>
            <a:r>
              <a:rPr kumimoji="0" lang="en-US" altLang="en-US" sz="1600" b="0" i="0" u="none" strike="noStrike" cap="none" normalizeH="0" baseline="0" dirty="0">
                <a:ln>
                  <a:noFill/>
                </a:ln>
                <a:solidFill>
                  <a:srgbClr val="0000FF"/>
                </a:solidFill>
                <a:effectLst/>
                <a:cs typeface="Arial" panose="020B0604020202020204" pitchFamily="34" charset="0"/>
              </a:rPr>
              <a:t>="</a:t>
            </a:r>
            <a:r>
              <a:rPr kumimoji="0" lang="en-US" altLang="en-US" sz="1600" b="0" i="0" u="none" strike="noStrike" cap="none" normalizeH="0" baseline="0" dirty="0">
                <a:ln>
                  <a:noFill/>
                </a:ln>
                <a:solidFill>
                  <a:srgbClr val="000000"/>
                </a:solidFill>
                <a:effectLst/>
                <a:cs typeface="Arial" panose="020B0604020202020204" pitchFamily="34" charset="0"/>
              </a:rPr>
              <a:t>Name</a:t>
            </a:r>
            <a:r>
              <a:rPr kumimoji="0" lang="en-US" altLang="en-US" sz="1600" b="0" i="0" u="none" strike="noStrike" cap="none" normalizeH="0" baseline="0" dirty="0">
                <a:ln>
                  <a:noFill/>
                </a:ln>
                <a:solidFill>
                  <a:srgbClr val="0000FF"/>
                </a:solidFill>
                <a:effectLst/>
                <a:cs typeface="Arial" panose="020B0604020202020204" pitchFamily="34" charset="0"/>
              </a:rPr>
              <a:t>"</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FF0000"/>
                </a:solidFill>
                <a:effectLst/>
                <a:cs typeface="Arial" panose="020B0604020202020204" pitchFamily="34" charset="0"/>
              </a:rPr>
              <a:t>class</a:t>
            </a:r>
            <a:r>
              <a:rPr kumimoji="0" lang="en-US" altLang="en-US" sz="1600" b="0" i="0" u="none" strike="noStrike" cap="none" normalizeH="0" baseline="0" dirty="0">
                <a:ln>
                  <a:noFill/>
                </a:ln>
                <a:solidFill>
                  <a:srgbClr val="0000FF"/>
                </a:solidFill>
                <a:effectLst/>
                <a:cs typeface="Arial" panose="020B0604020202020204" pitchFamily="34" charset="0"/>
              </a:rPr>
              <a:t>="form-control"</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FF0000"/>
                </a:solidFill>
                <a:effectLst/>
                <a:cs typeface="Arial" panose="020B0604020202020204" pitchFamily="34" charset="0"/>
              </a:rPr>
              <a:t>placeholder</a:t>
            </a:r>
            <a:r>
              <a:rPr kumimoji="0" lang="en-US" altLang="en-US" sz="1600" b="0" i="0" u="none" strike="noStrike" cap="none" normalizeH="0" baseline="0" dirty="0">
                <a:ln>
                  <a:noFill/>
                </a:ln>
                <a:solidFill>
                  <a:srgbClr val="0000FF"/>
                </a:solidFill>
                <a:effectLst/>
                <a:cs typeface="Arial" panose="020B0604020202020204" pitchFamily="34" charset="0"/>
              </a:rPr>
              <a:t>="Name"&gt;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1" i="0" u="none" strike="noStrike" cap="none" normalizeH="0" baseline="0" dirty="0">
                <a:ln>
                  <a:noFill/>
                </a:ln>
                <a:solidFill>
                  <a:srgbClr val="800080"/>
                </a:solidFill>
                <a:effectLst/>
                <a:cs typeface="Arial" panose="020B0604020202020204" pitchFamily="34" charset="0"/>
              </a:rPr>
              <a:t>span</a:t>
            </a: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1" i="0" u="none" strike="noStrike" cap="none" normalizeH="0" baseline="0" dirty="0">
                <a:ln>
                  <a:noFill/>
                </a:ln>
                <a:solidFill>
                  <a:srgbClr val="800080"/>
                </a:solidFill>
                <a:effectLst/>
                <a:cs typeface="Arial" panose="020B0604020202020204" pitchFamily="34" charset="0"/>
              </a:rPr>
              <a:t>asp-validation-for</a:t>
            </a:r>
            <a:r>
              <a:rPr kumimoji="0" lang="en-US" altLang="en-US" sz="1600" b="0" i="0" u="none" strike="noStrike" cap="none" normalizeH="0" baseline="0" dirty="0">
                <a:ln>
                  <a:noFill/>
                </a:ln>
                <a:solidFill>
                  <a:srgbClr val="0000FF"/>
                </a:solidFill>
                <a:effectLst/>
                <a:cs typeface="Arial" panose="020B0604020202020204" pitchFamily="34" charset="0"/>
              </a:rPr>
              <a:t>="</a:t>
            </a:r>
            <a:r>
              <a:rPr kumimoji="0" lang="en-US" altLang="en-US" sz="1600" b="0" i="0" u="none" strike="noStrike" cap="none" normalizeH="0" baseline="0" dirty="0">
                <a:ln>
                  <a:noFill/>
                </a:ln>
                <a:solidFill>
                  <a:srgbClr val="000000"/>
                </a:solidFill>
                <a:effectLst/>
                <a:cs typeface="Arial" panose="020B0604020202020204" pitchFamily="34" charset="0"/>
              </a:rPr>
              <a:t>Name</a:t>
            </a:r>
            <a:r>
              <a:rPr kumimoji="0" lang="en-US" altLang="en-US" sz="1600" b="0" i="0" u="none" strike="noStrike" cap="none" normalizeH="0" baseline="0" dirty="0">
                <a:ln>
                  <a:noFill/>
                </a:ln>
                <a:solidFill>
                  <a:srgbClr val="0000FF"/>
                </a:solidFill>
                <a:effectLst/>
                <a:cs typeface="Arial" panose="020B0604020202020204" pitchFamily="34" charset="0"/>
              </a:rPr>
              <a:t>"&gt;&lt;/</a:t>
            </a:r>
            <a:r>
              <a:rPr kumimoji="0" lang="en-US" altLang="en-US" sz="1600" b="1" i="0" u="none" strike="noStrike" cap="none" normalizeH="0" baseline="0" dirty="0">
                <a:ln>
                  <a:noFill/>
                </a:ln>
                <a:solidFill>
                  <a:srgbClr val="800080"/>
                </a:solidFill>
                <a:effectLst/>
                <a:cs typeface="Arial" panose="020B0604020202020204" pitchFamily="34" charset="0"/>
              </a:rPr>
              <a:t>span</a:t>
            </a:r>
            <a:r>
              <a:rPr kumimoji="0" lang="en-US" altLang="en-US" sz="1600" b="0" i="0" u="none" strike="noStrike" cap="none" normalizeH="0" baseline="0" dirty="0">
                <a:ln>
                  <a:noFill/>
                </a:ln>
                <a:solidFill>
                  <a:srgbClr val="0000FF"/>
                </a:solidFill>
                <a:effectLst/>
                <a:cs typeface="Arial" panose="020B0604020202020204" pitchFamily="34"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cs typeface="Arial" panose="020B0604020202020204" pitchFamily="34" charset="0"/>
              </a:rPr>
              <a:t>    </a:t>
            </a: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0" i="0" u="none" strike="noStrike" cap="none" normalizeH="0" baseline="0" dirty="0">
                <a:ln>
                  <a:noFill/>
                </a:ln>
                <a:solidFill>
                  <a:srgbClr val="800000"/>
                </a:solidFill>
                <a:effectLst/>
                <a:cs typeface="Arial" panose="020B0604020202020204" pitchFamily="34" charset="0"/>
              </a:rPr>
              <a:t>div</a:t>
            </a:r>
            <a:r>
              <a:rPr kumimoji="0" lang="en-US" altLang="en-US" sz="1600" b="0" i="0" u="none" strike="noStrike" cap="none" normalizeH="0" baseline="0" dirty="0">
                <a:ln>
                  <a:noFill/>
                </a:ln>
                <a:solidFill>
                  <a:srgbClr val="0000FF"/>
                </a:solidFill>
                <a:effectLst/>
                <a:cs typeface="Arial" panose="020B0604020202020204" pitchFamily="34" charset="0"/>
              </a:rPr>
              <a:t>&gt;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cs typeface="Arial" panose="020B0604020202020204" pitchFamily="34" charset="0"/>
              </a:rPr>
              <a:t>&lt;/</a:t>
            </a:r>
            <a:r>
              <a:rPr kumimoji="0" lang="en-US" altLang="en-US" sz="1600" b="0" i="0" u="none" strike="noStrike" cap="none" normalizeH="0" baseline="0" dirty="0">
                <a:ln>
                  <a:noFill/>
                </a:ln>
                <a:solidFill>
                  <a:srgbClr val="800000"/>
                </a:solidFill>
                <a:effectLst/>
                <a:cs typeface="Arial" panose="020B0604020202020204" pitchFamily="34" charset="0"/>
              </a:rPr>
              <a:t>div</a:t>
            </a:r>
            <a:r>
              <a:rPr kumimoji="0" lang="en-US" altLang="en-US" sz="1600" b="0" i="0" u="none" strike="noStrike" cap="none" normalizeH="0" baseline="0" dirty="0">
                <a:ln>
                  <a:noFill/>
                </a:ln>
                <a:solidFill>
                  <a:srgbClr val="0000FF"/>
                </a:solidFill>
                <a:effectLst/>
                <a:cs typeface="Arial" panose="020B0604020202020204" pitchFamily="34" charset="0"/>
              </a:rPr>
              <a:t>&gt;</a:t>
            </a:r>
            <a:endParaRPr kumimoji="0" lang="en-US" altLang="en-US" sz="160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4989AE15-A74F-4DB4-B5C8-4D949A47C76D}"/>
              </a:ext>
            </a:extLst>
          </p:cNvPr>
          <p:cNvSpPr txBox="1"/>
          <p:nvPr/>
        </p:nvSpPr>
        <p:spPr>
          <a:xfrm>
            <a:off x="5919019" y="3109004"/>
            <a:ext cx="6272981"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b="0" i="0" dirty="0">
                <a:solidFill>
                  <a:srgbClr val="333333"/>
                </a:solidFill>
                <a:effectLst/>
                <a:latin typeface="arial" panose="020B0604020202020204" pitchFamily="34" charset="0"/>
              </a:rPr>
              <a:t>To display a summary of all validation errors use </a:t>
            </a:r>
            <a:r>
              <a:rPr lang="en-US" sz="1600" b="0" i="1" dirty="0">
                <a:solidFill>
                  <a:srgbClr val="333333"/>
                </a:solidFill>
                <a:effectLst/>
                <a:latin typeface="arial" panose="020B0604020202020204" pitchFamily="34" charset="0"/>
              </a:rPr>
              <a:t>asp-validation-summary </a:t>
            </a:r>
            <a:r>
              <a:rPr lang="en-US" sz="1600" b="0" i="0" dirty="0">
                <a:solidFill>
                  <a:srgbClr val="333333"/>
                </a:solidFill>
                <a:effectLst/>
                <a:latin typeface="arial" panose="020B0604020202020204" pitchFamily="34" charset="0"/>
              </a:rPr>
              <a:t>tag helper on a </a:t>
            </a:r>
            <a:r>
              <a:rPr lang="en-US" sz="1600" b="0" i="0" dirty="0">
                <a:solidFill>
                  <a:srgbClr val="0000FF"/>
                </a:solidFill>
                <a:effectLst/>
                <a:latin typeface="arial" panose="020B0604020202020204" pitchFamily="34" charset="0"/>
              </a:rPr>
              <a:t>&lt;</a:t>
            </a:r>
            <a:r>
              <a:rPr lang="en-US" sz="1600" b="0" i="0" dirty="0">
                <a:solidFill>
                  <a:srgbClr val="990000"/>
                </a:solidFill>
                <a:effectLst/>
                <a:latin typeface="arial" panose="020B0604020202020204" pitchFamily="34" charset="0"/>
              </a:rPr>
              <a:t>div</a:t>
            </a:r>
            <a:r>
              <a:rPr lang="en-US" sz="1600" b="0" i="0" dirty="0">
                <a:solidFill>
                  <a:srgbClr val="0000FF"/>
                </a:solidFill>
                <a:effectLst/>
                <a:latin typeface="arial" panose="020B0604020202020204" pitchFamily="34" charset="0"/>
              </a:rPr>
              <a:t>&gt;</a:t>
            </a:r>
            <a:r>
              <a:rPr lang="en-US" sz="1600" b="0" i="0" dirty="0">
                <a:solidFill>
                  <a:srgbClr val="333333"/>
                </a:solidFill>
                <a:effectLst/>
                <a:latin typeface="arial" panose="020B0604020202020204" pitchFamily="34" charset="0"/>
              </a:rPr>
              <a:t> element as shown below.</a:t>
            </a:r>
            <a:br>
              <a:rPr lang="en-US" sz="1600" dirty="0"/>
            </a:br>
            <a:endParaRPr lang="en-IN" sz="1600" dirty="0"/>
          </a:p>
        </p:txBody>
      </p:sp>
      <p:sp>
        <p:nvSpPr>
          <p:cNvPr id="11" name="Rectangle 2">
            <a:extLst>
              <a:ext uri="{FF2B5EF4-FFF2-40B4-BE49-F238E27FC236}">
                <a16:creationId xmlns:a16="http://schemas.microsoft.com/office/drawing/2014/main" id="{939E98CB-8E0E-4C53-BF88-762391877941}"/>
              </a:ext>
            </a:extLst>
          </p:cNvPr>
          <p:cNvSpPr>
            <a:spLocks noChangeArrowheads="1"/>
          </p:cNvSpPr>
          <p:nvPr/>
        </p:nvSpPr>
        <p:spPr bwMode="auto">
          <a:xfrm>
            <a:off x="6096000" y="4198309"/>
            <a:ext cx="57027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rgbClr val="0000FF"/>
                </a:solidFill>
                <a:effectLst/>
                <a:latin typeface="Consolas" panose="020B0609020204030204" pitchFamily="49" charset="0"/>
                <a:cs typeface="Arial" panose="020B0604020202020204" pitchFamily="34" charset="0"/>
              </a:rPr>
              <a:t>&lt;</a:t>
            </a:r>
            <a:r>
              <a:rPr kumimoji="0" lang="en-US" altLang="en-US" b="1" i="0" u="none" strike="noStrike" cap="none" normalizeH="0" baseline="0">
                <a:ln>
                  <a:noFill/>
                </a:ln>
                <a:solidFill>
                  <a:srgbClr val="800080"/>
                </a:solidFill>
                <a:effectLst/>
                <a:latin typeface="Consolas" panose="020B0609020204030204" pitchFamily="49" charset="0"/>
                <a:cs typeface="Arial" panose="020B0604020202020204" pitchFamily="34" charset="0"/>
              </a:rPr>
              <a:t>div</a:t>
            </a:r>
            <a:r>
              <a:rPr kumimoji="0" lang="en-US" altLang="en-US" b="0" i="0" u="none" strike="noStrike" cap="none" normalizeH="0" baseline="0">
                <a:ln>
                  <a:noFill/>
                </a:ln>
                <a:solidFill>
                  <a:srgbClr val="000000"/>
                </a:solidFill>
                <a:effectLst/>
                <a:latin typeface="Consolas" panose="020B0609020204030204" pitchFamily="49" charset="0"/>
                <a:cs typeface="Arial" panose="020B0604020202020204" pitchFamily="34" charset="0"/>
              </a:rPr>
              <a:t> </a:t>
            </a:r>
            <a:r>
              <a:rPr kumimoji="0" lang="en-US" altLang="en-US" b="1" i="0" u="none" strike="noStrike" cap="none" normalizeH="0" baseline="0">
                <a:ln>
                  <a:noFill/>
                </a:ln>
                <a:solidFill>
                  <a:srgbClr val="800080"/>
                </a:solidFill>
                <a:effectLst/>
                <a:latin typeface="Consolas" panose="020B0609020204030204" pitchFamily="49" charset="0"/>
                <a:cs typeface="Arial" panose="020B0604020202020204" pitchFamily="34" charset="0"/>
              </a:rPr>
              <a:t>asp-validation-summary</a:t>
            </a:r>
            <a:r>
              <a:rPr kumimoji="0" lang="en-US" altLang="en-US" b="0" i="0" u="none" strike="noStrike" cap="none" normalizeH="0" baseline="0">
                <a:ln>
                  <a:noFill/>
                </a:ln>
                <a:solidFill>
                  <a:srgbClr val="0000FF"/>
                </a:solidFill>
                <a:effectLst/>
                <a:latin typeface="Consolas" panose="020B0609020204030204" pitchFamily="49" charset="0"/>
                <a:cs typeface="Arial" panose="020B0604020202020204" pitchFamily="34" charset="0"/>
              </a:rPr>
              <a:t>="</a:t>
            </a:r>
            <a:r>
              <a:rPr kumimoji="0" lang="en-US" altLang="en-US" b="0" i="0" u="none" strike="noStrike" cap="none" normalizeH="0" baseline="0">
                <a:ln>
                  <a:noFill/>
                </a:ln>
                <a:solidFill>
                  <a:srgbClr val="000000"/>
                </a:solidFill>
                <a:effectLst/>
                <a:latin typeface="Consolas" panose="020B0609020204030204" pitchFamily="49" charset="0"/>
                <a:cs typeface="Arial" panose="020B0604020202020204" pitchFamily="34" charset="0"/>
              </a:rPr>
              <a:t>All</a:t>
            </a:r>
            <a:r>
              <a:rPr kumimoji="0" lang="en-US" altLang="en-US" b="0" i="0" u="none" strike="noStrike" cap="none" normalizeH="0" baseline="0">
                <a:ln>
                  <a:noFill/>
                </a:ln>
                <a:solidFill>
                  <a:srgbClr val="0000FF"/>
                </a:solidFill>
                <a:effectLst/>
                <a:latin typeface="Consolas" panose="020B0609020204030204" pitchFamily="49" charset="0"/>
                <a:cs typeface="Arial" panose="020B0604020202020204" pitchFamily="34" charset="0"/>
              </a:rPr>
              <a:t>"&gt;</a:t>
            </a:r>
            <a:endParaRPr kumimoji="0" lang="en-US" altLang="en-US" sz="1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rgbClr val="0000FF"/>
                </a:solidFill>
                <a:effectLst/>
                <a:latin typeface="Consolas" panose="020B0609020204030204" pitchFamily="49" charset="0"/>
                <a:cs typeface="Arial" panose="020B0604020202020204" pitchFamily="34" charset="0"/>
              </a:rPr>
              <a:t>&lt;/</a:t>
            </a:r>
            <a:r>
              <a:rPr kumimoji="0" lang="en-US" altLang="en-US" b="1" i="0" u="none" strike="noStrike" cap="none" normalizeH="0" baseline="0">
                <a:ln>
                  <a:noFill/>
                </a:ln>
                <a:solidFill>
                  <a:srgbClr val="800080"/>
                </a:solidFill>
                <a:effectLst/>
                <a:latin typeface="Consolas" panose="020B0609020204030204" pitchFamily="49" charset="0"/>
                <a:cs typeface="Arial" panose="020B0604020202020204" pitchFamily="34" charset="0"/>
              </a:rPr>
              <a:t>div</a:t>
            </a:r>
            <a:r>
              <a:rPr kumimoji="0" lang="en-US" altLang="en-US" b="0" i="0" u="none" strike="noStrike" cap="none" normalizeH="0" baseline="0">
                <a:ln>
                  <a:noFill/>
                </a:ln>
                <a:solidFill>
                  <a:srgbClr val="0000FF"/>
                </a:solidFill>
                <a:effectLst/>
                <a:latin typeface="Consolas" panose="020B0609020204030204" pitchFamily="49" charset="0"/>
                <a:cs typeface="Arial" panose="020B0604020202020204" pitchFamily="34" charset="0"/>
              </a:rPr>
              <a:t>&gt;</a:t>
            </a:r>
            <a:endParaRPr kumimoji="0" lang="en-US" altLang="en-US" sz="44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3BB8689F-7563-4AC5-AA12-6C7FA5108508}"/>
              </a:ext>
            </a:extLst>
          </p:cNvPr>
          <p:cNvSpPr txBox="1"/>
          <p:nvPr/>
        </p:nvSpPr>
        <p:spPr>
          <a:xfrm>
            <a:off x="5311877" y="5107929"/>
            <a:ext cx="6752303" cy="1477328"/>
          </a:xfrm>
          <a:prstGeom prst="rect">
            <a:avLst/>
          </a:prstGeom>
          <a:noFill/>
        </p:spPr>
        <p:txBody>
          <a:bodyPr wrap="square">
            <a:spAutoFit/>
          </a:bodyPr>
          <a:lstStyle/>
          <a:p>
            <a:pPr algn="l"/>
            <a:r>
              <a:rPr lang="en-US" b="0" i="0" dirty="0">
                <a:solidFill>
                  <a:srgbClr val="333333"/>
                </a:solidFill>
                <a:effectLst/>
                <a:latin typeface="arial" panose="020B0604020202020204" pitchFamily="34" charset="0"/>
              </a:rPr>
              <a:t>The value for </a:t>
            </a:r>
            <a:r>
              <a:rPr lang="en-US" b="0" i="1" dirty="0">
                <a:solidFill>
                  <a:srgbClr val="333333"/>
                </a:solidFill>
                <a:effectLst/>
                <a:latin typeface="arial" panose="020B0604020202020204" pitchFamily="34" charset="0"/>
              </a:rPr>
              <a:t>asp-validation-summary </a:t>
            </a:r>
            <a:r>
              <a:rPr lang="en-US" b="0" i="0" dirty="0">
                <a:solidFill>
                  <a:srgbClr val="333333"/>
                </a:solidFill>
                <a:effectLst/>
                <a:latin typeface="arial" panose="020B0604020202020204" pitchFamily="34" charset="0"/>
              </a:rPr>
              <a:t>tag helper can be any of the following </a:t>
            </a:r>
          </a:p>
          <a:p>
            <a:pPr marL="285750" indent="-285750" algn="l">
              <a:buFont typeface="Arial" panose="020B0604020202020204" pitchFamily="34" charset="0"/>
              <a:buChar char="•"/>
            </a:pPr>
            <a:r>
              <a:rPr lang="en-US" b="0" i="0" dirty="0">
                <a:solidFill>
                  <a:srgbClr val="333333"/>
                </a:solidFill>
                <a:effectLst/>
                <a:latin typeface="arial" panose="020B0604020202020204" pitchFamily="34" charset="0"/>
              </a:rPr>
              <a:t>All</a:t>
            </a:r>
            <a:endParaRPr lang="en-US" b="0" i="0" dirty="0">
              <a:solidFill>
                <a:srgbClr val="333333"/>
              </a:solidFill>
              <a:effectLst/>
              <a:latin typeface="Arial" panose="020B0604020202020204" pitchFamily="34" charset="0"/>
            </a:endParaRPr>
          </a:p>
          <a:p>
            <a:pPr marL="285750" indent="-285750" algn="l">
              <a:buFont typeface="Arial" panose="020B0604020202020204" pitchFamily="34" charset="0"/>
              <a:buChar char="•"/>
            </a:pPr>
            <a:r>
              <a:rPr lang="en-US" b="0" i="0" dirty="0" err="1">
                <a:solidFill>
                  <a:srgbClr val="333333"/>
                </a:solidFill>
                <a:effectLst/>
                <a:latin typeface="arial" panose="020B0604020202020204" pitchFamily="34" charset="0"/>
              </a:rPr>
              <a:t>ModelOnly</a:t>
            </a:r>
            <a:endParaRPr lang="en-US" b="0" i="0" dirty="0">
              <a:solidFill>
                <a:srgbClr val="333333"/>
              </a:solidFill>
              <a:effectLst/>
              <a:latin typeface="Arial" panose="020B0604020202020204" pitchFamily="34" charset="0"/>
            </a:endParaRPr>
          </a:p>
          <a:p>
            <a:pPr marL="285750" indent="-285750" algn="l">
              <a:buFont typeface="Arial" panose="020B0604020202020204" pitchFamily="34" charset="0"/>
              <a:buChar char="•"/>
            </a:pPr>
            <a:r>
              <a:rPr lang="en-US" b="0" i="0" dirty="0">
                <a:solidFill>
                  <a:srgbClr val="333333"/>
                </a:solidFill>
                <a:effectLst/>
                <a:latin typeface="arial" panose="020B0604020202020204" pitchFamily="34" charset="0"/>
              </a:rPr>
              <a:t>None</a:t>
            </a:r>
            <a:endParaRPr lang="en-US" b="0" i="0"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2578950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A5F74A-669E-4609-A332-BE0211336677}"/>
              </a:ext>
            </a:extLst>
          </p:cNvPr>
          <p:cNvSpPr txBox="1"/>
          <p:nvPr/>
        </p:nvSpPr>
        <p:spPr>
          <a:xfrm>
            <a:off x="2851355" y="287282"/>
            <a:ext cx="6096000" cy="369332"/>
          </a:xfrm>
          <a:prstGeom prst="rect">
            <a:avLst/>
          </a:prstGeom>
          <a:noFill/>
        </p:spPr>
        <p:txBody>
          <a:bodyPr wrap="square">
            <a:spAutoFit/>
          </a:bodyPr>
          <a:lstStyle/>
          <a:p>
            <a:r>
              <a:rPr lang="en-IN" b="1" i="0" dirty="0">
                <a:solidFill>
                  <a:srgbClr val="333333"/>
                </a:solidFill>
                <a:effectLst/>
                <a:latin typeface="arial" panose="020B0604020202020204" pitchFamily="34" charset="0"/>
              </a:rPr>
              <a:t>ASP.NET Core Built-in Model Validation Attributes</a:t>
            </a:r>
            <a:endParaRPr lang="en-IN" dirty="0"/>
          </a:p>
        </p:txBody>
      </p:sp>
      <p:graphicFrame>
        <p:nvGraphicFramePr>
          <p:cNvPr id="6" name="Table 5">
            <a:extLst>
              <a:ext uri="{FF2B5EF4-FFF2-40B4-BE49-F238E27FC236}">
                <a16:creationId xmlns:a16="http://schemas.microsoft.com/office/drawing/2014/main" id="{070DD0BD-C2E3-48C3-8414-156C22733F72}"/>
              </a:ext>
            </a:extLst>
          </p:cNvPr>
          <p:cNvGraphicFramePr>
            <a:graphicFrameLocks noGrp="1"/>
          </p:cNvGraphicFramePr>
          <p:nvPr>
            <p:extLst>
              <p:ext uri="{D42A27DB-BD31-4B8C-83A1-F6EECF244321}">
                <p14:modId xmlns:p14="http://schemas.microsoft.com/office/powerpoint/2010/main" val="539176220"/>
              </p:ext>
            </p:extLst>
          </p:nvPr>
        </p:nvGraphicFramePr>
        <p:xfrm>
          <a:off x="641555" y="797698"/>
          <a:ext cx="10515600" cy="2788920"/>
        </p:xfrm>
        <a:graphic>
          <a:graphicData uri="http://schemas.openxmlformats.org/drawingml/2006/table">
            <a:tbl>
              <a:tblPr/>
              <a:tblGrid>
                <a:gridCol w="3193026">
                  <a:extLst>
                    <a:ext uri="{9D8B030D-6E8A-4147-A177-3AD203B41FA5}">
                      <a16:colId xmlns:a16="http://schemas.microsoft.com/office/drawing/2014/main" val="1399938318"/>
                    </a:ext>
                  </a:extLst>
                </a:gridCol>
                <a:gridCol w="7322574">
                  <a:extLst>
                    <a:ext uri="{9D8B030D-6E8A-4147-A177-3AD203B41FA5}">
                      <a16:colId xmlns:a16="http://schemas.microsoft.com/office/drawing/2014/main" val="1643298536"/>
                    </a:ext>
                  </a:extLst>
                </a:gridCol>
              </a:tblGrid>
              <a:tr h="0">
                <a:tc>
                  <a:txBody>
                    <a:bodyPr/>
                    <a:lstStyle/>
                    <a:p>
                      <a:r>
                        <a:rPr lang="en-IN">
                          <a:effectLst/>
                        </a:rPr>
                        <a:t>Attribute</a:t>
                      </a:r>
                    </a:p>
                  </a:txBody>
                  <a:tcPr marL="22860" marR="22860" marT="22860" marB="22860" anchor="ctr">
                    <a:lnL>
                      <a:noFill/>
                    </a:lnL>
                    <a:lnR>
                      <a:noFill/>
                    </a:lnR>
                    <a:lnT>
                      <a:noFill/>
                    </a:lnT>
                    <a:lnB>
                      <a:noFill/>
                    </a:lnB>
                    <a:solidFill>
                      <a:srgbClr val="FFC000"/>
                    </a:solidFill>
                  </a:tcPr>
                </a:tc>
                <a:tc>
                  <a:txBody>
                    <a:bodyPr/>
                    <a:lstStyle/>
                    <a:p>
                      <a:r>
                        <a:rPr lang="en-IN">
                          <a:effectLst/>
                        </a:rPr>
                        <a:t>Purpose</a:t>
                      </a:r>
                    </a:p>
                  </a:txBody>
                  <a:tcPr marL="22860" marR="22860" marT="22860" marB="22860" anchor="ctr">
                    <a:lnL>
                      <a:noFill/>
                    </a:lnL>
                    <a:lnR>
                      <a:noFill/>
                    </a:lnR>
                    <a:lnT>
                      <a:noFill/>
                    </a:lnT>
                    <a:lnB>
                      <a:noFill/>
                    </a:lnB>
                    <a:solidFill>
                      <a:srgbClr val="FFC000"/>
                    </a:solidFill>
                  </a:tcPr>
                </a:tc>
                <a:extLst>
                  <a:ext uri="{0D108BD9-81ED-4DB2-BD59-A6C34878D82A}">
                    <a16:rowId xmlns:a16="http://schemas.microsoft.com/office/drawing/2014/main" val="2025751332"/>
                  </a:ext>
                </a:extLst>
              </a:tr>
              <a:tr h="0">
                <a:tc>
                  <a:txBody>
                    <a:bodyPr/>
                    <a:lstStyle/>
                    <a:p>
                      <a:r>
                        <a:rPr lang="en-IN" dirty="0">
                          <a:effectLst/>
                        </a:rPr>
                        <a:t>Required</a:t>
                      </a:r>
                    </a:p>
                  </a:txBody>
                  <a:tcPr marL="22860" marR="22860" marT="22860" marB="22860" anchor="ctr">
                    <a:lnL>
                      <a:noFill/>
                    </a:lnL>
                    <a:lnR>
                      <a:noFill/>
                    </a:lnR>
                    <a:lnT>
                      <a:noFill/>
                    </a:lnT>
                    <a:lnB>
                      <a:noFill/>
                    </a:lnB>
                    <a:solidFill>
                      <a:srgbClr val="FFFFFF"/>
                    </a:solidFill>
                  </a:tcPr>
                </a:tc>
                <a:tc>
                  <a:txBody>
                    <a:bodyPr/>
                    <a:lstStyle/>
                    <a:p>
                      <a:r>
                        <a:rPr lang="en-US">
                          <a:effectLst/>
                        </a:rPr>
                        <a:t>Specifies the field is required</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861588846"/>
                  </a:ext>
                </a:extLst>
              </a:tr>
              <a:tr h="0">
                <a:tc>
                  <a:txBody>
                    <a:bodyPr/>
                    <a:lstStyle/>
                    <a:p>
                      <a:r>
                        <a:rPr lang="en-IN" dirty="0">
                          <a:effectLst/>
                        </a:rPr>
                        <a:t>Range</a:t>
                      </a:r>
                    </a:p>
                  </a:txBody>
                  <a:tcPr marL="22860" marR="22860" marT="22860" marB="22860" anchor="ctr">
                    <a:lnL>
                      <a:noFill/>
                    </a:lnL>
                    <a:lnR>
                      <a:noFill/>
                    </a:lnR>
                    <a:lnT>
                      <a:noFill/>
                    </a:lnT>
                    <a:lnB>
                      <a:noFill/>
                    </a:lnB>
                    <a:solidFill>
                      <a:srgbClr val="FFFFFF"/>
                    </a:solidFill>
                  </a:tcPr>
                </a:tc>
                <a:tc>
                  <a:txBody>
                    <a:bodyPr/>
                    <a:lstStyle/>
                    <a:p>
                      <a:r>
                        <a:rPr lang="en-US">
                          <a:effectLst/>
                        </a:rPr>
                        <a:t>Specifies the minimum and maximum value allowed</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422097091"/>
                  </a:ext>
                </a:extLst>
              </a:tr>
              <a:tr h="0">
                <a:tc>
                  <a:txBody>
                    <a:bodyPr/>
                    <a:lstStyle/>
                    <a:p>
                      <a:r>
                        <a:rPr lang="en-IN" dirty="0" err="1">
                          <a:effectLst/>
                        </a:rPr>
                        <a:t>MinLength</a:t>
                      </a:r>
                      <a:endParaRPr lang="en-IN" dirty="0">
                        <a:effectLst/>
                      </a:endParaRPr>
                    </a:p>
                  </a:txBody>
                  <a:tcPr marL="22860" marR="22860" marT="22860" marB="22860" anchor="ctr">
                    <a:lnL>
                      <a:noFill/>
                    </a:lnL>
                    <a:lnR>
                      <a:noFill/>
                    </a:lnR>
                    <a:lnT>
                      <a:noFill/>
                    </a:lnT>
                    <a:lnB>
                      <a:noFill/>
                    </a:lnB>
                    <a:solidFill>
                      <a:srgbClr val="FFFFFF"/>
                    </a:solidFill>
                  </a:tcPr>
                </a:tc>
                <a:tc>
                  <a:txBody>
                    <a:bodyPr/>
                    <a:lstStyle/>
                    <a:p>
                      <a:r>
                        <a:rPr lang="en-US" dirty="0">
                          <a:effectLst/>
                        </a:rPr>
                        <a:t>Specifies the minimum length of a string</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3073767424"/>
                  </a:ext>
                </a:extLst>
              </a:tr>
              <a:tr h="0">
                <a:tc>
                  <a:txBody>
                    <a:bodyPr/>
                    <a:lstStyle/>
                    <a:p>
                      <a:r>
                        <a:rPr lang="en-IN" dirty="0" err="1">
                          <a:effectLst/>
                        </a:rPr>
                        <a:t>MaxLength</a:t>
                      </a:r>
                      <a:endParaRPr lang="en-IN" dirty="0">
                        <a:effectLst/>
                      </a:endParaRPr>
                    </a:p>
                  </a:txBody>
                  <a:tcPr marL="22860" marR="22860" marT="22860" marB="22860" anchor="ctr">
                    <a:lnL>
                      <a:noFill/>
                    </a:lnL>
                    <a:lnR>
                      <a:noFill/>
                    </a:lnR>
                    <a:lnT>
                      <a:noFill/>
                    </a:lnT>
                    <a:lnB>
                      <a:noFill/>
                    </a:lnB>
                    <a:solidFill>
                      <a:srgbClr val="FFFFFF"/>
                    </a:solidFill>
                  </a:tcPr>
                </a:tc>
                <a:tc>
                  <a:txBody>
                    <a:bodyPr/>
                    <a:lstStyle/>
                    <a:p>
                      <a:r>
                        <a:rPr lang="en-US">
                          <a:effectLst/>
                        </a:rPr>
                        <a:t>Specifies the maximum length of a string</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4050232563"/>
                  </a:ext>
                </a:extLst>
              </a:tr>
              <a:tr h="0">
                <a:tc>
                  <a:txBody>
                    <a:bodyPr/>
                    <a:lstStyle/>
                    <a:p>
                      <a:r>
                        <a:rPr lang="en-IN" dirty="0">
                          <a:effectLst/>
                        </a:rPr>
                        <a:t>Compare</a:t>
                      </a:r>
                    </a:p>
                  </a:txBody>
                  <a:tcPr marL="22860" marR="22860" marT="22860" marB="22860" anchor="ctr">
                    <a:lnL>
                      <a:noFill/>
                    </a:lnL>
                    <a:lnR>
                      <a:noFill/>
                    </a:lnR>
                    <a:lnT>
                      <a:noFill/>
                    </a:lnT>
                    <a:lnB>
                      <a:noFill/>
                    </a:lnB>
                    <a:solidFill>
                      <a:srgbClr val="FFFFFF"/>
                    </a:solidFill>
                  </a:tcPr>
                </a:tc>
                <a:tc>
                  <a:txBody>
                    <a:bodyPr/>
                    <a:lstStyle/>
                    <a:p>
                      <a:r>
                        <a:rPr lang="en-US" dirty="0">
                          <a:effectLst/>
                        </a:rPr>
                        <a:t>Compares 2 properties of a model. For example compare Email and </a:t>
                      </a:r>
                      <a:r>
                        <a:rPr lang="en-US" dirty="0" err="1">
                          <a:effectLst/>
                        </a:rPr>
                        <a:t>ConfirmEmail</a:t>
                      </a:r>
                      <a:r>
                        <a:rPr lang="en-US" dirty="0">
                          <a:effectLst/>
                        </a:rPr>
                        <a:t> properties</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716303888"/>
                  </a:ext>
                </a:extLst>
              </a:tr>
              <a:tr h="0">
                <a:tc>
                  <a:txBody>
                    <a:bodyPr/>
                    <a:lstStyle/>
                    <a:p>
                      <a:r>
                        <a:rPr lang="en-IN" dirty="0" err="1">
                          <a:effectLst/>
                        </a:rPr>
                        <a:t>RegularExpression</a:t>
                      </a:r>
                      <a:endParaRPr lang="en-IN" dirty="0">
                        <a:effectLst/>
                      </a:endParaRPr>
                    </a:p>
                  </a:txBody>
                  <a:tcPr marL="22860" marR="22860" marT="22860" marB="22860" anchor="ctr">
                    <a:lnL>
                      <a:noFill/>
                    </a:lnL>
                    <a:lnR>
                      <a:noFill/>
                    </a:lnR>
                    <a:lnT>
                      <a:noFill/>
                    </a:lnT>
                    <a:lnB>
                      <a:noFill/>
                    </a:lnB>
                    <a:solidFill>
                      <a:srgbClr val="FFFFFF"/>
                    </a:solidFill>
                  </a:tcPr>
                </a:tc>
                <a:tc>
                  <a:txBody>
                    <a:bodyPr/>
                    <a:lstStyle/>
                    <a:p>
                      <a:r>
                        <a:rPr lang="en-US" dirty="0">
                          <a:effectLst/>
                        </a:rPr>
                        <a:t>Validates if the provided value matches the pattern specified by the regular expression</a:t>
                      </a:r>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12150165"/>
                  </a:ext>
                </a:extLst>
              </a:tr>
            </a:tbl>
          </a:graphicData>
        </a:graphic>
      </p:graphicFrame>
      <p:sp>
        <p:nvSpPr>
          <p:cNvPr id="8" name="TextBox 7">
            <a:extLst>
              <a:ext uri="{FF2B5EF4-FFF2-40B4-BE49-F238E27FC236}">
                <a16:creationId xmlns:a16="http://schemas.microsoft.com/office/drawing/2014/main" id="{9D9777A8-CDDD-4CFC-B835-A78E3D02465A}"/>
              </a:ext>
            </a:extLst>
          </p:cNvPr>
          <p:cNvSpPr txBox="1"/>
          <p:nvPr/>
        </p:nvSpPr>
        <p:spPr>
          <a:xfrm>
            <a:off x="226143" y="3751978"/>
            <a:ext cx="6096000" cy="2308324"/>
          </a:xfrm>
          <a:prstGeom prst="rect">
            <a:avLst/>
          </a:prstGeom>
          <a:noFill/>
        </p:spPr>
        <p:txBody>
          <a:bodyPr wrap="square">
            <a:spAutoFit/>
          </a:bodyPr>
          <a:lstStyle/>
          <a:p>
            <a:r>
              <a:rPr lang="en-US" b="1" i="0" dirty="0">
                <a:solidFill>
                  <a:srgbClr val="333333"/>
                </a:solidFill>
                <a:effectLst/>
                <a:latin typeface="arial" panose="020B0604020202020204" pitchFamily="34" charset="0"/>
              </a:rPr>
              <a:t>Display Attribute</a:t>
            </a:r>
            <a:br>
              <a:rPr lang="en-US" dirty="0"/>
            </a:br>
            <a:br>
              <a:rPr lang="en-US" dirty="0"/>
            </a:br>
            <a:r>
              <a:rPr lang="en-US" b="0" i="0" dirty="0">
                <a:solidFill>
                  <a:srgbClr val="333333"/>
                </a:solidFill>
                <a:effectLst/>
                <a:latin typeface="arial" panose="020B0604020202020204" pitchFamily="34" charset="0"/>
              </a:rPr>
              <a:t>This is not a validation attribute. It is commonly used for display purpose in the UI. </a:t>
            </a:r>
            <a:br>
              <a:rPr lang="en-US" dirty="0"/>
            </a:br>
            <a:br>
              <a:rPr lang="en-US" dirty="0"/>
            </a:br>
            <a:r>
              <a:rPr lang="en-US" b="0" i="0" dirty="0">
                <a:solidFill>
                  <a:srgbClr val="333333"/>
                </a:solidFill>
                <a:effectLst/>
                <a:latin typeface="arial" panose="020B0604020202020204" pitchFamily="34" charset="0"/>
              </a:rPr>
              <a:t>For example, in the UI by default, the label for </a:t>
            </a:r>
            <a:r>
              <a:rPr lang="en-US" b="0" i="1" dirty="0">
                <a:solidFill>
                  <a:srgbClr val="333333"/>
                </a:solidFill>
                <a:effectLst/>
                <a:latin typeface="arial" panose="020B0604020202020204" pitchFamily="34" charset="0"/>
              </a:rPr>
              <a:t>Email </a:t>
            </a:r>
            <a:r>
              <a:rPr lang="en-US" b="0" i="0" dirty="0">
                <a:solidFill>
                  <a:srgbClr val="333333"/>
                </a:solidFill>
                <a:effectLst/>
                <a:latin typeface="arial" panose="020B0604020202020204" pitchFamily="34" charset="0"/>
              </a:rPr>
              <a:t>field displays the text </a:t>
            </a:r>
            <a:r>
              <a:rPr lang="en-US" b="0" i="1" dirty="0">
                <a:solidFill>
                  <a:srgbClr val="333333"/>
                </a:solidFill>
                <a:effectLst/>
                <a:latin typeface="arial" panose="020B0604020202020204" pitchFamily="34" charset="0"/>
              </a:rPr>
              <a:t>Email</a:t>
            </a:r>
            <a:r>
              <a:rPr lang="en-US" b="0" i="0" dirty="0">
                <a:solidFill>
                  <a:srgbClr val="333333"/>
                </a:solidFill>
                <a:effectLst/>
                <a:latin typeface="arial" panose="020B0604020202020204" pitchFamily="34" charset="0"/>
              </a:rPr>
              <a:t>, because the property name is </a:t>
            </a:r>
            <a:r>
              <a:rPr lang="en-US" b="0" i="1" dirty="0">
                <a:solidFill>
                  <a:srgbClr val="333333"/>
                </a:solidFill>
                <a:effectLst/>
                <a:latin typeface="arial" panose="020B0604020202020204" pitchFamily="34" charset="0"/>
              </a:rPr>
              <a:t>Email</a:t>
            </a:r>
            <a:r>
              <a:rPr lang="en-US" b="0" i="0" dirty="0">
                <a:solidFill>
                  <a:srgbClr val="333333"/>
                </a:solidFill>
                <a:effectLst/>
                <a:latin typeface="arial" panose="020B0604020202020204" pitchFamily="34" charset="0"/>
              </a:rPr>
              <a:t>. </a:t>
            </a:r>
            <a:endParaRPr lang="en-IN" dirty="0"/>
          </a:p>
        </p:txBody>
      </p:sp>
      <p:sp>
        <p:nvSpPr>
          <p:cNvPr id="9" name="Rectangle 1">
            <a:extLst>
              <a:ext uri="{FF2B5EF4-FFF2-40B4-BE49-F238E27FC236}">
                <a16:creationId xmlns:a16="http://schemas.microsoft.com/office/drawing/2014/main" id="{4354D47B-A879-455D-877B-20BC27F34F1D}"/>
              </a:ext>
            </a:extLst>
          </p:cNvPr>
          <p:cNvSpPr>
            <a:spLocks noChangeArrowheads="1"/>
          </p:cNvSpPr>
          <p:nvPr/>
        </p:nvSpPr>
        <p:spPr bwMode="auto">
          <a:xfrm>
            <a:off x="6676102" y="3628867"/>
            <a:ext cx="500613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class</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2B91AF"/>
                </a:solidFill>
                <a:effectLst/>
                <a:latin typeface="Arial" panose="020B0604020202020204" pitchFamily="34" charset="0"/>
                <a:cs typeface="Arial" panose="020B0604020202020204" pitchFamily="34" charset="0"/>
              </a:rPr>
              <a:t>Employee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int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Id {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Name {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[Display(Name = </a:t>
            </a:r>
            <a:r>
              <a:rPr kumimoji="0" lang="en-US" altLang="en-US" sz="2000" b="0" i="0" u="none" strike="noStrike" cap="none" normalizeH="0" baseline="0" dirty="0">
                <a:ln>
                  <a:noFill/>
                </a:ln>
                <a:solidFill>
                  <a:srgbClr val="A31515"/>
                </a:solidFill>
                <a:effectLst/>
                <a:latin typeface="Arial" panose="020B0604020202020204" pitchFamily="34" charset="0"/>
                <a:cs typeface="Arial" panose="020B0604020202020204" pitchFamily="34" charset="0"/>
              </a:rPr>
              <a:t>"Office Email"</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string</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Email {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public</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Dept Department {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get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set</a:t>
            </a: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6100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DA45F-A004-43D6-8E38-F502B003BA16}"/>
              </a:ext>
            </a:extLst>
          </p:cNvPr>
          <p:cNvSpPr>
            <a:spLocks noGrp="1"/>
          </p:cNvSpPr>
          <p:nvPr>
            <p:ph type="title"/>
          </p:nvPr>
        </p:nvSpPr>
        <p:spPr>
          <a:xfrm>
            <a:off x="3266768" y="-5890"/>
            <a:ext cx="5788742" cy="686927"/>
          </a:xfrm>
        </p:spPr>
        <p:txBody>
          <a:bodyPr>
            <a:normAutofit fontScale="90000"/>
          </a:bodyPr>
          <a:lstStyle/>
          <a:p>
            <a:r>
              <a:rPr lang="en-IN" dirty="0"/>
              <a:t>Demo All Validation</a:t>
            </a:r>
          </a:p>
        </p:txBody>
      </p:sp>
      <p:sp>
        <p:nvSpPr>
          <p:cNvPr id="5" name="TextBox 4">
            <a:extLst>
              <a:ext uri="{FF2B5EF4-FFF2-40B4-BE49-F238E27FC236}">
                <a16:creationId xmlns:a16="http://schemas.microsoft.com/office/drawing/2014/main" id="{F6345AD8-5270-4C8F-BAC3-8D234D1D2E6F}"/>
              </a:ext>
            </a:extLst>
          </p:cNvPr>
          <p:cNvSpPr txBox="1"/>
          <p:nvPr/>
        </p:nvSpPr>
        <p:spPr>
          <a:xfrm>
            <a:off x="542003" y="-20806"/>
            <a:ext cx="7982565" cy="7155805"/>
          </a:xfrm>
          <a:prstGeom prst="rect">
            <a:avLst/>
          </a:prstGeom>
          <a:noFill/>
        </p:spPr>
        <p:txBody>
          <a:bodyPr wrap="square">
            <a:spAutoFit/>
          </a:bodyPr>
          <a:lstStyle/>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public</a:t>
            </a:r>
            <a:r>
              <a:rPr lang="en-IN" sz="900" dirty="0">
                <a:solidFill>
                  <a:srgbClr val="000000"/>
                </a:solidFill>
                <a:latin typeface="Consolas" panose="020B0609020204030204" pitchFamily="49" charset="0"/>
              </a:rPr>
              <a:t> </a:t>
            </a:r>
            <a:r>
              <a:rPr lang="en-IN" sz="900" dirty="0">
                <a:solidFill>
                  <a:srgbClr val="0000FF"/>
                </a:solidFill>
                <a:latin typeface="Consolas" panose="020B0609020204030204" pitchFamily="49" charset="0"/>
              </a:rPr>
              <a:t>class</a:t>
            </a:r>
            <a:r>
              <a:rPr lang="en-IN" sz="900" dirty="0">
                <a:solidFill>
                  <a:srgbClr val="000000"/>
                </a:solidFill>
                <a:latin typeface="Consolas" panose="020B0609020204030204" pitchFamily="49" charset="0"/>
              </a:rPr>
              <a:t> </a:t>
            </a:r>
            <a:r>
              <a:rPr lang="en-IN" sz="900" dirty="0" err="1">
                <a:solidFill>
                  <a:srgbClr val="2B91AF"/>
                </a:solidFill>
                <a:latin typeface="Consolas" panose="020B0609020204030204" pitchFamily="49" charset="0"/>
              </a:rPr>
              <a:t>CustomerMetadata</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p>
          <a:p>
            <a:r>
              <a:rPr lang="en-IN" sz="900" dirty="0">
                <a:solidFill>
                  <a:srgbClr val="000000"/>
                </a:solidFill>
                <a:latin typeface="Consolas" panose="020B0609020204030204" pitchFamily="49" charset="0"/>
              </a:rPr>
              <a:t>        [Key]</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Id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IN" sz="900" dirty="0">
                <a:solidFill>
                  <a:srgbClr val="000000"/>
                </a:solidFill>
                <a:latin typeface="Consolas" panose="020B0609020204030204" pitchFamily="49" charset="0"/>
              </a:rPr>
              <a:t>        [DisplayName(</a:t>
            </a:r>
            <a:r>
              <a:rPr lang="en-IN" sz="900" dirty="0">
                <a:solidFill>
                  <a:srgbClr val="A31515"/>
                </a:solidFill>
                <a:latin typeface="Consolas" panose="020B0609020204030204" pitchFamily="49" charset="0"/>
              </a:rPr>
              <a:t>"Customer Name"</a:t>
            </a:r>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Name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Photo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StringLength</a:t>
            </a:r>
            <a:r>
              <a:rPr lang="en-IN" sz="900" dirty="0">
                <a:solidFill>
                  <a:srgbClr val="000000"/>
                </a:solidFill>
                <a:latin typeface="Consolas" panose="020B0609020204030204" pitchFamily="49" charset="0"/>
              </a:rPr>
              <a:t>(15, </a:t>
            </a:r>
            <a:r>
              <a:rPr lang="en-IN" sz="900" dirty="0" err="1">
                <a:solidFill>
                  <a:srgbClr val="000000"/>
                </a:solidFill>
                <a:latin typeface="Consolas" panose="020B0609020204030204" pitchFamily="49" charset="0"/>
              </a:rPr>
              <a:t>MinimumLength</a:t>
            </a:r>
            <a:r>
              <a:rPr lang="en-IN" sz="900" dirty="0">
                <a:solidFill>
                  <a:srgbClr val="000000"/>
                </a:solidFill>
                <a:latin typeface="Consolas" panose="020B0609020204030204" pitchFamily="49" charset="0"/>
              </a:rPr>
              <a:t> = 8)]</a:t>
            </a:r>
          </a:p>
          <a:p>
            <a:r>
              <a:rPr lang="en-IN" sz="900" dirty="0">
                <a:solidFill>
                  <a:srgbClr val="000000"/>
                </a:solidFill>
                <a:latin typeface="Consolas" panose="020B0609020204030204" pitchFamily="49" charset="0"/>
              </a:rPr>
              <a:t>        [Required]</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DataType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DataType.Password</a:t>
            </a:r>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//input type="Password"</a:t>
            </a:r>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Password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IN"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DataType</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DataType.MultilineText</a:t>
            </a:r>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a:t>
            </a:r>
            <a:r>
              <a:rPr lang="en-US" sz="900" dirty="0" err="1">
                <a:solidFill>
                  <a:srgbClr val="008000"/>
                </a:solidFill>
                <a:latin typeface="Consolas" panose="020B0609020204030204" pitchFamily="49" charset="0"/>
              </a:rPr>
              <a:t>Textarea</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Address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DataType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DataType.Date</a:t>
            </a:r>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//input type="Date [</a:t>
            </a:r>
            <a:r>
              <a:rPr lang="en-IN" sz="900" dirty="0" err="1">
                <a:solidFill>
                  <a:srgbClr val="008000"/>
                </a:solidFill>
                <a:latin typeface="Consolas" panose="020B0609020204030204" pitchFamily="49" charset="0"/>
              </a:rPr>
              <a:t>Calander</a:t>
            </a:r>
            <a:r>
              <a:rPr lang="en-IN" sz="900" dirty="0">
                <a:solidFill>
                  <a:srgbClr val="008000"/>
                </a:solidFill>
                <a:latin typeface="Consolas" panose="020B0609020204030204" pitchFamily="49" charset="0"/>
              </a:rPr>
              <a:t>]</a:t>
            </a:r>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DisplayFormat</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DataFormatString</a:t>
            </a:r>
            <a:r>
              <a:rPr lang="en-IN" sz="900" dirty="0">
                <a:solidFill>
                  <a:srgbClr val="000000"/>
                </a:solidFill>
                <a:latin typeface="Consolas" panose="020B0609020204030204" pitchFamily="49" charset="0"/>
              </a:rPr>
              <a:t> = </a:t>
            </a:r>
            <a:r>
              <a:rPr lang="en-IN" sz="900" dirty="0">
                <a:solidFill>
                  <a:srgbClr val="A31515"/>
                </a:solidFill>
                <a:latin typeface="Consolas" panose="020B0609020204030204" pitchFamily="49" charset="0"/>
              </a:rPr>
              <a:t>"{0:d}"</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ApplyFormatInEditMode</a:t>
            </a:r>
            <a:r>
              <a:rPr lang="en-IN" sz="900" dirty="0">
                <a:solidFill>
                  <a:srgbClr val="000000"/>
                </a:solidFill>
                <a:latin typeface="Consolas" panose="020B0609020204030204" pitchFamily="49" charset="0"/>
              </a:rPr>
              <a:t> = </a:t>
            </a:r>
            <a:r>
              <a:rPr lang="en-IN" sz="900" dirty="0">
                <a:solidFill>
                  <a:srgbClr val="0000FF"/>
                </a:solidFill>
                <a:latin typeface="Consolas" panose="020B0609020204030204" pitchFamily="49" charset="0"/>
              </a:rPr>
              <a:t>true</a:t>
            </a:r>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System.DateTime</a:t>
            </a:r>
            <a:r>
              <a:rPr lang="en-US" sz="900" dirty="0">
                <a:solidFill>
                  <a:srgbClr val="000000"/>
                </a:solidFill>
                <a:latin typeface="Consolas" panose="020B0609020204030204" pitchFamily="49" charset="0"/>
              </a:rPr>
              <a:t> DOB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[Required(</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your URL correctly"</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DataType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DataType.Url</a:t>
            </a:r>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 a </a:t>
            </a:r>
            <a:r>
              <a:rPr lang="en-IN" sz="900" dirty="0" err="1">
                <a:solidFill>
                  <a:srgbClr val="008000"/>
                </a:solidFill>
                <a:latin typeface="Consolas" panose="020B0609020204030204" pitchFamily="49" charset="0"/>
              </a:rPr>
              <a:t>href</a:t>
            </a:r>
            <a:r>
              <a:rPr lang="en-IN" sz="900" dirty="0">
                <a:solidFill>
                  <a:srgbClr val="008000"/>
                </a:solidFill>
                <a:latin typeface="Consolas" panose="020B0609020204030204" pitchFamily="49" charset="0"/>
              </a:rPr>
              <a:t>="Http...."</a:t>
            </a:r>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URL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[Required]</a:t>
            </a: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DataType</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DataType.EmailAddress</a:t>
            </a:r>
            <a:r>
              <a:rPr lang="en-US" sz="900" dirty="0">
                <a:solidFill>
                  <a:srgbClr val="000000"/>
                </a:solidFill>
                <a:latin typeface="Consolas" panose="020B0609020204030204" pitchFamily="49" charset="0"/>
              </a:rPr>
              <a:t>)] </a:t>
            </a:r>
            <a:r>
              <a:rPr lang="en-US" sz="900" dirty="0">
                <a:solidFill>
                  <a:srgbClr val="008000"/>
                </a:solidFill>
                <a:latin typeface="Consolas" panose="020B0609020204030204" pitchFamily="49" charset="0"/>
              </a:rPr>
              <a:t>//input type ="Email"</a:t>
            </a:r>
            <a:endParaRPr lang="en-US"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RegularExpression</a:t>
            </a:r>
            <a:r>
              <a:rPr lang="en-US" sz="900" dirty="0">
                <a:solidFill>
                  <a:srgbClr val="000000"/>
                </a:solidFill>
                <a:latin typeface="Consolas" panose="020B0609020204030204" pitchFamily="49" charset="0"/>
              </a:rPr>
              <a:t>(</a:t>
            </a:r>
            <a:r>
              <a:rPr lang="en-US" sz="900" dirty="0">
                <a:solidFill>
                  <a:srgbClr val="800000"/>
                </a:solidFill>
                <a:latin typeface="Consolas" panose="020B0609020204030204" pitchFamily="49" charset="0"/>
              </a:rPr>
              <a:t>@"^[\w-\._\+%]+@(?:[\w-]+\.)+[\w]{2,6}$"</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a valid email address"</a:t>
            </a:r>
            <a:r>
              <a:rPr lang="en-US"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Email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[Compare(</a:t>
            </a:r>
            <a:r>
              <a:rPr lang="en-US" sz="900" dirty="0">
                <a:solidFill>
                  <a:srgbClr val="A31515"/>
                </a:solidFill>
                <a:latin typeface="Consolas" panose="020B0609020204030204" pitchFamily="49" charset="0"/>
              </a:rPr>
              <a:t>"Email"</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a:t>
            </a:r>
            <a:r>
              <a:rPr lang="en-US" sz="900" dirty="0">
                <a:solidFill>
                  <a:srgbClr val="A31515"/>
                </a:solidFill>
                <a:latin typeface="Consolas" panose="020B0609020204030204" pitchFamily="49" charset="0"/>
              </a:rPr>
              <a:t>"Email and confirm Email should match"</a:t>
            </a:r>
            <a:r>
              <a:rPr lang="en-US"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ConfirmEmail</a:t>
            </a:r>
            <a:r>
              <a:rPr lang="en-US" sz="900" dirty="0">
                <a:solidFill>
                  <a:srgbClr val="000000"/>
                </a:solidFill>
                <a:latin typeface="Consolas" panose="020B0609020204030204" pitchFamily="49" charset="0"/>
              </a:rPr>
              <a:t>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endParaRPr lang="en-IN" sz="900" dirty="0">
              <a:solidFill>
                <a:srgbClr val="000000"/>
              </a:solidFill>
              <a:latin typeface="Consolas" panose="020B0609020204030204" pitchFamily="49" charset="0"/>
            </a:endParaRPr>
          </a:p>
          <a:p>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RegularExpression</a:t>
            </a:r>
            <a:r>
              <a:rPr lang="en-US" sz="900" dirty="0">
                <a:solidFill>
                  <a:srgbClr val="000000"/>
                </a:solidFill>
                <a:latin typeface="Consolas" panose="020B0609020204030204" pitchFamily="49" charset="0"/>
              </a:rPr>
              <a:t>(</a:t>
            </a:r>
            <a:r>
              <a:rPr lang="en-US" sz="900" dirty="0">
                <a:solidFill>
                  <a:srgbClr val="A31515"/>
                </a:solidFill>
                <a:latin typeface="Consolas" panose="020B0609020204030204" pitchFamily="49" charset="0"/>
              </a:rPr>
              <a:t>"[0-9]{10}"</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a valid mobile address"</a:t>
            </a:r>
            <a:r>
              <a:rPr lang="en-US"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[Required(</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your phone number"</a:t>
            </a:r>
            <a:r>
              <a:rPr lang="en-US" sz="900" dirty="0">
                <a:solidFill>
                  <a:srgbClr val="000000"/>
                </a:solidFill>
                <a:latin typeface="Consolas" panose="020B0609020204030204" pitchFamily="49" charset="0"/>
              </a:rPr>
              <a:t>)]</a:t>
            </a: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DataType</a:t>
            </a:r>
            <a:r>
              <a:rPr lang="en-IN" sz="900" dirty="0">
                <a:solidFill>
                  <a:srgbClr val="000000"/>
                </a:solidFill>
                <a:latin typeface="Consolas" panose="020B0609020204030204" pitchFamily="49" charset="0"/>
              </a:rPr>
              <a:t>(</a:t>
            </a:r>
            <a:r>
              <a:rPr lang="en-IN" sz="900" dirty="0" err="1">
                <a:solidFill>
                  <a:srgbClr val="000000"/>
                </a:solidFill>
                <a:latin typeface="Consolas" panose="020B0609020204030204" pitchFamily="49" charset="0"/>
              </a:rPr>
              <a:t>DataType.PhoneNumber</a:t>
            </a:r>
            <a:r>
              <a:rPr lang="en-IN" sz="900" dirty="0">
                <a:solidFill>
                  <a:srgbClr val="000000"/>
                </a:solidFill>
                <a:latin typeface="Consolas" panose="020B0609020204030204" pitchFamily="49" charset="0"/>
              </a:rPr>
              <a:t>)] </a:t>
            </a:r>
            <a:r>
              <a:rPr lang="en-IN" sz="900" dirty="0">
                <a:solidFill>
                  <a:srgbClr val="008000"/>
                </a:solidFill>
                <a:latin typeface="Consolas" panose="020B0609020204030204" pitchFamily="49" charset="0"/>
              </a:rPr>
              <a:t>//type="</a:t>
            </a:r>
            <a:r>
              <a:rPr lang="en-IN" sz="900" dirty="0" err="1">
                <a:solidFill>
                  <a:srgbClr val="008000"/>
                </a:solidFill>
                <a:latin typeface="Consolas" panose="020B0609020204030204" pitchFamily="49" charset="0"/>
              </a:rPr>
              <a:t>tel</a:t>
            </a:r>
            <a:r>
              <a:rPr lang="en-IN" sz="900" dirty="0">
                <a:solidFill>
                  <a:srgbClr val="008000"/>
                </a:solidFill>
                <a:latin typeface="Consolas" panose="020B0609020204030204" pitchFamily="49" charset="0"/>
              </a:rPr>
              <a:t>"</a:t>
            </a:r>
            <a:endParaRPr lang="en-IN"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Mobile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Gender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bool</a:t>
            </a:r>
            <a:r>
              <a:rPr lang="en-US" sz="900" dirty="0">
                <a:solidFill>
                  <a:srgbClr val="000000"/>
                </a:solidFill>
                <a:latin typeface="Consolas" panose="020B0609020204030204" pitchFamily="49" charset="0"/>
              </a:rPr>
              <a:t> Remember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 </a:t>
            </a:r>
            <a:r>
              <a:rPr lang="en-US" sz="900" dirty="0">
                <a:solidFill>
                  <a:srgbClr val="008000"/>
                </a:solidFill>
                <a:latin typeface="Consolas" panose="020B0609020204030204" pitchFamily="49" charset="0"/>
              </a:rPr>
              <a:t>//bool datatype give single checkbox </a:t>
            </a:r>
            <a:endParaRPr lang="en-US" sz="900" dirty="0">
              <a:solidFill>
                <a:srgbClr val="000000"/>
              </a:solidFill>
              <a:latin typeface="Consolas" panose="020B0609020204030204" pitchFamily="49" charset="0"/>
            </a:endParaRP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RegularExpression</a:t>
            </a:r>
            <a:r>
              <a:rPr lang="en-IN" sz="900" dirty="0">
                <a:solidFill>
                  <a:srgbClr val="000000"/>
                </a:solidFill>
                <a:latin typeface="Consolas" panose="020B0609020204030204" pitchFamily="49" charset="0"/>
              </a:rPr>
              <a:t>(</a:t>
            </a:r>
            <a:r>
              <a:rPr lang="en-IN" sz="900" dirty="0">
                <a:solidFill>
                  <a:srgbClr val="A31515"/>
                </a:solidFill>
                <a:latin typeface="Consolas" panose="020B0609020204030204" pitchFamily="49" charset="0"/>
              </a:rPr>
              <a:t>"[0-9]{6}"</a:t>
            </a:r>
            <a:r>
              <a:rPr lang="en-IN" sz="900" dirty="0">
                <a:solidFill>
                  <a:srgbClr val="000000"/>
                </a:solidFill>
                <a:latin typeface="Consolas" panose="020B0609020204030204" pitchFamily="49" charset="0"/>
              </a:rPr>
              <a:t>, </a:t>
            </a:r>
            <a:r>
              <a:rPr lang="en-IN" sz="900" dirty="0" err="1">
                <a:solidFill>
                  <a:srgbClr val="000000"/>
                </a:solidFill>
                <a:latin typeface="Consolas" panose="020B0609020204030204" pitchFamily="49" charset="0"/>
              </a:rPr>
              <a:t>ErrorMessage</a:t>
            </a:r>
            <a:r>
              <a:rPr lang="en-IN" sz="900" dirty="0">
                <a:solidFill>
                  <a:srgbClr val="000000"/>
                </a:solidFill>
                <a:latin typeface="Consolas" panose="020B0609020204030204" pitchFamily="49" charset="0"/>
              </a:rPr>
              <a:t> = </a:t>
            </a:r>
            <a:r>
              <a:rPr lang="en-IN" sz="900" dirty="0">
                <a:solidFill>
                  <a:srgbClr val="A31515"/>
                </a:solidFill>
                <a:latin typeface="Consolas" panose="020B0609020204030204" pitchFamily="49" charset="0"/>
              </a:rPr>
              <a:t>"Please enter a valid Postal Code"</a:t>
            </a:r>
            <a:r>
              <a:rPr lang="en-IN"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[Required(</a:t>
            </a:r>
            <a:r>
              <a:rPr lang="en-US" sz="900" dirty="0" err="1">
                <a:solidFill>
                  <a:srgbClr val="000000"/>
                </a:solidFill>
                <a:latin typeface="Consolas" panose="020B0609020204030204" pitchFamily="49" charset="0"/>
              </a:rPr>
              <a:t>ErrorMessage</a:t>
            </a:r>
            <a:r>
              <a:rPr lang="en-US" sz="900" dirty="0">
                <a:solidFill>
                  <a:srgbClr val="000000"/>
                </a:solidFill>
                <a:latin typeface="Consolas" panose="020B0609020204030204" pitchFamily="49" charset="0"/>
              </a:rPr>
              <a:t> = </a:t>
            </a:r>
            <a:r>
              <a:rPr lang="en-US" sz="900" dirty="0">
                <a:solidFill>
                  <a:srgbClr val="A31515"/>
                </a:solidFill>
                <a:latin typeface="Consolas" panose="020B0609020204030204" pitchFamily="49" charset="0"/>
              </a:rPr>
              <a:t>"Please enter your Pin code"</a:t>
            </a:r>
            <a:r>
              <a:rPr lang="en-US" sz="900" dirty="0">
                <a:solidFill>
                  <a:srgbClr val="000000"/>
                </a:solidFill>
                <a:latin typeface="Consolas" panose="020B0609020204030204" pitchFamily="49" charset="0"/>
              </a:rPr>
              <a:t>)]</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public</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string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PostalCode</a:t>
            </a:r>
            <a:r>
              <a:rPr lang="en-US" sz="900" dirty="0">
                <a:solidFill>
                  <a:srgbClr val="000000"/>
                </a:solidFill>
                <a:latin typeface="Consolas" panose="020B0609020204030204" pitchFamily="49" charset="0"/>
              </a:rPr>
              <a:t> { </a:t>
            </a:r>
            <a:r>
              <a:rPr lang="en-US" sz="900" dirty="0">
                <a:solidFill>
                  <a:srgbClr val="0000FF"/>
                </a:solidFill>
                <a:latin typeface="Consolas" panose="020B0609020204030204" pitchFamily="49" charset="0"/>
              </a:rPr>
              <a:t>get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set</a:t>
            </a:r>
            <a:r>
              <a:rPr lang="en-US" sz="900" dirty="0">
                <a:solidFill>
                  <a:srgbClr val="000000"/>
                </a:solidFill>
                <a:latin typeface="Consolas" panose="020B0609020204030204" pitchFamily="49" charset="0"/>
              </a:rPr>
              <a:t>; }</a:t>
            </a:r>
          </a:p>
          <a:p>
            <a:endParaRPr lang="en-IN" sz="900" dirty="0">
              <a:solidFill>
                <a:srgbClr val="000000"/>
              </a:solidFill>
              <a:latin typeface="Consolas" panose="020B0609020204030204" pitchFamily="49" charset="0"/>
            </a:endParaRPr>
          </a:p>
          <a:p>
            <a:r>
              <a:rPr lang="en-IN" sz="900" dirty="0">
                <a:solidFill>
                  <a:srgbClr val="000000"/>
                </a:solidFill>
                <a:latin typeface="Consolas" panose="020B0609020204030204" pitchFamily="49" charset="0"/>
              </a:rPr>
              <a:t>    }</a:t>
            </a:r>
            <a:endParaRPr lang="en-IN" dirty="0"/>
          </a:p>
        </p:txBody>
      </p:sp>
      <p:sp>
        <p:nvSpPr>
          <p:cNvPr id="6" name="TextBox 5">
            <a:extLst>
              <a:ext uri="{FF2B5EF4-FFF2-40B4-BE49-F238E27FC236}">
                <a16:creationId xmlns:a16="http://schemas.microsoft.com/office/drawing/2014/main" id="{99775102-E01E-493A-A53C-8A4361E5AD04}"/>
              </a:ext>
            </a:extLst>
          </p:cNvPr>
          <p:cNvSpPr txBox="1"/>
          <p:nvPr/>
        </p:nvSpPr>
        <p:spPr>
          <a:xfrm>
            <a:off x="8416414" y="0"/>
            <a:ext cx="3421626" cy="5632311"/>
          </a:xfrm>
          <a:prstGeom prst="rect">
            <a:avLst/>
          </a:prstGeom>
          <a:noFill/>
        </p:spPr>
        <p:txBody>
          <a:bodyPr wrap="square" rtlCol="0">
            <a:spAutoFit/>
          </a:bodyPr>
          <a:lstStyle/>
          <a:p>
            <a:r>
              <a:rPr lang="en-IN" dirty="0"/>
              <a:t>Create class Customer</a:t>
            </a:r>
          </a:p>
          <a:p>
            <a:r>
              <a:rPr lang="en-IN" dirty="0"/>
              <a:t>With</a:t>
            </a:r>
          </a:p>
          <a:p>
            <a:r>
              <a:rPr lang="en-IN" dirty="0"/>
              <a:t>Id</a:t>
            </a:r>
          </a:p>
          <a:p>
            <a:r>
              <a:rPr lang="en-IN" dirty="0"/>
              <a:t> Name </a:t>
            </a:r>
            <a:r>
              <a:rPr lang="en-IN" dirty="0">
                <a:sym typeface="Wingdings" panose="05000000000000000000" pitchFamily="2" charset="2"/>
              </a:rPr>
              <a:t>min 3 max 15 character</a:t>
            </a:r>
          </a:p>
          <a:p>
            <a:r>
              <a:rPr lang="en-IN" dirty="0">
                <a:sym typeface="Wingdings" panose="05000000000000000000" pitchFamily="2" charset="2"/>
              </a:rPr>
              <a:t>Password  Min 8 max 15</a:t>
            </a:r>
          </a:p>
          <a:p>
            <a:r>
              <a:rPr lang="en-IN" dirty="0" err="1">
                <a:sym typeface="Wingdings" panose="05000000000000000000" pitchFamily="2" charset="2"/>
              </a:rPr>
              <a:t>AddressText</a:t>
            </a:r>
            <a:r>
              <a:rPr lang="en-IN" dirty="0">
                <a:sym typeface="Wingdings" panose="05000000000000000000" pitchFamily="2" charset="2"/>
              </a:rPr>
              <a:t> area</a:t>
            </a:r>
          </a:p>
          <a:p>
            <a:r>
              <a:rPr lang="en-IN" dirty="0">
                <a:sym typeface="Wingdings" panose="05000000000000000000" pitchFamily="2" charset="2"/>
              </a:rPr>
              <a:t>DOB </a:t>
            </a:r>
            <a:r>
              <a:rPr lang="en-IN" dirty="0" err="1">
                <a:sym typeface="Wingdings" panose="05000000000000000000" pitchFamily="2" charset="2"/>
              </a:rPr>
              <a:t>Calander</a:t>
            </a:r>
            <a:endParaRPr lang="en-IN" dirty="0">
              <a:sym typeface="Wingdings" panose="05000000000000000000" pitchFamily="2" charset="2"/>
            </a:endParaRPr>
          </a:p>
          <a:p>
            <a:r>
              <a:rPr lang="en-IN" dirty="0">
                <a:sym typeface="Wingdings" panose="05000000000000000000" pitchFamily="2" charset="2"/>
              </a:rPr>
              <a:t>Age range 18 to 105</a:t>
            </a:r>
          </a:p>
          <a:p>
            <a:r>
              <a:rPr lang="en-IN" dirty="0">
                <a:sym typeface="Wingdings" panose="05000000000000000000" pitchFamily="2" charset="2"/>
              </a:rPr>
              <a:t>Photo image should be visible</a:t>
            </a:r>
          </a:p>
          <a:p>
            <a:r>
              <a:rPr lang="en-IN" dirty="0">
                <a:sym typeface="Wingdings" panose="05000000000000000000" pitchFamily="2" charset="2"/>
              </a:rPr>
              <a:t>URL</a:t>
            </a:r>
          </a:p>
          <a:p>
            <a:r>
              <a:rPr lang="en-IN" dirty="0">
                <a:sym typeface="Wingdings" panose="05000000000000000000" pitchFamily="2" charset="2"/>
              </a:rPr>
              <a:t>Email</a:t>
            </a:r>
          </a:p>
          <a:p>
            <a:r>
              <a:rPr lang="en-IN" dirty="0" err="1">
                <a:sym typeface="Wingdings" panose="05000000000000000000" pitchFamily="2" charset="2"/>
              </a:rPr>
              <a:t>ConfirmEmail</a:t>
            </a:r>
            <a:r>
              <a:rPr lang="en-IN" dirty="0">
                <a:sym typeface="Wingdings" panose="05000000000000000000" pitchFamily="2" charset="2"/>
              </a:rPr>
              <a:t> [should be same as email=Compare]</a:t>
            </a:r>
          </a:p>
          <a:p>
            <a:r>
              <a:rPr lang="en-IN" dirty="0">
                <a:sym typeface="Wingdings" panose="05000000000000000000" pitchFamily="2" charset="2"/>
              </a:rPr>
              <a:t>Mobile</a:t>
            </a:r>
          </a:p>
          <a:p>
            <a:r>
              <a:rPr lang="en-IN" dirty="0">
                <a:sym typeface="Wingdings" panose="05000000000000000000" pitchFamily="2" charset="2"/>
              </a:rPr>
              <a:t>Gender</a:t>
            </a:r>
          </a:p>
          <a:p>
            <a:r>
              <a:rPr lang="en-IN" dirty="0" err="1">
                <a:sym typeface="Wingdings" panose="05000000000000000000" pitchFamily="2" charset="2"/>
              </a:rPr>
              <a:t>Remenber</a:t>
            </a:r>
            <a:r>
              <a:rPr lang="en-IN" dirty="0">
                <a:sym typeface="Wingdings" panose="05000000000000000000" pitchFamily="2" charset="2"/>
              </a:rPr>
              <a:t>  bool</a:t>
            </a:r>
          </a:p>
          <a:p>
            <a:r>
              <a:rPr lang="en-IN" dirty="0">
                <a:sym typeface="Wingdings" panose="05000000000000000000" pitchFamily="2" charset="2"/>
              </a:rPr>
              <a:t>Postal code</a:t>
            </a:r>
          </a:p>
          <a:p>
            <a:r>
              <a:rPr lang="en-IN" dirty="0">
                <a:sym typeface="Wingdings" panose="05000000000000000000" pitchFamily="2" charset="2"/>
              </a:rPr>
              <a:t>Gender  drop down</a:t>
            </a:r>
          </a:p>
          <a:p>
            <a:endParaRPr lang="en-IN" dirty="0">
              <a:sym typeface="Wingdings" panose="05000000000000000000" pitchFamily="2" charset="2"/>
            </a:endParaRPr>
          </a:p>
          <a:p>
            <a:endParaRPr lang="en-IN" dirty="0"/>
          </a:p>
        </p:txBody>
      </p:sp>
    </p:spTree>
    <p:extLst>
      <p:ext uri="{BB962C8B-B14F-4D97-AF65-F5344CB8AC3E}">
        <p14:creationId xmlns:p14="http://schemas.microsoft.com/office/powerpoint/2010/main" val="2458016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83E3DE-E29C-48D6-9E9D-427DB9714197}"/>
              </a:ext>
            </a:extLst>
          </p:cNvPr>
          <p:cNvSpPr txBox="1"/>
          <p:nvPr/>
        </p:nvSpPr>
        <p:spPr>
          <a:xfrm>
            <a:off x="2851355" y="287282"/>
            <a:ext cx="6096000" cy="369332"/>
          </a:xfrm>
          <a:prstGeom prst="rect">
            <a:avLst/>
          </a:prstGeom>
          <a:noFill/>
        </p:spPr>
        <p:txBody>
          <a:bodyPr wrap="square">
            <a:spAutoFit/>
          </a:bodyPr>
          <a:lstStyle/>
          <a:p>
            <a:r>
              <a:rPr lang="en-IN" b="1" dirty="0">
                <a:solidFill>
                  <a:srgbClr val="333333"/>
                </a:solidFill>
                <a:latin typeface="arial" panose="020B0604020202020204" pitchFamily="34" charset="0"/>
              </a:rPr>
              <a:t>ASP.NET Core Built-in Model Validation Attributes</a:t>
            </a:r>
            <a:endParaRPr lang="en-IN" dirty="0">
              <a:solidFill>
                <a:prstClr val="black"/>
              </a:solidFill>
              <a:latin typeface="Calibri" panose="020F0502020204030204"/>
            </a:endParaRPr>
          </a:p>
        </p:txBody>
      </p:sp>
      <p:graphicFrame>
        <p:nvGraphicFramePr>
          <p:cNvPr id="5" name="Table 4">
            <a:extLst>
              <a:ext uri="{FF2B5EF4-FFF2-40B4-BE49-F238E27FC236}">
                <a16:creationId xmlns:a16="http://schemas.microsoft.com/office/drawing/2014/main" id="{88ACED5B-B63B-4962-9D72-01F067813AC9}"/>
              </a:ext>
            </a:extLst>
          </p:cNvPr>
          <p:cNvGraphicFramePr>
            <a:graphicFrameLocks noGrp="1"/>
          </p:cNvGraphicFramePr>
          <p:nvPr/>
        </p:nvGraphicFramePr>
        <p:xfrm>
          <a:off x="641555" y="797698"/>
          <a:ext cx="10515600" cy="2788920"/>
        </p:xfrm>
        <a:graphic>
          <a:graphicData uri="http://schemas.openxmlformats.org/drawingml/2006/table">
            <a:tbl>
              <a:tblPr/>
              <a:tblGrid>
                <a:gridCol w="3193026">
                  <a:extLst>
                    <a:ext uri="{9D8B030D-6E8A-4147-A177-3AD203B41FA5}">
                      <a16:colId xmlns:a16="http://schemas.microsoft.com/office/drawing/2014/main" val="1399938318"/>
                    </a:ext>
                  </a:extLst>
                </a:gridCol>
                <a:gridCol w="7322574">
                  <a:extLst>
                    <a:ext uri="{9D8B030D-6E8A-4147-A177-3AD203B41FA5}">
                      <a16:colId xmlns:a16="http://schemas.microsoft.com/office/drawing/2014/main" val="1643298536"/>
                    </a:ext>
                  </a:extLst>
                </a:gridCol>
              </a:tblGrid>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Attribute</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Purpose</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025751332"/>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Required</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a:effectLst/>
                        </a:rPr>
                        <a:t>Specifies the field is required</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61588846"/>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Range</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a:effectLst/>
                        </a:rPr>
                        <a:t>Specifies the minimum and maximum value allowed</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22097091"/>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MinLength</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dirty="0">
                          <a:effectLst/>
                        </a:rPr>
                        <a:t>Specifies the minimum length of a string</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73767424"/>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MaxLength</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a:effectLst/>
                        </a:rPr>
                        <a:t>Specifies the maximum length of a string</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50232563"/>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Compare</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a:effectLst/>
                        </a:rPr>
                        <a:t>Compares 2 properties of a model. For example compare Email and ConfirmEmail properties</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16303888"/>
                  </a:ext>
                </a:extLst>
              </a:tr>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IN">
                          <a:effectLst/>
                        </a:rPr>
                        <a:t>RegularExpression</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dirty="0">
                          <a:effectLst/>
                        </a:rPr>
                        <a:t>Validates if the provided value matches the pattern specified by the regular expression</a:t>
                      </a:r>
                    </a:p>
                  </a:txBody>
                  <a:tcPr marL="22860" marR="22860" marT="22860" marB="2286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2150165"/>
                  </a:ext>
                </a:extLst>
              </a:tr>
            </a:tbl>
          </a:graphicData>
        </a:graphic>
      </p:graphicFrame>
      <p:sp>
        <p:nvSpPr>
          <p:cNvPr id="2" name="TextBox 1">
            <a:extLst>
              <a:ext uri="{FF2B5EF4-FFF2-40B4-BE49-F238E27FC236}">
                <a16:creationId xmlns:a16="http://schemas.microsoft.com/office/drawing/2014/main" id="{4B2B6C12-036E-4176-9B5F-B2513C9E4AC4}"/>
              </a:ext>
            </a:extLst>
          </p:cNvPr>
          <p:cNvSpPr txBox="1"/>
          <p:nvPr/>
        </p:nvSpPr>
        <p:spPr>
          <a:xfrm>
            <a:off x="1661652" y="4424516"/>
            <a:ext cx="5830529" cy="646331"/>
          </a:xfrm>
          <a:prstGeom prst="rect">
            <a:avLst/>
          </a:prstGeom>
          <a:noFill/>
        </p:spPr>
        <p:txBody>
          <a:bodyPr wrap="square" rtlCol="0">
            <a:spAutoFit/>
          </a:bodyPr>
          <a:lstStyle/>
          <a:p>
            <a:r>
              <a:rPr lang="en-IN" dirty="0"/>
              <a:t>C:\user\</a:t>
            </a:r>
            <a:r>
              <a:rPr lang="en-IN" dirty="0">
                <a:sym typeface="Wingdings" panose="05000000000000000000" pitchFamily="2" charset="2"/>
              </a:rPr>
              <a:t>Physical Path</a:t>
            </a:r>
          </a:p>
          <a:p>
            <a:r>
              <a:rPr lang="en-IN" dirty="0">
                <a:sym typeface="Wingdings" panose="05000000000000000000" pitchFamily="2" charset="2"/>
                <a:hlinkClick r:id="rId2"/>
              </a:rPr>
              <a:t>http://www.Localhost:445/images/a.png </a:t>
            </a:r>
            <a:r>
              <a:rPr lang="en-IN" dirty="0">
                <a:sym typeface="Wingdings" panose="05000000000000000000" pitchFamily="2" charset="2"/>
              </a:rPr>
              <a:t> Virtual Path</a:t>
            </a:r>
            <a:endParaRPr lang="en-IN" dirty="0"/>
          </a:p>
        </p:txBody>
      </p:sp>
      <p:sp>
        <p:nvSpPr>
          <p:cNvPr id="3" name="TextBox 2">
            <a:extLst>
              <a:ext uri="{FF2B5EF4-FFF2-40B4-BE49-F238E27FC236}">
                <a16:creationId xmlns:a16="http://schemas.microsoft.com/office/drawing/2014/main" id="{A9E25CA5-55B2-1791-90AA-8D2B29B31E26}"/>
              </a:ext>
            </a:extLst>
          </p:cNvPr>
          <p:cNvSpPr txBox="1"/>
          <p:nvPr/>
        </p:nvSpPr>
        <p:spPr>
          <a:xfrm>
            <a:off x="8603226" y="4001729"/>
            <a:ext cx="2123768" cy="369332"/>
          </a:xfrm>
          <a:prstGeom prst="rect">
            <a:avLst/>
          </a:prstGeom>
          <a:noFill/>
        </p:spPr>
        <p:txBody>
          <a:bodyPr wrap="square" rtlCol="0">
            <a:spAutoFit/>
          </a:bodyPr>
          <a:lstStyle/>
          <a:p>
            <a:r>
              <a:rPr lang="en-IN" dirty="0"/>
              <a:t>Images/a.png</a:t>
            </a:r>
          </a:p>
        </p:txBody>
      </p:sp>
    </p:spTree>
    <p:extLst>
      <p:ext uri="{BB962C8B-B14F-4D97-AF65-F5344CB8AC3E}">
        <p14:creationId xmlns:p14="http://schemas.microsoft.com/office/powerpoint/2010/main" val="3884987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816247-C7F8-46A0-9809-2CC4C88227AF}"/>
              </a:ext>
            </a:extLst>
          </p:cNvPr>
          <p:cNvPicPr>
            <a:picLocks noChangeAspect="1"/>
          </p:cNvPicPr>
          <p:nvPr/>
        </p:nvPicPr>
        <p:blipFill rotWithShape="1">
          <a:blip r:embed="rId2"/>
          <a:srcRect l="4193" t="3728" r="18226" b="5807"/>
          <a:stretch/>
        </p:blipFill>
        <p:spPr>
          <a:xfrm>
            <a:off x="1366683" y="98322"/>
            <a:ext cx="9458633" cy="6204156"/>
          </a:xfrm>
          <a:prstGeom prst="rect">
            <a:avLst/>
          </a:prstGeom>
        </p:spPr>
      </p:pic>
    </p:spTree>
    <p:extLst>
      <p:ext uri="{BB962C8B-B14F-4D97-AF65-F5344CB8AC3E}">
        <p14:creationId xmlns:p14="http://schemas.microsoft.com/office/powerpoint/2010/main" val="2940989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53484C-7FCA-4827-B21E-4316E11881E2}"/>
              </a:ext>
            </a:extLst>
          </p:cNvPr>
          <p:cNvSpPr txBox="1"/>
          <p:nvPr/>
        </p:nvSpPr>
        <p:spPr>
          <a:xfrm>
            <a:off x="3372465" y="53714"/>
            <a:ext cx="6096000" cy="369332"/>
          </a:xfrm>
          <a:prstGeom prst="rect">
            <a:avLst/>
          </a:prstGeom>
          <a:noFill/>
        </p:spPr>
        <p:txBody>
          <a:bodyPr wrap="square">
            <a:spAutoFit/>
          </a:bodyPr>
          <a:lstStyle/>
          <a:p>
            <a:r>
              <a:rPr lang="en-IN" b="1" i="0" dirty="0">
                <a:solidFill>
                  <a:srgbClr val="333333"/>
                </a:solidFill>
                <a:effectLst/>
                <a:latin typeface="arial" panose="020B0604020202020204" pitchFamily="34" charset="0"/>
              </a:rPr>
              <a:t>Model Validation Errors Colour</a:t>
            </a:r>
            <a:endParaRPr lang="en-IN" dirty="0"/>
          </a:p>
        </p:txBody>
      </p:sp>
      <p:sp>
        <p:nvSpPr>
          <p:cNvPr id="7" name="TextBox 6">
            <a:extLst>
              <a:ext uri="{FF2B5EF4-FFF2-40B4-BE49-F238E27FC236}">
                <a16:creationId xmlns:a16="http://schemas.microsoft.com/office/drawing/2014/main" id="{5DED3423-9F41-4C07-A8CB-6B60613E610C}"/>
              </a:ext>
            </a:extLst>
          </p:cNvPr>
          <p:cNvSpPr txBox="1"/>
          <p:nvPr/>
        </p:nvSpPr>
        <p:spPr>
          <a:xfrm>
            <a:off x="427703" y="645255"/>
            <a:ext cx="11336593" cy="646331"/>
          </a:xfrm>
          <a:prstGeom prst="rect">
            <a:avLst/>
          </a:prstGeom>
          <a:noFill/>
        </p:spPr>
        <p:txBody>
          <a:bodyPr wrap="square">
            <a:spAutoFit/>
          </a:bodyPr>
          <a:lstStyle/>
          <a:p>
            <a:r>
              <a:rPr lang="en-US" b="0" i="0" dirty="0">
                <a:solidFill>
                  <a:srgbClr val="333333"/>
                </a:solidFill>
                <a:effectLst/>
                <a:latin typeface="arial" panose="020B0604020202020204" pitchFamily="34" charset="0"/>
              </a:rPr>
              <a:t>To change the </a:t>
            </a:r>
            <a:r>
              <a:rPr lang="en-US" b="0" i="0" dirty="0" err="1">
                <a:solidFill>
                  <a:srgbClr val="333333"/>
                </a:solidFill>
                <a:effectLst/>
                <a:latin typeface="arial" panose="020B0604020202020204" pitchFamily="34" charset="0"/>
              </a:rPr>
              <a:t>colour</a:t>
            </a:r>
            <a:r>
              <a:rPr lang="en-US" b="0" i="0" dirty="0">
                <a:solidFill>
                  <a:srgbClr val="333333"/>
                </a:solidFill>
                <a:effectLst/>
                <a:latin typeface="arial" panose="020B0604020202020204" pitchFamily="34" charset="0"/>
              </a:rPr>
              <a:t> of the model validation errors on the UI, use Bootstrap </a:t>
            </a:r>
            <a:r>
              <a:rPr lang="en-US" b="0" i="1" dirty="0">
                <a:solidFill>
                  <a:srgbClr val="333333"/>
                </a:solidFill>
                <a:effectLst/>
                <a:latin typeface="arial" panose="020B0604020202020204" pitchFamily="34" charset="0"/>
              </a:rPr>
              <a:t>text-danger </a:t>
            </a:r>
            <a:r>
              <a:rPr lang="en-US" b="0" i="0" dirty="0">
                <a:solidFill>
                  <a:srgbClr val="333333"/>
                </a:solidFill>
                <a:effectLst/>
                <a:latin typeface="arial" panose="020B0604020202020204" pitchFamily="34" charset="0"/>
              </a:rPr>
              <a:t>class on the </a:t>
            </a:r>
            <a:r>
              <a:rPr lang="en-US" b="0" i="0" dirty="0">
                <a:solidFill>
                  <a:srgbClr val="0000FF"/>
                </a:solidFill>
                <a:effectLst/>
                <a:latin typeface="arial" panose="020B0604020202020204" pitchFamily="34" charset="0"/>
              </a:rPr>
              <a:t>&lt;</a:t>
            </a:r>
            <a:r>
              <a:rPr lang="en-US" b="0" i="0" dirty="0">
                <a:solidFill>
                  <a:srgbClr val="990000"/>
                </a:solidFill>
                <a:effectLst/>
                <a:latin typeface="arial" panose="020B0604020202020204" pitchFamily="34" charset="0"/>
              </a:rPr>
              <a:t>span</a:t>
            </a:r>
            <a:r>
              <a:rPr lang="en-US" b="0" i="0" dirty="0">
                <a:solidFill>
                  <a:srgbClr val="0000FF"/>
                </a:solidFill>
                <a:effectLst/>
                <a:latin typeface="arial" panose="020B0604020202020204" pitchFamily="34" charset="0"/>
              </a:rPr>
              <a:t>&gt;</a:t>
            </a:r>
            <a:r>
              <a:rPr lang="en-US" b="0" i="0" dirty="0">
                <a:solidFill>
                  <a:srgbClr val="333333"/>
                </a:solidFill>
                <a:effectLst/>
                <a:latin typeface="arial" panose="020B0604020202020204" pitchFamily="34" charset="0"/>
              </a:rPr>
              <a:t> and </a:t>
            </a:r>
            <a:r>
              <a:rPr lang="en-US" b="0" i="0" dirty="0">
                <a:solidFill>
                  <a:srgbClr val="0000FF"/>
                </a:solidFill>
                <a:effectLst/>
                <a:latin typeface="arial" panose="020B0604020202020204" pitchFamily="34" charset="0"/>
              </a:rPr>
              <a:t>&lt;</a:t>
            </a:r>
            <a:r>
              <a:rPr lang="en-US" b="0" i="0" dirty="0">
                <a:solidFill>
                  <a:srgbClr val="990000"/>
                </a:solidFill>
                <a:effectLst/>
                <a:latin typeface="arial" panose="020B0604020202020204" pitchFamily="34" charset="0"/>
              </a:rPr>
              <a:t>div</a:t>
            </a:r>
            <a:r>
              <a:rPr lang="en-US" b="0" i="0" dirty="0">
                <a:solidFill>
                  <a:srgbClr val="0000FF"/>
                </a:solidFill>
                <a:effectLst/>
                <a:latin typeface="arial" panose="020B0604020202020204" pitchFamily="34" charset="0"/>
              </a:rPr>
              <a:t>&gt;</a:t>
            </a:r>
            <a:r>
              <a:rPr lang="en-US" b="0" i="0" dirty="0">
                <a:solidFill>
                  <a:srgbClr val="333333"/>
                </a:solidFill>
                <a:effectLst/>
                <a:latin typeface="arial" panose="020B0604020202020204" pitchFamily="34" charset="0"/>
              </a:rPr>
              <a:t> elements that have </a:t>
            </a:r>
            <a:r>
              <a:rPr lang="en-US" b="0" i="1" dirty="0">
                <a:solidFill>
                  <a:srgbClr val="333333"/>
                </a:solidFill>
                <a:effectLst/>
                <a:latin typeface="arial" panose="020B0604020202020204" pitchFamily="34" charset="0"/>
              </a:rPr>
              <a:t>asp-validation-for</a:t>
            </a:r>
            <a:r>
              <a:rPr lang="en-US" b="0" i="0" dirty="0">
                <a:solidFill>
                  <a:srgbClr val="333333"/>
                </a:solidFill>
                <a:effectLst/>
                <a:latin typeface="arial" panose="020B0604020202020204" pitchFamily="34" charset="0"/>
              </a:rPr>
              <a:t> and </a:t>
            </a:r>
            <a:r>
              <a:rPr lang="en-US" b="0" i="1" dirty="0">
                <a:solidFill>
                  <a:srgbClr val="333333"/>
                </a:solidFill>
                <a:effectLst/>
                <a:latin typeface="arial" panose="020B0604020202020204" pitchFamily="34" charset="0"/>
              </a:rPr>
              <a:t>asp-validation-summary</a:t>
            </a:r>
            <a:r>
              <a:rPr lang="en-US" b="0" i="0" dirty="0">
                <a:solidFill>
                  <a:srgbClr val="333333"/>
                </a:solidFill>
                <a:effectLst/>
                <a:latin typeface="arial" panose="020B0604020202020204" pitchFamily="34" charset="0"/>
              </a:rPr>
              <a:t> tag helpers</a:t>
            </a:r>
            <a:endParaRPr lang="en-IN" dirty="0"/>
          </a:p>
        </p:txBody>
      </p:sp>
      <p:sp>
        <p:nvSpPr>
          <p:cNvPr id="8" name="Rectangle 1">
            <a:extLst>
              <a:ext uri="{FF2B5EF4-FFF2-40B4-BE49-F238E27FC236}">
                <a16:creationId xmlns:a16="http://schemas.microsoft.com/office/drawing/2014/main" id="{F52F57AB-AC57-41B7-8732-60C85796595C}"/>
              </a:ext>
            </a:extLst>
          </p:cNvPr>
          <p:cNvSpPr>
            <a:spLocks noChangeArrowheads="1"/>
          </p:cNvSpPr>
          <p:nvPr/>
        </p:nvSpPr>
        <p:spPr bwMode="auto">
          <a:xfrm>
            <a:off x="834104" y="1513795"/>
            <a:ext cx="8868698" cy="584775"/>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6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div</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asp-validation-summary</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All</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class</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="text-danger"&gt;&lt;/</a:t>
            </a:r>
            <a:r>
              <a:rPr kumimoji="0" lang="en-US" altLang="en-US" sz="16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div</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600" b="0" i="0" u="none" strike="noStrike" cap="none" normalizeH="0" baseline="0" dirty="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&lt;</a:t>
            </a:r>
            <a:r>
              <a:rPr kumimoji="0" lang="en-US" altLang="en-US" sz="16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span</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asp-validation-for</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Name</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a:t>
            </a:r>
            <a:r>
              <a:rPr kumimoji="0" lang="en-US" altLang="en-US"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rgbClr val="FF0000"/>
                </a:solidFill>
                <a:effectLst/>
                <a:latin typeface="Arial" panose="020B0604020202020204" pitchFamily="34" charset="0"/>
                <a:cs typeface="Arial" panose="020B0604020202020204" pitchFamily="34" charset="0"/>
              </a:rPr>
              <a:t>class</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="text-danger"&gt;&lt;/</a:t>
            </a:r>
            <a:r>
              <a:rPr kumimoji="0" lang="en-US" altLang="en-US" sz="1600" b="1" i="0" u="none" strike="noStrike" cap="none" normalizeH="0" baseline="0" dirty="0">
                <a:ln>
                  <a:noFill/>
                </a:ln>
                <a:solidFill>
                  <a:srgbClr val="800080"/>
                </a:solidFill>
                <a:effectLst/>
                <a:latin typeface="Arial" panose="020B0604020202020204" pitchFamily="34" charset="0"/>
                <a:cs typeface="Arial" panose="020B0604020202020204" pitchFamily="34" charset="0"/>
              </a:rPr>
              <a:t>span</a:t>
            </a:r>
            <a:r>
              <a:rPr kumimoji="0" lang="en-US" altLang="en-US" sz="16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&gt;</a:t>
            </a:r>
            <a:endParaRPr kumimoji="0" lang="en-US" altLang="en-US" sz="1200" b="0" i="0" u="none" strike="noStrike" cap="none" normalizeH="0" baseline="0" dirty="0">
              <a:ln>
                <a:noFill/>
              </a:ln>
              <a:solidFill>
                <a:schemeClr val="tx1"/>
              </a:solidFill>
              <a:effectLst/>
            </a:endParaRPr>
          </a:p>
        </p:txBody>
      </p:sp>
      <p:sp>
        <p:nvSpPr>
          <p:cNvPr id="3" name="TextBox 2">
            <a:extLst>
              <a:ext uri="{FF2B5EF4-FFF2-40B4-BE49-F238E27FC236}">
                <a16:creationId xmlns:a16="http://schemas.microsoft.com/office/drawing/2014/main" id="{4305CE86-7194-5682-3B36-E27584759064}"/>
              </a:ext>
            </a:extLst>
          </p:cNvPr>
          <p:cNvSpPr txBox="1"/>
          <p:nvPr/>
        </p:nvSpPr>
        <p:spPr>
          <a:xfrm>
            <a:off x="177800" y="2304184"/>
            <a:ext cx="5918199"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 @Html.DropDownList("Gender", new List&lt;</a:t>
            </a:r>
            <a:r>
              <a:rPr lang="en-IN" dirty="0" err="1"/>
              <a:t>SelectListItem</a:t>
            </a:r>
            <a:r>
              <a:rPr lang="en-IN" dirty="0"/>
              <a:t>&gt;</a:t>
            </a:r>
          </a:p>
          <a:p>
            <a:r>
              <a:rPr lang="en-IN" dirty="0"/>
              <a:t> {</a:t>
            </a:r>
          </a:p>
          <a:p>
            <a:r>
              <a:rPr lang="en-IN" dirty="0"/>
              <a:t> new </a:t>
            </a:r>
            <a:r>
              <a:rPr lang="en-IN" dirty="0" err="1"/>
              <a:t>SelectListItem</a:t>
            </a:r>
            <a:r>
              <a:rPr lang="en-IN" dirty="0"/>
              <a:t> { Text = "Male", Value = "Male", Selected=true},</a:t>
            </a:r>
          </a:p>
          <a:p>
            <a:r>
              <a:rPr lang="en-IN" dirty="0"/>
              <a:t> new </a:t>
            </a:r>
            <a:r>
              <a:rPr lang="en-IN" dirty="0" err="1"/>
              <a:t>SelectListItem</a:t>
            </a:r>
            <a:r>
              <a:rPr lang="en-IN" dirty="0"/>
              <a:t> { Text = "Female", Value = "Female"},</a:t>
            </a:r>
          </a:p>
          <a:p>
            <a:r>
              <a:rPr lang="en-IN" dirty="0"/>
              <a:t> </a:t>
            </a:r>
          </a:p>
          <a:p>
            <a:r>
              <a:rPr lang="en-IN" dirty="0"/>
              <a:t> }, "Select Gender", new { @class = "form-control" })</a:t>
            </a:r>
          </a:p>
        </p:txBody>
      </p:sp>
      <p:sp>
        <p:nvSpPr>
          <p:cNvPr id="12" name="TextBox 11">
            <a:extLst>
              <a:ext uri="{FF2B5EF4-FFF2-40B4-BE49-F238E27FC236}">
                <a16:creationId xmlns:a16="http://schemas.microsoft.com/office/drawing/2014/main" id="{E999E1CF-7A3E-2245-86B4-086EE5A95FE8}"/>
              </a:ext>
            </a:extLst>
          </p:cNvPr>
          <p:cNvSpPr txBox="1"/>
          <p:nvPr/>
        </p:nvSpPr>
        <p:spPr>
          <a:xfrm>
            <a:off x="3372465" y="4396863"/>
            <a:ext cx="8463935"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dirty="0">
                <a:solidFill>
                  <a:srgbClr val="0000FF"/>
                </a:solidFill>
                <a:highlight>
                  <a:srgbClr val="FFFFFF"/>
                </a:highlight>
                <a:latin typeface="Cascadia Mono" panose="020B0609020000020004" pitchFamily="49" charset="0"/>
              </a:rPr>
              <a:t>&lt;</a:t>
            </a:r>
            <a:r>
              <a:rPr lang="en-US" sz="1600" dirty="0">
                <a:solidFill>
                  <a:srgbClr val="800000"/>
                </a:solidFill>
                <a:highlight>
                  <a:srgbClr val="FFFFFF"/>
                </a:highlight>
                <a:latin typeface="Cascadia Mono" panose="020B0609020000020004" pitchFamily="49" charset="0"/>
              </a:rPr>
              <a:t>select</a:t>
            </a:r>
            <a:r>
              <a:rPr lang="en-US" sz="1600" dirty="0">
                <a:solidFill>
                  <a:srgbClr val="000000"/>
                </a:solidFill>
                <a:highlight>
                  <a:srgbClr val="FFFFFF"/>
                </a:highlight>
                <a:latin typeface="Cascadia Mono" panose="020B0609020000020004" pitchFamily="49" charset="0"/>
              </a:rPr>
              <a:t> </a:t>
            </a:r>
            <a:r>
              <a:rPr lang="en-US" sz="1600" dirty="0">
                <a:solidFill>
                  <a:srgbClr val="FF0000"/>
                </a:solidFill>
                <a:highlight>
                  <a:srgbClr val="FFFFFF"/>
                </a:highlight>
                <a:latin typeface="Cascadia Mono" panose="020B0609020000020004" pitchFamily="49" charset="0"/>
              </a:rPr>
              <a:t>id</a:t>
            </a:r>
            <a:r>
              <a:rPr lang="en-US" sz="1600" dirty="0">
                <a:solidFill>
                  <a:srgbClr val="0000FF"/>
                </a:solidFill>
                <a:highlight>
                  <a:srgbClr val="FFFFFF"/>
                </a:highlight>
                <a:latin typeface="Cascadia Mono" panose="020B0609020000020004" pitchFamily="49" charset="0"/>
              </a:rPr>
              <a:t>="Departments"</a:t>
            </a:r>
            <a:r>
              <a:rPr lang="en-US" sz="1600" dirty="0">
                <a:solidFill>
                  <a:srgbClr val="000000"/>
                </a:solidFill>
                <a:highlight>
                  <a:srgbClr val="FFFFFF"/>
                </a:highlight>
                <a:latin typeface="Cascadia Mono" panose="020B0609020000020004" pitchFamily="49" charset="0"/>
              </a:rPr>
              <a:t> </a:t>
            </a:r>
            <a:r>
              <a:rPr lang="en-US" sz="1600" dirty="0">
                <a:solidFill>
                  <a:srgbClr val="FF0000"/>
                </a:solidFill>
                <a:highlight>
                  <a:srgbClr val="FFFFFF"/>
                </a:highlight>
                <a:latin typeface="Cascadia Mono" panose="020B0609020000020004" pitchFamily="49" charset="0"/>
              </a:rPr>
              <a:t>name</a:t>
            </a:r>
            <a:r>
              <a:rPr lang="en-US" sz="1600" dirty="0">
                <a:solidFill>
                  <a:srgbClr val="0000FF"/>
                </a:solidFill>
                <a:highlight>
                  <a:srgbClr val="FFFFFF"/>
                </a:highlight>
                <a:latin typeface="Cascadia Mono" panose="020B0609020000020004" pitchFamily="49" charset="0"/>
              </a:rPr>
              <a:t>="Departments"</a:t>
            </a:r>
            <a:r>
              <a:rPr lang="en-US" sz="1600" dirty="0">
                <a:solidFill>
                  <a:srgbClr val="000000"/>
                </a:solidFill>
                <a:highlight>
                  <a:srgbClr val="FFFFFF"/>
                </a:highlight>
                <a:latin typeface="Cascadia Mono" panose="020B0609020000020004" pitchFamily="49" charset="0"/>
              </a:rPr>
              <a:t> </a:t>
            </a:r>
            <a:r>
              <a:rPr lang="en-US" sz="1600" dirty="0">
                <a:solidFill>
                  <a:srgbClr val="FF0000"/>
                </a:solidFill>
                <a:highlight>
                  <a:srgbClr val="FFFFFF"/>
                </a:highlight>
                <a:latin typeface="Cascadia Mono" panose="020B0609020000020004" pitchFamily="49" charset="0"/>
              </a:rPr>
              <a:t>class</a:t>
            </a:r>
            <a:r>
              <a:rPr lang="en-US" sz="1600" dirty="0">
                <a:solidFill>
                  <a:srgbClr val="0000FF"/>
                </a:solidFill>
                <a:highlight>
                  <a:srgbClr val="FFFFFF"/>
                </a:highlight>
                <a:latin typeface="Cascadia Mono" panose="020B0609020000020004" pitchFamily="49" charset="0"/>
              </a:rPr>
              <a:t>="form-control"&gt;</a:t>
            </a:r>
            <a:endParaRPr lang="en-US" sz="1600" dirty="0">
              <a:solidFill>
                <a:srgbClr val="000000"/>
              </a:solidFill>
              <a:highlight>
                <a:srgbClr val="FFFFFF"/>
              </a:highlight>
              <a:latin typeface="Cascadia Mono" panose="020B0609020000020004" pitchFamily="49" charset="0"/>
            </a:endParaRPr>
          </a:p>
          <a:p>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&lt;</a:t>
            </a:r>
            <a:r>
              <a:rPr lang="en-US" sz="1600" b="1" dirty="0">
                <a:solidFill>
                  <a:srgbClr val="800080"/>
                </a:solidFill>
                <a:highlight>
                  <a:srgbClr val="FFFFFF"/>
                </a:highlight>
                <a:latin typeface="Cascadia Mono" panose="020B0609020000020004" pitchFamily="49" charset="0"/>
              </a:rPr>
              <a:t>option</a:t>
            </a:r>
            <a:r>
              <a:rPr lang="en-US" sz="1600" b="0" dirty="0">
                <a:solidFill>
                  <a:srgbClr val="000000"/>
                </a:solidFill>
                <a:highlight>
                  <a:srgbClr val="FFFFFF"/>
                </a:highlight>
                <a:latin typeface="Cascadia Mono" panose="020B0609020000020004" pitchFamily="49" charset="0"/>
              </a:rPr>
              <a:t> </a:t>
            </a:r>
            <a:r>
              <a:rPr lang="en-US" sz="1600" b="1" dirty="0">
                <a:solidFill>
                  <a:srgbClr val="800080"/>
                </a:solidFill>
                <a:highlight>
                  <a:srgbClr val="FFFFFF"/>
                </a:highlight>
                <a:latin typeface="Cascadia Mono" panose="020B0609020000020004" pitchFamily="49" charset="0"/>
              </a:rPr>
              <a:t>value</a:t>
            </a:r>
            <a:r>
              <a:rPr lang="en-US" sz="1600" b="0" dirty="0">
                <a:solidFill>
                  <a:srgbClr val="0000FF"/>
                </a:solidFill>
                <a:highlight>
                  <a:srgbClr val="FFFFFF"/>
                </a:highlight>
                <a:latin typeface="Cascadia Mono" panose="020B0609020000020004" pitchFamily="49" charset="0"/>
              </a:rPr>
              <a:t>=""&gt;</a:t>
            </a:r>
            <a:r>
              <a:rPr lang="en-IN" sz="1600" dirty="0"/>
              <a:t> Select Gender </a:t>
            </a:r>
            <a:r>
              <a:rPr lang="en-US" sz="1600" b="0" dirty="0">
                <a:solidFill>
                  <a:srgbClr val="0000FF"/>
                </a:solidFill>
                <a:highlight>
                  <a:srgbClr val="FFFFFF"/>
                </a:highlight>
                <a:latin typeface="Cascadia Mono" panose="020B0609020000020004" pitchFamily="49" charset="0"/>
              </a:rPr>
              <a:t>&lt;/</a:t>
            </a:r>
            <a:r>
              <a:rPr lang="en-US" sz="1600" b="1" dirty="0">
                <a:solidFill>
                  <a:srgbClr val="800080"/>
                </a:solidFill>
                <a:highlight>
                  <a:srgbClr val="FFFFFF"/>
                </a:highlight>
                <a:latin typeface="Cascadia Mono" panose="020B0609020000020004" pitchFamily="49" charset="0"/>
              </a:rPr>
              <a:t>option</a:t>
            </a:r>
            <a:r>
              <a:rPr lang="en-US" sz="1600" b="0" dirty="0">
                <a:solidFill>
                  <a:srgbClr val="0000FF"/>
                </a:solidFill>
                <a:highlight>
                  <a:srgbClr val="FFFFFF"/>
                </a:highlight>
                <a:latin typeface="Cascadia Mono" panose="020B0609020000020004" pitchFamily="49" charset="0"/>
              </a:rPr>
              <a:t>&gt;</a:t>
            </a:r>
            <a:endParaRPr lang="en-US" sz="1600" b="0" dirty="0">
              <a:solidFill>
                <a:srgbClr val="000000"/>
              </a:solidFill>
              <a:highlight>
                <a:srgbClr val="FFFFFF"/>
              </a:highlight>
              <a:latin typeface="Cascadia Mono" panose="020B0609020000020004" pitchFamily="49" charset="0"/>
            </a:endParaRPr>
          </a:p>
          <a:p>
            <a:r>
              <a:rPr lang="en-US" sz="1600" b="0" dirty="0">
                <a:solidFill>
                  <a:srgbClr val="000000"/>
                </a:solidFill>
                <a:highlight>
                  <a:srgbClr val="FFFFFF"/>
                </a:highlight>
                <a:latin typeface="Cascadia Mono" panose="020B0609020000020004" pitchFamily="49" charset="0"/>
              </a:rPr>
              <a:t>    </a:t>
            </a:r>
            <a:r>
              <a:rPr lang="en-US" sz="1600" b="0" dirty="0">
                <a:solidFill>
                  <a:srgbClr val="0000FF"/>
                </a:solidFill>
                <a:highlight>
                  <a:srgbClr val="FFFFFF"/>
                </a:highlight>
                <a:latin typeface="Cascadia Mono" panose="020B0609020000020004" pitchFamily="49" charset="0"/>
              </a:rPr>
              <a:t>&lt;</a:t>
            </a:r>
            <a:r>
              <a:rPr lang="en-US" sz="1600" b="1" dirty="0">
                <a:solidFill>
                  <a:srgbClr val="800080"/>
                </a:solidFill>
                <a:highlight>
                  <a:srgbClr val="FFFFFF"/>
                </a:highlight>
                <a:latin typeface="Cascadia Mono" panose="020B0609020000020004" pitchFamily="49" charset="0"/>
              </a:rPr>
              <a:t>option</a:t>
            </a:r>
            <a:r>
              <a:rPr lang="en-US" sz="1600" b="0" dirty="0">
                <a:solidFill>
                  <a:srgbClr val="000000"/>
                </a:solidFill>
                <a:highlight>
                  <a:srgbClr val="FFFFFF"/>
                </a:highlight>
                <a:latin typeface="Cascadia Mono" panose="020B0609020000020004" pitchFamily="49" charset="0"/>
              </a:rPr>
              <a:t> </a:t>
            </a:r>
            <a:r>
              <a:rPr lang="en-US" sz="1600" b="1" dirty="0">
                <a:solidFill>
                  <a:srgbClr val="800080"/>
                </a:solidFill>
                <a:highlight>
                  <a:srgbClr val="FFFFFF"/>
                </a:highlight>
                <a:latin typeface="Cascadia Mono" panose="020B0609020000020004" pitchFamily="49" charset="0"/>
              </a:rPr>
              <a:t>value</a:t>
            </a:r>
            <a:r>
              <a:rPr lang="en-US" sz="1600" b="0" dirty="0">
                <a:solidFill>
                  <a:srgbClr val="0000FF"/>
                </a:solidFill>
                <a:highlight>
                  <a:srgbClr val="FFFFFF"/>
                </a:highlight>
                <a:latin typeface="Cascadia Mono" panose="020B0609020000020004" pitchFamily="49" charset="0"/>
              </a:rPr>
              <a:t>="</a:t>
            </a:r>
            <a:r>
              <a:rPr lang="en-IN" sz="1600" dirty="0"/>
              <a:t> Male </a:t>
            </a:r>
            <a:r>
              <a:rPr lang="en-US" sz="1600" b="0" dirty="0">
                <a:solidFill>
                  <a:srgbClr val="0000FF"/>
                </a:solidFill>
                <a:highlight>
                  <a:srgbClr val="FFFFFF"/>
                </a:highlight>
                <a:latin typeface="Cascadia Mono" panose="020B0609020000020004" pitchFamily="49" charset="0"/>
              </a:rPr>
              <a:t>"</a:t>
            </a:r>
            <a:r>
              <a:rPr lang="en-US" sz="1600" b="0" dirty="0">
                <a:solidFill>
                  <a:srgbClr val="000000"/>
                </a:solidFill>
                <a:highlight>
                  <a:srgbClr val="FFFFFF"/>
                </a:highlight>
                <a:latin typeface="Cascadia Mono" panose="020B0609020000020004" pitchFamily="49" charset="0"/>
              </a:rPr>
              <a:t> </a:t>
            </a:r>
            <a:r>
              <a:rPr lang="en-US" sz="1600" b="0" dirty="0">
                <a:solidFill>
                  <a:srgbClr val="FF0000"/>
                </a:solidFill>
                <a:highlight>
                  <a:srgbClr val="FFFFFF"/>
                </a:highlight>
                <a:latin typeface="Cascadia Mono" panose="020B0609020000020004" pitchFamily="49" charset="0"/>
              </a:rPr>
              <a:t>selected</a:t>
            </a:r>
            <a:r>
              <a:rPr lang="en-US" sz="1600" b="0" dirty="0">
                <a:solidFill>
                  <a:srgbClr val="0000FF"/>
                </a:solidFill>
                <a:highlight>
                  <a:srgbClr val="FFFFFF"/>
                </a:highlight>
                <a:latin typeface="Cascadia Mono" panose="020B0609020000020004" pitchFamily="49" charset="0"/>
              </a:rPr>
              <a:t>="selected"&gt;</a:t>
            </a:r>
            <a:r>
              <a:rPr lang="en-US" sz="1600" dirty="0">
                <a:solidFill>
                  <a:srgbClr val="000000"/>
                </a:solidFill>
                <a:highlight>
                  <a:srgbClr val="FFFFFF"/>
                </a:highlight>
                <a:latin typeface="Cascadia Mono" panose="020B0609020000020004" pitchFamily="49" charset="0"/>
              </a:rPr>
              <a:t>Male</a:t>
            </a:r>
            <a:r>
              <a:rPr lang="en-US" sz="1600" b="0" dirty="0">
                <a:solidFill>
                  <a:srgbClr val="0000FF"/>
                </a:solidFill>
                <a:highlight>
                  <a:srgbClr val="FFFFFF"/>
                </a:highlight>
                <a:latin typeface="Cascadia Mono" panose="020B0609020000020004" pitchFamily="49" charset="0"/>
              </a:rPr>
              <a:t>&lt;/</a:t>
            </a:r>
            <a:r>
              <a:rPr lang="en-US" sz="1600" b="1" dirty="0">
                <a:solidFill>
                  <a:srgbClr val="800080"/>
                </a:solidFill>
                <a:highlight>
                  <a:srgbClr val="FFFFFF"/>
                </a:highlight>
                <a:latin typeface="Cascadia Mono" panose="020B0609020000020004" pitchFamily="49" charset="0"/>
              </a:rPr>
              <a:t>option</a:t>
            </a:r>
            <a:r>
              <a:rPr lang="en-US" sz="1600" b="0" dirty="0">
                <a:solidFill>
                  <a:srgbClr val="0000FF"/>
                </a:solidFill>
                <a:highlight>
                  <a:srgbClr val="FFFFFF"/>
                </a:highlight>
                <a:latin typeface="Cascadia Mono" panose="020B0609020000020004" pitchFamily="49" charset="0"/>
              </a:rPr>
              <a:t>&gt;</a:t>
            </a:r>
            <a:endParaRPr lang="en-US" sz="1600" b="0" dirty="0">
              <a:solidFill>
                <a:srgbClr val="000000"/>
              </a:solidFill>
              <a:highlight>
                <a:srgbClr val="FFFFFF"/>
              </a:highlight>
              <a:latin typeface="Cascadia Mono" panose="020B0609020000020004" pitchFamily="49" charset="0"/>
            </a:endParaRPr>
          </a:p>
          <a:p>
            <a:r>
              <a:rPr lang="en-US" sz="1600" b="0" dirty="0">
                <a:solidFill>
                  <a:srgbClr val="000000"/>
                </a:solidFill>
                <a:highlight>
                  <a:srgbClr val="FFFFFF"/>
                </a:highlight>
                <a:latin typeface="Cascadia Mono" panose="020B0609020000020004" pitchFamily="49" charset="0"/>
              </a:rPr>
              <a:t>    </a:t>
            </a:r>
            <a:r>
              <a:rPr lang="en-US" sz="1600" b="0" dirty="0">
                <a:solidFill>
                  <a:srgbClr val="0000FF"/>
                </a:solidFill>
                <a:highlight>
                  <a:srgbClr val="FFFFFF"/>
                </a:highlight>
                <a:latin typeface="Cascadia Mono" panose="020B0609020000020004" pitchFamily="49" charset="0"/>
              </a:rPr>
              <a:t>&lt;</a:t>
            </a:r>
            <a:r>
              <a:rPr lang="en-US" sz="1600" b="1" dirty="0">
                <a:solidFill>
                  <a:srgbClr val="800080"/>
                </a:solidFill>
                <a:highlight>
                  <a:srgbClr val="FFFFFF"/>
                </a:highlight>
                <a:latin typeface="Cascadia Mono" panose="020B0609020000020004" pitchFamily="49" charset="0"/>
              </a:rPr>
              <a:t>option</a:t>
            </a:r>
            <a:r>
              <a:rPr lang="en-US" sz="1600" b="0" dirty="0">
                <a:solidFill>
                  <a:srgbClr val="000000"/>
                </a:solidFill>
                <a:highlight>
                  <a:srgbClr val="FFFFFF"/>
                </a:highlight>
                <a:latin typeface="Cascadia Mono" panose="020B0609020000020004" pitchFamily="49" charset="0"/>
              </a:rPr>
              <a:t> </a:t>
            </a:r>
            <a:r>
              <a:rPr lang="en-US" sz="1600" b="1" dirty="0">
                <a:solidFill>
                  <a:srgbClr val="800080"/>
                </a:solidFill>
                <a:highlight>
                  <a:srgbClr val="FFFFFF"/>
                </a:highlight>
                <a:latin typeface="Cascadia Mono" panose="020B0609020000020004" pitchFamily="49" charset="0"/>
              </a:rPr>
              <a:t>value</a:t>
            </a:r>
            <a:r>
              <a:rPr lang="en-US" sz="1600" b="0" dirty="0">
                <a:solidFill>
                  <a:srgbClr val="0000FF"/>
                </a:solidFill>
                <a:highlight>
                  <a:srgbClr val="FFFFFF"/>
                </a:highlight>
                <a:latin typeface="Cascadia Mono" panose="020B0609020000020004" pitchFamily="49" charset="0"/>
              </a:rPr>
              <a:t>="</a:t>
            </a:r>
            <a:r>
              <a:rPr lang="en-IN" sz="1600" dirty="0"/>
              <a:t> Female </a:t>
            </a:r>
            <a:r>
              <a:rPr lang="en-US" sz="1600" b="0" dirty="0">
                <a:solidFill>
                  <a:srgbClr val="0000FF"/>
                </a:solidFill>
                <a:highlight>
                  <a:srgbClr val="FFFFFF"/>
                </a:highlight>
                <a:latin typeface="Cascadia Mono" panose="020B0609020000020004" pitchFamily="49" charset="0"/>
              </a:rPr>
              <a:t>"&gt;</a:t>
            </a:r>
            <a:r>
              <a:rPr lang="en-US" sz="1600" b="0" dirty="0" err="1">
                <a:solidFill>
                  <a:srgbClr val="0000FF"/>
                </a:solidFill>
                <a:highlight>
                  <a:srgbClr val="FFFFFF"/>
                </a:highlight>
                <a:latin typeface="Cascadia Mono" panose="020B0609020000020004" pitchFamily="49" charset="0"/>
              </a:rPr>
              <a:t>Fe</a:t>
            </a:r>
            <a:r>
              <a:rPr lang="en-US" sz="1600" b="0" dirty="0" err="1">
                <a:solidFill>
                  <a:srgbClr val="000000"/>
                </a:solidFill>
                <a:highlight>
                  <a:srgbClr val="FFFFFF"/>
                </a:highlight>
                <a:latin typeface="Cascadia Mono" panose="020B0609020000020004" pitchFamily="49" charset="0"/>
              </a:rPr>
              <a:t>Male</a:t>
            </a:r>
            <a:r>
              <a:rPr lang="en-US" sz="1600" b="0" dirty="0">
                <a:solidFill>
                  <a:srgbClr val="0000FF"/>
                </a:solidFill>
                <a:highlight>
                  <a:srgbClr val="FFFFFF"/>
                </a:highlight>
                <a:latin typeface="Cascadia Mono" panose="020B0609020000020004" pitchFamily="49" charset="0"/>
              </a:rPr>
              <a:t>&lt;/</a:t>
            </a:r>
            <a:r>
              <a:rPr lang="en-US" sz="1600" b="1" dirty="0">
                <a:solidFill>
                  <a:srgbClr val="800080"/>
                </a:solidFill>
                <a:highlight>
                  <a:srgbClr val="FFFFFF"/>
                </a:highlight>
                <a:latin typeface="Cascadia Mono" panose="020B0609020000020004" pitchFamily="49" charset="0"/>
              </a:rPr>
              <a:t>option</a:t>
            </a:r>
            <a:r>
              <a:rPr lang="en-US" sz="1600" b="0" dirty="0">
                <a:solidFill>
                  <a:srgbClr val="0000FF"/>
                </a:solidFill>
                <a:highlight>
                  <a:srgbClr val="FFFFFF"/>
                </a:highlight>
                <a:latin typeface="Cascadia Mono" panose="020B0609020000020004" pitchFamily="49" charset="0"/>
              </a:rPr>
              <a:t>&gt;</a:t>
            </a:r>
            <a:endParaRPr lang="en-US" sz="1600" b="0" dirty="0">
              <a:solidFill>
                <a:srgbClr val="000000"/>
              </a:solidFill>
              <a:highlight>
                <a:srgbClr val="FFFFFF"/>
              </a:highlight>
              <a:latin typeface="Cascadia Mono" panose="020B0609020000020004" pitchFamily="49" charset="0"/>
            </a:endParaRPr>
          </a:p>
          <a:p>
            <a:r>
              <a:rPr lang="en-IN" sz="1600" b="0" dirty="0">
                <a:solidFill>
                  <a:srgbClr val="0000FF"/>
                </a:solidFill>
                <a:highlight>
                  <a:srgbClr val="FFFFFF"/>
                </a:highlight>
                <a:latin typeface="Cascadia Mono" panose="020B0609020000020004" pitchFamily="49" charset="0"/>
              </a:rPr>
              <a:t>&lt;/</a:t>
            </a:r>
            <a:r>
              <a:rPr lang="en-IN" sz="1600" b="0" dirty="0">
                <a:solidFill>
                  <a:srgbClr val="800000"/>
                </a:solidFill>
                <a:highlight>
                  <a:srgbClr val="FFFFFF"/>
                </a:highlight>
                <a:latin typeface="Cascadia Mono" panose="020B0609020000020004" pitchFamily="49" charset="0"/>
              </a:rPr>
              <a:t>select</a:t>
            </a:r>
            <a:r>
              <a:rPr lang="en-IN" sz="1600" b="0" dirty="0">
                <a:solidFill>
                  <a:srgbClr val="0000FF"/>
                </a:solidFill>
                <a:highlight>
                  <a:srgbClr val="FFFFFF"/>
                </a:highlight>
                <a:latin typeface="Cascadia Mono" panose="020B0609020000020004" pitchFamily="49" charset="0"/>
              </a:rPr>
              <a:t>&gt;</a:t>
            </a:r>
            <a:endParaRPr lang="en-IN" sz="1600" dirty="0"/>
          </a:p>
        </p:txBody>
      </p:sp>
    </p:spTree>
    <p:extLst>
      <p:ext uri="{BB962C8B-B14F-4D97-AF65-F5344CB8AC3E}">
        <p14:creationId xmlns:p14="http://schemas.microsoft.com/office/powerpoint/2010/main" val="2356710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C442B47-15F9-6FF5-6D3B-70832659A5F7}"/>
              </a:ext>
            </a:extLst>
          </p:cNvPr>
          <p:cNvSpPr>
            <a:spLocks noChangeArrowheads="1"/>
          </p:cNvSpPr>
          <p:nvPr/>
        </p:nvSpPr>
        <p:spPr bwMode="auto">
          <a:xfrm>
            <a:off x="67733" y="-91569"/>
            <a:ext cx="12124266" cy="41183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0" tIns="0" rIns="0" bIns="2380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cs typeface="Arial" panose="020B0604020202020204" pitchFamily="34" charset="0"/>
              </a:rPr>
              <a:t>Explanation of Parameters</a:t>
            </a:r>
            <a:endParaRPr kumimoji="0" lang="en-US" altLang="en-US" sz="1400" b="1"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cs typeface="Arial" panose="020B0604020202020204" pitchFamily="34" charset="0"/>
              </a:rPr>
              <a:t>Gender (name Parameter):</a:t>
            </a:r>
            <a:endParaRPr kumimoji="0" lang="en-US" altLang="en-US" sz="1400" b="1"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This is the name of the form element that will be generated. The name attribute in HTML is used to identify form elements when submitting data. In this case, the form will send the selected department’s value (e.g., “1” for IT, “2” for HR, </a:t>
            </a:r>
            <a:r>
              <a:rPr kumimoji="0" lang="en-US" altLang="en-US" sz="1400" b="0" i="0" u="none" strike="noStrike" cap="none" normalizeH="0" baseline="0" dirty="0" err="1">
                <a:ln>
                  <a:noFill/>
                </a:ln>
                <a:solidFill>
                  <a:srgbClr val="000000"/>
                </a:solidFill>
                <a:effectLst/>
                <a:cs typeface="Arial" panose="020B0604020202020204" pitchFamily="34" charset="0"/>
              </a:rPr>
              <a:t>etc</a:t>
            </a:r>
            <a:r>
              <a:rPr kumimoji="0" lang="en-US" altLang="en-US" sz="1400" b="0" i="0" u="none" strike="noStrike" cap="none" normalizeH="0" baseline="0" dirty="0">
                <a:ln>
                  <a:noFill/>
                </a:ln>
                <a:solidFill>
                  <a:srgbClr val="000000"/>
                </a:solidFill>
                <a:effectLst/>
                <a:cs typeface="Arial" panose="020B0604020202020204" pitchFamily="34" charset="0"/>
              </a:rPr>
              <a:t>) as the Departments field when submitted.</a:t>
            </a:r>
            <a:endParaRPr kumimoji="0" lang="en-US" altLang="en-US" sz="1400" b="1"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cs typeface="Arial" panose="020B0604020202020204" pitchFamily="34" charset="0"/>
              </a:rPr>
              <a:t>new List&lt;</a:t>
            </a:r>
            <a:r>
              <a:rPr kumimoji="0" lang="en-US" altLang="en-US" sz="1400" b="1" i="0" u="none" strike="noStrike" cap="none" normalizeH="0" baseline="0" dirty="0" err="1">
                <a:ln>
                  <a:noFill/>
                </a:ln>
                <a:solidFill>
                  <a:srgbClr val="000000"/>
                </a:solidFill>
                <a:effectLst/>
                <a:cs typeface="Arial" panose="020B0604020202020204" pitchFamily="34" charset="0"/>
              </a:rPr>
              <a:t>SelectListItem</a:t>
            </a:r>
            <a:r>
              <a:rPr kumimoji="0" lang="en-US" altLang="en-US" sz="1400" b="1" i="0" u="none" strike="noStrike" cap="none" normalizeH="0" baseline="0" dirty="0">
                <a:ln>
                  <a:noFill/>
                </a:ln>
                <a:solidFill>
                  <a:srgbClr val="000000"/>
                </a:solidFill>
                <a:effectLst/>
                <a:cs typeface="Arial" panose="020B0604020202020204" pitchFamily="34" charset="0"/>
              </a:rPr>
              <a:t>&gt; {…} (items parameter):</a:t>
            </a:r>
            <a:endParaRPr kumimoji="0" lang="en-US" altLang="en-US" sz="1400" b="1"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This is the list of options for the dropdown. Each </a:t>
            </a:r>
            <a:r>
              <a:rPr kumimoji="0" lang="en-US" altLang="en-US" sz="1400" b="0" i="0" u="none" strike="noStrike" cap="none" normalizeH="0" baseline="0" dirty="0" err="1">
                <a:ln>
                  <a:noFill/>
                </a:ln>
                <a:solidFill>
                  <a:srgbClr val="000000"/>
                </a:solidFill>
                <a:effectLst/>
                <a:cs typeface="Arial" panose="020B0604020202020204" pitchFamily="34" charset="0"/>
              </a:rPr>
              <a:t>SelectListItem</a:t>
            </a:r>
            <a:r>
              <a:rPr kumimoji="0" lang="en-US" altLang="en-US" sz="1400" b="0" i="0" u="none" strike="noStrike" cap="none" normalizeH="0" baseline="0" dirty="0">
                <a:ln>
                  <a:noFill/>
                </a:ln>
                <a:solidFill>
                  <a:srgbClr val="000000"/>
                </a:solidFill>
                <a:effectLst/>
                <a:cs typeface="Arial" panose="020B0604020202020204" pitchFamily="34" charset="0"/>
              </a:rPr>
              <a:t> object represents an item in the dropdown with the following properties: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0000"/>
                </a:solidFill>
                <a:effectLst/>
                <a:cs typeface="Arial" panose="020B0604020202020204" pitchFamily="34" charset="0"/>
              </a:rPr>
              <a:t>Text:</a:t>
            </a:r>
            <a:r>
              <a:rPr kumimoji="0" lang="en-US" altLang="en-US" sz="1400" b="0" i="0" u="none" strike="noStrike" cap="none" normalizeH="0" baseline="0" dirty="0">
                <a:ln>
                  <a:noFill/>
                </a:ln>
                <a:solidFill>
                  <a:srgbClr val="000000"/>
                </a:solidFill>
                <a:effectLst/>
                <a:cs typeface="Arial" panose="020B0604020202020204" pitchFamily="34" charset="0"/>
              </a:rPr>
              <a:t> The text that will be displayed to the user in the dropdown (e.g., “Male”, “Female”).</a:t>
            </a:r>
            <a:endParaRPr kumimoji="0" lang="en-US" altLang="en-US" sz="1400" b="0"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0000"/>
                </a:solidFill>
                <a:effectLst/>
                <a:cs typeface="Arial" panose="020B0604020202020204" pitchFamily="34" charset="0"/>
              </a:rPr>
              <a:t>Value:</a:t>
            </a:r>
            <a:r>
              <a:rPr kumimoji="0" lang="en-US" altLang="en-US" sz="1400" b="0" i="0" u="none" strike="noStrike" cap="none" normalizeH="0" baseline="0" dirty="0">
                <a:ln>
                  <a:noFill/>
                </a:ln>
                <a:solidFill>
                  <a:srgbClr val="000000"/>
                </a:solidFill>
                <a:effectLst/>
                <a:cs typeface="Arial" panose="020B0604020202020204" pitchFamily="34" charset="0"/>
              </a:rPr>
              <a:t> The actual value that will be submitted when the user selects this option (e.g., “1” for IT, “2” for HR, “3” for Payroll).</a:t>
            </a:r>
            <a:endParaRPr kumimoji="0" lang="en-US" altLang="en-US" sz="1400" b="0"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0000"/>
                </a:solidFill>
                <a:effectLst/>
                <a:cs typeface="Arial" panose="020B0604020202020204" pitchFamily="34" charset="0"/>
              </a:rPr>
              <a:t>Selected:</a:t>
            </a:r>
            <a:r>
              <a:rPr kumimoji="0" lang="en-US" altLang="en-US" sz="1400" b="0" i="0" u="none" strike="noStrike" cap="none" normalizeH="0" baseline="0" dirty="0">
                <a:ln>
                  <a:noFill/>
                </a:ln>
                <a:solidFill>
                  <a:srgbClr val="000000"/>
                </a:solidFill>
                <a:effectLst/>
                <a:cs typeface="Arial" panose="020B0604020202020204" pitchFamily="34" charset="0"/>
              </a:rPr>
              <a:t> A Boolean value indicates whether this option is selected by default. In our case, “IT” is selected by default because Selected=true is set for the first item.</a:t>
            </a:r>
            <a:endParaRPr kumimoji="0" lang="en-US" altLang="en-US" sz="1400" b="0"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cs typeface="Arial" panose="020B0604020202020204" pitchFamily="34" charset="0"/>
              </a:rPr>
              <a:t>“Select Gender” (</a:t>
            </a:r>
            <a:r>
              <a:rPr kumimoji="0" lang="en-US" altLang="en-US" sz="1400" b="1" i="0" u="none" strike="noStrike" cap="none" normalizeH="0" baseline="0" dirty="0" err="1">
                <a:ln>
                  <a:noFill/>
                </a:ln>
                <a:solidFill>
                  <a:srgbClr val="000000"/>
                </a:solidFill>
                <a:effectLst/>
                <a:cs typeface="Arial" panose="020B0604020202020204" pitchFamily="34" charset="0"/>
              </a:rPr>
              <a:t>optionLabel</a:t>
            </a:r>
            <a:r>
              <a:rPr kumimoji="0" lang="en-US" altLang="en-US" sz="1400" b="1" i="0" u="none" strike="noStrike" cap="none" normalizeH="0" baseline="0" dirty="0">
                <a:ln>
                  <a:noFill/>
                </a:ln>
                <a:solidFill>
                  <a:srgbClr val="000000"/>
                </a:solidFill>
                <a:effectLst/>
                <a:cs typeface="Arial" panose="020B0604020202020204" pitchFamily="34" charset="0"/>
              </a:rPr>
              <a:t> parameter):</a:t>
            </a:r>
            <a:endParaRPr kumimoji="0" lang="en-US" altLang="en-US" sz="1400" b="1"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This default text will be shown when no option is selected. This acts as a placeholder for the dropdown and is displayed as an option that cannot be selected. It encourages the user to select an actual department. If the user selects no value, this option will be shown in the dropdown.</a:t>
            </a:r>
            <a:endParaRPr kumimoji="0" lang="en-US" altLang="en-US" sz="1400" b="0"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A3A3A"/>
                </a:solidFill>
                <a:effectLst/>
                <a:latin typeface="-apple-system"/>
              </a:rPr>
              <a:t>Advertisements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cs typeface="Arial" panose="020B0604020202020204" pitchFamily="34" charset="0"/>
              </a:rPr>
              <a:t>new { @class = “form-control” } (</a:t>
            </a:r>
            <a:r>
              <a:rPr kumimoji="0" lang="en-US" altLang="en-US" sz="1400" b="1" i="0" u="none" strike="noStrike" cap="none" normalizeH="0" baseline="0" dirty="0" err="1">
                <a:ln>
                  <a:noFill/>
                </a:ln>
                <a:solidFill>
                  <a:srgbClr val="000000"/>
                </a:solidFill>
                <a:effectLst/>
                <a:cs typeface="Arial" panose="020B0604020202020204" pitchFamily="34" charset="0"/>
              </a:rPr>
              <a:t>htmlAttributes</a:t>
            </a:r>
            <a:r>
              <a:rPr kumimoji="0" lang="en-US" altLang="en-US" sz="1400" b="1" i="0" u="none" strike="noStrike" cap="none" normalizeH="0" baseline="0" dirty="0">
                <a:ln>
                  <a:noFill/>
                </a:ln>
                <a:solidFill>
                  <a:srgbClr val="000000"/>
                </a:solidFill>
                <a:effectLst/>
                <a:cs typeface="Arial" panose="020B0604020202020204" pitchFamily="34" charset="0"/>
              </a:rPr>
              <a:t> parameter):</a:t>
            </a:r>
            <a:endParaRPr kumimoji="0" lang="en-US" altLang="en-US" sz="1400" b="1" i="0" u="none" strike="noStrike" cap="none" normalizeH="0" baseline="0" dirty="0">
              <a:ln>
                <a:noFill/>
              </a:ln>
              <a:solidFill>
                <a:srgbClr val="3A3A3A"/>
              </a:solidFill>
              <a:effectLst/>
              <a:latin typeface="-apple-system"/>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cs typeface="Arial" panose="020B0604020202020204" pitchFamily="34" charset="0"/>
              </a:rPr>
              <a:t>This is an anonymous object used to specify HTML attributes for the rendered &lt;select&gt; element. In this case, the form-control class is added to the dropdown to apply Bootstrap styling. You can add other HTML attributes as needed, such as id, data-* attributes, style, etc., by specifying them inside this object.</a:t>
            </a:r>
            <a:endParaRPr kumimoji="0" lang="en-US" altLang="en-US" sz="1400" b="1" i="0" u="none" strike="noStrike" cap="none" normalizeH="0" baseline="0" dirty="0">
              <a:ln>
                <a:noFill/>
              </a:ln>
              <a:solidFill>
                <a:srgbClr val="3A3A3A"/>
              </a:solidFill>
              <a:effectLst/>
              <a:latin typeface="-apple-system"/>
            </a:endParaRPr>
          </a:p>
        </p:txBody>
      </p:sp>
      <p:sp>
        <p:nvSpPr>
          <p:cNvPr id="6" name="TextBox 5">
            <a:extLst>
              <a:ext uri="{FF2B5EF4-FFF2-40B4-BE49-F238E27FC236}">
                <a16:creationId xmlns:a16="http://schemas.microsoft.com/office/drawing/2014/main" id="{A3B3EF3B-5A83-182F-DE6C-C9A09A03364E}"/>
              </a:ext>
            </a:extLst>
          </p:cNvPr>
          <p:cNvSpPr txBox="1"/>
          <p:nvPr/>
        </p:nvSpPr>
        <p:spPr>
          <a:xfrm>
            <a:off x="67733" y="3742267"/>
            <a:ext cx="11719983" cy="3323987"/>
          </a:xfrm>
          <a:prstGeom prst="rect">
            <a:avLst/>
          </a:prstGeom>
          <a:noFill/>
        </p:spPr>
        <p:txBody>
          <a:bodyPr wrap="square">
            <a:spAutoFit/>
          </a:bodyPr>
          <a:lstStyle/>
          <a:p>
            <a:pPr algn="ctr"/>
            <a:r>
              <a:rPr lang="en-US" sz="1400" dirty="0"/>
              <a:t>HTML Output</a:t>
            </a:r>
          </a:p>
          <a:p>
            <a:r>
              <a:rPr lang="en-US" sz="1400" dirty="0"/>
              <a:t>Now, run the application and access the Index Page. The helper method should generate an HTML &lt;select&gt; element with options corresponding to the list’s items as follows. To see this, please view the page source code in the browser:</a:t>
            </a:r>
          </a:p>
          <a:p>
            <a:r>
              <a:rPr lang="en-US" sz="1400" dirty="0">
                <a:highlight>
                  <a:srgbClr val="FFFF00"/>
                </a:highlight>
              </a:rPr>
              <a:t>&lt;select id="Departments" name="Departments" class="form-control"&gt;</a:t>
            </a:r>
          </a:p>
          <a:p>
            <a:r>
              <a:rPr lang="en-US" sz="1400" dirty="0">
                <a:highlight>
                  <a:srgbClr val="FFFF00"/>
                </a:highlight>
              </a:rPr>
              <a:t>&lt;option value=""&gt;Select Department&lt;/option&gt;</a:t>
            </a:r>
          </a:p>
          <a:p>
            <a:r>
              <a:rPr lang="en-US" sz="1400" dirty="0">
                <a:highlight>
                  <a:srgbClr val="FFFF00"/>
                </a:highlight>
              </a:rPr>
              <a:t>&lt;option value="1" selected="selected"&gt;IT&lt;/option&gt;</a:t>
            </a:r>
          </a:p>
          <a:p>
            <a:r>
              <a:rPr lang="en-US" sz="1400" dirty="0">
                <a:highlight>
                  <a:srgbClr val="FFFF00"/>
                </a:highlight>
              </a:rPr>
              <a:t>&lt;option value="2"&gt;Male&lt;/option&gt;</a:t>
            </a:r>
          </a:p>
          <a:p>
            <a:r>
              <a:rPr lang="en-US" sz="1400" dirty="0">
                <a:highlight>
                  <a:srgbClr val="FFFF00"/>
                </a:highlight>
              </a:rPr>
              <a:t>&lt;option value="3"&gt;Female&lt;/option&gt;</a:t>
            </a:r>
          </a:p>
          <a:p>
            <a:r>
              <a:rPr lang="en-US" sz="1400" dirty="0">
                <a:highlight>
                  <a:srgbClr val="FFFF00"/>
                </a:highlight>
              </a:rPr>
              <a:t>&lt;/select&gt;</a:t>
            </a:r>
          </a:p>
          <a:p>
            <a:r>
              <a:rPr lang="en-US" sz="1400" dirty="0"/>
              <a:t>Here,	The id and name attributes are “Departments”.</a:t>
            </a:r>
          </a:p>
          <a:p>
            <a:r>
              <a:rPr lang="en-US" sz="1400" dirty="0"/>
              <a:t>The class=”form-control” applies Bootstrap styling.</a:t>
            </a:r>
          </a:p>
          <a:p>
            <a:r>
              <a:rPr lang="en-US" sz="1400" dirty="0"/>
              <a:t>The first &lt;option&gt; is the default placeholder text, “Select Department”.</a:t>
            </a:r>
          </a:p>
          <a:p>
            <a:r>
              <a:rPr lang="en-US" sz="1400" dirty="0"/>
              <a:t>Each subsequent &lt;option&gt; is generated from the list of items with the appropriate value and text.</a:t>
            </a:r>
          </a:p>
          <a:p>
            <a:r>
              <a:rPr lang="en-US" sz="1400" dirty="0"/>
              <a:t>“IT” is selected by default because of Selected=true.</a:t>
            </a:r>
          </a:p>
          <a:p>
            <a:endParaRPr lang="en-US" sz="1400" dirty="0"/>
          </a:p>
        </p:txBody>
      </p:sp>
    </p:spTree>
    <p:extLst>
      <p:ext uri="{BB962C8B-B14F-4D97-AF65-F5344CB8AC3E}">
        <p14:creationId xmlns:p14="http://schemas.microsoft.com/office/powerpoint/2010/main" val="2458992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E7B9B0-1DD8-0311-D5E1-801A110C8D38}"/>
              </a:ext>
            </a:extLst>
          </p:cNvPr>
          <p:cNvSpPr txBox="1"/>
          <p:nvPr/>
        </p:nvSpPr>
        <p:spPr>
          <a:xfrm>
            <a:off x="541866" y="0"/>
            <a:ext cx="10786533"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How Do We Use Enum to Set the Dropdown List Values in the ASP.NET Core MVC Application?</a:t>
            </a:r>
            <a:endParaRPr lang="en-IN" dirty="0"/>
          </a:p>
        </p:txBody>
      </p:sp>
      <p:sp>
        <p:nvSpPr>
          <p:cNvPr id="7" name="TextBox 6">
            <a:extLst>
              <a:ext uri="{FF2B5EF4-FFF2-40B4-BE49-F238E27FC236}">
                <a16:creationId xmlns:a16="http://schemas.microsoft.com/office/drawing/2014/main" id="{11C27CBC-F9AA-B740-AFAB-BB0F612B4CA0}"/>
              </a:ext>
            </a:extLst>
          </p:cNvPr>
          <p:cNvSpPr txBox="1"/>
          <p:nvPr/>
        </p:nvSpPr>
        <p:spPr>
          <a:xfrm>
            <a:off x="338666" y="569858"/>
            <a:ext cx="2345267"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fontAlgn="base"/>
            <a:r>
              <a:rPr lang="en-US" b="1" i="0" dirty="0">
                <a:solidFill>
                  <a:srgbClr val="D171DD"/>
                </a:solidFill>
                <a:effectLst/>
                <a:latin typeface="inherit"/>
              </a:rPr>
              <a:t>public</a:t>
            </a:r>
            <a:r>
              <a:rPr lang="en-US" b="0" i="0" dirty="0">
                <a:solidFill>
                  <a:srgbClr val="CFD5E0"/>
                </a:solidFill>
                <a:effectLst/>
                <a:latin typeface="inherit"/>
              </a:rPr>
              <a:t> </a:t>
            </a:r>
            <a:r>
              <a:rPr lang="en-US" b="0" i="0" dirty="0" err="1">
                <a:solidFill>
                  <a:srgbClr val="D19252"/>
                </a:solidFill>
                <a:effectLst/>
                <a:latin typeface="inherit"/>
              </a:rPr>
              <a:t>enum</a:t>
            </a:r>
            <a:r>
              <a:rPr lang="en-US" b="0" i="0" dirty="0">
                <a:solidFill>
                  <a:srgbClr val="CFD5E0"/>
                </a:solidFill>
                <a:effectLst/>
                <a:latin typeface="inherit"/>
              </a:rPr>
              <a:t> Gender</a:t>
            </a:r>
          </a:p>
          <a:p>
            <a:pPr algn="l" fontAlgn="base"/>
            <a:r>
              <a:rPr lang="en-US" b="1" i="0" dirty="0">
                <a:solidFill>
                  <a:srgbClr val="6B7C8B"/>
                </a:solidFill>
                <a:effectLst/>
                <a:latin typeface="inherit"/>
              </a:rPr>
              <a:t>{</a:t>
            </a:r>
            <a:endParaRPr lang="en-US" b="0" i="0" dirty="0">
              <a:solidFill>
                <a:srgbClr val="596174"/>
              </a:solidFill>
              <a:effectLst/>
              <a:latin typeface="Inconsolata" pitchFamily="1" charset="0"/>
            </a:endParaRPr>
          </a:p>
          <a:p>
            <a:pPr algn="l" fontAlgn="base"/>
            <a:r>
              <a:rPr lang="en-US" b="0" i="0" dirty="0">
                <a:solidFill>
                  <a:srgbClr val="CFD5E0"/>
                </a:solidFill>
                <a:effectLst/>
                <a:latin typeface="inherit"/>
              </a:rPr>
              <a:t>Male,</a:t>
            </a:r>
            <a:endParaRPr lang="en-US" b="0" i="0" dirty="0">
              <a:solidFill>
                <a:srgbClr val="596174"/>
              </a:solidFill>
              <a:effectLst/>
              <a:latin typeface="Inconsolata" pitchFamily="1" charset="0"/>
            </a:endParaRPr>
          </a:p>
          <a:p>
            <a:pPr algn="l" fontAlgn="base"/>
            <a:r>
              <a:rPr lang="en-US" b="0" i="0" dirty="0">
                <a:solidFill>
                  <a:srgbClr val="CFD5E0"/>
                </a:solidFill>
                <a:effectLst/>
                <a:latin typeface="inherit"/>
              </a:rPr>
              <a:t>Female,</a:t>
            </a:r>
            <a:endParaRPr lang="en-US" b="0" i="0" dirty="0">
              <a:solidFill>
                <a:srgbClr val="596174"/>
              </a:solidFill>
              <a:effectLst/>
              <a:latin typeface="Inconsolata" pitchFamily="1" charset="0"/>
            </a:endParaRPr>
          </a:p>
          <a:p>
            <a:pPr algn="l" fontAlgn="base"/>
            <a:r>
              <a:rPr lang="en-US" b="0" i="0" dirty="0">
                <a:solidFill>
                  <a:srgbClr val="CFD5E0"/>
                </a:solidFill>
                <a:effectLst/>
                <a:latin typeface="inherit"/>
              </a:rPr>
              <a:t>Other</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a:t>
            </a:r>
            <a:endParaRPr lang="en-US"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2C320115-3C74-92BA-72B6-4FC06F04BDB0}"/>
              </a:ext>
            </a:extLst>
          </p:cNvPr>
          <p:cNvSpPr txBox="1"/>
          <p:nvPr/>
        </p:nvSpPr>
        <p:spPr>
          <a:xfrm>
            <a:off x="3539067" y="458675"/>
            <a:ext cx="8314267"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@Html.DropDownList(1."Gender",  // The first parameter is the name of the form field. It will also be used as the 'name' and 'id' attribute of the resulting HTML select element</a:t>
            </a:r>
          </a:p>
          <a:p>
            <a:r>
              <a:rPr lang="en-US" dirty="0"/>
              <a:t>          </a:t>
            </a:r>
          </a:p>
          <a:p>
            <a:r>
              <a:rPr lang="en-US" dirty="0"/>
              <a:t>  2. new </a:t>
            </a:r>
            <a:r>
              <a:rPr lang="en-US" dirty="0" err="1"/>
              <a:t>SelectList</a:t>
            </a:r>
            <a:r>
              <a:rPr lang="en-US" dirty="0"/>
              <a:t>(</a:t>
            </a:r>
            <a:r>
              <a:rPr lang="en-US" dirty="0" err="1"/>
              <a:t>Enum.GetValues</a:t>
            </a:r>
            <a:r>
              <a:rPr lang="en-US" dirty="0"/>
              <a:t>(</a:t>
            </a:r>
            <a:r>
              <a:rPr lang="en-US" dirty="0" err="1"/>
              <a:t>typeof</a:t>
            </a:r>
            <a:r>
              <a:rPr lang="en-US" dirty="0"/>
              <a:t>(Gender))), </a:t>
            </a:r>
          </a:p>
          <a:p>
            <a:endParaRPr lang="en-US" dirty="0"/>
          </a:p>
          <a:p>
            <a:r>
              <a:rPr lang="en-US" dirty="0"/>
              <a:t> // The second parameter constructs a new </a:t>
            </a:r>
            <a:r>
              <a:rPr lang="en-US" dirty="0" err="1"/>
              <a:t>SelectList</a:t>
            </a:r>
            <a:r>
              <a:rPr lang="en-US" dirty="0"/>
              <a:t>. It takes the </a:t>
            </a:r>
            <a:r>
              <a:rPr lang="en-US" dirty="0" err="1"/>
              <a:t>enum</a:t>
            </a:r>
            <a:r>
              <a:rPr lang="en-US" dirty="0"/>
              <a:t> values of 'Gender', providing the data source for the dropdown options</a:t>
            </a:r>
          </a:p>
          <a:p>
            <a:r>
              <a:rPr lang="en-US" dirty="0"/>
              <a:t>           </a:t>
            </a:r>
          </a:p>
          <a:p>
            <a:r>
              <a:rPr lang="en-US" dirty="0"/>
              <a:t> 3. "Select Gender",  </a:t>
            </a:r>
          </a:p>
          <a:p>
            <a:r>
              <a:rPr lang="en-US" dirty="0"/>
              <a:t>// The third parameter is the text to display in the default option, which in this case serves as a prompt to the user to make a selection</a:t>
            </a:r>
          </a:p>
          <a:p>
            <a:r>
              <a:rPr lang="en-US" dirty="0"/>
              <a:t>       </a:t>
            </a:r>
          </a:p>
          <a:p>
            <a:r>
              <a:rPr lang="en-US" dirty="0"/>
              <a:t>    4. new { @class = "form-control" } </a:t>
            </a:r>
          </a:p>
          <a:p>
            <a:r>
              <a:rPr lang="en-US" dirty="0"/>
              <a:t> // The fourth parameter is an anonymous object that contains HTML attributes to be added to the select element. Here, it assigns a Bootstrap class for styling</a:t>
            </a:r>
          </a:p>
          <a:p>
            <a:r>
              <a:rPr lang="en-US" dirty="0"/>
              <a:t>            )</a:t>
            </a:r>
            <a:endParaRPr lang="en-IN" dirty="0"/>
          </a:p>
        </p:txBody>
      </p:sp>
      <p:sp>
        <p:nvSpPr>
          <p:cNvPr id="11" name="TextBox 10">
            <a:extLst>
              <a:ext uri="{FF2B5EF4-FFF2-40B4-BE49-F238E27FC236}">
                <a16:creationId xmlns:a16="http://schemas.microsoft.com/office/drawing/2014/main" id="{7E90FE37-69EC-E9C1-60E0-4DF98A93B7AF}"/>
              </a:ext>
            </a:extLst>
          </p:cNvPr>
          <p:cNvSpPr txBox="1"/>
          <p:nvPr/>
        </p:nvSpPr>
        <p:spPr>
          <a:xfrm>
            <a:off x="262467" y="5103674"/>
            <a:ext cx="4995334"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&lt;select class="form-control" id="Gender" name="Gender"&gt;</a:t>
            </a:r>
          </a:p>
          <a:p>
            <a:r>
              <a:rPr lang="en-US" dirty="0"/>
              <a:t>   &lt;option value=""&gt;Select Gender&lt;/option&gt;</a:t>
            </a:r>
          </a:p>
          <a:p>
            <a:r>
              <a:rPr lang="en-US" dirty="0"/>
              <a:t>   &lt;option&gt;Male&lt;/option&gt;</a:t>
            </a:r>
          </a:p>
          <a:p>
            <a:r>
              <a:rPr lang="en-US" dirty="0"/>
              <a:t>   &lt;option&gt;Female&lt;/option&gt;</a:t>
            </a:r>
          </a:p>
          <a:p>
            <a:r>
              <a:rPr lang="en-US" dirty="0"/>
              <a:t>   &lt;option&gt;Other&lt;/option&gt;</a:t>
            </a:r>
          </a:p>
          <a:p>
            <a:r>
              <a:rPr lang="en-US" dirty="0"/>
              <a:t>&lt;/select&gt;</a:t>
            </a:r>
            <a:endParaRPr lang="en-IN" dirty="0"/>
          </a:p>
        </p:txBody>
      </p:sp>
      <p:sp>
        <p:nvSpPr>
          <p:cNvPr id="3" name="TextBox 2">
            <a:extLst>
              <a:ext uri="{FF2B5EF4-FFF2-40B4-BE49-F238E27FC236}">
                <a16:creationId xmlns:a16="http://schemas.microsoft.com/office/drawing/2014/main" id="{5F7DF3FF-3F20-1D8C-30E3-EAF0E2338609}"/>
              </a:ext>
            </a:extLst>
          </p:cNvPr>
          <p:cNvSpPr txBox="1"/>
          <p:nvPr/>
        </p:nvSpPr>
        <p:spPr>
          <a:xfrm>
            <a:off x="5511801" y="5279325"/>
            <a:ext cx="6502399"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600" dirty="0">
                <a:solidFill>
                  <a:srgbClr val="000000"/>
                </a:solidFill>
                <a:highlight>
                  <a:srgbClr val="FFFFFF"/>
                </a:highlight>
                <a:latin typeface="Cascadia Mono" panose="020B0609020000020004" pitchFamily="49" charset="0"/>
              </a:rPr>
              <a:t> @Html.DropDownList(</a:t>
            </a:r>
            <a:r>
              <a:rPr lang="en-IN" sz="1600" dirty="0">
                <a:solidFill>
                  <a:srgbClr val="A31515"/>
                </a:solidFill>
                <a:highlight>
                  <a:srgbClr val="FFFFFF"/>
                </a:highlight>
                <a:latin typeface="Cascadia Mono" panose="020B0609020000020004" pitchFamily="49" charset="0"/>
              </a:rPr>
              <a:t>"Gender"</a:t>
            </a:r>
            <a:r>
              <a:rPr lang="en-IN" sz="1600" dirty="0">
                <a:solidFill>
                  <a:srgbClr val="000000"/>
                </a:solidFill>
                <a:highlight>
                  <a:srgbClr val="FFFFFF"/>
                </a:highlight>
                <a:latin typeface="Cascadia Mono" panose="020B0609020000020004" pitchFamily="49" charset="0"/>
              </a:rPr>
              <a:t>,</a:t>
            </a:r>
            <a:r>
              <a:rPr lang="en-IN" sz="1600" dirty="0">
                <a:solidFill>
                  <a:srgbClr val="0000FF"/>
                </a:solidFill>
                <a:highlight>
                  <a:srgbClr val="FFFFFF"/>
                </a:highlight>
                <a:latin typeface="Cascadia Mono" panose="020B0609020000020004" pitchFamily="49" charset="0"/>
              </a:rPr>
              <a:t>new</a:t>
            </a:r>
            <a:r>
              <a:rPr lang="en-IN" sz="1600" dirty="0">
                <a:solidFill>
                  <a:srgbClr val="000000"/>
                </a:solidFill>
                <a:highlight>
                  <a:srgbClr val="FFFFFF"/>
                </a:highlight>
                <a:latin typeface="Cascadia Mono" panose="020B0609020000020004" pitchFamily="49" charset="0"/>
              </a:rPr>
              <a:t> </a:t>
            </a:r>
            <a:r>
              <a:rPr lang="en-IN" sz="1600" dirty="0" err="1">
                <a:solidFill>
                  <a:srgbClr val="2B91AF"/>
                </a:solidFill>
                <a:highlight>
                  <a:srgbClr val="FFFFFF"/>
                </a:highlight>
                <a:latin typeface="Cascadia Mono" panose="020B0609020000020004" pitchFamily="49" charset="0"/>
              </a:rPr>
              <a:t>SelectList</a:t>
            </a:r>
            <a:r>
              <a:rPr lang="en-IN" sz="1600" dirty="0">
                <a:solidFill>
                  <a:srgbClr val="000000"/>
                </a:solidFill>
                <a:highlight>
                  <a:srgbClr val="FFFFFF"/>
                </a:highlight>
                <a:latin typeface="Cascadia Mono" panose="020B0609020000020004" pitchFamily="49" charset="0"/>
              </a:rPr>
              <a:t>(</a:t>
            </a:r>
            <a:r>
              <a:rPr lang="en-IN" sz="1600" dirty="0" err="1">
                <a:solidFill>
                  <a:srgbClr val="2B91AF"/>
                </a:solidFill>
                <a:highlight>
                  <a:srgbClr val="FFFFFF"/>
                </a:highlight>
                <a:latin typeface="Cascadia Mono" panose="020B0609020000020004" pitchFamily="49" charset="0"/>
              </a:rPr>
              <a:t>Enum</a:t>
            </a:r>
            <a:r>
              <a:rPr lang="en-IN" sz="1600" dirty="0" err="1">
                <a:solidFill>
                  <a:srgbClr val="000000"/>
                </a:solidFill>
                <a:highlight>
                  <a:srgbClr val="FFFFFF"/>
                </a:highlight>
                <a:latin typeface="Cascadia Mono" panose="020B0609020000020004" pitchFamily="49" charset="0"/>
              </a:rPr>
              <a:t>.GetValues</a:t>
            </a:r>
            <a:r>
              <a:rPr lang="en-IN" sz="1600" dirty="0">
                <a:solidFill>
                  <a:srgbClr val="000000"/>
                </a:solidFill>
                <a:highlight>
                  <a:srgbClr val="FFFFFF"/>
                </a:highlight>
                <a:latin typeface="Cascadia Mono" panose="020B0609020000020004" pitchFamily="49" charset="0"/>
              </a:rPr>
              <a:t>(</a:t>
            </a:r>
            <a:r>
              <a:rPr lang="en-IN" sz="1600" dirty="0" err="1">
                <a:solidFill>
                  <a:srgbClr val="0000FF"/>
                </a:solidFill>
                <a:highlight>
                  <a:srgbClr val="FFFFFF"/>
                </a:highlight>
                <a:latin typeface="Cascadia Mono" panose="020B0609020000020004" pitchFamily="49" charset="0"/>
              </a:rPr>
              <a:t>typeof</a:t>
            </a:r>
            <a:r>
              <a:rPr lang="en-IN" sz="1600" dirty="0">
                <a:solidFill>
                  <a:srgbClr val="000000"/>
                </a:solidFill>
                <a:highlight>
                  <a:srgbClr val="FFFFFF"/>
                </a:highlight>
                <a:latin typeface="Cascadia Mono" panose="020B0609020000020004" pitchFamily="49" charset="0"/>
              </a:rPr>
              <a:t>(Gender))), </a:t>
            </a:r>
            <a:r>
              <a:rPr lang="en-IN" sz="1600" dirty="0">
                <a:solidFill>
                  <a:srgbClr val="A31515"/>
                </a:solidFill>
                <a:highlight>
                  <a:srgbClr val="FFFFFF"/>
                </a:highlight>
                <a:latin typeface="Cascadia Mono" panose="020B0609020000020004" pitchFamily="49" charset="0"/>
              </a:rPr>
              <a:t>"Select Gender"</a:t>
            </a:r>
            <a:r>
              <a:rPr lang="en-IN" sz="1600" dirty="0">
                <a:solidFill>
                  <a:srgbClr val="000000"/>
                </a:solidFill>
                <a:highlight>
                  <a:srgbClr val="FFFFFF"/>
                </a:highlight>
                <a:latin typeface="Cascadia Mono" panose="020B0609020000020004" pitchFamily="49" charset="0"/>
              </a:rPr>
              <a:t>,</a:t>
            </a:r>
          </a:p>
          <a:p>
            <a:r>
              <a:rPr lang="en-IN" sz="1600" dirty="0">
                <a:solidFill>
                  <a:srgbClr val="000000"/>
                </a:solidFill>
                <a:highlight>
                  <a:srgbClr val="FFFFFF"/>
                </a:highlight>
                <a:latin typeface="Cascadia Mono" panose="020B0609020000020004" pitchFamily="49" charset="0"/>
              </a:rPr>
              <a:t>         </a:t>
            </a:r>
            <a:r>
              <a:rPr lang="en-IN" sz="1600" dirty="0">
                <a:solidFill>
                  <a:srgbClr val="0000FF"/>
                </a:solidFill>
                <a:highlight>
                  <a:srgbClr val="FFFFFF"/>
                </a:highlight>
                <a:latin typeface="Cascadia Mono" panose="020B0609020000020004" pitchFamily="49" charset="0"/>
              </a:rPr>
              <a:t>new</a:t>
            </a:r>
            <a:r>
              <a:rPr lang="en-IN" sz="1600" dirty="0">
                <a:solidFill>
                  <a:srgbClr val="000000"/>
                </a:solidFill>
                <a:highlight>
                  <a:srgbClr val="FFFFFF"/>
                </a:highlight>
                <a:latin typeface="Cascadia Mono" panose="020B0609020000020004" pitchFamily="49" charset="0"/>
              </a:rPr>
              <a:t> { @class = </a:t>
            </a:r>
            <a:r>
              <a:rPr lang="en-IN" sz="1600" dirty="0">
                <a:solidFill>
                  <a:srgbClr val="A31515"/>
                </a:solidFill>
                <a:highlight>
                  <a:srgbClr val="FFFFFF"/>
                </a:highlight>
                <a:latin typeface="Cascadia Mono" panose="020B0609020000020004" pitchFamily="49" charset="0"/>
              </a:rPr>
              <a:t>"form-control"</a:t>
            </a:r>
            <a:r>
              <a:rPr lang="en-IN" sz="1600" dirty="0">
                <a:solidFill>
                  <a:srgbClr val="000000"/>
                </a:solidFill>
                <a:highlight>
                  <a:srgbClr val="FFFFFF"/>
                </a:highlight>
                <a:latin typeface="Cascadia Mono" panose="020B0609020000020004" pitchFamily="49" charset="0"/>
              </a:rPr>
              <a:t> }</a:t>
            </a:r>
          </a:p>
          <a:p>
            <a:r>
              <a:rPr lang="en-IN" sz="1600" dirty="0">
                <a:solidFill>
                  <a:srgbClr val="000000"/>
                </a:solidFill>
                <a:highlight>
                  <a:srgbClr val="FFFFFF"/>
                </a:highlight>
                <a:latin typeface="Cascadia Mono" panose="020B0609020000020004" pitchFamily="49" charset="0"/>
              </a:rPr>
              <a:t>                         )</a:t>
            </a:r>
          </a:p>
        </p:txBody>
      </p:sp>
    </p:spTree>
    <p:extLst>
      <p:ext uri="{BB962C8B-B14F-4D97-AF65-F5344CB8AC3E}">
        <p14:creationId xmlns:p14="http://schemas.microsoft.com/office/powerpoint/2010/main" val="236289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2084E7-8EAC-B4FB-C231-0A12AA86AEF0}"/>
              </a:ext>
            </a:extLst>
          </p:cNvPr>
          <p:cNvSpPr txBox="1"/>
          <p:nvPr/>
        </p:nvSpPr>
        <p:spPr>
          <a:xfrm>
            <a:off x="152399" y="364067"/>
            <a:ext cx="7298272" cy="618630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100" dirty="0"/>
              <a:t>@{</a:t>
            </a:r>
          </a:p>
          <a:p>
            <a:r>
              <a:rPr lang="en-US" sz="1100" dirty="0"/>
              <a:t>    </a:t>
            </a:r>
            <a:r>
              <a:rPr lang="en-US" sz="1100" dirty="0" err="1"/>
              <a:t>ViewData</a:t>
            </a:r>
            <a:r>
              <a:rPr lang="en-US" sz="1100" dirty="0"/>
              <a:t>["Title"] = "Home Page";</a:t>
            </a:r>
          </a:p>
          <a:p>
            <a:r>
              <a:rPr lang="en-US" sz="1100" dirty="0"/>
              <a:t>}</a:t>
            </a:r>
          </a:p>
          <a:p>
            <a:r>
              <a:rPr lang="en-US" sz="1100" dirty="0"/>
              <a:t>&lt;div class="form-group"&gt;</a:t>
            </a:r>
          </a:p>
          <a:p>
            <a:r>
              <a:rPr lang="en-US" sz="1100" dirty="0"/>
              <a:t>    &lt;!-- Label for the Departments dropdown --&gt;</a:t>
            </a:r>
          </a:p>
          <a:p>
            <a:r>
              <a:rPr lang="en-US" sz="1100" dirty="0"/>
              <a:t>    &lt;label for="Gender" class="form-label"&gt;Select Gender&lt;/label&gt;</a:t>
            </a:r>
          </a:p>
          <a:p>
            <a:r>
              <a:rPr lang="en-US" sz="1100" dirty="0"/>
              <a:t>    @Html.DropDownList("Gender",</a:t>
            </a:r>
          </a:p>
          <a:p>
            <a:r>
              <a:rPr lang="en-US" sz="1100" dirty="0"/>
              <a:t>               // Name and ID of the &lt;select&gt; element</a:t>
            </a:r>
          </a:p>
          <a:p>
            <a:r>
              <a:rPr lang="en-US" sz="1100" dirty="0"/>
              <a:t>            // This </a:t>
            </a:r>
            <a:r>
              <a:rPr lang="en-US" sz="1100" dirty="0" err="1"/>
              <a:t>SelectList</a:t>
            </a:r>
            <a:r>
              <a:rPr lang="en-US" sz="1100" dirty="0"/>
              <a:t> creates the list of options for the dropdown from the Gender </a:t>
            </a:r>
            <a:r>
              <a:rPr lang="en-US" sz="1100" dirty="0" err="1"/>
              <a:t>enum</a:t>
            </a:r>
            <a:r>
              <a:rPr lang="en-US" sz="1100" dirty="0"/>
              <a:t>.</a:t>
            </a:r>
          </a:p>
          <a:p>
            <a:r>
              <a:rPr lang="en-US" sz="1100" dirty="0"/>
              <a:t>	//</a:t>
            </a:r>
            <a:r>
              <a:rPr lang="en-US" sz="1100" dirty="0" err="1"/>
              <a:t>Enum.GetValues</a:t>
            </a:r>
            <a:r>
              <a:rPr lang="en-US" sz="1100" dirty="0"/>
              <a:t>(</a:t>
            </a:r>
            <a:r>
              <a:rPr lang="en-US" sz="1100" dirty="0" err="1"/>
              <a:t>typeof</a:t>
            </a:r>
            <a:r>
              <a:rPr lang="en-US" sz="1100" dirty="0"/>
              <a:t>(Gender))</a:t>
            </a:r>
          </a:p>
          <a:p>
            <a:r>
              <a:rPr lang="en-US" sz="1100" dirty="0"/>
              <a:t>            // retrieves all the values of the Gender </a:t>
            </a:r>
            <a:r>
              <a:rPr lang="en-US" sz="1100" dirty="0" err="1"/>
              <a:t>enum</a:t>
            </a:r>
            <a:r>
              <a:rPr lang="en-US" sz="1100" dirty="0"/>
              <a:t> (e.g., Male, Female, Other).</a:t>
            </a:r>
          </a:p>
          <a:p>
            <a:r>
              <a:rPr lang="en-US" sz="1100" dirty="0"/>
              <a:t>            // .Cast&lt;Gender&gt;() converts these values to the Gender </a:t>
            </a:r>
            <a:r>
              <a:rPr lang="en-US" sz="1100" dirty="0" err="1"/>
              <a:t>enum</a:t>
            </a:r>
            <a:r>
              <a:rPr lang="en-US" sz="1100" dirty="0"/>
              <a:t> type.</a:t>
            </a:r>
          </a:p>
          <a:p>
            <a:r>
              <a:rPr lang="en-US" sz="1100" dirty="0"/>
              <a:t>            new </a:t>
            </a:r>
            <a:r>
              <a:rPr lang="en-US" sz="1100" dirty="0" err="1"/>
              <a:t>SelectList</a:t>
            </a:r>
            <a:r>
              <a:rPr lang="en-US" sz="1100" dirty="0"/>
              <a:t>(</a:t>
            </a:r>
            <a:r>
              <a:rPr lang="en-US" sz="1100" dirty="0" err="1"/>
              <a:t>Enum.GetValues</a:t>
            </a:r>
            <a:r>
              <a:rPr lang="en-US" sz="1100" dirty="0"/>
              <a:t>(</a:t>
            </a:r>
            <a:r>
              <a:rPr lang="en-US" sz="1100" dirty="0" err="1"/>
              <a:t>typeof</a:t>
            </a:r>
            <a:r>
              <a:rPr lang="en-US" sz="1100" dirty="0"/>
              <a:t>(Gender)) .Cast&lt;Gender&gt;() </a:t>
            </a:r>
          </a:p>
          <a:p>
            <a:endParaRPr lang="en-US" sz="1100" dirty="0"/>
          </a:p>
          <a:p>
            <a:r>
              <a:rPr lang="en-US" sz="1100" dirty="0"/>
              <a:t>     // Converts the collection of </a:t>
            </a:r>
            <a:r>
              <a:rPr lang="en-US" sz="1100" dirty="0" err="1"/>
              <a:t>enum</a:t>
            </a:r>
            <a:r>
              <a:rPr lang="en-US" sz="1100" dirty="0"/>
              <a:t> values to Gender type</a:t>
            </a:r>
          </a:p>
          <a:p>
            <a:r>
              <a:rPr lang="en-US" sz="1100" dirty="0"/>
              <a:t>          </a:t>
            </a:r>
          </a:p>
          <a:p>
            <a:r>
              <a:rPr lang="en-US" sz="1100" dirty="0"/>
              <a:t>  // Select() is a LINQ method that projects each Gender </a:t>
            </a:r>
            <a:r>
              <a:rPr lang="en-US" sz="1100" dirty="0" err="1"/>
              <a:t>enum</a:t>
            </a:r>
            <a:r>
              <a:rPr lang="en-US" sz="1100" dirty="0"/>
              <a:t> value into a new </a:t>
            </a:r>
            <a:r>
              <a:rPr lang="en-US" sz="1100" dirty="0" err="1"/>
              <a:t>SelectListItem</a:t>
            </a:r>
            <a:r>
              <a:rPr lang="en-US" sz="1100" dirty="0"/>
              <a:t> object.</a:t>
            </a:r>
          </a:p>
          <a:p>
            <a:r>
              <a:rPr lang="en-US" sz="1100" dirty="0"/>
              <a:t>            // For each Gender </a:t>
            </a:r>
            <a:r>
              <a:rPr lang="en-US" sz="1100" dirty="0" err="1"/>
              <a:t>enum</a:t>
            </a:r>
            <a:r>
              <a:rPr lang="en-US" sz="1100" dirty="0"/>
              <a:t> value, we create a </a:t>
            </a:r>
            <a:r>
              <a:rPr lang="en-US" sz="1100" dirty="0" err="1"/>
              <a:t>SelectListItem</a:t>
            </a:r>
            <a:r>
              <a:rPr lang="en-US" sz="1100" dirty="0"/>
              <a:t> with Text and Value properties.</a:t>
            </a:r>
          </a:p>
          <a:p>
            <a:r>
              <a:rPr lang="en-US" sz="1100" dirty="0"/>
              <a:t>            // Text will display the string representation of the </a:t>
            </a:r>
            <a:r>
              <a:rPr lang="en-US" sz="1100" dirty="0" err="1"/>
              <a:t>enum</a:t>
            </a:r>
            <a:r>
              <a:rPr lang="en-US" sz="1100" dirty="0"/>
              <a:t> (e.g., "Male"), and</a:t>
            </a:r>
          </a:p>
          <a:p>
            <a:r>
              <a:rPr lang="en-US" sz="1100" dirty="0"/>
              <a:t>            // Value will store the integer value of the </a:t>
            </a:r>
            <a:r>
              <a:rPr lang="en-US" sz="1100" dirty="0" err="1"/>
              <a:t>enum</a:t>
            </a:r>
            <a:r>
              <a:rPr lang="en-US" sz="1100" dirty="0"/>
              <a:t>, cast to a string (e.g., "1" for Male).</a:t>
            </a:r>
          </a:p>
          <a:p>
            <a:r>
              <a:rPr lang="en-US" sz="1100" dirty="0"/>
              <a:t>           </a:t>
            </a:r>
          </a:p>
          <a:p>
            <a:r>
              <a:rPr lang="en-US" sz="1100" dirty="0"/>
              <a:t> .Select(e =&gt; new </a:t>
            </a:r>
            <a:r>
              <a:rPr lang="en-US" sz="1100" dirty="0" err="1"/>
              <a:t>SelectListItem</a:t>
            </a:r>
            <a:endParaRPr lang="en-US" sz="1100" dirty="0"/>
          </a:p>
          <a:p>
            <a:r>
              <a:rPr lang="en-US" sz="1100" dirty="0"/>
              <a:t>            {</a:t>
            </a:r>
          </a:p>
          <a:p>
            <a:r>
              <a:rPr lang="en-US" sz="1100" dirty="0"/>
              <a:t>                Text = </a:t>
            </a:r>
            <a:r>
              <a:rPr lang="en-US" sz="1100" dirty="0" err="1"/>
              <a:t>e.ToString</a:t>
            </a:r>
            <a:r>
              <a:rPr lang="en-US" sz="1100" dirty="0"/>
              <a:t>(), // The display text for the option (e.g., "Male")</a:t>
            </a:r>
          </a:p>
          <a:p>
            <a:r>
              <a:rPr lang="en-US" sz="1100" dirty="0"/>
              <a:t>                Value = ((int)e).</a:t>
            </a:r>
            <a:r>
              <a:rPr lang="en-US" sz="1100" dirty="0" err="1"/>
              <a:t>ToString</a:t>
            </a:r>
            <a:r>
              <a:rPr lang="en-US" sz="1100" dirty="0"/>
              <a:t>() // The value attribute for the option (e.g., "1")</a:t>
            </a:r>
          </a:p>
          <a:p>
            <a:r>
              <a:rPr lang="en-US" sz="1100" dirty="0"/>
              <a:t>            }),</a:t>
            </a:r>
          </a:p>
          <a:p>
            <a:r>
              <a:rPr lang="en-US" sz="1100" dirty="0"/>
              <a:t>            // "Value" specifies that the dropdown will use the "Value" property of each </a:t>
            </a:r>
            <a:r>
              <a:rPr lang="en-US" sz="1100" dirty="0" err="1"/>
              <a:t>SelectListItem</a:t>
            </a:r>
            <a:r>
              <a:rPr lang="en-US" sz="1100" dirty="0"/>
              <a:t> for the option values.</a:t>
            </a:r>
          </a:p>
          <a:p>
            <a:r>
              <a:rPr lang="en-US" sz="1100" dirty="0"/>
              <a:t>            // "Text" specifies that the dropdown will display the "Text" property of each </a:t>
            </a:r>
            <a:r>
              <a:rPr lang="en-US" sz="1100" dirty="0" err="1"/>
              <a:t>SelectListItem</a:t>
            </a:r>
            <a:r>
              <a:rPr lang="en-US" sz="1100" dirty="0"/>
              <a:t>.</a:t>
            </a:r>
          </a:p>
          <a:p>
            <a:r>
              <a:rPr lang="en-US" sz="1100" dirty="0"/>
              <a:t>            "Value", "Text"),</a:t>
            </a:r>
          </a:p>
          <a:p>
            <a:r>
              <a:rPr lang="en-US" sz="1100" dirty="0"/>
              <a:t>            // The third argument is a string that sets the default placeholder option.</a:t>
            </a:r>
          </a:p>
          <a:p>
            <a:r>
              <a:rPr lang="en-US" sz="1100" dirty="0"/>
              <a:t>            // This will create an option with an empty value and the text "Select Gender".</a:t>
            </a:r>
          </a:p>
          <a:p>
            <a:r>
              <a:rPr lang="en-US" sz="1100" dirty="0"/>
              <a:t>            "Select Gender",</a:t>
            </a:r>
          </a:p>
          <a:p>
            <a:r>
              <a:rPr lang="en-US" sz="1100" dirty="0"/>
              <a:t>            // This anonymous object specifies additional HTML attributes for the &lt;select&gt; element.</a:t>
            </a:r>
          </a:p>
          <a:p>
            <a:r>
              <a:rPr lang="en-US" sz="1100" dirty="0"/>
              <a:t>            // @class is a reserved keyword, so it's escaped with @ to define the Bootstrap class "form-control".</a:t>
            </a:r>
          </a:p>
          <a:p>
            <a:r>
              <a:rPr lang="en-US" sz="1100" dirty="0"/>
              <a:t>            new { @class = "form-control" })</a:t>
            </a:r>
          </a:p>
          <a:p>
            <a:r>
              <a:rPr lang="en-US" sz="1100" dirty="0"/>
              <a:t>&lt;/div&gt;</a:t>
            </a:r>
            <a:endParaRPr lang="en-IN" sz="1100" dirty="0"/>
          </a:p>
        </p:txBody>
      </p:sp>
      <p:sp>
        <p:nvSpPr>
          <p:cNvPr id="7" name="TextBox 6">
            <a:extLst>
              <a:ext uri="{FF2B5EF4-FFF2-40B4-BE49-F238E27FC236}">
                <a16:creationId xmlns:a16="http://schemas.microsoft.com/office/drawing/2014/main" id="{A901CDE0-2000-5B38-54A2-77C27EF16AB7}"/>
              </a:ext>
            </a:extLst>
          </p:cNvPr>
          <p:cNvSpPr txBox="1"/>
          <p:nvPr/>
        </p:nvSpPr>
        <p:spPr>
          <a:xfrm>
            <a:off x="7603067" y="206570"/>
            <a:ext cx="4588933" cy="184665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dirty="0"/>
              <a:t>&lt;select class="form-control" id="Gender" name="Gender"&gt;</a:t>
            </a:r>
          </a:p>
          <a:p>
            <a:r>
              <a:rPr lang="en-US" sz="1600" dirty="0"/>
              <a:t>   &lt;option value=""&gt;Select Gender&lt;/option&gt;</a:t>
            </a:r>
          </a:p>
          <a:p>
            <a:r>
              <a:rPr lang="en-US" sz="1600" dirty="0"/>
              <a:t>   &lt;option value="0"&gt;Male&lt;/option&gt;</a:t>
            </a:r>
          </a:p>
          <a:p>
            <a:r>
              <a:rPr lang="en-US" sz="1600" dirty="0"/>
              <a:t>   &lt;option value="1"&gt;Female&lt;/option&gt;</a:t>
            </a:r>
          </a:p>
          <a:p>
            <a:r>
              <a:rPr lang="en-US" sz="1600" dirty="0"/>
              <a:t>   &lt;option value="2"&gt;Other&lt;/option&gt;</a:t>
            </a:r>
          </a:p>
          <a:p>
            <a:r>
              <a:rPr lang="en-US" sz="1600" dirty="0"/>
              <a:t>&lt;/select&gt;</a:t>
            </a:r>
            <a:endParaRPr lang="en-IN" sz="1600" dirty="0"/>
          </a:p>
        </p:txBody>
      </p:sp>
      <p:sp>
        <p:nvSpPr>
          <p:cNvPr id="2" name="TextBox 1">
            <a:extLst>
              <a:ext uri="{FF2B5EF4-FFF2-40B4-BE49-F238E27FC236}">
                <a16:creationId xmlns:a16="http://schemas.microsoft.com/office/drawing/2014/main" id="{16D13A6E-5CDA-8576-97EA-2446CBFBABF6}"/>
              </a:ext>
            </a:extLst>
          </p:cNvPr>
          <p:cNvSpPr txBox="1"/>
          <p:nvPr/>
        </p:nvSpPr>
        <p:spPr>
          <a:xfrm>
            <a:off x="7450670" y="2311400"/>
            <a:ext cx="4588932" cy="283154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800" dirty="0"/>
              <a:t> </a:t>
            </a:r>
            <a:r>
              <a:rPr lang="en-US" sz="1600" dirty="0"/>
              <a:t>@Html.DropDownList("Gender",</a:t>
            </a:r>
          </a:p>
          <a:p>
            <a:r>
              <a:rPr lang="en-US" sz="1600" dirty="0"/>
              <a:t> new </a:t>
            </a:r>
            <a:r>
              <a:rPr lang="en-US" sz="1600" dirty="0" err="1"/>
              <a:t>SelectList</a:t>
            </a:r>
            <a:r>
              <a:rPr lang="en-US" sz="1600" dirty="0"/>
              <a:t>(</a:t>
            </a:r>
            <a:r>
              <a:rPr lang="en-US" sz="1600" dirty="0" err="1"/>
              <a:t>Enum.GetValues</a:t>
            </a:r>
            <a:r>
              <a:rPr lang="en-US" sz="1600" dirty="0"/>
              <a:t>(</a:t>
            </a:r>
            <a:r>
              <a:rPr lang="en-US" sz="1600" dirty="0" err="1"/>
              <a:t>typeof</a:t>
            </a:r>
            <a:r>
              <a:rPr lang="en-US" sz="1600" dirty="0"/>
              <a:t>(Gender))</a:t>
            </a:r>
          </a:p>
          <a:p>
            <a:r>
              <a:rPr lang="en-US" sz="1600" dirty="0"/>
              <a:t>. Cast&lt;Gender&gt;().Select(e =&gt; new </a:t>
            </a:r>
            <a:r>
              <a:rPr lang="en-US" sz="1600" dirty="0" err="1"/>
              <a:t>SelectListItem</a:t>
            </a:r>
            <a:endParaRPr lang="en-US" sz="1600" dirty="0"/>
          </a:p>
          <a:p>
            <a:r>
              <a:rPr lang="en-US" sz="1600" dirty="0"/>
              <a:t>      {</a:t>
            </a:r>
          </a:p>
          <a:p>
            <a:r>
              <a:rPr lang="en-US" sz="1600" dirty="0"/>
              <a:t>    Text = </a:t>
            </a:r>
            <a:r>
              <a:rPr lang="en-US" sz="1600" dirty="0" err="1"/>
              <a:t>e.ToString</a:t>
            </a:r>
            <a:r>
              <a:rPr lang="en-US" sz="1600" dirty="0"/>
              <a:t>(), </a:t>
            </a:r>
          </a:p>
          <a:p>
            <a:r>
              <a:rPr lang="en-US" sz="1600" dirty="0"/>
              <a:t>    Value = ((int)e).</a:t>
            </a:r>
            <a:r>
              <a:rPr lang="en-US" sz="1600" dirty="0" err="1"/>
              <a:t>ToString</a:t>
            </a:r>
            <a:r>
              <a:rPr lang="en-US" sz="1600" dirty="0"/>
              <a:t>()   </a:t>
            </a:r>
          </a:p>
          <a:p>
            <a:r>
              <a:rPr lang="en-US" sz="1600" dirty="0"/>
              <a:t>        }) , "Value", "Text"), Select Gender", new { @</a:t>
            </a:r>
            <a:r>
              <a:rPr lang="en-US" sz="1200" dirty="0"/>
              <a:t>class = "form-control"</a:t>
            </a:r>
            <a:r>
              <a:rPr lang="en-US" sz="1600" dirty="0"/>
              <a:t> }</a:t>
            </a:r>
          </a:p>
          <a:p>
            <a:endParaRPr lang="en-US" sz="1600" dirty="0"/>
          </a:p>
          <a:p>
            <a:r>
              <a:rPr lang="en-US" sz="1600" dirty="0"/>
              <a:t>)</a:t>
            </a:r>
          </a:p>
          <a:p>
            <a:endParaRPr lang="en-IN" sz="1600" dirty="0"/>
          </a:p>
        </p:txBody>
      </p:sp>
    </p:spTree>
    <p:extLst>
      <p:ext uri="{BB962C8B-B14F-4D97-AF65-F5344CB8AC3E}">
        <p14:creationId xmlns:p14="http://schemas.microsoft.com/office/powerpoint/2010/main" val="942326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509EF1-9AA4-DF93-F1AE-181DB9BB7A66}"/>
              </a:ext>
            </a:extLst>
          </p:cNvPr>
          <p:cNvSpPr txBox="1"/>
          <p:nvPr/>
        </p:nvSpPr>
        <p:spPr>
          <a:xfrm>
            <a:off x="8467" y="-84666"/>
            <a:ext cx="11794066" cy="7017306"/>
          </a:xfrm>
          <a:prstGeom prst="rect">
            <a:avLst/>
          </a:prstGeom>
          <a:solidFill>
            <a:schemeClr val="tx1"/>
          </a:solidFill>
        </p:spPr>
        <p:txBody>
          <a:bodyPr wrap="square">
            <a:spAutoFit/>
          </a:bodyPr>
          <a:lstStyle/>
          <a:p>
            <a:pPr algn="l" fontAlgn="base"/>
            <a:r>
              <a:rPr lang="en-US" b="0" i="0" dirty="0">
                <a:solidFill>
                  <a:srgbClr val="CFD5E0"/>
                </a:solidFill>
                <a:effectLst/>
                <a:latin typeface="inherit"/>
              </a:rPr>
              <a:t>@{  // Setting the title of the page to "Home Page"</a:t>
            </a:r>
            <a:endParaRPr lang="en-US" b="0" i="0" dirty="0">
              <a:solidFill>
                <a:srgbClr val="596174"/>
              </a:solidFill>
              <a:effectLst/>
              <a:latin typeface="Inconsolata" pitchFamily="1" charset="0"/>
            </a:endParaRPr>
          </a:p>
          <a:p>
            <a:pPr algn="l" fontAlgn="base"/>
            <a:r>
              <a:rPr lang="en-US" b="0" i="0" dirty="0" err="1">
                <a:solidFill>
                  <a:srgbClr val="CFD5E0"/>
                </a:solidFill>
                <a:effectLst/>
                <a:latin typeface="inherit"/>
              </a:rPr>
              <a:t>ViewData</a:t>
            </a:r>
            <a:r>
              <a:rPr lang="en-US" b="0" i="0" dirty="0">
                <a:solidFill>
                  <a:srgbClr val="CFD5E0"/>
                </a:solidFill>
                <a:effectLst/>
                <a:latin typeface="inherit"/>
              </a:rPr>
              <a:t>["Title"] = "Home Page";  }</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div</a:t>
            </a:r>
            <a:r>
              <a:rPr lang="en-US" b="0" i="0" dirty="0">
                <a:solidFill>
                  <a:srgbClr val="CFD5E0"/>
                </a:solidFill>
                <a:effectLst/>
                <a:latin typeface="inherit"/>
              </a:rPr>
              <a:t> </a:t>
            </a:r>
            <a:r>
              <a:rPr lang="en-US" b="0" i="0" dirty="0">
                <a:solidFill>
                  <a:srgbClr val="D19252"/>
                </a:solidFill>
                <a:effectLst/>
                <a:latin typeface="inherit"/>
              </a:rPr>
              <a:t>class</a:t>
            </a:r>
            <a:r>
              <a:rPr lang="en-US" b="0" i="0" dirty="0">
                <a:solidFill>
                  <a:srgbClr val="4284AE"/>
                </a:solidFill>
                <a:effectLst/>
                <a:latin typeface="inherit"/>
              </a:rPr>
              <a:t>=</a:t>
            </a:r>
            <a:r>
              <a:rPr lang="en-US" b="0" i="0" dirty="0">
                <a:solidFill>
                  <a:srgbClr val="7CC379"/>
                </a:solidFill>
                <a:effectLst/>
                <a:latin typeface="inherit"/>
              </a:rPr>
              <a:t>"form-group"</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&lt;!-- Wraps the radio button and its descriptive text (Male) in a label for better accessibility --&gt;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label</a:t>
            </a:r>
            <a:r>
              <a:rPr lang="en-US" b="0" i="0" dirty="0">
                <a:solidFill>
                  <a:srgbClr val="CFD5E0"/>
                </a:solidFill>
                <a:effectLst/>
                <a:latin typeface="inherit"/>
              </a:rPr>
              <a:t> </a:t>
            </a:r>
            <a:r>
              <a:rPr lang="en-US" b="0" i="0" dirty="0">
                <a:solidFill>
                  <a:srgbClr val="D19252"/>
                </a:solidFill>
                <a:effectLst/>
                <a:latin typeface="inherit"/>
              </a:rPr>
              <a:t>class</a:t>
            </a:r>
            <a:r>
              <a:rPr lang="en-US" b="0" i="0" dirty="0">
                <a:solidFill>
                  <a:srgbClr val="4284AE"/>
                </a:solidFill>
                <a:effectLst/>
                <a:latin typeface="inherit"/>
              </a:rPr>
              <a:t>=</a:t>
            </a:r>
            <a:r>
              <a:rPr lang="en-US" b="0" i="0" dirty="0">
                <a:solidFill>
                  <a:srgbClr val="7CC379"/>
                </a:solidFill>
                <a:effectLst/>
                <a:latin typeface="inherit"/>
              </a:rPr>
              <a:t>"form-check-label"</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0" i="0" dirty="0">
                <a:solidFill>
                  <a:srgbClr val="CFD5E0"/>
                </a:solidFill>
                <a:effectLst/>
                <a:latin typeface="inherit"/>
              </a:rPr>
              <a:t>@Html.RadioButton("Gender", "Male", false, new { @class = "form-check-input" })</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&lt;!--</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Renders a radio button input element:</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 "Gender" is the name attribute, grouping this with other inputs with the same name so only one can be selected.</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 "Male" is the value attribute, which will be the value sent when this radio button is selected.</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 false indicates that this radio button is not checked by default.</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 Adds Bootstrap's "form-check-input" class for styling consistency with Bootstrap forms.</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0" i="0" dirty="0">
                <a:solidFill>
                  <a:srgbClr val="CFD5E0"/>
                </a:solidFill>
                <a:effectLst/>
                <a:latin typeface="inherit"/>
              </a:rPr>
              <a:t>Male </a:t>
            </a:r>
            <a:r>
              <a:rPr lang="en-US" b="0" i="0" dirty="0">
                <a:solidFill>
                  <a:srgbClr val="6B7C8B"/>
                </a:solidFill>
                <a:effectLst/>
                <a:latin typeface="inherit"/>
              </a:rPr>
              <a:t>&lt;!-- Visible label text for the radio button --&gt;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label</a:t>
            </a:r>
            <a:r>
              <a:rPr lang="en-US" b="1" i="0" dirty="0">
                <a:solidFill>
                  <a:srgbClr val="6B7C8B"/>
                </a:solidFill>
                <a:effectLst/>
                <a:latin typeface="inherit"/>
              </a:rPr>
              <a:t>&gt;&lt;/</a:t>
            </a:r>
            <a:r>
              <a:rPr lang="en-US" b="1" i="0" dirty="0">
                <a:solidFill>
                  <a:srgbClr val="D171DD"/>
                </a:solidFill>
                <a:effectLst/>
                <a:latin typeface="inherit"/>
              </a:rPr>
              <a:t>div</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div</a:t>
            </a:r>
            <a:r>
              <a:rPr lang="en-US" b="0" i="0" dirty="0">
                <a:solidFill>
                  <a:srgbClr val="CFD5E0"/>
                </a:solidFill>
                <a:effectLst/>
                <a:latin typeface="inherit"/>
              </a:rPr>
              <a:t> </a:t>
            </a:r>
            <a:r>
              <a:rPr lang="en-US" b="0" i="0" dirty="0">
                <a:solidFill>
                  <a:srgbClr val="D19252"/>
                </a:solidFill>
                <a:effectLst/>
                <a:latin typeface="inherit"/>
              </a:rPr>
              <a:t>class</a:t>
            </a:r>
            <a:r>
              <a:rPr lang="en-US" b="0" i="0" dirty="0">
                <a:solidFill>
                  <a:srgbClr val="4284AE"/>
                </a:solidFill>
                <a:effectLst/>
                <a:latin typeface="inherit"/>
              </a:rPr>
              <a:t>=</a:t>
            </a:r>
            <a:r>
              <a:rPr lang="en-US" b="0" i="0" dirty="0">
                <a:solidFill>
                  <a:srgbClr val="7CC379"/>
                </a:solidFill>
                <a:effectLst/>
                <a:latin typeface="inherit"/>
              </a:rPr>
              <a:t>"form-group"</a:t>
            </a:r>
            <a:r>
              <a:rPr lang="en-US" b="1" i="0" dirty="0">
                <a:solidFill>
                  <a:srgbClr val="6B7C8B"/>
                </a:solidFill>
                <a:effectLst/>
                <a:latin typeface="inherit"/>
              </a:rPr>
              <a:t>&gt; </a:t>
            </a:r>
            <a:r>
              <a:rPr lang="en-US" b="0" i="0" dirty="0">
                <a:solidFill>
                  <a:srgbClr val="6B7C8B"/>
                </a:solidFill>
                <a:effectLst/>
                <a:latin typeface="inherit"/>
              </a:rPr>
              <a:t>&lt;!-- Similar label structure for the Female radio button --&gt;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label</a:t>
            </a:r>
            <a:r>
              <a:rPr lang="en-US" b="0" i="0" dirty="0">
                <a:solidFill>
                  <a:srgbClr val="CFD5E0"/>
                </a:solidFill>
                <a:effectLst/>
                <a:latin typeface="inherit"/>
              </a:rPr>
              <a:t> </a:t>
            </a:r>
            <a:r>
              <a:rPr lang="en-US" b="0" i="0" dirty="0">
                <a:solidFill>
                  <a:srgbClr val="D19252"/>
                </a:solidFill>
                <a:effectLst/>
                <a:latin typeface="inherit"/>
              </a:rPr>
              <a:t>class</a:t>
            </a:r>
            <a:r>
              <a:rPr lang="en-US" b="0" i="0" dirty="0">
                <a:solidFill>
                  <a:srgbClr val="4284AE"/>
                </a:solidFill>
                <a:effectLst/>
                <a:latin typeface="inherit"/>
              </a:rPr>
              <a:t>=</a:t>
            </a:r>
            <a:r>
              <a:rPr lang="en-US" b="0" i="0" dirty="0">
                <a:solidFill>
                  <a:srgbClr val="7CC379"/>
                </a:solidFill>
                <a:effectLst/>
                <a:latin typeface="inherit"/>
              </a:rPr>
              <a:t>"form-check-label"</a:t>
            </a:r>
            <a:r>
              <a:rPr lang="en-US" b="1" i="0" dirty="0">
                <a:solidFill>
                  <a:srgbClr val="6B7C8B"/>
                </a:solidFill>
                <a:effectLst/>
                <a:latin typeface="inherit"/>
              </a:rPr>
              <a:t>&gt;</a:t>
            </a:r>
            <a:endParaRPr lang="en-US" b="0" i="0" dirty="0">
              <a:solidFill>
                <a:srgbClr val="596174"/>
              </a:solidFill>
              <a:effectLst/>
              <a:latin typeface="Inconsolata" pitchFamily="1" charset="0"/>
            </a:endParaRPr>
          </a:p>
          <a:p>
            <a:pPr algn="l" fontAlgn="base"/>
            <a:r>
              <a:rPr lang="en-US" b="0" i="0" dirty="0">
                <a:solidFill>
                  <a:srgbClr val="CFD5E0"/>
                </a:solidFill>
                <a:effectLst/>
                <a:latin typeface="inherit"/>
              </a:rPr>
              <a:t>@Html.RadioButton("Gender", "Female", false, new { @class = "form-check-input" })</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&lt;!--</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Renders a radio button for Female option:</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 Uses the same "Gender" name, ensuring it is part of the same group as the "Male" radio button.</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 "Female" as the value attribute.</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 false indicates this button is also unchecked by default. - Uses "form-check-input" class for Bootstrap styling.</a:t>
            </a:r>
            <a:endParaRPr lang="en-US" b="0" i="0" dirty="0">
              <a:solidFill>
                <a:srgbClr val="596174"/>
              </a:solidFill>
              <a:effectLst/>
              <a:latin typeface="Inconsolata" pitchFamily="1" charset="0"/>
            </a:endParaRPr>
          </a:p>
          <a:p>
            <a:pPr algn="l" fontAlgn="base"/>
            <a:r>
              <a:rPr lang="en-US" b="0" i="0" dirty="0">
                <a:solidFill>
                  <a:srgbClr val="6B7C8B"/>
                </a:solidFill>
                <a:effectLst/>
                <a:latin typeface="inherit"/>
              </a:rPr>
              <a:t>--&gt;</a:t>
            </a:r>
            <a:r>
              <a:rPr lang="en-US" b="0" i="0" dirty="0">
                <a:solidFill>
                  <a:srgbClr val="CFD5E0"/>
                </a:solidFill>
                <a:effectLst/>
                <a:latin typeface="inherit"/>
              </a:rPr>
              <a:t>Female </a:t>
            </a:r>
            <a:r>
              <a:rPr lang="en-US" b="0" i="0" dirty="0">
                <a:solidFill>
                  <a:srgbClr val="6B7C8B"/>
                </a:solidFill>
                <a:effectLst/>
                <a:latin typeface="inherit"/>
              </a:rPr>
              <a:t>&lt;!-- Visible label text for the radio button --&gt;</a:t>
            </a:r>
            <a:endParaRPr lang="en-US" b="0" i="0" dirty="0">
              <a:solidFill>
                <a:srgbClr val="596174"/>
              </a:solidFill>
              <a:effectLst/>
              <a:latin typeface="Inconsolata" pitchFamily="1" charset="0"/>
            </a:endParaRPr>
          </a:p>
          <a:p>
            <a:pPr algn="l" fontAlgn="base"/>
            <a:r>
              <a:rPr lang="en-US" b="1" i="0" dirty="0">
                <a:solidFill>
                  <a:srgbClr val="6B7C8B"/>
                </a:solidFill>
                <a:effectLst/>
                <a:latin typeface="inherit"/>
              </a:rPr>
              <a:t>&lt;/</a:t>
            </a:r>
            <a:r>
              <a:rPr lang="en-US" b="1" i="0" dirty="0">
                <a:solidFill>
                  <a:srgbClr val="D171DD"/>
                </a:solidFill>
                <a:effectLst/>
                <a:latin typeface="inherit"/>
              </a:rPr>
              <a:t>label</a:t>
            </a:r>
            <a:r>
              <a:rPr lang="en-US" b="1" i="0" dirty="0">
                <a:solidFill>
                  <a:srgbClr val="6B7C8B"/>
                </a:solidFill>
                <a:effectLst/>
                <a:latin typeface="inherit"/>
              </a:rPr>
              <a:t>&gt;&lt;/</a:t>
            </a:r>
            <a:r>
              <a:rPr lang="en-US" b="1" i="0" dirty="0">
                <a:solidFill>
                  <a:srgbClr val="D171DD"/>
                </a:solidFill>
                <a:effectLst/>
                <a:latin typeface="inherit"/>
              </a:rPr>
              <a:t>div</a:t>
            </a:r>
            <a:r>
              <a:rPr lang="en-US" b="1" i="0" dirty="0">
                <a:solidFill>
                  <a:srgbClr val="6B7C8B"/>
                </a:solidFill>
                <a:effectLst/>
                <a:latin typeface="inherit"/>
              </a:rPr>
              <a:t>&gt;</a:t>
            </a:r>
            <a:endParaRPr lang="en-US" b="0" i="0" dirty="0">
              <a:solidFill>
                <a:srgbClr val="596174"/>
              </a:solidFill>
              <a:effectLst/>
              <a:latin typeface="Inconsolata" pitchFamily="1" charset="0"/>
            </a:endParaRPr>
          </a:p>
        </p:txBody>
      </p:sp>
      <p:sp>
        <p:nvSpPr>
          <p:cNvPr id="6" name="TextBox 5">
            <a:extLst>
              <a:ext uri="{FF2B5EF4-FFF2-40B4-BE49-F238E27FC236}">
                <a16:creationId xmlns:a16="http://schemas.microsoft.com/office/drawing/2014/main" id="{F0BC8FA0-F411-84BF-BA34-CA27D57049E8}"/>
              </a:ext>
            </a:extLst>
          </p:cNvPr>
          <p:cNvSpPr txBox="1"/>
          <p:nvPr/>
        </p:nvSpPr>
        <p:spPr>
          <a:xfrm>
            <a:off x="7171267" y="0"/>
            <a:ext cx="1245149" cy="369332"/>
          </a:xfrm>
          <a:prstGeom prst="rect">
            <a:avLst/>
          </a:prstGeom>
          <a:noFill/>
        </p:spPr>
        <p:txBody>
          <a:bodyPr wrap="none" rtlCol="0">
            <a:spAutoFit/>
          </a:bodyPr>
          <a:lstStyle/>
          <a:p>
            <a:r>
              <a:rPr lang="en-IN" dirty="0" err="1">
                <a:solidFill>
                  <a:schemeClr val="bg1"/>
                </a:solidFill>
              </a:rPr>
              <a:t>RdioButton</a:t>
            </a:r>
            <a:endParaRPr lang="en-IN" dirty="0">
              <a:solidFill>
                <a:schemeClr val="bg1"/>
              </a:solidFill>
            </a:endParaRPr>
          </a:p>
        </p:txBody>
      </p:sp>
    </p:spTree>
    <p:extLst>
      <p:ext uri="{BB962C8B-B14F-4D97-AF65-F5344CB8AC3E}">
        <p14:creationId xmlns:p14="http://schemas.microsoft.com/office/powerpoint/2010/main" val="2408955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350730-14B9-78DD-1921-2CD5CAFBCAA1}"/>
              </a:ext>
            </a:extLst>
          </p:cNvPr>
          <p:cNvSpPr txBox="1"/>
          <p:nvPr/>
        </p:nvSpPr>
        <p:spPr>
          <a:xfrm>
            <a:off x="270933" y="535900"/>
            <a:ext cx="10930467" cy="2893100"/>
          </a:xfrm>
          <a:prstGeom prst="rect">
            <a:avLst/>
          </a:prstGeom>
          <a:noFill/>
        </p:spPr>
        <p:txBody>
          <a:bodyPr wrap="square">
            <a:spAutoFit/>
          </a:bodyPr>
          <a:lstStyle/>
          <a:p>
            <a:pPr algn="ctr"/>
            <a:r>
              <a:rPr lang="en-IN" sz="1400" b="1" dirty="0">
                <a:solidFill>
                  <a:srgbClr val="000000"/>
                </a:solidFill>
                <a:highlight>
                  <a:srgbClr val="FFFFFF"/>
                </a:highlight>
                <a:latin typeface="Cascadia Mono" panose="020B0609020000020004" pitchFamily="49" charset="0"/>
              </a:rPr>
              <a:t>Above code will generate following html tag </a:t>
            </a:r>
          </a:p>
          <a:p>
            <a:r>
              <a:rPr lang="en-IN" sz="1400" dirty="0">
                <a:solidFill>
                  <a:srgbClr val="0000FF"/>
                </a:solidFill>
                <a:highlight>
                  <a:srgbClr val="FFFFFF"/>
                </a:highlight>
                <a:latin typeface="Cascadia Mono" panose="020B0609020000020004" pitchFamily="49" charset="0"/>
              </a:rPr>
              <a:t>&lt;</a:t>
            </a:r>
            <a:r>
              <a:rPr lang="en-IN" sz="1400" dirty="0">
                <a:solidFill>
                  <a:srgbClr val="800000"/>
                </a:solidFill>
                <a:highlight>
                  <a:srgbClr val="FFFFFF"/>
                </a:highlight>
                <a:latin typeface="Cascadia Mono" panose="020B0609020000020004" pitchFamily="49" charset="0"/>
              </a:rPr>
              <a:t>div</a:t>
            </a:r>
            <a:r>
              <a:rPr lang="en-IN" sz="1400" dirty="0">
                <a:solidFill>
                  <a:srgbClr val="000000"/>
                </a:solidFill>
                <a:highlight>
                  <a:srgbClr val="FFFFFF"/>
                </a:highlight>
                <a:latin typeface="Cascadia Mono" panose="020B0609020000020004" pitchFamily="49" charset="0"/>
              </a:rPr>
              <a:t> </a:t>
            </a:r>
            <a:r>
              <a:rPr lang="en-IN" sz="1400" dirty="0">
                <a:solidFill>
                  <a:srgbClr val="FF0000"/>
                </a:solidFill>
                <a:highlight>
                  <a:srgbClr val="FFFFFF"/>
                </a:highlight>
                <a:latin typeface="Cascadia Mono" panose="020B0609020000020004" pitchFamily="49" charset="0"/>
              </a:rPr>
              <a:t>class</a:t>
            </a:r>
            <a:r>
              <a:rPr lang="en-IN" sz="1400" dirty="0">
                <a:solidFill>
                  <a:srgbClr val="0000FF"/>
                </a:solidFill>
                <a:highlight>
                  <a:srgbClr val="FFFFFF"/>
                </a:highlight>
                <a:latin typeface="Cascadia Mono" panose="020B0609020000020004" pitchFamily="49" charset="0"/>
              </a:rPr>
              <a:t>="form-group"&gt;</a:t>
            </a:r>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&lt;</a:t>
            </a:r>
            <a:r>
              <a:rPr lang="en-IN" sz="1400" dirty="0">
                <a:solidFill>
                  <a:srgbClr val="800000"/>
                </a:solidFill>
                <a:highlight>
                  <a:srgbClr val="FFFFFF"/>
                </a:highlight>
                <a:latin typeface="Cascadia Mono" panose="020B0609020000020004" pitchFamily="49" charset="0"/>
              </a:rPr>
              <a:t>label</a:t>
            </a:r>
            <a:r>
              <a:rPr lang="en-IN" sz="1400" dirty="0">
                <a:solidFill>
                  <a:srgbClr val="000000"/>
                </a:solidFill>
                <a:highlight>
                  <a:srgbClr val="FFFFFF"/>
                </a:highlight>
                <a:latin typeface="Cascadia Mono" panose="020B0609020000020004" pitchFamily="49" charset="0"/>
              </a:rPr>
              <a:t> </a:t>
            </a:r>
            <a:r>
              <a:rPr lang="en-IN" sz="1400" dirty="0">
                <a:solidFill>
                  <a:srgbClr val="FF0000"/>
                </a:solidFill>
                <a:highlight>
                  <a:srgbClr val="FFFFFF"/>
                </a:highlight>
                <a:latin typeface="Cascadia Mono" panose="020B0609020000020004" pitchFamily="49" charset="0"/>
              </a:rPr>
              <a:t>class</a:t>
            </a:r>
            <a:r>
              <a:rPr lang="en-IN" sz="1400" dirty="0">
                <a:solidFill>
                  <a:srgbClr val="0000FF"/>
                </a:solidFill>
                <a:highlight>
                  <a:srgbClr val="FFFFFF"/>
                </a:highlight>
                <a:latin typeface="Cascadia Mono" panose="020B0609020000020004" pitchFamily="49" charset="0"/>
              </a:rPr>
              <a:t>="form-check-label"&gt;</a:t>
            </a:r>
            <a:endParaRPr lang="en-IN" sz="1400" dirty="0">
              <a:solidFill>
                <a:srgbClr val="000000"/>
              </a:solidFill>
              <a:highlight>
                <a:srgbClr val="FFFFFF"/>
              </a:highlight>
              <a:latin typeface="Cascadia Mono" panose="020B0609020000020004" pitchFamily="49" charset="0"/>
            </a:endParaRP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&lt;</a:t>
            </a:r>
            <a:r>
              <a:rPr lang="en-US" sz="1400" dirty="0">
                <a:solidFill>
                  <a:srgbClr val="800000"/>
                </a:solidFill>
                <a:highlight>
                  <a:srgbClr val="FFFFFF"/>
                </a:highlight>
                <a:latin typeface="Cascadia Mono" panose="020B0609020000020004" pitchFamily="49" charset="0"/>
              </a:rPr>
              <a:t>input</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class</a:t>
            </a:r>
            <a:r>
              <a:rPr lang="en-US" sz="1400" dirty="0">
                <a:solidFill>
                  <a:srgbClr val="0000FF"/>
                </a:solidFill>
                <a:highlight>
                  <a:srgbClr val="FFFFFF"/>
                </a:highlight>
                <a:latin typeface="Cascadia Mono" panose="020B0609020000020004" pitchFamily="49" charset="0"/>
              </a:rPr>
              <a:t>="form-check-input"</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id</a:t>
            </a:r>
            <a:r>
              <a:rPr lang="en-US" sz="1400" dirty="0">
                <a:solidFill>
                  <a:srgbClr val="0000FF"/>
                </a:solidFill>
                <a:highlight>
                  <a:srgbClr val="FFFFFF"/>
                </a:highlight>
                <a:latin typeface="Cascadia Mono" panose="020B0609020000020004" pitchFamily="49" charset="0"/>
              </a:rPr>
              <a:t>="Gender"</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name</a:t>
            </a:r>
            <a:r>
              <a:rPr lang="en-US" sz="1400" dirty="0">
                <a:solidFill>
                  <a:srgbClr val="0000FF"/>
                </a:solidFill>
                <a:highlight>
                  <a:srgbClr val="FFFFFF"/>
                </a:highlight>
                <a:latin typeface="Cascadia Mono" panose="020B0609020000020004" pitchFamily="49" charset="0"/>
              </a:rPr>
              <a:t>="Gender"</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type</a:t>
            </a:r>
            <a:r>
              <a:rPr lang="en-US" sz="1400" dirty="0">
                <a:solidFill>
                  <a:srgbClr val="0000FF"/>
                </a:solidFill>
                <a:highlight>
                  <a:srgbClr val="FFFFFF"/>
                </a:highlight>
                <a:latin typeface="Cascadia Mono" panose="020B0609020000020004" pitchFamily="49" charset="0"/>
              </a:rPr>
              <a:t>="radio"</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value</a:t>
            </a:r>
            <a:r>
              <a:rPr lang="en-US" sz="1400" dirty="0">
                <a:solidFill>
                  <a:srgbClr val="0000FF"/>
                </a:solidFill>
                <a:highlight>
                  <a:srgbClr val="FFFFFF"/>
                </a:highlight>
                <a:latin typeface="Cascadia Mono" panose="020B0609020000020004" pitchFamily="49" charset="0"/>
              </a:rPr>
              <a:t>="Male"</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/&gt;</a:t>
            </a:r>
            <a:endParaRPr lang="en-US"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Male</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&lt;/</a:t>
            </a:r>
            <a:r>
              <a:rPr lang="en-IN" sz="1400" dirty="0">
                <a:solidFill>
                  <a:srgbClr val="800000"/>
                </a:solidFill>
                <a:highlight>
                  <a:srgbClr val="FFFFFF"/>
                </a:highlight>
                <a:latin typeface="Cascadia Mono" panose="020B0609020000020004" pitchFamily="49" charset="0"/>
              </a:rPr>
              <a:t>label</a:t>
            </a:r>
            <a:r>
              <a:rPr lang="en-IN" sz="1400" dirty="0">
                <a:solidFill>
                  <a:srgbClr val="0000FF"/>
                </a:solidFill>
                <a:highlight>
                  <a:srgbClr val="FFFFFF"/>
                </a:highlight>
                <a:latin typeface="Cascadia Mono" panose="020B0609020000020004" pitchFamily="49" charset="0"/>
              </a:rPr>
              <a:t>&gt;</a:t>
            </a:r>
            <a:endParaRPr lang="en-IN" sz="1400" dirty="0">
              <a:solidFill>
                <a:srgbClr val="000000"/>
              </a:solidFill>
              <a:highlight>
                <a:srgbClr val="FFFFFF"/>
              </a:highlight>
              <a:latin typeface="Cascadia Mono" panose="020B0609020000020004" pitchFamily="49" charset="0"/>
            </a:endParaRPr>
          </a:p>
          <a:p>
            <a:r>
              <a:rPr lang="en-IN" sz="1400" dirty="0">
                <a:solidFill>
                  <a:srgbClr val="0000FF"/>
                </a:solidFill>
                <a:highlight>
                  <a:srgbClr val="FFFFFF"/>
                </a:highlight>
                <a:latin typeface="Cascadia Mono" panose="020B0609020000020004" pitchFamily="49" charset="0"/>
              </a:rPr>
              <a:t>&lt;/</a:t>
            </a:r>
            <a:r>
              <a:rPr lang="en-IN" sz="1400" dirty="0">
                <a:solidFill>
                  <a:srgbClr val="800000"/>
                </a:solidFill>
                <a:highlight>
                  <a:srgbClr val="FFFFFF"/>
                </a:highlight>
                <a:latin typeface="Cascadia Mono" panose="020B0609020000020004" pitchFamily="49" charset="0"/>
              </a:rPr>
              <a:t>div</a:t>
            </a:r>
            <a:r>
              <a:rPr lang="en-IN" sz="1400" dirty="0">
                <a:solidFill>
                  <a:srgbClr val="0000FF"/>
                </a:solidFill>
                <a:highlight>
                  <a:srgbClr val="FFFFFF"/>
                </a:highlight>
                <a:latin typeface="Cascadia Mono" panose="020B0609020000020004" pitchFamily="49" charset="0"/>
              </a:rPr>
              <a:t>&gt;</a:t>
            </a:r>
            <a:endParaRPr lang="en-IN" sz="1400" dirty="0">
              <a:solidFill>
                <a:srgbClr val="000000"/>
              </a:solidFill>
              <a:highlight>
                <a:srgbClr val="FFFFFF"/>
              </a:highlight>
              <a:latin typeface="Cascadia Mono" panose="020B0609020000020004" pitchFamily="49" charset="0"/>
            </a:endParaRPr>
          </a:p>
          <a:p>
            <a:r>
              <a:rPr lang="en-IN" sz="1400" dirty="0">
                <a:solidFill>
                  <a:srgbClr val="0000FF"/>
                </a:solidFill>
                <a:highlight>
                  <a:srgbClr val="FFFFFF"/>
                </a:highlight>
                <a:latin typeface="Cascadia Mono" panose="020B0609020000020004" pitchFamily="49" charset="0"/>
              </a:rPr>
              <a:t>&lt;</a:t>
            </a:r>
            <a:r>
              <a:rPr lang="en-IN" sz="1400" dirty="0">
                <a:solidFill>
                  <a:srgbClr val="800000"/>
                </a:solidFill>
                <a:highlight>
                  <a:srgbClr val="FFFFFF"/>
                </a:highlight>
                <a:latin typeface="Cascadia Mono" panose="020B0609020000020004" pitchFamily="49" charset="0"/>
              </a:rPr>
              <a:t>div</a:t>
            </a:r>
            <a:r>
              <a:rPr lang="en-IN" sz="1400" dirty="0">
                <a:solidFill>
                  <a:srgbClr val="000000"/>
                </a:solidFill>
                <a:highlight>
                  <a:srgbClr val="FFFFFF"/>
                </a:highlight>
                <a:latin typeface="Cascadia Mono" panose="020B0609020000020004" pitchFamily="49" charset="0"/>
              </a:rPr>
              <a:t> </a:t>
            </a:r>
            <a:r>
              <a:rPr lang="en-IN" sz="1400" dirty="0">
                <a:solidFill>
                  <a:srgbClr val="FF0000"/>
                </a:solidFill>
                <a:highlight>
                  <a:srgbClr val="FFFFFF"/>
                </a:highlight>
                <a:latin typeface="Cascadia Mono" panose="020B0609020000020004" pitchFamily="49" charset="0"/>
              </a:rPr>
              <a:t>class</a:t>
            </a:r>
            <a:r>
              <a:rPr lang="en-IN" sz="1400" dirty="0">
                <a:solidFill>
                  <a:srgbClr val="0000FF"/>
                </a:solidFill>
                <a:highlight>
                  <a:srgbClr val="FFFFFF"/>
                </a:highlight>
                <a:latin typeface="Cascadia Mono" panose="020B0609020000020004" pitchFamily="49" charset="0"/>
              </a:rPr>
              <a:t>="form-group"&gt;</a:t>
            </a:r>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&lt;</a:t>
            </a:r>
            <a:r>
              <a:rPr lang="en-IN" sz="1400" dirty="0">
                <a:solidFill>
                  <a:srgbClr val="800000"/>
                </a:solidFill>
                <a:highlight>
                  <a:srgbClr val="FFFFFF"/>
                </a:highlight>
                <a:latin typeface="Cascadia Mono" panose="020B0609020000020004" pitchFamily="49" charset="0"/>
              </a:rPr>
              <a:t>label</a:t>
            </a:r>
            <a:r>
              <a:rPr lang="en-IN" sz="1400" dirty="0">
                <a:solidFill>
                  <a:srgbClr val="000000"/>
                </a:solidFill>
                <a:highlight>
                  <a:srgbClr val="FFFFFF"/>
                </a:highlight>
                <a:latin typeface="Cascadia Mono" panose="020B0609020000020004" pitchFamily="49" charset="0"/>
              </a:rPr>
              <a:t> </a:t>
            </a:r>
            <a:r>
              <a:rPr lang="en-IN" sz="1400" dirty="0">
                <a:solidFill>
                  <a:srgbClr val="FF0000"/>
                </a:solidFill>
                <a:highlight>
                  <a:srgbClr val="FFFFFF"/>
                </a:highlight>
                <a:latin typeface="Cascadia Mono" panose="020B0609020000020004" pitchFamily="49" charset="0"/>
              </a:rPr>
              <a:t>class</a:t>
            </a:r>
            <a:r>
              <a:rPr lang="en-IN" sz="1400" dirty="0">
                <a:solidFill>
                  <a:srgbClr val="0000FF"/>
                </a:solidFill>
                <a:highlight>
                  <a:srgbClr val="FFFFFF"/>
                </a:highlight>
                <a:latin typeface="Cascadia Mono" panose="020B0609020000020004" pitchFamily="49" charset="0"/>
              </a:rPr>
              <a:t>="form-check-label"&gt;</a:t>
            </a:r>
            <a:endParaRPr lang="en-IN" sz="1400" dirty="0">
              <a:solidFill>
                <a:srgbClr val="000000"/>
              </a:solidFill>
              <a:highlight>
                <a:srgbClr val="FFFFFF"/>
              </a:highlight>
              <a:latin typeface="Cascadia Mono" panose="020B0609020000020004" pitchFamily="49" charset="0"/>
            </a:endParaRP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&lt;</a:t>
            </a:r>
            <a:r>
              <a:rPr lang="en-US" sz="1400" dirty="0">
                <a:solidFill>
                  <a:srgbClr val="800000"/>
                </a:solidFill>
                <a:highlight>
                  <a:srgbClr val="FFFFFF"/>
                </a:highlight>
                <a:latin typeface="Cascadia Mono" panose="020B0609020000020004" pitchFamily="49" charset="0"/>
              </a:rPr>
              <a:t>input</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class</a:t>
            </a:r>
            <a:r>
              <a:rPr lang="en-US" sz="1400" dirty="0">
                <a:solidFill>
                  <a:srgbClr val="0000FF"/>
                </a:solidFill>
                <a:highlight>
                  <a:srgbClr val="FFFFFF"/>
                </a:highlight>
                <a:latin typeface="Cascadia Mono" panose="020B0609020000020004" pitchFamily="49" charset="0"/>
              </a:rPr>
              <a:t>="form-check-input"</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id</a:t>
            </a:r>
            <a:r>
              <a:rPr lang="en-US" sz="1400" dirty="0">
                <a:solidFill>
                  <a:srgbClr val="0000FF"/>
                </a:solidFill>
                <a:highlight>
                  <a:srgbClr val="FFFFFF"/>
                </a:highlight>
                <a:latin typeface="Cascadia Mono" panose="020B0609020000020004" pitchFamily="49" charset="0"/>
              </a:rPr>
              <a:t>="Gender"</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name</a:t>
            </a:r>
            <a:r>
              <a:rPr lang="en-US" sz="1400" dirty="0">
                <a:solidFill>
                  <a:srgbClr val="0000FF"/>
                </a:solidFill>
                <a:highlight>
                  <a:srgbClr val="FFFFFF"/>
                </a:highlight>
                <a:latin typeface="Cascadia Mono" panose="020B0609020000020004" pitchFamily="49" charset="0"/>
              </a:rPr>
              <a:t>="Gender"</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type</a:t>
            </a:r>
            <a:r>
              <a:rPr lang="en-US" sz="1400" dirty="0">
                <a:solidFill>
                  <a:srgbClr val="0000FF"/>
                </a:solidFill>
                <a:highlight>
                  <a:srgbClr val="FFFFFF"/>
                </a:highlight>
                <a:latin typeface="Cascadia Mono" panose="020B0609020000020004" pitchFamily="49" charset="0"/>
              </a:rPr>
              <a:t>="radio"</a:t>
            </a:r>
            <a:r>
              <a:rPr lang="en-US" sz="1400" dirty="0">
                <a:solidFill>
                  <a:srgbClr val="000000"/>
                </a:solidFill>
                <a:highlight>
                  <a:srgbClr val="FFFFFF"/>
                </a:highlight>
                <a:latin typeface="Cascadia Mono" panose="020B0609020000020004" pitchFamily="49" charset="0"/>
              </a:rPr>
              <a:t> </a:t>
            </a:r>
            <a:r>
              <a:rPr lang="en-US" sz="1400" dirty="0">
                <a:solidFill>
                  <a:srgbClr val="FF0000"/>
                </a:solidFill>
                <a:highlight>
                  <a:srgbClr val="FFFFFF"/>
                </a:highlight>
                <a:latin typeface="Cascadia Mono" panose="020B0609020000020004" pitchFamily="49" charset="0"/>
              </a:rPr>
              <a:t>value</a:t>
            </a:r>
            <a:r>
              <a:rPr lang="en-US" sz="1400" dirty="0">
                <a:solidFill>
                  <a:srgbClr val="0000FF"/>
                </a:solidFill>
                <a:highlight>
                  <a:srgbClr val="FFFFFF"/>
                </a:highlight>
                <a:latin typeface="Cascadia Mono" panose="020B0609020000020004" pitchFamily="49" charset="0"/>
              </a:rPr>
              <a:t>="Female"</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/&gt;</a:t>
            </a:r>
            <a:endParaRPr lang="en-US"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Female</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&lt;/</a:t>
            </a:r>
            <a:r>
              <a:rPr lang="en-IN" sz="1400" dirty="0">
                <a:solidFill>
                  <a:srgbClr val="800000"/>
                </a:solidFill>
                <a:highlight>
                  <a:srgbClr val="FFFFFF"/>
                </a:highlight>
                <a:latin typeface="Cascadia Mono" panose="020B0609020000020004" pitchFamily="49" charset="0"/>
              </a:rPr>
              <a:t>label</a:t>
            </a:r>
            <a:r>
              <a:rPr lang="en-IN" sz="1400" dirty="0">
                <a:solidFill>
                  <a:srgbClr val="0000FF"/>
                </a:solidFill>
                <a:highlight>
                  <a:srgbClr val="FFFFFF"/>
                </a:highlight>
                <a:latin typeface="Cascadia Mono" panose="020B0609020000020004" pitchFamily="49" charset="0"/>
              </a:rPr>
              <a:t>&gt;</a:t>
            </a:r>
            <a:endParaRPr lang="en-IN" sz="1400" dirty="0">
              <a:solidFill>
                <a:srgbClr val="000000"/>
              </a:solidFill>
              <a:highlight>
                <a:srgbClr val="FFFFFF"/>
              </a:highlight>
              <a:latin typeface="Cascadia Mono" panose="020B0609020000020004" pitchFamily="49" charset="0"/>
            </a:endParaRPr>
          </a:p>
          <a:p>
            <a:r>
              <a:rPr lang="en-IN" sz="1400" dirty="0">
                <a:solidFill>
                  <a:srgbClr val="0000FF"/>
                </a:solidFill>
                <a:highlight>
                  <a:srgbClr val="FFFFFF"/>
                </a:highlight>
                <a:latin typeface="Cascadia Mono" panose="020B0609020000020004" pitchFamily="49" charset="0"/>
              </a:rPr>
              <a:t>&lt;/</a:t>
            </a:r>
            <a:r>
              <a:rPr lang="en-IN" sz="1400" dirty="0">
                <a:solidFill>
                  <a:srgbClr val="800000"/>
                </a:solidFill>
                <a:highlight>
                  <a:srgbClr val="FFFFFF"/>
                </a:highlight>
                <a:latin typeface="Cascadia Mono" panose="020B0609020000020004" pitchFamily="49" charset="0"/>
              </a:rPr>
              <a:t>div</a:t>
            </a:r>
            <a:r>
              <a:rPr lang="en-IN" sz="1400" dirty="0">
                <a:solidFill>
                  <a:srgbClr val="0000FF"/>
                </a:solidFill>
                <a:highlight>
                  <a:srgbClr val="FFFFFF"/>
                </a:highlight>
                <a:latin typeface="Cascadia Mono" panose="020B0609020000020004" pitchFamily="49" charset="0"/>
              </a:rPr>
              <a:t>&gt;</a:t>
            </a:r>
            <a:endParaRPr lang="en-IN" sz="3600" dirty="0"/>
          </a:p>
        </p:txBody>
      </p:sp>
      <p:sp>
        <p:nvSpPr>
          <p:cNvPr id="11" name="TextBox 10">
            <a:extLst>
              <a:ext uri="{FF2B5EF4-FFF2-40B4-BE49-F238E27FC236}">
                <a16:creationId xmlns:a16="http://schemas.microsoft.com/office/drawing/2014/main" id="{336D9C55-53B2-8376-917D-B27754487185}"/>
              </a:ext>
            </a:extLst>
          </p:cNvPr>
          <p:cNvSpPr txBox="1"/>
          <p:nvPr/>
        </p:nvSpPr>
        <p:spPr>
          <a:xfrm>
            <a:off x="270933" y="5258769"/>
            <a:ext cx="10126134" cy="646331"/>
          </a:xfrm>
          <a:prstGeom prst="rect">
            <a:avLst/>
          </a:prstGeom>
          <a:noFill/>
        </p:spPr>
        <p:txBody>
          <a:bodyPr wrap="square">
            <a:spAutoFit/>
          </a:bodyPr>
          <a:lstStyle/>
          <a:p>
            <a:r>
              <a:rPr lang="en-US" sz="1800" dirty="0">
                <a:solidFill>
                  <a:srgbClr val="0000FF"/>
                </a:solidFill>
                <a:highlight>
                  <a:srgbClr val="FFFFFF"/>
                </a:highlight>
                <a:latin typeface="Cascadia Mono" panose="020B0609020000020004" pitchFamily="49" charset="0"/>
              </a:rPr>
              <a:t>&lt;</a:t>
            </a:r>
            <a:r>
              <a:rPr lang="en-US" sz="1800" dirty="0">
                <a:solidFill>
                  <a:srgbClr val="800000"/>
                </a:solidFill>
                <a:highlight>
                  <a:srgbClr val="FFFFFF"/>
                </a:highlight>
                <a:latin typeface="Cascadia Mono" panose="020B0609020000020004" pitchFamily="49" charset="0"/>
              </a:rPr>
              <a:t>label</a:t>
            </a:r>
            <a:r>
              <a:rPr lang="en-US" sz="1800" dirty="0">
                <a:solidFill>
                  <a:srgbClr val="0000FF"/>
                </a:solidFill>
                <a:highlight>
                  <a:srgbClr val="FFFFFF"/>
                </a:highlight>
                <a:latin typeface="Cascadia Mono" panose="020B0609020000020004" pitchFamily="49" charset="0"/>
              </a:rPr>
              <a:t>&gt;&lt;</a:t>
            </a:r>
            <a:r>
              <a:rPr lang="en-US" sz="1800" b="1" dirty="0">
                <a:solidFill>
                  <a:srgbClr val="800080"/>
                </a:solidFill>
                <a:highlight>
                  <a:srgbClr val="FFFFFF"/>
                </a:highlight>
                <a:latin typeface="Cascadia Mono" panose="020B0609020000020004" pitchFamily="49" charset="0"/>
              </a:rPr>
              <a:t>input</a:t>
            </a:r>
            <a:r>
              <a:rPr lang="en-US" sz="1800" b="0" dirty="0">
                <a:solidFill>
                  <a:srgbClr val="000000"/>
                </a:solidFill>
                <a:highlight>
                  <a:srgbClr val="FFFFFF"/>
                </a:highlight>
                <a:latin typeface="Cascadia Mono" panose="020B0609020000020004" pitchFamily="49" charset="0"/>
              </a:rPr>
              <a:t> </a:t>
            </a:r>
            <a:r>
              <a:rPr lang="en-US" sz="1800" b="1" dirty="0">
                <a:solidFill>
                  <a:srgbClr val="800080"/>
                </a:solidFill>
                <a:highlight>
                  <a:srgbClr val="FFFFFF"/>
                </a:highlight>
                <a:latin typeface="Cascadia Mono" panose="020B0609020000020004" pitchFamily="49" charset="0"/>
              </a:rPr>
              <a:t>asp-for</a:t>
            </a:r>
            <a:r>
              <a:rPr lang="en-US" sz="1800" b="0" dirty="0">
                <a:solidFill>
                  <a:srgbClr val="0000FF"/>
                </a:solidFill>
                <a:highlight>
                  <a:srgbClr val="FFFFFF"/>
                </a:highlight>
                <a:latin typeface="Cascadia Mono" panose="020B0609020000020004" pitchFamily="49" charset="0"/>
              </a:rPr>
              <a:t>= "</a:t>
            </a:r>
            <a:r>
              <a:rPr lang="en-US" sz="1800" b="0" dirty="0">
                <a:solidFill>
                  <a:srgbClr val="000000"/>
                </a:solidFill>
                <a:highlight>
                  <a:srgbClr val="FFFFFF"/>
                </a:highlight>
                <a:latin typeface="Cascadia Mono" panose="020B0609020000020004" pitchFamily="49" charset="0"/>
              </a:rPr>
              <a:t>Gender</a:t>
            </a:r>
            <a:r>
              <a:rPr lang="en-US" sz="1800" b="0" dirty="0">
                <a:solidFill>
                  <a:srgbClr val="0000FF"/>
                </a:solidFill>
                <a:highlight>
                  <a:srgbClr val="FFFFFF"/>
                </a:highlight>
                <a:latin typeface="Cascadia Mono" panose="020B0609020000020004" pitchFamily="49" charset="0"/>
              </a:rPr>
              <a:t>"</a:t>
            </a:r>
            <a:r>
              <a:rPr lang="en-US" sz="1800" b="0" dirty="0">
                <a:solidFill>
                  <a:srgbClr val="000000"/>
                </a:solidFill>
                <a:highlight>
                  <a:srgbClr val="FFFFFF"/>
                </a:highlight>
                <a:latin typeface="Cascadia Mono" panose="020B0609020000020004" pitchFamily="49" charset="0"/>
              </a:rPr>
              <a:t> </a:t>
            </a:r>
            <a:r>
              <a:rPr lang="en-US" sz="1800" b="1" dirty="0">
                <a:solidFill>
                  <a:srgbClr val="800080"/>
                </a:solidFill>
                <a:highlight>
                  <a:srgbClr val="FFFFFF"/>
                </a:highlight>
                <a:latin typeface="Cascadia Mono" panose="020B0609020000020004" pitchFamily="49" charset="0"/>
              </a:rPr>
              <a:t>value</a:t>
            </a:r>
            <a:r>
              <a:rPr lang="en-US" sz="1800" b="0" dirty="0">
                <a:solidFill>
                  <a:srgbClr val="0000FF"/>
                </a:solidFill>
                <a:highlight>
                  <a:srgbClr val="FFFFFF"/>
                </a:highlight>
                <a:latin typeface="Cascadia Mono" panose="020B0609020000020004" pitchFamily="49" charset="0"/>
              </a:rPr>
              <a:t>="M"</a:t>
            </a:r>
            <a:r>
              <a:rPr lang="en-US" sz="1800" b="0" dirty="0">
                <a:solidFill>
                  <a:srgbClr val="000000"/>
                </a:solidFill>
                <a:highlight>
                  <a:srgbClr val="FFFFFF"/>
                </a:highlight>
                <a:latin typeface="Cascadia Mono" panose="020B0609020000020004" pitchFamily="49" charset="0"/>
              </a:rPr>
              <a:t> </a:t>
            </a:r>
            <a:r>
              <a:rPr lang="en-US" sz="1800" b="1" dirty="0">
                <a:solidFill>
                  <a:srgbClr val="800080"/>
                </a:solidFill>
                <a:highlight>
                  <a:srgbClr val="FFFFFF"/>
                </a:highlight>
                <a:latin typeface="Cascadia Mono" panose="020B0609020000020004" pitchFamily="49" charset="0"/>
              </a:rPr>
              <a:t>type</a:t>
            </a:r>
            <a:r>
              <a:rPr lang="en-US" sz="1800" b="0" dirty="0">
                <a:solidFill>
                  <a:srgbClr val="0000FF"/>
                </a:solidFill>
                <a:highlight>
                  <a:srgbClr val="FFFFFF"/>
                </a:highlight>
                <a:latin typeface="Cascadia Mono" panose="020B0609020000020004" pitchFamily="49" charset="0"/>
              </a:rPr>
              <a:t>="radio"</a:t>
            </a:r>
            <a:r>
              <a:rPr lang="en-US" sz="1800" b="0" dirty="0">
                <a:solidFill>
                  <a:srgbClr val="000000"/>
                </a:solidFill>
                <a:highlight>
                  <a:srgbClr val="FFFFFF"/>
                </a:highlight>
                <a:latin typeface="Cascadia Mono" panose="020B0609020000020004" pitchFamily="49" charset="0"/>
              </a:rPr>
              <a:t> </a:t>
            </a:r>
            <a:r>
              <a:rPr lang="en-US" sz="1800" b="0" dirty="0">
                <a:solidFill>
                  <a:srgbClr val="0000FF"/>
                </a:solidFill>
                <a:highlight>
                  <a:srgbClr val="FFFFFF"/>
                </a:highlight>
                <a:latin typeface="Cascadia Mono" panose="020B0609020000020004" pitchFamily="49" charset="0"/>
              </a:rPr>
              <a:t>/&gt;</a:t>
            </a:r>
            <a:r>
              <a:rPr lang="en-US" sz="1800" b="0" dirty="0">
                <a:solidFill>
                  <a:srgbClr val="000000"/>
                </a:solidFill>
                <a:highlight>
                  <a:srgbClr val="FFFFFF"/>
                </a:highlight>
                <a:latin typeface="Cascadia Mono" panose="020B0609020000020004" pitchFamily="49" charset="0"/>
              </a:rPr>
              <a:t>Male</a:t>
            </a:r>
            <a:r>
              <a:rPr lang="en-US" sz="1800" b="0" dirty="0">
                <a:solidFill>
                  <a:srgbClr val="0000FF"/>
                </a:solidFill>
                <a:highlight>
                  <a:srgbClr val="FFFFFF"/>
                </a:highlight>
                <a:latin typeface="Cascadia Mono" panose="020B0609020000020004" pitchFamily="49" charset="0"/>
              </a:rPr>
              <a:t>&lt;/</a:t>
            </a:r>
            <a:r>
              <a:rPr lang="en-US" sz="1800" b="0" dirty="0">
                <a:solidFill>
                  <a:srgbClr val="800000"/>
                </a:solidFill>
                <a:highlight>
                  <a:srgbClr val="FFFFFF"/>
                </a:highlight>
                <a:latin typeface="Cascadia Mono" panose="020B0609020000020004" pitchFamily="49" charset="0"/>
              </a:rPr>
              <a:t>label</a:t>
            </a:r>
            <a:r>
              <a:rPr lang="en-US" sz="1800" b="0" dirty="0">
                <a:solidFill>
                  <a:srgbClr val="0000FF"/>
                </a:solidFill>
                <a:highlight>
                  <a:srgbClr val="FFFFFF"/>
                </a:highlight>
                <a:latin typeface="Cascadia Mono" panose="020B0609020000020004" pitchFamily="49" charset="0"/>
              </a:rPr>
              <a:t>&gt;</a:t>
            </a:r>
          </a:p>
          <a:p>
            <a:r>
              <a:rPr lang="en-US" sz="1800" b="0" dirty="0">
                <a:solidFill>
                  <a:srgbClr val="0000FF"/>
                </a:solidFill>
                <a:highlight>
                  <a:srgbClr val="FFFFFF"/>
                </a:highlight>
                <a:latin typeface="Cascadia Mono" panose="020B0609020000020004" pitchFamily="49" charset="0"/>
              </a:rPr>
              <a:t>&lt;</a:t>
            </a:r>
            <a:r>
              <a:rPr lang="en-US" sz="1800" b="0" dirty="0">
                <a:solidFill>
                  <a:srgbClr val="800000"/>
                </a:solidFill>
                <a:highlight>
                  <a:srgbClr val="FFFFFF"/>
                </a:highlight>
                <a:latin typeface="Cascadia Mono" panose="020B0609020000020004" pitchFamily="49" charset="0"/>
              </a:rPr>
              <a:t>label</a:t>
            </a:r>
            <a:r>
              <a:rPr lang="en-US" sz="1800" b="0" dirty="0">
                <a:solidFill>
                  <a:srgbClr val="0000FF"/>
                </a:solidFill>
                <a:highlight>
                  <a:srgbClr val="FFFFFF"/>
                </a:highlight>
                <a:latin typeface="Cascadia Mono" panose="020B0609020000020004" pitchFamily="49" charset="0"/>
              </a:rPr>
              <a:t>&gt;&lt;</a:t>
            </a:r>
            <a:r>
              <a:rPr lang="en-US" sz="1800" b="1" dirty="0">
                <a:solidFill>
                  <a:srgbClr val="800080"/>
                </a:solidFill>
                <a:highlight>
                  <a:srgbClr val="FFFFFF"/>
                </a:highlight>
                <a:latin typeface="Cascadia Mono" panose="020B0609020000020004" pitchFamily="49" charset="0"/>
              </a:rPr>
              <a:t>input</a:t>
            </a:r>
            <a:r>
              <a:rPr lang="en-US" sz="1800" b="0" dirty="0">
                <a:solidFill>
                  <a:srgbClr val="000000"/>
                </a:solidFill>
                <a:highlight>
                  <a:srgbClr val="FFFFFF"/>
                </a:highlight>
                <a:latin typeface="Cascadia Mono" panose="020B0609020000020004" pitchFamily="49" charset="0"/>
              </a:rPr>
              <a:t> </a:t>
            </a:r>
            <a:r>
              <a:rPr lang="en-US" sz="1800" b="1" dirty="0">
                <a:solidFill>
                  <a:srgbClr val="800080"/>
                </a:solidFill>
                <a:highlight>
                  <a:srgbClr val="FFFFFF"/>
                </a:highlight>
                <a:latin typeface="Cascadia Mono" panose="020B0609020000020004" pitchFamily="49" charset="0"/>
              </a:rPr>
              <a:t>asp-for</a:t>
            </a:r>
            <a:r>
              <a:rPr lang="en-US" sz="1800" b="0" dirty="0">
                <a:solidFill>
                  <a:srgbClr val="0000FF"/>
                </a:solidFill>
                <a:highlight>
                  <a:srgbClr val="FFFFFF"/>
                </a:highlight>
                <a:latin typeface="Cascadia Mono" panose="020B0609020000020004" pitchFamily="49" charset="0"/>
              </a:rPr>
              <a:t>= "</a:t>
            </a:r>
            <a:r>
              <a:rPr lang="en-US" sz="1800" b="0" dirty="0">
                <a:solidFill>
                  <a:srgbClr val="000000"/>
                </a:solidFill>
                <a:highlight>
                  <a:srgbClr val="FFFFFF"/>
                </a:highlight>
                <a:latin typeface="Cascadia Mono" panose="020B0609020000020004" pitchFamily="49" charset="0"/>
              </a:rPr>
              <a:t>Gender</a:t>
            </a:r>
            <a:r>
              <a:rPr lang="en-US" sz="1800" b="0" dirty="0">
                <a:solidFill>
                  <a:srgbClr val="0000FF"/>
                </a:solidFill>
                <a:highlight>
                  <a:srgbClr val="FFFFFF"/>
                </a:highlight>
                <a:latin typeface="Cascadia Mono" panose="020B0609020000020004" pitchFamily="49" charset="0"/>
              </a:rPr>
              <a:t>"</a:t>
            </a:r>
            <a:r>
              <a:rPr lang="en-US" sz="1800" b="0" dirty="0">
                <a:solidFill>
                  <a:srgbClr val="000000"/>
                </a:solidFill>
                <a:highlight>
                  <a:srgbClr val="FFFFFF"/>
                </a:highlight>
                <a:latin typeface="Cascadia Mono" panose="020B0609020000020004" pitchFamily="49" charset="0"/>
              </a:rPr>
              <a:t> </a:t>
            </a:r>
            <a:r>
              <a:rPr lang="en-US" sz="1800" b="1" dirty="0">
                <a:solidFill>
                  <a:srgbClr val="800080"/>
                </a:solidFill>
                <a:highlight>
                  <a:srgbClr val="FFFFFF"/>
                </a:highlight>
                <a:latin typeface="Cascadia Mono" panose="020B0609020000020004" pitchFamily="49" charset="0"/>
              </a:rPr>
              <a:t>value</a:t>
            </a:r>
            <a:r>
              <a:rPr lang="en-US" sz="1800" b="0" dirty="0">
                <a:solidFill>
                  <a:srgbClr val="0000FF"/>
                </a:solidFill>
                <a:highlight>
                  <a:srgbClr val="FFFFFF"/>
                </a:highlight>
                <a:latin typeface="Cascadia Mono" panose="020B0609020000020004" pitchFamily="49" charset="0"/>
              </a:rPr>
              <a:t>="F"</a:t>
            </a:r>
            <a:r>
              <a:rPr lang="en-US" sz="1800" b="0" dirty="0">
                <a:solidFill>
                  <a:srgbClr val="000000"/>
                </a:solidFill>
                <a:highlight>
                  <a:srgbClr val="FFFFFF"/>
                </a:highlight>
                <a:latin typeface="Cascadia Mono" panose="020B0609020000020004" pitchFamily="49" charset="0"/>
              </a:rPr>
              <a:t> </a:t>
            </a:r>
            <a:r>
              <a:rPr lang="en-US" sz="1800" b="1" dirty="0">
                <a:solidFill>
                  <a:srgbClr val="800080"/>
                </a:solidFill>
                <a:highlight>
                  <a:srgbClr val="FFFFFF"/>
                </a:highlight>
                <a:latin typeface="Cascadia Mono" panose="020B0609020000020004" pitchFamily="49" charset="0"/>
              </a:rPr>
              <a:t>type</a:t>
            </a:r>
            <a:r>
              <a:rPr lang="en-US" sz="1800" b="0" dirty="0">
                <a:solidFill>
                  <a:srgbClr val="0000FF"/>
                </a:solidFill>
                <a:highlight>
                  <a:srgbClr val="FFFFFF"/>
                </a:highlight>
                <a:latin typeface="Cascadia Mono" panose="020B0609020000020004" pitchFamily="49" charset="0"/>
              </a:rPr>
              <a:t>="radio"</a:t>
            </a:r>
            <a:r>
              <a:rPr lang="en-US" sz="1800" b="0" dirty="0">
                <a:solidFill>
                  <a:srgbClr val="000000"/>
                </a:solidFill>
                <a:highlight>
                  <a:srgbClr val="FFFFFF"/>
                </a:highlight>
                <a:latin typeface="Cascadia Mono" panose="020B0609020000020004" pitchFamily="49" charset="0"/>
              </a:rPr>
              <a:t> </a:t>
            </a:r>
            <a:r>
              <a:rPr lang="en-US" sz="1800" b="0" dirty="0">
                <a:solidFill>
                  <a:srgbClr val="0000FF"/>
                </a:solidFill>
                <a:highlight>
                  <a:srgbClr val="FFFFFF"/>
                </a:highlight>
                <a:latin typeface="Cascadia Mono" panose="020B0609020000020004" pitchFamily="49" charset="0"/>
              </a:rPr>
              <a:t>/&gt;</a:t>
            </a:r>
            <a:r>
              <a:rPr lang="en-US" sz="1800" b="0" dirty="0">
                <a:solidFill>
                  <a:srgbClr val="000000"/>
                </a:solidFill>
                <a:highlight>
                  <a:srgbClr val="FFFFFF"/>
                </a:highlight>
                <a:latin typeface="Cascadia Mono" panose="020B0609020000020004" pitchFamily="49" charset="0"/>
              </a:rPr>
              <a:t>Female</a:t>
            </a:r>
            <a:r>
              <a:rPr lang="en-US" sz="1800" b="0" dirty="0">
                <a:solidFill>
                  <a:srgbClr val="0000FF"/>
                </a:solidFill>
                <a:highlight>
                  <a:srgbClr val="FFFFFF"/>
                </a:highlight>
                <a:latin typeface="Cascadia Mono" panose="020B0609020000020004" pitchFamily="49" charset="0"/>
              </a:rPr>
              <a:t>&lt;/</a:t>
            </a:r>
            <a:r>
              <a:rPr lang="en-US" sz="1800" b="0" dirty="0">
                <a:solidFill>
                  <a:srgbClr val="800000"/>
                </a:solidFill>
                <a:highlight>
                  <a:srgbClr val="FFFFFF"/>
                </a:highlight>
                <a:latin typeface="Cascadia Mono" panose="020B0609020000020004" pitchFamily="49" charset="0"/>
              </a:rPr>
              <a:t>label</a:t>
            </a:r>
            <a:r>
              <a:rPr lang="en-US" sz="1800" b="0" dirty="0">
                <a:solidFill>
                  <a:srgbClr val="0000FF"/>
                </a:solidFill>
                <a:highlight>
                  <a:srgbClr val="FFFFFF"/>
                </a:highlight>
                <a:latin typeface="Cascadia Mono" panose="020B0609020000020004" pitchFamily="49" charset="0"/>
              </a:rPr>
              <a:t>&gt;</a:t>
            </a:r>
            <a:endParaRPr lang="en-IN" dirty="0"/>
          </a:p>
        </p:txBody>
      </p:sp>
    </p:spTree>
    <p:extLst>
      <p:ext uri="{BB962C8B-B14F-4D97-AF65-F5344CB8AC3E}">
        <p14:creationId xmlns:p14="http://schemas.microsoft.com/office/powerpoint/2010/main" val="241039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TotalTime>
  <Words>3271</Words>
  <Application>Microsoft Office PowerPoint</Application>
  <PresentationFormat>Widescreen</PresentationFormat>
  <Paragraphs>341</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-apple-system</vt:lpstr>
      <vt:lpstr>arial</vt:lpstr>
      <vt:lpstr>arial</vt:lpstr>
      <vt:lpstr>Calibri</vt:lpstr>
      <vt:lpstr>Calibri Light</vt:lpstr>
      <vt:lpstr>Cascadia Mono</vt:lpstr>
      <vt:lpstr>Consolas</vt:lpstr>
      <vt:lpstr>Inconsolata</vt:lpstr>
      <vt:lpstr>inherit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Demo All Validation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31</cp:revision>
  <dcterms:created xsi:type="dcterms:W3CDTF">2021-10-02T06:04:29Z</dcterms:created>
  <dcterms:modified xsi:type="dcterms:W3CDTF">2025-04-23T04:08:11Z</dcterms:modified>
</cp:coreProperties>
</file>