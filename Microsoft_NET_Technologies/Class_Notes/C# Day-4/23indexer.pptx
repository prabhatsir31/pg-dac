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0" r:id="rId2"/>
    <p:sldId id="256" r:id="rId3"/>
    <p:sldId id="257" r:id="rId4"/>
    <p:sldId id="258" r:id="rId5"/>
    <p:sldId id="259"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0" d="100"/>
          <a:sy n="90" d="100"/>
        </p:scale>
        <p:origin x="123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6D2B0-4A09-4077-A16F-47EF53C7B9AB}"/>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F999B8F7-FB15-4E52-99EA-D5C8DA45F0CB}"/>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2A00E3-0B9B-461E-8769-6733F6B06C82}"/>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EB2DB9E8-792D-48AB-B5DC-6339AF8C50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AE14BD-A444-4EE6-9F1F-9FDA24758213}"/>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8" name="Rectangle 7">
            <a:extLst>
              <a:ext uri="{FF2B5EF4-FFF2-40B4-BE49-F238E27FC236}">
                <a16:creationId xmlns:a16="http://schemas.microsoft.com/office/drawing/2014/main" id="{BABFEB1C-F450-428A-83D7-340C83DC860D}"/>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90290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AC40-2D59-4D63-A85F-88A1B05AB5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5236B28-72B5-448B-9EB7-D6B17A3D6163}"/>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62D14418-9775-4183-8BED-2D31C2F1878C}"/>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8AB95571-159D-4E16-9442-1A64A5950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8B35A-86EE-4F1D-B326-E2422DD54D04}"/>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B441817B-44DC-4B7A-A4C7-D59F40D65C9C}"/>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2382042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 presetClass="entr" presetSubtype="4" fill="hold" nodeType="click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2">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3">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4">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 lvl="5">
            <p:tnLst>
              <p:par>
                <p:cTn presetID="2" presetClass="entr" presetSubtype="4" fill="hold" nodeType="withEffect">
                  <p:stCondLst>
                    <p:cond delay="0"/>
                  </p:stCondLst>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ppt_x"/>
                          </p:val>
                        </p:tav>
                        <p:tav tm="100000">
                          <p:val>
                            <p:strVal val="#ppt_x"/>
                          </p:val>
                        </p:tav>
                      </p:tavLst>
                    </p:anim>
                    <p:anim calcmode="lin" valueType="num">
                      <p:cBhvr additive="base">
                        <p:cTn dur="500" fill="hold"/>
                        <p:tgtEl>
                          <p:spTgt spid="3"/>
                        </p:tgtEl>
                        <p:attrNameLst>
                          <p:attrName>ppt_y</p:attrName>
                        </p:attrNameLst>
                      </p:cBhvr>
                      <p:tavLst>
                        <p:tav tm="0">
                          <p:val>
                            <p:strVal val="1+#ppt_h/2"/>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B270A-6F8F-4629-BAF7-7FD05F1541E8}"/>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F87B2F-F56F-4E5D-9CBE-9507142DA187}"/>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206FFD-1B08-439C-A38C-0E7806B715BD}"/>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4674952C-2D91-4955-807D-D44B144062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5896C4-BDA4-4F8B-B0CB-A3F2D6DF2912}"/>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0" name="Rectangle 9">
            <a:extLst>
              <a:ext uri="{FF2B5EF4-FFF2-40B4-BE49-F238E27FC236}">
                <a16:creationId xmlns:a16="http://schemas.microsoft.com/office/drawing/2014/main" id="{2C19E40E-1E09-4FBD-93DB-5D61896E467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018065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CCB-2FA4-4084-BD4F-FA292A024FB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E53C5E-BCDC-4D34-9F70-040FD30B4319}"/>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4DEE8A-AA47-4E02-ACE2-30603FDF4642}"/>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A2DF106-7445-4B25-88A6-F8375332AE0D}"/>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6" name="Footer Placeholder 5">
            <a:extLst>
              <a:ext uri="{FF2B5EF4-FFF2-40B4-BE49-F238E27FC236}">
                <a16:creationId xmlns:a16="http://schemas.microsoft.com/office/drawing/2014/main" id="{A886E2C9-014B-4C9D-865C-277DE17797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D34B14-67D2-4200-A9A1-E02FB5F859D0}"/>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1" name="Rectangle 10">
            <a:extLst>
              <a:ext uri="{FF2B5EF4-FFF2-40B4-BE49-F238E27FC236}">
                <a16:creationId xmlns:a16="http://schemas.microsoft.com/office/drawing/2014/main" id="{632970CB-1007-426F-8BAF-20E17DC48EBB}"/>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42761711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03A8-E3C2-4521-BAB0-EEA84642CD60}"/>
              </a:ext>
            </a:extLst>
          </p:cNvPr>
          <p:cNvSpPr>
            <a:spLocks noGrp="1"/>
          </p:cNvSpPr>
          <p:nvPr>
            <p:ph type="title"/>
          </p:nvPr>
        </p:nvSpPr>
        <p:spPr>
          <a:xfrm>
            <a:off x="629841" y="365126"/>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305B118-C53A-4E78-BEC8-3F4EAA240CA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045913-94E8-4A79-8EF4-F9C118ED014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D531397-8C84-4B9B-B5B8-CEEEFC58857E}"/>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4FDF4B68-3FC3-4FB2-A053-7B0FCDAFFEAC}"/>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958C094-6BBF-4769-B9C8-0267561CC4F6}"/>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8" name="Footer Placeholder 7">
            <a:extLst>
              <a:ext uri="{FF2B5EF4-FFF2-40B4-BE49-F238E27FC236}">
                <a16:creationId xmlns:a16="http://schemas.microsoft.com/office/drawing/2014/main" id="{F65B6ED7-A64A-4564-A7BC-AF2199FEF3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5FDBFF9-C2DC-47A6-A290-9D0B53D2A49B}"/>
              </a:ext>
            </a:extLst>
          </p:cNvPr>
          <p:cNvSpPr>
            <a:spLocks noGrp="1"/>
          </p:cNvSpPr>
          <p:nvPr>
            <p:ph type="sldNum" sz="quarter" idx="12"/>
          </p:nvPr>
        </p:nvSpPr>
        <p:spPr/>
        <p:txBody>
          <a:bodyPr/>
          <a:lstStyle/>
          <a:p>
            <a:fld id="{4D6E2103-0152-4525-945D-993C97345546}" type="slidenum">
              <a:rPr lang="en-US" smtClean="0"/>
              <a:t>‹#›</a:t>
            </a:fld>
            <a:endParaRPr lang="en-US"/>
          </a:p>
        </p:txBody>
      </p:sp>
      <p:sp>
        <p:nvSpPr>
          <p:cNvPr id="13" name="Rectangle 12">
            <a:extLst>
              <a:ext uri="{FF2B5EF4-FFF2-40B4-BE49-F238E27FC236}">
                <a16:creationId xmlns:a16="http://schemas.microsoft.com/office/drawing/2014/main" id="{5ADFB1EB-EA8A-4B40-B65B-E5F97A5BDEA6}"/>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1671716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18B92-803A-43F1-96E0-15B5A9CB286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67875B-CA21-4A34-815A-AC8E46B65D10}"/>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4" name="Footer Placeholder 3">
            <a:extLst>
              <a:ext uri="{FF2B5EF4-FFF2-40B4-BE49-F238E27FC236}">
                <a16:creationId xmlns:a16="http://schemas.microsoft.com/office/drawing/2014/main" id="{22051392-43F0-4389-8EE8-963F90F1AC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99F3021-3732-4E7B-B105-8D53733AED6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959284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105B1C-D14F-4038-92D6-2AD4B375CE08}"/>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3" name="Footer Placeholder 2">
            <a:extLst>
              <a:ext uri="{FF2B5EF4-FFF2-40B4-BE49-F238E27FC236}">
                <a16:creationId xmlns:a16="http://schemas.microsoft.com/office/drawing/2014/main" id="{8439ADE9-7ED1-44FE-9A63-2DF37671EAE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4E109B7-7EF5-44C2-8821-DFB5084812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4073322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8C241-CE34-485A-B25B-5B17F619639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6EDE76-2F56-4722-A19F-90CF9239694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92879C-E670-44C6-B777-E4CC693E3AD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F2F925B6-8CF3-455D-B73D-119D0B4E441A}"/>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6" name="Footer Placeholder 5">
            <a:extLst>
              <a:ext uri="{FF2B5EF4-FFF2-40B4-BE49-F238E27FC236}">
                <a16:creationId xmlns:a16="http://schemas.microsoft.com/office/drawing/2014/main" id="{DC7BEC62-2B2D-47D8-814E-CEB11FBDE0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4B180D-9A69-407A-B767-849DC3F09309}"/>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303496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2B198-AFEA-40C2-BE37-C68CFDF483DD}"/>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A7B8C5B-9A98-470A-8110-499A6518DD56}"/>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F09FA6F1-1813-4B57-B473-833646D2E825}"/>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B4D1A94-0748-4E41-9D2F-C83D9F732710}"/>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6" name="Footer Placeholder 5">
            <a:extLst>
              <a:ext uri="{FF2B5EF4-FFF2-40B4-BE49-F238E27FC236}">
                <a16:creationId xmlns:a16="http://schemas.microsoft.com/office/drawing/2014/main" id="{34FA210D-43D8-47ED-9949-2CED61B4B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42B31-3A2B-4E1F-B426-BCF9E3DD68BE}"/>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008349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A8523-61C0-453B-8977-7E823EDCC31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B0E370-F9F6-4D63-86BA-0C0C7ABB2E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D7AF5E7-A24A-4D4F-9251-D3C3CD538475}"/>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A5469C26-5F35-4403-BB25-270B7A428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C1B4A1-1332-4B3D-9570-914A118EEFE5}"/>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276178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866256-29E0-4FB4-B70D-23F0615B4331}"/>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49EE83-F08B-4085-92DD-887191E74932}"/>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C09255-745E-47C1-A734-54C4277C6AAF}"/>
              </a:ext>
            </a:extLst>
          </p:cNvPr>
          <p:cNvSpPr>
            <a:spLocks noGrp="1"/>
          </p:cNvSpPr>
          <p:nvPr>
            <p:ph type="dt" sz="half" idx="10"/>
          </p:nvPr>
        </p:nvSpPr>
        <p:spPr/>
        <p:txBody>
          <a:body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6FEE1911-73E7-44C4-8A47-7A3E73020D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76C518-9C28-479C-BDDC-CCEAD9D83CC2}"/>
              </a:ext>
            </a:extLst>
          </p:cNvPr>
          <p:cNvSpPr>
            <a:spLocks noGrp="1"/>
          </p:cNvSpPr>
          <p:nvPr>
            <p:ph type="sldNum" sz="quarter" idx="12"/>
          </p:nvPr>
        </p:nvSpPr>
        <p:spPr/>
        <p:txBody>
          <a:bodyPr/>
          <a:lstStyle/>
          <a:p>
            <a:fld id="{4D6E2103-0152-4525-945D-993C97345546}" type="slidenum">
              <a:rPr lang="en-US" smtClean="0"/>
              <a:t>‹#›</a:t>
            </a:fld>
            <a:endParaRPr lang="en-US"/>
          </a:p>
        </p:txBody>
      </p:sp>
    </p:spTree>
    <p:extLst>
      <p:ext uri="{BB962C8B-B14F-4D97-AF65-F5344CB8AC3E}">
        <p14:creationId xmlns:p14="http://schemas.microsoft.com/office/powerpoint/2010/main" val="3317666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A40FBA-4B31-4400-8703-448B6BB92946}"/>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A55A2560-6694-4066-9BBE-CDBCA9527119}"/>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CE10E3E-5C9C-477B-9737-59527A0399B4}"/>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A63E55B-20EA-41BC-BD1C-971839B344EB}" type="datetimeFigureOut">
              <a:rPr lang="en-US" smtClean="0"/>
              <a:t>4/2/2025</a:t>
            </a:fld>
            <a:endParaRPr lang="en-US"/>
          </a:p>
        </p:txBody>
      </p:sp>
      <p:sp>
        <p:nvSpPr>
          <p:cNvPr id="5" name="Footer Placeholder 4">
            <a:extLst>
              <a:ext uri="{FF2B5EF4-FFF2-40B4-BE49-F238E27FC236}">
                <a16:creationId xmlns:a16="http://schemas.microsoft.com/office/drawing/2014/main" id="{3D5B4180-7DA2-4E7A-9EAC-CB2B7A99B58B}"/>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85689F4-61E0-46DF-9DC0-37CC35E22E2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D6E2103-0152-4525-945D-993C97345546}" type="slidenum">
              <a:rPr lang="en-US" smtClean="0"/>
              <a:t>‹#›</a:t>
            </a:fld>
            <a:endParaRPr lang="en-US"/>
          </a:p>
        </p:txBody>
      </p:sp>
    </p:spTree>
    <p:extLst>
      <p:ext uri="{BB962C8B-B14F-4D97-AF65-F5344CB8AC3E}">
        <p14:creationId xmlns:p14="http://schemas.microsoft.com/office/powerpoint/2010/main" val="7007844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28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533400" y="4038600"/>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2013"/>
            <a:ext cx="7772400" cy="1470025"/>
          </a:xfrm>
        </p:spPr>
        <p:txBody>
          <a:bodyPr/>
          <a:lstStyle/>
          <a:p>
            <a:pPr algn="l" fontAlgn="base">
              <a:spcAft>
                <a:spcPts val="1500"/>
              </a:spcAft>
            </a:pPr>
            <a:r>
              <a:rPr lang="en-US" b="1" i="0" dirty="0">
                <a:solidFill>
                  <a:srgbClr val="000000"/>
                </a:solidFill>
                <a:effectLst/>
                <a:latin typeface="arial" panose="020B0604020202020204" pitchFamily="34" charset="0"/>
              </a:rPr>
              <a:t>What are Indexers in C#?</a:t>
            </a:r>
            <a:endParaRPr lang="en-US" b="1" i="0" dirty="0">
              <a:solidFill>
                <a:srgbClr val="3A3A3A"/>
              </a:solidFill>
              <a:effectLst/>
              <a:latin typeface="-apple-system"/>
            </a:endParaRPr>
          </a:p>
        </p:txBody>
      </p:sp>
      <p:sp>
        <p:nvSpPr>
          <p:cNvPr id="5" name="Subtitle 4">
            <a:extLst>
              <a:ext uri="{FF2B5EF4-FFF2-40B4-BE49-F238E27FC236}">
                <a16:creationId xmlns:a16="http://schemas.microsoft.com/office/drawing/2014/main" id="{814B19D9-5EA4-F5A8-B284-82048A7850B0}"/>
              </a:ext>
            </a:extLst>
          </p:cNvPr>
          <p:cNvSpPr>
            <a:spLocks noGrp="1"/>
          </p:cNvSpPr>
          <p:nvPr>
            <p:ph type="subTitle" idx="1"/>
          </p:nvPr>
        </p:nvSpPr>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5CA43E4-E180-ED12-98C0-876B128A4AF1}"/>
              </a:ext>
            </a:extLst>
          </p:cNvPr>
          <p:cNvSpPr txBox="1"/>
          <p:nvPr/>
        </p:nvSpPr>
        <p:spPr>
          <a:xfrm>
            <a:off x="76200" y="76200"/>
            <a:ext cx="4572000" cy="493122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nSpc>
                <a:spcPts val="1425"/>
              </a:lnSpc>
              <a:buNone/>
            </a:pPr>
            <a:r>
              <a:rPr lang="en-IN" sz="1100" b="0" dirty="0">
                <a:solidFill>
                  <a:srgbClr val="0000FF"/>
                </a:solidFill>
                <a:effectLst/>
                <a:latin typeface="Consolas" panose="020B0609020204030204" pitchFamily="49" charset="0"/>
              </a:rPr>
              <a:t>namespace</a:t>
            </a: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IndexersDemo</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class</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//Declare the Properties</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int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Job</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double</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Salary</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Location</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Department</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Gender</a:t>
            </a:r>
            <a:r>
              <a:rPr lang="en-IN" sz="1100" b="0" dirty="0">
                <a:solidFill>
                  <a:srgbClr val="3B3B3B"/>
                </a:solidFill>
                <a:effectLst/>
                <a:latin typeface="Consolas" panose="020B0609020204030204" pitchFamily="49" charset="0"/>
              </a:rPr>
              <a:t> { </a:t>
            </a:r>
            <a:r>
              <a:rPr lang="en-IN" sz="1100" b="0" dirty="0">
                <a:solidFill>
                  <a:srgbClr val="0000FF"/>
                </a:solidFill>
                <a:effectLst/>
                <a:latin typeface="Consolas" panose="020B0609020204030204" pitchFamily="49" charset="0"/>
              </a:rPr>
              <a:t>get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set</a:t>
            </a: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//Initialize the Properties through Constructor</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public</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a:t>
            </a:r>
            <a:r>
              <a:rPr lang="en-IN" sz="1100" b="0" dirty="0">
                <a:solidFill>
                  <a:srgbClr val="0000FF"/>
                </a:solidFill>
                <a:effectLst/>
                <a:latin typeface="Consolas" panose="020B0609020204030204" pitchFamily="49" charset="0"/>
              </a:rPr>
              <a:t>int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Job</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int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Salary</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Location</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Department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Gender</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this</a:t>
            </a:r>
            <a:r>
              <a:rPr lang="en-IN" sz="1100" b="0" dirty="0">
                <a:solidFill>
                  <a:srgbClr val="000000"/>
                </a:solidFill>
                <a:effectLst/>
                <a:latin typeface="Consolas" panose="020B0609020204030204" pitchFamily="49" charset="0"/>
              </a:rPr>
              <a:t>.</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ID</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Name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Job</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Job</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Salary</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Salary</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Location</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Location</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Department</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Department</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0000FF"/>
                </a:solidFill>
                <a:effectLst/>
                <a:latin typeface="Consolas" panose="020B0609020204030204" pitchFamily="49" charset="0"/>
              </a:rPr>
              <a:t>this</a:t>
            </a:r>
            <a:r>
              <a:rPr lang="en-IN" sz="1100" b="0" dirty="0" err="1">
                <a:solidFill>
                  <a:srgbClr val="000000"/>
                </a:solidFill>
                <a:effectLst/>
                <a:latin typeface="Consolas" panose="020B0609020204030204" pitchFamily="49" charset="0"/>
              </a:rPr>
              <a:t>.</a:t>
            </a:r>
            <a:r>
              <a:rPr lang="en-IN" sz="1100" b="0" dirty="0" err="1">
                <a:solidFill>
                  <a:srgbClr val="001080"/>
                </a:solidFill>
                <a:effectLst/>
                <a:latin typeface="Consolas" panose="020B0609020204030204" pitchFamily="49" charset="0"/>
              </a:rPr>
              <a:t>Gender</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Gender</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p>
          <a:p>
            <a:pPr>
              <a:lnSpc>
                <a:spcPts val="1425"/>
              </a:lnSpc>
            </a:pPr>
            <a:r>
              <a:rPr lang="en-IN" sz="1100" b="0" dirty="0">
                <a:solidFill>
                  <a:srgbClr val="3B3B3B"/>
                </a:solidFill>
                <a:effectLst/>
                <a:latin typeface="Consolas" panose="020B0609020204030204" pitchFamily="49" charset="0"/>
              </a:rPr>
              <a:t>}</a:t>
            </a:r>
          </a:p>
        </p:txBody>
      </p:sp>
      <p:sp>
        <p:nvSpPr>
          <p:cNvPr id="11" name="TextBox 10">
            <a:extLst>
              <a:ext uri="{FF2B5EF4-FFF2-40B4-BE49-F238E27FC236}">
                <a16:creationId xmlns:a16="http://schemas.microsoft.com/office/drawing/2014/main" id="{D8695B46-F25A-68B9-C188-B5497E20F50A}"/>
              </a:ext>
            </a:extLst>
          </p:cNvPr>
          <p:cNvSpPr txBox="1"/>
          <p:nvPr/>
        </p:nvSpPr>
        <p:spPr>
          <a:xfrm>
            <a:off x="-76200" y="5181600"/>
            <a:ext cx="9067800" cy="646331"/>
          </a:xfrm>
          <a:prstGeom prst="rect">
            <a:avLst/>
          </a:prstGeom>
          <a:noFill/>
        </p:spPr>
        <p:txBody>
          <a:bodyPr wrap="square">
            <a:spAutoFit/>
          </a:bodyPr>
          <a:lstStyle/>
          <a:p>
            <a:r>
              <a:rPr lang="en-US" dirty="0"/>
              <a:t>Let’s try to create an instance of the above Employee class and let’s try to consume the employee object like an array. </a:t>
            </a:r>
            <a:endParaRPr lang="en-IN" dirty="0"/>
          </a:p>
        </p:txBody>
      </p:sp>
      <p:sp>
        <p:nvSpPr>
          <p:cNvPr id="13" name="TextBox 12">
            <a:extLst>
              <a:ext uri="{FF2B5EF4-FFF2-40B4-BE49-F238E27FC236}">
                <a16:creationId xmlns:a16="http://schemas.microsoft.com/office/drawing/2014/main" id="{30991576-C292-D7A0-48DE-BFFF7A60833B}"/>
              </a:ext>
            </a:extLst>
          </p:cNvPr>
          <p:cNvSpPr txBox="1"/>
          <p:nvPr/>
        </p:nvSpPr>
        <p:spPr>
          <a:xfrm>
            <a:off x="4550833" y="345504"/>
            <a:ext cx="4635500" cy="439261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425"/>
              </a:lnSpc>
              <a:buNone/>
            </a:pPr>
            <a:r>
              <a:rPr lang="en-IN" sz="1100" b="0" dirty="0">
                <a:solidFill>
                  <a:srgbClr val="0000FF"/>
                </a:solidFill>
                <a:effectLst/>
                <a:latin typeface="Consolas" panose="020B0609020204030204" pitchFamily="49" charset="0"/>
              </a:rPr>
              <a:t>using</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System</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0000FF"/>
                </a:solidFill>
                <a:effectLst/>
                <a:latin typeface="Consolas" panose="020B0609020204030204" pitchFamily="49" charset="0"/>
              </a:rPr>
              <a:t>namespace</a:t>
            </a: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IndexersDemo</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class</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Program</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static</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void</a:t>
            </a:r>
            <a:r>
              <a:rPr lang="en-IN" sz="1100" b="0" dirty="0">
                <a:solidFill>
                  <a:srgbClr val="3B3B3B"/>
                </a:solidFill>
                <a:effectLst/>
                <a:latin typeface="Consolas" panose="020B0609020204030204" pitchFamily="49" charset="0"/>
              </a:rPr>
              <a:t> </a:t>
            </a:r>
            <a:r>
              <a:rPr lang="en-IN" sz="1100" b="0" dirty="0">
                <a:solidFill>
                  <a:srgbClr val="795E26"/>
                </a:solidFill>
                <a:effectLst/>
                <a:latin typeface="Consolas" panose="020B0609020204030204" pitchFamily="49" charset="0"/>
              </a:rPr>
              <a:t>Main</a:t>
            </a:r>
            <a:r>
              <a:rPr lang="en-IN" sz="1100" b="0" dirty="0">
                <a:solidFill>
                  <a:srgbClr val="3B3B3B"/>
                </a:solidFill>
                <a:effectLst/>
                <a:latin typeface="Consolas" panose="020B0609020204030204" pitchFamily="49" charset="0"/>
              </a:rPr>
              <a:t>(</a:t>
            </a:r>
            <a:r>
              <a:rPr lang="en-IN" sz="1100" b="0" dirty="0">
                <a:solidFill>
                  <a:srgbClr val="0000FF"/>
                </a:solidFill>
                <a:effectLst/>
                <a:latin typeface="Consolas" panose="020B0609020204030204" pitchFamily="49" charset="0"/>
              </a:rPr>
              <a:t>string</a:t>
            </a:r>
            <a:r>
              <a:rPr lang="en-IN" sz="1100" b="0" dirty="0">
                <a:solidFill>
                  <a:srgbClr val="3B3B3B"/>
                </a:solidFill>
                <a:effectLst/>
                <a:latin typeface="Consolas" panose="020B0609020204030204" pitchFamily="49" charset="0"/>
              </a:rPr>
              <a:t>[] </a:t>
            </a:r>
            <a:r>
              <a:rPr lang="en-IN" sz="1100" b="0" dirty="0" err="1">
                <a:solidFill>
                  <a:srgbClr val="001080"/>
                </a:solidFill>
                <a:effectLst/>
                <a:latin typeface="Consolas" panose="020B0609020204030204" pitchFamily="49" charset="0"/>
              </a:rPr>
              <a:t>args</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008000"/>
                </a:solidFill>
                <a:effectLst/>
                <a:latin typeface="Consolas" panose="020B0609020204030204" pitchFamily="49" charset="0"/>
              </a:rPr>
              <a:t>            //Creating the Employee instance</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00FF"/>
                </a:solidFill>
                <a:effectLst/>
                <a:latin typeface="Consolas" panose="020B0609020204030204" pitchFamily="49" charset="0"/>
              </a:rPr>
              <a:t>new</a:t>
            </a:r>
            <a:r>
              <a:rPr lang="en-IN" sz="1100" b="0" dirty="0">
                <a:solidFill>
                  <a:srgbClr val="3B3B3B"/>
                </a:solidFill>
                <a:effectLst/>
                <a:latin typeface="Consolas" panose="020B0609020204030204" pitchFamily="49" charset="0"/>
              </a:rPr>
              <a:t> </a:t>
            </a:r>
            <a:r>
              <a:rPr lang="en-IN" sz="1100" b="0" dirty="0">
                <a:solidFill>
                  <a:srgbClr val="267F99"/>
                </a:solidFill>
                <a:effectLst/>
                <a:latin typeface="Consolas" panose="020B0609020204030204" pitchFamily="49" charset="0"/>
              </a:rPr>
              <a:t>Employee</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101</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"Pranaya"</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"SSE"</a:t>
            </a:r>
            <a:r>
              <a:rPr lang="en-IN" sz="1100" b="0" dirty="0">
                <a:solidFill>
                  <a:srgbClr val="3B3B3B"/>
                </a:solidFill>
                <a:effectLst/>
                <a:latin typeface="Consolas" panose="020B0609020204030204" pitchFamily="49" charset="0"/>
              </a:rPr>
              <a:t>, </a:t>
            </a:r>
            <a:r>
              <a:rPr lang="en-IN" sz="1100" b="0" dirty="0">
                <a:solidFill>
                  <a:srgbClr val="098658"/>
                </a:solidFill>
                <a:effectLst/>
                <a:latin typeface="Consolas" panose="020B0609020204030204" pitchFamily="49" charset="0"/>
              </a:rPr>
              <a:t>10000</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"Mumbai"</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"IT"</a:t>
            </a:r>
            <a:r>
              <a:rPr lang="en-IN" sz="1100" b="0" dirty="0">
                <a:solidFill>
                  <a:srgbClr val="3B3B3B"/>
                </a:solidFill>
                <a:effectLst/>
                <a:latin typeface="Consolas" panose="020B0609020204030204" pitchFamily="49" charset="0"/>
              </a:rPr>
              <a:t>, </a:t>
            </a:r>
            <a:r>
              <a:rPr lang="en-IN" sz="1100" b="0" dirty="0">
                <a:solidFill>
                  <a:srgbClr val="A31515"/>
                </a:solidFill>
                <a:effectLst/>
                <a:latin typeface="Consolas" panose="020B0609020204030204" pitchFamily="49" charset="0"/>
              </a:rPr>
              <a:t>"Male"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008000"/>
                </a:solidFill>
                <a:effectLst/>
                <a:latin typeface="Consolas" panose="020B0609020204030204" pitchFamily="49" charset="0"/>
              </a:rPr>
              <a:t>            //Accessing Employee Properties using Indexers i.e. using Index positions</a:t>
            </a:r>
            <a:endParaRPr lang="en-IN" sz="1100" b="0" dirty="0">
              <a:solidFill>
                <a:srgbClr val="3B3B3B"/>
              </a:solidFill>
              <a:effectLst/>
              <a:latin typeface="Consolas" panose="020B0609020204030204" pitchFamily="49" charset="0"/>
            </a:endParaRP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"EID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0</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"Name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1</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"Job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2</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"Salary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3</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"Location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4</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"Department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5</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WriteLine</a:t>
            </a:r>
            <a:r>
              <a:rPr lang="en-IN" sz="1100" b="0" dirty="0">
                <a:solidFill>
                  <a:srgbClr val="3B3B3B"/>
                </a:solidFill>
                <a:effectLst/>
                <a:latin typeface="Consolas" panose="020B0609020204030204" pitchFamily="49" charset="0"/>
              </a:rPr>
              <a:t>(</a:t>
            </a:r>
            <a:r>
              <a:rPr lang="en-IN" sz="1100" b="0" dirty="0">
                <a:solidFill>
                  <a:srgbClr val="A31515"/>
                </a:solidFill>
                <a:effectLst/>
                <a:latin typeface="Consolas" panose="020B0609020204030204" pitchFamily="49" charset="0"/>
              </a:rPr>
              <a:t>"Gender = "</a:t>
            </a:r>
            <a:r>
              <a:rPr lang="en-IN" sz="1100" b="0" dirty="0">
                <a:solidFill>
                  <a:srgbClr val="3B3B3B"/>
                </a:solidFill>
                <a:effectLst/>
                <a:latin typeface="Consolas" panose="020B0609020204030204" pitchFamily="49" charset="0"/>
              </a:rPr>
              <a:t> </a:t>
            </a:r>
            <a:r>
              <a:rPr lang="en-IN" sz="1100" b="0" dirty="0">
                <a:solidFill>
                  <a:srgbClr val="000000"/>
                </a:solidFill>
                <a:effectLst/>
                <a:latin typeface="Consolas" panose="020B0609020204030204" pitchFamily="49" charset="0"/>
              </a:rPr>
              <a:t>+</a:t>
            </a:r>
            <a:r>
              <a:rPr lang="en-IN" sz="1100" b="0" dirty="0">
                <a:solidFill>
                  <a:srgbClr val="3B3B3B"/>
                </a:solidFill>
                <a:effectLst/>
                <a:latin typeface="Consolas" panose="020B0609020204030204" pitchFamily="49" charset="0"/>
              </a:rPr>
              <a:t> </a:t>
            </a:r>
            <a:r>
              <a:rPr lang="en-IN" sz="1100" b="0" dirty="0">
                <a:solidFill>
                  <a:srgbClr val="001080"/>
                </a:solidFill>
                <a:effectLst/>
                <a:latin typeface="Consolas" panose="020B0609020204030204" pitchFamily="49" charset="0"/>
              </a:rPr>
              <a:t>emp</a:t>
            </a:r>
            <a:r>
              <a:rPr lang="en-IN" sz="1100" b="0" dirty="0">
                <a:solidFill>
                  <a:srgbClr val="3B3B3B"/>
                </a:solidFill>
                <a:effectLst/>
                <a:latin typeface="Consolas" panose="020B0609020204030204" pitchFamily="49" charset="0"/>
              </a:rPr>
              <a:t>[</a:t>
            </a:r>
            <a:r>
              <a:rPr lang="en-IN" sz="1100" b="0" dirty="0">
                <a:solidFill>
                  <a:srgbClr val="098658"/>
                </a:solidFill>
                <a:effectLst/>
                <a:latin typeface="Consolas" panose="020B0609020204030204" pitchFamily="49" charset="0"/>
              </a:rPr>
              <a:t>6</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r>
              <a:rPr lang="en-IN" sz="1100" b="0" dirty="0" err="1">
                <a:solidFill>
                  <a:srgbClr val="267F99"/>
                </a:solidFill>
                <a:effectLst/>
                <a:latin typeface="Consolas" panose="020B0609020204030204" pitchFamily="49" charset="0"/>
              </a:rPr>
              <a:t>Console</a:t>
            </a:r>
            <a:r>
              <a:rPr lang="en-IN" sz="1100" b="0" dirty="0" err="1">
                <a:solidFill>
                  <a:srgbClr val="000000"/>
                </a:solidFill>
                <a:effectLst/>
                <a:latin typeface="Consolas" panose="020B0609020204030204" pitchFamily="49" charset="0"/>
              </a:rPr>
              <a:t>.</a:t>
            </a:r>
            <a:r>
              <a:rPr lang="en-IN" sz="1100" b="0" dirty="0" err="1">
                <a:solidFill>
                  <a:srgbClr val="795E26"/>
                </a:solidFill>
                <a:effectLst/>
                <a:latin typeface="Consolas" panose="020B0609020204030204" pitchFamily="49" charset="0"/>
              </a:rPr>
              <a:t>ReadLine</a:t>
            </a:r>
            <a:r>
              <a:rPr lang="en-IN" sz="1100" b="0" dirty="0">
                <a:solidFill>
                  <a:srgbClr val="3B3B3B"/>
                </a:solidFill>
                <a:effectLst/>
                <a:latin typeface="Consolas" panose="020B0609020204030204" pitchFamily="49" charset="0"/>
              </a:rPr>
              <a:t>();</a:t>
            </a:r>
          </a:p>
          <a:p>
            <a:pPr>
              <a:lnSpc>
                <a:spcPts val="1425"/>
              </a:lnSpc>
              <a:buNone/>
            </a:pPr>
            <a:r>
              <a:rPr lang="en-IN" sz="1100" b="0" dirty="0">
                <a:solidFill>
                  <a:srgbClr val="3B3B3B"/>
                </a:solidFill>
                <a:effectLst/>
                <a:latin typeface="Consolas" panose="020B0609020204030204" pitchFamily="49" charset="0"/>
              </a:rPr>
              <a:t>        }</a:t>
            </a:r>
          </a:p>
          <a:p>
            <a:pPr>
              <a:lnSpc>
                <a:spcPts val="1425"/>
              </a:lnSpc>
              <a:buNone/>
            </a:pPr>
            <a:r>
              <a:rPr lang="en-IN" sz="1100" b="0" dirty="0">
                <a:solidFill>
                  <a:srgbClr val="3B3B3B"/>
                </a:solidFill>
                <a:effectLst/>
                <a:latin typeface="Consolas" panose="020B0609020204030204" pitchFamily="49" charset="0"/>
              </a:rPr>
              <a:t>    }</a:t>
            </a:r>
          </a:p>
          <a:p>
            <a:pPr>
              <a:lnSpc>
                <a:spcPts val="1425"/>
              </a:lnSpc>
            </a:pPr>
            <a:r>
              <a:rPr lang="en-IN" sz="1100" b="0" dirty="0">
                <a:solidFill>
                  <a:srgbClr val="3B3B3B"/>
                </a:solidFill>
                <a:effectLst/>
                <a:latin typeface="Consolas" panose="020B0609020204030204" pitchFamily="49" charset="0"/>
              </a:rPr>
              <a:t>}</a:t>
            </a:r>
          </a:p>
        </p:txBody>
      </p:sp>
      <p:pic>
        <p:nvPicPr>
          <p:cNvPr id="15" name="Picture 14">
            <a:extLst>
              <a:ext uri="{FF2B5EF4-FFF2-40B4-BE49-F238E27FC236}">
                <a16:creationId xmlns:a16="http://schemas.microsoft.com/office/drawing/2014/main" id="{DF13CAFF-CD42-FE3D-41A4-60F7612BCBE2}"/>
              </a:ext>
            </a:extLst>
          </p:cNvPr>
          <p:cNvPicPr>
            <a:picLocks noChangeAspect="1"/>
          </p:cNvPicPr>
          <p:nvPr/>
        </p:nvPicPr>
        <p:blipFill>
          <a:blip r:embed="rId2"/>
          <a:stretch>
            <a:fillRect/>
          </a:stretch>
        </p:blipFill>
        <p:spPr>
          <a:xfrm>
            <a:off x="1981200" y="5558627"/>
            <a:ext cx="6794992" cy="107077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A2AE5200-3CA5-A1CE-C191-B9E314F5DA00}"/>
              </a:ext>
            </a:extLst>
          </p:cNvPr>
          <p:cNvSpPr txBox="1"/>
          <p:nvPr/>
        </p:nvSpPr>
        <p:spPr>
          <a:xfrm>
            <a:off x="0" y="514909"/>
            <a:ext cx="4876800" cy="2123658"/>
          </a:xfrm>
          <a:prstGeom prst="rect">
            <a:avLst/>
          </a:prstGeom>
          <a:noFill/>
        </p:spPr>
        <p:txBody>
          <a:bodyPr wrap="square">
            <a:spAutoFit/>
          </a:bodyPr>
          <a:lstStyle/>
          <a:p>
            <a:pPr algn="just" fontAlgn="base">
              <a:buNone/>
            </a:pPr>
            <a:r>
              <a:rPr lang="en-US" sz="1200" b="0" i="0" dirty="0">
                <a:solidFill>
                  <a:srgbClr val="000000"/>
                </a:solidFill>
                <a:effectLst/>
                <a:latin typeface="arial" panose="020B0604020202020204" pitchFamily="34" charset="0"/>
              </a:rPr>
              <a:t>This is because we cannot apply indexing directly to a class. We can do indexing on an array but we cannot do the same thing with a user-defined class like Employee. An array is a predefined class and all the logic is implemented in that class for indexing so that we can access them using indexes. But Employee is a user-defined class and we have not implemented any logic to access the class like an array.</a:t>
            </a:r>
            <a:endParaRPr lang="en-US" sz="1200" b="0" i="0" dirty="0">
              <a:solidFill>
                <a:srgbClr val="3A3A3A"/>
              </a:solidFill>
              <a:effectLst/>
              <a:latin typeface="-apple-system"/>
            </a:endParaRPr>
          </a:p>
          <a:p>
            <a:pPr algn="just" fontAlgn="base"/>
            <a:r>
              <a:rPr lang="en-US" sz="1200" b="0" i="0" dirty="0">
                <a:solidFill>
                  <a:srgbClr val="000000"/>
                </a:solidFill>
                <a:effectLst/>
                <a:latin typeface="arial" panose="020B0604020202020204" pitchFamily="34" charset="0"/>
              </a:rPr>
              <a:t>If you want to access the class like an array, then first you need to define an indexer in the class. Once you define an indexer in the class, then only you can start accessing the values of the class by using the Indexer.</a:t>
            </a:r>
            <a:endParaRPr lang="en-US" sz="1200" b="0" i="0" dirty="0">
              <a:solidFill>
                <a:srgbClr val="3A3A3A"/>
              </a:solidFill>
              <a:effectLst/>
              <a:latin typeface="-apple-system"/>
            </a:endParaRPr>
          </a:p>
        </p:txBody>
      </p:sp>
      <p:pic>
        <p:nvPicPr>
          <p:cNvPr id="10" name="Picture 9">
            <a:extLst>
              <a:ext uri="{FF2B5EF4-FFF2-40B4-BE49-F238E27FC236}">
                <a16:creationId xmlns:a16="http://schemas.microsoft.com/office/drawing/2014/main" id="{5798C0FB-7ED2-9D40-29AF-942811B5E68B}"/>
              </a:ext>
            </a:extLst>
          </p:cNvPr>
          <p:cNvPicPr>
            <a:picLocks noChangeAspect="1"/>
          </p:cNvPicPr>
          <p:nvPr/>
        </p:nvPicPr>
        <p:blipFill>
          <a:blip r:embed="rId2"/>
          <a:stretch>
            <a:fillRect/>
          </a:stretch>
        </p:blipFill>
        <p:spPr>
          <a:xfrm>
            <a:off x="0" y="2770453"/>
            <a:ext cx="4972050" cy="1295400"/>
          </a:xfrm>
          <a:prstGeom prst="rect">
            <a:avLst/>
          </a:prstGeom>
        </p:spPr>
      </p:pic>
      <p:sp>
        <p:nvSpPr>
          <p:cNvPr id="12" name="TextBox 11">
            <a:extLst>
              <a:ext uri="{FF2B5EF4-FFF2-40B4-BE49-F238E27FC236}">
                <a16:creationId xmlns:a16="http://schemas.microsoft.com/office/drawing/2014/main" id="{8FA55035-5349-DC09-F2D9-31950C1D7AB8}"/>
              </a:ext>
            </a:extLst>
          </p:cNvPr>
          <p:cNvSpPr txBox="1"/>
          <p:nvPr/>
        </p:nvSpPr>
        <p:spPr>
          <a:xfrm>
            <a:off x="152400" y="4197740"/>
            <a:ext cx="8839200" cy="2677656"/>
          </a:xfrm>
          <a:prstGeom prst="rect">
            <a:avLst/>
          </a:prstGeom>
          <a:noFill/>
        </p:spPr>
        <p:txBody>
          <a:bodyPr wrap="square">
            <a:spAutoFit/>
          </a:bodyPr>
          <a:lstStyle/>
          <a:p>
            <a:pPr algn="l" fontAlgn="base">
              <a:buNone/>
            </a:pPr>
            <a:r>
              <a:rPr lang="en-US" sz="1400" b="0" i="0" dirty="0">
                <a:solidFill>
                  <a:srgbClr val="000000"/>
                </a:solidFill>
                <a:effectLst/>
                <a:latin typeface="arial" panose="020B0604020202020204" pitchFamily="34" charset="0"/>
              </a:rPr>
              <a:t>Let us understand the above syntax:</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Modifiers</a:t>
            </a:r>
            <a:r>
              <a:rPr lang="en-US" sz="1400" b="0" i="0" dirty="0">
                <a:solidFill>
                  <a:srgbClr val="000000"/>
                </a:solidFill>
                <a:effectLst/>
                <a:latin typeface="arial" panose="020B0604020202020204" pitchFamily="34" charset="0"/>
              </a:rPr>
              <a:t>: The Modifiers are nothing but the access specifiers such as public, private, protected, internal, etc.</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Type</a:t>
            </a:r>
            <a:r>
              <a:rPr lang="en-US" sz="1400" b="0" i="0" dirty="0">
                <a:solidFill>
                  <a:srgbClr val="000000"/>
                </a:solidFill>
                <a:effectLst/>
                <a:latin typeface="arial" panose="020B0604020202020204" pitchFamily="34" charset="0"/>
              </a:rPr>
              <a:t>: In our class, as we are dealing with the integer (ID), string (Name, Job, Department, Location, and Gender), and double (Salary) type of values. So, here we need to use the type as an Object because the Object type can return any type of values.</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This</a:t>
            </a:r>
            <a:r>
              <a:rPr lang="en-US" sz="1400" b="0" i="0" dirty="0">
                <a:solidFill>
                  <a:srgbClr val="000000"/>
                </a:solidFill>
                <a:effectLst/>
                <a:latin typeface="arial" panose="020B0604020202020204" pitchFamily="34" charset="0"/>
              </a:rPr>
              <a:t>: This keyword tells that we are defining an indexer on the current class, in this case, the current class is Employee.</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Int index or String name:</a:t>
            </a:r>
            <a:r>
              <a:rPr lang="en-US" sz="1400" b="0" i="0" dirty="0">
                <a:solidFill>
                  <a:srgbClr val="000000"/>
                </a:solidFill>
                <a:effectLst/>
                <a:latin typeface="arial" panose="020B0604020202020204" pitchFamily="34" charset="0"/>
              </a:rPr>
              <a:t> The int index or string name is used to specify whether you want to access the values by using its integer index position or by using the string name.</a:t>
            </a:r>
            <a:endParaRPr lang="en-US" sz="1400" b="0" i="0" dirty="0">
              <a:solidFill>
                <a:srgbClr val="3A3A3A"/>
              </a:solidFill>
              <a:effectLst/>
              <a:latin typeface="-apple-system"/>
            </a:endParaRPr>
          </a:p>
          <a:p>
            <a:pPr algn="just" fontAlgn="base">
              <a:buFont typeface="+mj-lt"/>
              <a:buAutoNum type="arabicPeriod"/>
            </a:pPr>
            <a:r>
              <a:rPr lang="en-US" sz="1400" b="1" i="0" dirty="0">
                <a:solidFill>
                  <a:srgbClr val="000000"/>
                </a:solidFill>
                <a:effectLst/>
                <a:latin typeface="arial" panose="020B0604020202020204" pitchFamily="34" charset="0"/>
              </a:rPr>
              <a:t>Get and Set:</a:t>
            </a:r>
            <a:r>
              <a:rPr lang="en-US" sz="1400" b="0" i="0" dirty="0">
                <a:solidFill>
                  <a:srgbClr val="000000"/>
                </a:solidFill>
                <a:effectLst/>
                <a:latin typeface="arial" panose="020B0604020202020204" pitchFamily="34" charset="0"/>
              </a:rPr>
              <a:t> The get accessor is used for returning the value and the set accessor is used for assigning the value.</a:t>
            </a:r>
            <a:endParaRPr lang="en-US" sz="1400" b="0" i="0" dirty="0">
              <a:solidFill>
                <a:srgbClr val="3A3A3A"/>
              </a:solidFill>
              <a:effectLst/>
              <a:latin typeface="-apple-system"/>
            </a:endParaRPr>
          </a:p>
        </p:txBody>
      </p:sp>
      <p:sp>
        <p:nvSpPr>
          <p:cNvPr id="13" name="TextBox 12">
            <a:extLst>
              <a:ext uri="{FF2B5EF4-FFF2-40B4-BE49-F238E27FC236}">
                <a16:creationId xmlns:a16="http://schemas.microsoft.com/office/drawing/2014/main" id="{C31BCA8B-0A69-CC9A-15B4-B35E44530EE5}"/>
              </a:ext>
            </a:extLst>
          </p:cNvPr>
          <p:cNvSpPr txBox="1"/>
          <p:nvPr/>
        </p:nvSpPr>
        <p:spPr>
          <a:xfrm>
            <a:off x="2362200" y="12300"/>
            <a:ext cx="4648200" cy="36933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dirty="0"/>
              <a:t>How to define Indexer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05C285A2-730B-B1F0-2474-86AF7FB51EFB}"/>
              </a:ext>
            </a:extLst>
          </p:cNvPr>
          <p:cNvSpPr txBox="1"/>
          <p:nvPr/>
        </p:nvSpPr>
        <p:spPr>
          <a:xfrm>
            <a:off x="-16933" y="-76200"/>
            <a:ext cx="7467601" cy="7261860"/>
          </a:xfrm>
          <a:prstGeom prst="rect">
            <a:avLst/>
          </a:prstGeom>
          <a:noFill/>
        </p:spPr>
        <p:txBody>
          <a:bodyPr wrap="square">
            <a:spAutoFit/>
          </a:bodyPr>
          <a:lstStyle/>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public</a:t>
            </a: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object</a:t>
            </a: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this</a:t>
            </a:r>
            <a:r>
              <a:rPr lang="en-US" sz="800" b="0" dirty="0">
                <a:solidFill>
                  <a:srgbClr val="3B3B3B"/>
                </a:solidFill>
                <a:effectLst/>
                <a:latin typeface="Consolas" panose="020B0609020204030204" pitchFamily="49" charset="0"/>
              </a:rPr>
              <a:t>[</a:t>
            </a:r>
            <a:r>
              <a:rPr lang="en-US" sz="800" b="0" dirty="0">
                <a:solidFill>
                  <a:srgbClr val="0000FF"/>
                </a:solidFill>
                <a:effectLst/>
                <a:latin typeface="Consolas" panose="020B0609020204030204" pitchFamily="49" charset="0"/>
              </a:rPr>
              <a:t>int</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8000"/>
                </a:solidFill>
                <a:effectLst/>
                <a:latin typeface="Consolas" panose="020B0609020204030204" pitchFamily="49" charset="0"/>
              </a:rPr>
              <a:t>            //Get accessor is used for returning a value</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get</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8000"/>
                </a:solidFill>
                <a:effectLst/>
                <a:latin typeface="Consolas" panose="020B0609020204030204" pitchFamily="49" charset="0"/>
              </a:rPr>
              <a:t>                //based in the index position, return the appropriate property value</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0</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ID</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1</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Name</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2</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Job</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3</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Salary</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4</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Location</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5</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Department</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6</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Gender</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return</a:t>
            </a: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null</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p>
          <a:p>
            <a:pPr>
              <a:lnSpc>
                <a:spcPts val="1425"/>
              </a:lnSpc>
              <a:buNone/>
            </a:pPr>
            <a:r>
              <a:rPr lang="en-US" sz="800" b="0" dirty="0">
                <a:solidFill>
                  <a:srgbClr val="008000"/>
                </a:solidFill>
                <a:effectLst/>
                <a:latin typeface="Consolas" panose="020B0609020204030204" pitchFamily="49" charset="0"/>
              </a:rPr>
              <a:t>            //Set accessor is used to assigning a value</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00FF"/>
                </a:solidFill>
                <a:effectLst/>
                <a:latin typeface="Consolas" panose="020B0609020204030204" pitchFamily="49" charset="0"/>
              </a:rPr>
              <a:t>set</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8000"/>
                </a:solidFill>
                <a:effectLst/>
                <a:latin typeface="Consolas" panose="020B0609020204030204" pitchFamily="49" charset="0"/>
              </a:rPr>
              <a:t>                //based in the index position, set the appropriate property value</a:t>
            </a:r>
            <a:endParaRPr lang="en-US" sz="800" b="0" dirty="0">
              <a:solidFill>
                <a:srgbClr val="3B3B3B"/>
              </a:solidFill>
              <a:effectLst/>
              <a:latin typeface="Consolas" panose="020B0609020204030204" pitchFamily="49" charset="0"/>
            </a:endParaRP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0</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ID</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267F99"/>
                </a:solidFill>
                <a:effectLst/>
                <a:latin typeface="Consolas" panose="020B0609020204030204" pitchFamily="49" charset="0"/>
              </a:rPr>
              <a:t>Convert</a:t>
            </a:r>
            <a:r>
              <a:rPr lang="en-US" sz="800" b="0" dirty="0">
                <a:solidFill>
                  <a:srgbClr val="000000"/>
                </a:solidFill>
                <a:effectLst/>
                <a:latin typeface="Consolas" panose="020B0609020204030204" pitchFamily="49" charset="0"/>
              </a:rPr>
              <a:t>.</a:t>
            </a:r>
            <a:r>
              <a:rPr lang="en-US" sz="800" b="0" dirty="0">
                <a:solidFill>
                  <a:srgbClr val="795E26"/>
                </a:solidFill>
                <a:effectLst/>
                <a:latin typeface="Consolas" panose="020B0609020204030204" pitchFamily="49" charset="0"/>
              </a:rPr>
              <a:t>ToInt32</a:t>
            </a:r>
            <a:r>
              <a:rPr lang="en-US" sz="800" b="0" dirty="0">
                <a:solidFill>
                  <a:srgbClr val="3B3B3B"/>
                </a:solidFill>
                <a:effectLst/>
                <a:latin typeface="Consolas" panose="020B0609020204030204" pitchFamily="49" charset="0"/>
              </a:rPr>
              <a:t>(</a:t>
            </a:r>
            <a:r>
              <a:rPr lang="en-US" sz="800" b="0" dirty="0">
                <a:solidFill>
                  <a:srgbClr val="0000FF"/>
                </a:solidFill>
                <a:effectLst/>
                <a:latin typeface="Consolas" panose="020B0609020204030204" pitchFamily="49" charset="0"/>
              </a:rPr>
              <a:t>value</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1</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Name</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0000FF"/>
                </a:solidFill>
                <a:effectLst/>
                <a:latin typeface="Consolas" panose="020B0609020204030204" pitchFamily="49" charset="0"/>
              </a:rPr>
              <a:t>value</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ToString</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2</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Job</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0000FF"/>
                </a:solidFill>
                <a:effectLst/>
                <a:latin typeface="Consolas" panose="020B0609020204030204" pitchFamily="49" charset="0"/>
              </a:rPr>
              <a:t>value</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ToString</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3</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Salary</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267F99"/>
                </a:solidFill>
                <a:effectLst/>
                <a:latin typeface="Consolas" panose="020B0609020204030204" pitchFamily="49" charset="0"/>
              </a:rPr>
              <a:t>Convert</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ToDouble</a:t>
            </a:r>
            <a:r>
              <a:rPr lang="en-US" sz="800" b="0" dirty="0">
                <a:solidFill>
                  <a:srgbClr val="3B3B3B"/>
                </a:solidFill>
                <a:effectLst/>
                <a:latin typeface="Consolas" panose="020B0609020204030204" pitchFamily="49" charset="0"/>
              </a:rPr>
              <a:t>(</a:t>
            </a:r>
            <a:r>
              <a:rPr lang="en-US" sz="800" b="0" dirty="0">
                <a:solidFill>
                  <a:srgbClr val="0000FF"/>
                </a:solidFill>
                <a:effectLst/>
                <a:latin typeface="Consolas" panose="020B0609020204030204" pitchFamily="49" charset="0"/>
              </a:rPr>
              <a:t>value</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4</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Location</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0000FF"/>
                </a:solidFill>
                <a:effectLst/>
                <a:latin typeface="Consolas" panose="020B0609020204030204" pitchFamily="49" charset="0"/>
              </a:rPr>
              <a:t>value</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ToString</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5</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Department</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0000FF"/>
                </a:solidFill>
                <a:effectLst/>
                <a:latin typeface="Consolas" panose="020B0609020204030204" pitchFamily="49" charset="0"/>
              </a:rPr>
              <a:t>value</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ToString</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else</a:t>
            </a:r>
            <a:r>
              <a:rPr lang="en-US" sz="800" b="0" dirty="0">
                <a:solidFill>
                  <a:srgbClr val="3B3B3B"/>
                </a:solidFill>
                <a:effectLst/>
                <a:latin typeface="Consolas" panose="020B0609020204030204" pitchFamily="49" charset="0"/>
              </a:rPr>
              <a:t> </a:t>
            </a:r>
            <a:r>
              <a:rPr lang="en-US" sz="800" b="0" dirty="0">
                <a:solidFill>
                  <a:srgbClr val="AF00DB"/>
                </a:solidFill>
                <a:effectLst/>
                <a:latin typeface="Consolas" panose="020B0609020204030204" pitchFamily="49" charset="0"/>
              </a:rPr>
              <a:t>if</a:t>
            </a: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index</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a:solidFill>
                  <a:srgbClr val="098658"/>
                </a:solidFill>
                <a:effectLst/>
                <a:latin typeface="Consolas" panose="020B0609020204030204" pitchFamily="49" charset="0"/>
              </a:rPr>
              <a:t>6</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r>
              <a:rPr lang="en-US" sz="800" b="0" dirty="0">
                <a:solidFill>
                  <a:srgbClr val="001080"/>
                </a:solidFill>
                <a:effectLst/>
                <a:latin typeface="Consolas" panose="020B0609020204030204" pitchFamily="49" charset="0"/>
              </a:rPr>
              <a:t>Gender</a:t>
            </a:r>
            <a:r>
              <a:rPr lang="en-US" sz="800" b="0" dirty="0">
                <a:solidFill>
                  <a:srgbClr val="3B3B3B"/>
                </a:solidFill>
                <a:effectLst/>
                <a:latin typeface="Consolas" panose="020B0609020204030204" pitchFamily="49" charset="0"/>
              </a:rPr>
              <a:t> </a:t>
            </a:r>
            <a:r>
              <a:rPr lang="en-US" sz="800" b="0" dirty="0">
                <a:solidFill>
                  <a:srgbClr val="000000"/>
                </a:solidFill>
                <a:effectLst/>
                <a:latin typeface="Consolas" panose="020B0609020204030204" pitchFamily="49" charset="0"/>
              </a:rPr>
              <a:t>=</a:t>
            </a:r>
            <a:r>
              <a:rPr lang="en-US" sz="800" b="0" dirty="0">
                <a:solidFill>
                  <a:srgbClr val="3B3B3B"/>
                </a:solidFill>
                <a:effectLst/>
                <a:latin typeface="Consolas" panose="020B0609020204030204" pitchFamily="49" charset="0"/>
              </a:rPr>
              <a:t> </a:t>
            </a:r>
            <a:r>
              <a:rPr lang="en-US" sz="800" b="0" dirty="0" err="1">
                <a:solidFill>
                  <a:srgbClr val="0000FF"/>
                </a:solidFill>
                <a:effectLst/>
                <a:latin typeface="Consolas" panose="020B0609020204030204" pitchFamily="49" charset="0"/>
              </a:rPr>
              <a:t>value</a:t>
            </a:r>
            <a:r>
              <a:rPr lang="en-US" sz="800" b="0" dirty="0" err="1">
                <a:solidFill>
                  <a:srgbClr val="000000"/>
                </a:solidFill>
                <a:effectLst/>
                <a:latin typeface="Consolas" panose="020B0609020204030204" pitchFamily="49" charset="0"/>
              </a:rPr>
              <a:t>.</a:t>
            </a:r>
            <a:r>
              <a:rPr lang="en-US" sz="800" b="0" dirty="0" err="1">
                <a:solidFill>
                  <a:srgbClr val="795E26"/>
                </a:solidFill>
                <a:effectLst/>
                <a:latin typeface="Consolas" panose="020B0609020204030204" pitchFamily="49" charset="0"/>
              </a:rPr>
              <a:t>ToString</a:t>
            </a:r>
            <a:r>
              <a:rPr lang="en-US" sz="800" b="0" dirty="0">
                <a:solidFill>
                  <a:srgbClr val="3B3B3B"/>
                </a:solidFill>
                <a:effectLst/>
                <a:latin typeface="Consolas" panose="020B0609020204030204" pitchFamily="49" charset="0"/>
              </a:rPr>
              <a:t>();</a:t>
            </a:r>
          </a:p>
          <a:p>
            <a:pPr>
              <a:lnSpc>
                <a:spcPts val="1425"/>
              </a:lnSpc>
              <a:buNone/>
            </a:pPr>
            <a:r>
              <a:rPr lang="en-US" sz="800" b="0" dirty="0">
                <a:solidFill>
                  <a:srgbClr val="3B3B3B"/>
                </a:solidFill>
                <a:effectLst/>
                <a:latin typeface="Consolas" panose="020B0609020204030204" pitchFamily="49" charset="0"/>
              </a:rPr>
              <a:t>            }</a:t>
            </a:r>
          </a:p>
          <a:p>
            <a:pPr>
              <a:lnSpc>
                <a:spcPts val="1425"/>
              </a:lnSpc>
            </a:pPr>
            <a:r>
              <a:rPr lang="en-US" sz="800" b="0" dirty="0">
                <a:solidFill>
                  <a:srgbClr val="3B3B3B"/>
                </a:solidFill>
                <a:effectLst/>
                <a:latin typeface="Consolas" panose="020B0609020204030204" pitchFamily="49" charset="0"/>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197</TotalTime>
  <Words>976</Words>
  <Application>Microsoft Office PowerPoint</Application>
  <PresentationFormat>On-screen Show (4:3)</PresentationFormat>
  <Paragraphs>105</Paragraphs>
  <Slides>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-apple-system</vt:lpstr>
      <vt:lpstr>Arial</vt:lpstr>
      <vt:lpstr>Arial</vt:lpstr>
      <vt:lpstr>Cambria</vt:lpstr>
      <vt:lpstr>Consolas</vt:lpstr>
      <vt:lpstr>Garamond</vt:lpstr>
      <vt:lpstr>Office Theme</vt:lpstr>
      <vt:lpstr>PowerPoint Presentation</vt:lpstr>
      <vt:lpstr>What are Indexers in C#?</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.NET</dc:title>
  <dc:creator>Theory</dc:creator>
  <cp:lastModifiedBy>sriram mantri vidyanidhi infotech academy</cp:lastModifiedBy>
  <cp:revision>41</cp:revision>
  <dcterms:created xsi:type="dcterms:W3CDTF">2012-07-28T05:50:39Z</dcterms:created>
  <dcterms:modified xsi:type="dcterms:W3CDTF">2025-04-02T05:37:00Z</dcterms:modified>
</cp:coreProperties>
</file>