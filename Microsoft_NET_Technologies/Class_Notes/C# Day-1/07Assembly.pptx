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0" r:id="rId2"/>
    <p:sldId id="256" r:id="rId3"/>
    <p:sldId id="259" r:id="rId4"/>
    <p:sldId id="257" r:id="rId5"/>
    <p:sldId id="258" r:id="rId6"/>
    <p:sldId id="260" r:id="rId7"/>
    <p:sldId id="261" r:id="rId8"/>
    <p:sldId id="262" r:id="rId9"/>
    <p:sldId id="266" r:id="rId10"/>
    <p:sldId id="284" r:id="rId11"/>
    <p:sldId id="267" r:id="rId12"/>
    <p:sldId id="285" r:id="rId13"/>
    <p:sldId id="286" r:id="rId14"/>
    <p:sldId id="268" r:id="rId15"/>
    <p:sldId id="269" r:id="rId16"/>
    <p:sldId id="263" r:id="rId17"/>
    <p:sldId id="287" r:id="rId18"/>
    <p:sldId id="264" r:id="rId19"/>
    <p:sldId id="288" r:id="rId20"/>
    <p:sldId id="289" r:id="rId21"/>
    <p:sldId id="265" r:id="rId22"/>
    <p:sldId id="271" r:id="rId23"/>
    <p:sldId id="273" r:id="rId24"/>
    <p:sldId id="272" r:id="rId25"/>
    <p:sldId id="274" r:id="rId26"/>
    <p:sldId id="275" r:id="rId27"/>
    <p:sldId id="276" r:id="rId28"/>
    <p:sldId id="277" r:id="rId29"/>
    <p:sldId id="278" r:id="rId30"/>
    <p:sldId id="279" r:id="rId31"/>
    <p:sldId id="280" r:id="rId32"/>
    <p:sldId id="281" r:id="rId33"/>
    <p:sldId id="282" r:id="rId34"/>
    <p:sldId id="283" r:id="rId3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0" d="100"/>
          <a:sy n="90" d="100"/>
        </p:scale>
        <p:origin x="1234"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9F7FC511-9982-4BBE-BFC5-62803429724A}" type="datetimeFigureOut">
              <a:rPr lang="en-US" smtClean="0"/>
              <a:t>10/4/2024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FE99A2-EA0F-476C-A708-402C7431E8D8}"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F7FC511-9982-4BBE-BFC5-62803429724A}" type="datetimeFigureOut">
              <a:rPr lang="en-US" smtClean="0"/>
              <a:t>10/4/2024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FE99A2-EA0F-476C-A708-402C7431E8D8}"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F7FC511-9982-4BBE-BFC5-62803429724A}" type="datetimeFigureOut">
              <a:rPr lang="en-US" smtClean="0"/>
              <a:t>10/4/2024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FE99A2-EA0F-476C-A708-402C7431E8D8}"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F7FC511-9982-4BBE-BFC5-62803429724A}" type="datetimeFigureOut">
              <a:rPr lang="en-US" smtClean="0"/>
              <a:t>10/4/2024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2FE99A2-EA0F-476C-A708-402C7431E8D8}"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F7FC511-9982-4BBE-BFC5-62803429724A}" type="datetimeFigureOut">
              <a:rPr lang="en-US" smtClean="0"/>
              <a:t>10/4/2024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2FE99A2-EA0F-476C-A708-402C7431E8D8}"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F7FC511-9982-4BBE-BFC5-62803429724A}" type="datetimeFigureOut">
              <a:rPr lang="en-US" smtClean="0"/>
              <a:t>10/4/2024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2FE99A2-EA0F-476C-A708-402C7431E8D8}"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F7FC511-9982-4BBE-BFC5-62803429724A}" type="datetimeFigureOut">
              <a:rPr lang="en-US" smtClean="0"/>
              <a:t>10/4/2024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2FE99A2-EA0F-476C-A708-402C7431E8D8}"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F7FC511-9982-4BBE-BFC5-62803429724A}" type="datetimeFigureOut">
              <a:rPr lang="en-US" smtClean="0"/>
              <a:t>10/4/2024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2FE99A2-EA0F-476C-A708-402C7431E8D8}"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F7FC511-9982-4BBE-BFC5-62803429724A}" type="datetimeFigureOut">
              <a:rPr lang="en-US" smtClean="0"/>
              <a:t>10/4/2024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2FE99A2-EA0F-476C-A708-402C7431E8D8}"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F7FC511-9982-4BBE-BFC5-62803429724A}" type="datetimeFigureOut">
              <a:rPr lang="en-US" smtClean="0"/>
              <a:t>10/4/2024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FE99A2-EA0F-476C-A708-402C7431E8D8}"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F7FC511-9982-4BBE-BFC5-62803429724A}" type="datetimeFigureOut">
              <a:rPr lang="en-US" smtClean="0"/>
              <a:t>10/4/2024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FE99A2-EA0F-476C-A708-402C7431E8D8}"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7FC511-9982-4BBE-BFC5-62803429724A}" type="datetimeFigureOut">
              <a:rPr lang="en-US" smtClean="0"/>
              <a:t>10/4/2024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FE99A2-EA0F-476C-A708-402C7431E8D8}"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1E1EF423-DF7E-4E02-BC17-E408452EF6CC}"/>
              </a:ext>
            </a:extLst>
          </p:cNvPr>
          <p:cNvSpPr txBox="1">
            <a:spLocks/>
          </p:cNvSpPr>
          <p:nvPr/>
        </p:nvSpPr>
        <p:spPr>
          <a:xfrm>
            <a:off x="228600" y="152400"/>
            <a:ext cx="8458200" cy="67056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IN" dirty="0">
                <a:hlinkClick r:id="rId2"/>
              </a:rPr>
              <a:t>http://www.vidyanidhi.com/</a:t>
            </a:r>
            <a:endParaRPr lang="en-IN" dirty="0"/>
          </a:p>
          <a:p>
            <a:pPr marL="0" indent="0" algn="ctr">
              <a:buFont typeface="Arial" panose="020B0604020202020204" pitchFamily="34" charset="0"/>
              <a:buNone/>
            </a:pPr>
            <a:r>
              <a:rPr lang="en-IN" dirty="0"/>
              <a:t>ketkiacharya.net@gmail.com</a:t>
            </a:r>
          </a:p>
        </p:txBody>
      </p:sp>
      <p:sp>
        <p:nvSpPr>
          <p:cNvPr id="7" name="TextBox 6">
            <a:extLst>
              <a:ext uri="{FF2B5EF4-FFF2-40B4-BE49-F238E27FC236}">
                <a16:creationId xmlns:a16="http://schemas.microsoft.com/office/drawing/2014/main" id="{16B70C53-FB12-474E-80C1-7906A121E350}"/>
              </a:ext>
            </a:extLst>
          </p:cNvPr>
          <p:cNvSpPr txBox="1"/>
          <p:nvPr/>
        </p:nvSpPr>
        <p:spPr>
          <a:xfrm>
            <a:off x="533400" y="4038600"/>
            <a:ext cx="3276600" cy="1292662"/>
          </a:xfrm>
          <a:prstGeom prst="rect">
            <a:avLst/>
          </a:prstGeom>
          <a:noFill/>
        </p:spPr>
        <p:txBody>
          <a:bodyPr wrap="square" rtlCol="0">
            <a:spAutoFit/>
          </a:bodyPr>
          <a:lstStyle/>
          <a:p>
            <a:r>
              <a:rPr lang="en-IN" sz="2400" b="1" dirty="0" err="1"/>
              <a:t>Ketki</a:t>
            </a:r>
            <a:r>
              <a:rPr lang="en-IN" sz="2400" b="1" dirty="0"/>
              <a:t> Acharya</a:t>
            </a:r>
          </a:p>
          <a:p>
            <a:r>
              <a:rPr lang="en-IN" dirty="0"/>
              <a:t>From: SM VITA ATC of CDAC</a:t>
            </a:r>
          </a:p>
          <a:p>
            <a:r>
              <a:rPr lang="en-IN" dirty="0"/>
              <a:t>9769201036</a:t>
            </a:r>
          </a:p>
          <a:p>
            <a:r>
              <a:rPr lang="en-IN" dirty="0"/>
              <a:t>Ketkiacharya.net@gmail.com</a:t>
            </a:r>
          </a:p>
        </p:txBody>
      </p:sp>
    </p:spTree>
    <p:extLst>
      <p:ext uri="{BB962C8B-B14F-4D97-AF65-F5344CB8AC3E}">
        <p14:creationId xmlns:p14="http://schemas.microsoft.com/office/powerpoint/2010/main" val="12948122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Assembly</a:t>
            </a:r>
          </a:p>
        </p:txBody>
      </p:sp>
      <p:sp>
        <p:nvSpPr>
          <p:cNvPr id="3" name="Subtitle 2"/>
          <p:cNvSpPr>
            <a:spLocks noGrp="1"/>
          </p:cNvSpPr>
          <p:nvPr>
            <p:ph type="subTitle" idx="1"/>
          </p:nvPr>
        </p:nvSpPr>
        <p:spPr/>
        <p:txBody>
          <a:bodyPr/>
          <a:lstStyle/>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30F9FD-7592-423B-97BD-193ACE049821}"/>
              </a:ext>
            </a:extLst>
          </p:cNvPr>
          <p:cNvSpPr>
            <a:spLocks noGrp="1"/>
          </p:cNvSpPr>
          <p:nvPr>
            <p:ph type="title"/>
          </p:nvPr>
        </p:nvSpPr>
        <p:spPr/>
        <p:txBody>
          <a:bodyPr/>
          <a:lstStyle/>
          <a:p>
            <a:r>
              <a:rPr lang="en-IN" dirty="0"/>
              <a:t>What is Assembly</a:t>
            </a:r>
          </a:p>
        </p:txBody>
      </p:sp>
      <p:sp>
        <p:nvSpPr>
          <p:cNvPr id="3" name="Content Placeholder 2">
            <a:extLst>
              <a:ext uri="{FF2B5EF4-FFF2-40B4-BE49-F238E27FC236}">
                <a16:creationId xmlns:a16="http://schemas.microsoft.com/office/drawing/2014/main" id="{45C26044-82FB-4719-A471-D150A6C134EC}"/>
              </a:ext>
            </a:extLst>
          </p:cNvPr>
          <p:cNvSpPr>
            <a:spLocks noGrp="1"/>
          </p:cNvSpPr>
          <p:nvPr>
            <p:ph idx="1"/>
          </p:nvPr>
        </p:nvSpPr>
        <p:spPr/>
        <p:txBody>
          <a:bodyPr/>
          <a:lstStyle/>
          <a:p>
            <a:r>
              <a:rPr lang="en-IN" dirty="0"/>
              <a:t>Assembly is set of code.</a:t>
            </a:r>
          </a:p>
          <a:p>
            <a:r>
              <a:rPr lang="en-IN" dirty="0"/>
              <a:t>An Assembly can be EXE(console application) or DLL(class library without Main)</a:t>
            </a:r>
          </a:p>
          <a:p>
            <a:r>
              <a:rPr lang="en-IN" dirty="0"/>
              <a:t>There are three type of Assembly </a:t>
            </a:r>
          </a:p>
          <a:p>
            <a:pPr lvl="1"/>
            <a:r>
              <a:rPr lang="en-IN" dirty="0"/>
              <a:t>Private Assembly</a:t>
            </a:r>
          </a:p>
          <a:p>
            <a:pPr lvl="1"/>
            <a:r>
              <a:rPr lang="en-IN" dirty="0"/>
              <a:t>Shared Assembly</a:t>
            </a:r>
          </a:p>
          <a:p>
            <a:pPr lvl="1"/>
            <a:r>
              <a:rPr lang="en-IN" dirty="0"/>
              <a:t>Satellite Assembly</a:t>
            </a:r>
          </a:p>
        </p:txBody>
      </p:sp>
    </p:spTree>
    <p:extLst>
      <p:ext uri="{BB962C8B-B14F-4D97-AF65-F5344CB8AC3E}">
        <p14:creationId xmlns:p14="http://schemas.microsoft.com/office/powerpoint/2010/main" val="12342870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rmAutofit/>
          </a:bodyPr>
          <a:lstStyle/>
          <a:p>
            <a:r>
              <a:rPr lang="en-US" sz="3600" dirty="0"/>
              <a:t>Assembly</a:t>
            </a:r>
          </a:p>
        </p:txBody>
      </p:sp>
      <p:sp>
        <p:nvSpPr>
          <p:cNvPr id="3" name="Content Placeholder 2"/>
          <p:cNvSpPr>
            <a:spLocks noGrp="1"/>
          </p:cNvSpPr>
          <p:nvPr>
            <p:ph idx="1"/>
          </p:nvPr>
        </p:nvSpPr>
        <p:spPr>
          <a:xfrm>
            <a:off x="457200" y="1143000"/>
            <a:ext cx="8534400" cy="5181600"/>
          </a:xfrm>
        </p:spPr>
        <p:txBody>
          <a:bodyPr>
            <a:noAutofit/>
          </a:bodyPr>
          <a:lstStyle/>
          <a:p>
            <a:r>
              <a:rPr lang="en-US" sz="2000" dirty="0"/>
              <a:t>An assembly is composed of four sections. </a:t>
            </a:r>
          </a:p>
          <a:p>
            <a:r>
              <a:rPr lang="en-US" sz="2000" dirty="0"/>
              <a:t>The first is the assembly </a:t>
            </a:r>
            <a:r>
              <a:rPr lang="en-US" sz="2000" i="1" dirty="0"/>
              <a:t>manifest. The manifest </a:t>
            </a:r>
            <a:r>
              <a:rPr lang="en-US" sz="2000" dirty="0"/>
              <a:t>contains information about the assembly, itself. This data includes such things as the name of the assembly, its version number, type mapping information, and cultural settings. </a:t>
            </a:r>
          </a:p>
          <a:p>
            <a:r>
              <a:rPr lang="en-US" sz="2000" dirty="0"/>
              <a:t>The second section is </a:t>
            </a:r>
            <a:r>
              <a:rPr lang="en-US" sz="2000" i="1" dirty="0"/>
              <a:t>type metadata, which is information about the data types used by the program. </a:t>
            </a:r>
            <a:r>
              <a:rPr lang="en-US" sz="2000" dirty="0"/>
              <a:t>Among other benefits, type metadata aids in cross-language interoperability.</a:t>
            </a:r>
          </a:p>
          <a:p>
            <a:r>
              <a:rPr lang="en-US" sz="2000" dirty="0"/>
              <a:t> The third part of an assembly is the </a:t>
            </a:r>
            <a:r>
              <a:rPr lang="en-US" sz="2000" i="1" dirty="0"/>
              <a:t>program code, which is stored in Microsoft Intermediate Language </a:t>
            </a:r>
            <a:r>
              <a:rPr lang="en-US" sz="2000" dirty="0"/>
              <a:t>(MSIL) format. </a:t>
            </a:r>
          </a:p>
          <a:p>
            <a:r>
              <a:rPr lang="en-US" sz="2000" dirty="0"/>
              <a:t>The fourth constituent of an assembly is the resources used by the program.</a:t>
            </a:r>
          </a:p>
          <a:p>
            <a:r>
              <a:rPr lang="en-US" sz="2000" dirty="0"/>
              <a:t>Fortunately, when using C#, assemblies are produced automatically, with little or no extra effort on your part. The reason for this is that the </a:t>
            </a:r>
            <a:r>
              <a:rPr lang="en-US" sz="2000" b="1" dirty="0"/>
              <a:t>exe file created when you compile </a:t>
            </a:r>
            <a:r>
              <a:rPr lang="en-US" sz="2000" dirty="0"/>
              <a:t>a C# program is actually an assembly that contains your program’s executable code as  well as other types of information. </a:t>
            </a:r>
          </a:p>
          <a:p>
            <a:r>
              <a:rPr lang="en-US" sz="2000" dirty="0"/>
              <a:t>Thus, when you compile a C# program, an assembly is automatically produced.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26C5F-7305-4FF3-9742-8E8D7891CA84}"/>
              </a:ext>
            </a:extLst>
          </p:cNvPr>
          <p:cNvSpPr>
            <a:spLocks noGrp="1"/>
          </p:cNvSpPr>
          <p:nvPr>
            <p:ph type="title"/>
          </p:nvPr>
        </p:nvSpPr>
        <p:spPr/>
        <p:txBody>
          <a:bodyPr/>
          <a:lstStyle/>
          <a:p>
            <a:endParaRPr lang="en-IN"/>
          </a:p>
        </p:txBody>
      </p:sp>
      <p:graphicFrame>
        <p:nvGraphicFramePr>
          <p:cNvPr id="4" name="Table 4">
            <a:extLst>
              <a:ext uri="{FF2B5EF4-FFF2-40B4-BE49-F238E27FC236}">
                <a16:creationId xmlns:a16="http://schemas.microsoft.com/office/drawing/2014/main" id="{0964880C-532A-483B-A9C0-DF8486EAD9C8}"/>
              </a:ext>
            </a:extLst>
          </p:cNvPr>
          <p:cNvGraphicFramePr>
            <a:graphicFrameLocks noGrp="1"/>
          </p:cNvGraphicFramePr>
          <p:nvPr>
            <p:ph idx="1"/>
            <p:extLst>
              <p:ext uri="{D42A27DB-BD31-4B8C-83A1-F6EECF244321}">
                <p14:modId xmlns:p14="http://schemas.microsoft.com/office/powerpoint/2010/main" val="748068874"/>
              </p:ext>
            </p:extLst>
          </p:nvPr>
        </p:nvGraphicFramePr>
        <p:xfrm>
          <a:off x="457200" y="1600200"/>
          <a:ext cx="3048000" cy="464758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3079220187"/>
                    </a:ext>
                  </a:extLst>
                </a:gridCol>
              </a:tblGrid>
              <a:tr h="1338373">
                <a:tc>
                  <a:txBody>
                    <a:bodyPr/>
                    <a:lstStyle/>
                    <a:p>
                      <a:r>
                        <a:rPr lang="en-IN" dirty="0"/>
                        <a:t>Manifest</a:t>
                      </a:r>
                    </a:p>
                    <a:p>
                      <a:pPr marL="285750" indent="-285750">
                        <a:buFont typeface="Arial" panose="020B0604020202020204" pitchFamily="34" charset="0"/>
                        <a:buChar char="•"/>
                      </a:pPr>
                      <a:r>
                        <a:rPr lang="en-IN" dirty="0"/>
                        <a:t>Name of Assembly</a:t>
                      </a:r>
                    </a:p>
                    <a:p>
                      <a:pPr marL="285750" indent="-285750">
                        <a:buFont typeface="Arial" panose="020B0604020202020204" pitchFamily="34" charset="0"/>
                        <a:buChar char="•"/>
                      </a:pPr>
                      <a:r>
                        <a:rPr lang="en-IN" dirty="0"/>
                        <a:t>Version info</a:t>
                      </a:r>
                    </a:p>
                    <a:p>
                      <a:pPr marL="285750" indent="-285750">
                        <a:buFont typeface="Arial" panose="020B0604020202020204" pitchFamily="34" charset="0"/>
                        <a:buChar char="•"/>
                      </a:pPr>
                      <a:r>
                        <a:rPr lang="en-IN" dirty="0"/>
                        <a:t>Culture info</a:t>
                      </a:r>
                    </a:p>
                    <a:p>
                      <a:endParaRPr lang="en-IN" dirty="0"/>
                    </a:p>
                    <a:p>
                      <a:endParaRPr lang="en-IN" dirty="0"/>
                    </a:p>
                  </a:txBody>
                  <a:tcPr/>
                </a:tc>
                <a:extLst>
                  <a:ext uri="{0D108BD9-81ED-4DB2-BD59-A6C34878D82A}">
                    <a16:rowId xmlns:a16="http://schemas.microsoft.com/office/drawing/2014/main" val="3704117209"/>
                  </a:ext>
                </a:extLst>
              </a:tr>
              <a:tr h="704407">
                <a:tc>
                  <a:txBody>
                    <a:bodyPr/>
                    <a:lstStyle/>
                    <a:p>
                      <a:r>
                        <a:rPr lang="en-IN" dirty="0"/>
                        <a:t>Type Metadata</a:t>
                      </a:r>
                    </a:p>
                    <a:p>
                      <a:r>
                        <a:rPr lang="en-IN" dirty="0"/>
                        <a:t>(information about data type used in code)</a:t>
                      </a:r>
                    </a:p>
                  </a:txBody>
                  <a:tcPr/>
                </a:tc>
                <a:extLst>
                  <a:ext uri="{0D108BD9-81ED-4DB2-BD59-A6C34878D82A}">
                    <a16:rowId xmlns:a16="http://schemas.microsoft.com/office/drawing/2014/main" val="2360454911"/>
                  </a:ext>
                </a:extLst>
              </a:tr>
              <a:tr h="498955">
                <a:tc>
                  <a:txBody>
                    <a:bodyPr/>
                    <a:lstStyle/>
                    <a:p>
                      <a:r>
                        <a:rPr lang="en-IN" dirty="0"/>
                        <a:t>MSIL</a:t>
                      </a:r>
                    </a:p>
                  </a:txBody>
                  <a:tcPr/>
                </a:tc>
                <a:extLst>
                  <a:ext uri="{0D108BD9-81ED-4DB2-BD59-A6C34878D82A}">
                    <a16:rowId xmlns:a16="http://schemas.microsoft.com/office/drawing/2014/main" val="141734696"/>
                  </a:ext>
                </a:extLst>
              </a:tr>
              <a:tr h="1496865">
                <a:tc>
                  <a:txBody>
                    <a:bodyPr/>
                    <a:lstStyle/>
                    <a:p>
                      <a:r>
                        <a:rPr lang="en-IN" dirty="0"/>
                        <a:t>Resources like ( images, other dependent file)</a:t>
                      </a:r>
                    </a:p>
                  </a:txBody>
                  <a:tcPr/>
                </a:tc>
                <a:extLst>
                  <a:ext uri="{0D108BD9-81ED-4DB2-BD59-A6C34878D82A}">
                    <a16:rowId xmlns:a16="http://schemas.microsoft.com/office/drawing/2014/main" val="2667935287"/>
                  </a:ext>
                </a:extLst>
              </a:tr>
            </a:tbl>
          </a:graphicData>
        </a:graphic>
      </p:graphicFrame>
    </p:spTree>
    <p:extLst>
      <p:ext uri="{BB962C8B-B14F-4D97-AF65-F5344CB8AC3E}">
        <p14:creationId xmlns:p14="http://schemas.microsoft.com/office/powerpoint/2010/main" val="25201911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E97FA0-7DB2-4D0C-AC5B-D4FD5E714927}"/>
              </a:ext>
            </a:extLst>
          </p:cNvPr>
          <p:cNvSpPr>
            <a:spLocks noGrp="1"/>
          </p:cNvSpPr>
          <p:nvPr>
            <p:ph type="title"/>
          </p:nvPr>
        </p:nvSpPr>
        <p:spPr/>
        <p:txBody>
          <a:bodyPr/>
          <a:lstStyle/>
          <a:p>
            <a:r>
              <a:rPr lang="en-IN" dirty="0"/>
              <a:t>Private Assembly</a:t>
            </a:r>
          </a:p>
        </p:txBody>
      </p:sp>
      <p:sp>
        <p:nvSpPr>
          <p:cNvPr id="3" name="Content Placeholder 2">
            <a:extLst>
              <a:ext uri="{FF2B5EF4-FFF2-40B4-BE49-F238E27FC236}">
                <a16:creationId xmlns:a16="http://schemas.microsoft.com/office/drawing/2014/main" id="{6E737376-A765-4C48-92F5-F6F38E5A62D9}"/>
              </a:ext>
            </a:extLst>
          </p:cNvPr>
          <p:cNvSpPr>
            <a:spLocks noGrp="1"/>
          </p:cNvSpPr>
          <p:nvPr>
            <p:ph idx="1"/>
          </p:nvPr>
        </p:nvSpPr>
        <p:spPr/>
        <p:txBody>
          <a:bodyPr/>
          <a:lstStyle/>
          <a:p>
            <a:r>
              <a:rPr lang="en-IN" dirty="0"/>
              <a:t>When you create a class library and use it in your application it will create a local copy .</a:t>
            </a:r>
          </a:p>
          <a:p>
            <a:r>
              <a:rPr lang="en-IN" dirty="0" err="1"/>
              <a:t>Ie</a:t>
            </a:r>
            <a:r>
              <a:rPr lang="en-IN" dirty="0"/>
              <a:t>. per project it will have local copy.</a:t>
            </a:r>
          </a:p>
          <a:p>
            <a:r>
              <a:rPr lang="en-IN" dirty="0"/>
              <a:t>In future if you modify this class library then you have to add reference to each project again.</a:t>
            </a:r>
          </a:p>
          <a:p>
            <a:endParaRPr lang="en-IN" dirty="0"/>
          </a:p>
        </p:txBody>
      </p:sp>
    </p:spTree>
    <p:extLst>
      <p:ext uri="{BB962C8B-B14F-4D97-AF65-F5344CB8AC3E}">
        <p14:creationId xmlns:p14="http://schemas.microsoft.com/office/powerpoint/2010/main" val="25511205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E5903-CEC9-4275-87D4-A69999252138}"/>
              </a:ext>
            </a:extLst>
          </p:cNvPr>
          <p:cNvSpPr>
            <a:spLocks noGrp="1"/>
          </p:cNvSpPr>
          <p:nvPr>
            <p:ph type="title"/>
          </p:nvPr>
        </p:nvSpPr>
        <p:spPr/>
        <p:txBody>
          <a:bodyPr/>
          <a:lstStyle/>
          <a:p>
            <a:r>
              <a:rPr lang="en-IN" dirty="0"/>
              <a:t>Shared Assembly</a:t>
            </a:r>
          </a:p>
        </p:txBody>
      </p:sp>
      <p:sp>
        <p:nvSpPr>
          <p:cNvPr id="3" name="Content Placeholder 2">
            <a:extLst>
              <a:ext uri="{FF2B5EF4-FFF2-40B4-BE49-F238E27FC236}">
                <a16:creationId xmlns:a16="http://schemas.microsoft.com/office/drawing/2014/main" id="{73354419-F0F2-4EE8-A042-A330DE7EA396}"/>
              </a:ext>
            </a:extLst>
          </p:cNvPr>
          <p:cNvSpPr>
            <a:spLocks noGrp="1"/>
          </p:cNvSpPr>
          <p:nvPr>
            <p:ph idx="1"/>
          </p:nvPr>
        </p:nvSpPr>
        <p:spPr/>
        <p:txBody>
          <a:bodyPr/>
          <a:lstStyle/>
          <a:p>
            <a:r>
              <a:rPr lang="en-IN" dirty="0"/>
              <a:t>It allow you to put your Assembly in GAC-global Assembly cache</a:t>
            </a:r>
          </a:p>
          <a:p>
            <a:r>
              <a:rPr lang="en-IN" dirty="0"/>
              <a:t>All project can use the reference of that Assembly. </a:t>
            </a:r>
            <a:r>
              <a:rPr lang="en-IN" dirty="0" err="1"/>
              <a:t>Ie</a:t>
            </a:r>
            <a:r>
              <a:rPr lang="en-IN" dirty="0"/>
              <a:t>. no local copy get created</a:t>
            </a:r>
          </a:p>
          <a:p>
            <a:r>
              <a:rPr lang="en-IN"/>
              <a:t>It helps </a:t>
            </a:r>
            <a:r>
              <a:rPr lang="en-IN" dirty="0"/>
              <a:t>developer to manage versioning </a:t>
            </a:r>
          </a:p>
        </p:txBody>
      </p:sp>
    </p:spTree>
    <p:extLst>
      <p:ext uri="{BB962C8B-B14F-4D97-AF65-F5344CB8AC3E}">
        <p14:creationId xmlns:p14="http://schemas.microsoft.com/office/powerpoint/2010/main" val="3584461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EA10B-7E6F-406E-B50D-2F27B5024855}"/>
              </a:ext>
            </a:extLst>
          </p:cNvPr>
          <p:cNvSpPr>
            <a:spLocks noGrp="1"/>
          </p:cNvSpPr>
          <p:nvPr>
            <p:ph type="title"/>
          </p:nvPr>
        </p:nvSpPr>
        <p:spPr/>
        <p:txBody>
          <a:bodyPr/>
          <a:lstStyle/>
          <a:p>
            <a:r>
              <a:rPr lang="en-IN" dirty="0"/>
              <a:t>Satellite Assembly</a:t>
            </a:r>
          </a:p>
        </p:txBody>
      </p:sp>
      <p:sp>
        <p:nvSpPr>
          <p:cNvPr id="3" name="Content Placeholder 2">
            <a:extLst>
              <a:ext uri="{FF2B5EF4-FFF2-40B4-BE49-F238E27FC236}">
                <a16:creationId xmlns:a16="http://schemas.microsoft.com/office/drawing/2014/main" id="{58381CF4-7E29-4883-9E39-BC704E4978D5}"/>
              </a:ext>
            </a:extLst>
          </p:cNvPr>
          <p:cNvSpPr>
            <a:spLocks noGrp="1"/>
          </p:cNvSpPr>
          <p:nvPr>
            <p:ph idx="1"/>
          </p:nvPr>
        </p:nvSpPr>
        <p:spPr/>
        <p:txBody>
          <a:bodyPr>
            <a:normAutofit fontScale="92500" lnSpcReduction="20000"/>
          </a:bodyPr>
          <a:lstStyle/>
          <a:p>
            <a:r>
              <a:rPr lang="en-IN" dirty="0"/>
              <a:t>A satellite assembly is a .NET Framework assembly containing resources specific to a given language. Using satellite assemblies, you can place resources for different languages in different assemblies, and the correct assembly is loaded into memory only if the user selects to view the application in that language.</a:t>
            </a:r>
          </a:p>
          <a:p>
            <a:r>
              <a:rPr lang="en-IN" dirty="0"/>
              <a:t> In general, assemblies should contain culture-neutral resources. If you want to localize your assembly (for example use different strings for different locales) you should use satellite assemblies.</a:t>
            </a:r>
          </a:p>
          <a:p>
            <a:endParaRPr lang="en-IN" dirty="0"/>
          </a:p>
        </p:txBody>
      </p:sp>
    </p:spTree>
    <p:extLst>
      <p:ext uri="{BB962C8B-B14F-4D97-AF65-F5344CB8AC3E}">
        <p14:creationId xmlns:p14="http://schemas.microsoft.com/office/powerpoint/2010/main" val="40777519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C4FC7-1F23-4649-9521-33DF7E76121E}"/>
              </a:ext>
            </a:extLst>
          </p:cNvPr>
          <p:cNvSpPr>
            <a:spLocks noGrp="1"/>
          </p:cNvSpPr>
          <p:nvPr>
            <p:ph type="title"/>
          </p:nvPr>
        </p:nvSpPr>
        <p:spPr/>
        <p:txBody>
          <a:bodyPr/>
          <a:lstStyle/>
          <a:p>
            <a:r>
              <a:rPr lang="en-IN" dirty="0"/>
              <a:t>How to create class </a:t>
            </a:r>
            <a:r>
              <a:rPr lang="en-IN" dirty="0" err="1"/>
              <a:t>libraray</a:t>
            </a:r>
            <a:endParaRPr lang="en-IN" dirty="0"/>
          </a:p>
        </p:txBody>
      </p:sp>
      <p:sp>
        <p:nvSpPr>
          <p:cNvPr id="3" name="Content Placeholder 2">
            <a:extLst>
              <a:ext uri="{FF2B5EF4-FFF2-40B4-BE49-F238E27FC236}">
                <a16:creationId xmlns:a16="http://schemas.microsoft.com/office/drawing/2014/main" id="{E989F1D3-A9CD-4BC5-9E5B-3F3BC1749538}"/>
              </a:ext>
            </a:extLst>
          </p:cNvPr>
          <p:cNvSpPr>
            <a:spLocks noGrp="1"/>
          </p:cNvSpPr>
          <p:nvPr>
            <p:ph idx="1"/>
          </p:nvPr>
        </p:nvSpPr>
        <p:spPr/>
        <p:txBody>
          <a:bodyPr>
            <a:normAutofit fontScale="55000" lnSpcReduction="20000"/>
          </a:bodyPr>
          <a:lstStyle/>
          <a:p>
            <a:r>
              <a:rPr lang="en-US" dirty="0"/>
              <a:t>step 1</a:t>
            </a:r>
          </a:p>
          <a:p>
            <a:r>
              <a:rPr lang="en-US" dirty="0"/>
              <a:t>start visual studio</a:t>
            </a:r>
          </a:p>
          <a:p>
            <a:r>
              <a:rPr lang="en-US" dirty="0"/>
              <a:t>select </a:t>
            </a:r>
            <a:r>
              <a:rPr lang="en-US" dirty="0" err="1"/>
              <a:t>c#</a:t>
            </a:r>
            <a:r>
              <a:rPr lang="en-US" dirty="0"/>
              <a:t> on  left</a:t>
            </a:r>
          </a:p>
          <a:p>
            <a:r>
              <a:rPr lang="en-US" dirty="0"/>
              <a:t>select Class Library on right</a:t>
            </a:r>
          </a:p>
          <a:p>
            <a:r>
              <a:rPr lang="en-US" dirty="0"/>
              <a:t>Write code</a:t>
            </a:r>
          </a:p>
          <a:p>
            <a:r>
              <a:rPr lang="en-US" dirty="0"/>
              <a:t>save and compile</a:t>
            </a:r>
          </a:p>
          <a:p>
            <a:endParaRPr lang="en-US" dirty="0"/>
          </a:p>
          <a:p>
            <a:r>
              <a:rPr lang="en-US" dirty="0"/>
              <a:t>step 2</a:t>
            </a:r>
          </a:p>
          <a:p>
            <a:r>
              <a:rPr lang="en-US" dirty="0"/>
              <a:t>start visual studio </a:t>
            </a:r>
          </a:p>
          <a:p>
            <a:r>
              <a:rPr lang="en-US" dirty="0"/>
              <a:t>select </a:t>
            </a:r>
            <a:r>
              <a:rPr lang="en-US" dirty="0" err="1"/>
              <a:t>c#</a:t>
            </a:r>
            <a:r>
              <a:rPr lang="en-US" dirty="0"/>
              <a:t> on  left</a:t>
            </a:r>
          </a:p>
          <a:p>
            <a:r>
              <a:rPr lang="en-US" dirty="0"/>
              <a:t>select Console Application</a:t>
            </a:r>
          </a:p>
          <a:p>
            <a:endParaRPr lang="en-US" dirty="0"/>
          </a:p>
          <a:p>
            <a:r>
              <a:rPr lang="en-US" dirty="0"/>
              <a:t>in solution explorer right click on references -</a:t>
            </a:r>
          </a:p>
          <a:p>
            <a:r>
              <a:rPr lang="en-US" dirty="0"/>
              <a:t>add references and select your </a:t>
            </a:r>
            <a:r>
              <a:rPr lang="en-US" dirty="0" err="1"/>
              <a:t>dll</a:t>
            </a:r>
            <a:r>
              <a:rPr lang="en-US" dirty="0"/>
              <a:t> file from bin folder which you created in step 1</a:t>
            </a:r>
          </a:p>
          <a:p>
            <a:r>
              <a:rPr lang="en-US" dirty="0"/>
              <a:t>compile and run</a:t>
            </a:r>
          </a:p>
          <a:p>
            <a:r>
              <a:rPr lang="en-US" dirty="0"/>
              <a:t>This way we are creating private Assembly</a:t>
            </a:r>
            <a:endParaRPr lang="en-IN" dirty="0"/>
          </a:p>
        </p:txBody>
      </p:sp>
    </p:spTree>
    <p:extLst>
      <p:ext uri="{BB962C8B-B14F-4D97-AF65-F5344CB8AC3E}">
        <p14:creationId xmlns:p14="http://schemas.microsoft.com/office/powerpoint/2010/main" val="28257256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9558699-089A-963D-2E10-27063A7927D2}"/>
              </a:ext>
            </a:extLst>
          </p:cNvPr>
          <p:cNvPicPr>
            <a:picLocks noChangeAspect="1"/>
          </p:cNvPicPr>
          <p:nvPr/>
        </p:nvPicPr>
        <p:blipFill rotWithShape="1">
          <a:blip r:embed="rId2"/>
          <a:srcRect l="15833" t="1111" r="15000" b="11481"/>
          <a:stretch/>
        </p:blipFill>
        <p:spPr>
          <a:xfrm>
            <a:off x="1447800" y="914400"/>
            <a:ext cx="6324600" cy="4495800"/>
          </a:xfrm>
          <a:prstGeom prst="rect">
            <a:avLst/>
          </a:prstGeom>
        </p:spPr>
      </p:pic>
    </p:spTree>
    <p:extLst>
      <p:ext uri="{BB962C8B-B14F-4D97-AF65-F5344CB8AC3E}">
        <p14:creationId xmlns:p14="http://schemas.microsoft.com/office/powerpoint/2010/main" val="3632896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BD62A-C6EC-4699-B37A-E21EF358A8B5}"/>
              </a:ext>
            </a:extLst>
          </p:cNvPr>
          <p:cNvSpPr>
            <a:spLocks noGrp="1"/>
          </p:cNvSpPr>
          <p:nvPr>
            <p:ph type="title"/>
          </p:nvPr>
        </p:nvSpPr>
        <p:spPr/>
        <p:txBody>
          <a:bodyPr/>
          <a:lstStyle/>
          <a:p>
            <a:r>
              <a:rPr lang="en-IN" dirty="0"/>
              <a:t>Code for class Library</a:t>
            </a:r>
          </a:p>
        </p:txBody>
      </p:sp>
      <p:sp>
        <p:nvSpPr>
          <p:cNvPr id="3" name="Content Placeholder 2">
            <a:extLst>
              <a:ext uri="{FF2B5EF4-FFF2-40B4-BE49-F238E27FC236}">
                <a16:creationId xmlns:a16="http://schemas.microsoft.com/office/drawing/2014/main" id="{CE0ECF8B-6891-4DC0-A78E-A0DDE49C7D08}"/>
              </a:ext>
            </a:extLst>
          </p:cNvPr>
          <p:cNvSpPr>
            <a:spLocks noGrp="1"/>
          </p:cNvSpPr>
          <p:nvPr>
            <p:ph idx="1"/>
          </p:nvPr>
        </p:nvSpPr>
        <p:spPr>
          <a:xfrm>
            <a:off x="457200" y="1600201"/>
            <a:ext cx="4038600" cy="4419600"/>
          </a:xfrm>
        </p:spPr>
        <p:txBody>
          <a:bodyPr>
            <a:normAutofit fontScale="62500" lnSpcReduction="20000"/>
          </a:bodyPr>
          <a:lstStyle/>
          <a:p>
            <a:r>
              <a:rPr lang="en-IN" dirty="0"/>
              <a:t>using System;</a:t>
            </a:r>
          </a:p>
          <a:p>
            <a:endParaRPr lang="en-IN" dirty="0"/>
          </a:p>
          <a:p>
            <a:r>
              <a:rPr lang="en-IN" dirty="0"/>
              <a:t>namespace </a:t>
            </a:r>
            <a:r>
              <a:rPr lang="en-IN" dirty="0" err="1"/>
              <a:t>meth_lib</a:t>
            </a:r>
            <a:endParaRPr lang="en-IN" dirty="0"/>
          </a:p>
          <a:p>
            <a:r>
              <a:rPr lang="en-IN" dirty="0"/>
              <a:t>{</a:t>
            </a:r>
          </a:p>
          <a:p>
            <a:r>
              <a:rPr lang="en-IN" dirty="0"/>
              <a:t>    public class </a:t>
            </a:r>
            <a:r>
              <a:rPr lang="en-IN" dirty="0" err="1"/>
              <a:t>Mathclass</a:t>
            </a:r>
            <a:endParaRPr lang="en-IN" dirty="0"/>
          </a:p>
          <a:p>
            <a:pPr marL="0" indent="0">
              <a:buNone/>
            </a:pPr>
            <a:r>
              <a:rPr lang="en-IN" dirty="0"/>
              <a:t>    {</a:t>
            </a:r>
          </a:p>
          <a:p>
            <a:r>
              <a:rPr lang="en-IN" dirty="0"/>
              <a:t>        public int add(int x, int y)</a:t>
            </a:r>
          </a:p>
          <a:p>
            <a:r>
              <a:rPr lang="en-IN" dirty="0"/>
              <a:t>        {</a:t>
            </a:r>
          </a:p>
          <a:p>
            <a:r>
              <a:rPr lang="en-IN" dirty="0"/>
              <a:t>            return x + y;</a:t>
            </a:r>
          </a:p>
          <a:p>
            <a:r>
              <a:rPr lang="en-IN" dirty="0"/>
              <a:t>        </a:t>
            </a:r>
          </a:p>
          <a:p>
            <a:r>
              <a:rPr lang="en-IN" dirty="0"/>
              <a:t>        }</a:t>
            </a:r>
          </a:p>
          <a:p>
            <a:endParaRPr lang="en-IN" dirty="0"/>
          </a:p>
          <a:p>
            <a:r>
              <a:rPr lang="en-IN" dirty="0"/>
              <a:t>    }</a:t>
            </a:r>
          </a:p>
          <a:p>
            <a:r>
              <a:rPr lang="en-IN" dirty="0"/>
              <a:t>}</a:t>
            </a:r>
          </a:p>
          <a:p>
            <a:endParaRPr lang="en-IN" dirty="0"/>
          </a:p>
        </p:txBody>
      </p:sp>
      <p:sp>
        <p:nvSpPr>
          <p:cNvPr id="4" name="TextBox 3">
            <a:extLst>
              <a:ext uri="{FF2B5EF4-FFF2-40B4-BE49-F238E27FC236}">
                <a16:creationId xmlns:a16="http://schemas.microsoft.com/office/drawing/2014/main" id="{AE29F0F8-D200-468E-9A19-55452D3C5CB7}"/>
              </a:ext>
            </a:extLst>
          </p:cNvPr>
          <p:cNvSpPr txBox="1"/>
          <p:nvPr/>
        </p:nvSpPr>
        <p:spPr>
          <a:xfrm>
            <a:off x="4191000" y="2286000"/>
            <a:ext cx="4365975" cy="3139321"/>
          </a:xfrm>
          <a:prstGeom prst="rect">
            <a:avLst/>
          </a:prstGeom>
          <a:noFill/>
        </p:spPr>
        <p:txBody>
          <a:bodyPr wrap="square" rtlCol="0">
            <a:spAutoFit/>
          </a:bodyPr>
          <a:lstStyle/>
          <a:p>
            <a:pPr marL="285750" indent="-285750">
              <a:buFont typeface="Arial" panose="020B0604020202020204" pitchFamily="34" charset="0"/>
              <a:buChar char="•"/>
            </a:pPr>
            <a:r>
              <a:rPr lang="en-IN" dirty="0"/>
              <a:t>Observe no Main method</a:t>
            </a:r>
          </a:p>
          <a:p>
            <a:endParaRPr lang="en-IN" dirty="0"/>
          </a:p>
          <a:p>
            <a:pPr marL="285750" indent="-285750">
              <a:buFont typeface="Arial" panose="020B0604020202020204" pitchFamily="34" charset="0"/>
              <a:buChar char="•"/>
            </a:pPr>
            <a:r>
              <a:rPr lang="en-IN" dirty="0"/>
              <a:t>Your class must have public access modifier  otherwise  you can not access it in other project</a:t>
            </a:r>
          </a:p>
          <a:p>
            <a:endParaRPr lang="en-IN" dirty="0"/>
          </a:p>
          <a:p>
            <a:pPr marL="285750" indent="-285750">
              <a:buFont typeface="Arial" panose="020B0604020202020204" pitchFamily="34" charset="0"/>
              <a:buChar char="•"/>
            </a:pPr>
            <a:r>
              <a:rPr lang="en-IN" dirty="0"/>
              <a:t>Observe Method has public access modifier  only public method can be available in other project           </a:t>
            </a:r>
          </a:p>
          <a:p>
            <a:pPr marL="285750" indent="-285750">
              <a:buFont typeface="Arial" panose="020B0604020202020204" pitchFamily="34" charset="0"/>
              <a:buChar char="•"/>
            </a:pPr>
            <a:r>
              <a:rPr lang="en-IN" dirty="0"/>
              <a:t>When you compile this file you will get DLL file                                </a:t>
            </a:r>
          </a:p>
        </p:txBody>
      </p:sp>
    </p:spTree>
    <p:extLst>
      <p:ext uri="{BB962C8B-B14F-4D97-AF65-F5344CB8AC3E}">
        <p14:creationId xmlns:p14="http://schemas.microsoft.com/office/powerpoint/2010/main" val="21027193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0C54FA1-03F2-993D-4616-8D4FAD557B8C}"/>
              </a:ext>
            </a:extLst>
          </p:cNvPr>
          <p:cNvPicPr>
            <a:picLocks noChangeAspect="1"/>
          </p:cNvPicPr>
          <p:nvPr/>
        </p:nvPicPr>
        <p:blipFill rotWithShape="1">
          <a:blip r:embed="rId2"/>
          <a:srcRect l="15833" t="1112" r="19166" b="12963"/>
          <a:stretch/>
        </p:blipFill>
        <p:spPr>
          <a:xfrm>
            <a:off x="1752600" y="914400"/>
            <a:ext cx="5943600" cy="4419600"/>
          </a:xfrm>
          <a:prstGeom prst="rect">
            <a:avLst/>
          </a:prstGeom>
        </p:spPr>
      </p:pic>
    </p:spTree>
    <p:extLst>
      <p:ext uri="{BB962C8B-B14F-4D97-AF65-F5344CB8AC3E}">
        <p14:creationId xmlns:p14="http://schemas.microsoft.com/office/powerpoint/2010/main" val="23711830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0D01D15-E65D-9EC2-C1C6-95B460D894D9}"/>
              </a:ext>
            </a:extLst>
          </p:cNvPr>
          <p:cNvPicPr>
            <a:picLocks noChangeAspect="1"/>
          </p:cNvPicPr>
          <p:nvPr/>
        </p:nvPicPr>
        <p:blipFill>
          <a:blip r:embed="rId2"/>
          <a:stretch>
            <a:fillRect/>
          </a:stretch>
        </p:blipFill>
        <p:spPr>
          <a:xfrm>
            <a:off x="0" y="857250"/>
            <a:ext cx="9144000" cy="5143500"/>
          </a:xfrm>
          <a:prstGeom prst="rect">
            <a:avLst/>
          </a:prstGeom>
        </p:spPr>
      </p:pic>
    </p:spTree>
    <p:extLst>
      <p:ext uri="{BB962C8B-B14F-4D97-AF65-F5344CB8AC3E}">
        <p14:creationId xmlns:p14="http://schemas.microsoft.com/office/powerpoint/2010/main" val="20832501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63BD7-6BE7-4465-9DAC-BD588F85EDAB}"/>
              </a:ext>
            </a:extLst>
          </p:cNvPr>
          <p:cNvSpPr>
            <a:spLocks noGrp="1"/>
          </p:cNvSpPr>
          <p:nvPr>
            <p:ph type="title"/>
          </p:nvPr>
        </p:nvSpPr>
        <p:spPr/>
        <p:txBody>
          <a:bodyPr/>
          <a:lstStyle/>
          <a:p>
            <a:r>
              <a:rPr lang="en-IN" dirty="0"/>
              <a:t>Add reference of </a:t>
            </a:r>
            <a:r>
              <a:rPr lang="en-IN" dirty="0" err="1"/>
              <a:t>dll</a:t>
            </a:r>
            <a:r>
              <a:rPr lang="en-IN" dirty="0"/>
              <a:t> in console</a:t>
            </a:r>
          </a:p>
        </p:txBody>
      </p:sp>
      <p:sp>
        <p:nvSpPr>
          <p:cNvPr id="3" name="Content Placeholder 2">
            <a:extLst>
              <a:ext uri="{FF2B5EF4-FFF2-40B4-BE49-F238E27FC236}">
                <a16:creationId xmlns:a16="http://schemas.microsoft.com/office/drawing/2014/main" id="{CA71CAE9-2B74-4E0C-A75A-700C075FFE65}"/>
              </a:ext>
            </a:extLst>
          </p:cNvPr>
          <p:cNvSpPr>
            <a:spLocks noGrp="1"/>
          </p:cNvSpPr>
          <p:nvPr>
            <p:ph idx="1"/>
          </p:nvPr>
        </p:nvSpPr>
        <p:spPr>
          <a:xfrm>
            <a:off x="28280" y="1417638"/>
            <a:ext cx="4594782" cy="4449762"/>
          </a:xfrm>
        </p:spPr>
        <p:txBody>
          <a:bodyPr>
            <a:normAutofit fontScale="55000" lnSpcReduction="20000"/>
          </a:bodyPr>
          <a:lstStyle/>
          <a:p>
            <a:r>
              <a:rPr lang="en-IN" dirty="0"/>
              <a:t>using System;</a:t>
            </a:r>
          </a:p>
          <a:p>
            <a:r>
              <a:rPr lang="en-IN" dirty="0"/>
              <a:t>using </a:t>
            </a:r>
            <a:r>
              <a:rPr lang="en-IN" dirty="0" err="1"/>
              <a:t>meth_lib</a:t>
            </a:r>
            <a:r>
              <a:rPr lang="en-IN" dirty="0"/>
              <a:t>;// namespace of </a:t>
            </a:r>
            <a:r>
              <a:rPr lang="en-IN" dirty="0" err="1"/>
              <a:t>classlibrary</a:t>
            </a:r>
            <a:endParaRPr lang="en-IN" dirty="0"/>
          </a:p>
          <a:p>
            <a:endParaRPr lang="en-IN" dirty="0"/>
          </a:p>
          <a:p>
            <a:r>
              <a:rPr lang="en-IN" dirty="0"/>
              <a:t>namespace </a:t>
            </a:r>
            <a:r>
              <a:rPr lang="en-IN" dirty="0" err="1"/>
              <a:t>useassembly</a:t>
            </a:r>
            <a:endParaRPr lang="en-IN" dirty="0"/>
          </a:p>
          <a:p>
            <a:r>
              <a:rPr lang="en-IN" dirty="0"/>
              <a:t>{</a:t>
            </a:r>
          </a:p>
          <a:p>
            <a:r>
              <a:rPr lang="en-IN" dirty="0"/>
              <a:t>    class Program</a:t>
            </a:r>
          </a:p>
          <a:p>
            <a:r>
              <a:rPr lang="en-IN" dirty="0"/>
              <a:t>    {</a:t>
            </a:r>
          </a:p>
          <a:p>
            <a:r>
              <a:rPr lang="en-IN" dirty="0"/>
              <a:t>        static void Main(string[] </a:t>
            </a:r>
            <a:r>
              <a:rPr lang="en-IN" dirty="0" err="1"/>
              <a:t>args</a:t>
            </a:r>
            <a:r>
              <a:rPr lang="en-IN" dirty="0"/>
              <a:t>)</a:t>
            </a:r>
          </a:p>
          <a:p>
            <a:r>
              <a:rPr lang="en-IN" dirty="0"/>
              <a:t>        {</a:t>
            </a:r>
          </a:p>
          <a:p>
            <a:r>
              <a:rPr lang="en-IN" dirty="0"/>
              <a:t>            </a:t>
            </a:r>
            <a:r>
              <a:rPr lang="en-IN" dirty="0" err="1"/>
              <a:t>Mathclass</a:t>
            </a:r>
            <a:r>
              <a:rPr lang="en-IN" dirty="0"/>
              <a:t> m = new </a:t>
            </a:r>
            <a:r>
              <a:rPr lang="en-IN" dirty="0" err="1"/>
              <a:t>Mathclass</a:t>
            </a:r>
            <a:r>
              <a:rPr lang="en-IN" dirty="0"/>
              <a:t>();</a:t>
            </a:r>
          </a:p>
          <a:p>
            <a:r>
              <a:rPr lang="en-IN" dirty="0"/>
              <a:t>           int r= </a:t>
            </a:r>
            <a:r>
              <a:rPr lang="en-IN" dirty="0" err="1"/>
              <a:t>m.add</a:t>
            </a:r>
            <a:r>
              <a:rPr lang="en-IN" dirty="0"/>
              <a:t>(5, 4);</a:t>
            </a:r>
          </a:p>
          <a:p>
            <a:r>
              <a:rPr lang="en-IN" dirty="0"/>
              <a:t>           </a:t>
            </a:r>
            <a:r>
              <a:rPr lang="en-IN" dirty="0" err="1"/>
              <a:t>Console.WriteLine</a:t>
            </a:r>
            <a:r>
              <a:rPr lang="en-IN" dirty="0"/>
              <a:t>(r);</a:t>
            </a:r>
          </a:p>
          <a:p>
            <a:r>
              <a:rPr lang="en-IN" dirty="0"/>
              <a:t>           </a:t>
            </a:r>
            <a:r>
              <a:rPr lang="en-IN" dirty="0" err="1"/>
              <a:t>Console.ReadLine</a:t>
            </a:r>
            <a:r>
              <a:rPr lang="en-IN" dirty="0"/>
              <a:t>();</a:t>
            </a:r>
          </a:p>
          <a:p>
            <a:r>
              <a:rPr lang="en-IN" dirty="0"/>
              <a:t>        }</a:t>
            </a:r>
          </a:p>
          <a:p>
            <a:r>
              <a:rPr lang="en-IN" dirty="0"/>
              <a:t>    }</a:t>
            </a:r>
          </a:p>
          <a:p>
            <a:r>
              <a:rPr lang="en-IN" dirty="0"/>
              <a:t>}</a:t>
            </a:r>
          </a:p>
          <a:p>
            <a:endParaRPr lang="en-IN" dirty="0"/>
          </a:p>
        </p:txBody>
      </p:sp>
      <p:sp>
        <p:nvSpPr>
          <p:cNvPr id="4" name="TextBox 3">
            <a:extLst>
              <a:ext uri="{FF2B5EF4-FFF2-40B4-BE49-F238E27FC236}">
                <a16:creationId xmlns:a16="http://schemas.microsoft.com/office/drawing/2014/main" id="{DFB51F82-F571-4D86-86ED-5B6D07D11642}"/>
              </a:ext>
            </a:extLst>
          </p:cNvPr>
          <p:cNvSpPr txBox="1"/>
          <p:nvPr/>
        </p:nvSpPr>
        <p:spPr>
          <a:xfrm>
            <a:off x="4623062" y="1676400"/>
            <a:ext cx="4724400" cy="4524315"/>
          </a:xfrm>
          <a:prstGeom prst="rect">
            <a:avLst/>
          </a:prstGeom>
          <a:noFill/>
        </p:spPr>
        <p:txBody>
          <a:bodyPr wrap="square" rtlCol="0">
            <a:spAutoFit/>
          </a:bodyPr>
          <a:lstStyle/>
          <a:p>
            <a:r>
              <a:rPr lang="en-IN" dirty="0"/>
              <a:t>Observe we have to add namespace</a:t>
            </a:r>
          </a:p>
          <a:p>
            <a:endParaRPr lang="en-IN" dirty="0"/>
          </a:p>
          <a:p>
            <a:r>
              <a:rPr lang="en-IN" dirty="0"/>
              <a:t>using </a:t>
            </a:r>
            <a:r>
              <a:rPr lang="en-IN" dirty="0" err="1"/>
              <a:t>meth_lib</a:t>
            </a:r>
            <a:endParaRPr lang="en-IN" dirty="0"/>
          </a:p>
          <a:p>
            <a:endParaRPr lang="en-IN" dirty="0"/>
          </a:p>
          <a:p>
            <a:r>
              <a:rPr lang="en-IN" dirty="0"/>
              <a:t>If you do not want to write using </a:t>
            </a:r>
          </a:p>
          <a:p>
            <a:r>
              <a:rPr lang="en-IN" dirty="0"/>
              <a:t> could have written</a:t>
            </a:r>
          </a:p>
          <a:p>
            <a:endParaRPr lang="en-IN" dirty="0"/>
          </a:p>
          <a:p>
            <a:r>
              <a:rPr lang="en-IN" dirty="0" err="1"/>
              <a:t>meth_lib.Mathclass</a:t>
            </a:r>
            <a:r>
              <a:rPr lang="en-IN" dirty="0"/>
              <a:t> m= </a:t>
            </a:r>
            <a:r>
              <a:rPr lang="en-IN" dirty="0" err="1"/>
              <a:t>meth_lib.Mathclass</a:t>
            </a:r>
            <a:r>
              <a:rPr lang="en-IN" dirty="0"/>
              <a:t> ();</a:t>
            </a:r>
          </a:p>
          <a:p>
            <a:endParaRPr lang="en-IN" dirty="0"/>
          </a:p>
          <a:p>
            <a:endParaRPr lang="en-IN" dirty="0"/>
          </a:p>
          <a:p>
            <a:r>
              <a:rPr lang="en-IN" dirty="0"/>
              <a:t>But in this you have to use name space every time. Using statement become more convenient</a:t>
            </a:r>
          </a:p>
          <a:p>
            <a:endParaRPr lang="en-IN" dirty="0"/>
          </a:p>
          <a:p>
            <a:endParaRPr lang="en-IN" dirty="0"/>
          </a:p>
          <a:p>
            <a:endParaRPr lang="en-IN" dirty="0"/>
          </a:p>
          <a:p>
            <a:endParaRPr lang="en-IN" dirty="0"/>
          </a:p>
        </p:txBody>
      </p:sp>
    </p:spTree>
    <p:extLst>
      <p:ext uri="{BB962C8B-B14F-4D97-AF65-F5344CB8AC3E}">
        <p14:creationId xmlns:p14="http://schemas.microsoft.com/office/powerpoint/2010/main" val="33389540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6320C-BC84-45C6-9E93-A7A7A95ABEF3}"/>
              </a:ext>
            </a:extLst>
          </p:cNvPr>
          <p:cNvSpPr>
            <a:spLocks noGrp="1"/>
          </p:cNvSpPr>
          <p:nvPr>
            <p:ph type="title"/>
          </p:nvPr>
        </p:nvSpPr>
        <p:spPr/>
        <p:txBody>
          <a:bodyPr/>
          <a:lstStyle/>
          <a:p>
            <a:r>
              <a:rPr lang="en-IN" dirty="0"/>
              <a:t>How to create shared </a:t>
            </a:r>
            <a:r>
              <a:rPr lang="en-IN" dirty="0" err="1"/>
              <a:t>Assebly</a:t>
            </a:r>
            <a:endParaRPr lang="en-IN" dirty="0"/>
          </a:p>
        </p:txBody>
      </p:sp>
      <p:sp>
        <p:nvSpPr>
          <p:cNvPr id="3" name="Content Placeholder 2">
            <a:extLst>
              <a:ext uri="{FF2B5EF4-FFF2-40B4-BE49-F238E27FC236}">
                <a16:creationId xmlns:a16="http://schemas.microsoft.com/office/drawing/2014/main" id="{F6DBBF62-ABC3-4D76-8CC2-57406143577D}"/>
              </a:ext>
            </a:extLst>
          </p:cNvPr>
          <p:cNvSpPr>
            <a:spLocks noGrp="1"/>
          </p:cNvSpPr>
          <p:nvPr>
            <p:ph idx="1"/>
          </p:nvPr>
        </p:nvSpPr>
        <p:spPr/>
        <p:txBody>
          <a:bodyPr/>
          <a:lstStyle/>
          <a:p>
            <a:r>
              <a:rPr lang="en-IN" dirty="0"/>
              <a:t>Create class </a:t>
            </a:r>
            <a:r>
              <a:rPr lang="en-IN" dirty="0" err="1"/>
              <a:t>libraray</a:t>
            </a:r>
            <a:endParaRPr lang="en-IN" dirty="0"/>
          </a:p>
          <a:p>
            <a:r>
              <a:rPr lang="en-IN" dirty="0"/>
              <a:t>Signe the Assembly</a:t>
            </a:r>
          </a:p>
          <a:p>
            <a:r>
              <a:rPr lang="en-IN" dirty="0"/>
              <a:t>Add it in GAC</a:t>
            </a:r>
          </a:p>
        </p:txBody>
      </p:sp>
    </p:spTree>
    <p:extLst>
      <p:ext uri="{BB962C8B-B14F-4D97-AF65-F5344CB8AC3E}">
        <p14:creationId xmlns:p14="http://schemas.microsoft.com/office/powerpoint/2010/main" val="3917935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F67B8-DBA5-4E5A-9B70-234836834C86}"/>
              </a:ext>
            </a:extLst>
          </p:cNvPr>
          <p:cNvSpPr>
            <a:spLocks noGrp="1"/>
          </p:cNvSpPr>
          <p:nvPr>
            <p:ph type="title"/>
          </p:nvPr>
        </p:nvSpPr>
        <p:spPr/>
        <p:txBody>
          <a:bodyPr/>
          <a:lstStyle/>
          <a:p>
            <a:r>
              <a:rPr lang="en-IN" dirty="0"/>
              <a:t>How to </a:t>
            </a:r>
            <a:r>
              <a:rPr lang="en-IN" dirty="0" err="1"/>
              <a:t>signe</a:t>
            </a:r>
            <a:r>
              <a:rPr lang="en-IN" dirty="0"/>
              <a:t> Assembly</a:t>
            </a:r>
          </a:p>
        </p:txBody>
      </p:sp>
      <p:sp>
        <p:nvSpPr>
          <p:cNvPr id="3" name="Content Placeholder 2">
            <a:extLst>
              <a:ext uri="{FF2B5EF4-FFF2-40B4-BE49-F238E27FC236}">
                <a16:creationId xmlns:a16="http://schemas.microsoft.com/office/drawing/2014/main" id="{21EA7083-1A1E-4FA6-A52C-98F471E18596}"/>
              </a:ext>
            </a:extLst>
          </p:cNvPr>
          <p:cNvSpPr>
            <a:spLocks noGrp="1"/>
          </p:cNvSpPr>
          <p:nvPr>
            <p:ph idx="1"/>
          </p:nvPr>
        </p:nvSpPr>
        <p:spPr/>
        <p:txBody>
          <a:bodyPr>
            <a:normAutofit fontScale="92500" lnSpcReduction="20000"/>
          </a:bodyPr>
          <a:lstStyle/>
          <a:p>
            <a:r>
              <a:rPr lang="en-US" dirty="0"/>
              <a:t>right click on project in solution explorer</a:t>
            </a:r>
          </a:p>
          <a:p>
            <a:r>
              <a:rPr lang="en-US" dirty="0"/>
              <a:t>click on signing</a:t>
            </a:r>
          </a:p>
          <a:p>
            <a:r>
              <a:rPr lang="en-US" dirty="0"/>
              <a:t>type name (</a:t>
            </a:r>
            <a:r>
              <a:rPr lang="en-US" dirty="0" err="1"/>
              <a:t>eg.</a:t>
            </a:r>
            <a:r>
              <a:rPr lang="en-US" dirty="0"/>
              <a:t> </a:t>
            </a:r>
            <a:r>
              <a:rPr lang="en-US" dirty="0" err="1"/>
              <a:t>mysnk</a:t>
            </a:r>
            <a:r>
              <a:rPr lang="en-US" dirty="0"/>
              <a:t>) it can be any name</a:t>
            </a:r>
          </a:p>
          <a:p>
            <a:r>
              <a:rPr lang="en-US" dirty="0"/>
              <a:t>Save</a:t>
            </a:r>
          </a:p>
          <a:p>
            <a:r>
              <a:rPr lang="en-US" dirty="0"/>
              <a:t>//following </a:t>
            </a:r>
            <a:r>
              <a:rPr lang="en-US" dirty="0" err="1"/>
              <a:t>staps</a:t>
            </a:r>
            <a:r>
              <a:rPr lang="en-US" dirty="0"/>
              <a:t> not required in .NET Core</a:t>
            </a:r>
          </a:p>
          <a:p>
            <a:r>
              <a:rPr lang="en-US" dirty="0"/>
              <a:t>go to assembly file</a:t>
            </a:r>
          </a:p>
          <a:p>
            <a:r>
              <a:rPr lang="en-US" dirty="0"/>
              <a:t>and add</a:t>
            </a:r>
          </a:p>
          <a:p>
            <a:endParaRPr lang="en-US" dirty="0"/>
          </a:p>
          <a:p>
            <a:r>
              <a:rPr lang="en-US" dirty="0"/>
              <a:t>[assembly :</a:t>
            </a:r>
            <a:r>
              <a:rPr lang="en-US" dirty="0" err="1"/>
              <a:t>AssemblyKeyFile</a:t>
            </a:r>
            <a:r>
              <a:rPr lang="en-US" dirty="0"/>
              <a:t>("</a:t>
            </a:r>
            <a:r>
              <a:rPr lang="en-US" dirty="0" err="1"/>
              <a:t>mysnk.snk</a:t>
            </a:r>
            <a:r>
              <a:rPr lang="en-US" dirty="0"/>
              <a:t>")]</a:t>
            </a:r>
            <a:endParaRPr lang="en-IN" dirty="0"/>
          </a:p>
        </p:txBody>
      </p:sp>
    </p:spTree>
    <p:extLst>
      <p:ext uri="{BB962C8B-B14F-4D97-AF65-F5344CB8AC3E}">
        <p14:creationId xmlns:p14="http://schemas.microsoft.com/office/powerpoint/2010/main" val="20742075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2916D50-D239-B06A-EB40-FA4ED8D368C0}"/>
              </a:ext>
            </a:extLst>
          </p:cNvPr>
          <p:cNvPicPr>
            <a:picLocks noChangeAspect="1"/>
          </p:cNvPicPr>
          <p:nvPr/>
        </p:nvPicPr>
        <p:blipFill>
          <a:blip r:embed="rId2"/>
          <a:stretch>
            <a:fillRect/>
          </a:stretch>
        </p:blipFill>
        <p:spPr>
          <a:xfrm>
            <a:off x="0" y="1028700"/>
            <a:ext cx="8839200" cy="4972050"/>
          </a:xfrm>
          <a:prstGeom prst="rect">
            <a:avLst/>
          </a:prstGeom>
        </p:spPr>
      </p:pic>
      <p:sp>
        <p:nvSpPr>
          <p:cNvPr id="9" name="TextBox 8">
            <a:extLst>
              <a:ext uri="{FF2B5EF4-FFF2-40B4-BE49-F238E27FC236}">
                <a16:creationId xmlns:a16="http://schemas.microsoft.com/office/drawing/2014/main" id="{B0E73355-982E-2A3B-3714-057D648637FA}"/>
              </a:ext>
            </a:extLst>
          </p:cNvPr>
          <p:cNvSpPr txBox="1"/>
          <p:nvPr/>
        </p:nvSpPr>
        <p:spPr>
          <a:xfrm>
            <a:off x="0" y="115669"/>
            <a:ext cx="8839200" cy="923330"/>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IN" b="0" i="0" dirty="0">
                <a:solidFill>
                  <a:srgbClr val="232629"/>
                </a:solidFill>
                <a:effectLst/>
                <a:latin typeface="ui-monospace"/>
              </a:rPr>
              <a:t>How to sign </a:t>
            </a:r>
            <a:r>
              <a:rPr lang="en-IN" b="0" i="0" dirty="0">
                <a:solidFill>
                  <a:srgbClr val="232629"/>
                </a:solidFill>
                <a:effectLst/>
                <a:latin typeface="ui-monospace"/>
                <a:sym typeface="Wingdings" panose="05000000000000000000" pitchFamily="2" charset="2"/>
              </a:rPr>
              <a:t> go to command prompt type following line where </a:t>
            </a:r>
            <a:r>
              <a:rPr lang="en-IN" b="0" i="0" dirty="0" err="1">
                <a:solidFill>
                  <a:srgbClr val="232629"/>
                </a:solidFill>
                <a:effectLst/>
                <a:latin typeface="ui-monospace"/>
                <a:sym typeface="Wingdings" panose="05000000000000000000" pitchFamily="2" charset="2"/>
              </a:rPr>
              <a:t>mykey</a:t>
            </a:r>
            <a:r>
              <a:rPr lang="en-IN" b="0" i="0" dirty="0">
                <a:solidFill>
                  <a:srgbClr val="232629"/>
                </a:solidFill>
                <a:effectLst/>
                <a:latin typeface="ui-monospace"/>
                <a:sym typeface="Wingdings" panose="05000000000000000000" pitchFamily="2" charset="2"/>
              </a:rPr>
              <a:t> is file name</a:t>
            </a:r>
            <a:endParaRPr lang="en-IN" b="0" i="0" dirty="0">
              <a:solidFill>
                <a:srgbClr val="232629"/>
              </a:solidFill>
              <a:effectLst/>
              <a:latin typeface="ui-monospace"/>
            </a:endParaRPr>
          </a:p>
          <a:p>
            <a:r>
              <a:rPr lang="en-IN" b="0" i="0" dirty="0" err="1">
                <a:solidFill>
                  <a:srgbClr val="232629"/>
                </a:solidFill>
                <a:effectLst/>
                <a:latin typeface="ui-monospace"/>
              </a:rPr>
              <a:t>sn</a:t>
            </a:r>
            <a:r>
              <a:rPr lang="en-IN" b="0" i="0" dirty="0">
                <a:solidFill>
                  <a:srgbClr val="232629"/>
                </a:solidFill>
                <a:effectLst/>
                <a:latin typeface="ui-monospace"/>
              </a:rPr>
              <a:t> -k </a:t>
            </a:r>
            <a:r>
              <a:rPr lang="en-IN" b="0" i="0" dirty="0" err="1">
                <a:solidFill>
                  <a:srgbClr val="232629"/>
                </a:solidFill>
                <a:effectLst/>
                <a:latin typeface="ui-monospace"/>
              </a:rPr>
              <a:t>mykey.snk</a:t>
            </a:r>
            <a:r>
              <a:rPr lang="en-IN" b="0" i="0" dirty="0">
                <a:solidFill>
                  <a:srgbClr val="232629"/>
                </a:solidFill>
                <a:effectLst/>
                <a:latin typeface="ui-monospace"/>
              </a:rPr>
              <a:t>   </a:t>
            </a:r>
          </a:p>
          <a:p>
            <a:r>
              <a:rPr lang="en-US" dirty="0">
                <a:solidFill>
                  <a:srgbClr val="232629"/>
                </a:solidFill>
                <a:latin typeface="ui-monospace"/>
              </a:rPr>
              <a:t>Open following screen and browse </a:t>
            </a:r>
            <a:r>
              <a:rPr lang="en-US" dirty="0" err="1">
                <a:solidFill>
                  <a:srgbClr val="232629"/>
                </a:solidFill>
                <a:latin typeface="ui-monospace"/>
              </a:rPr>
              <a:t>mysnk</a:t>
            </a:r>
            <a:r>
              <a:rPr lang="en-US" dirty="0">
                <a:solidFill>
                  <a:srgbClr val="232629"/>
                </a:solidFill>
                <a:latin typeface="ui-monospace"/>
              </a:rPr>
              <a:t> file and build</a:t>
            </a:r>
            <a:endParaRPr lang="en-IN" dirty="0"/>
          </a:p>
        </p:txBody>
      </p:sp>
      <p:sp>
        <p:nvSpPr>
          <p:cNvPr id="3" name="TextBox 2"/>
          <p:cNvSpPr txBox="1"/>
          <p:nvPr/>
        </p:nvSpPr>
        <p:spPr>
          <a:xfrm>
            <a:off x="152400" y="6172200"/>
            <a:ext cx="8534400" cy="369332"/>
          </a:xfrm>
          <a:prstGeom prst="rect">
            <a:avLst/>
          </a:prstGeom>
          <a:noFill/>
        </p:spPr>
        <p:txBody>
          <a:bodyPr wrap="square" rtlCol="0">
            <a:spAutoFit/>
          </a:bodyPr>
          <a:lstStyle/>
          <a:p>
            <a:r>
              <a:rPr lang="en-US" dirty="0"/>
              <a:t>Go to location of </a:t>
            </a:r>
            <a:r>
              <a:rPr lang="en-US" dirty="0" err="1"/>
              <a:t>dll</a:t>
            </a:r>
            <a:r>
              <a:rPr lang="en-US" dirty="0"/>
              <a:t> file and add it to </a:t>
            </a:r>
            <a:r>
              <a:rPr lang="en-US" dirty="0" err="1"/>
              <a:t>gac</a:t>
            </a:r>
            <a:r>
              <a:rPr lang="en-US" dirty="0" err="1">
                <a:sym typeface="Wingdings" panose="05000000000000000000" pitchFamily="2" charset="2"/>
              </a:rPr>
              <a:t>gacutil</a:t>
            </a:r>
            <a:r>
              <a:rPr lang="en-US" dirty="0">
                <a:sym typeface="Wingdings" panose="05000000000000000000" pitchFamily="2" charset="2"/>
              </a:rPr>
              <a:t> –</a:t>
            </a:r>
            <a:r>
              <a:rPr lang="en-US" dirty="0" err="1">
                <a:sym typeface="Wingdings" panose="05000000000000000000" pitchFamily="2" charset="2"/>
              </a:rPr>
              <a:t>i</a:t>
            </a:r>
            <a:r>
              <a:rPr lang="en-US" dirty="0">
                <a:sym typeface="Wingdings" panose="05000000000000000000" pitchFamily="2" charset="2"/>
              </a:rPr>
              <a:t>  classlib.dll</a:t>
            </a:r>
            <a:endParaRPr lang="en-IN" dirty="0"/>
          </a:p>
        </p:txBody>
      </p:sp>
    </p:spTree>
    <p:extLst>
      <p:ext uri="{BB962C8B-B14F-4D97-AF65-F5344CB8AC3E}">
        <p14:creationId xmlns:p14="http://schemas.microsoft.com/office/powerpoint/2010/main" val="15945832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9EF2D-5E96-40DD-83BD-4038EC95F1A5}"/>
              </a:ext>
            </a:extLst>
          </p:cNvPr>
          <p:cNvSpPr>
            <a:spLocks noGrp="1"/>
          </p:cNvSpPr>
          <p:nvPr>
            <p:ph type="title"/>
          </p:nvPr>
        </p:nvSpPr>
        <p:spPr/>
        <p:txBody>
          <a:bodyPr/>
          <a:lstStyle/>
          <a:p>
            <a:r>
              <a:rPr lang="en-IN" dirty="0"/>
              <a:t>How to add in GAC</a:t>
            </a:r>
          </a:p>
        </p:txBody>
      </p:sp>
      <p:sp>
        <p:nvSpPr>
          <p:cNvPr id="3" name="Content Placeholder 2">
            <a:extLst>
              <a:ext uri="{FF2B5EF4-FFF2-40B4-BE49-F238E27FC236}">
                <a16:creationId xmlns:a16="http://schemas.microsoft.com/office/drawing/2014/main" id="{0E45A4EA-8AF3-46FD-8125-35A478F333D5}"/>
              </a:ext>
            </a:extLst>
          </p:cNvPr>
          <p:cNvSpPr>
            <a:spLocks noGrp="1"/>
          </p:cNvSpPr>
          <p:nvPr>
            <p:ph idx="1"/>
          </p:nvPr>
        </p:nvSpPr>
        <p:spPr>
          <a:xfrm>
            <a:off x="457200" y="1066800"/>
            <a:ext cx="8229600" cy="5059363"/>
          </a:xfrm>
        </p:spPr>
        <p:txBody>
          <a:bodyPr>
            <a:normAutofit fontScale="70000" lnSpcReduction="20000"/>
          </a:bodyPr>
          <a:lstStyle/>
          <a:p>
            <a:r>
              <a:rPr lang="en-IN" dirty="0"/>
              <a:t>start</a:t>
            </a:r>
          </a:p>
          <a:p>
            <a:r>
              <a:rPr lang="en-IN" dirty="0"/>
              <a:t>program</a:t>
            </a:r>
          </a:p>
          <a:p>
            <a:r>
              <a:rPr lang="en-IN" dirty="0"/>
              <a:t>Visual studio 2019</a:t>
            </a:r>
          </a:p>
          <a:p>
            <a:r>
              <a:rPr lang="en-IN" dirty="0"/>
              <a:t>Visual studio tool</a:t>
            </a:r>
          </a:p>
          <a:p>
            <a:r>
              <a:rPr lang="en-IN" dirty="0"/>
              <a:t>right click on </a:t>
            </a:r>
            <a:r>
              <a:rPr lang="en-IN" dirty="0" err="1"/>
              <a:t>cmd</a:t>
            </a:r>
            <a:r>
              <a:rPr lang="en-IN" dirty="0"/>
              <a:t> run as------------------ administrator------</a:t>
            </a:r>
          </a:p>
          <a:p>
            <a:endParaRPr lang="en-IN" dirty="0"/>
          </a:p>
          <a:p>
            <a:r>
              <a:rPr lang="en-IN" dirty="0"/>
              <a:t>and type</a:t>
            </a:r>
          </a:p>
          <a:p>
            <a:endParaRPr lang="en-IN" dirty="0"/>
          </a:p>
          <a:p>
            <a:r>
              <a:rPr lang="en-IN" dirty="0"/>
              <a:t>on  path of </a:t>
            </a:r>
            <a:r>
              <a:rPr lang="en-IN" dirty="0" err="1"/>
              <a:t>dll</a:t>
            </a:r>
            <a:r>
              <a:rPr lang="en-IN" dirty="0"/>
              <a:t> file  </a:t>
            </a:r>
            <a:r>
              <a:rPr lang="en-IN" dirty="0" err="1"/>
              <a:t>gacutil</a:t>
            </a:r>
            <a:r>
              <a:rPr lang="en-IN" dirty="0"/>
              <a:t> -</a:t>
            </a:r>
            <a:r>
              <a:rPr lang="en-IN" dirty="0" err="1"/>
              <a:t>i</a:t>
            </a:r>
            <a:r>
              <a:rPr lang="en-IN" dirty="0"/>
              <a:t>  lib. </a:t>
            </a:r>
            <a:r>
              <a:rPr lang="en-IN" dirty="0" err="1"/>
              <a:t>dll</a:t>
            </a:r>
            <a:r>
              <a:rPr lang="en-IN" dirty="0"/>
              <a:t> </a:t>
            </a:r>
          </a:p>
          <a:p>
            <a:endParaRPr lang="en-IN" dirty="0"/>
          </a:p>
          <a:p>
            <a:r>
              <a:rPr lang="en-IN" dirty="0"/>
              <a:t>D:\practice_dotnet\callib\callib\bin\Debug\ </a:t>
            </a:r>
            <a:r>
              <a:rPr lang="en-IN" dirty="0" err="1"/>
              <a:t>gacutil</a:t>
            </a:r>
            <a:r>
              <a:rPr lang="en-IN" dirty="0"/>
              <a:t> -</a:t>
            </a:r>
            <a:r>
              <a:rPr lang="en-IN" dirty="0" err="1"/>
              <a:t>i</a:t>
            </a:r>
            <a:r>
              <a:rPr lang="en-IN" dirty="0"/>
              <a:t>  lib. </a:t>
            </a:r>
            <a:r>
              <a:rPr lang="en-IN" dirty="0" err="1"/>
              <a:t>dll</a:t>
            </a:r>
            <a:r>
              <a:rPr lang="en-IN" dirty="0"/>
              <a:t> </a:t>
            </a:r>
          </a:p>
          <a:p>
            <a:endParaRPr lang="en-IN" dirty="0"/>
          </a:p>
          <a:p>
            <a:endParaRPr lang="en-IN" dirty="0"/>
          </a:p>
          <a:p>
            <a:r>
              <a:rPr lang="en-IN" dirty="0"/>
              <a:t>add reference to your project from the following path C:\Windows\Microsoft.NET\assembly\GAC_MSIL\ClassLibrary1</a:t>
            </a:r>
          </a:p>
        </p:txBody>
      </p:sp>
    </p:spTree>
    <p:extLst>
      <p:ext uri="{BB962C8B-B14F-4D97-AF65-F5344CB8AC3E}">
        <p14:creationId xmlns:p14="http://schemas.microsoft.com/office/powerpoint/2010/main" val="30184393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ACA8206-E3AC-6423-1CAF-04079B1AD2A7}"/>
              </a:ext>
            </a:extLst>
          </p:cNvPr>
          <p:cNvPicPr>
            <a:picLocks noChangeAspect="1"/>
          </p:cNvPicPr>
          <p:nvPr/>
        </p:nvPicPr>
        <p:blipFill rotWithShape="1">
          <a:blip r:embed="rId2"/>
          <a:srcRect l="24166" t="32223" r="17500" b="8518"/>
          <a:stretch/>
        </p:blipFill>
        <p:spPr>
          <a:xfrm>
            <a:off x="457200" y="685800"/>
            <a:ext cx="7867650" cy="4495800"/>
          </a:xfrm>
          <a:prstGeom prst="rect">
            <a:avLst/>
          </a:prstGeom>
        </p:spPr>
      </p:pic>
    </p:spTree>
    <p:extLst>
      <p:ext uri="{BB962C8B-B14F-4D97-AF65-F5344CB8AC3E}">
        <p14:creationId xmlns:p14="http://schemas.microsoft.com/office/powerpoint/2010/main" val="24513749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6A69894-64F4-9269-0E98-875CA3A1BD23}"/>
              </a:ext>
            </a:extLst>
          </p:cNvPr>
          <p:cNvPicPr>
            <a:picLocks noChangeAspect="1"/>
          </p:cNvPicPr>
          <p:nvPr/>
        </p:nvPicPr>
        <p:blipFill>
          <a:blip r:embed="rId2"/>
          <a:stretch>
            <a:fillRect/>
          </a:stretch>
        </p:blipFill>
        <p:spPr>
          <a:xfrm>
            <a:off x="2350577" y="1687679"/>
            <a:ext cx="4442845" cy="3482642"/>
          </a:xfrm>
          <a:prstGeom prst="rect">
            <a:avLst/>
          </a:prstGeom>
        </p:spPr>
      </p:pic>
      <p:sp>
        <p:nvSpPr>
          <p:cNvPr id="2" name="TextBox 1">
            <a:extLst>
              <a:ext uri="{FF2B5EF4-FFF2-40B4-BE49-F238E27FC236}">
                <a16:creationId xmlns:a16="http://schemas.microsoft.com/office/drawing/2014/main" id="{863F70E5-2369-8105-8661-BB04549A788B}"/>
              </a:ext>
            </a:extLst>
          </p:cNvPr>
          <p:cNvSpPr txBox="1"/>
          <p:nvPr/>
        </p:nvSpPr>
        <p:spPr>
          <a:xfrm>
            <a:off x="685800" y="76200"/>
            <a:ext cx="6400800" cy="369332"/>
          </a:xfrm>
          <a:prstGeom prst="rect">
            <a:avLst/>
          </a:prstGeom>
          <a:noFill/>
        </p:spPr>
        <p:txBody>
          <a:bodyPr wrap="square" rtlCol="0">
            <a:spAutoFit/>
          </a:bodyPr>
          <a:lstStyle/>
          <a:p>
            <a:r>
              <a:rPr lang="en-US" dirty="0"/>
              <a:t>How to Add reference</a:t>
            </a:r>
            <a:endParaRPr lang="en-IN" dirty="0"/>
          </a:p>
        </p:txBody>
      </p:sp>
    </p:spTree>
    <p:extLst>
      <p:ext uri="{BB962C8B-B14F-4D97-AF65-F5344CB8AC3E}">
        <p14:creationId xmlns:p14="http://schemas.microsoft.com/office/powerpoint/2010/main" val="30935837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817A1E-382E-4ED0-B254-A37FF7A14A52}"/>
              </a:ext>
            </a:extLst>
          </p:cNvPr>
          <p:cNvSpPr>
            <a:spLocks noGrp="1"/>
          </p:cNvSpPr>
          <p:nvPr>
            <p:ph idx="1"/>
          </p:nvPr>
        </p:nvSpPr>
        <p:spPr>
          <a:xfrm>
            <a:off x="381000" y="381000"/>
            <a:ext cx="8305800" cy="6172200"/>
          </a:xfrm>
        </p:spPr>
        <p:txBody>
          <a:bodyPr/>
          <a:lstStyle/>
          <a:p>
            <a:r>
              <a:rPr lang="en-IN" dirty="0"/>
              <a:t>Q1 create a class library having public method which will return square of a number use this </a:t>
            </a:r>
            <a:r>
              <a:rPr lang="en-IN" dirty="0" err="1"/>
              <a:t>dll</a:t>
            </a:r>
            <a:r>
              <a:rPr lang="en-IN" dirty="0"/>
              <a:t> file in your console application.(private Assembly)</a:t>
            </a:r>
          </a:p>
          <a:p>
            <a:r>
              <a:rPr lang="en-IN" dirty="0"/>
              <a:t>Q2. put your class </a:t>
            </a:r>
            <a:r>
              <a:rPr lang="en-IN" dirty="0" err="1"/>
              <a:t>libraray</a:t>
            </a:r>
            <a:r>
              <a:rPr lang="en-IN" dirty="0"/>
              <a:t> in GAC and use it in console application(Shared Assembly)</a:t>
            </a:r>
          </a:p>
        </p:txBody>
      </p:sp>
      <p:sp>
        <p:nvSpPr>
          <p:cNvPr id="4" name="Rectangle 3"/>
          <p:cNvSpPr/>
          <p:nvPr/>
        </p:nvSpPr>
        <p:spPr>
          <a:xfrm>
            <a:off x="838200" y="4572000"/>
            <a:ext cx="8305800" cy="646331"/>
          </a:xfrm>
          <a:prstGeom prst="rect">
            <a:avLst/>
          </a:prstGeom>
        </p:spPr>
        <p:txBody>
          <a:bodyPr wrap="square">
            <a:spAutoFit/>
          </a:bodyPr>
          <a:lstStyle/>
          <a:p>
            <a:r>
              <a:rPr lang="en-IN"/>
              <a:t>C:\Windows\Microsoft.NET\assembly\GAC_MSIL\ClassLibrarycore\v4.0_1.0.0.0__a4807bbf84f09258</a:t>
            </a:r>
            <a:endParaRPr lang="en-IN" dirty="0"/>
          </a:p>
        </p:txBody>
      </p:sp>
      <p:sp>
        <p:nvSpPr>
          <p:cNvPr id="5" name="Rectangle 4"/>
          <p:cNvSpPr/>
          <p:nvPr/>
        </p:nvSpPr>
        <p:spPr>
          <a:xfrm>
            <a:off x="1905000" y="5791200"/>
            <a:ext cx="3419269" cy="369332"/>
          </a:xfrm>
          <a:prstGeom prst="rect">
            <a:avLst/>
          </a:prstGeom>
        </p:spPr>
        <p:style>
          <a:lnRef idx="2">
            <a:schemeClr val="accent2"/>
          </a:lnRef>
          <a:fillRef idx="1">
            <a:schemeClr val="lt1"/>
          </a:fillRef>
          <a:effectRef idx="0">
            <a:schemeClr val="accent2"/>
          </a:effectRef>
          <a:fontRef idx="minor">
            <a:schemeClr val="dk1"/>
          </a:fontRef>
        </p:style>
        <p:txBody>
          <a:bodyPr wrap="none">
            <a:spAutoFit/>
          </a:bodyPr>
          <a:lstStyle/>
          <a:p>
            <a:r>
              <a:rPr lang="en-IN" dirty="0"/>
              <a:t>Microsoft.VisualStudio.Shell.11.0.dll</a:t>
            </a:r>
          </a:p>
        </p:txBody>
      </p:sp>
    </p:spTree>
    <p:extLst>
      <p:ext uri="{BB962C8B-B14F-4D97-AF65-F5344CB8AC3E}">
        <p14:creationId xmlns:p14="http://schemas.microsoft.com/office/powerpoint/2010/main" val="7747335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CEA79-8A94-4ED3-9478-C48C63669930}"/>
              </a:ext>
            </a:extLst>
          </p:cNvPr>
          <p:cNvSpPr>
            <a:spLocks noGrp="1"/>
          </p:cNvSpPr>
          <p:nvPr>
            <p:ph type="title"/>
          </p:nvPr>
        </p:nvSpPr>
        <p:spPr/>
        <p:txBody>
          <a:bodyPr/>
          <a:lstStyle/>
          <a:p>
            <a:r>
              <a:rPr lang="en-IN" dirty="0"/>
              <a:t>DLL Hell</a:t>
            </a:r>
          </a:p>
        </p:txBody>
      </p:sp>
      <p:sp>
        <p:nvSpPr>
          <p:cNvPr id="4" name="Oval 3">
            <a:extLst>
              <a:ext uri="{FF2B5EF4-FFF2-40B4-BE49-F238E27FC236}">
                <a16:creationId xmlns:a16="http://schemas.microsoft.com/office/drawing/2014/main" id="{49929532-5843-4870-9960-7B7133BC981C}"/>
              </a:ext>
            </a:extLst>
          </p:cNvPr>
          <p:cNvSpPr/>
          <p:nvPr/>
        </p:nvSpPr>
        <p:spPr>
          <a:xfrm>
            <a:off x="1447800" y="3886200"/>
            <a:ext cx="2514600" cy="838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Game A</a:t>
            </a:r>
          </a:p>
        </p:txBody>
      </p:sp>
      <p:sp>
        <p:nvSpPr>
          <p:cNvPr id="5" name="Rectangle 4">
            <a:extLst>
              <a:ext uri="{FF2B5EF4-FFF2-40B4-BE49-F238E27FC236}">
                <a16:creationId xmlns:a16="http://schemas.microsoft.com/office/drawing/2014/main" id="{70FF74CE-B332-42CD-B1B5-DD850F854CDC}"/>
              </a:ext>
            </a:extLst>
          </p:cNvPr>
          <p:cNvSpPr/>
          <p:nvPr/>
        </p:nvSpPr>
        <p:spPr>
          <a:xfrm>
            <a:off x="2362200" y="2057400"/>
            <a:ext cx="419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Shared   ABC. DLL///overwrite</a:t>
            </a:r>
          </a:p>
        </p:txBody>
      </p:sp>
      <p:sp>
        <p:nvSpPr>
          <p:cNvPr id="9" name="Content Placeholder 8">
            <a:extLst>
              <a:ext uri="{FF2B5EF4-FFF2-40B4-BE49-F238E27FC236}">
                <a16:creationId xmlns:a16="http://schemas.microsoft.com/office/drawing/2014/main" id="{6BF2E0E9-4943-4B48-8B59-8B50383FB2A8}"/>
              </a:ext>
            </a:extLst>
          </p:cNvPr>
          <p:cNvSpPr>
            <a:spLocks noGrp="1"/>
          </p:cNvSpPr>
          <p:nvPr>
            <p:ph idx="1"/>
          </p:nvPr>
        </p:nvSpPr>
        <p:spPr>
          <a:xfrm>
            <a:off x="5105400" y="3657600"/>
            <a:ext cx="3771900" cy="762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en-IN" dirty="0"/>
              <a:t>New Game A</a:t>
            </a:r>
          </a:p>
        </p:txBody>
      </p:sp>
      <p:cxnSp>
        <p:nvCxnSpPr>
          <p:cNvPr id="11" name="Straight Connector 10">
            <a:extLst>
              <a:ext uri="{FF2B5EF4-FFF2-40B4-BE49-F238E27FC236}">
                <a16:creationId xmlns:a16="http://schemas.microsoft.com/office/drawing/2014/main" id="{BC48AEA1-00DA-4508-B839-C746420177AD}"/>
              </a:ext>
            </a:extLst>
          </p:cNvPr>
          <p:cNvCxnSpPr/>
          <p:nvPr/>
        </p:nvCxnSpPr>
        <p:spPr>
          <a:xfrm flipH="1">
            <a:off x="1828800" y="5181600"/>
            <a:ext cx="1524000" cy="685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3A01DC0-EC21-4441-9E26-FC28AD0A6777}"/>
              </a:ext>
            </a:extLst>
          </p:cNvPr>
          <p:cNvCxnSpPr/>
          <p:nvPr/>
        </p:nvCxnSpPr>
        <p:spPr>
          <a:xfrm>
            <a:off x="2143432" y="5059362"/>
            <a:ext cx="1143000" cy="9144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70955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CEA79-8A94-4ED3-9478-C48C63669930}"/>
              </a:ext>
            </a:extLst>
          </p:cNvPr>
          <p:cNvSpPr>
            <a:spLocks noGrp="1"/>
          </p:cNvSpPr>
          <p:nvPr>
            <p:ph type="title"/>
          </p:nvPr>
        </p:nvSpPr>
        <p:spPr/>
        <p:txBody>
          <a:bodyPr/>
          <a:lstStyle/>
          <a:p>
            <a:r>
              <a:rPr lang="en-IN" dirty="0"/>
              <a:t>Versioning</a:t>
            </a:r>
          </a:p>
        </p:txBody>
      </p:sp>
      <p:sp>
        <p:nvSpPr>
          <p:cNvPr id="4" name="Oval 3">
            <a:extLst>
              <a:ext uri="{FF2B5EF4-FFF2-40B4-BE49-F238E27FC236}">
                <a16:creationId xmlns:a16="http://schemas.microsoft.com/office/drawing/2014/main" id="{49929532-5843-4870-9960-7B7133BC981C}"/>
              </a:ext>
            </a:extLst>
          </p:cNvPr>
          <p:cNvSpPr/>
          <p:nvPr/>
        </p:nvSpPr>
        <p:spPr>
          <a:xfrm>
            <a:off x="1447800" y="3886200"/>
            <a:ext cx="2514600" cy="838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Game A</a:t>
            </a:r>
          </a:p>
        </p:txBody>
      </p:sp>
      <p:sp>
        <p:nvSpPr>
          <p:cNvPr id="5" name="Rectangle 4">
            <a:extLst>
              <a:ext uri="{FF2B5EF4-FFF2-40B4-BE49-F238E27FC236}">
                <a16:creationId xmlns:a16="http://schemas.microsoft.com/office/drawing/2014/main" id="{70FF74CE-B332-42CD-B1B5-DD850F854CDC}"/>
              </a:ext>
            </a:extLst>
          </p:cNvPr>
          <p:cNvSpPr/>
          <p:nvPr/>
        </p:nvSpPr>
        <p:spPr>
          <a:xfrm>
            <a:off x="1791929" y="1484006"/>
            <a:ext cx="4191000" cy="990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9" name="Content Placeholder 8">
            <a:extLst>
              <a:ext uri="{FF2B5EF4-FFF2-40B4-BE49-F238E27FC236}">
                <a16:creationId xmlns:a16="http://schemas.microsoft.com/office/drawing/2014/main" id="{6BF2E0E9-4943-4B48-8B59-8B50383FB2A8}"/>
              </a:ext>
            </a:extLst>
          </p:cNvPr>
          <p:cNvSpPr>
            <a:spLocks noGrp="1"/>
          </p:cNvSpPr>
          <p:nvPr>
            <p:ph idx="1"/>
          </p:nvPr>
        </p:nvSpPr>
        <p:spPr>
          <a:xfrm>
            <a:off x="5105400" y="3657600"/>
            <a:ext cx="3771900" cy="762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en-IN" dirty="0"/>
              <a:t>New Game A</a:t>
            </a:r>
          </a:p>
        </p:txBody>
      </p:sp>
      <p:sp>
        <p:nvSpPr>
          <p:cNvPr id="3" name="TextBox 2">
            <a:extLst>
              <a:ext uri="{FF2B5EF4-FFF2-40B4-BE49-F238E27FC236}">
                <a16:creationId xmlns:a16="http://schemas.microsoft.com/office/drawing/2014/main" id="{3B2248A3-F7F2-4F2C-BFA2-F959DD6E4EE6}"/>
              </a:ext>
            </a:extLst>
          </p:cNvPr>
          <p:cNvSpPr txBox="1"/>
          <p:nvPr/>
        </p:nvSpPr>
        <p:spPr>
          <a:xfrm>
            <a:off x="1784555" y="1484006"/>
            <a:ext cx="3886200"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IN" dirty="0"/>
              <a:t>Shared   ABC. DLL</a:t>
            </a:r>
          </a:p>
        </p:txBody>
      </p:sp>
      <p:sp>
        <p:nvSpPr>
          <p:cNvPr id="6" name="TextBox 5">
            <a:extLst>
              <a:ext uri="{FF2B5EF4-FFF2-40B4-BE49-F238E27FC236}">
                <a16:creationId xmlns:a16="http://schemas.microsoft.com/office/drawing/2014/main" id="{4BA3EC03-BAD2-445C-A5CC-2A9F3411F19B}"/>
              </a:ext>
            </a:extLst>
          </p:cNvPr>
          <p:cNvSpPr txBox="1"/>
          <p:nvPr/>
        </p:nvSpPr>
        <p:spPr>
          <a:xfrm>
            <a:off x="1796845" y="1938769"/>
            <a:ext cx="3886200" cy="36933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lang="en-IN" dirty="0"/>
              <a:t>Shared   ABC. DLL</a:t>
            </a:r>
          </a:p>
        </p:txBody>
      </p:sp>
      <p:sp>
        <p:nvSpPr>
          <p:cNvPr id="7" name="Freeform: Shape 6">
            <a:extLst>
              <a:ext uri="{FF2B5EF4-FFF2-40B4-BE49-F238E27FC236}">
                <a16:creationId xmlns:a16="http://schemas.microsoft.com/office/drawing/2014/main" id="{24D5D435-D87E-4E60-8262-8D1C9CDCED46}"/>
              </a:ext>
            </a:extLst>
          </p:cNvPr>
          <p:cNvSpPr/>
          <p:nvPr/>
        </p:nvSpPr>
        <p:spPr>
          <a:xfrm>
            <a:off x="1720645" y="5191432"/>
            <a:ext cx="1966452" cy="856315"/>
          </a:xfrm>
          <a:custGeom>
            <a:avLst/>
            <a:gdLst>
              <a:gd name="connsiteX0" fmla="*/ 0 w 1966452"/>
              <a:gd name="connsiteY0" fmla="*/ 137652 h 856315"/>
              <a:gd name="connsiteX1" fmla="*/ 403123 w 1966452"/>
              <a:gd name="connsiteY1" fmla="*/ 845574 h 856315"/>
              <a:gd name="connsiteX2" fmla="*/ 530942 w 1966452"/>
              <a:gd name="connsiteY2" fmla="*/ 806245 h 856315"/>
              <a:gd name="connsiteX3" fmla="*/ 580103 w 1966452"/>
              <a:gd name="connsiteY3" fmla="*/ 786581 h 856315"/>
              <a:gd name="connsiteX4" fmla="*/ 727587 w 1966452"/>
              <a:gd name="connsiteY4" fmla="*/ 698091 h 856315"/>
              <a:gd name="connsiteX5" fmla="*/ 914400 w 1966452"/>
              <a:gd name="connsiteY5" fmla="*/ 609600 h 856315"/>
              <a:gd name="connsiteX6" fmla="*/ 1042220 w 1966452"/>
              <a:gd name="connsiteY6" fmla="*/ 521110 h 856315"/>
              <a:gd name="connsiteX7" fmla="*/ 1150374 w 1966452"/>
              <a:gd name="connsiteY7" fmla="*/ 442452 h 856315"/>
              <a:gd name="connsiteX8" fmla="*/ 1219200 w 1966452"/>
              <a:gd name="connsiteY8" fmla="*/ 393291 h 856315"/>
              <a:gd name="connsiteX9" fmla="*/ 1278194 w 1966452"/>
              <a:gd name="connsiteY9" fmla="*/ 363794 h 856315"/>
              <a:gd name="connsiteX10" fmla="*/ 1317523 w 1966452"/>
              <a:gd name="connsiteY10" fmla="*/ 324465 h 856315"/>
              <a:gd name="connsiteX11" fmla="*/ 1415845 w 1966452"/>
              <a:gd name="connsiteY11" fmla="*/ 265471 h 856315"/>
              <a:gd name="connsiteX12" fmla="*/ 1465007 w 1966452"/>
              <a:gd name="connsiteY12" fmla="*/ 226142 h 856315"/>
              <a:gd name="connsiteX13" fmla="*/ 1494503 w 1966452"/>
              <a:gd name="connsiteY13" fmla="*/ 216310 h 856315"/>
              <a:gd name="connsiteX14" fmla="*/ 1553497 w 1966452"/>
              <a:gd name="connsiteY14" fmla="*/ 186813 h 856315"/>
              <a:gd name="connsiteX15" fmla="*/ 1622323 w 1966452"/>
              <a:gd name="connsiteY15" fmla="*/ 167149 h 856315"/>
              <a:gd name="connsiteX16" fmla="*/ 1691149 w 1966452"/>
              <a:gd name="connsiteY16" fmla="*/ 137652 h 856315"/>
              <a:gd name="connsiteX17" fmla="*/ 1720645 w 1966452"/>
              <a:gd name="connsiteY17" fmla="*/ 127820 h 856315"/>
              <a:gd name="connsiteX18" fmla="*/ 1769807 w 1966452"/>
              <a:gd name="connsiteY18" fmla="*/ 88491 h 856315"/>
              <a:gd name="connsiteX19" fmla="*/ 1799303 w 1966452"/>
              <a:gd name="connsiteY19" fmla="*/ 78658 h 856315"/>
              <a:gd name="connsiteX20" fmla="*/ 1887794 w 1966452"/>
              <a:gd name="connsiteY20" fmla="*/ 49162 h 856315"/>
              <a:gd name="connsiteX21" fmla="*/ 1956620 w 1966452"/>
              <a:gd name="connsiteY21" fmla="*/ 9833 h 856315"/>
              <a:gd name="connsiteX22" fmla="*/ 1966452 w 1966452"/>
              <a:gd name="connsiteY22" fmla="*/ 0 h 856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966452" h="856315">
                <a:moveTo>
                  <a:pt x="0" y="137652"/>
                </a:moveTo>
                <a:cubicBezTo>
                  <a:pt x="134374" y="373626"/>
                  <a:pt x="234250" y="632919"/>
                  <a:pt x="403123" y="845574"/>
                </a:cubicBezTo>
                <a:cubicBezTo>
                  <a:pt x="430845" y="880483"/>
                  <a:pt x="488652" y="820342"/>
                  <a:pt x="530942" y="806245"/>
                </a:cubicBezTo>
                <a:cubicBezTo>
                  <a:pt x="547686" y="800664"/>
                  <a:pt x="564638" y="795086"/>
                  <a:pt x="580103" y="786581"/>
                </a:cubicBezTo>
                <a:cubicBezTo>
                  <a:pt x="630338" y="758952"/>
                  <a:pt x="673198" y="716221"/>
                  <a:pt x="727587" y="698091"/>
                </a:cubicBezTo>
                <a:cubicBezTo>
                  <a:pt x="805673" y="672062"/>
                  <a:pt x="830930" y="667386"/>
                  <a:pt x="914400" y="609600"/>
                </a:cubicBezTo>
                <a:cubicBezTo>
                  <a:pt x="957007" y="580103"/>
                  <a:pt x="997784" y="547772"/>
                  <a:pt x="1042220" y="521110"/>
                </a:cubicBezTo>
                <a:cubicBezTo>
                  <a:pt x="1134168" y="465940"/>
                  <a:pt x="1048789" y="520594"/>
                  <a:pt x="1150374" y="442452"/>
                </a:cubicBezTo>
                <a:cubicBezTo>
                  <a:pt x="1172721" y="425262"/>
                  <a:pt x="1195189" y="408067"/>
                  <a:pt x="1219200" y="393291"/>
                </a:cubicBezTo>
                <a:cubicBezTo>
                  <a:pt x="1237924" y="381768"/>
                  <a:pt x="1260183" y="376402"/>
                  <a:pt x="1278194" y="363794"/>
                </a:cubicBezTo>
                <a:cubicBezTo>
                  <a:pt x="1293382" y="353162"/>
                  <a:pt x="1302437" y="335241"/>
                  <a:pt x="1317523" y="324465"/>
                </a:cubicBezTo>
                <a:cubicBezTo>
                  <a:pt x="1348625" y="302249"/>
                  <a:pt x="1384043" y="286672"/>
                  <a:pt x="1415845" y="265471"/>
                </a:cubicBezTo>
                <a:cubicBezTo>
                  <a:pt x="1433306" y="253830"/>
                  <a:pt x="1447211" y="237264"/>
                  <a:pt x="1465007" y="226142"/>
                </a:cubicBezTo>
                <a:cubicBezTo>
                  <a:pt x="1473796" y="220649"/>
                  <a:pt x="1485032" y="220519"/>
                  <a:pt x="1494503" y="216310"/>
                </a:cubicBezTo>
                <a:cubicBezTo>
                  <a:pt x="1514594" y="207381"/>
                  <a:pt x="1533406" y="195742"/>
                  <a:pt x="1553497" y="186813"/>
                </a:cubicBezTo>
                <a:cubicBezTo>
                  <a:pt x="1574714" y="177383"/>
                  <a:pt x="1600450" y="173399"/>
                  <a:pt x="1622323" y="167149"/>
                </a:cubicBezTo>
                <a:cubicBezTo>
                  <a:pt x="1668434" y="153974"/>
                  <a:pt x="1638719" y="160122"/>
                  <a:pt x="1691149" y="137652"/>
                </a:cubicBezTo>
                <a:cubicBezTo>
                  <a:pt x="1700675" y="133570"/>
                  <a:pt x="1710813" y="131097"/>
                  <a:pt x="1720645" y="127820"/>
                </a:cubicBezTo>
                <a:cubicBezTo>
                  <a:pt x="1737032" y="114710"/>
                  <a:pt x="1752011" y="99614"/>
                  <a:pt x="1769807" y="88491"/>
                </a:cubicBezTo>
                <a:cubicBezTo>
                  <a:pt x="1778596" y="82998"/>
                  <a:pt x="1789599" y="82297"/>
                  <a:pt x="1799303" y="78658"/>
                </a:cubicBezTo>
                <a:cubicBezTo>
                  <a:pt x="1873343" y="50893"/>
                  <a:pt x="1821901" y="65635"/>
                  <a:pt x="1887794" y="49162"/>
                </a:cubicBezTo>
                <a:cubicBezTo>
                  <a:pt x="1920448" y="32835"/>
                  <a:pt x="1928830" y="30676"/>
                  <a:pt x="1956620" y="9833"/>
                </a:cubicBezTo>
                <a:cubicBezTo>
                  <a:pt x="1960328" y="7052"/>
                  <a:pt x="1963175" y="3278"/>
                  <a:pt x="1966452"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Freeform: Shape 7">
            <a:extLst>
              <a:ext uri="{FF2B5EF4-FFF2-40B4-BE49-F238E27FC236}">
                <a16:creationId xmlns:a16="http://schemas.microsoft.com/office/drawing/2014/main" id="{B5EF822B-6825-4573-AF5C-408FAB92B0AC}"/>
              </a:ext>
            </a:extLst>
          </p:cNvPr>
          <p:cNvSpPr/>
          <p:nvPr/>
        </p:nvSpPr>
        <p:spPr>
          <a:xfrm>
            <a:off x="6567948" y="4670323"/>
            <a:ext cx="1720646" cy="1160206"/>
          </a:xfrm>
          <a:custGeom>
            <a:avLst/>
            <a:gdLst>
              <a:gd name="connsiteX0" fmla="*/ 0 w 1720646"/>
              <a:gd name="connsiteY0" fmla="*/ 511277 h 1160206"/>
              <a:gd name="connsiteX1" fmla="*/ 49162 w 1720646"/>
              <a:gd name="connsiteY1" fmla="*/ 599767 h 1160206"/>
              <a:gd name="connsiteX2" fmla="*/ 108155 w 1720646"/>
              <a:gd name="connsiteY2" fmla="*/ 688258 h 1160206"/>
              <a:gd name="connsiteX3" fmla="*/ 127820 w 1720646"/>
              <a:gd name="connsiteY3" fmla="*/ 757083 h 1160206"/>
              <a:gd name="connsiteX4" fmla="*/ 216310 w 1720646"/>
              <a:gd name="connsiteY4" fmla="*/ 934064 h 1160206"/>
              <a:gd name="connsiteX5" fmla="*/ 235975 w 1720646"/>
              <a:gd name="connsiteY5" fmla="*/ 983225 h 1160206"/>
              <a:gd name="connsiteX6" fmla="*/ 265471 w 1720646"/>
              <a:gd name="connsiteY6" fmla="*/ 1022554 h 1160206"/>
              <a:gd name="connsiteX7" fmla="*/ 285136 w 1720646"/>
              <a:gd name="connsiteY7" fmla="*/ 1052051 h 1160206"/>
              <a:gd name="connsiteX8" fmla="*/ 314633 w 1720646"/>
              <a:gd name="connsiteY8" fmla="*/ 1091380 h 1160206"/>
              <a:gd name="connsiteX9" fmla="*/ 363794 w 1720646"/>
              <a:gd name="connsiteY9" fmla="*/ 1150374 h 1160206"/>
              <a:gd name="connsiteX10" fmla="*/ 393291 w 1720646"/>
              <a:gd name="connsiteY10" fmla="*/ 1160206 h 1160206"/>
              <a:gd name="connsiteX11" fmla="*/ 462117 w 1720646"/>
              <a:gd name="connsiteY11" fmla="*/ 1081548 h 1160206"/>
              <a:gd name="connsiteX12" fmla="*/ 550607 w 1720646"/>
              <a:gd name="connsiteY12" fmla="*/ 993058 h 1160206"/>
              <a:gd name="connsiteX13" fmla="*/ 570271 w 1720646"/>
              <a:gd name="connsiteY13" fmla="*/ 963561 h 1160206"/>
              <a:gd name="connsiteX14" fmla="*/ 619433 w 1720646"/>
              <a:gd name="connsiteY14" fmla="*/ 924232 h 1160206"/>
              <a:gd name="connsiteX15" fmla="*/ 707923 w 1720646"/>
              <a:gd name="connsiteY15" fmla="*/ 835742 h 1160206"/>
              <a:gd name="connsiteX16" fmla="*/ 766917 w 1720646"/>
              <a:gd name="connsiteY16" fmla="*/ 796412 h 1160206"/>
              <a:gd name="connsiteX17" fmla="*/ 806246 w 1720646"/>
              <a:gd name="connsiteY17" fmla="*/ 757083 h 1160206"/>
              <a:gd name="connsiteX18" fmla="*/ 884904 w 1720646"/>
              <a:gd name="connsiteY18" fmla="*/ 688258 h 1160206"/>
              <a:gd name="connsiteX19" fmla="*/ 1002891 w 1720646"/>
              <a:gd name="connsiteY19" fmla="*/ 570271 h 1160206"/>
              <a:gd name="connsiteX20" fmla="*/ 1052052 w 1720646"/>
              <a:gd name="connsiteY20" fmla="*/ 540774 h 1160206"/>
              <a:gd name="connsiteX21" fmla="*/ 1111046 w 1720646"/>
              <a:gd name="connsiteY21" fmla="*/ 471948 h 1160206"/>
              <a:gd name="connsiteX22" fmla="*/ 1209368 w 1720646"/>
              <a:gd name="connsiteY22" fmla="*/ 393290 h 1160206"/>
              <a:gd name="connsiteX23" fmla="*/ 1268362 w 1720646"/>
              <a:gd name="connsiteY23" fmla="*/ 334296 h 1160206"/>
              <a:gd name="connsiteX24" fmla="*/ 1327355 w 1720646"/>
              <a:gd name="connsiteY24" fmla="*/ 304800 h 1160206"/>
              <a:gd name="connsiteX25" fmla="*/ 1445342 w 1720646"/>
              <a:gd name="connsiteY25" fmla="*/ 216309 h 1160206"/>
              <a:gd name="connsiteX26" fmla="*/ 1563329 w 1720646"/>
              <a:gd name="connsiteY26" fmla="*/ 137651 h 1160206"/>
              <a:gd name="connsiteX27" fmla="*/ 1602658 w 1720646"/>
              <a:gd name="connsiteY27" fmla="*/ 108154 h 1160206"/>
              <a:gd name="connsiteX28" fmla="*/ 1691149 w 1720646"/>
              <a:gd name="connsiteY28" fmla="*/ 19664 h 1160206"/>
              <a:gd name="connsiteX29" fmla="*/ 1720646 w 1720646"/>
              <a:gd name="connsiteY29" fmla="*/ 0 h 1160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720646" h="1160206">
                <a:moveTo>
                  <a:pt x="0" y="511277"/>
                </a:moveTo>
                <a:cubicBezTo>
                  <a:pt x="16387" y="540774"/>
                  <a:pt x="31567" y="570975"/>
                  <a:pt x="49162" y="599767"/>
                </a:cubicBezTo>
                <a:cubicBezTo>
                  <a:pt x="67648" y="630017"/>
                  <a:pt x="92301" y="656550"/>
                  <a:pt x="108155" y="688258"/>
                </a:cubicBezTo>
                <a:cubicBezTo>
                  <a:pt x="118825" y="709599"/>
                  <a:pt x="119442" y="734742"/>
                  <a:pt x="127820" y="757083"/>
                </a:cubicBezTo>
                <a:cubicBezTo>
                  <a:pt x="166316" y="859738"/>
                  <a:pt x="166669" y="834783"/>
                  <a:pt x="216310" y="934064"/>
                </a:cubicBezTo>
                <a:cubicBezTo>
                  <a:pt x="224203" y="949850"/>
                  <a:pt x="227404" y="967797"/>
                  <a:pt x="235975" y="983225"/>
                </a:cubicBezTo>
                <a:cubicBezTo>
                  <a:pt x="243933" y="997550"/>
                  <a:pt x="255946" y="1009219"/>
                  <a:pt x="265471" y="1022554"/>
                </a:cubicBezTo>
                <a:cubicBezTo>
                  <a:pt x="272339" y="1032170"/>
                  <a:pt x="278267" y="1042435"/>
                  <a:pt x="285136" y="1052051"/>
                </a:cubicBezTo>
                <a:cubicBezTo>
                  <a:pt x="294661" y="1065386"/>
                  <a:pt x="305108" y="1078045"/>
                  <a:pt x="314633" y="1091380"/>
                </a:cubicBezTo>
                <a:cubicBezTo>
                  <a:pt x="331123" y="1114466"/>
                  <a:pt x="338752" y="1133680"/>
                  <a:pt x="363794" y="1150374"/>
                </a:cubicBezTo>
                <a:cubicBezTo>
                  <a:pt x="372418" y="1156123"/>
                  <a:pt x="383459" y="1156929"/>
                  <a:pt x="393291" y="1160206"/>
                </a:cubicBezTo>
                <a:cubicBezTo>
                  <a:pt x="509239" y="1044255"/>
                  <a:pt x="306019" y="1249652"/>
                  <a:pt x="462117" y="1081548"/>
                </a:cubicBezTo>
                <a:cubicBezTo>
                  <a:pt x="490502" y="1050980"/>
                  <a:pt x="527468" y="1027767"/>
                  <a:pt x="550607" y="993058"/>
                </a:cubicBezTo>
                <a:cubicBezTo>
                  <a:pt x="557162" y="983226"/>
                  <a:pt x="561915" y="971917"/>
                  <a:pt x="570271" y="963561"/>
                </a:cubicBezTo>
                <a:cubicBezTo>
                  <a:pt x="585110" y="948722"/>
                  <a:pt x="604055" y="938512"/>
                  <a:pt x="619433" y="924232"/>
                </a:cubicBezTo>
                <a:cubicBezTo>
                  <a:pt x="650001" y="895847"/>
                  <a:pt x="676400" y="863062"/>
                  <a:pt x="707923" y="835742"/>
                </a:cubicBezTo>
                <a:cubicBezTo>
                  <a:pt x="725783" y="820263"/>
                  <a:pt x="748462" y="811176"/>
                  <a:pt x="766917" y="796412"/>
                </a:cubicBezTo>
                <a:cubicBezTo>
                  <a:pt x="781394" y="784830"/>
                  <a:pt x="792579" y="769611"/>
                  <a:pt x="806246" y="757083"/>
                </a:cubicBezTo>
                <a:cubicBezTo>
                  <a:pt x="831928" y="733541"/>
                  <a:pt x="859646" y="712253"/>
                  <a:pt x="884904" y="688258"/>
                </a:cubicBezTo>
                <a:cubicBezTo>
                  <a:pt x="925228" y="649950"/>
                  <a:pt x="955198" y="598887"/>
                  <a:pt x="1002891" y="570271"/>
                </a:cubicBezTo>
                <a:cubicBezTo>
                  <a:pt x="1019278" y="560439"/>
                  <a:pt x="1037911" y="553629"/>
                  <a:pt x="1052052" y="540774"/>
                </a:cubicBezTo>
                <a:cubicBezTo>
                  <a:pt x="1074410" y="520448"/>
                  <a:pt x="1089002" y="492614"/>
                  <a:pt x="1111046" y="471948"/>
                </a:cubicBezTo>
                <a:cubicBezTo>
                  <a:pt x="1141666" y="443242"/>
                  <a:pt x="1177781" y="420928"/>
                  <a:pt x="1209368" y="393290"/>
                </a:cubicBezTo>
                <a:cubicBezTo>
                  <a:pt x="1230297" y="374977"/>
                  <a:pt x="1246114" y="350982"/>
                  <a:pt x="1268362" y="334296"/>
                </a:cubicBezTo>
                <a:cubicBezTo>
                  <a:pt x="1285950" y="321105"/>
                  <a:pt x="1308364" y="315878"/>
                  <a:pt x="1327355" y="304800"/>
                </a:cubicBezTo>
                <a:cubicBezTo>
                  <a:pt x="1416462" y="252821"/>
                  <a:pt x="1358646" y="278924"/>
                  <a:pt x="1445342" y="216309"/>
                </a:cubicBezTo>
                <a:cubicBezTo>
                  <a:pt x="1483661" y="188634"/>
                  <a:pt x="1525515" y="166012"/>
                  <a:pt x="1563329" y="137651"/>
                </a:cubicBezTo>
                <a:cubicBezTo>
                  <a:pt x="1576439" y="127819"/>
                  <a:pt x="1590617" y="119269"/>
                  <a:pt x="1602658" y="108154"/>
                </a:cubicBezTo>
                <a:cubicBezTo>
                  <a:pt x="1633310" y="79860"/>
                  <a:pt x="1656440" y="42803"/>
                  <a:pt x="1691149" y="19664"/>
                </a:cubicBezTo>
                <a:lnTo>
                  <a:pt x="1720646" y="0"/>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0767834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4C460-EE7B-4A6E-9859-363F77377B6C}"/>
              </a:ext>
            </a:extLst>
          </p:cNvPr>
          <p:cNvSpPr>
            <a:spLocks noGrp="1"/>
          </p:cNvSpPr>
          <p:nvPr>
            <p:ph type="title"/>
          </p:nvPr>
        </p:nvSpPr>
        <p:spPr>
          <a:xfrm>
            <a:off x="1143000" y="0"/>
            <a:ext cx="7391400" cy="563562"/>
          </a:xfrm>
        </p:spPr>
        <p:txBody>
          <a:bodyPr>
            <a:normAutofit fontScale="90000"/>
          </a:bodyPr>
          <a:lstStyle/>
          <a:p>
            <a:r>
              <a:rPr lang="en-IN" dirty="0"/>
              <a:t>Create class Library in </a:t>
            </a:r>
            <a:r>
              <a:rPr lang="en-IN" dirty="0" err="1"/>
              <a:t>VSCode</a:t>
            </a:r>
            <a:endParaRPr lang="en-IN" dirty="0"/>
          </a:p>
        </p:txBody>
      </p:sp>
      <p:sp>
        <p:nvSpPr>
          <p:cNvPr id="3" name="Content Placeholder 2">
            <a:extLst>
              <a:ext uri="{FF2B5EF4-FFF2-40B4-BE49-F238E27FC236}">
                <a16:creationId xmlns:a16="http://schemas.microsoft.com/office/drawing/2014/main" id="{1200D82C-8A39-440F-93D8-8404D06EAA24}"/>
              </a:ext>
            </a:extLst>
          </p:cNvPr>
          <p:cNvSpPr>
            <a:spLocks noGrp="1"/>
          </p:cNvSpPr>
          <p:nvPr>
            <p:ph idx="1"/>
          </p:nvPr>
        </p:nvSpPr>
        <p:spPr>
          <a:xfrm>
            <a:off x="228600" y="594519"/>
            <a:ext cx="8534400" cy="3748881"/>
          </a:xfrm>
        </p:spPr>
        <p:txBody>
          <a:bodyPr>
            <a:normAutofit lnSpcReduction="10000"/>
          </a:bodyPr>
          <a:lstStyle/>
          <a:p>
            <a:pPr marL="0" indent="0">
              <a:buNone/>
            </a:pPr>
            <a:r>
              <a:rPr lang="en-IN" sz="1400" dirty="0"/>
              <a:t>Create a solution</a:t>
            </a:r>
          </a:p>
          <a:p>
            <a:pPr marL="0" indent="0">
              <a:buNone/>
            </a:pPr>
            <a:r>
              <a:rPr lang="en-US" sz="1400" dirty="0"/>
              <a:t>Start by creating a blank solution to put the class library project in. A solution serves as a container for one or more projects. You'll add additional, related projects to the same solution</a:t>
            </a:r>
            <a:r>
              <a:rPr lang="en-US" dirty="0"/>
              <a:t>.</a:t>
            </a:r>
          </a:p>
          <a:p>
            <a:pPr>
              <a:spcBef>
                <a:spcPts val="0"/>
              </a:spcBef>
            </a:pPr>
            <a:endParaRPr lang="en-US" sz="1500" dirty="0"/>
          </a:p>
          <a:p>
            <a:pPr>
              <a:spcBef>
                <a:spcPts val="0"/>
              </a:spcBef>
            </a:pPr>
            <a:r>
              <a:rPr lang="en-US" sz="1500" dirty="0"/>
              <a:t>Start Visual Studio Code.</a:t>
            </a:r>
          </a:p>
          <a:p>
            <a:pPr>
              <a:spcBef>
                <a:spcPts val="0"/>
              </a:spcBef>
            </a:pPr>
            <a:endParaRPr lang="en-US" sz="1500" dirty="0"/>
          </a:p>
          <a:p>
            <a:pPr>
              <a:spcBef>
                <a:spcPts val="0"/>
              </a:spcBef>
            </a:pPr>
            <a:r>
              <a:rPr lang="en-US" sz="1500" dirty="0"/>
              <a:t>Select File &gt; Open Folder (Open... on macOS) from the main menu</a:t>
            </a:r>
          </a:p>
          <a:p>
            <a:pPr>
              <a:spcBef>
                <a:spcPts val="0"/>
              </a:spcBef>
            </a:pPr>
            <a:endParaRPr lang="en-US" sz="1500" dirty="0"/>
          </a:p>
          <a:p>
            <a:pPr>
              <a:spcBef>
                <a:spcPts val="0"/>
              </a:spcBef>
            </a:pPr>
            <a:r>
              <a:rPr lang="en-US" sz="1500" dirty="0"/>
              <a:t>In the Open Folder dialog, create a </a:t>
            </a:r>
            <a:r>
              <a:rPr lang="en-US" sz="1500" dirty="0" err="1"/>
              <a:t>ClassLibraryProjects</a:t>
            </a:r>
            <a:r>
              <a:rPr lang="en-US" sz="1500" dirty="0"/>
              <a:t> folder and click Select Folder (Open on macOS).</a:t>
            </a:r>
          </a:p>
          <a:p>
            <a:pPr>
              <a:spcBef>
                <a:spcPts val="0"/>
              </a:spcBef>
            </a:pPr>
            <a:endParaRPr lang="en-US" sz="1500" dirty="0"/>
          </a:p>
          <a:p>
            <a:pPr>
              <a:spcBef>
                <a:spcPts val="0"/>
              </a:spcBef>
            </a:pPr>
            <a:r>
              <a:rPr lang="en-US" sz="1500" dirty="0"/>
              <a:t>Open the Terminal in Visual Studio Code by selecting View &gt; Terminal from the main menu.</a:t>
            </a:r>
          </a:p>
          <a:p>
            <a:pPr>
              <a:spcBef>
                <a:spcPts val="0"/>
              </a:spcBef>
            </a:pPr>
            <a:endParaRPr lang="en-US" sz="1500" dirty="0"/>
          </a:p>
          <a:p>
            <a:pPr>
              <a:spcBef>
                <a:spcPts val="0"/>
              </a:spcBef>
            </a:pPr>
            <a:r>
              <a:rPr lang="en-US" sz="1500" dirty="0"/>
              <a:t>The Terminal opens with the command prompt in the </a:t>
            </a:r>
            <a:r>
              <a:rPr lang="en-US" sz="1500" dirty="0" err="1"/>
              <a:t>ClassLibraryProjects</a:t>
            </a:r>
            <a:r>
              <a:rPr lang="en-US" sz="1500" dirty="0"/>
              <a:t> folder.</a:t>
            </a:r>
          </a:p>
          <a:p>
            <a:pPr>
              <a:spcBef>
                <a:spcPts val="0"/>
              </a:spcBef>
            </a:pPr>
            <a:endParaRPr lang="en-US" sz="1500" dirty="0"/>
          </a:p>
          <a:p>
            <a:pPr>
              <a:spcBef>
                <a:spcPts val="0"/>
              </a:spcBef>
            </a:pPr>
            <a:r>
              <a:rPr lang="en-US" sz="1500" dirty="0"/>
              <a:t>In the Terminal, enter the following command:</a:t>
            </a:r>
            <a:endParaRPr lang="en-IN" sz="1500" dirty="0"/>
          </a:p>
        </p:txBody>
      </p:sp>
      <p:sp>
        <p:nvSpPr>
          <p:cNvPr id="6" name="TextBox 5">
            <a:extLst>
              <a:ext uri="{FF2B5EF4-FFF2-40B4-BE49-F238E27FC236}">
                <a16:creationId xmlns:a16="http://schemas.microsoft.com/office/drawing/2014/main" id="{8170366D-AC6D-4598-A095-AB87C44E71E9}"/>
              </a:ext>
            </a:extLst>
          </p:cNvPr>
          <p:cNvSpPr txBox="1"/>
          <p:nvPr/>
        </p:nvSpPr>
        <p:spPr>
          <a:xfrm>
            <a:off x="152400" y="4191000"/>
            <a:ext cx="8610600" cy="1477328"/>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US" dirty="0"/>
              <a:t>.NET CLI      </a:t>
            </a:r>
          </a:p>
          <a:p>
            <a:r>
              <a:rPr lang="en-US" dirty="0"/>
              <a:t>dotnet new </a:t>
            </a:r>
            <a:r>
              <a:rPr lang="en-US" dirty="0" err="1"/>
              <a:t>sln</a:t>
            </a:r>
            <a:endParaRPr lang="en-US" dirty="0"/>
          </a:p>
          <a:p>
            <a:r>
              <a:rPr lang="en-US" dirty="0"/>
              <a:t>The terminal output looks like the following example:</a:t>
            </a:r>
          </a:p>
          <a:p>
            <a:endParaRPr lang="en-US" dirty="0"/>
          </a:p>
          <a:p>
            <a:r>
              <a:rPr lang="en-US" dirty="0"/>
              <a:t>Output  The template "Solution File" was created successfully.</a:t>
            </a:r>
            <a:endParaRPr lang="en-IN" dirty="0"/>
          </a:p>
        </p:txBody>
      </p:sp>
    </p:spTree>
    <p:extLst>
      <p:ext uri="{BB962C8B-B14F-4D97-AF65-F5344CB8AC3E}">
        <p14:creationId xmlns:p14="http://schemas.microsoft.com/office/powerpoint/2010/main" val="34336695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CE2E71F-6DDF-43E1-BC4D-D51AE18312A7}"/>
              </a:ext>
            </a:extLst>
          </p:cNvPr>
          <p:cNvSpPr txBox="1"/>
          <p:nvPr/>
        </p:nvSpPr>
        <p:spPr>
          <a:xfrm>
            <a:off x="2362200" y="228600"/>
            <a:ext cx="4611328" cy="369332"/>
          </a:xfrm>
          <a:prstGeom prst="rect">
            <a:avLst/>
          </a:prstGeom>
          <a:noFill/>
        </p:spPr>
        <p:txBody>
          <a:bodyPr wrap="square">
            <a:spAutoFit/>
          </a:bodyPr>
          <a:lstStyle/>
          <a:p>
            <a:r>
              <a:rPr lang="en-US" b="1" dirty="0"/>
              <a:t>Create a class library project</a:t>
            </a:r>
            <a:endParaRPr lang="en-IN" b="1" dirty="0"/>
          </a:p>
        </p:txBody>
      </p:sp>
      <p:sp>
        <p:nvSpPr>
          <p:cNvPr id="7" name="TextBox 6">
            <a:extLst>
              <a:ext uri="{FF2B5EF4-FFF2-40B4-BE49-F238E27FC236}">
                <a16:creationId xmlns:a16="http://schemas.microsoft.com/office/drawing/2014/main" id="{73674063-80DD-451F-92C5-0EA752EC3037}"/>
              </a:ext>
            </a:extLst>
          </p:cNvPr>
          <p:cNvSpPr txBox="1"/>
          <p:nvPr/>
        </p:nvSpPr>
        <p:spPr>
          <a:xfrm>
            <a:off x="152400" y="685800"/>
            <a:ext cx="8458200" cy="923330"/>
          </a:xfrm>
          <a:prstGeom prst="rect">
            <a:avLst/>
          </a:prstGeom>
          <a:noFill/>
        </p:spPr>
        <p:txBody>
          <a:bodyPr wrap="square">
            <a:spAutoFit/>
          </a:bodyPr>
          <a:lstStyle/>
          <a:p>
            <a:r>
              <a:rPr lang="en-US" dirty="0"/>
              <a:t>Add a new .NET class library project named "</a:t>
            </a:r>
            <a:r>
              <a:rPr lang="en-US" dirty="0" err="1"/>
              <a:t>StringLibrary</a:t>
            </a:r>
            <a:r>
              <a:rPr lang="en-US" dirty="0"/>
              <a:t>" to the solution.</a:t>
            </a:r>
          </a:p>
          <a:p>
            <a:endParaRPr lang="en-US" dirty="0"/>
          </a:p>
          <a:p>
            <a:r>
              <a:rPr lang="en-US" dirty="0"/>
              <a:t>In the terminal, run the following command to create the library project:</a:t>
            </a:r>
            <a:endParaRPr lang="en-IN" dirty="0"/>
          </a:p>
        </p:txBody>
      </p:sp>
      <p:sp>
        <p:nvSpPr>
          <p:cNvPr id="9" name="TextBox 8">
            <a:extLst>
              <a:ext uri="{FF2B5EF4-FFF2-40B4-BE49-F238E27FC236}">
                <a16:creationId xmlns:a16="http://schemas.microsoft.com/office/drawing/2014/main" id="{D691E683-1186-4A7F-B35A-07ACE244EDA4}"/>
              </a:ext>
            </a:extLst>
          </p:cNvPr>
          <p:cNvSpPr txBox="1"/>
          <p:nvPr/>
        </p:nvSpPr>
        <p:spPr>
          <a:xfrm>
            <a:off x="457200" y="1696998"/>
            <a:ext cx="8153400" cy="646331"/>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US" dirty="0"/>
              <a:t>.NET CLI          </a:t>
            </a:r>
          </a:p>
          <a:p>
            <a:r>
              <a:rPr lang="en-US" dirty="0"/>
              <a:t>dotnet new </a:t>
            </a:r>
            <a:r>
              <a:rPr lang="en-US" dirty="0" err="1"/>
              <a:t>classlib</a:t>
            </a:r>
            <a:r>
              <a:rPr lang="en-US" dirty="0"/>
              <a:t> -o </a:t>
            </a:r>
            <a:r>
              <a:rPr lang="en-US" dirty="0" err="1"/>
              <a:t>StringLibrary</a:t>
            </a:r>
            <a:endParaRPr lang="en-IN" dirty="0"/>
          </a:p>
        </p:txBody>
      </p:sp>
      <p:sp>
        <p:nvSpPr>
          <p:cNvPr id="11" name="TextBox 10">
            <a:extLst>
              <a:ext uri="{FF2B5EF4-FFF2-40B4-BE49-F238E27FC236}">
                <a16:creationId xmlns:a16="http://schemas.microsoft.com/office/drawing/2014/main" id="{FC54B6A5-F388-4457-B8A6-E5572BC98C7D}"/>
              </a:ext>
            </a:extLst>
          </p:cNvPr>
          <p:cNvSpPr txBox="1"/>
          <p:nvPr/>
        </p:nvSpPr>
        <p:spPr>
          <a:xfrm>
            <a:off x="457200" y="2483346"/>
            <a:ext cx="8229600" cy="3693319"/>
          </a:xfrm>
          <a:prstGeom prst="rect">
            <a:avLst/>
          </a:prstGeom>
          <a:noFill/>
        </p:spPr>
        <p:txBody>
          <a:bodyPr wrap="square">
            <a:spAutoFit/>
          </a:bodyPr>
          <a:lstStyle/>
          <a:p>
            <a:r>
              <a:rPr lang="en-US" dirty="0"/>
              <a:t>The -o or --output command specifies the location to place the generated output.</a:t>
            </a:r>
          </a:p>
          <a:p>
            <a:endParaRPr lang="en-US" dirty="0"/>
          </a:p>
          <a:p>
            <a:r>
              <a:rPr lang="en-US" dirty="0"/>
              <a:t>The terminal output looks like the following example:</a:t>
            </a:r>
          </a:p>
          <a:p>
            <a:endParaRPr lang="en-US" dirty="0"/>
          </a:p>
          <a:p>
            <a:r>
              <a:rPr lang="en-US" b="1" i="1" dirty="0"/>
              <a:t>Output</a:t>
            </a:r>
          </a:p>
          <a:p>
            <a:endParaRPr lang="en-US" dirty="0"/>
          </a:p>
          <a:p>
            <a:r>
              <a:rPr lang="en-US" dirty="0"/>
              <a:t>The template "Class library" was created successfully.</a:t>
            </a:r>
          </a:p>
          <a:p>
            <a:r>
              <a:rPr lang="en-US" dirty="0"/>
              <a:t>Processing post-creation actions...</a:t>
            </a:r>
          </a:p>
          <a:p>
            <a:r>
              <a:rPr lang="en-US" dirty="0"/>
              <a:t>Running 'dotnet restore' on </a:t>
            </a:r>
            <a:r>
              <a:rPr lang="en-US" dirty="0" err="1"/>
              <a:t>StringLibrary</a:t>
            </a:r>
            <a:r>
              <a:rPr lang="en-US" dirty="0"/>
              <a:t>\</a:t>
            </a:r>
            <a:r>
              <a:rPr lang="en-US" dirty="0" err="1"/>
              <a:t>StringLibrary.csproj</a:t>
            </a:r>
            <a:r>
              <a:rPr lang="en-US" dirty="0"/>
              <a:t>...</a:t>
            </a:r>
          </a:p>
          <a:p>
            <a:r>
              <a:rPr lang="en-US" dirty="0"/>
              <a:t>  Determining projects to restore...</a:t>
            </a:r>
          </a:p>
          <a:p>
            <a:r>
              <a:rPr lang="en-US" dirty="0"/>
              <a:t>  Restored C:\Projects\ClassLibraryProjects\StringLibrary\StringLibrary.csproj (in 328 </a:t>
            </a:r>
            <a:r>
              <a:rPr lang="en-US" dirty="0" err="1"/>
              <a:t>ms</a:t>
            </a:r>
            <a:r>
              <a:rPr lang="en-US" dirty="0"/>
              <a:t>).</a:t>
            </a:r>
          </a:p>
          <a:p>
            <a:r>
              <a:rPr lang="en-US" dirty="0"/>
              <a:t>Restore succeeded.</a:t>
            </a:r>
            <a:endParaRPr lang="en-IN" dirty="0"/>
          </a:p>
        </p:txBody>
      </p:sp>
    </p:spTree>
    <p:extLst>
      <p:ext uri="{BB962C8B-B14F-4D97-AF65-F5344CB8AC3E}">
        <p14:creationId xmlns:p14="http://schemas.microsoft.com/office/powerpoint/2010/main" val="29555504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95D7523-D600-43A9-BB1B-F7E432C96662}"/>
              </a:ext>
            </a:extLst>
          </p:cNvPr>
          <p:cNvSpPr>
            <a:spLocks noGrp="1"/>
          </p:cNvSpPr>
          <p:nvPr>
            <p:ph idx="1"/>
          </p:nvPr>
        </p:nvSpPr>
        <p:spPr>
          <a:xfrm>
            <a:off x="304800" y="685800"/>
            <a:ext cx="8382000" cy="5440363"/>
          </a:xfrm>
        </p:spPr>
        <p:txBody>
          <a:bodyPr>
            <a:normAutofit fontScale="77500" lnSpcReduction="20000"/>
          </a:bodyPr>
          <a:lstStyle/>
          <a:p>
            <a:pPr marL="0" indent="0">
              <a:buNone/>
            </a:pPr>
            <a:r>
              <a:rPr lang="en-US" dirty="0"/>
              <a:t>Run the following command to add the library project to the solution:</a:t>
            </a:r>
          </a:p>
          <a:p>
            <a:pPr marL="0" indent="0">
              <a:buNone/>
            </a:pPr>
            <a:endParaRPr lang="en-US" dirty="0"/>
          </a:p>
          <a:p>
            <a:pPr marL="0" indent="0">
              <a:buNone/>
            </a:pPr>
            <a:r>
              <a:rPr lang="en-US" dirty="0"/>
              <a:t>.NET CLI</a:t>
            </a:r>
          </a:p>
          <a:p>
            <a:pPr marL="0" indent="0">
              <a:buNone/>
            </a:pPr>
            <a:endParaRPr lang="en-US" dirty="0"/>
          </a:p>
          <a:p>
            <a:pPr marL="0" indent="0">
              <a:buNone/>
            </a:pPr>
            <a:r>
              <a:rPr lang="en-US" dirty="0">
                <a:highlight>
                  <a:srgbClr val="C0C0C0"/>
                </a:highlight>
              </a:rPr>
              <a:t>dotnet </a:t>
            </a:r>
            <a:r>
              <a:rPr lang="en-US" dirty="0" err="1">
                <a:highlight>
                  <a:srgbClr val="C0C0C0"/>
                </a:highlight>
              </a:rPr>
              <a:t>sln</a:t>
            </a:r>
            <a:r>
              <a:rPr lang="en-US" dirty="0">
                <a:highlight>
                  <a:srgbClr val="C0C0C0"/>
                </a:highlight>
              </a:rPr>
              <a:t> add </a:t>
            </a:r>
            <a:r>
              <a:rPr lang="en-US" dirty="0" err="1">
                <a:highlight>
                  <a:srgbClr val="C0C0C0"/>
                </a:highlight>
              </a:rPr>
              <a:t>StringLibrary</a:t>
            </a:r>
            <a:r>
              <a:rPr lang="en-US" dirty="0">
                <a:highlight>
                  <a:srgbClr val="C0C0C0"/>
                </a:highlight>
              </a:rPr>
              <a:t>/</a:t>
            </a:r>
            <a:r>
              <a:rPr lang="en-US" dirty="0" err="1">
                <a:highlight>
                  <a:srgbClr val="C0C0C0"/>
                </a:highlight>
              </a:rPr>
              <a:t>StringLibrary.csproj</a:t>
            </a:r>
            <a:endParaRPr lang="en-US" dirty="0">
              <a:highlight>
                <a:srgbClr val="C0C0C0"/>
              </a:highlight>
            </a:endParaRPr>
          </a:p>
          <a:p>
            <a:pPr marL="0" indent="0">
              <a:buNone/>
            </a:pPr>
            <a:endParaRPr lang="en-US" dirty="0">
              <a:highlight>
                <a:srgbClr val="C0C0C0"/>
              </a:highlight>
            </a:endParaRPr>
          </a:p>
          <a:p>
            <a:pPr marL="0" indent="0">
              <a:buNone/>
            </a:pPr>
            <a:r>
              <a:rPr lang="en-US" dirty="0"/>
              <a:t>The terminal output looks like the following example:</a:t>
            </a:r>
          </a:p>
          <a:p>
            <a:pPr marL="0" indent="0">
              <a:buNone/>
            </a:pPr>
            <a:endParaRPr lang="en-US" dirty="0"/>
          </a:p>
          <a:p>
            <a:pPr marL="0" indent="0">
              <a:buNone/>
            </a:pPr>
            <a:r>
              <a:rPr lang="en-US" b="1" dirty="0"/>
              <a:t>Output</a:t>
            </a:r>
          </a:p>
          <a:p>
            <a:pPr marL="0" indent="0">
              <a:buNone/>
            </a:pPr>
            <a:endParaRPr lang="en-US" dirty="0"/>
          </a:p>
          <a:p>
            <a:pPr marL="0" indent="0">
              <a:buNone/>
            </a:pPr>
            <a:endParaRPr lang="en-US" dirty="0"/>
          </a:p>
          <a:p>
            <a:pPr marL="0" indent="0">
              <a:buNone/>
            </a:pPr>
            <a:r>
              <a:rPr lang="en-US" dirty="0"/>
              <a:t>Project `</a:t>
            </a:r>
            <a:r>
              <a:rPr lang="en-US" dirty="0" err="1"/>
              <a:t>StringLibrary</a:t>
            </a:r>
            <a:r>
              <a:rPr lang="en-US" dirty="0"/>
              <a:t>\</a:t>
            </a:r>
            <a:r>
              <a:rPr lang="en-US" dirty="0" err="1"/>
              <a:t>StringLibrary.csproj</a:t>
            </a:r>
            <a:r>
              <a:rPr lang="en-US" dirty="0"/>
              <a:t>` added to the solution.</a:t>
            </a:r>
            <a:endParaRPr lang="en-IN" dirty="0"/>
          </a:p>
        </p:txBody>
      </p:sp>
    </p:spTree>
    <p:extLst>
      <p:ext uri="{BB962C8B-B14F-4D97-AF65-F5344CB8AC3E}">
        <p14:creationId xmlns:p14="http://schemas.microsoft.com/office/powerpoint/2010/main" val="8548321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904D46-439C-4920-8F0E-5F9B2D8C88EF}"/>
              </a:ext>
            </a:extLst>
          </p:cNvPr>
          <p:cNvSpPr>
            <a:spLocks noGrp="1"/>
          </p:cNvSpPr>
          <p:nvPr>
            <p:ph idx="1"/>
          </p:nvPr>
        </p:nvSpPr>
        <p:spPr>
          <a:xfrm>
            <a:off x="152400" y="533401"/>
            <a:ext cx="8991600" cy="2057399"/>
          </a:xfrm>
        </p:spPr>
        <p:txBody>
          <a:bodyPr>
            <a:normAutofit/>
          </a:bodyPr>
          <a:lstStyle/>
          <a:p>
            <a:pPr marL="0" indent="0">
              <a:buNone/>
            </a:pPr>
            <a:r>
              <a:rPr lang="en-US" sz="2400" dirty="0"/>
              <a:t>Check to make sure that the library targets .NET 5. </a:t>
            </a:r>
          </a:p>
          <a:p>
            <a:pPr marL="0" indent="0">
              <a:buNone/>
            </a:pPr>
            <a:r>
              <a:rPr lang="en-US" sz="2400" dirty="0"/>
              <a:t>In Explorer, open </a:t>
            </a:r>
            <a:r>
              <a:rPr lang="en-US" sz="2400" dirty="0" err="1"/>
              <a:t>StringLibrary</a:t>
            </a:r>
            <a:r>
              <a:rPr lang="en-US" sz="2400" dirty="0"/>
              <a:t>/</a:t>
            </a:r>
            <a:r>
              <a:rPr lang="en-US" sz="2400" dirty="0" err="1"/>
              <a:t>StringLibrary.csproj</a:t>
            </a:r>
            <a:r>
              <a:rPr lang="en-US" sz="2400" dirty="0"/>
              <a:t>.</a:t>
            </a:r>
          </a:p>
          <a:p>
            <a:pPr marL="0" indent="0">
              <a:buNone/>
            </a:pPr>
            <a:endParaRPr lang="en-US" sz="2400" dirty="0"/>
          </a:p>
          <a:p>
            <a:pPr marL="0" indent="0">
              <a:buNone/>
            </a:pPr>
            <a:r>
              <a:rPr lang="en-US" sz="2400" dirty="0"/>
              <a:t>The </a:t>
            </a:r>
            <a:r>
              <a:rPr lang="en-US" sz="2400" dirty="0" err="1"/>
              <a:t>TargetFramework</a:t>
            </a:r>
            <a:r>
              <a:rPr lang="en-US" sz="2400" dirty="0"/>
              <a:t> element shows that the project targets .NET 5.0.</a:t>
            </a:r>
            <a:endParaRPr lang="en-IN" sz="2400" dirty="0"/>
          </a:p>
        </p:txBody>
      </p:sp>
      <p:sp>
        <p:nvSpPr>
          <p:cNvPr id="5" name="TextBox 4">
            <a:extLst>
              <a:ext uri="{FF2B5EF4-FFF2-40B4-BE49-F238E27FC236}">
                <a16:creationId xmlns:a16="http://schemas.microsoft.com/office/drawing/2014/main" id="{419EF13D-166F-48E7-99B3-FB06A113ECCA}"/>
              </a:ext>
            </a:extLst>
          </p:cNvPr>
          <p:cNvSpPr txBox="1"/>
          <p:nvPr/>
        </p:nvSpPr>
        <p:spPr>
          <a:xfrm>
            <a:off x="685800" y="2819400"/>
            <a:ext cx="4800600" cy="2308324"/>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IN" dirty="0"/>
              <a:t>&lt;Project </a:t>
            </a:r>
            <a:r>
              <a:rPr lang="en-IN" dirty="0" err="1"/>
              <a:t>Sdk</a:t>
            </a:r>
            <a:r>
              <a:rPr lang="en-IN" dirty="0"/>
              <a:t>="</a:t>
            </a:r>
            <a:r>
              <a:rPr lang="en-IN" dirty="0" err="1"/>
              <a:t>Microsoft.NET.Sdk</a:t>
            </a:r>
            <a:r>
              <a:rPr lang="en-IN" dirty="0"/>
              <a:t>"&gt;</a:t>
            </a:r>
          </a:p>
          <a:p>
            <a:endParaRPr lang="en-IN" dirty="0"/>
          </a:p>
          <a:p>
            <a:r>
              <a:rPr lang="en-IN" dirty="0"/>
              <a:t>  &lt;</a:t>
            </a:r>
            <a:r>
              <a:rPr lang="en-IN" dirty="0" err="1"/>
              <a:t>PropertyGroup</a:t>
            </a:r>
            <a:r>
              <a:rPr lang="en-IN" dirty="0"/>
              <a:t>&gt;</a:t>
            </a:r>
          </a:p>
          <a:p>
            <a:r>
              <a:rPr lang="en-IN" dirty="0"/>
              <a:t>    &lt;</a:t>
            </a:r>
            <a:r>
              <a:rPr lang="en-IN" dirty="0" err="1"/>
              <a:t>TargetFramework</a:t>
            </a:r>
            <a:r>
              <a:rPr lang="en-IN" dirty="0"/>
              <a:t>&gt;net5.0&lt;/</a:t>
            </a:r>
            <a:r>
              <a:rPr lang="en-IN" dirty="0" err="1"/>
              <a:t>TargetFramework</a:t>
            </a:r>
            <a:r>
              <a:rPr lang="en-IN" dirty="0"/>
              <a:t>&gt;</a:t>
            </a:r>
          </a:p>
          <a:p>
            <a:r>
              <a:rPr lang="en-IN" dirty="0"/>
              <a:t>  &lt;/</a:t>
            </a:r>
            <a:r>
              <a:rPr lang="en-IN" dirty="0" err="1"/>
              <a:t>PropertyGroup</a:t>
            </a:r>
            <a:r>
              <a:rPr lang="en-IN" dirty="0"/>
              <a:t>&gt;</a:t>
            </a:r>
          </a:p>
          <a:p>
            <a:endParaRPr lang="en-IN" dirty="0"/>
          </a:p>
          <a:p>
            <a:r>
              <a:rPr lang="en-IN" dirty="0"/>
              <a:t>&lt;/Project&gt;</a:t>
            </a:r>
          </a:p>
        </p:txBody>
      </p:sp>
    </p:spTree>
    <p:extLst>
      <p:ext uri="{BB962C8B-B14F-4D97-AF65-F5344CB8AC3E}">
        <p14:creationId xmlns:p14="http://schemas.microsoft.com/office/powerpoint/2010/main" val="31412256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D2D68C3-6DFF-48E0-9BC8-EC03F1639C9A}"/>
              </a:ext>
            </a:extLst>
          </p:cNvPr>
          <p:cNvSpPr txBox="1"/>
          <p:nvPr/>
        </p:nvSpPr>
        <p:spPr>
          <a:xfrm>
            <a:off x="1219200" y="0"/>
            <a:ext cx="7010400" cy="369332"/>
          </a:xfrm>
          <a:prstGeom prst="rect">
            <a:avLst/>
          </a:prstGeom>
          <a:noFill/>
        </p:spPr>
        <p:txBody>
          <a:bodyPr wrap="square">
            <a:spAutoFit/>
          </a:bodyPr>
          <a:lstStyle/>
          <a:p>
            <a:r>
              <a:rPr lang="en-US" dirty="0"/>
              <a:t>Open Class1.cs and replace the code with the following code.</a:t>
            </a:r>
            <a:endParaRPr lang="en-IN" dirty="0"/>
          </a:p>
        </p:txBody>
      </p:sp>
      <p:sp>
        <p:nvSpPr>
          <p:cNvPr id="7" name="TextBox 6">
            <a:extLst>
              <a:ext uri="{FF2B5EF4-FFF2-40B4-BE49-F238E27FC236}">
                <a16:creationId xmlns:a16="http://schemas.microsoft.com/office/drawing/2014/main" id="{F8B7E168-4E63-4B4A-8EE2-9559C111DBCA}"/>
              </a:ext>
            </a:extLst>
          </p:cNvPr>
          <p:cNvSpPr txBox="1"/>
          <p:nvPr/>
        </p:nvSpPr>
        <p:spPr>
          <a:xfrm>
            <a:off x="117988" y="762000"/>
            <a:ext cx="4530212" cy="4801314"/>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IN" dirty="0"/>
              <a:t>using System;</a:t>
            </a:r>
          </a:p>
          <a:p>
            <a:endParaRPr lang="en-IN" dirty="0"/>
          </a:p>
          <a:p>
            <a:r>
              <a:rPr lang="en-IN" dirty="0"/>
              <a:t>namespace </a:t>
            </a:r>
            <a:r>
              <a:rPr lang="en-IN" dirty="0" err="1"/>
              <a:t>UtilityLibraries</a:t>
            </a:r>
            <a:endParaRPr lang="en-IN" dirty="0"/>
          </a:p>
          <a:p>
            <a:r>
              <a:rPr lang="en-IN" dirty="0"/>
              <a:t>{</a:t>
            </a:r>
          </a:p>
          <a:p>
            <a:r>
              <a:rPr lang="en-IN" dirty="0"/>
              <a:t>    public static class </a:t>
            </a:r>
            <a:r>
              <a:rPr lang="en-IN" dirty="0" err="1"/>
              <a:t>StringLibrary</a:t>
            </a:r>
            <a:endParaRPr lang="en-IN" dirty="0"/>
          </a:p>
          <a:p>
            <a:r>
              <a:rPr lang="en-IN" dirty="0"/>
              <a:t>    {</a:t>
            </a:r>
          </a:p>
          <a:p>
            <a:r>
              <a:rPr lang="en-IN" dirty="0"/>
              <a:t>        public static bool </a:t>
            </a:r>
            <a:r>
              <a:rPr lang="en-IN" dirty="0" err="1"/>
              <a:t>StartsWithUpper</a:t>
            </a:r>
            <a:r>
              <a:rPr lang="en-IN" dirty="0"/>
              <a:t>(this string str)</a:t>
            </a:r>
          </a:p>
          <a:p>
            <a:r>
              <a:rPr lang="en-IN" dirty="0"/>
              <a:t>        {</a:t>
            </a:r>
          </a:p>
          <a:p>
            <a:r>
              <a:rPr lang="en-IN" dirty="0"/>
              <a:t>            if (</a:t>
            </a:r>
            <a:r>
              <a:rPr lang="en-IN" dirty="0" err="1"/>
              <a:t>string.IsNullOrWhiteSpace</a:t>
            </a:r>
            <a:r>
              <a:rPr lang="en-IN" dirty="0"/>
              <a:t>(str))</a:t>
            </a:r>
          </a:p>
          <a:p>
            <a:r>
              <a:rPr lang="en-IN" dirty="0"/>
              <a:t>                return false;</a:t>
            </a:r>
          </a:p>
          <a:p>
            <a:endParaRPr lang="en-IN" dirty="0"/>
          </a:p>
          <a:p>
            <a:r>
              <a:rPr lang="en-IN" dirty="0"/>
              <a:t>            char </a:t>
            </a:r>
            <a:r>
              <a:rPr lang="en-IN" dirty="0" err="1"/>
              <a:t>ch</a:t>
            </a:r>
            <a:r>
              <a:rPr lang="en-IN" dirty="0"/>
              <a:t> = str[0];</a:t>
            </a:r>
          </a:p>
          <a:p>
            <a:r>
              <a:rPr lang="en-IN" dirty="0"/>
              <a:t>            return </a:t>
            </a:r>
            <a:r>
              <a:rPr lang="en-IN" dirty="0" err="1"/>
              <a:t>char.IsUpper</a:t>
            </a:r>
            <a:r>
              <a:rPr lang="en-IN" dirty="0"/>
              <a:t>(</a:t>
            </a:r>
            <a:r>
              <a:rPr lang="en-IN" dirty="0" err="1"/>
              <a:t>ch</a:t>
            </a:r>
            <a:r>
              <a:rPr lang="en-IN" dirty="0"/>
              <a:t>);</a:t>
            </a:r>
          </a:p>
          <a:p>
            <a:r>
              <a:rPr lang="en-IN" dirty="0"/>
              <a:t>        }</a:t>
            </a:r>
          </a:p>
          <a:p>
            <a:r>
              <a:rPr lang="en-IN" dirty="0"/>
              <a:t>    }</a:t>
            </a:r>
          </a:p>
          <a:p>
            <a:r>
              <a:rPr lang="en-IN" dirty="0"/>
              <a:t>}</a:t>
            </a:r>
          </a:p>
        </p:txBody>
      </p:sp>
      <p:sp>
        <p:nvSpPr>
          <p:cNvPr id="9" name="TextBox 8">
            <a:extLst>
              <a:ext uri="{FF2B5EF4-FFF2-40B4-BE49-F238E27FC236}">
                <a16:creationId xmlns:a16="http://schemas.microsoft.com/office/drawing/2014/main" id="{F8DA6AA8-FD6D-4F13-801B-D9FEB8C9CBE1}"/>
              </a:ext>
            </a:extLst>
          </p:cNvPr>
          <p:cNvSpPr txBox="1"/>
          <p:nvPr/>
        </p:nvSpPr>
        <p:spPr>
          <a:xfrm>
            <a:off x="4724400" y="914400"/>
            <a:ext cx="4301612" cy="3693319"/>
          </a:xfrm>
          <a:prstGeom prst="rect">
            <a:avLst/>
          </a:prstGeom>
          <a:noFill/>
        </p:spPr>
        <p:txBody>
          <a:bodyPr wrap="square">
            <a:spAutoFit/>
          </a:bodyPr>
          <a:lstStyle/>
          <a:p>
            <a:r>
              <a:rPr lang="en-US" dirty="0"/>
              <a:t>The class library, </a:t>
            </a:r>
            <a:r>
              <a:rPr lang="en-US" dirty="0" err="1"/>
              <a:t>UtilityLibraries.StringLibrary</a:t>
            </a:r>
            <a:r>
              <a:rPr lang="en-US" dirty="0"/>
              <a:t>, contains a method named </a:t>
            </a:r>
            <a:r>
              <a:rPr lang="en-US" dirty="0" err="1"/>
              <a:t>StartsWithUpper</a:t>
            </a:r>
            <a:r>
              <a:rPr lang="en-US" dirty="0"/>
              <a:t>. This method returns a Boolean value that indicates whether the current string instance begins with an uppercase character. The Unicode standard distinguishes uppercase characters from lowercase characters. The </a:t>
            </a:r>
            <a:r>
              <a:rPr lang="en-US" dirty="0" err="1"/>
              <a:t>Char.IsUpper</a:t>
            </a:r>
            <a:r>
              <a:rPr lang="en-US" dirty="0"/>
              <a:t>(Char) method returns true if a character is uppercase.</a:t>
            </a:r>
          </a:p>
          <a:p>
            <a:endParaRPr lang="en-US" dirty="0"/>
          </a:p>
          <a:p>
            <a:r>
              <a:rPr lang="en-US" dirty="0" err="1"/>
              <a:t>StartsWithUpper</a:t>
            </a:r>
            <a:r>
              <a:rPr lang="en-US" dirty="0"/>
              <a:t> is implemented as an extension method so that you can call it as if it were a member of the String class.</a:t>
            </a:r>
            <a:endParaRPr lang="en-IN" dirty="0"/>
          </a:p>
        </p:txBody>
      </p:sp>
      <p:sp>
        <p:nvSpPr>
          <p:cNvPr id="11" name="TextBox 10">
            <a:extLst>
              <a:ext uri="{FF2B5EF4-FFF2-40B4-BE49-F238E27FC236}">
                <a16:creationId xmlns:a16="http://schemas.microsoft.com/office/drawing/2014/main" id="{923AD94A-DE8A-4836-AD6E-4BC5F6043C78}"/>
              </a:ext>
            </a:extLst>
          </p:cNvPr>
          <p:cNvSpPr txBox="1"/>
          <p:nvPr/>
        </p:nvSpPr>
        <p:spPr>
          <a:xfrm>
            <a:off x="304800" y="5565338"/>
            <a:ext cx="8153400" cy="923330"/>
          </a:xfrm>
          <a:prstGeom prst="rect">
            <a:avLst/>
          </a:prstGeom>
          <a:noFill/>
        </p:spPr>
        <p:txBody>
          <a:bodyPr wrap="square">
            <a:spAutoFit/>
          </a:bodyPr>
          <a:lstStyle/>
          <a:p>
            <a:r>
              <a:rPr lang="en-US" dirty="0"/>
              <a:t>Save the file.</a:t>
            </a:r>
          </a:p>
          <a:p>
            <a:r>
              <a:rPr lang="en-US" dirty="0"/>
              <a:t>Run the following command to build the solution and verify that the project compiles without error.    .NET CLI      </a:t>
            </a:r>
            <a:r>
              <a:rPr lang="en-US" dirty="0">
                <a:highlight>
                  <a:srgbClr val="C0C0C0"/>
                </a:highlight>
              </a:rPr>
              <a:t>dotnet build</a:t>
            </a:r>
            <a:endParaRPr lang="en-IN" dirty="0">
              <a:highlight>
                <a:srgbClr val="C0C0C0"/>
              </a:highlight>
            </a:endParaRPr>
          </a:p>
        </p:txBody>
      </p:sp>
    </p:spTree>
    <p:extLst>
      <p:ext uri="{BB962C8B-B14F-4D97-AF65-F5344CB8AC3E}">
        <p14:creationId xmlns:p14="http://schemas.microsoft.com/office/powerpoint/2010/main" val="24237222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E701792-6BD3-420F-AA15-C1FBEE068431}"/>
              </a:ext>
            </a:extLst>
          </p:cNvPr>
          <p:cNvSpPr txBox="1"/>
          <p:nvPr/>
        </p:nvSpPr>
        <p:spPr>
          <a:xfrm>
            <a:off x="228600" y="699724"/>
            <a:ext cx="8763000" cy="3970318"/>
          </a:xfrm>
          <a:prstGeom prst="rect">
            <a:avLst/>
          </a:prstGeom>
          <a:noFill/>
        </p:spPr>
        <p:txBody>
          <a:bodyPr wrap="square">
            <a:spAutoFit/>
          </a:bodyPr>
          <a:lstStyle/>
          <a:p>
            <a:r>
              <a:rPr lang="en-US" dirty="0"/>
              <a:t>The terminal output looks like the following example:</a:t>
            </a:r>
          </a:p>
          <a:p>
            <a:endParaRPr lang="en-US" dirty="0"/>
          </a:p>
          <a:p>
            <a:r>
              <a:rPr lang="en-US" b="1" dirty="0"/>
              <a:t>Output</a:t>
            </a:r>
          </a:p>
          <a:p>
            <a:endParaRPr lang="en-US" dirty="0"/>
          </a:p>
          <a:p>
            <a:r>
              <a:rPr lang="en-US" dirty="0"/>
              <a:t>Microsoft (R) Build Engine version 16.7.0+b89cb5fde for .NET</a:t>
            </a:r>
          </a:p>
          <a:p>
            <a:r>
              <a:rPr lang="en-US" dirty="0"/>
              <a:t>Copyright (C) Microsoft Corporation. All rights reserved.</a:t>
            </a:r>
          </a:p>
          <a:p>
            <a:r>
              <a:rPr lang="en-US" dirty="0"/>
              <a:t>  Determining projects to restore...</a:t>
            </a:r>
          </a:p>
          <a:p>
            <a:r>
              <a:rPr lang="en-US" dirty="0"/>
              <a:t>  All projects are up-to-date for restore.</a:t>
            </a:r>
          </a:p>
          <a:p>
            <a:r>
              <a:rPr lang="en-US" dirty="0"/>
              <a:t>  </a:t>
            </a:r>
            <a:r>
              <a:rPr lang="en-US" dirty="0" err="1"/>
              <a:t>StringLibrary</a:t>
            </a:r>
            <a:r>
              <a:rPr lang="en-US" dirty="0"/>
              <a:t> -&gt; C:\Projects\ClassLibraryProjects\StringLibrary\bin\Debug\net5.0\StringLibrary.dll</a:t>
            </a:r>
          </a:p>
          <a:p>
            <a:r>
              <a:rPr lang="en-US" dirty="0"/>
              <a:t>Build succeeded.</a:t>
            </a:r>
          </a:p>
          <a:p>
            <a:r>
              <a:rPr lang="en-US" dirty="0"/>
              <a:t>    0 Warning(s)</a:t>
            </a:r>
          </a:p>
          <a:p>
            <a:r>
              <a:rPr lang="en-US" dirty="0"/>
              <a:t>    0 Error(s)</a:t>
            </a:r>
          </a:p>
          <a:p>
            <a:r>
              <a:rPr lang="en-US" dirty="0"/>
              <a:t>Time Elapsed 00:00:02.78</a:t>
            </a:r>
            <a:endParaRPr lang="en-IN" dirty="0"/>
          </a:p>
        </p:txBody>
      </p:sp>
    </p:spTree>
    <p:extLst>
      <p:ext uri="{BB962C8B-B14F-4D97-AF65-F5344CB8AC3E}">
        <p14:creationId xmlns:p14="http://schemas.microsoft.com/office/powerpoint/2010/main" val="1509687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66F4E-50DF-4C35-A7C6-CC8CC0CADE25}"/>
              </a:ext>
            </a:extLst>
          </p:cNvPr>
          <p:cNvSpPr>
            <a:spLocks noGrp="1"/>
          </p:cNvSpPr>
          <p:nvPr>
            <p:ph type="title"/>
          </p:nvPr>
        </p:nvSpPr>
        <p:spPr>
          <a:xfrm>
            <a:off x="1371600" y="76200"/>
            <a:ext cx="7086600" cy="457199"/>
          </a:xfrm>
        </p:spPr>
        <p:txBody>
          <a:bodyPr>
            <a:noAutofit/>
          </a:bodyPr>
          <a:lstStyle/>
          <a:p>
            <a:r>
              <a:rPr lang="en-US" sz="2400" dirty="0"/>
              <a:t>Add a console app to the solution</a:t>
            </a:r>
            <a:endParaRPr lang="en-IN" sz="2400" dirty="0"/>
          </a:p>
        </p:txBody>
      </p:sp>
      <p:sp>
        <p:nvSpPr>
          <p:cNvPr id="4" name="Rectangle 1">
            <a:extLst>
              <a:ext uri="{FF2B5EF4-FFF2-40B4-BE49-F238E27FC236}">
                <a16:creationId xmlns:a16="http://schemas.microsoft.com/office/drawing/2014/main" id="{377F0FA3-66D3-40E6-AE7F-98DD389F655E}"/>
              </a:ext>
            </a:extLst>
          </p:cNvPr>
          <p:cNvSpPr>
            <a:spLocks noGrp="1" noChangeArrowheads="1"/>
          </p:cNvSpPr>
          <p:nvPr>
            <p:ph idx="1"/>
          </p:nvPr>
        </p:nvSpPr>
        <p:spPr bwMode="auto">
          <a:xfrm>
            <a:off x="152400" y="683569"/>
            <a:ext cx="8763000" cy="513986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Add a console application that uses the class library. The app will prompt the user to enter a string and report whether the string begins with an uppercase character.</a:t>
            </a:r>
            <a:endParaRPr kumimoji="0" lang="en-US" altLang="en-US" sz="9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In the terminal, run the following command to create the console app project: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.NET CLI</a:t>
            </a:r>
            <a:endParaRPr kumimoji="0" lang="en-US" altLang="en-US" sz="1200" b="0" i="0" u="none" strike="noStrike" cap="none" normalizeH="0" baseline="0" dirty="0">
              <a:ln>
                <a:noFill/>
              </a:ln>
              <a:solidFill>
                <a:srgbClr val="0101FD"/>
              </a:solidFill>
              <a:effectLst/>
              <a:latin typeface="SFMono-Regular"/>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101FD"/>
                </a:solidFill>
                <a:effectLst/>
                <a:highlight>
                  <a:srgbClr val="C0C0C0"/>
                </a:highlight>
                <a:latin typeface="SFMono-Regular"/>
                <a:cs typeface="Segoe UI" panose="020B0502040204020203" pitchFamily="34" charset="0"/>
              </a:rPr>
              <a:t>dotnet</a:t>
            </a:r>
            <a:r>
              <a:rPr kumimoji="0" lang="en-US" altLang="en-US" sz="1200" b="0" i="0" u="none" strike="noStrike" cap="none" normalizeH="0" baseline="0" dirty="0">
                <a:ln>
                  <a:noFill/>
                </a:ln>
                <a:solidFill>
                  <a:srgbClr val="171717"/>
                </a:solidFill>
                <a:effectLst/>
                <a:highlight>
                  <a:srgbClr val="C0C0C0"/>
                </a:highlight>
                <a:latin typeface="SFMono-Regular"/>
                <a:cs typeface="Segoe UI" panose="020B0502040204020203" pitchFamily="34" charset="0"/>
              </a:rPr>
              <a:t> </a:t>
            </a:r>
            <a:r>
              <a:rPr kumimoji="0" lang="en-US" altLang="en-US" sz="1200" b="0" i="0" u="none" strike="noStrike" cap="none" normalizeH="0" baseline="0" dirty="0">
                <a:ln>
                  <a:noFill/>
                </a:ln>
                <a:solidFill>
                  <a:srgbClr val="0101FD"/>
                </a:solidFill>
                <a:effectLst/>
                <a:highlight>
                  <a:srgbClr val="C0C0C0"/>
                </a:highlight>
                <a:latin typeface="SFMono-Regular"/>
                <a:cs typeface="Segoe UI" panose="020B0502040204020203" pitchFamily="34" charset="0"/>
              </a:rPr>
              <a:t>new</a:t>
            </a:r>
            <a:r>
              <a:rPr kumimoji="0" lang="en-US" altLang="en-US" sz="1200" b="0" i="0" u="none" strike="noStrike" cap="none" normalizeH="0" baseline="0" dirty="0">
                <a:ln>
                  <a:noFill/>
                </a:ln>
                <a:solidFill>
                  <a:srgbClr val="171717"/>
                </a:solidFill>
                <a:effectLst/>
                <a:highlight>
                  <a:srgbClr val="C0C0C0"/>
                </a:highlight>
                <a:latin typeface="SFMono-Regular"/>
                <a:cs typeface="Segoe UI" panose="020B0502040204020203" pitchFamily="34" charset="0"/>
              </a:rPr>
              <a:t> console</a:t>
            </a:r>
            <a:r>
              <a:rPr kumimoji="0" lang="en-US" altLang="en-US" sz="1200" b="0" i="0" u="none" strike="noStrike" cap="none" normalizeH="0" baseline="0" dirty="0">
                <a:ln>
                  <a:noFill/>
                </a:ln>
                <a:solidFill>
                  <a:srgbClr val="006881"/>
                </a:solidFill>
                <a:effectLst/>
                <a:highlight>
                  <a:srgbClr val="C0C0C0"/>
                </a:highlight>
                <a:latin typeface="SFMono-Regular"/>
                <a:cs typeface="Segoe UI" panose="020B0502040204020203" pitchFamily="34" charset="0"/>
              </a:rPr>
              <a:t> -o</a:t>
            </a:r>
            <a:r>
              <a:rPr kumimoji="0" lang="en-US" altLang="en-US" sz="1200" b="0" i="0" u="none" strike="noStrike" cap="none" normalizeH="0" baseline="0" dirty="0">
                <a:ln>
                  <a:noFill/>
                </a:ln>
                <a:solidFill>
                  <a:srgbClr val="171717"/>
                </a:solidFill>
                <a:effectLst/>
                <a:highlight>
                  <a:srgbClr val="C0C0C0"/>
                </a:highlight>
                <a:latin typeface="SFMono-Regular"/>
                <a:cs typeface="Segoe UI" panose="020B0502040204020203" pitchFamily="34" charset="0"/>
              </a:rPr>
              <a:t> </a:t>
            </a:r>
            <a:r>
              <a:rPr kumimoji="0" lang="en-US" altLang="en-US" sz="1200" b="0" i="0" u="none" strike="noStrike" cap="none" normalizeH="0" baseline="0" dirty="0" err="1">
                <a:ln>
                  <a:noFill/>
                </a:ln>
                <a:solidFill>
                  <a:srgbClr val="171717"/>
                </a:solidFill>
                <a:effectLst/>
                <a:highlight>
                  <a:srgbClr val="C0C0C0"/>
                </a:highlight>
                <a:latin typeface="SFMono-Regular"/>
                <a:cs typeface="Segoe UI" panose="020B0502040204020203" pitchFamily="34" charset="0"/>
              </a:rPr>
              <a:t>ShowCase</a:t>
            </a:r>
            <a:r>
              <a:rPr kumimoji="0" lang="en-US" altLang="en-US" sz="1200" b="0" i="0" u="none" strike="noStrike" cap="none" normalizeH="0" baseline="0" dirty="0">
                <a:ln>
                  <a:noFill/>
                </a:ln>
                <a:solidFill>
                  <a:srgbClr val="171717"/>
                </a:solidFill>
                <a:effectLst/>
                <a:highlight>
                  <a:srgbClr val="C0C0C0"/>
                </a:highlight>
                <a:latin typeface="SFMono-Regular"/>
                <a:cs typeface="Segoe UI" panose="020B0502040204020203" pitchFamily="34" charset="0"/>
              </a:rPr>
              <a:t> </a:t>
            </a:r>
            <a:endParaRPr kumimoji="0" lang="en-US" altLang="en-US" sz="1800" b="0" i="0" u="none" strike="noStrike" cap="none" normalizeH="0" baseline="0" dirty="0">
              <a:ln>
                <a:noFill/>
              </a:ln>
              <a:solidFill>
                <a:srgbClr val="171717"/>
              </a:solidFill>
              <a:effectLst/>
              <a:highlight>
                <a:srgbClr val="C0C0C0"/>
              </a:highligh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The terminal output looks like the following example: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Output</a:t>
            </a:r>
            <a:endParaRPr kumimoji="0" lang="en-US" altLang="en-US" sz="1200" b="0" i="0" u="none" strike="noStrike" cap="none" normalizeH="0" baseline="0" dirty="0">
              <a:ln>
                <a:noFill/>
              </a:ln>
              <a:solidFill>
                <a:srgbClr val="171717"/>
              </a:solidFill>
              <a:effectLst/>
              <a:latin typeface="SFMono-Regular"/>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171717"/>
                </a:solidFill>
                <a:effectLst/>
                <a:latin typeface="SFMono-Regular"/>
                <a:cs typeface="Segoe UI" panose="020B0502040204020203" pitchFamily="34" charset="0"/>
              </a:rPr>
              <a:t>The template "Console Application" was created successfully. Processing post-creation actions... Running 'dotnet restore' on </a:t>
            </a:r>
            <a:r>
              <a:rPr kumimoji="0" lang="en-US" altLang="en-US" sz="1200" b="0" i="0" u="none" strike="noStrike" cap="none" normalizeH="0" baseline="0" dirty="0" err="1">
                <a:ln>
                  <a:noFill/>
                </a:ln>
                <a:solidFill>
                  <a:srgbClr val="171717"/>
                </a:solidFill>
                <a:effectLst/>
                <a:latin typeface="SFMono-Regular"/>
                <a:cs typeface="Segoe UI" panose="020B0502040204020203" pitchFamily="34" charset="0"/>
              </a:rPr>
              <a:t>ShowCase</a:t>
            </a:r>
            <a:r>
              <a:rPr kumimoji="0" lang="en-US" altLang="en-US" sz="1200" b="0" i="0" u="none" strike="noStrike" cap="none" normalizeH="0" baseline="0" dirty="0">
                <a:ln>
                  <a:noFill/>
                </a:ln>
                <a:solidFill>
                  <a:srgbClr val="171717"/>
                </a:solidFill>
                <a:effectLst/>
                <a:latin typeface="SFMono-Regular"/>
                <a:cs typeface="Segoe UI" panose="020B0502040204020203" pitchFamily="34" charset="0"/>
              </a:rPr>
              <a:t>\</a:t>
            </a:r>
            <a:r>
              <a:rPr kumimoji="0" lang="en-US" altLang="en-US" sz="1200" b="0" i="0" u="none" strike="noStrike" cap="none" normalizeH="0" baseline="0" dirty="0" err="1">
                <a:ln>
                  <a:noFill/>
                </a:ln>
                <a:solidFill>
                  <a:srgbClr val="171717"/>
                </a:solidFill>
                <a:effectLst/>
                <a:latin typeface="SFMono-Regular"/>
                <a:cs typeface="Segoe UI" panose="020B0502040204020203" pitchFamily="34" charset="0"/>
              </a:rPr>
              <a:t>ShowCase.csproj</a:t>
            </a:r>
            <a:r>
              <a:rPr kumimoji="0" lang="en-US" altLang="en-US" sz="1200" b="0" i="0" u="none" strike="noStrike" cap="none" normalizeH="0" baseline="0" dirty="0">
                <a:ln>
                  <a:noFill/>
                </a:ln>
                <a:solidFill>
                  <a:srgbClr val="171717"/>
                </a:solidFill>
                <a:effectLst/>
                <a:latin typeface="SFMono-Regular"/>
                <a:cs typeface="Segoe UI" panose="020B0502040204020203" pitchFamily="34" charset="0"/>
              </a:rPr>
              <a:t>... Determining projects to restore... Restored C:\Projects\ClassLibraryProjects\ShowCase\ShowCase.csproj (in 210 </a:t>
            </a:r>
            <a:r>
              <a:rPr kumimoji="0" lang="en-US" altLang="en-US" sz="1200" b="0" i="0" u="none" strike="noStrike" cap="none" normalizeH="0" baseline="0" dirty="0" err="1">
                <a:ln>
                  <a:noFill/>
                </a:ln>
                <a:solidFill>
                  <a:srgbClr val="171717"/>
                </a:solidFill>
                <a:effectLst/>
                <a:latin typeface="SFMono-Regular"/>
                <a:cs typeface="Segoe UI" panose="020B0502040204020203" pitchFamily="34" charset="0"/>
              </a:rPr>
              <a:t>ms</a:t>
            </a:r>
            <a:r>
              <a:rPr kumimoji="0" lang="en-US" altLang="en-US" sz="1200" b="0" i="0" u="none" strike="noStrike" cap="none" normalizeH="0" baseline="0" dirty="0">
                <a:ln>
                  <a:noFill/>
                </a:ln>
                <a:solidFill>
                  <a:srgbClr val="171717"/>
                </a:solidFill>
                <a:effectLst/>
                <a:latin typeface="SFMono-Regular"/>
                <a:cs typeface="Segoe UI" panose="020B0502040204020203" pitchFamily="34" charset="0"/>
              </a:rPr>
              <a:t>). Restore succeeded.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8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Run the following command to add the console app project to the solution:</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.NET CLI</a:t>
            </a:r>
            <a:endParaRPr kumimoji="0" lang="en-US" altLang="en-US" sz="1200" b="0" i="0" u="none" strike="noStrike" cap="none" normalizeH="0" baseline="0" dirty="0">
              <a:ln>
                <a:noFill/>
              </a:ln>
              <a:solidFill>
                <a:srgbClr val="0101FD"/>
              </a:solidFill>
              <a:effectLst/>
              <a:latin typeface="SFMono-Regular"/>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101FD"/>
                </a:solidFill>
                <a:effectLst/>
                <a:highlight>
                  <a:srgbClr val="C0C0C0"/>
                </a:highlight>
                <a:latin typeface="SFMono-Regular"/>
                <a:cs typeface="Segoe UI" panose="020B0502040204020203" pitchFamily="34" charset="0"/>
              </a:rPr>
              <a:t>dotnet</a:t>
            </a:r>
            <a:r>
              <a:rPr kumimoji="0" lang="en-US" altLang="en-US" sz="1200" b="0" i="0" u="none" strike="noStrike" cap="none" normalizeH="0" baseline="0" dirty="0">
                <a:ln>
                  <a:noFill/>
                </a:ln>
                <a:solidFill>
                  <a:srgbClr val="171717"/>
                </a:solidFill>
                <a:effectLst/>
                <a:highlight>
                  <a:srgbClr val="C0C0C0"/>
                </a:highlight>
                <a:latin typeface="SFMono-Regular"/>
                <a:cs typeface="Segoe UI" panose="020B0502040204020203" pitchFamily="34" charset="0"/>
              </a:rPr>
              <a:t> </a:t>
            </a:r>
            <a:r>
              <a:rPr kumimoji="0" lang="en-US" altLang="en-US" sz="1200" b="0" i="0" u="none" strike="noStrike" cap="none" normalizeH="0" baseline="0" dirty="0" err="1">
                <a:ln>
                  <a:noFill/>
                </a:ln>
                <a:solidFill>
                  <a:srgbClr val="0101FD"/>
                </a:solidFill>
                <a:effectLst/>
                <a:highlight>
                  <a:srgbClr val="C0C0C0"/>
                </a:highlight>
                <a:latin typeface="SFMono-Regular"/>
                <a:cs typeface="Segoe UI" panose="020B0502040204020203" pitchFamily="34" charset="0"/>
              </a:rPr>
              <a:t>sln</a:t>
            </a:r>
            <a:r>
              <a:rPr kumimoji="0" lang="en-US" altLang="en-US" sz="1200" b="0" i="0" u="none" strike="noStrike" cap="none" normalizeH="0" baseline="0" dirty="0">
                <a:ln>
                  <a:noFill/>
                </a:ln>
                <a:solidFill>
                  <a:srgbClr val="171717"/>
                </a:solidFill>
                <a:effectLst/>
                <a:highlight>
                  <a:srgbClr val="C0C0C0"/>
                </a:highlight>
                <a:latin typeface="SFMono-Regular"/>
                <a:cs typeface="Segoe UI" panose="020B0502040204020203" pitchFamily="34" charset="0"/>
              </a:rPr>
              <a:t> </a:t>
            </a:r>
            <a:r>
              <a:rPr kumimoji="0" lang="en-US" altLang="en-US" sz="1200" b="0" i="0" u="none" strike="noStrike" cap="none" normalizeH="0" baseline="0" dirty="0">
                <a:ln>
                  <a:noFill/>
                </a:ln>
                <a:solidFill>
                  <a:srgbClr val="0101FD"/>
                </a:solidFill>
                <a:effectLst/>
                <a:highlight>
                  <a:srgbClr val="C0C0C0"/>
                </a:highlight>
                <a:latin typeface="SFMono-Regular"/>
                <a:cs typeface="Segoe UI" panose="020B0502040204020203" pitchFamily="34" charset="0"/>
              </a:rPr>
              <a:t>add</a:t>
            </a:r>
            <a:r>
              <a:rPr kumimoji="0" lang="en-US" altLang="en-US" sz="1200" b="0" i="0" u="none" strike="noStrike" cap="none" normalizeH="0" baseline="0" dirty="0">
                <a:ln>
                  <a:noFill/>
                </a:ln>
                <a:solidFill>
                  <a:srgbClr val="171717"/>
                </a:solidFill>
                <a:effectLst/>
                <a:highlight>
                  <a:srgbClr val="C0C0C0"/>
                </a:highlight>
                <a:latin typeface="SFMono-Regular"/>
                <a:cs typeface="Segoe UI" panose="020B0502040204020203" pitchFamily="34" charset="0"/>
              </a:rPr>
              <a:t> </a:t>
            </a:r>
            <a:r>
              <a:rPr kumimoji="0" lang="en-US" altLang="en-US" sz="1200" b="0" i="0" u="none" strike="noStrike" cap="none" normalizeH="0" baseline="0" dirty="0" err="1">
                <a:ln>
                  <a:noFill/>
                </a:ln>
                <a:solidFill>
                  <a:srgbClr val="171717"/>
                </a:solidFill>
                <a:effectLst/>
                <a:highlight>
                  <a:srgbClr val="C0C0C0"/>
                </a:highlight>
                <a:latin typeface="SFMono-Regular"/>
                <a:cs typeface="Segoe UI" panose="020B0502040204020203" pitchFamily="34" charset="0"/>
              </a:rPr>
              <a:t>ShowCase</a:t>
            </a:r>
            <a:r>
              <a:rPr kumimoji="0" lang="en-US" altLang="en-US" sz="1200" b="0" i="0" u="none" strike="noStrike" cap="none" normalizeH="0" baseline="0" dirty="0">
                <a:ln>
                  <a:noFill/>
                </a:ln>
                <a:solidFill>
                  <a:srgbClr val="171717"/>
                </a:solidFill>
                <a:effectLst/>
                <a:highlight>
                  <a:srgbClr val="C0C0C0"/>
                </a:highlight>
                <a:latin typeface="SFMono-Regular"/>
                <a:cs typeface="Segoe UI" panose="020B0502040204020203" pitchFamily="34" charset="0"/>
              </a:rPr>
              <a:t>/</a:t>
            </a:r>
            <a:r>
              <a:rPr kumimoji="0" lang="en-US" altLang="en-US" sz="1200" b="0" i="0" u="none" strike="noStrike" cap="none" normalizeH="0" baseline="0" dirty="0" err="1">
                <a:ln>
                  <a:noFill/>
                </a:ln>
                <a:solidFill>
                  <a:srgbClr val="171717"/>
                </a:solidFill>
                <a:effectLst/>
                <a:highlight>
                  <a:srgbClr val="C0C0C0"/>
                </a:highlight>
                <a:latin typeface="SFMono-Regular"/>
                <a:cs typeface="Segoe UI" panose="020B0502040204020203" pitchFamily="34" charset="0"/>
              </a:rPr>
              <a:t>ShowCase.csproj</a:t>
            </a:r>
            <a:r>
              <a:rPr kumimoji="0" lang="en-US" altLang="en-US" sz="1200" b="0" i="0" u="none" strike="noStrike" cap="none" normalizeH="0" baseline="0" dirty="0">
                <a:ln>
                  <a:noFill/>
                </a:ln>
                <a:solidFill>
                  <a:srgbClr val="171717"/>
                </a:solidFill>
                <a:effectLst/>
                <a:highlight>
                  <a:srgbClr val="C0C0C0"/>
                </a:highlight>
                <a:latin typeface="SFMono-Regular"/>
                <a:cs typeface="Segoe UI" panose="020B0502040204020203" pitchFamily="34" charset="0"/>
              </a:rPr>
              <a:t> </a:t>
            </a:r>
            <a:endParaRPr kumimoji="0" lang="en-US" altLang="en-US" sz="1800" b="0" i="0" u="none" strike="noStrike" cap="none" normalizeH="0" baseline="0" dirty="0">
              <a:ln>
                <a:noFill/>
              </a:ln>
              <a:solidFill>
                <a:srgbClr val="171717"/>
              </a:solidFill>
              <a:effectLst/>
              <a:highlight>
                <a:srgbClr val="C0C0C0"/>
              </a:highligh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The terminal output looks like the following example: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Output</a:t>
            </a:r>
            <a:endParaRPr kumimoji="0" lang="en-US" altLang="en-US" sz="1200" b="0" i="0" u="none" strike="noStrike" cap="none" normalizeH="0" baseline="0" dirty="0">
              <a:ln>
                <a:noFill/>
              </a:ln>
              <a:solidFill>
                <a:srgbClr val="171717"/>
              </a:solidFill>
              <a:effectLst/>
              <a:latin typeface="SFMono-Regular"/>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171717"/>
                </a:solidFill>
                <a:effectLst/>
                <a:latin typeface="SFMono-Regular"/>
                <a:cs typeface="Segoe UI" panose="020B0502040204020203" pitchFamily="34" charset="0"/>
              </a:rPr>
              <a:t>Project `</a:t>
            </a:r>
            <a:r>
              <a:rPr kumimoji="0" lang="en-US" altLang="en-US" sz="1200" b="0" i="0" u="none" strike="noStrike" cap="none" normalizeH="0" baseline="0" dirty="0" err="1">
                <a:ln>
                  <a:noFill/>
                </a:ln>
                <a:solidFill>
                  <a:srgbClr val="171717"/>
                </a:solidFill>
                <a:effectLst/>
                <a:latin typeface="SFMono-Regular"/>
                <a:cs typeface="Segoe UI" panose="020B0502040204020203" pitchFamily="34" charset="0"/>
              </a:rPr>
              <a:t>ShowCase</a:t>
            </a:r>
            <a:r>
              <a:rPr kumimoji="0" lang="en-US" altLang="en-US" sz="1200" b="0" i="0" u="none" strike="noStrike" cap="none" normalizeH="0" baseline="0" dirty="0">
                <a:ln>
                  <a:noFill/>
                </a:ln>
                <a:solidFill>
                  <a:srgbClr val="171717"/>
                </a:solidFill>
                <a:effectLst/>
                <a:latin typeface="SFMono-Regular"/>
                <a:cs typeface="Segoe UI" panose="020B0502040204020203" pitchFamily="34" charset="0"/>
              </a:rPr>
              <a:t>\</a:t>
            </a:r>
            <a:r>
              <a:rPr kumimoji="0" lang="en-US" altLang="en-US" sz="1200" b="0" i="0" u="none" strike="noStrike" cap="none" normalizeH="0" baseline="0" dirty="0" err="1">
                <a:ln>
                  <a:noFill/>
                </a:ln>
                <a:solidFill>
                  <a:srgbClr val="171717"/>
                </a:solidFill>
                <a:effectLst/>
                <a:latin typeface="SFMono-Regular"/>
                <a:cs typeface="Segoe UI" panose="020B0502040204020203" pitchFamily="34" charset="0"/>
              </a:rPr>
              <a:t>ShowCase.csproj</a:t>
            </a:r>
            <a:r>
              <a:rPr kumimoji="0" lang="en-US" altLang="en-US" sz="1200" b="0" i="0" u="none" strike="noStrike" cap="none" normalizeH="0" baseline="0" dirty="0">
                <a:ln>
                  <a:noFill/>
                </a:ln>
                <a:solidFill>
                  <a:srgbClr val="171717"/>
                </a:solidFill>
                <a:effectLst/>
                <a:latin typeface="SFMono-Regular"/>
                <a:cs typeface="Segoe UI" panose="020B0502040204020203" pitchFamily="34" charset="0"/>
              </a:rPr>
              <a:t>` added to the solution.</a:t>
            </a:r>
            <a:endParaRPr kumimoji="0" lang="en-US" altLang="en-US" sz="18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200956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3C1DCCC-27A2-4A06-9A34-BD638D67CA93}"/>
              </a:ext>
            </a:extLst>
          </p:cNvPr>
          <p:cNvSpPr txBox="1"/>
          <p:nvPr/>
        </p:nvSpPr>
        <p:spPr>
          <a:xfrm>
            <a:off x="228600" y="152401"/>
            <a:ext cx="8610600" cy="6924973"/>
          </a:xfrm>
          <a:prstGeom prst="rect">
            <a:avLst/>
          </a:prstGeom>
          <a:noFill/>
        </p:spPr>
        <p:txBody>
          <a:bodyPr wrap="square">
            <a:spAutoFit/>
          </a:bodyPr>
          <a:lstStyle/>
          <a:p>
            <a:r>
              <a:rPr lang="en-IN" sz="1200" dirty="0"/>
              <a:t>	Open </a:t>
            </a:r>
            <a:r>
              <a:rPr lang="en-IN" sz="1200" dirty="0" err="1"/>
              <a:t>ShowCase</a:t>
            </a:r>
            <a:r>
              <a:rPr lang="en-IN" sz="1200" dirty="0"/>
              <a:t>/</a:t>
            </a:r>
            <a:r>
              <a:rPr lang="en-IN" sz="1200" dirty="0" err="1"/>
              <a:t>Program.cs</a:t>
            </a:r>
            <a:r>
              <a:rPr lang="en-IN" sz="1200" dirty="0"/>
              <a:t> and replace all of the code with the following code.        </a:t>
            </a:r>
            <a:r>
              <a:rPr lang="en-IN" sz="1200" dirty="0" err="1"/>
              <a:t>C#Copy</a:t>
            </a:r>
            <a:endParaRPr lang="en-IN" sz="1200" dirty="0"/>
          </a:p>
          <a:p>
            <a:r>
              <a:rPr lang="en-IN" sz="1200" dirty="0"/>
              <a:t>	using System;</a:t>
            </a:r>
          </a:p>
          <a:p>
            <a:r>
              <a:rPr lang="en-IN" sz="1200" dirty="0"/>
              <a:t>using </a:t>
            </a:r>
            <a:r>
              <a:rPr lang="en-IN" sz="1200" dirty="0" err="1"/>
              <a:t>UtilityLibraries</a:t>
            </a:r>
            <a:r>
              <a:rPr lang="en-IN" sz="1200" dirty="0"/>
              <a:t>;</a:t>
            </a:r>
          </a:p>
          <a:p>
            <a:endParaRPr lang="en-IN" sz="1200" dirty="0"/>
          </a:p>
          <a:p>
            <a:r>
              <a:rPr lang="en-IN" sz="1200" dirty="0"/>
              <a:t>class Program</a:t>
            </a:r>
          </a:p>
          <a:p>
            <a:r>
              <a:rPr lang="en-IN" sz="1200" dirty="0"/>
              <a:t>{</a:t>
            </a:r>
          </a:p>
          <a:p>
            <a:r>
              <a:rPr lang="en-IN" sz="1200" dirty="0"/>
              <a:t>    static void Main(string[] </a:t>
            </a:r>
            <a:r>
              <a:rPr lang="en-IN" sz="1200" dirty="0" err="1"/>
              <a:t>args</a:t>
            </a:r>
            <a:r>
              <a:rPr lang="en-IN" sz="1200" dirty="0"/>
              <a:t>)</a:t>
            </a:r>
          </a:p>
          <a:p>
            <a:r>
              <a:rPr lang="en-IN" sz="1200" dirty="0"/>
              <a:t>    {</a:t>
            </a:r>
          </a:p>
          <a:p>
            <a:r>
              <a:rPr lang="en-IN" sz="1200" dirty="0"/>
              <a:t>        int row = 0;</a:t>
            </a:r>
          </a:p>
          <a:p>
            <a:endParaRPr lang="en-IN" sz="1200" dirty="0"/>
          </a:p>
          <a:p>
            <a:r>
              <a:rPr lang="en-IN" sz="1200" dirty="0"/>
              <a:t>        do</a:t>
            </a:r>
          </a:p>
          <a:p>
            <a:r>
              <a:rPr lang="en-IN" sz="1200" dirty="0"/>
              <a:t>        {</a:t>
            </a:r>
          </a:p>
          <a:p>
            <a:r>
              <a:rPr lang="en-IN" sz="1200" dirty="0"/>
              <a:t>            if (row == 0 || row &gt;= 25)</a:t>
            </a:r>
          </a:p>
          <a:p>
            <a:r>
              <a:rPr lang="en-IN" sz="1200" dirty="0"/>
              <a:t>                </a:t>
            </a:r>
            <a:r>
              <a:rPr lang="en-IN" sz="1200" dirty="0" err="1"/>
              <a:t>ResetConsole</a:t>
            </a:r>
            <a:r>
              <a:rPr lang="en-IN" sz="1200" dirty="0"/>
              <a:t>();</a:t>
            </a:r>
          </a:p>
          <a:p>
            <a:endParaRPr lang="en-IN" sz="1200" dirty="0"/>
          </a:p>
          <a:p>
            <a:r>
              <a:rPr lang="en-IN" sz="1200" dirty="0"/>
              <a:t>            string input = </a:t>
            </a:r>
            <a:r>
              <a:rPr lang="en-IN" sz="1200" dirty="0" err="1"/>
              <a:t>Console.ReadLine</a:t>
            </a:r>
            <a:r>
              <a:rPr lang="en-IN" sz="1200" dirty="0"/>
              <a:t>();</a:t>
            </a:r>
          </a:p>
          <a:p>
            <a:r>
              <a:rPr lang="en-IN" sz="1200" dirty="0"/>
              <a:t>            if (</a:t>
            </a:r>
            <a:r>
              <a:rPr lang="en-IN" sz="1200" dirty="0" err="1"/>
              <a:t>string.IsNullOrEmpty</a:t>
            </a:r>
            <a:r>
              <a:rPr lang="en-IN" sz="1200" dirty="0"/>
              <a:t>(input)) break;</a:t>
            </a:r>
          </a:p>
          <a:p>
            <a:r>
              <a:rPr lang="en-IN" sz="1200" dirty="0"/>
              <a:t>            </a:t>
            </a:r>
            <a:r>
              <a:rPr lang="en-IN" sz="1200" dirty="0" err="1"/>
              <a:t>Console.WriteLine</a:t>
            </a:r>
            <a:r>
              <a:rPr lang="en-IN" sz="1200" dirty="0"/>
              <a:t>($"Input: {input} {"Begins with uppercase? ",30}: " +       $"{(</a:t>
            </a:r>
            <a:r>
              <a:rPr lang="en-IN" sz="1200" dirty="0" err="1"/>
              <a:t>input.StartsWithUpper</a:t>
            </a:r>
            <a:r>
              <a:rPr lang="en-IN" sz="1200" dirty="0"/>
              <a:t>() ? "Yes" :: "No") } {</a:t>
            </a:r>
            <a:r>
              <a:rPr lang="en-IN" sz="1200" dirty="0" err="1"/>
              <a:t>Environment.NewLine</a:t>
            </a:r>
            <a:r>
              <a:rPr lang="en-IN" sz="1200" dirty="0"/>
              <a:t>}");</a:t>
            </a:r>
          </a:p>
          <a:p>
            <a:r>
              <a:rPr lang="en-IN" sz="1200" dirty="0"/>
              <a:t>            row += 3;</a:t>
            </a:r>
          </a:p>
          <a:p>
            <a:r>
              <a:rPr lang="en-IN" sz="1200" dirty="0"/>
              <a:t>        } while (true);</a:t>
            </a:r>
          </a:p>
          <a:p>
            <a:r>
              <a:rPr lang="en-IN" sz="1200" dirty="0"/>
              <a:t>        return;</a:t>
            </a:r>
          </a:p>
          <a:p>
            <a:endParaRPr lang="en-IN" sz="1200" dirty="0"/>
          </a:p>
          <a:p>
            <a:r>
              <a:rPr lang="en-IN" sz="1200" dirty="0"/>
              <a:t>        // Declare a </a:t>
            </a:r>
            <a:r>
              <a:rPr lang="en-IN" sz="1200" dirty="0" err="1"/>
              <a:t>ResetConsole</a:t>
            </a:r>
            <a:r>
              <a:rPr lang="en-IN" sz="1200" dirty="0"/>
              <a:t> local method</a:t>
            </a:r>
          </a:p>
          <a:p>
            <a:r>
              <a:rPr lang="en-IN" sz="1200" dirty="0"/>
              <a:t>        void </a:t>
            </a:r>
            <a:r>
              <a:rPr lang="en-IN" sz="1200" dirty="0" err="1"/>
              <a:t>ResetConsole</a:t>
            </a:r>
            <a:r>
              <a:rPr lang="en-IN" sz="1200" dirty="0"/>
              <a:t>()</a:t>
            </a:r>
          </a:p>
          <a:p>
            <a:r>
              <a:rPr lang="en-IN" sz="1200" dirty="0"/>
              <a:t>        {</a:t>
            </a:r>
          </a:p>
          <a:p>
            <a:r>
              <a:rPr lang="en-IN" sz="1200" dirty="0"/>
              <a:t>            if (row &gt; 0)</a:t>
            </a:r>
          </a:p>
          <a:p>
            <a:r>
              <a:rPr lang="en-IN" sz="1200" dirty="0"/>
              <a:t>            {                 </a:t>
            </a:r>
            <a:r>
              <a:rPr lang="en-IN" sz="1200" dirty="0" err="1"/>
              <a:t>Console.WriteLine</a:t>
            </a:r>
            <a:r>
              <a:rPr lang="en-IN" sz="1200" dirty="0"/>
              <a:t>("Press any key to continue...");</a:t>
            </a:r>
          </a:p>
          <a:p>
            <a:r>
              <a:rPr lang="en-IN" sz="1200" dirty="0"/>
              <a:t>                </a:t>
            </a:r>
            <a:r>
              <a:rPr lang="en-IN" sz="1200" dirty="0" err="1"/>
              <a:t>Console.ReadKey</a:t>
            </a:r>
            <a:r>
              <a:rPr lang="en-IN" sz="1200" dirty="0"/>
              <a:t>();</a:t>
            </a:r>
          </a:p>
          <a:p>
            <a:r>
              <a:rPr lang="en-IN" sz="1200" dirty="0"/>
              <a:t>            }</a:t>
            </a:r>
          </a:p>
          <a:p>
            <a:r>
              <a:rPr lang="en-IN" sz="1200" dirty="0"/>
              <a:t>            </a:t>
            </a:r>
            <a:r>
              <a:rPr lang="en-IN" sz="1200" dirty="0" err="1"/>
              <a:t>Console.Clear</a:t>
            </a:r>
            <a:r>
              <a:rPr lang="en-IN" sz="1200" dirty="0"/>
              <a:t>();</a:t>
            </a:r>
          </a:p>
          <a:p>
            <a:r>
              <a:rPr lang="en-IN" sz="1200" dirty="0"/>
              <a:t>            </a:t>
            </a:r>
            <a:r>
              <a:rPr lang="en-IN" sz="1200" dirty="0" err="1"/>
              <a:t>Console.WriteLine</a:t>
            </a:r>
            <a:r>
              <a:rPr lang="en-IN" sz="1200" dirty="0"/>
              <a:t>($"{</a:t>
            </a:r>
            <a:r>
              <a:rPr lang="en-IN" sz="1200" dirty="0" err="1"/>
              <a:t>Environment.NewLine</a:t>
            </a:r>
            <a:r>
              <a:rPr lang="en-IN" sz="1200" dirty="0"/>
              <a:t>}Press &lt;Enter&gt; only to exit; otherwise, enter a string and press &lt;Enter&gt;:{</a:t>
            </a:r>
            <a:r>
              <a:rPr lang="en-IN" sz="1200" dirty="0" err="1"/>
              <a:t>Environment.NewLine</a:t>
            </a:r>
            <a:r>
              <a:rPr lang="en-IN" sz="1200" dirty="0"/>
              <a:t>}");</a:t>
            </a:r>
          </a:p>
          <a:p>
            <a:r>
              <a:rPr lang="en-IN" sz="1200" dirty="0"/>
              <a:t>            row = 3;</a:t>
            </a:r>
          </a:p>
          <a:p>
            <a:r>
              <a:rPr lang="en-IN" sz="1200" dirty="0"/>
              <a:t>        }</a:t>
            </a:r>
          </a:p>
          <a:p>
            <a:r>
              <a:rPr lang="en-IN" sz="1200" dirty="0"/>
              <a:t>    }</a:t>
            </a:r>
          </a:p>
          <a:p>
            <a:r>
              <a:rPr lang="en-IN" sz="1200" dirty="0"/>
              <a:t>}</a:t>
            </a:r>
          </a:p>
        </p:txBody>
      </p:sp>
    </p:spTree>
    <p:extLst>
      <p:ext uri="{BB962C8B-B14F-4D97-AF65-F5344CB8AC3E}">
        <p14:creationId xmlns:p14="http://schemas.microsoft.com/office/powerpoint/2010/main" val="8164484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EC20A6-6847-4496-8439-1A91F46740A2}"/>
              </a:ext>
            </a:extLst>
          </p:cNvPr>
          <p:cNvSpPr>
            <a:spLocks noGrp="1"/>
          </p:cNvSpPr>
          <p:nvPr>
            <p:ph idx="1"/>
          </p:nvPr>
        </p:nvSpPr>
        <p:spPr>
          <a:xfrm>
            <a:off x="228600" y="533400"/>
            <a:ext cx="8458200" cy="5592763"/>
          </a:xfrm>
        </p:spPr>
        <p:txBody>
          <a:bodyPr>
            <a:normAutofit fontScale="92500" lnSpcReduction="20000"/>
          </a:bodyPr>
          <a:lstStyle/>
          <a:p>
            <a:pPr marL="0" indent="0">
              <a:buNone/>
            </a:pPr>
            <a:r>
              <a:rPr lang="en-US" dirty="0"/>
              <a:t>The code uses the row variable to maintain a count of the number of rows of data written to the console window. Whenever it's greater than or equal to 25, the code clears the console window and displays a message to the user.</a:t>
            </a:r>
          </a:p>
          <a:p>
            <a:pPr marL="0" indent="0">
              <a:buNone/>
            </a:pPr>
            <a:endParaRPr lang="en-US" dirty="0"/>
          </a:p>
          <a:p>
            <a:pPr marL="0" indent="0">
              <a:buNone/>
            </a:pPr>
            <a:r>
              <a:rPr lang="en-US" dirty="0"/>
              <a:t>The program prompts the user to enter a string. It indicates whether the string starts with an uppercase character. If the user presses the Enter key without entering a string, the application ends, and the console window closes.</a:t>
            </a:r>
          </a:p>
          <a:p>
            <a:pPr marL="0" indent="0">
              <a:buNone/>
            </a:pPr>
            <a:endParaRPr lang="en-US" dirty="0"/>
          </a:p>
          <a:p>
            <a:pPr marL="0" indent="0">
              <a:buNone/>
            </a:pPr>
            <a:r>
              <a:rPr lang="en-US" dirty="0"/>
              <a:t>Save your changes.</a:t>
            </a:r>
            <a:endParaRPr lang="en-IN" dirty="0"/>
          </a:p>
        </p:txBody>
      </p:sp>
    </p:spTree>
    <p:extLst>
      <p:ext uri="{BB962C8B-B14F-4D97-AF65-F5344CB8AC3E}">
        <p14:creationId xmlns:p14="http://schemas.microsoft.com/office/powerpoint/2010/main" val="2003259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0E942122-B2DE-452E-872C-DD6472451FA3}"/>
              </a:ext>
            </a:extLst>
          </p:cNvPr>
          <p:cNvSpPr>
            <a:spLocks noGrp="1" noChangeArrowheads="1"/>
          </p:cNvSpPr>
          <p:nvPr>
            <p:ph idx="1"/>
          </p:nvPr>
        </p:nvSpPr>
        <p:spPr bwMode="auto">
          <a:xfrm>
            <a:off x="228600" y="762000"/>
            <a:ext cx="8153400" cy="430887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Add a project reference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Initially, the new console app project doesn't have access to the class library. To allow it to call methods in the class library, create a project reference to the class library project.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20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Run the following command: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.NET CLI</a:t>
            </a:r>
            <a:endParaRPr kumimoji="0" lang="en-US" altLang="en-US" sz="2000" b="0" i="0" u="none" strike="noStrike" cap="none" normalizeH="0" baseline="0" dirty="0">
              <a:ln>
                <a:noFill/>
              </a:ln>
              <a:solidFill>
                <a:srgbClr val="0101FD"/>
              </a:solidFill>
              <a:effectLst/>
              <a:latin typeface="SFMono-Regular"/>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101FD"/>
                </a:solidFill>
                <a:effectLst/>
                <a:latin typeface="SFMono-Regular"/>
                <a:cs typeface="Segoe UI" panose="020B0502040204020203" pitchFamily="34" charset="0"/>
              </a:rPr>
              <a:t>dotnet</a:t>
            </a:r>
            <a:r>
              <a:rPr kumimoji="0" lang="en-US" altLang="en-US" sz="2000" b="0" i="0" u="none" strike="noStrike" cap="none" normalizeH="0" baseline="0" dirty="0">
                <a:ln>
                  <a:noFill/>
                </a:ln>
                <a:solidFill>
                  <a:srgbClr val="171717"/>
                </a:solidFill>
                <a:effectLst/>
                <a:latin typeface="SFMono-Regular"/>
                <a:cs typeface="Segoe UI" panose="020B0502040204020203" pitchFamily="34" charset="0"/>
              </a:rPr>
              <a:t> </a:t>
            </a:r>
            <a:r>
              <a:rPr kumimoji="0" lang="en-US" altLang="en-US" sz="2000" b="0" i="0" u="none" strike="noStrike" cap="none" normalizeH="0" baseline="0" dirty="0">
                <a:ln>
                  <a:noFill/>
                </a:ln>
                <a:solidFill>
                  <a:srgbClr val="0101FD"/>
                </a:solidFill>
                <a:effectLst/>
                <a:latin typeface="SFMono-Regular"/>
                <a:cs typeface="Segoe UI" panose="020B0502040204020203" pitchFamily="34" charset="0"/>
              </a:rPr>
              <a:t>add</a:t>
            </a:r>
            <a:r>
              <a:rPr kumimoji="0" lang="en-US" altLang="en-US" sz="2000" b="0" i="0" u="none" strike="noStrike" cap="none" normalizeH="0" baseline="0" dirty="0">
                <a:ln>
                  <a:noFill/>
                </a:ln>
                <a:solidFill>
                  <a:srgbClr val="171717"/>
                </a:solidFill>
                <a:effectLst/>
                <a:latin typeface="SFMono-Regular"/>
                <a:cs typeface="Segoe UI" panose="020B0502040204020203" pitchFamily="34" charset="0"/>
              </a:rPr>
              <a:t> </a:t>
            </a:r>
            <a:r>
              <a:rPr kumimoji="0" lang="en-US" altLang="en-US" sz="2000" b="0" i="0" u="none" strike="noStrike" cap="none" normalizeH="0" baseline="0" dirty="0" err="1">
                <a:ln>
                  <a:noFill/>
                </a:ln>
                <a:solidFill>
                  <a:srgbClr val="171717"/>
                </a:solidFill>
                <a:effectLst/>
                <a:latin typeface="SFMono-Regular"/>
                <a:cs typeface="Segoe UI" panose="020B0502040204020203" pitchFamily="34" charset="0"/>
              </a:rPr>
              <a:t>ShowCase</a:t>
            </a:r>
            <a:r>
              <a:rPr kumimoji="0" lang="en-US" altLang="en-US" sz="2000" b="0" i="0" u="none" strike="noStrike" cap="none" normalizeH="0" baseline="0" dirty="0">
                <a:ln>
                  <a:noFill/>
                </a:ln>
                <a:solidFill>
                  <a:srgbClr val="171717"/>
                </a:solidFill>
                <a:effectLst/>
                <a:latin typeface="SFMono-Regular"/>
                <a:cs typeface="Segoe UI" panose="020B0502040204020203" pitchFamily="34" charset="0"/>
              </a:rPr>
              <a:t>/</a:t>
            </a:r>
            <a:r>
              <a:rPr kumimoji="0" lang="en-US" altLang="en-US" sz="2000" b="0" i="0" u="none" strike="noStrike" cap="none" normalizeH="0" baseline="0" dirty="0" err="1">
                <a:ln>
                  <a:noFill/>
                </a:ln>
                <a:solidFill>
                  <a:srgbClr val="171717"/>
                </a:solidFill>
                <a:effectLst/>
                <a:latin typeface="SFMono-Regular"/>
                <a:cs typeface="Segoe UI" panose="020B0502040204020203" pitchFamily="34" charset="0"/>
              </a:rPr>
              <a:t>ShowCase.csproj</a:t>
            </a:r>
            <a:r>
              <a:rPr kumimoji="0" lang="en-US" altLang="en-US" sz="2000" b="0" i="0" u="none" strike="noStrike" cap="none" normalizeH="0" baseline="0" dirty="0">
                <a:ln>
                  <a:noFill/>
                </a:ln>
                <a:solidFill>
                  <a:srgbClr val="171717"/>
                </a:solidFill>
                <a:effectLst/>
                <a:latin typeface="SFMono-Regular"/>
                <a:cs typeface="Segoe UI" panose="020B0502040204020203" pitchFamily="34" charset="0"/>
              </a:rPr>
              <a:t> reference </a:t>
            </a:r>
            <a:r>
              <a:rPr kumimoji="0" lang="en-US" altLang="en-US" sz="2000" b="0" i="0" u="none" strike="noStrike" cap="none" normalizeH="0" baseline="0" dirty="0" err="1">
                <a:ln>
                  <a:noFill/>
                </a:ln>
                <a:solidFill>
                  <a:srgbClr val="171717"/>
                </a:solidFill>
                <a:effectLst/>
                <a:latin typeface="SFMono-Regular"/>
                <a:cs typeface="Segoe UI" panose="020B0502040204020203" pitchFamily="34" charset="0"/>
              </a:rPr>
              <a:t>StringLibrary</a:t>
            </a:r>
            <a:r>
              <a:rPr kumimoji="0" lang="en-US" altLang="en-US" sz="2000" b="0" i="0" u="none" strike="noStrike" cap="none" normalizeH="0" baseline="0" dirty="0">
                <a:ln>
                  <a:noFill/>
                </a:ln>
                <a:solidFill>
                  <a:srgbClr val="171717"/>
                </a:solidFill>
                <a:effectLst/>
                <a:latin typeface="SFMono-Regular"/>
                <a:cs typeface="Segoe UI" panose="020B0502040204020203" pitchFamily="34" charset="0"/>
              </a:rPr>
              <a:t>/</a:t>
            </a:r>
            <a:r>
              <a:rPr kumimoji="0" lang="en-US" altLang="en-US" sz="2000" b="0" i="0" u="none" strike="noStrike" cap="none" normalizeH="0" baseline="0" dirty="0" err="1">
                <a:ln>
                  <a:noFill/>
                </a:ln>
                <a:solidFill>
                  <a:srgbClr val="171717"/>
                </a:solidFill>
                <a:effectLst/>
                <a:latin typeface="SFMono-Regular"/>
                <a:cs typeface="Segoe UI" panose="020B0502040204020203" pitchFamily="34" charset="0"/>
              </a:rPr>
              <a:t>StringLibrary.csproj</a:t>
            </a:r>
            <a:r>
              <a:rPr kumimoji="0" lang="en-US" altLang="en-US" sz="2000" b="0" i="0" u="none" strike="noStrike" cap="none" normalizeH="0" baseline="0" dirty="0">
                <a:ln>
                  <a:noFill/>
                </a:ln>
                <a:solidFill>
                  <a:srgbClr val="171717"/>
                </a:solidFill>
                <a:effectLst/>
                <a:latin typeface="SFMono-Regular"/>
                <a:cs typeface="Segoe UI" panose="020B0502040204020203"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The terminal output looks like the following example: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Output</a:t>
            </a:r>
            <a:endParaRPr kumimoji="0" lang="en-US" altLang="en-US" sz="2000" b="0" i="0" u="none" strike="noStrike" cap="none" normalizeH="0" baseline="0" dirty="0">
              <a:ln>
                <a:noFill/>
              </a:ln>
              <a:solidFill>
                <a:srgbClr val="171717"/>
              </a:solidFill>
              <a:effectLst/>
              <a:latin typeface="SFMono-Regular"/>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171717"/>
                </a:solidFill>
                <a:effectLst/>
                <a:latin typeface="SFMono-Regular"/>
                <a:cs typeface="Segoe UI" panose="020B0502040204020203" pitchFamily="34" charset="0"/>
              </a:rPr>
              <a:t>Reference `..\</a:t>
            </a:r>
            <a:r>
              <a:rPr kumimoji="0" lang="en-US" altLang="en-US" sz="2000" b="0" i="0" u="none" strike="noStrike" cap="none" normalizeH="0" baseline="0" dirty="0" err="1">
                <a:ln>
                  <a:noFill/>
                </a:ln>
                <a:solidFill>
                  <a:srgbClr val="171717"/>
                </a:solidFill>
                <a:effectLst/>
                <a:latin typeface="SFMono-Regular"/>
                <a:cs typeface="Segoe UI" panose="020B0502040204020203" pitchFamily="34" charset="0"/>
              </a:rPr>
              <a:t>StringLibrary</a:t>
            </a:r>
            <a:r>
              <a:rPr kumimoji="0" lang="en-US" altLang="en-US" sz="2000" b="0" i="0" u="none" strike="noStrike" cap="none" normalizeH="0" baseline="0" dirty="0">
                <a:ln>
                  <a:noFill/>
                </a:ln>
                <a:solidFill>
                  <a:srgbClr val="171717"/>
                </a:solidFill>
                <a:effectLst/>
                <a:latin typeface="SFMono-Regular"/>
                <a:cs typeface="Segoe UI" panose="020B0502040204020203" pitchFamily="34" charset="0"/>
              </a:rPr>
              <a:t>\</a:t>
            </a:r>
            <a:r>
              <a:rPr kumimoji="0" lang="en-US" altLang="en-US" sz="2000" b="0" i="0" u="none" strike="noStrike" cap="none" normalizeH="0" baseline="0" dirty="0" err="1">
                <a:ln>
                  <a:noFill/>
                </a:ln>
                <a:solidFill>
                  <a:srgbClr val="171717"/>
                </a:solidFill>
                <a:effectLst/>
                <a:latin typeface="SFMono-Regular"/>
                <a:cs typeface="Segoe UI" panose="020B0502040204020203" pitchFamily="34" charset="0"/>
              </a:rPr>
              <a:t>StringLibrary.csproj</a:t>
            </a:r>
            <a:r>
              <a:rPr kumimoji="0" lang="en-US" altLang="en-US" sz="2000" b="0" i="0" u="none" strike="noStrike" cap="none" normalizeH="0" baseline="0" dirty="0">
                <a:ln>
                  <a:noFill/>
                </a:ln>
                <a:solidFill>
                  <a:srgbClr val="171717"/>
                </a:solidFill>
                <a:effectLst/>
                <a:latin typeface="SFMono-Regular"/>
                <a:cs typeface="Segoe UI" panose="020B0502040204020203" pitchFamily="34" charset="0"/>
              </a:rPr>
              <a:t>` added to the project</a:t>
            </a:r>
            <a:endParaRPr kumimoji="0" lang="en-US" altLang="en-US" sz="20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0686301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0AEEF73A-69E7-4664-8187-02C99DA89910}"/>
              </a:ext>
            </a:extLst>
          </p:cNvPr>
          <p:cNvSpPr>
            <a:spLocks noChangeArrowheads="1"/>
          </p:cNvSpPr>
          <p:nvPr/>
        </p:nvSpPr>
        <p:spPr bwMode="auto">
          <a:xfrm>
            <a:off x="260555" y="914400"/>
            <a:ext cx="8915400" cy="523220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Run the app</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20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Run the following command in the terminal:</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.NET CLI</a:t>
            </a:r>
            <a:endParaRPr kumimoji="0" lang="en-US" altLang="en-US" sz="2000" b="0" i="0" u="none" strike="noStrike" cap="none" normalizeH="0" baseline="0" dirty="0">
              <a:ln>
                <a:noFill/>
              </a:ln>
              <a:solidFill>
                <a:srgbClr val="0101FD"/>
              </a:solidFill>
              <a:effectLst/>
              <a:latin typeface="SFMono-Regular"/>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101FD"/>
                </a:solidFill>
                <a:effectLst/>
                <a:latin typeface="SFMono-Regular"/>
                <a:cs typeface="Segoe UI" panose="020B0502040204020203" pitchFamily="34" charset="0"/>
              </a:rPr>
              <a:t>dotnet</a:t>
            </a:r>
            <a:r>
              <a:rPr kumimoji="0" lang="en-US" altLang="en-US" sz="2000" b="0" i="0" u="none" strike="noStrike" cap="none" normalizeH="0" baseline="0" dirty="0">
                <a:ln>
                  <a:noFill/>
                </a:ln>
                <a:solidFill>
                  <a:srgbClr val="171717"/>
                </a:solidFill>
                <a:effectLst/>
                <a:latin typeface="SFMono-Regular"/>
                <a:cs typeface="Segoe UI" panose="020B0502040204020203" pitchFamily="34" charset="0"/>
              </a:rPr>
              <a:t> </a:t>
            </a:r>
            <a:r>
              <a:rPr kumimoji="0" lang="en-US" altLang="en-US" sz="2000" b="0" i="0" u="none" strike="noStrike" cap="none" normalizeH="0" baseline="0" dirty="0">
                <a:ln>
                  <a:noFill/>
                </a:ln>
                <a:solidFill>
                  <a:srgbClr val="0101FD"/>
                </a:solidFill>
                <a:effectLst/>
                <a:latin typeface="SFMono-Regular"/>
                <a:cs typeface="Segoe UI" panose="020B0502040204020203" pitchFamily="34" charset="0"/>
              </a:rPr>
              <a:t>run</a:t>
            </a:r>
            <a:r>
              <a:rPr kumimoji="0" lang="en-US" altLang="en-US" sz="2000" b="0" i="0" u="none" strike="noStrike" cap="none" normalizeH="0" baseline="0" dirty="0">
                <a:ln>
                  <a:noFill/>
                </a:ln>
                <a:solidFill>
                  <a:srgbClr val="006881"/>
                </a:solidFill>
                <a:effectLst/>
                <a:latin typeface="SFMono-Regular"/>
                <a:cs typeface="Segoe UI" panose="020B0502040204020203" pitchFamily="34" charset="0"/>
              </a:rPr>
              <a:t> --project</a:t>
            </a:r>
            <a:r>
              <a:rPr kumimoji="0" lang="en-US" altLang="en-US" sz="2000" b="0" i="0" u="none" strike="noStrike" cap="none" normalizeH="0" baseline="0" dirty="0">
                <a:ln>
                  <a:noFill/>
                </a:ln>
                <a:solidFill>
                  <a:srgbClr val="171717"/>
                </a:solidFill>
                <a:effectLst/>
                <a:latin typeface="SFMono-Regular"/>
                <a:cs typeface="Segoe UI" panose="020B0502040204020203" pitchFamily="34" charset="0"/>
              </a:rPr>
              <a:t> </a:t>
            </a:r>
            <a:r>
              <a:rPr kumimoji="0" lang="en-US" altLang="en-US" sz="2000" b="0" i="0" u="none" strike="noStrike" cap="none" normalizeH="0" baseline="0" dirty="0" err="1">
                <a:ln>
                  <a:noFill/>
                </a:ln>
                <a:solidFill>
                  <a:srgbClr val="171717"/>
                </a:solidFill>
                <a:effectLst/>
                <a:latin typeface="SFMono-Regular"/>
                <a:cs typeface="Segoe UI" panose="020B0502040204020203" pitchFamily="34" charset="0"/>
              </a:rPr>
              <a:t>ShowCase</a:t>
            </a:r>
            <a:r>
              <a:rPr kumimoji="0" lang="en-US" altLang="en-US" sz="2000" b="0" i="0" u="none" strike="noStrike" cap="none" normalizeH="0" baseline="0" dirty="0">
                <a:ln>
                  <a:noFill/>
                </a:ln>
                <a:solidFill>
                  <a:srgbClr val="171717"/>
                </a:solidFill>
                <a:effectLst/>
                <a:latin typeface="SFMono-Regular"/>
                <a:cs typeface="Segoe UI" panose="020B0502040204020203" pitchFamily="34" charset="0"/>
              </a:rPr>
              <a:t>/</a:t>
            </a:r>
            <a:r>
              <a:rPr kumimoji="0" lang="en-US" altLang="en-US" sz="2000" b="0" i="0" u="none" strike="noStrike" cap="none" normalizeH="0" baseline="0" dirty="0" err="1">
                <a:ln>
                  <a:noFill/>
                </a:ln>
                <a:solidFill>
                  <a:srgbClr val="171717"/>
                </a:solidFill>
                <a:effectLst/>
                <a:latin typeface="SFMono-Regular"/>
                <a:cs typeface="Segoe UI" panose="020B0502040204020203" pitchFamily="34" charset="0"/>
              </a:rPr>
              <a:t>ShowCase.csproj</a:t>
            </a:r>
            <a:r>
              <a:rPr kumimoji="0" lang="en-US" altLang="en-US" sz="2000" b="0" i="0" u="none" strike="noStrike" cap="none" normalizeH="0" baseline="0" dirty="0">
                <a:ln>
                  <a:noFill/>
                </a:ln>
                <a:solidFill>
                  <a:srgbClr val="171717"/>
                </a:solidFill>
                <a:effectLst/>
                <a:latin typeface="SFMono-Regular"/>
                <a:cs typeface="Segoe UI" panose="020B0502040204020203"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endParaRPr>
          </a:p>
          <a:p>
            <a:pPr marL="0" marR="0" lvl="0" indent="0" algn="l" defTabSz="914400" rtl="0" eaLnBrk="0" fontAlgn="ctr" latinLnBrk="0" hangingPunct="0">
              <a:lnSpc>
                <a:spcPct val="100000"/>
              </a:lnSpc>
              <a:spcBef>
                <a:spcPct val="0"/>
              </a:spcBef>
              <a:spcAft>
                <a:spcPct val="0"/>
              </a:spcAft>
              <a:buClrTx/>
              <a:buSzTx/>
              <a:buFontTx/>
              <a:buAutoNum type="arabicPeriod" startAt="2"/>
              <a:tabLst/>
            </a:pPr>
            <a:r>
              <a:rPr kumimoji="0" lang="en-US" altLang="en-US" sz="20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Try out the program by entering strings and pressing </a:t>
            </a:r>
            <a:r>
              <a:rPr kumimoji="0" lang="en-US" altLang="en-US" sz="2000" b="0" i="0" u="none" strike="noStrike" cap="none" normalizeH="0" baseline="0" dirty="0">
                <a:ln>
                  <a:noFill/>
                </a:ln>
                <a:solidFill>
                  <a:srgbClr val="171717"/>
                </a:solidFill>
                <a:effectLst/>
                <a:latin typeface="SFMono-Regular"/>
                <a:cs typeface="Segoe UI" panose="020B0502040204020203" pitchFamily="34" charset="0"/>
              </a:rPr>
              <a:t>Enter</a:t>
            </a:r>
            <a:r>
              <a:rPr kumimoji="0" lang="en-US" altLang="en-US" sz="20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 then press </a:t>
            </a:r>
            <a:r>
              <a:rPr kumimoji="0" lang="en-US" altLang="en-US" sz="2000" b="0" i="0" u="none" strike="noStrike" cap="none" normalizeH="0" baseline="0" dirty="0">
                <a:ln>
                  <a:noFill/>
                </a:ln>
                <a:solidFill>
                  <a:srgbClr val="171717"/>
                </a:solidFill>
                <a:effectLst/>
                <a:latin typeface="SFMono-Regular"/>
                <a:cs typeface="Segoe UI" panose="020B0502040204020203" pitchFamily="34" charset="0"/>
              </a:rPr>
              <a:t>Enter</a:t>
            </a:r>
            <a:r>
              <a:rPr kumimoji="0" lang="en-US" altLang="en-US" sz="20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 to exit.</a:t>
            </a:r>
          </a:p>
          <a:p>
            <a:pPr marL="0" marR="0" lvl="0" indent="0" algn="l" defTabSz="914400" rtl="0" eaLnBrk="0" fontAlgn="ctr" latinLnBrk="0" hangingPunct="0">
              <a:lnSpc>
                <a:spcPct val="100000"/>
              </a:lnSpc>
              <a:spcBef>
                <a:spcPct val="0"/>
              </a:spcBef>
              <a:spcAft>
                <a:spcPct val="0"/>
              </a:spcAft>
              <a:buClrTx/>
              <a:buSzTx/>
              <a:buFontTx/>
              <a:buAutoNum type="arabicPeriod" startAt="2"/>
              <a:tabLst/>
            </a:pPr>
            <a:endParaRPr kumimoji="0" lang="en-US" altLang="en-US" sz="20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The terminal output looks like the following example: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Output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rgbClr val="171717"/>
              </a:solidFill>
              <a:effectLst/>
              <a:latin typeface="SFMono-Regular"/>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171717"/>
                </a:solidFill>
                <a:effectLst/>
                <a:latin typeface="SFMono-Regular"/>
                <a:cs typeface="Segoe UI" panose="020B0502040204020203" pitchFamily="34" charset="0"/>
              </a:rPr>
              <a:t>Press &lt;Enter&gt; only to exit; otherwise, enter a string and press &lt;Enter&gt;: A string that starts with an uppercase letter Input: A string that starts with an uppercase letter Begins with uppercase? : Yes a string that starts with a lowercase letter Input: a string that starts with a lowercase letter Begins with uppercase? : No</a:t>
            </a:r>
            <a:endParaRPr kumimoji="0" lang="en-US" altLang="en-US" sz="20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351000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465</TotalTime>
  <Words>2379</Words>
  <Application>Microsoft Office PowerPoint</Application>
  <PresentationFormat>On-screen Show (4:3)</PresentationFormat>
  <Paragraphs>331</Paragraphs>
  <Slides>34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34</vt:i4>
      </vt:variant>
    </vt:vector>
  </HeadingPairs>
  <TitlesOfParts>
    <vt:vector size="41" baseType="lpstr">
      <vt:lpstr>Arial</vt:lpstr>
      <vt:lpstr>Garamond</vt:lpstr>
      <vt:lpstr>Segoe UI</vt:lpstr>
      <vt:lpstr>SFMono-Regular</vt:lpstr>
      <vt:lpstr>ui-monospace</vt:lpstr>
      <vt:lpstr>Wingdings</vt:lpstr>
      <vt:lpstr>Office Theme</vt:lpstr>
      <vt:lpstr>PowerPoint Presentation</vt:lpstr>
      <vt:lpstr>Assembly</vt:lpstr>
      <vt:lpstr>What is Assembly</vt:lpstr>
      <vt:lpstr>Assembly</vt:lpstr>
      <vt:lpstr>PowerPoint Presentation</vt:lpstr>
      <vt:lpstr>Private Assembly</vt:lpstr>
      <vt:lpstr>Shared Assembly</vt:lpstr>
      <vt:lpstr>Satellite Assembly</vt:lpstr>
      <vt:lpstr>How to create class libraray</vt:lpstr>
      <vt:lpstr>PowerPoint Presentation</vt:lpstr>
      <vt:lpstr>Code for class Library</vt:lpstr>
      <vt:lpstr>PowerPoint Presentation</vt:lpstr>
      <vt:lpstr>PowerPoint Presentation</vt:lpstr>
      <vt:lpstr>Add reference of dll in console</vt:lpstr>
      <vt:lpstr>How to create shared Assebly</vt:lpstr>
      <vt:lpstr>How to signe Assembly</vt:lpstr>
      <vt:lpstr>PowerPoint Presentation</vt:lpstr>
      <vt:lpstr>How to add in GAC</vt:lpstr>
      <vt:lpstr>PowerPoint Presentation</vt:lpstr>
      <vt:lpstr>PowerPoint Presentation</vt:lpstr>
      <vt:lpstr>PowerPoint Presentation</vt:lpstr>
      <vt:lpstr>DLL Hell</vt:lpstr>
      <vt:lpstr>Versioning</vt:lpstr>
      <vt:lpstr>Create class Library in VSCode</vt:lpstr>
      <vt:lpstr>PowerPoint Presentation</vt:lpstr>
      <vt:lpstr>PowerPoint Presentation</vt:lpstr>
      <vt:lpstr>PowerPoint Presentation</vt:lpstr>
      <vt:lpstr>PowerPoint Presentation</vt:lpstr>
      <vt:lpstr>PowerPoint Presentation</vt:lpstr>
      <vt:lpstr>Add a console app to the solution</vt:lpstr>
      <vt:lpstr>PowerPoint Presentation</vt:lpstr>
      <vt:lpstr>PowerPoint Presentation</vt:lpstr>
      <vt:lpstr>PowerPoint Presentation</vt:lpstr>
      <vt:lpstr>PowerPoint Presentation</vt:lpstr>
    </vt:vector>
  </TitlesOfParts>
  <Company>University at Buffalo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Theory</dc:creator>
  <cp:lastModifiedBy>sriram mantri vidyanidhi infotech academy</cp:lastModifiedBy>
  <cp:revision>55</cp:revision>
  <dcterms:created xsi:type="dcterms:W3CDTF">2012-08-03T10:19:13Z</dcterms:created>
  <dcterms:modified xsi:type="dcterms:W3CDTF">2024-10-04T09:55:25Z</dcterms:modified>
</cp:coreProperties>
</file>