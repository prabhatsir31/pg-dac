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5556C-34A6-4591-87B9-122DC05B90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AA0E6A-7D05-4732-9783-696A29447D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F1C852-918E-4265-BB80-9D4B0D25A401}"/>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DEECAB4A-A3A6-42B6-9F06-0069D353AA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F456B8-AC02-44E4-9D85-79EF2A47D8BB}"/>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806802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A844C-4119-4B7D-96CD-CD171981DDA7}"/>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B84EE3BB-C9DC-4C67-8963-E8E2490ACC2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E3F822F-7E8E-450B-8E35-8EE43C456502}"/>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99C1F77B-0184-4F4C-A5DB-90270C7B43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D5184E-6CA6-4F9E-8373-BE9A87CAACE3}"/>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386403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7BDA-486B-4C3A-B071-092185CAE2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EAAA19-842E-4A26-AF5B-CE8BD4419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F24D77-3AED-423C-BE26-FDAC21787573}"/>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8111A3AC-FBC1-4F39-855D-E0E2FD2A1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29D28-DD5B-4997-87D5-4C81CB3950C5}"/>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175248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7A88-FE9E-487D-BC19-5849054BE7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8BB47C-EC5E-4640-9881-C18F570AC2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18EFFD-F91E-45C8-9156-6733BC59F2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28A01B-A441-4F03-A4A1-8A55B4919834}"/>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6" name="Footer Placeholder 5">
            <a:extLst>
              <a:ext uri="{FF2B5EF4-FFF2-40B4-BE49-F238E27FC236}">
                <a16:creationId xmlns:a16="http://schemas.microsoft.com/office/drawing/2014/main" id="{A397961D-5CDC-40BA-BCD1-D6A97369A7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A6B0A8-8A18-4394-AFD4-8A8AADA986FC}"/>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617020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A3BE-3676-4CD0-8FC7-A8F42E4E05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EDFB5C-5C22-43A3-846E-0D8412CD96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D0909-2B4E-46CD-AA32-AD61C4FE95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685076-0926-42D8-B5B3-2B8974D9BC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DAD6B-97E3-420C-9F92-B71524DF5D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90A363-4895-43C9-AA18-0C0DF58314C1}"/>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8" name="Footer Placeholder 7">
            <a:extLst>
              <a:ext uri="{FF2B5EF4-FFF2-40B4-BE49-F238E27FC236}">
                <a16:creationId xmlns:a16="http://schemas.microsoft.com/office/drawing/2014/main" id="{EC54A68D-CB63-4E8A-A7AE-1503C1C1FC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1BE14D-3F19-4EBD-AA39-E9B7CE1659BE}"/>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1475192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9457-D431-4220-BD65-5D044E5B99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9D9C730-C55A-4EE1-A30A-55E3183218B1}"/>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4" name="Footer Placeholder 3">
            <a:extLst>
              <a:ext uri="{FF2B5EF4-FFF2-40B4-BE49-F238E27FC236}">
                <a16:creationId xmlns:a16="http://schemas.microsoft.com/office/drawing/2014/main" id="{A59B4B3A-F451-4328-A4A4-389171EC28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75E2F0-46B2-4591-B451-6DCD0FD11647}"/>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624445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D0EF0-35A2-4609-9AD7-05C5FA12999B}"/>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3" name="Footer Placeholder 2">
            <a:extLst>
              <a:ext uri="{FF2B5EF4-FFF2-40B4-BE49-F238E27FC236}">
                <a16:creationId xmlns:a16="http://schemas.microsoft.com/office/drawing/2014/main" id="{9AE49D17-A94D-436F-A0CC-D76506F37B3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9BCED4-341F-4795-AB19-834821077BB5}"/>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327337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FD4FB-0F1D-4500-B779-AF0C4542F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01B5C6-35A5-486C-97AC-25F540B161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4E0215-FD21-47D6-A211-B9B356846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DEE376-D201-4B03-8B42-5BAE431AD03B}"/>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6" name="Footer Placeholder 5">
            <a:extLst>
              <a:ext uri="{FF2B5EF4-FFF2-40B4-BE49-F238E27FC236}">
                <a16:creationId xmlns:a16="http://schemas.microsoft.com/office/drawing/2014/main" id="{47E324C2-4DEF-40B6-9946-2AEC461073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E81E84-AAD9-47E6-AD35-231DC32EA86B}"/>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3670469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E7AA-7D62-4D80-8C0E-89EBB3C46B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DE3FA6-84D7-4B58-A81E-88C98A014F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9BEA34-1CB3-427A-9D29-E7BEC68EF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1AE42-F3BE-4DA5-B47C-5C48AB9EA35A}"/>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6" name="Footer Placeholder 5">
            <a:extLst>
              <a:ext uri="{FF2B5EF4-FFF2-40B4-BE49-F238E27FC236}">
                <a16:creationId xmlns:a16="http://schemas.microsoft.com/office/drawing/2014/main" id="{D1E602F2-139D-45B7-AB4E-287E5E10C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79B5B7-A160-4131-A544-F297728A8C59}"/>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1330118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6D447-7F02-40C9-A726-B4666AFF7D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0BFFC6-A035-436C-AC48-4FA0B4DB87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BA4175-B8D4-4C67-95B8-7B4298893773}"/>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AFF49849-92C4-44EF-9D5A-4D76BE473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72E183-91AB-45B8-A22C-A50792CECFFF}"/>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325551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689C4C-7807-4496-9564-5E61A00B2C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CB29B9-7D12-49D1-91B1-3A87CE7359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28053-C278-4F67-9BAD-94C861254168}"/>
              </a:ext>
            </a:extLst>
          </p:cNvPr>
          <p:cNvSpPr>
            <a:spLocks noGrp="1"/>
          </p:cNvSpPr>
          <p:nvPr>
            <p:ph type="dt" sz="half" idx="10"/>
          </p:nvPr>
        </p:nvSpPr>
        <p:spPr/>
        <p:txBody>
          <a:body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6F14BB74-C606-4517-A5E1-0AC6A8CC1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6344DF-1654-42E6-9954-8B2D58DFF913}"/>
              </a:ext>
            </a:extLst>
          </p:cNvPr>
          <p:cNvSpPr>
            <a:spLocks noGrp="1"/>
          </p:cNvSpPr>
          <p:nvPr>
            <p:ph type="sldNum" sz="quarter" idx="12"/>
          </p:nvPr>
        </p:nvSpPr>
        <p:spPr/>
        <p:txBody>
          <a:bodyPr/>
          <a:lstStyle/>
          <a:p>
            <a:fld id="{F2B6E3FE-B94B-4D59-92D6-868DC477806C}" type="slidenum">
              <a:rPr lang="en-IN" smtClean="0"/>
              <a:t>‹#›</a:t>
            </a:fld>
            <a:endParaRPr lang="en-IN"/>
          </a:p>
        </p:txBody>
      </p:sp>
    </p:spTree>
    <p:extLst>
      <p:ext uri="{BB962C8B-B14F-4D97-AF65-F5344CB8AC3E}">
        <p14:creationId xmlns:p14="http://schemas.microsoft.com/office/powerpoint/2010/main" val="262869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3C0FB-FCBE-42E0-9811-0311B50880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045CAC-3AE1-4EB4-B8BC-AB96E7077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EFB73C-FE57-4182-8DB6-EFCFA3F5C7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80E02D-8D3E-4F6A-908B-D7905CA5D6EB}" type="datetimeFigureOut">
              <a:rPr lang="en-IN" smtClean="0"/>
              <a:t>28-03-2025</a:t>
            </a:fld>
            <a:endParaRPr lang="en-IN"/>
          </a:p>
        </p:txBody>
      </p:sp>
      <p:sp>
        <p:nvSpPr>
          <p:cNvPr id="5" name="Footer Placeholder 4">
            <a:extLst>
              <a:ext uri="{FF2B5EF4-FFF2-40B4-BE49-F238E27FC236}">
                <a16:creationId xmlns:a16="http://schemas.microsoft.com/office/drawing/2014/main" id="{52840E5E-4257-49A9-A275-6DA9CA1609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1071D4-DD7E-4F40-963C-026E0D742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6E3FE-B94B-4D59-92D6-868DC477806C}" type="slidenum">
              <a:rPr lang="en-IN" smtClean="0"/>
              <a:t>‹#›</a:t>
            </a:fld>
            <a:endParaRPr lang="en-IN"/>
          </a:p>
        </p:txBody>
      </p:sp>
      <p:sp>
        <p:nvSpPr>
          <p:cNvPr id="7" name="Rectangle 6">
            <a:extLst>
              <a:ext uri="{FF2B5EF4-FFF2-40B4-BE49-F238E27FC236}">
                <a16:creationId xmlns:a16="http://schemas.microsoft.com/office/drawing/2014/main" id="{877C570F-9E57-4117-ADC2-587B1CB76B7C}"/>
              </a:ext>
            </a:extLst>
          </p:cNvPr>
          <p:cNvSpPr/>
          <p:nvPr userDrawn="1"/>
        </p:nvSpPr>
        <p:spPr>
          <a:xfrm>
            <a:off x="1692156" y="6576807"/>
            <a:ext cx="851535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7FB13611-FBF2-4C9D-9370-4E3754D5187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5315" y="-114505"/>
            <a:ext cx="1282699" cy="857534"/>
          </a:xfrm>
          <a:prstGeom prst="rect">
            <a:avLst/>
          </a:prstGeom>
        </p:spPr>
      </p:pic>
    </p:spTree>
    <p:extLst>
      <p:ext uri="{BB962C8B-B14F-4D97-AF65-F5344CB8AC3E}">
        <p14:creationId xmlns:p14="http://schemas.microsoft.com/office/powerpoint/2010/main" val="2317202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a:t>
            </a:r>
            <a:r>
              <a:rPr lang="en-IN"/>
              <a:t>etkiacharya</a:t>
            </a:r>
            <a:r>
              <a:rPr lang="en-IN" dirty="0"/>
              <a:t>.net@gmail.com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06BB5-21BB-4D56-B617-A1F1B4385EEA}"/>
              </a:ext>
            </a:extLst>
          </p:cNvPr>
          <p:cNvSpPr>
            <a:spLocks noGrp="1"/>
          </p:cNvSpPr>
          <p:nvPr>
            <p:ph type="title"/>
          </p:nvPr>
        </p:nvSpPr>
        <p:spPr/>
        <p:txBody>
          <a:bodyPr/>
          <a:lstStyle/>
          <a:p>
            <a:pPr algn="ctr"/>
            <a:r>
              <a:rPr lang="en-IN" dirty="0"/>
              <a:t>Struct</a:t>
            </a:r>
          </a:p>
        </p:txBody>
      </p:sp>
      <p:sp>
        <p:nvSpPr>
          <p:cNvPr id="3" name="Content Placeholder 2">
            <a:extLst>
              <a:ext uri="{FF2B5EF4-FFF2-40B4-BE49-F238E27FC236}">
                <a16:creationId xmlns:a16="http://schemas.microsoft.com/office/drawing/2014/main" id="{45480D48-253E-4E89-87FA-68E60B6C5098}"/>
              </a:ext>
            </a:extLst>
          </p:cNvPr>
          <p:cNvSpPr>
            <a:spLocks noGrp="1"/>
          </p:cNvSpPr>
          <p:nvPr>
            <p:ph idx="1"/>
          </p:nvPr>
        </p:nvSpPr>
        <p:spPr>
          <a:xfrm>
            <a:off x="510540" y="1825624"/>
            <a:ext cx="10843260" cy="4727575"/>
          </a:xfrm>
        </p:spPr>
        <p:txBody>
          <a:bodyPr>
            <a:normAutofit lnSpcReduction="10000"/>
          </a:bodyPr>
          <a:lstStyle/>
          <a:p>
            <a:r>
              <a:rPr lang="en-US" dirty="0"/>
              <a:t>Structs are value types, not reference types. This means they are stored either in the stack or inline (if they are part of another object that is stored on the heap) and have the same lifetime restrictions as the simple data types.</a:t>
            </a:r>
          </a:p>
          <a:p>
            <a:r>
              <a:rPr lang="en-US" dirty="0"/>
              <a:t>Structs do not support inheritance.</a:t>
            </a:r>
          </a:p>
          <a:p>
            <a:r>
              <a:rPr lang="en-US" dirty="0"/>
              <a:t>There are some differences in the way constructors work for structs. In particular, the compiler always supplies a default no - parameter constructor, which you are not permitted to replace</a:t>
            </a:r>
          </a:p>
          <a:p>
            <a:r>
              <a:rPr lang="en-US" dirty="0"/>
              <a:t>Structures cannot inherit other structures or classes or be used as a base for other structures or classes. (All structures do, however, implicitly inherit </a:t>
            </a:r>
            <a:r>
              <a:rPr lang="en-US" dirty="0" err="1"/>
              <a:t>System.ValueType</a:t>
            </a:r>
            <a:r>
              <a:rPr lang="en-US" dirty="0"/>
              <a:t>, which inherits object.) </a:t>
            </a:r>
          </a:p>
          <a:p>
            <a:r>
              <a:rPr lang="en-US" dirty="0"/>
              <a:t>However, a structure can implement one or more interfaces. </a:t>
            </a:r>
          </a:p>
          <a:p>
            <a:endParaRPr lang="en-IN" dirty="0"/>
          </a:p>
        </p:txBody>
      </p:sp>
    </p:spTree>
    <p:extLst>
      <p:ext uri="{BB962C8B-B14F-4D97-AF65-F5344CB8AC3E}">
        <p14:creationId xmlns:p14="http://schemas.microsoft.com/office/powerpoint/2010/main" val="3685636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BD09-B29E-4A81-9A3D-D25EA7ED3ECD}"/>
              </a:ext>
            </a:extLst>
          </p:cNvPr>
          <p:cNvSpPr>
            <a:spLocks noGrp="1"/>
          </p:cNvSpPr>
          <p:nvPr>
            <p:ph type="title"/>
          </p:nvPr>
        </p:nvSpPr>
        <p:spPr/>
        <p:txBody>
          <a:bodyPr/>
          <a:lstStyle/>
          <a:p>
            <a:r>
              <a:rPr lang="en-IN" dirty="0"/>
              <a:t>When to use structure</a:t>
            </a:r>
          </a:p>
        </p:txBody>
      </p:sp>
      <p:sp>
        <p:nvSpPr>
          <p:cNvPr id="3" name="Content Placeholder 2">
            <a:extLst>
              <a:ext uri="{FF2B5EF4-FFF2-40B4-BE49-F238E27FC236}">
                <a16:creationId xmlns:a16="http://schemas.microsoft.com/office/drawing/2014/main" id="{403B8153-E5FA-4655-A739-1C8C8BA8C908}"/>
              </a:ext>
            </a:extLst>
          </p:cNvPr>
          <p:cNvSpPr>
            <a:spLocks noGrp="1"/>
          </p:cNvSpPr>
          <p:nvPr>
            <p:ph idx="1"/>
          </p:nvPr>
        </p:nvSpPr>
        <p:spPr/>
        <p:txBody>
          <a:bodyPr>
            <a:normAutofit fontScale="47500" lnSpcReduction="20000"/>
          </a:bodyPr>
          <a:lstStyle/>
          <a:p>
            <a:r>
              <a:rPr lang="en-US" dirty="0"/>
              <a:t>if data type size is &lt; 16byte</a:t>
            </a:r>
          </a:p>
          <a:p>
            <a:r>
              <a:rPr lang="en-US" dirty="0"/>
              <a:t>no inheritance required</a:t>
            </a:r>
          </a:p>
          <a:p>
            <a:r>
              <a:rPr lang="en-US" dirty="0"/>
              <a:t>every instance is a separate copy</a:t>
            </a:r>
          </a:p>
          <a:p>
            <a:r>
              <a:rPr lang="en-US" dirty="0"/>
              <a:t>it is value type loaded to stack</a:t>
            </a:r>
          </a:p>
          <a:p>
            <a:r>
              <a:rPr lang="en-US" dirty="0"/>
              <a:t>A structure can be instantiated with the help of new key word</a:t>
            </a:r>
          </a:p>
          <a:p>
            <a:r>
              <a:rPr lang="en-US" dirty="0"/>
              <a:t>A structure can not be inherited from class</a:t>
            </a:r>
          </a:p>
          <a:p>
            <a:r>
              <a:rPr lang="en-US" dirty="0"/>
              <a:t>A class can not be inherited from structure</a:t>
            </a:r>
          </a:p>
          <a:p>
            <a:r>
              <a:rPr lang="en-US" dirty="0"/>
              <a:t>A  structure can not  have       </a:t>
            </a:r>
            <a:r>
              <a:rPr lang="en-US" b="1" dirty="0"/>
              <a:t>parameter less</a:t>
            </a:r>
            <a:r>
              <a:rPr lang="en-US" dirty="0"/>
              <a:t> constructor</a:t>
            </a:r>
          </a:p>
          <a:p>
            <a:r>
              <a:rPr lang="en-US" dirty="0"/>
              <a:t>A structure have parameterized constructor </a:t>
            </a:r>
            <a:r>
              <a:rPr lang="en-US" b="1" dirty="0"/>
              <a:t>provided it assign value for all its member</a:t>
            </a:r>
          </a:p>
          <a:p>
            <a:r>
              <a:rPr lang="en-US" dirty="0"/>
              <a:t>A structure can have fields, methods, property and event.</a:t>
            </a:r>
          </a:p>
          <a:p>
            <a:r>
              <a:rPr lang="en-US" dirty="0"/>
              <a:t>A structure can    implement interface.</a:t>
            </a:r>
          </a:p>
          <a:p>
            <a:r>
              <a:rPr lang="en-US" dirty="0"/>
              <a:t>A structure member are generally public</a:t>
            </a:r>
          </a:p>
          <a:p>
            <a:r>
              <a:rPr lang="en-US" dirty="0"/>
              <a:t>A method should not be marked as virtual, abstract, override and sealed</a:t>
            </a:r>
          </a:p>
          <a:p>
            <a:r>
              <a:rPr lang="en-US" dirty="0"/>
              <a:t>A structure is copy to another instance -a copy is made.</a:t>
            </a:r>
          </a:p>
          <a:p>
            <a:endParaRPr lang="en-US" dirty="0"/>
          </a:p>
          <a:p>
            <a:r>
              <a:rPr lang="en-US" dirty="0"/>
              <a:t>True till version 4.5 </a:t>
            </a:r>
            <a:r>
              <a:rPr lang="en-US" dirty="0" err="1"/>
              <a:t>.net</a:t>
            </a:r>
            <a:r>
              <a:rPr lang="en-US"/>
              <a:t> Framework</a:t>
            </a:r>
            <a:endParaRPr lang="en-US" dirty="0"/>
          </a:p>
          <a:p>
            <a:endParaRPr lang="en-IN" dirty="0"/>
          </a:p>
        </p:txBody>
      </p:sp>
      <p:sp>
        <p:nvSpPr>
          <p:cNvPr id="4" name="TextBox 3">
            <a:extLst>
              <a:ext uri="{FF2B5EF4-FFF2-40B4-BE49-F238E27FC236}">
                <a16:creationId xmlns:a16="http://schemas.microsoft.com/office/drawing/2014/main" id="{AEB98F20-FF50-40EC-9FFA-9B78528C082B}"/>
              </a:ext>
            </a:extLst>
          </p:cNvPr>
          <p:cNvSpPr txBox="1"/>
          <p:nvPr/>
        </p:nvSpPr>
        <p:spPr>
          <a:xfrm>
            <a:off x="8062452" y="2979174"/>
            <a:ext cx="2762864"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Int </a:t>
            </a:r>
            <a:r>
              <a:rPr lang="en-IN" dirty="0" err="1"/>
              <a:t>a,b</a:t>
            </a:r>
            <a:r>
              <a:rPr lang="en-IN" dirty="0"/>
              <a:t>;</a:t>
            </a:r>
          </a:p>
          <a:p>
            <a:r>
              <a:rPr lang="en-IN" dirty="0"/>
              <a:t>a=5;</a:t>
            </a:r>
          </a:p>
          <a:p>
            <a:endParaRPr lang="en-IN" dirty="0"/>
          </a:p>
          <a:p>
            <a:r>
              <a:rPr lang="en-IN" dirty="0"/>
              <a:t>b=a;</a:t>
            </a:r>
          </a:p>
          <a:p>
            <a:endParaRPr lang="en-IN" dirty="0"/>
          </a:p>
        </p:txBody>
      </p:sp>
      <p:sp>
        <p:nvSpPr>
          <p:cNvPr id="5" name="Rectangle 4">
            <a:extLst>
              <a:ext uri="{FF2B5EF4-FFF2-40B4-BE49-F238E27FC236}">
                <a16:creationId xmlns:a16="http://schemas.microsoft.com/office/drawing/2014/main" id="{C277DBC7-60A3-4876-BCB8-8B8293C5A3FD}"/>
              </a:ext>
            </a:extLst>
          </p:cNvPr>
          <p:cNvSpPr/>
          <p:nvPr/>
        </p:nvSpPr>
        <p:spPr>
          <a:xfrm>
            <a:off x="10127226" y="3824748"/>
            <a:ext cx="619432"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6" name="TextBox 5">
            <a:extLst>
              <a:ext uri="{FF2B5EF4-FFF2-40B4-BE49-F238E27FC236}">
                <a16:creationId xmlns:a16="http://schemas.microsoft.com/office/drawing/2014/main" id="{4E76AB6A-3BA0-4856-9F1A-0538BF7018AA}"/>
              </a:ext>
            </a:extLst>
          </p:cNvPr>
          <p:cNvSpPr txBox="1"/>
          <p:nvPr/>
        </p:nvSpPr>
        <p:spPr>
          <a:xfrm>
            <a:off x="10127226" y="3429000"/>
            <a:ext cx="619432" cy="369332"/>
          </a:xfrm>
          <a:prstGeom prst="rect">
            <a:avLst/>
          </a:prstGeom>
          <a:noFill/>
        </p:spPr>
        <p:txBody>
          <a:bodyPr wrap="square" rtlCol="0">
            <a:spAutoFit/>
          </a:bodyPr>
          <a:lstStyle/>
          <a:p>
            <a:r>
              <a:rPr lang="en-IN" dirty="0"/>
              <a:t>a</a:t>
            </a:r>
          </a:p>
        </p:txBody>
      </p:sp>
      <p:sp>
        <p:nvSpPr>
          <p:cNvPr id="7" name="Rectangle 6">
            <a:extLst>
              <a:ext uri="{FF2B5EF4-FFF2-40B4-BE49-F238E27FC236}">
                <a16:creationId xmlns:a16="http://schemas.microsoft.com/office/drawing/2014/main" id="{CB4BFEC0-6EEB-40AC-A7BE-EDE6510BF335}"/>
              </a:ext>
            </a:extLst>
          </p:cNvPr>
          <p:cNvSpPr/>
          <p:nvPr/>
        </p:nvSpPr>
        <p:spPr>
          <a:xfrm>
            <a:off x="8942439" y="5442154"/>
            <a:ext cx="619432"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8" name="TextBox 7">
            <a:extLst>
              <a:ext uri="{FF2B5EF4-FFF2-40B4-BE49-F238E27FC236}">
                <a16:creationId xmlns:a16="http://schemas.microsoft.com/office/drawing/2014/main" id="{29170B15-D8D7-4CEF-977C-9367C66FBE13}"/>
              </a:ext>
            </a:extLst>
          </p:cNvPr>
          <p:cNvSpPr txBox="1"/>
          <p:nvPr/>
        </p:nvSpPr>
        <p:spPr>
          <a:xfrm>
            <a:off x="8942439" y="5046406"/>
            <a:ext cx="619432" cy="369332"/>
          </a:xfrm>
          <a:prstGeom prst="rect">
            <a:avLst/>
          </a:prstGeom>
          <a:noFill/>
        </p:spPr>
        <p:txBody>
          <a:bodyPr wrap="square" rtlCol="0">
            <a:spAutoFit/>
          </a:bodyPr>
          <a:lstStyle/>
          <a:p>
            <a:r>
              <a:rPr lang="en-IN" dirty="0"/>
              <a:t>b</a:t>
            </a:r>
          </a:p>
        </p:txBody>
      </p:sp>
    </p:spTree>
    <p:extLst>
      <p:ext uri="{BB962C8B-B14F-4D97-AF65-F5344CB8AC3E}">
        <p14:creationId xmlns:p14="http://schemas.microsoft.com/office/powerpoint/2010/main" val="3295805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C3BAA-B455-4DF2-9BDE-28E27FB52D77}"/>
              </a:ext>
            </a:extLst>
          </p:cNvPr>
          <p:cNvSpPr>
            <a:spLocks noGrp="1"/>
          </p:cNvSpPr>
          <p:nvPr>
            <p:ph type="title"/>
          </p:nvPr>
        </p:nvSpPr>
        <p:spPr>
          <a:xfrm>
            <a:off x="725078" y="0"/>
            <a:ext cx="10515600" cy="575633"/>
          </a:xfrm>
        </p:spPr>
        <p:txBody>
          <a:bodyPr>
            <a:noAutofit/>
          </a:bodyPr>
          <a:lstStyle/>
          <a:p>
            <a:r>
              <a:rPr lang="en-IN" sz="3200" dirty="0"/>
              <a:t>	Will this code compile?(parameter less constructor)</a:t>
            </a:r>
          </a:p>
        </p:txBody>
      </p:sp>
      <p:sp>
        <p:nvSpPr>
          <p:cNvPr id="3" name="Content Placeholder 2">
            <a:extLst>
              <a:ext uri="{FF2B5EF4-FFF2-40B4-BE49-F238E27FC236}">
                <a16:creationId xmlns:a16="http://schemas.microsoft.com/office/drawing/2014/main" id="{C3ECB467-6059-4B91-A412-19F535E97112}"/>
              </a:ext>
            </a:extLst>
          </p:cNvPr>
          <p:cNvSpPr>
            <a:spLocks noGrp="1"/>
          </p:cNvSpPr>
          <p:nvPr>
            <p:ph idx="1"/>
          </p:nvPr>
        </p:nvSpPr>
        <p:spPr>
          <a:xfrm>
            <a:off x="131975" y="735291"/>
            <a:ext cx="5049625" cy="5910607"/>
          </a:xfrm>
        </p:spPr>
        <p:txBody>
          <a:bodyPr>
            <a:noAutofit/>
          </a:bodyPr>
          <a:lstStyle/>
          <a:p>
            <a:pPr marL="0" indent="0">
              <a:lnSpc>
                <a:spcPct val="100000"/>
              </a:lnSpc>
              <a:spcBef>
                <a:spcPts val="0"/>
              </a:spcBef>
              <a:buNone/>
            </a:pPr>
            <a:r>
              <a:rPr lang="en-IN" sz="1200" dirty="0"/>
              <a:t>using System;</a:t>
            </a:r>
          </a:p>
          <a:p>
            <a:pPr marL="0" indent="0">
              <a:lnSpc>
                <a:spcPct val="100000"/>
              </a:lnSpc>
              <a:spcBef>
                <a:spcPts val="0"/>
              </a:spcBef>
              <a:buNone/>
            </a:pPr>
            <a:r>
              <a:rPr lang="en-IN" sz="1200" dirty="0"/>
              <a:t>namespace </a:t>
            </a:r>
            <a:r>
              <a:rPr lang="en-IN" sz="1200" dirty="0" err="1"/>
              <a:t>FunWithStructures</a:t>
            </a:r>
            <a:endParaRPr lang="en-IN" sz="1200" dirty="0"/>
          </a:p>
          <a:p>
            <a:pPr marL="0" indent="0">
              <a:lnSpc>
                <a:spcPct val="100000"/>
              </a:lnSpc>
              <a:spcBef>
                <a:spcPts val="0"/>
              </a:spcBef>
              <a:buNone/>
            </a:pPr>
            <a:r>
              <a:rPr lang="en-IN" sz="1200" dirty="0"/>
              <a:t>{    struct Point //default access modifier is internal -or you can use public</a:t>
            </a:r>
          </a:p>
          <a:p>
            <a:pPr marL="0" indent="0">
              <a:lnSpc>
                <a:spcPct val="100000"/>
              </a:lnSpc>
              <a:spcBef>
                <a:spcPts val="0"/>
              </a:spcBef>
              <a:buNone/>
            </a:pPr>
            <a:r>
              <a:rPr lang="en-IN" sz="1200" dirty="0"/>
              <a:t>    {        // Fields of the structure.</a:t>
            </a:r>
          </a:p>
          <a:p>
            <a:pPr marL="0" indent="0">
              <a:lnSpc>
                <a:spcPct val="100000"/>
              </a:lnSpc>
              <a:spcBef>
                <a:spcPts val="0"/>
              </a:spcBef>
              <a:buNone/>
            </a:pPr>
            <a:r>
              <a:rPr lang="en-IN" sz="1200" dirty="0"/>
              <a:t>        public int X;</a:t>
            </a:r>
          </a:p>
          <a:p>
            <a:pPr marL="0" indent="0">
              <a:lnSpc>
                <a:spcPct val="100000"/>
              </a:lnSpc>
              <a:spcBef>
                <a:spcPts val="0"/>
              </a:spcBef>
              <a:buNone/>
            </a:pPr>
            <a:r>
              <a:rPr lang="en-IN" sz="1200" dirty="0"/>
              <a:t>        public int Y;</a:t>
            </a:r>
          </a:p>
          <a:p>
            <a:pPr marL="0" indent="0">
              <a:lnSpc>
                <a:spcPct val="100000"/>
              </a:lnSpc>
              <a:spcBef>
                <a:spcPts val="0"/>
              </a:spcBef>
              <a:buNone/>
            </a:pPr>
            <a:r>
              <a:rPr lang="en-IN" sz="1200" dirty="0"/>
              <a:t>         public Point() //this will give error programmer can not use no </a:t>
            </a:r>
            <a:r>
              <a:rPr lang="en-IN" sz="1200" dirty="0" err="1"/>
              <a:t>args</a:t>
            </a:r>
            <a:r>
              <a:rPr lang="en-IN" sz="1200" dirty="0"/>
              <a:t> constructor</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r>
              <a:rPr lang="en-IN" sz="1200" dirty="0" err="1"/>
              <a:t>Console.WriteLine</a:t>
            </a:r>
            <a:r>
              <a:rPr lang="en-IN" sz="1200" dirty="0"/>
              <a:t>("X = {0}, Y = {1}", X, Y);</a:t>
            </a:r>
          </a:p>
          <a:p>
            <a:pPr marL="0" indent="0">
              <a:lnSpc>
                <a:spcPct val="100000"/>
              </a:lnSpc>
              <a:spcBef>
                <a:spcPts val="0"/>
              </a:spcBef>
              <a:buNone/>
            </a:pPr>
            <a:r>
              <a:rPr lang="en-IN" sz="1200" dirty="0"/>
              <a:t>            }</a:t>
            </a:r>
          </a:p>
          <a:p>
            <a:pPr marL="0" indent="0">
              <a:lnSpc>
                <a:spcPct val="100000"/>
              </a:lnSpc>
              <a:spcBef>
                <a:spcPts val="0"/>
              </a:spcBef>
              <a:buNone/>
            </a:pPr>
            <a:r>
              <a:rPr lang="en-IN" sz="1200" dirty="0"/>
              <a:t>        // A custom constructor. must initialize all instance member</a:t>
            </a:r>
          </a:p>
          <a:p>
            <a:pPr marL="0" indent="0">
              <a:lnSpc>
                <a:spcPct val="100000"/>
              </a:lnSpc>
              <a:spcBef>
                <a:spcPts val="0"/>
              </a:spcBef>
              <a:buNone/>
            </a:pPr>
            <a:r>
              <a:rPr lang="en-IN" sz="1200" dirty="0"/>
              <a:t>        public Point(int </a:t>
            </a:r>
            <a:r>
              <a:rPr lang="en-IN" sz="1200" dirty="0" err="1"/>
              <a:t>XPos</a:t>
            </a:r>
            <a:r>
              <a:rPr lang="en-IN" sz="1200" dirty="0"/>
              <a:t>, int </a:t>
            </a:r>
            <a:r>
              <a:rPr lang="en-IN" sz="1200" dirty="0" err="1"/>
              <a:t>YPos</a:t>
            </a:r>
            <a:r>
              <a:rPr lang="en-IN" sz="1200" dirty="0"/>
              <a:t>)</a:t>
            </a:r>
          </a:p>
          <a:p>
            <a:pPr marL="0" indent="0">
              <a:lnSpc>
                <a:spcPct val="100000"/>
              </a:lnSpc>
              <a:spcBef>
                <a:spcPts val="0"/>
              </a:spcBef>
              <a:buNone/>
            </a:pPr>
            <a:r>
              <a:rPr lang="en-IN" sz="1200" dirty="0"/>
              <a:t>        {   X = </a:t>
            </a:r>
            <a:r>
              <a:rPr lang="en-IN" sz="1200" dirty="0" err="1"/>
              <a:t>XPos</a:t>
            </a:r>
            <a:r>
              <a:rPr lang="en-IN" sz="1200" dirty="0"/>
              <a:t>;</a:t>
            </a:r>
          </a:p>
          <a:p>
            <a:pPr marL="0" indent="0">
              <a:lnSpc>
                <a:spcPct val="100000"/>
              </a:lnSpc>
              <a:spcBef>
                <a:spcPts val="0"/>
              </a:spcBef>
              <a:buNone/>
            </a:pPr>
            <a:r>
              <a:rPr lang="en-IN" sz="1200" dirty="0"/>
              <a:t>            Y = </a:t>
            </a:r>
            <a:r>
              <a:rPr lang="en-IN" sz="1200" dirty="0" err="1"/>
              <a:t>YPos</a:t>
            </a:r>
            <a:r>
              <a:rPr lang="en-IN" sz="1200" dirty="0"/>
              <a:t>;</a:t>
            </a:r>
          </a:p>
          <a:p>
            <a:pPr marL="0" indent="0">
              <a:lnSpc>
                <a:spcPct val="100000"/>
              </a:lnSpc>
              <a:spcBef>
                <a:spcPts val="0"/>
              </a:spcBef>
              <a:buNone/>
            </a:pPr>
            <a:r>
              <a:rPr lang="en-IN" sz="1200" dirty="0"/>
              <a:t>        }</a:t>
            </a:r>
          </a:p>
          <a:p>
            <a:pPr marL="0" indent="0">
              <a:lnSpc>
                <a:spcPct val="100000"/>
              </a:lnSpc>
              <a:spcBef>
                <a:spcPts val="0"/>
              </a:spcBef>
              <a:buNone/>
            </a:pPr>
            <a:r>
              <a:rPr lang="en-IN" sz="1200" dirty="0"/>
              <a:t>         // Display the current position.</a:t>
            </a:r>
          </a:p>
          <a:p>
            <a:pPr marL="0" indent="0">
              <a:lnSpc>
                <a:spcPct val="100000"/>
              </a:lnSpc>
              <a:spcBef>
                <a:spcPts val="0"/>
              </a:spcBef>
              <a:buNone/>
            </a:pPr>
            <a:r>
              <a:rPr lang="en-IN" sz="1200" dirty="0"/>
              <a:t>        public void Display()</a:t>
            </a:r>
          </a:p>
          <a:p>
            <a:pPr marL="0" indent="0">
              <a:lnSpc>
                <a:spcPct val="100000"/>
              </a:lnSpc>
              <a:spcBef>
                <a:spcPts val="0"/>
              </a:spcBef>
              <a:buNone/>
            </a:pPr>
            <a:r>
              <a:rPr lang="en-IN" sz="1200" dirty="0"/>
              <a:t>        {            </a:t>
            </a:r>
            <a:r>
              <a:rPr lang="en-IN" sz="1200" dirty="0" err="1"/>
              <a:t>Console.WriteLine</a:t>
            </a:r>
            <a:r>
              <a:rPr lang="en-IN" sz="1200" dirty="0"/>
              <a:t>("X = {0}, Y = {1}", X, 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class Program</a:t>
            </a:r>
          </a:p>
          <a:p>
            <a:pPr marL="0" indent="0">
              <a:lnSpc>
                <a:spcPct val="100000"/>
              </a:lnSpc>
              <a:spcBef>
                <a:spcPts val="0"/>
              </a:spcBef>
              <a:buNone/>
            </a:pPr>
            <a:r>
              <a:rPr lang="en-IN" sz="1200" dirty="0"/>
              <a:t>    {        static void Main(string[] </a:t>
            </a:r>
            <a:r>
              <a:rPr lang="en-IN" sz="1200" dirty="0" err="1"/>
              <a:t>args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a:t>
            </a:r>
          </a:p>
          <a:p>
            <a:pPr marL="0" indent="0">
              <a:lnSpc>
                <a:spcPct val="100000"/>
              </a:lnSpc>
              <a:spcBef>
                <a:spcPts val="0"/>
              </a:spcBef>
              <a:buNone/>
            </a:pPr>
            <a:r>
              <a:rPr lang="en-IN" sz="1200" dirty="0"/>
              <a:t>               Point p1 = new Point();</a:t>
            </a:r>
          </a:p>
          <a:p>
            <a:pPr marL="0" indent="0">
              <a:lnSpc>
                <a:spcPct val="100000"/>
              </a:lnSpc>
              <a:spcBef>
                <a:spcPts val="0"/>
              </a:spcBef>
              <a:buNone/>
            </a:pPr>
            <a:r>
              <a:rPr lang="en-IN" sz="1200" dirty="0"/>
              <a:t>              Point p2 = new Point(50, 60);</a:t>
            </a:r>
          </a:p>
          <a:p>
            <a:pPr marL="0" indent="0">
              <a:lnSpc>
                <a:spcPct val="100000"/>
              </a:lnSpc>
              <a:spcBef>
                <a:spcPts val="0"/>
              </a:spcBef>
              <a:buNone/>
            </a:pPr>
            <a:r>
              <a:rPr lang="en-IN" sz="1200" dirty="0"/>
              <a:t>P1.Display();</a:t>
            </a:r>
          </a:p>
          <a:p>
            <a:pPr marL="0" indent="0">
              <a:lnSpc>
                <a:spcPct val="100000"/>
              </a:lnSpc>
              <a:spcBef>
                <a:spcPts val="0"/>
              </a:spcBef>
              <a:buNone/>
            </a:pPr>
            <a:r>
              <a:rPr lang="en-IN" sz="1200" dirty="0"/>
              <a:t>P1.X=30;</a:t>
            </a:r>
          </a:p>
          <a:p>
            <a:pPr marL="0" indent="0">
              <a:lnSpc>
                <a:spcPct val="100000"/>
              </a:lnSpc>
              <a:spcBef>
                <a:spcPts val="0"/>
              </a:spcBef>
              <a:buNone/>
            </a:pPr>
            <a:r>
              <a:rPr lang="en-IN" sz="1200" dirty="0"/>
              <a:t>P1.Y-60;</a:t>
            </a:r>
          </a:p>
          <a:p>
            <a:pPr marL="0" indent="0">
              <a:lnSpc>
                <a:spcPct val="100000"/>
              </a:lnSpc>
              <a:spcBef>
                <a:spcPts val="0"/>
              </a:spcBef>
              <a:buNone/>
            </a:pPr>
            <a:r>
              <a:rPr lang="en-IN" sz="1200" dirty="0"/>
              <a:t>              p2.Display();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424CA182-5F8E-4266-8140-D47E79DE097B}"/>
              </a:ext>
            </a:extLst>
          </p:cNvPr>
          <p:cNvSpPr txBox="1"/>
          <p:nvPr/>
        </p:nvSpPr>
        <p:spPr>
          <a:xfrm>
            <a:off x="5879690" y="934065"/>
            <a:ext cx="5456904" cy="2862322"/>
          </a:xfrm>
          <a:prstGeom prst="rect">
            <a:avLst/>
          </a:prstGeom>
          <a:noFill/>
        </p:spPr>
        <p:txBody>
          <a:bodyPr wrap="square" rtlCol="0">
            <a:spAutoFit/>
          </a:bodyPr>
          <a:lstStyle/>
          <a:p>
            <a:r>
              <a:rPr lang="en-IN" dirty="0"/>
              <a:t>STACK</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5" name="Rectangle 4">
            <a:extLst>
              <a:ext uri="{FF2B5EF4-FFF2-40B4-BE49-F238E27FC236}">
                <a16:creationId xmlns:a16="http://schemas.microsoft.com/office/drawing/2014/main" id="{D12070E3-6E39-41F7-AF46-0E91D2F2FBD4}"/>
              </a:ext>
            </a:extLst>
          </p:cNvPr>
          <p:cNvSpPr/>
          <p:nvPr/>
        </p:nvSpPr>
        <p:spPr>
          <a:xfrm>
            <a:off x="6774426" y="1509698"/>
            <a:ext cx="1976284" cy="889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X=0      30  Y=0  60</a:t>
            </a:r>
          </a:p>
        </p:txBody>
      </p:sp>
      <p:sp>
        <p:nvSpPr>
          <p:cNvPr id="6" name="TextBox 5">
            <a:extLst>
              <a:ext uri="{FF2B5EF4-FFF2-40B4-BE49-F238E27FC236}">
                <a16:creationId xmlns:a16="http://schemas.microsoft.com/office/drawing/2014/main" id="{2E1363DA-FABA-4175-A5AC-346BF297239E}"/>
              </a:ext>
            </a:extLst>
          </p:cNvPr>
          <p:cNvSpPr txBox="1"/>
          <p:nvPr/>
        </p:nvSpPr>
        <p:spPr>
          <a:xfrm>
            <a:off x="5879690" y="1509698"/>
            <a:ext cx="589936" cy="369332"/>
          </a:xfrm>
          <a:prstGeom prst="rect">
            <a:avLst/>
          </a:prstGeom>
          <a:noFill/>
        </p:spPr>
        <p:txBody>
          <a:bodyPr wrap="square" rtlCol="0">
            <a:spAutoFit/>
          </a:bodyPr>
          <a:lstStyle/>
          <a:p>
            <a:r>
              <a:rPr lang="en-IN" dirty="0"/>
              <a:t>p1</a:t>
            </a:r>
          </a:p>
        </p:txBody>
      </p:sp>
      <p:sp>
        <p:nvSpPr>
          <p:cNvPr id="8" name="Rectangle 7">
            <a:extLst>
              <a:ext uri="{FF2B5EF4-FFF2-40B4-BE49-F238E27FC236}">
                <a16:creationId xmlns:a16="http://schemas.microsoft.com/office/drawing/2014/main" id="{218C7FD4-7E88-48C1-BE9D-200DFD3660B7}"/>
              </a:ext>
            </a:extLst>
          </p:cNvPr>
          <p:cNvSpPr/>
          <p:nvPr/>
        </p:nvSpPr>
        <p:spPr>
          <a:xfrm>
            <a:off x="6990736" y="3482647"/>
            <a:ext cx="1976284" cy="889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X=50 Y=60</a:t>
            </a:r>
          </a:p>
        </p:txBody>
      </p:sp>
      <p:sp>
        <p:nvSpPr>
          <p:cNvPr id="10" name="TextBox 9">
            <a:extLst>
              <a:ext uri="{FF2B5EF4-FFF2-40B4-BE49-F238E27FC236}">
                <a16:creationId xmlns:a16="http://schemas.microsoft.com/office/drawing/2014/main" id="{527EDD56-2D37-4212-847D-4AAB3C056D35}"/>
              </a:ext>
            </a:extLst>
          </p:cNvPr>
          <p:cNvSpPr txBox="1"/>
          <p:nvPr/>
        </p:nvSpPr>
        <p:spPr>
          <a:xfrm>
            <a:off x="6096000" y="3482647"/>
            <a:ext cx="589936" cy="369332"/>
          </a:xfrm>
          <a:prstGeom prst="rect">
            <a:avLst/>
          </a:prstGeom>
          <a:noFill/>
        </p:spPr>
        <p:txBody>
          <a:bodyPr wrap="square" rtlCol="0">
            <a:spAutoFit/>
          </a:bodyPr>
          <a:lstStyle/>
          <a:p>
            <a:r>
              <a:rPr lang="en-IN" dirty="0"/>
              <a:t>p2</a:t>
            </a:r>
          </a:p>
        </p:txBody>
      </p:sp>
      <p:cxnSp>
        <p:nvCxnSpPr>
          <p:cNvPr id="12" name="Straight Connector 11">
            <a:extLst>
              <a:ext uri="{FF2B5EF4-FFF2-40B4-BE49-F238E27FC236}">
                <a16:creationId xmlns:a16="http://schemas.microsoft.com/office/drawing/2014/main" id="{AD529B94-5726-44C6-BBF0-5B95B3DA7F01}"/>
              </a:ext>
            </a:extLst>
          </p:cNvPr>
          <p:cNvCxnSpPr/>
          <p:nvPr/>
        </p:nvCxnSpPr>
        <p:spPr>
          <a:xfrm flipV="1">
            <a:off x="7364362" y="1646544"/>
            <a:ext cx="117987" cy="264402"/>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26567D6A-1A3E-42AF-BF69-443FDCA8A44D}"/>
              </a:ext>
            </a:extLst>
          </p:cNvPr>
          <p:cNvCxnSpPr/>
          <p:nvPr/>
        </p:nvCxnSpPr>
        <p:spPr>
          <a:xfrm flipV="1">
            <a:off x="8377084" y="1694364"/>
            <a:ext cx="137651" cy="260020"/>
          </a:xfrm>
          <a:prstGeom prst="line">
            <a:avLst/>
          </a:prstGeom>
        </p:spPr>
        <p:style>
          <a:lnRef idx="3">
            <a:schemeClr val="accent2"/>
          </a:lnRef>
          <a:fillRef idx="0">
            <a:schemeClr val="accent2"/>
          </a:fillRef>
          <a:effectRef idx="2">
            <a:schemeClr val="accent2"/>
          </a:effectRef>
          <a:fontRef idx="minor">
            <a:schemeClr val="tx1"/>
          </a:fontRef>
        </p:style>
      </p:cxnSp>
      <p:sp>
        <p:nvSpPr>
          <p:cNvPr id="11" name="Rectangle 10">
            <a:extLst>
              <a:ext uri="{FF2B5EF4-FFF2-40B4-BE49-F238E27FC236}">
                <a16:creationId xmlns:a16="http://schemas.microsoft.com/office/drawing/2014/main" id="{9C268719-6F74-48E7-B0C5-886DB2026E83}"/>
              </a:ext>
            </a:extLst>
          </p:cNvPr>
          <p:cNvSpPr/>
          <p:nvPr/>
        </p:nvSpPr>
        <p:spPr>
          <a:xfrm>
            <a:off x="6774428" y="1509697"/>
            <a:ext cx="1976284" cy="889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X=0      30  Y=0  60</a:t>
            </a:r>
          </a:p>
        </p:txBody>
      </p:sp>
      <p:sp>
        <p:nvSpPr>
          <p:cNvPr id="13" name="TextBox 12">
            <a:extLst>
              <a:ext uri="{FF2B5EF4-FFF2-40B4-BE49-F238E27FC236}">
                <a16:creationId xmlns:a16="http://schemas.microsoft.com/office/drawing/2014/main" id="{8A6A38B9-9BE7-46AC-B9A5-7FEA77F2293F}"/>
              </a:ext>
            </a:extLst>
          </p:cNvPr>
          <p:cNvSpPr txBox="1"/>
          <p:nvPr/>
        </p:nvSpPr>
        <p:spPr>
          <a:xfrm>
            <a:off x="5879692" y="1509697"/>
            <a:ext cx="589936" cy="369332"/>
          </a:xfrm>
          <a:prstGeom prst="rect">
            <a:avLst/>
          </a:prstGeom>
          <a:noFill/>
        </p:spPr>
        <p:txBody>
          <a:bodyPr wrap="square" rtlCol="0">
            <a:spAutoFit/>
          </a:bodyPr>
          <a:lstStyle/>
          <a:p>
            <a:r>
              <a:rPr lang="en-IN" dirty="0"/>
              <a:t>p1</a:t>
            </a:r>
          </a:p>
        </p:txBody>
      </p:sp>
      <p:cxnSp>
        <p:nvCxnSpPr>
          <p:cNvPr id="15" name="Straight Connector 14">
            <a:extLst>
              <a:ext uri="{FF2B5EF4-FFF2-40B4-BE49-F238E27FC236}">
                <a16:creationId xmlns:a16="http://schemas.microsoft.com/office/drawing/2014/main" id="{28272AF0-0C6C-4BF8-938F-580800B08EE0}"/>
              </a:ext>
            </a:extLst>
          </p:cNvPr>
          <p:cNvCxnSpPr/>
          <p:nvPr/>
        </p:nvCxnSpPr>
        <p:spPr>
          <a:xfrm flipV="1">
            <a:off x="7364364" y="1646543"/>
            <a:ext cx="117987" cy="264402"/>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07069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C3BAA-B455-4DF2-9BDE-28E27FB52D77}"/>
              </a:ext>
            </a:extLst>
          </p:cNvPr>
          <p:cNvSpPr>
            <a:spLocks noGrp="1"/>
          </p:cNvSpPr>
          <p:nvPr>
            <p:ph type="title"/>
          </p:nvPr>
        </p:nvSpPr>
        <p:spPr>
          <a:xfrm>
            <a:off x="1148411" y="85989"/>
            <a:ext cx="10515600" cy="575633"/>
          </a:xfrm>
        </p:spPr>
        <p:txBody>
          <a:bodyPr>
            <a:noAutofit/>
          </a:bodyPr>
          <a:lstStyle/>
          <a:p>
            <a:r>
              <a:rPr lang="en-IN" sz="2800" dirty="0"/>
              <a:t>	Will this code </a:t>
            </a:r>
            <a:r>
              <a:rPr lang="en-IN" sz="2400" dirty="0"/>
              <a:t>compile</a:t>
            </a:r>
            <a:r>
              <a:rPr lang="en-IN" sz="2800" dirty="0"/>
              <a:t>?(only one member is initialize framework 4.6 &amp; lower C#7.3 )</a:t>
            </a:r>
          </a:p>
        </p:txBody>
      </p:sp>
      <p:sp>
        <p:nvSpPr>
          <p:cNvPr id="3" name="Content Placeholder 2">
            <a:extLst>
              <a:ext uri="{FF2B5EF4-FFF2-40B4-BE49-F238E27FC236}">
                <a16:creationId xmlns:a16="http://schemas.microsoft.com/office/drawing/2014/main" id="{C3ECB467-6059-4B91-A412-19F535E97112}"/>
              </a:ext>
            </a:extLst>
          </p:cNvPr>
          <p:cNvSpPr>
            <a:spLocks noGrp="1"/>
          </p:cNvSpPr>
          <p:nvPr>
            <p:ph idx="1"/>
          </p:nvPr>
        </p:nvSpPr>
        <p:spPr>
          <a:xfrm>
            <a:off x="131975" y="735291"/>
            <a:ext cx="11334947" cy="5910607"/>
          </a:xfrm>
        </p:spPr>
        <p:txBody>
          <a:bodyPr>
            <a:noAutofit/>
          </a:bodyPr>
          <a:lstStyle/>
          <a:p>
            <a:pPr marL="0" indent="0">
              <a:lnSpc>
                <a:spcPct val="100000"/>
              </a:lnSpc>
              <a:spcBef>
                <a:spcPts val="0"/>
              </a:spcBef>
              <a:buNone/>
            </a:pPr>
            <a:r>
              <a:rPr lang="en-IN" sz="1800" dirty="0"/>
              <a:t>using System;</a:t>
            </a:r>
          </a:p>
          <a:p>
            <a:pPr marL="0" indent="0">
              <a:lnSpc>
                <a:spcPct val="100000"/>
              </a:lnSpc>
              <a:spcBef>
                <a:spcPts val="0"/>
              </a:spcBef>
              <a:buNone/>
            </a:pPr>
            <a:r>
              <a:rPr lang="en-IN" sz="1800" dirty="0"/>
              <a:t>namespace </a:t>
            </a:r>
            <a:r>
              <a:rPr lang="en-IN" sz="1800" dirty="0" err="1"/>
              <a:t>FunWithStructures</a:t>
            </a:r>
            <a:endParaRPr lang="en-IN" sz="1800" dirty="0"/>
          </a:p>
          <a:p>
            <a:pPr marL="0" indent="0">
              <a:lnSpc>
                <a:spcPct val="100000"/>
              </a:lnSpc>
              <a:spcBef>
                <a:spcPts val="0"/>
              </a:spcBef>
              <a:buNone/>
            </a:pPr>
            <a:r>
              <a:rPr lang="en-IN" sz="1800" dirty="0"/>
              <a:t>{    struct Point //default access modifier is internal -or you can use public</a:t>
            </a:r>
          </a:p>
          <a:p>
            <a:pPr marL="0" indent="0">
              <a:lnSpc>
                <a:spcPct val="100000"/>
              </a:lnSpc>
              <a:spcBef>
                <a:spcPts val="0"/>
              </a:spcBef>
              <a:buNone/>
            </a:pPr>
            <a:r>
              <a:rPr lang="en-IN" sz="1800" dirty="0"/>
              <a:t>    {        // Fields of the structure.</a:t>
            </a:r>
          </a:p>
          <a:p>
            <a:pPr marL="0" indent="0">
              <a:lnSpc>
                <a:spcPct val="100000"/>
              </a:lnSpc>
              <a:spcBef>
                <a:spcPts val="0"/>
              </a:spcBef>
              <a:buNone/>
            </a:pPr>
            <a:r>
              <a:rPr lang="en-IN" sz="1800" dirty="0"/>
              <a:t>        public int X;</a:t>
            </a:r>
          </a:p>
          <a:p>
            <a:pPr marL="0" indent="0">
              <a:lnSpc>
                <a:spcPct val="100000"/>
              </a:lnSpc>
              <a:spcBef>
                <a:spcPts val="0"/>
              </a:spcBef>
              <a:buNone/>
            </a:pPr>
            <a:r>
              <a:rPr lang="en-IN" sz="1800" dirty="0"/>
              <a:t>        public int Y;</a:t>
            </a:r>
          </a:p>
          <a:p>
            <a:pPr marL="0" indent="0">
              <a:lnSpc>
                <a:spcPct val="100000"/>
              </a:lnSpc>
              <a:spcBef>
                <a:spcPts val="0"/>
              </a:spcBef>
              <a:buNone/>
            </a:pPr>
            <a:r>
              <a:rPr lang="en-IN" sz="1800" dirty="0"/>
              <a:t>         </a:t>
            </a:r>
          </a:p>
          <a:p>
            <a:pPr marL="0" indent="0">
              <a:lnSpc>
                <a:spcPct val="100000"/>
              </a:lnSpc>
              <a:spcBef>
                <a:spcPts val="0"/>
              </a:spcBef>
              <a:buNone/>
            </a:pPr>
            <a:r>
              <a:rPr lang="en-IN" sz="1800" dirty="0"/>
              <a:t>        public Point(int </a:t>
            </a:r>
            <a:r>
              <a:rPr lang="en-IN" sz="1800" dirty="0" err="1"/>
              <a:t>XPos</a:t>
            </a:r>
            <a:r>
              <a:rPr lang="en-IN" sz="1800" dirty="0"/>
              <a:t>)</a:t>
            </a:r>
          </a:p>
          <a:p>
            <a:pPr marL="0" indent="0">
              <a:lnSpc>
                <a:spcPct val="100000"/>
              </a:lnSpc>
              <a:spcBef>
                <a:spcPts val="0"/>
              </a:spcBef>
              <a:buNone/>
            </a:pPr>
            <a:r>
              <a:rPr lang="en-IN" sz="1800" dirty="0"/>
              <a:t>        {     X = </a:t>
            </a:r>
            <a:r>
              <a:rPr lang="en-IN" sz="1800" dirty="0" err="1"/>
              <a:t>XPos</a:t>
            </a:r>
            <a:r>
              <a:rPr lang="en-IN" sz="1800" dirty="0"/>
              <a:t>;</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         // Display the current position.</a:t>
            </a:r>
          </a:p>
          <a:p>
            <a:pPr marL="0" indent="0">
              <a:lnSpc>
                <a:spcPct val="100000"/>
              </a:lnSpc>
              <a:spcBef>
                <a:spcPts val="0"/>
              </a:spcBef>
              <a:buNone/>
            </a:pPr>
            <a:r>
              <a:rPr lang="en-IN" sz="1800" dirty="0"/>
              <a:t>        public void Display()</a:t>
            </a:r>
          </a:p>
          <a:p>
            <a:pPr marL="0" indent="0">
              <a:lnSpc>
                <a:spcPct val="100000"/>
              </a:lnSpc>
              <a:spcBef>
                <a:spcPts val="0"/>
              </a:spcBef>
              <a:buNone/>
            </a:pPr>
            <a:r>
              <a:rPr lang="en-IN" sz="1800" dirty="0"/>
              <a:t>        {            </a:t>
            </a:r>
            <a:r>
              <a:rPr lang="en-IN" sz="1800" dirty="0" err="1"/>
              <a:t>Console.WriteLine</a:t>
            </a:r>
            <a:r>
              <a:rPr lang="en-IN" sz="1800" dirty="0"/>
              <a:t>("X = {0}, Y = {1}", X, Y);</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     class Program</a:t>
            </a:r>
          </a:p>
          <a:p>
            <a:pPr marL="0" indent="0">
              <a:lnSpc>
                <a:spcPct val="100000"/>
              </a:lnSpc>
              <a:spcBef>
                <a:spcPts val="0"/>
              </a:spcBef>
              <a:buNone/>
            </a:pPr>
            <a:r>
              <a:rPr lang="en-IN" sz="1800" dirty="0"/>
              <a:t>    {        static void Main(string[] </a:t>
            </a:r>
            <a:r>
              <a:rPr lang="en-IN" sz="1800" dirty="0" err="1"/>
              <a:t>args</a:t>
            </a:r>
            <a:r>
              <a:rPr lang="en-IN" sz="1800" dirty="0"/>
              <a:t>)</a:t>
            </a:r>
          </a:p>
          <a:p>
            <a:pPr marL="0" indent="0">
              <a:lnSpc>
                <a:spcPct val="100000"/>
              </a:lnSpc>
              <a:spcBef>
                <a:spcPts val="0"/>
              </a:spcBef>
              <a:buNone/>
            </a:pPr>
            <a:r>
              <a:rPr lang="en-IN" sz="1800" dirty="0"/>
              <a:t>              {                         </a:t>
            </a:r>
          </a:p>
          <a:p>
            <a:pPr marL="0" indent="0">
              <a:lnSpc>
                <a:spcPct val="100000"/>
              </a:lnSpc>
              <a:spcBef>
                <a:spcPts val="0"/>
              </a:spcBef>
              <a:buNone/>
            </a:pPr>
            <a:r>
              <a:rPr lang="en-IN" sz="1800" dirty="0"/>
              <a:t>              Point p2 = new Point(50);</a:t>
            </a:r>
          </a:p>
          <a:p>
            <a:pPr marL="0" indent="0">
              <a:lnSpc>
                <a:spcPct val="100000"/>
              </a:lnSpc>
              <a:spcBef>
                <a:spcPts val="0"/>
              </a:spcBef>
              <a:buNone/>
            </a:pPr>
            <a:r>
              <a:rPr lang="en-IN" sz="1800" dirty="0"/>
              <a:t>              p2.Display();</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    }</a:t>
            </a:r>
          </a:p>
          <a:p>
            <a:pPr marL="0" indent="0">
              <a:lnSpc>
                <a:spcPct val="100000"/>
              </a:lnSpc>
              <a:spcBef>
                <a:spcPts val="0"/>
              </a:spcBef>
              <a:buNone/>
            </a:pPr>
            <a:r>
              <a:rPr lang="en-IN" sz="1800" dirty="0"/>
              <a:t>}</a:t>
            </a:r>
          </a:p>
          <a:p>
            <a:pPr marL="0" indent="0">
              <a:lnSpc>
                <a:spcPct val="100000"/>
              </a:lnSpc>
              <a:spcBef>
                <a:spcPts val="0"/>
              </a:spcBef>
              <a:buNone/>
            </a:pPr>
            <a:endParaRPr lang="en-IN" sz="1800" dirty="0"/>
          </a:p>
        </p:txBody>
      </p:sp>
    </p:spTree>
    <p:extLst>
      <p:ext uri="{BB962C8B-B14F-4D97-AF65-F5344CB8AC3E}">
        <p14:creationId xmlns:p14="http://schemas.microsoft.com/office/powerpoint/2010/main" val="505964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C3BAA-B455-4DF2-9BDE-28E27FB52D77}"/>
              </a:ext>
            </a:extLst>
          </p:cNvPr>
          <p:cNvSpPr>
            <a:spLocks noGrp="1"/>
          </p:cNvSpPr>
          <p:nvPr>
            <p:ph type="title"/>
          </p:nvPr>
        </p:nvSpPr>
        <p:spPr>
          <a:xfrm>
            <a:off x="725078" y="18256"/>
            <a:ext cx="10515600" cy="575633"/>
          </a:xfrm>
        </p:spPr>
        <p:txBody>
          <a:bodyPr>
            <a:noAutofit/>
          </a:bodyPr>
          <a:lstStyle/>
          <a:p>
            <a:r>
              <a:rPr lang="en-IN" sz="2800" dirty="0"/>
              <a:t>	Will this code </a:t>
            </a:r>
            <a:r>
              <a:rPr lang="en-IN" sz="2400" dirty="0"/>
              <a:t>compile</a:t>
            </a:r>
            <a:r>
              <a:rPr lang="en-IN" sz="2800" dirty="0"/>
              <a:t>?(Yes)</a:t>
            </a:r>
          </a:p>
        </p:txBody>
      </p:sp>
      <p:sp>
        <p:nvSpPr>
          <p:cNvPr id="3" name="Content Placeholder 2">
            <a:extLst>
              <a:ext uri="{FF2B5EF4-FFF2-40B4-BE49-F238E27FC236}">
                <a16:creationId xmlns:a16="http://schemas.microsoft.com/office/drawing/2014/main" id="{C3ECB467-6059-4B91-A412-19F535E97112}"/>
              </a:ext>
            </a:extLst>
          </p:cNvPr>
          <p:cNvSpPr>
            <a:spLocks noGrp="1"/>
          </p:cNvSpPr>
          <p:nvPr>
            <p:ph idx="1"/>
          </p:nvPr>
        </p:nvSpPr>
        <p:spPr>
          <a:xfrm>
            <a:off x="131975" y="735291"/>
            <a:ext cx="11334947" cy="5910607"/>
          </a:xfrm>
        </p:spPr>
        <p:txBody>
          <a:bodyPr>
            <a:noAutofit/>
          </a:bodyPr>
          <a:lstStyle/>
          <a:p>
            <a:pPr marL="0" indent="0">
              <a:lnSpc>
                <a:spcPct val="100000"/>
              </a:lnSpc>
              <a:spcBef>
                <a:spcPts val="0"/>
              </a:spcBef>
              <a:buNone/>
            </a:pPr>
            <a:r>
              <a:rPr lang="en-IN" sz="1200" dirty="0"/>
              <a:t>using System;</a:t>
            </a:r>
          </a:p>
          <a:p>
            <a:pPr marL="0" indent="0">
              <a:lnSpc>
                <a:spcPct val="100000"/>
              </a:lnSpc>
              <a:spcBef>
                <a:spcPts val="0"/>
              </a:spcBef>
              <a:buNone/>
            </a:pPr>
            <a:r>
              <a:rPr lang="en-IN" sz="1200" dirty="0"/>
              <a:t>namespace </a:t>
            </a:r>
            <a:r>
              <a:rPr lang="en-IN" sz="1200" dirty="0" err="1"/>
              <a:t>FunWithStructures</a:t>
            </a:r>
            <a:endParaRPr lang="en-IN" sz="1200" dirty="0"/>
          </a:p>
          <a:p>
            <a:pPr marL="0" indent="0">
              <a:lnSpc>
                <a:spcPct val="100000"/>
              </a:lnSpc>
              <a:spcBef>
                <a:spcPts val="0"/>
              </a:spcBef>
              <a:buNone/>
            </a:pPr>
            <a:r>
              <a:rPr lang="en-IN" sz="1200" dirty="0"/>
              <a:t>{    struct Point //default access modifier is internal -or you can use public</a:t>
            </a:r>
          </a:p>
          <a:p>
            <a:pPr marL="0" indent="0">
              <a:lnSpc>
                <a:spcPct val="100000"/>
              </a:lnSpc>
              <a:spcBef>
                <a:spcPts val="0"/>
              </a:spcBef>
              <a:buNone/>
            </a:pPr>
            <a:r>
              <a:rPr lang="en-IN" sz="1200" dirty="0"/>
              <a:t>    {   </a:t>
            </a:r>
          </a:p>
          <a:p>
            <a:pPr marL="0" indent="0">
              <a:lnSpc>
                <a:spcPct val="100000"/>
              </a:lnSpc>
              <a:spcBef>
                <a:spcPts val="0"/>
              </a:spcBef>
              <a:buNone/>
            </a:pPr>
            <a:r>
              <a:rPr lang="en-IN" sz="1200" dirty="0"/>
              <a:t>      // Fields of the structure.</a:t>
            </a:r>
          </a:p>
          <a:p>
            <a:pPr marL="0" indent="0">
              <a:lnSpc>
                <a:spcPct val="100000"/>
              </a:lnSpc>
              <a:spcBef>
                <a:spcPts val="0"/>
              </a:spcBef>
              <a:buNone/>
            </a:pPr>
            <a:r>
              <a:rPr lang="en-IN" sz="1200" dirty="0"/>
              <a:t>        public int X;</a:t>
            </a:r>
          </a:p>
          <a:p>
            <a:pPr marL="0" indent="0">
              <a:lnSpc>
                <a:spcPct val="100000"/>
              </a:lnSpc>
              <a:spcBef>
                <a:spcPts val="0"/>
              </a:spcBef>
              <a:buNone/>
            </a:pPr>
            <a:r>
              <a:rPr lang="en-IN" sz="1200" dirty="0"/>
              <a:t>        public int Y;</a:t>
            </a:r>
          </a:p>
          <a:p>
            <a:pPr marL="0" indent="0">
              <a:lnSpc>
                <a:spcPct val="100000"/>
              </a:lnSpc>
              <a:spcBef>
                <a:spcPts val="0"/>
              </a:spcBef>
              <a:buNone/>
            </a:pPr>
            <a:endParaRPr lang="en-IN" sz="1200" dirty="0"/>
          </a:p>
          <a:p>
            <a:pPr marL="0" indent="0">
              <a:lnSpc>
                <a:spcPct val="100000"/>
              </a:lnSpc>
              <a:spcBef>
                <a:spcPts val="0"/>
              </a:spcBef>
              <a:buNone/>
            </a:pPr>
            <a:r>
              <a:rPr lang="en-IN" sz="1200" dirty="0"/>
              <a:t>   // A custom constructor. must initialize all instance member</a:t>
            </a:r>
          </a:p>
          <a:p>
            <a:pPr marL="0" indent="0">
              <a:lnSpc>
                <a:spcPct val="100000"/>
              </a:lnSpc>
              <a:spcBef>
                <a:spcPts val="0"/>
              </a:spcBef>
              <a:buNone/>
            </a:pPr>
            <a:r>
              <a:rPr lang="en-IN" sz="1200" dirty="0"/>
              <a:t>        public Point(int </a:t>
            </a:r>
            <a:r>
              <a:rPr lang="en-IN" sz="1200" dirty="0" err="1"/>
              <a:t>XPos</a:t>
            </a:r>
            <a:r>
              <a:rPr lang="en-IN" sz="1200" dirty="0"/>
              <a:t>, int </a:t>
            </a:r>
            <a:r>
              <a:rPr lang="en-IN" sz="1200" dirty="0" err="1"/>
              <a:t>YPos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X = </a:t>
            </a:r>
            <a:r>
              <a:rPr lang="en-IN" sz="1200" dirty="0" err="1"/>
              <a:t>XPos</a:t>
            </a:r>
            <a:r>
              <a:rPr lang="en-IN" sz="1200" dirty="0"/>
              <a:t>;</a:t>
            </a:r>
          </a:p>
          <a:p>
            <a:pPr marL="0" indent="0">
              <a:lnSpc>
                <a:spcPct val="100000"/>
              </a:lnSpc>
              <a:spcBef>
                <a:spcPts val="0"/>
              </a:spcBef>
              <a:buNone/>
            </a:pPr>
            <a:r>
              <a:rPr lang="en-IN" sz="1200" dirty="0"/>
              <a:t>            Y = </a:t>
            </a:r>
            <a:r>
              <a:rPr lang="en-IN" sz="1200" dirty="0" err="1"/>
              <a:t>YPos</a:t>
            </a:r>
            <a:r>
              <a:rPr lang="en-IN" sz="1200" dirty="0"/>
              <a:t>;</a:t>
            </a:r>
          </a:p>
          <a:p>
            <a:pPr marL="0" indent="0">
              <a:lnSpc>
                <a:spcPct val="100000"/>
              </a:lnSpc>
              <a:spcBef>
                <a:spcPts val="0"/>
              </a:spcBef>
              <a:buNone/>
            </a:pPr>
            <a:endParaRPr lang="en-IN" sz="1200" dirty="0"/>
          </a:p>
          <a:p>
            <a:pPr marL="0" indent="0">
              <a:lnSpc>
                <a:spcPct val="100000"/>
              </a:lnSpc>
              <a:spcBef>
                <a:spcPts val="0"/>
              </a:spcBef>
              <a:buNone/>
            </a:pPr>
            <a:r>
              <a:rPr lang="en-IN" sz="1200" dirty="0"/>
              <a:t>        }</a:t>
            </a:r>
          </a:p>
          <a:p>
            <a:pPr marL="0" indent="0">
              <a:lnSpc>
                <a:spcPct val="100000"/>
              </a:lnSpc>
              <a:spcBef>
                <a:spcPts val="0"/>
              </a:spcBef>
              <a:buNone/>
            </a:pPr>
            <a:r>
              <a:rPr lang="en-IN" sz="1200" dirty="0"/>
              <a:t>         // Display the current position.</a:t>
            </a:r>
          </a:p>
          <a:p>
            <a:pPr marL="0" indent="0">
              <a:lnSpc>
                <a:spcPct val="100000"/>
              </a:lnSpc>
              <a:spcBef>
                <a:spcPts val="0"/>
              </a:spcBef>
              <a:buNone/>
            </a:pPr>
            <a:r>
              <a:rPr lang="en-IN" sz="1200" dirty="0"/>
              <a:t>        public void Display()</a:t>
            </a:r>
          </a:p>
          <a:p>
            <a:pPr marL="0" indent="0">
              <a:lnSpc>
                <a:spcPct val="100000"/>
              </a:lnSpc>
              <a:spcBef>
                <a:spcPts val="0"/>
              </a:spcBef>
              <a:buNone/>
            </a:pPr>
            <a:r>
              <a:rPr lang="en-IN" sz="1200" dirty="0"/>
              <a:t>        {       </a:t>
            </a:r>
          </a:p>
          <a:p>
            <a:pPr marL="0" indent="0">
              <a:lnSpc>
                <a:spcPct val="100000"/>
              </a:lnSpc>
              <a:spcBef>
                <a:spcPts val="0"/>
              </a:spcBef>
              <a:buNone/>
            </a:pPr>
            <a:r>
              <a:rPr lang="en-IN" sz="1200" dirty="0"/>
              <a:t>                </a:t>
            </a:r>
            <a:r>
              <a:rPr lang="en-IN" sz="1200" dirty="0" err="1"/>
              <a:t>Console.WriteLine</a:t>
            </a:r>
            <a:r>
              <a:rPr lang="en-IN" sz="1200" dirty="0"/>
              <a:t>("X = {0}, Y = {1}", X, 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class Program</a:t>
            </a:r>
          </a:p>
          <a:p>
            <a:pPr marL="0" indent="0">
              <a:lnSpc>
                <a:spcPct val="100000"/>
              </a:lnSpc>
              <a:spcBef>
                <a:spcPts val="0"/>
              </a:spcBef>
              <a:buNone/>
            </a:pPr>
            <a:r>
              <a:rPr lang="en-IN" sz="1200" dirty="0"/>
              <a:t>    {        static void Main(string[] </a:t>
            </a:r>
            <a:r>
              <a:rPr lang="en-IN" sz="1200" dirty="0" err="1"/>
              <a:t>args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a:t>
            </a:r>
          </a:p>
          <a:p>
            <a:pPr marL="0" indent="0">
              <a:lnSpc>
                <a:spcPct val="100000"/>
              </a:lnSpc>
              <a:spcBef>
                <a:spcPts val="0"/>
              </a:spcBef>
              <a:buNone/>
            </a:pPr>
            <a:r>
              <a:rPr lang="en-IN" sz="1200" dirty="0"/>
              <a:t>             Point p2 = new Point(50, 60);</a:t>
            </a:r>
          </a:p>
          <a:p>
            <a:pPr marL="0" indent="0">
              <a:lnSpc>
                <a:spcPct val="100000"/>
              </a:lnSpc>
              <a:spcBef>
                <a:spcPts val="0"/>
              </a:spcBef>
              <a:buNone/>
            </a:pPr>
            <a:r>
              <a:rPr lang="en-IN" sz="1200" dirty="0"/>
              <a:t>              p2.Display();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928F7CE8-8C7B-4667-B060-1D3DF6B1491D}"/>
              </a:ext>
            </a:extLst>
          </p:cNvPr>
          <p:cNvSpPr txBox="1"/>
          <p:nvPr/>
        </p:nvSpPr>
        <p:spPr>
          <a:xfrm>
            <a:off x="5879690" y="934065"/>
            <a:ext cx="5456904" cy="2862322"/>
          </a:xfrm>
          <a:prstGeom prst="rect">
            <a:avLst/>
          </a:prstGeom>
          <a:noFill/>
        </p:spPr>
        <p:txBody>
          <a:bodyPr wrap="square" rtlCol="0">
            <a:spAutoFit/>
          </a:bodyPr>
          <a:lstStyle/>
          <a:p>
            <a:r>
              <a:rPr lang="en-IN" dirty="0"/>
              <a:t>STACK</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5" name="TextBox 4">
            <a:extLst>
              <a:ext uri="{FF2B5EF4-FFF2-40B4-BE49-F238E27FC236}">
                <a16:creationId xmlns:a16="http://schemas.microsoft.com/office/drawing/2014/main" id="{D962DAE8-1C1E-4B6F-9ADE-169503C7C9BB}"/>
              </a:ext>
            </a:extLst>
          </p:cNvPr>
          <p:cNvSpPr txBox="1"/>
          <p:nvPr/>
        </p:nvSpPr>
        <p:spPr>
          <a:xfrm>
            <a:off x="5879690" y="934065"/>
            <a:ext cx="5456904" cy="2862322"/>
          </a:xfrm>
          <a:prstGeom prst="rect">
            <a:avLst/>
          </a:prstGeom>
          <a:noFill/>
        </p:spPr>
        <p:txBody>
          <a:bodyPr wrap="square" rtlCol="0">
            <a:spAutoFit/>
          </a:bodyPr>
          <a:lstStyle/>
          <a:p>
            <a:r>
              <a:rPr lang="en-IN" dirty="0"/>
              <a:t>STACK</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6" name="Rectangle 5">
            <a:extLst>
              <a:ext uri="{FF2B5EF4-FFF2-40B4-BE49-F238E27FC236}">
                <a16:creationId xmlns:a16="http://schemas.microsoft.com/office/drawing/2014/main" id="{C9C58D3C-58E8-43BE-BF1A-71F856A0B66B}"/>
              </a:ext>
            </a:extLst>
          </p:cNvPr>
          <p:cNvSpPr/>
          <p:nvPr/>
        </p:nvSpPr>
        <p:spPr>
          <a:xfrm>
            <a:off x="6813756" y="3245907"/>
            <a:ext cx="1976284" cy="889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X=50 Y=60</a:t>
            </a:r>
          </a:p>
        </p:txBody>
      </p:sp>
      <p:sp>
        <p:nvSpPr>
          <p:cNvPr id="7" name="TextBox 6">
            <a:extLst>
              <a:ext uri="{FF2B5EF4-FFF2-40B4-BE49-F238E27FC236}">
                <a16:creationId xmlns:a16="http://schemas.microsoft.com/office/drawing/2014/main" id="{E1817EA9-85BE-4E4B-8710-5A4707C6A084}"/>
              </a:ext>
            </a:extLst>
          </p:cNvPr>
          <p:cNvSpPr txBox="1"/>
          <p:nvPr/>
        </p:nvSpPr>
        <p:spPr>
          <a:xfrm>
            <a:off x="6096000" y="3482647"/>
            <a:ext cx="589936" cy="369332"/>
          </a:xfrm>
          <a:prstGeom prst="rect">
            <a:avLst/>
          </a:prstGeom>
          <a:noFill/>
        </p:spPr>
        <p:txBody>
          <a:bodyPr wrap="square" rtlCol="0">
            <a:spAutoFit/>
          </a:bodyPr>
          <a:lstStyle/>
          <a:p>
            <a:r>
              <a:rPr lang="en-IN" dirty="0"/>
              <a:t>p2</a:t>
            </a:r>
          </a:p>
        </p:txBody>
      </p:sp>
    </p:spTree>
    <p:extLst>
      <p:ext uri="{BB962C8B-B14F-4D97-AF65-F5344CB8AC3E}">
        <p14:creationId xmlns:p14="http://schemas.microsoft.com/office/powerpoint/2010/main" val="4126365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CB467-6059-4B91-A412-19F535E97112}"/>
              </a:ext>
            </a:extLst>
          </p:cNvPr>
          <p:cNvSpPr>
            <a:spLocks noGrp="1"/>
          </p:cNvSpPr>
          <p:nvPr>
            <p:ph idx="1"/>
          </p:nvPr>
        </p:nvSpPr>
        <p:spPr>
          <a:xfrm>
            <a:off x="0" y="0"/>
            <a:ext cx="11372654" cy="6589336"/>
          </a:xfrm>
        </p:spPr>
        <p:txBody>
          <a:bodyPr>
            <a:noAutofit/>
          </a:bodyPr>
          <a:lstStyle/>
          <a:p>
            <a:pPr marL="0" indent="0">
              <a:lnSpc>
                <a:spcPct val="100000"/>
              </a:lnSpc>
              <a:spcBef>
                <a:spcPts val="0"/>
              </a:spcBef>
              <a:buNone/>
            </a:pPr>
            <a:r>
              <a:rPr lang="en-IN" sz="1200" dirty="0"/>
              <a:t>using System;</a:t>
            </a:r>
          </a:p>
          <a:p>
            <a:pPr marL="0" indent="0">
              <a:lnSpc>
                <a:spcPct val="100000"/>
              </a:lnSpc>
              <a:spcBef>
                <a:spcPts val="0"/>
              </a:spcBef>
              <a:buNone/>
            </a:pPr>
            <a:r>
              <a:rPr lang="en-IN" sz="1200" dirty="0"/>
              <a:t>		</a:t>
            </a:r>
          </a:p>
          <a:p>
            <a:pPr marL="0" indent="0">
              <a:lnSpc>
                <a:spcPct val="100000"/>
              </a:lnSpc>
              <a:spcBef>
                <a:spcPts val="0"/>
              </a:spcBef>
              <a:buNone/>
            </a:pPr>
            <a:endParaRPr lang="en-IN" sz="1200" dirty="0"/>
          </a:p>
          <a:p>
            <a:pPr marL="0" indent="0">
              <a:lnSpc>
                <a:spcPct val="100000"/>
              </a:lnSpc>
              <a:spcBef>
                <a:spcPts val="0"/>
              </a:spcBef>
              <a:buNone/>
            </a:pPr>
            <a:r>
              <a:rPr lang="en-IN" sz="1200" dirty="0"/>
              <a:t>namespace </a:t>
            </a:r>
            <a:r>
              <a:rPr lang="en-IN" sz="1200" dirty="0" err="1"/>
              <a:t>FunWithStructures</a:t>
            </a:r>
            <a:endParaRPr lang="en-IN" sz="1200" dirty="0"/>
          </a:p>
          <a:p>
            <a:pPr marL="0" indent="0">
              <a:lnSpc>
                <a:spcPct val="100000"/>
              </a:lnSpc>
              <a:spcBef>
                <a:spcPts val="0"/>
              </a:spcBef>
              <a:buNone/>
            </a:pPr>
            <a:r>
              <a:rPr lang="en-IN" sz="1200" dirty="0"/>
              <a:t>{    struct Point //default access modifier is internal -or you can use public</a:t>
            </a:r>
          </a:p>
          <a:p>
            <a:pPr marL="0" indent="0">
              <a:lnSpc>
                <a:spcPct val="100000"/>
              </a:lnSpc>
              <a:spcBef>
                <a:spcPts val="0"/>
              </a:spcBef>
              <a:buNone/>
            </a:pPr>
            <a:r>
              <a:rPr lang="en-IN" sz="1200" dirty="0"/>
              <a:t>    {   </a:t>
            </a:r>
          </a:p>
          <a:p>
            <a:pPr marL="0" indent="0">
              <a:lnSpc>
                <a:spcPct val="100000"/>
              </a:lnSpc>
              <a:spcBef>
                <a:spcPts val="0"/>
              </a:spcBef>
              <a:buNone/>
            </a:pPr>
            <a:r>
              <a:rPr lang="en-IN" sz="1200" dirty="0"/>
              <a:t>      // Fields of the structure.</a:t>
            </a:r>
          </a:p>
          <a:p>
            <a:pPr marL="0" indent="0">
              <a:lnSpc>
                <a:spcPct val="100000"/>
              </a:lnSpc>
              <a:spcBef>
                <a:spcPts val="0"/>
              </a:spcBef>
              <a:buNone/>
            </a:pPr>
            <a:r>
              <a:rPr lang="en-IN" sz="1200" dirty="0"/>
              <a:t>        public int X;</a:t>
            </a:r>
          </a:p>
          <a:p>
            <a:pPr marL="0" indent="0">
              <a:lnSpc>
                <a:spcPct val="100000"/>
              </a:lnSpc>
              <a:spcBef>
                <a:spcPts val="0"/>
              </a:spcBef>
              <a:buNone/>
            </a:pPr>
            <a:r>
              <a:rPr lang="en-IN" sz="1200" dirty="0"/>
              <a:t>        public int Y;</a:t>
            </a:r>
          </a:p>
          <a:p>
            <a:pPr marL="0" indent="0">
              <a:lnSpc>
                <a:spcPct val="100000"/>
              </a:lnSpc>
              <a:spcBef>
                <a:spcPts val="0"/>
              </a:spcBef>
              <a:buNone/>
            </a:pPr>
            <a:endParaRPr lang="en-IN" sz="1200" dirty="0"/>
          </a:p>
          <a:p>
            <a:pPr marL="0" indent="0">
              <a:lnSpc>
                <a:spcPct val="100000"/>
              </a:lnSpc>
              <a:spcBef>
                <a:spcPts val="0"/>
              </a:spcBef>
              <a:buNone/>
            </a:pPr>
            <a:r>
              <a:rPr lang="en-IN" sz="1200" dirty="0"/>
              <a:t>   // A custom constructor. must initialize all instance member</a:t>
            </a:r>
          </a:p>
          <a:p>
            <a:pPr marL="0" indent="0">
              <a:lnSpc>
                <a:spcPct val="100000"/>
              </a:lnSpc>
              <a:spcBef>
                <a:spcPts val="0"/>
              </a:spcBef>
              <a:buNone/>
            </a:pPr>
            <a:r>
              <a:rPr lang="en-IN" sz="1200" dirty="0"/>
              <a:t>        public Point(int </a:t>
            </a:r>
            <a:r>
              <a:rPr lang="en-IN" sz="1200" dirty="0" err="1"/>
              <a:t>XPos</a:t>
            </a:r>
            <a:r>
              <a:rPr lang="en-IN" sz="1200" dirty="0"/>
              <a:t>, int </a:t>
            </a:r>
            <a:r>
              <a:rPr lang="en-IN" sz="1200" dirty="0" err="1"/>
              <a:t>YPos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X = </a:t>
            </a:r>
            <a:r>
              <a:rPr lang="en-IN" sz="1200" dirty="0" err="1"/>
              <a:t>XPos</a:t>
            </a:r>
            <a:r>
              <a:rPr lang="en-IN" sz="1200" dirty="0"/>
              <a:t>;</a:t>
            </a:r>
          </a:p>
          <a:p>
            <a:pPr marL="0" indent="0">
              <a:lnSpc>
                <a:spcPct val="100000"/>
              </a:lnSpc>
              <a:spcBef>
                <a:spcPts val="0"/>
              </a:spcBef>
              <a:buNone/>
            </a:pPr>
            <a:r>
              <a:rPr lang="en-IN" sz="1200" dirty="0"/>
              <a:t>            Y = </a:t>
            </a:r>
            <a:r>
              <a:rPr lang="en-IN" sz="1200" dirty="0" err="1"/>
              <a:t>YPos</a:t>
            </a:r>
            <a:r>
              <a:rPr lang="en-IN" sz="1200" dirty="0"/>
              <a:t>;</a:t>
            </a:r>
          </a:p>
          <a:p>
            <a:pPr marL="0" indent="0">
              <a:lnSpc>
                <a:spcPct val="100000"/>
              </a:lnSpc>
              <a:spcBef>
                <a:spcPts val="0"/>
              </a:spcBef>
              <a:buNone/>
            </a:pPr>
            <a:endParaRPr lang="en-IN" sz="1200" dirty="0"/>
          </a:p>
          <a:p>
            <a:pPr marL="0" indent="0">
              <a:lnSpc>
                <a:spcPct val="100000"/>
              </a:lnSpc>
              <a:spcBef>
                <a:spcPts val="0"/>
              </a:spcBef>
              <a:buNone/>
            </a:pPr>
            <a:r>
              <a:rPr lang="en-IN" sz="1200" dirty="0"/>
              <a:t>        }</a:t>
            </a:r>
          </a:p>
          <a:p>
            <a:pPr marL="0" indent="0">
              <a:lnSpc>
                <a:spcPct val="100000"/>
              </a:lnSpc>
              <a:spcBef>
                <a:spcPts val="0"/>
              </a:spcBef>
              <a:buNone/>
            </a:pPr>
            <a:r>
              <a:rPr lang="en-IN" sz="1200" dirty="0"/>
              <a:t>         // Display the current position.</a:t>
            </a:r>
          </a:p>
          <a:p>
            <a:pPr marL="0" indent="0">
              <a:lnSpc>
                <a:spcPct val="100000"/>
              </a:lnSpc>
              <a:spcBef>
                <a:spcPts val="0"/>
              </a:spcBef>
              <a:buNone/>
            </a:pPr>
            <a:r>
              <a:rPr lang="en-IN" sz="1200" dirty="0"/>
              <a:t>        public void Display()</a:t>
            </a:r>
          </a:p>
          <a:p>
            <a:pPr marL="0" indent="0">
              <a:lnSpc>
                <a:spcPct val="100000"/>
              </a:lnSpc>
              <a:spcBef>
                <a:spcPts val="0"/>
              </a:spcBef>
              <a:buNone/>
            </a:pPr>
            <a:r>
              <a:rPr lang="en-IN" sz="1200" dirty="0"/>
              <a:t>        {       </a:t>
            </a:r>
          </a:p>
          <a:p>
            <a:pPr marL="0" indent="0">
              <a:lnSpc>
                <a:spcPct val="100000"/>
              </a:lnSpc>
              <a:spcBef>
                <a:spcPts val="0"/>
              </a:spcBef>
              <a:buNone/>
            </a:pPr>
            <a:r>
              <a:rPr lang="en-IN" sz="1200" dirty="0"/>
              <a:t>                </a:t>
            </a:r>
            <a:r>
              <a:rPr lang="en-IN" sz="1200" dirty="0" err="1"/>
              <a:t>Console.WriteLine</a:t>
            </a:r>
            <a:r>
              <a:rPr lang="en-IN" sz="1200" dirty="0"/>
              <a:t>("X = {0}, Y = {1}", X, 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class Program</a:t>
            </a:r>
          </a:p>
          <a:p>
            <a:pPr marL="0" indent="0">
              <a:lnSpc>
                <a:spcPct val="100000"/>
              </a:lnSpc>
              <a:spcBef>
                <a:spcPts val="0"/>
              </a:spcBef>
              <a:buNone/>
            </a:pPr>
            <a:r>
              <a:rPr lang="en-IN" sz="1200" dirty="0"/>
              <a:t>    {        static void Main(string[] </a:t>
            </a:r>
            <a:r>
              <a:rPr lang="en-IN" sz="1200" dirty="0" err="1"/>
              <a:t>args</a:t>
            </a:r>
            <a:r>
              <a:rPr lang="en-IN" sz="1200" dirty="0"/>
              <a:t>)</a:t>
            </a:r>
          </a:p>
          <a:p>
            <a:pPr marL="0" indent="0">
              <a:lnSpc>
                <a:spcPct val="100000"/>
              </a:lnSpc>
              <a:spcBef>
                <a:spcPts val="0"/>
              </a:spcBef>
              <a:buNone/>
            </a:pPr>
            <a:r>
              <a:rPr lang="en-IN" sz="1200" dirty="0"/>
              <a:t>              {            </a:t>
            </a:r>
          </a:p>
          <a:p>
            <a:pPr marL="0" indent="0">
              <a:lnSpc>
                <a:spcPct val="100000"/>
              </a:lnSpc>
              <a:spcBef>
                <a:spcPts val="0"/>
              </a:spcBef>
              <a:buNone/>
            </a:pPr>
            <a:r>
              <a:rPr lang="en-IN" sz="1200" dirty="0"/>
              <a:t>            Point p1=new Point();;</a:t>
            </a:r>
          </a:p>
          <a:p>
            <a:pPr marL="0" indent="0">
              <a:lnSpc>
                <a:spcPct val="100000"/>
              </a:lnSpc>
              <a:spcBef>
                <a:spcPts val="0"/>
              </a:spcBef>
              <a:buNone/>
            </a:pPr>
            <a:r>
              <a:rPr lang="en-IN" sz="1200" dirty="0"/>
              <a:t>             Point p2 = new Point(50, 60);</a:t>
            </a:r>
          </a:p>
          <a:p>
            <a:pPr marL="0" indent="0">
              <a:lnSpc>
                <a:spcPct val="100000"/>
              </a:lnSpc>
              <a:spcBef>
                <a:spcPts val="0"/>
              </a:spcBef>
              <a:buNone/>
            </a:pPr>
            <a:r>
              <a:rPr lang="en-IN" sz="1200" dirty="0"/>
              <a:t>             </a:t>
            </a:r>
          </a:p>
          <a:p>
            <a:pPr marL="0" indent="0">
              <a:lnSpc>
                <a:spcPct val="100000"/>
              </a:lnSpc>
              <a:spcBef>
                <a:spcPts val="0"/>
              </a:spcBef>
              <a:buNone/>
            </a:pPr>
            <a:r>
              <a:rPr lang="en-IN" sz="1200" dirty="0"/>
              <a:t>              p1=p2;</a:t>
            </a:r>
          </a:p>
          <a:p>
            <a:pPr marL="0" indent="0">
              <a:lnSpc>
                <a:spcPct val="100000"/>
              </a:lnSpc>
              <a:spcBef>
                <a:spcPts val="0"/>
              </a:spcBef>
              <a:buNone/>
            </a:pPr>
            <a:r>
              <a:rPr lang="en-IN" sz="1200" dirty="0"/>
              <a:t>             p1.X=20;</a:t>
            </a:r>
          </a:p>
          <a:p>
            <a:pPr marL="0" indent="0">
              <a:lnSpc>
                <a:spcPct val="100000"/>
              </a:lnSpc>
              <a:spcBef>
                <a:spcPts val="0"/>
              </a:spcBef>
              <a:buNone/>
            </a:pPr>
            <a:r>
              <a:rPr lang="en-IN" sz="1200" dirty="0"/>
              <a:t>p1.Display();</a:t>
            </a:r>
          </a:p>
          <a:p>
            <a:pPr marL="0" indent="0">
              <a:lnSpc>
                <a:spcPct val="100000"/>
              </a:lnSpc>
              <a:spcBef>
                <a:spcPts val="0"/>
              </a:spcBef>
              <a:buNone/>
            </a:pPr>
            <a:r>
              <a:rPr lang="en-IN" sz="1200" dirty="0"/>
              <a:t>p2.Display();</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    }</a:t>
            </a:r>
          </a:p>
          <a:p>
            <a:pPr marL="0" indent="0">
              <a:lnSpc>
                <a:spcPct val="100000"/>
              </a:lnSpc>
              <a:spcBef>
                <a:spcPts val="0"/>
              </a:spcBef>
              <a:buNone/>
            </a:pPr>
            <a:r>
              <a:rPr lang="en-IN" sz="1200" dirty="0"/>
              <a:t>}</a:t>
            </a:r>
          </a:p>
          <a:p>
            <a:pPr marL="0" indent="0">
              <a:lnSpc>
                <a:spcPct val="100000"/>
              </a:lnSpc>
              <a:spcBef>
                <a:spcPts val="0"/>
              </a:spcBef>
              <a:buNone/>
            </a:pPr>
            <a:endParaRPr lang="en-IN" sz="1200" dirty="0"/>
          </a:p>
        </p:txBody>
      </p:sp>
      <p:sp>
        <p:nvSpPr>
          <p:cNvPr id="6" name="Rectangle 5">
            <a:extLst>
              <a:ext uri="{FF2B5EF4-FFF2-40B4-BE49-F238E27FC236}">
                <a16:creationId xmlns:a16="http://schemas.microsoft.com/office/drawing/2014/main" id="{54124426-467E-48E4-8A20-4EDD4521FFFC}"/>
              </a:ext>
            </a:extLst>
          </p:cNvPr>
          <p:cNvSpPr/>
          <p:nvPr/>
        </p:nvSpPr>
        <p:spPr>
          <a:xfrm>
            <a:off x="5410986" y="155542"/>
            <a:ext cx="5650304" cy="42296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E3A229A1-E6D5-4B87-B4E1-F393FC8EA542}"/>
              </a:ext>
            </a:extLst>
          </p:cNvPr>
          <p:cNvSpPr txBox="1"/>
          <p:nvPr/>
        </p:nvSpPr>
        <p:spPr>
          <a:xfrm>
            <a:off x="5854044" y="1677970"/>
            <a:ext cx="914401"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 =50</a:t>
            </a:r>
          </a:p>
          <a:p>
            <a:r>
              <a:rPr lang="en-IN" dirty="0"/>
              <a:t>Y=60</a:t>
            </a:r>
          </a:p>
        </p:txBody>
      </p:sp>
      <p:sp>
        <p:nvSpPr>
          <p:cNvPr id="8" name="TextBox 7">
            <a:extLst>
              <a:ext uri="{FF2B5EF4-FFF2-40B4-BE49-F238E27FC236}">
                <a16:creationId xmlns:a16="http://schemas.microsoft.com/office/drawing/2014/main" id="{4881CA8E-427B-4ADA-836E-B50D7A32110A}"/>
              </a:ext>
            </a:extLst>
          </p:cNvPr>
          <p:cNvSpPr txBox="1"/>
          <p:nvPr/>
        </p:nvSpPr>
        <p:spPr>
          <a:xfrm>
            <a:off x="5854044" y="1027522"/>
            <a:ext cx="546756" cy="369332"/>
          </a:xfrm>
          <a:prstGeom prst="rect">
            <a:avLst/>
          </a:prstGeom>
          <a:noFill/>
        </p:spPr>
        <p:txBody>
          <a:bodyPr wrap="square" rtlCol="0">
            <a:spAutoFit/>
          </a:bodyPr>
          <a:lstStyle/>
          <a:p>
            <a:r>
              <a:rPr lang="en-IN" dirty="0"/>
              <a:t>p2</a:t>
            </a:r>
          </a:p>
        </p:txBody>
      </p:sp>
      <p:sp>
        <p:nvSpPr>
          <p:cNvPr id="9" name="TextBox 8">
            <a:extLst>
              <a:ext uri="{FF2B5EF4-FFF2-40B4-BE49-F238E27FC236}">
                <a16:creationId xmlns:a16="http://schemas.microsoft.com/office/drawing/2014/main" id="{6877744B-3A59-42BC-9EFF-3FC7B47744E1}"/>
              </a:ext>
            </a:extLst>
          </p:cNvPr>
          <p:cNvSpPr txBox="1"/>
          <p:nvPr/>
        </p:nvSpPr>
        <p:spPr>
          <a:xfrm>
            <a:off x="7810105" y="1613553"/>
            <a:ext cx="1392889"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X =0 50             20</a:t>
            </a:r>
          </a:p>
          <a:p>
            <a:r>
              <a:rPr lang="en-IN" dirty="0"/>
              <a:t>Y= 0 60</a:t>
            </a:r>
          </a:p>
        </p:txBody>
      </p:sp>
      <p:sp>
        <p:nvSpPr>
          <p:cNvPr id="11" name="TextBox 10">
            <a:extLst>
              <a:ext uri="{FF2B5EF4-FFF2-40B4-BE49-F238E27FC236}">
                <a16:creationId xmlns:a16="http://schemas.microsoft.com/office/drawing/2014/main" id="{D5934041-17FF-41E3-9D53-37586D83DBB9}"/>
              </a:ext>
            </a:extLst>
          </p:cNvPr>
          <p:cNvSpPr txBox="1"/>
          <p:nvPr/>
        </p:nvSpPr>
        <p:spPr>
          <a:xfrm>
            <a:off x="7880808" y="1027523"/>
            <a:ext cx="461914" cy="369332"/>
          </a:xfrm>
          <a:prstGeom prst="rect">
            <a:avLst/>
          </a:prstGeom>
          <a:noFill/>
        </p:spPr>
        <p:txBody>
          <a:bodyPr wrap="square" rtlCol="0">
            <a:spAutoFit/>
          </a:bodyPr>
          <a:lstStyle/>
          <a:p>
            <a:r>
              <a:rPr lang="en-IN" dirty="0"/>
              <a:t>P1</a:t>
            </a:r>
          </a:p>
        </p:txBody>
      </p:sp>
      <p:cxnSp>
        <p:nvCxnSpPr>
          <p:cNvPr id="13" name="Straight Connector 12">
            <a:extLst>
              <a:ext uri="{FF2B5EF4-FFF2-40B4-BE49-F238E27FC236}">
                <a16:creationId xmlns:a16="http://schemas.microsoft.com/office/drawing/2014/main" id="{B69A3A28-8962-4D7F-BCD1-8B416276C119}"/>
              </a:ext>
            </a:extLst>
          </p:cNvPr>
          <p:cNvCxnSpPr/>
          <p:nvPr/>
        </p:nvCxnSpPr>
        <p:spPr>
          <a:xfrm flipV="1">
            <a:off x="8182466" y="1677970"/>
            <a:ext cx="301658" cy="13197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623F04-AF9A-4BFD-8ED1-D6C84C551DCD}"/>
              </a:ext>
            </a:extLst>
          </p:cNvPr>
          <p:cNvSpPr txBox="1"/>
          <p:nvPr/>
        </p:nvSpPr>
        <p:spPr>
          <a:xfrm>
            <a:off x="6768445" y="3913239"/>
            <a:ext cx="2768845" cy="369332"/>
          </a:xfrm>
          <a:prstGeom prst="rect">
            <a:avLst/>
          </a:prstGeom>
          <a:noFill/>
        </p:spPr>
        <p:txBody>
          <a:bodyPr wrap="square" rtlCol="0">
            <a:spAutoFit/>
          </a:bodyPr>
          <a:lstStyle/>
          <a:p>
            <a:r>
              <a:rPr lang="en-IN" dirty="0"/>
              <a:t>Stack</a:t>
            </a:r>
          </a:p>
        </p:txBody>
      </p:sp>
      <p:sp>
        <p:nvSpPr>
          <p:cNvPr id="4" name="Freeform: Shape 3">
            <a:extLst>
              <a:ext uri="{FF2B5EF4-FFF2-40B4-BE49-F238E27FC236}">
                <a16:creationId xmlns:a16="http://schemas.microsoft.com/office/drawing/2014/main" id="{34467C25-17E0-4184-B14A-A7609631CA6E}"/>
              </a:ext>
            </a:extLst>
          </p:cNvPr>
          <p:cNvSpPr/>
          <p:nvPr/>
        </p:nvSpPr>
        <p:spPr>
          <a:xfrm>
            <a:off x="6341806" y="766916"/>
            <a:ext cx="1573162" cy="875071"/>
          </a:xfrm>
          <a:custGeom>
            <a:avLst/>
            <a:gdLst>
              <a:gd name="connsiteX0" fmla="*/ 0 w 1573162"/>
              <a:gd name="connsiteY0" fmla="*/ 875071 h 875071"/>
              <a:gd name="connsiteX1" fmla="*/ 49162 w 1573162"/>
              <a:gd name="connsiteY1" fmla="*/ 717755 h 875071"/>
              <a:gd name="connsiteX2" fmla="*/ 58994 w 1573162"/>
              <a:gd name="connsiteY2" fmla="*/ 658761 h 875071"/>
              <a:gd name="connsiteX3" fmla="*/ 68826 w 1573162"/>
              <a:gd name="connsiteY3" fmla="*/ 629265 h 875071"/>
              <a:gd name="connsiteX4" fmla="*/ 78659 w 1573162"/>
              <a:gd name="connsiteY4" fmla="*/ 580103 h 875071"/>
              <a:gd name="connsiteX5" fmla="*/ 98323 w 1573162"/>
              <a:gd name="connsiteY5" fmla="*/ 550607 h 875071"/>
              <a:gd name="connsiteX6" fmla="*/ 108155 w 1573162"/>
              <a:gd name="connsiteY6" fmla="*/ 491613 h 875071"/>
              <a:gd name="connsiteX7" fmla="*/ 137652 w 1573162"/>
              <a:gd name="connsiteY7" fmla="*/ 403123 h 875071"/>
              <a:gd name="connsiteX8" fmla="*/ 147484 w 1573162"/>
              <a:gd name="connsiteY8" fmla="*/ 353961 h 875071"/>
              <a:gd name="connsiteX9" fmla="*/ 176981 w 1573162"/>
              <a:gd name="connsiteY9" fmla="*/ 314632 h 875071"/>
              <a:gd name="connsiteX10" fmla="*/ 206478 w 1573162"/>
              <a:gd name="connsiteY10" fmla="*/ 245807 h 875071"/>
              <a:gd name="connsiteX11" fmla="*/ 255639 w 1573162"/>
              <a:gd name="connsiteY11" fmla="*/ 147484 h 875071"/>
              <a:gd name="connsiteX12" fmla="*/ 294968 w 1573162"/>
              <a:gd name="connsiteY12" fmla="*/ 108155 h 875071"/>
              <a:gd name="connsiteX13" fmla="*/ 344129 w 1573162"/>
              <a:gd name="connsiteY13" fmla="*/ 58994 h 875071"/>
              <a:gd name="connsiteX14" fmla="*/ 403123 w 1573162"/>
              <a:gd name="connsiteY14" fmla="*/ 39329 h 875071"/>
              <a:gd name="connsiteX15" fmla="*/ 511278 w 1573162"/>
              <a:gd name="connsiteY15" fmla="*/ 9832 h 875071"/>
              <a:gd name="connsiteX16" fmla="*/ 550607 w 1573162"/>
              <a:gd name="connsiteY16" fmla="*/ 0 h 875071"/>
              <a:gd name="connsiteX17" fmla="*/ 983226 w 1573162"/>
              <a:gd name="connsiteY17" fmla="*/ 9832 h 875071"/>
              <a:gd name="connsiteX18" fmla="*/ 1071717 w 1573162"/>
              <a:gd name="connsiteY18" fmla="*/ 39329 h 875071"/>
              <a:gd name="connsiteX19" fmla="*/ 1120878 w 1573162"/>
              <a:gd name="connsiteY19" fmla="*/ 58994 h 875071"/>
              <a:gd name="connsiteX20" fmla="*/ 1199536 w 1573162"/>
              <a:gd name="connsiteY20" fmla="*/ 98323 h 875071"/>
              <a:gd name="connsiteX21" fmla="*/ 1229033 w 1573162"/>
              <a:gd name="connsiteY21" fmla="*/ 127819 h 875071"/>
              <a:gd name="connsiteX22" fmla="*/ 1288026 w 1573162"/>
              <a:gd name="connsiteY22" fmla="*/ 176981 h 875071"/>
              <a:gd name="connsiteX23" fmla="*/ 1317523 w 1573162"/>
              <a:gd name="connsiteY23" fmla="*/ 216310 h 875071"/>
              <a:gd name="connsiteX24" fmla="*/ 1337188 w 1573162"/>
              <a:gd name="connsiteY24" fmla="*/ 255639 h 875071"/>
              <a:gd name="connsiteX25" fmla="*/ 1366684 w 1573162"/>
              <a:gd name="connsiteY25" fmla="*/ 275303 h 875071"/>
              <a:gd name="connsiteX26" fmla="*/ 1386349 w 1573162"/>
              <a:gd name="connsiteY26" fmla="*/ 314632 h 875071"/>
              <a:gd name="connsiteX27" fmla="*/ 1415846 w 1573162"/>
              <a:gd name="connsiteY27" fmla="*/ 383458 h 875071"/>
              <a:gd name="connsiteX28" fmla="*/ 1465007 w 1573162"/>
              <a:gd name="connsiteY28" fmla="*/ 452284 h 875071"/>
              <a:gd name="connsiteX29" fmla="*/ 1494504 w 1573162"/>
              <a:gd name="connsiteY29" fmla="*/ 521110 h 875071"/>
              <a:gd name="connsiteX30" fmla="*/ 1514168 w 1573162"/>
              <a:gd name="connsiteY30" fmla="*/ 550607 h 875071"/>
              <a:gd name="connsiteX31" fmla="*/ 1553497 w 1573162"/>
              <a:gd name="connsiteY31" fmla="*/ 619432 h 875071"/>
              <a:gd name="connsiteX32" fmla="*/ 1573162 w 1573162"/>
              <a:gd name="connsiteY32" fmla="*/ 658761 h 87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73162" h="875071">
                <a:moveTo>
                  <a:pt x="0" y="875071"/>
                </a:moveTo>
                <a:cubicBezTo>
                  <a:pt x="28169" y="804652"/>
                  <a:pt x="26402" y="814487"/>
                  <a:pt x="49162" y="717755"/>
                </a:cubicBezTo>
                <a:cubicBezTo>
                  <a:pt x="53728" y="698349"/>
                  <a:pt x="54669" y="678222"/>
                  <a:pt x="58994" y="658761"/>
                </a:cubicBezTo>
                <a:cubicBezTo>
                  <a:pt x="61242" y="648644"/>
                  <a:pt x="66312" y="639319"/>
                  <a:pt x="68826" y="629265"/>
                </a:cubicBezTo>
                <a:cubicBezTo>
                  <a:pt x="72879" y="613052"/>
                  <a:pt x="72791" y="595751"/>
                  <a:pt x="78659" y="580103"/>
                </a:cubicBezTo>
                <a:cubicBezTo>
                  <a:pt x="82808" y="569039"/>
                  <a:pt x="91768" y="560439"/>
                  <a:pt x="98323" y="550607"/>
                </a:cubicBezTo>
                <a:cubicBezTo>
                  <a:pt x="101600" y="530942"/>
                  <a:pt x="103018" y="510876"/>
                  <a:pt x="108155" y="491613"/>
                </a:cubicBezTo>
                <a:cubicBezTo>
                  <a:pt x="116166" y="461571"/>
                  <a:pt x="131555" y="433612"/>
                  <a:pt x="137652" y="403123"/>
                </a:cubicBezTo>
                <a:cubicBezTo>
                  <a:pt x="140929" y="386736"/>
                  <a:pt x="140697" y="369232"/>
                  <a:pt x="147484" y="353961"/>
                </a:cubicBezTo>
                <a:cubicBezTo>
                  <a:pt x="154139" y="338986"/>
                  <a:pt x="167149" y="327742"/>
                  <a:pt x="176981" y="314632"/>
                </a:cubicBezTo>
                <a:cubicBezTo>
                  <a:pt x="205208" y="201721"/>
                  <a:pt x="165737" y="340867"/>
                  <a:pt x="206478" y="245807"/>
                </a:cubicBezTo>
                <a:cubicBezTo>
                  <a:pt x="231459" y="187520"/>
                  <a:pt x="192345" y="210778"/>
                  <a:pt x="255639" y="147484"/>
                </a:cubicBezTo>
                <a:cubicBezTo>
                  <a:pt x="268749" y="134374"/>
                  <a:pt x="282902" y="122231"/>
                  <a:pt x="294968" y="108155"/>
                </a:cubicBezTo>
                <a:cubicBezTo>
                  <a:pt x="321187" y="77566"/>
                  <a:pt x="304801" y="76473"/>
                  <a:pt x="344129" y="58994"/>
                </a:cubicBezTo>
                <a:cubicBezTo>
                  <a:pt x="363071" y="50575"/>
                  <a:pt x="383458" y="45884"/>
                  <a:pt x="403123" y="39329"/>
                </a:cubicBezTo>
                <a:cubicBezTo>
                  <a:pt x="458250" y="20953"/>
                  <a:pt x="422589" y="32004"/>
                  <a:pt x="511278" y="9832"/>
                </a:cubicBezTo>
                <a:lnTo>
                  <a:pt x="550607" y="0"/>
                </a:lnTo>
                <a:lnTo>
                  <a:pt x="983226" y="9832"/>
                </a:lnTo>
                <a:cubicBezTo>
                  <a:pt x="1030218" y="11750"/>
                  <a:pt x="1031949" y="21654"/>
                  <a:pt x="1071717" y="39329"/>
                </a:cubicBezTo>
                <a:cubicBezTo>
                  <a:pt x="1087845" y="46497"/>
                  <a:pt x="1105450" y="50423"/>
                  <a:pt x="1120878" y="58994"/>
                </a:cubicBezTo>
                <a:cubicBezTo>
                  <a:pt x="1202924" y="104575"/>
                  <a:pt x="1117998" y="77937"/>
                  <a:pt x="1199536" y="98323"/>
                </a:cubicBezTo>
                <a:cubicBezTo>
                  <a:pt x="1209368" y="108155"/>
                  <a:pt x="1218351" y="118917"/>
                  <a:pt x="1229033" y="127819"/>
                </a:cubicBezTo>
                <a:cubicBezTo>
                  <a:pt x="1274544" y="165745"/>
                  <a:pt x="1244942" y="126717"/>
                  <a:pt x="1288026" y="176981"/>
                </a:cubicBezTo>
                <a:cubicBezTo>
                  <a:pt x="1298691" y="189423"/>
                  <a:pt x="1308838" y="202414"/>
                  <a:pt x="1317523" y="216310"/>
                </a:cubicBezTo>
                <a:cubicBezTo>
                  <a:pt x="1325291" y="228739"/>
                  <a:pt x="1327805" y="244379"/>
                  <a:pt x="1337188" y="255639"/>
                </a:cubicBezTo>
                <a:cubicBezTo>
                  <a:pt x="1344753" y="264717"/>
                  <a:pt x="1356852" y="268748"/>
                  <a:pt x="1366684" y="275303"/>
                </a:cubicBezTo>
                <a:cubicBezTo>
                  <a:pt x="1373239" y="288413"/>
                  <a:pt x="1380575" y="301160"/>
                  <a:pt x="1386349" y="314632"/>
                </a:cubicBezTo>
                <a:cubicBezTo>
                  <a:pt x="1409990" y="369794"/>
                  <a:pt x="1378572" y="318227"/>
                  <a:pt x="1415846" y="383458"/>
                </a:cubicBezTo>
                <a:cubicBezTo>
                  <a:pt x="1443592" y="432014"/>
                  <a:pt x="1429817" y="395979"/>
                  <a:pt x="1465007" y="452284"/>
                </a:cubicBezTo>
                <a:cubicBezTo>
                  <a:pt x="1516146" y="534107"/>
                  <a:pt x="1461056" y="454215"/>
                  <a:pt x="1494504" y="521110"/>
                </a:cubicBezTo>
                <a:cubicBezTo>
                  <a:pt x="1499789" y="531679"/>
                  <a:pt x="1508305" y="540347"/>
                  <a:pt x="1514168" y="550607"/>
                </a:cubicBezTo>
                <a:cubicBezTo>
                  <a:pt x="1564061" y="637920"/>
                  <a:pt x="1505593" y="547577"/>
                  <a:pt x="1553497" y="619432"/>
                </a:cubicBezTo>
                <a:cubicBezTo>
                  <a:pt x="1564795" y="653326"/>
                  <a:pt x="1556000" y="641601"/>
                  <a:pt x="1573162" y="65876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30344347-D35E-469F-8519-AB9967596F0E}"/>
              </a:ext>
            </a:extLst>
          </p:cNvPr>
          <p:cNvSpPr/>
          <p:nvPr/>
        </p:nvSpPr>
        <p:spPr>
          <a:xfrm rot="9236778">
            <a:off x="7810105" y="1268361"/>
            <a:ext cx="372361" cy="2840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7D4F5C49-F628-47A6-A2D0-A963D485B0BD}"/>
              </a:ext>
            </a:extLst>
          </p:cNvPr>
          <p:cNvCxnSpPr/>
          <p:nvPr/>
        </p:nvCxnSpPr>
        <p:spPr>
          <a:xfrm flipV="1">
            <a:off x="8111765" y="2289995"/>
            <a:ext cx="301658" cy="131976"/>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3A9DDF-CECE-40D1-99CC-DA6F281ABD7D}"/>
              </a:ext>
            </a:extLst>
          </p:cNvPr>
          <p:cNvSpPr txBox="1"/>
          <p:nvPr/>
        </p:nvSpPr>
        <p:spPr>
          <a:xfrm>
            <a:off x="5614220" y="5034116"/>
            <a:ext cx="2611704" cy="1477328"/>
          </a:xfrm>
          <a:prstGeom prst="rect">
            <a:avLst/>
          </a:prstGeom>
          <a:noFill/>
        </p:spPr>
        <p:txBody>
          <a:bodyPr wrap="square" rtlCol="0">
            <a:spAutoFit/>
          </a:bodyPr>
          <a:lstStyle/>
          <a:p>
            <a:r>
              <a:rPr lang="en-IN" dirty="0"/>
              <a:t>Int </a:t>
            </a:r>
            <a:r>
              <a:rPr lang="en-IN" dirty="0" err="1"/>
              <a:t>a,b</a:t>
            </a:r>
            <a:r>
              <a:rPr lang="en-IN" dirty="0"/>
              <a:t>;</a:t>
            </a:r>
          </a:p>
          <a:p>
            <a:r>
              <a:rPr lang="en-IN" dirty="0"/>
              <a:t>a=5;</a:t>
            </a:r>
          </a:p>
          <a:p>
            <a:r>
              <a:rPr lang="en-IN" dirty="0"/>
              <a:t>b=a;</a:t>
            </a:r>
          </a:p>
          <a:p>
            <a:r>
              <a:rPr lang="en-IN" dirty="0"/>
              <a:t>a=b;</a:t>
            </a:r>
          </a:p>
          <a:p>
            <a:endParaRPr lang="en-IN" dirty="0"/>
          </a:p>
        </p:txBody>
      </p:sp>
      <p:sp>
        <p:nvSpPr>
          <p:cNvPr id="14" name="Rectangle 13">
            <a:extLst>
              <a:ext uri="{FF2B5EF4-FFF2-40B4-BE49-F238E27FC236}">
                <a16:creationId xmlns:a16="http://schemas.microsoft.com/office/drawing/2014/main" id="{C9397FC8-91F2-4441-B461-2FF406B791F0}"/>
              </a:ext>
            </a:extLst>
          </p:cNvPr>
          <p:cNvSpPr/>
          <p:nvPr/>
        </p:nvSpPr>
        <p:spPr>
          <a:xfrm>
            <a:off x="8888361" y="5053781"/>
            <a:ext cx="74725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5" name="TextBox 14">
            <a:extLst>
              <a:ext uri="{FF2B5EF4-FFF2-40B4-BE49-F238E27FC236}">
                <a16:creationId xmlns:a16="http://schemas.microsoft.com/office/drawing/2014/main" id="{B88EE1C8-2BF4-43DD-BD6E-B36FF69511C8}"/>
              </a:ext>
            </a:extLst>
          </p:cNvPr>
          <p:cNvSpPr txBox="1"/>
          <p:nvPr/>
        </p:nvSpPr>
        <p:spPr>
          <a:xfrm>
            <a:off x="8804787" y="4704113"/>
            <a:ext cx="914400" cy="369332"/>
          </a:xfrm>
          <a:prstGeom prst="rect">
            <a:avLst/>
          </a:prstGeom>
          <a:noFill/>
        </p:spPr>
        <p:txBody>
          <a:bodyPr wrap="square" rtlCol="0">
            <a:spAutoFit/>
          </a:bodyPr>
          <a:lstStyle/>
          <a:p>
            <a:r>
              <a:rPr lang="en-IN" dirty="0"/>
              <a:t>a</a:t>
            </a:r>
          </a:p>
        </p:txBody>
      </p:sp>
      <p:sp>
        <p:nvSpPr>
          <p:cNvPr id="16" name="Rectangle 15">
            <a:extLst>
              <a:ext uri="{FF2B5EF4-FFF2-40B4-BE49-F238E27FC236}">
                <a16:creationId xmlns:a16="http://schemas.microsoft.com/office/drawing/2014/main" id="{04AD6320-BF7D-4194-A2EF-F0C52E7781B4}"/>
              </a:ext>
            </a:extLst>
          </p:cNvPr>
          <p:cNvSpPr/>
          <p:nvPr/>
        </p:nvSpPr>
        <p:spPr>
          <a:xfrm>
            <a:off x="8183517" y="5763638"/>
            <a:ext cx="74725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7" name="TextBox 16">
            <a:extLst>
              <a:ext uri="{FF2B5EF4-FFF2-40B4-BE49-F238E27FC236}">
                <a16:creationId xmlns:a16="http://schemas.microsoft.com/office/drawing/2014/main" id="{14894075-0965-430E-B7E2-66FEF3CD73E9}"/>
              </a:ext>
            </a:extLst>
          </p:cNvPr>
          <p:cNvSpPr txBox="1"/>
          <p:nvPr/>
        </p:nvSpPr>
        <p:spPr>
          <a:xfrm>
            <a:off x="8099943" y="5413970"/>
            <a:ext cx="914400" cy="369332"/>
          </a:xfrm>
          <a:prstGeom prst="rect">
            <a:avLst/>
          </a:prstGeom>
          <a:noFill/>
        </p:spPr>
        <p:txBody>
          <a:bodyPr wrap="square" rtlCol="0">
            <a:spAutoFit/>
          </a:bodyPr>
          <a:lstStyle/>
          <a:p>
            <a:r>
              <a:rPr lang="en-IN" dirty="0"/>
              <a:t>b</a:t>
            </a:r>
          </a:p>
        </p:txBody>
      </p:sp>
    </p:spTree>
    <p:extLst>
      <p:ext uri="{BB962C8B-B14F-4D97-AF65-F5344CB8AC3E}">
        <p14:creationId xmlns:p14="http://schemas.microsoft.com/office/powerpoint/2010/main" val="463099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B038-0B97-400E-8981-4EA855AEB56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7C94823-9928-4199-939E-6756DE340FC0}"/>
              </a:ext>
            </a:extLst>
          </p:cNvPr>
          <p:cNvSpPr>
            <a:spLocks noGrp="1"/>
          </p:cNvSpPr>
          <p:nvPr>
            <p:ph idx="1"/>
          </p:nvPr>
        </p:nvSpPr>
        <p:spPr/>
        <p:txBody>
          <a:bodyPr/>
          <a:lstStyle/>
          <a:p>
            <a:r>
              <a:rPr lang="en-IN" dirty="0"/>
              <a:t>Access modifier for structure can be either internal or public(Default is internal)</a:t>
            </a:r>
          </a:p>
          <a:p>
            <a:r>
              <a:rPr lang="en-IN" dirty="0"/>
              <a:t>Access modifier for members are generally public , default is private</a:t>
            </a:r>
          </a:p>
          <a:p>
            <a:r>
              <a:rPr lang="en-IN" dirty="0"/>
              <a:t>Structure can have static method(in framework </a:t>
            </a:r>
            <a:r>
              <a:rPr lang="en-IN" dirty="0" err="1"/>
              <a:t>int.parse</a:t>
            </a:r>
            <a:r>
              <a:rPr lang="en-IN" dirty="0"/>
              <a:t>() where int is structure and parse is static method)</a:t>
            </a:r>
          </a:p>
        </p:txBody>
      </p:sp>
    </p:spTree>
    <p:extLst>
      <p:ext uri="{BB962C8B-B14F-4D97-AF65-F5344CB8AC3E}">
        <p14:creationId xmlns:p14="http://schemas.microsoft.com/office/powerpoint/2010/main" val="3932467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A176F6-9543-44D3-AD6A-2FFE59B01F82}"/>
              </a:ext>
            </a:extLst>
          </p:cNvPr>
          <p:cNvSpPr>
            <a:spLocks noGrp="1"/>
          </p:cNvSpPr>
          <p:nvPr>
            <p:ph idx="1"/>
          </p:nvPr>
        </p:nvSpPr>
        <p:spPr>
          <a:xfrm>
            <a:off x="0" y="0"/>
            <a:ext cx="11353800" cy="6858000"/>
          </a:xfrm>
        </p:spPr>
        <p:txBody>
          <a:bodyPr>
            <a:noAutofit/>
          </a:bodyPr>
          <a:lstStyle/>
          <a:p>
            <a:pPr marL="0" indent="0">
              <a:spcBef>
                <a:spcPts val="0"/>
              </a:spcBef>
              <a:buNone/>
            </a:pPr>
            <a:r>
              <a:rPr lang="en-IN" sz="1800" dirty="0"/>
              <a:t>using System;</a:t>
            </a:r>
          </a:p>
          <a:p>
            <a:pPr marL="0" indent="0">
              <a:spcBef>
                <a:spcPts val="0"/>
              </a:spcBef>
              <a:buNone/>
            </a:pPr>
            <a:r>
              <a:rPr lang="en-IN" sz="1800" dirty="0"/>
              <a:t>namespace </a:t>
            </a:r>
            <a:r>
              <a:rPr lang="en-IN" sz="1800" dirty="0" err="1"/>
              <a:t>FunWithStructures</a:t>
            </a:r>
            <a:endParaRPr lang="en-IN" sz="1800" dirty="0"/>
          </a:p>
          <a:p>
            <a:pPr marL="0" indent="0">
              <a:spcBef>
                <a:spcPts val="0"/>
              </a:spcBef>
              <a:buNone/>
            </a:pPr>
            <a:r>
              <a:rPr lang="en-IN" sz="1800" dirty="0"/>
              <a:t>{</a:t>
            </a:r>
          </a:p>
          <a:p>
            <a:pPr marL="0" indent="0">
              <a:spcBef>
                <a:spcPts val="0"/>
              </a:spcBef>
              <a:buNone/>
            </a:pPr>
            <a:r>
              <a:rPr lang="en-IN" sz="1800" dirty="0"/>
              <a:t>    struct </a:t>
            </a:r>
            <a:r>
              <a:rPr lang="en-IN" sz="1800" dirty="0" err="1"/>
              <a:t>convert_str_num</a:t>
            </a:r>
            <a:endParaRPr lang="en-IN" sz="1800" dirty="0"/>
          </a:p>
          <a:p>
            <a:pPr marL="0" indent="0">
              <a:spcBef>
                <a:spcPts val="0"/>
              </a:spcBef>
              <a:buNone/>
            </a:pPr>
            <a:r>
              <a:rPr lang="en-IN" sz="1800" dirty="0"/>
              <a:t>    {</a:t>
            </a:r>
          </a:p>
          <a:p>
            <a:pPr marL="0" indent="0">
              <a:spcBef>
                <a:spcPts val="0"/>
              </a:spcBef>
              <a:buNone/>
            </a:pPr>
            <a:r>
              <a:rPr lang="en-IN" sz="1800" dirty="0"/>
              <a:t>        public static int </a:t>
            </a:r>
            <a:r>
              <a:rPr lang="en-IN" sz="1800" dirty="0" err="1"/>
              <a:t>num</a:t>
            </a:r>
            <a:r>
              <a:rPr lang="en-IN" sz="1800" dirty="0"/>
              <a:t>(string s)</a:t>
            </a:r>
          </a:p>
          <a:p>
            <a:pPr marL="0" indent="0">
              <a:spcBef>
                <a:spcPts val="0"/>
              </a:spcBef>
              <a:buNone/>
            </a:pPr>
            <a:r>
              <a:rPr lang="en-IN" sz="1800" dirty="0"/>
              <a:t>        {</a:t>
            </a:r>
          </a:p>
          <a:p>
            <a:pPr marL="0" indent="0">
              <a:spcBef>
                <a:spcPts val="0"/>
              </a:spcBef>
              <a:buNone/>
            </a:pPr>
            <a:r>
              <a:rPr lang="en-IN" sz="1800" dirty="0"/>
              <a:t>                    int n= </a:t>
            </a:r>
            <a:r>
              <a:rPr lang="en-IN" sz="1800" dirty="0" err="1"/>
              <a:t>int.Parse</a:t>
            </a:r>
            <a:r>
              <a:rPr lang="en-IN" sz="1800" dirty="0"/>
              <a:t>(s);</a:t>
            </a:r>
          </a:p>
          <a:p>
            <a:pPr marL="0" indent="0">
              <a:spcBef>
                <a:spcPts val="0"/>
              </a:spcBef>
              <a:buNone/>
            </a:pPr>
            <a:r>
              <a:rPr lang="en-IN" sz="1800" dirty="0"/>
              <a:t>                  return n;</a:t>
            </a:r>
          </a:p>
          <a:p>
            <a:pPr marL="0" indent="0">
              <a:spcBef>
                <a:spcPts val="0"/>
              </a:spcBef>
              <a:buNone/>
            </a:pPr>
            <a:r>
              <a:rPr lang="en-IN" sz="1800" dirty="0"/>
              <a:t>         }</a:t>
            </a:r>
          </a:p>
          <a:p>
            <a:pPr marL="0" indent="0">
              <a:spcBef>
                <a:spcPts val="0"/>
              </a:spcBef>
              <a:buNone/>
            </a:pPr>
            <a:r>
              <a:rPr lang="en-IN" sz="1800" dirty="0"/>
              <a:t>        public static int add(int </a:t>
            </a:r>
            <a:r>
              <a:rPr lang="en-IN" sz="1800" dirty="0" err="1"/>
              <a:t>x,int</a:t>
            </a:r>
            <a:r>
              <a:rPr lang="en-IN" sz="1800" dirty="0"/>
              <a:t> y)</a:t>
            </a:r>
          </a:p>
          <a:p>
            <a:pPr marL="0" indent="0">
              <a:spcBef>
                <a:spcPts val="0"/>
              </a:spcBef>
              <a:buNone/>
            </a:pPr>
            <a:r>
              <a:rPr lang="en-IN" sz="1800" dirty="0"/>
              <a:t>        {      </a:t>
            </a:r>
          </a:p>
          <a:p>
            <a:pPr marL="0" indent="0">
              <a:spcBef>
                <a:spcPts val="0"/>
              </a:spcBef>
              <a:buNone/>
            </a:pPr>
            <a:r>
              <a:rPr lang="en-IN" sz="1800" dirty="0"/>
              <a:t>            return x + y;</a:t>
            </a:r>
          </a:p>
          <a:p>
            <a:pPr marL="0" indent="0">
              <a:spcBef>
                <a:spcPts val="0"/>
              </a:spcBef>
              <a:buNone/>
            </a:pPr>
            <a:r>
              <a:rPr lang="en-IN" sz="1800" dirty="0"/>
              <a:t>        }</a:t>
            </a:r>
          </a:p>
          <a:p>
            <a:pPr marL="0" indent="0">
              <a:spcBef>
                <a:spcPts val="0"/>
              </a:spcBef>
              <a:buNone/>
            </a:pPr>
            <a:r>
              <a:rPr lang="en-IN" sz="1800" dirty="0"/>
              <a:t>    }</a:t>
            </a:r>
          </a:p>
          <a:p>
            <a:pPr marL="0" indent="0">
              <a:spcBef>
                <a:spcPts val="0"/>
              </a:spcBef>
              <a:buNone/>
            </a:pPr>
            <a:r>
              <a:rPr lang="en-IN" sz="1800" dirty="0"/>
              <a:t>      class Program</a:t>
            </a:r>
          </a:p>
          <a:p>
            <a:pPr marL="0" indent="0">
              <a:spcBef>
                <a:spcPts val="0"/>
              </a:spcBef>
              <a:buNone/>
            </a:pPr>
            <a:r>
              <a:rPr lang="en-IN" sz="1800" dirty="0"/>
              <a:t>    {</a:t>
            </a:r>
          </a:p>
          <a:p>
            <a:pPr marL="0" indent="0">
              <a:spcBef>
                <a:spcPts val="0"/>
              </a:spcBef>
              <a:buNone/>
            </a:pPr>
            <a:r>
              <a:rPr lang="en-IN" sz="1800" dirty="0"/>
              <a:t>        static void Main(string[] </a:t>
            </a:r>
            <a:r>
              <a:rPr lang="en-IN" sz="1800" dirty="0" err="1"/>
              <a:t>args</a:t>
            </a:r>
            <a:r>
              <a:rPr lang="en-IN" sz="1800" dirty="0"/>
              <a:t>)</a:t>
            </a:r>
          </a:p>
          <a:p>
            <a:pPr marL="0" indent="0">
              <a:spcBef>
                <a:spcPts val="0"/>
              </a:spcBef>
              <a:buNone/>
            </a:pPr>
            <a:r>
              <a:rPr lang="en-IN" sz="1800" dirty="0"/>
              <a:t>        {</a:t>
            </a:r>
          </a:p>
          <a:p>
            <a:pPr marL="0" indent="0">
              <a:spcBef>
                <a:spcPts val="0"/>
              </a:spcBef>
              <a:buNone/>
            </a:pPr>
            <a:r>
              <a:rPr lang="en-IN" sz="1800" dirty="0"/>
              <a:t>	string no1 = "55";</a:t>
            </a:r>
          </a:p>
          <a:p>
            <a:pPr marL="0" indent="0">
              <a:spcBef>
                <a:spcPts val="0"/>
              </a:spcBef>
              <a:buNone/>
            </a:pPr>
            <a:r>
              <a:rPr lang="en-IN" sz="1800" dirty="0"/>
              <a:t>            string no2 = "4";</a:t>
            </a:r>
          </a:p>
          <a:p>
            <a:pPr marL="0" indent="0">
              <a:spcBef>
                <a:spcPts val="0"/>
              </a:spcBef>
              <a:buNone/>
            </a:pPr>
            <a:r>
              <a:rPr lang="en-IN" sz="1800" dirty="0"/>
              <a:t>          int x=  </a:t>
            </a:r>
            <a:r>
              <a:rPr lang="en-IN" sz="1800" dirty="0" err="1"/>
              <a:t>convert_str_num.num</a:t>
            </a:r>
            <a:r>
              <a:rPr lang="en-IN" sz="1800" dirty="0"/>
              <a:t>(no1);</a:t>
            </a:r>
          </a:p>
          <a:p>
            <a:pPr marL="0" indent="0">
              <a:spcBef>
                <a:spcPts val="0"/>
              </a:spcBef>
              <a:buNone/>
            </a:pPr>
            <a:r>
              <a:rPr lang="en-IN" sz="1800" dirty="0"/>
              <a:t>          int y = </a:t>
            </a:r>
            <a:r>
              <a:rPr lang="en-IN" sz="1800" dirty="0" err="1"/>
              <a:t>convert_str_num.num</a:t>
            </a:r>
            <a:r>
              <a:rPr lang="en-IN" sz="1800" dirty="0"/>
              <a:t>(no2);</a:t>
            </a:r>
          </a:p>
          <a:p>
            <a:pPr marL="0" indent="0">
              <a:spcBef>
                <a:spcPts val="0"/>
              </a:spcBef>
              <a:buNone/>
            </a:pPr>
            <a:r>
              <a:rPr lang="en-IN" sz="1800" dirty="0"/>
              <a:t>         int result= </a:t>
            </a:r>
            <a:r>
              <a:rPr lang="en-IN" sz="1800" dirty="0" err="1"/>
              <a:t>convert_str_num.add</a:t>
            </a:r>
            <a:r>
              <a:rPr lang="en-IN" sz="1800" dirty="0"/>
              <a:t>(x, y);</a:t>
            </a:r>
          </a:p>
          <a:p>
            <a:pPr marL="0" indent="0">
              <a:spcBef>
                <a:spcPts val="0"/>
              </a:spcBef>
              <a:buNone/>
            </a:pPr>
            <a:r>
              <a:rPr lang="en-IN" sz="1800" dirty="0"/>
              <a:t>         </a:t>
            </a:r>
            <a:r>
              <a:rPr lang="en-IN" sz="1800" dirty="0" err="1"/>
              <a:t>Console.WriteLine</a:t>
            </a:r>
            <a:r>
              <a:rPr lang="en-IN" sz="1800" dirty="0"/>
              <a:t>(result);</a:t>
            </a:r>
          </a:p>
          <a:p>
            <a:pPr marL="0" indent="0">
              <a:spcBef>
                <a:spcPts val="0"/>
              </a:spcBef>
              <a:buNone/>
            </a:pPr>
            <a:r>
              <a:rPr lang="en-IN" sz="1800" dirty="0"/>
              <a:t>            </a:t>
            </a:r>
            <a:r>
              <a:rPr lang="en-IN" sz="1800" dirty="0" err="1"/>
              <a:t>Console.ReadLine</a:t>
            </a:r>
            <a:r>
              <a:rPr lang="en-IN" sz="1800" dirty="0"/>
              <a:t>();</a:t>
            </a:r>
          </a:p>
          <a:p>
            <a:pPr marL="0" indent="0">
              <a:spcBef>
                <a:spcPts val="0"/>
              </a:spcBef>
              <a:buNone/>
            </a:pPr>
            <a:r>
              <a:rPr lang="en-IN" sz="1800" dirty="0"/>
              <a:t>        }</a:t>
            </a:r>
          </a:p>
          <a:p>
            <a:pPr marL="0" indent="0">
              <a:spcBef>
                <a:spcPts val="0"/>
              </a:spcBef>
              <a:buNone/>
            </a:pPr>
            <a:r>
              <a:rPr lang="en-IN" sz="1800" dirty="0"/>
              <a:t>    }</a:t>
            </a:r>
          </a:p>
          <a:p>
            <a:pPr marL="0" indent="0">
              <a:spcBef>
                <a:spcPts val="0"/>
              </a:spcBef>
              <a:buNone/>
            </a:pPr>
            <a:r>
              <a:rPr lang="en-IN" sz="1800" dirty="0"/>
              <a:t>}</a:t>
            </a:r>
          </a:p>
          <a:p>
            <a:pPr marL="0" indent="0">
              <a:spcBef>
                <a:spcPts val="0"/>
              </a:spcBef>
              <a:buNone/>
            </a:pPr>
            <a:endParaRPr lang="en-IN" sz="1800" dirty="0"/>
          </a:p>
        </p:txBody>
      </p:sp>
      <p:sp>
        <p:nvSpPr>
          <p:cNvPr id="2" name="TextBox 1"/>
          <p:cNvSpPr txBox="1"/>
          <p:nvPr/>
        </p:nvSpPr>
        <p:spPr>
          <a:xfrm>
            <a:off x="5815584" y="1920240"/>
            <a:ext cx="612648" cy="3657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no1</a:t>
            </a:r>
            <a:endParaRPr lang="en-IN" dirty="0"/>
          </a:p>
        </p:txBody>
      </p:sp>
      <p:cxnSp>
        <p:nvCxnSpPr>
          <p:cNvPr id="5" name="Straight Arrow Connector 4"/>
          <p:cNvCxnSpPr>
            <a:endCxn id="6" idx="0"/>
          </p:cNvCxnSpPr>
          <p:nvPr/>
        </p:nvCxnSpPr>
        <p:spPr>
          <a:xfrm flipV="1">
            <a:off x="6220968" y="2020824"/>
            <a:ext cx="2152911" cy="21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loud Callout 5"/>
          <p:cNvSpPr/>
          <p:nvPr/>
        </p:nvSpPr>
        <p:spPr>
          <a:xfrm>
            <a:off x="8366760" y="777240"/>
            <a:ext cx="2295144" cy="2487168"/>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“55”</a:t>
            </a:r>
          </a:p>
          <a:p>
            <a:pPr algn="ctr"/>
            <a:r>
              <a:rPr lang="en-US" dirty="0"/>
              <a:t>“4”</a:t>
            </a:r>
            <a:endParaRPr lang="en-IN" dirty="0"/>
          </a:p>
        </p:txBody>
      </p:sp>
      <p:sp>
        <p:nvSpPr>
          <p:cNvPr id="8" name="TextBox 7"/>
          <p:cNvSpPr txBox="1"/>
          <p:nvPr/>
        </p:nvSpPr>
        <p:spPr>
          <a:xfrm>
            <a:off x="5712965" y="2519172"/>
            <a:ext cx="612648" cy="3657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no2</a:t>
            </a:r>
            <a:endParaRPr lang="en-IN" dirty="0"/>
          </a:p>
        </p:txBody>
      </p:sp>
      <p:cxnSp>
        <p:nvCxnSpPr>
          <p:cNvPr id="9" name="Straight Arrow Connector 8"/>
          <p:cNvCxnSpPr/>
          <p:nvPr/>
        </p:nvCxnSpPr>
        <p:spPr>
          <a:xfrm flipV="1">
            <a:off x="6118349" y="2619756"/>
            <a:ext cx="2152911" cy="21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559552" y="3602736"/>
            <a:ext cx="5587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x</a:t>
            </a:r>
            <a:endParaRPr lang="en-IN" dirty="0"/>
          </a:p>
        </p:txBody>
      </p:sp>
      <p:sp>
        <p:nvSpPr>
          <p:cNvPr id="11" name="Rectangle 10"/>
          <p:cNvSpPr/>
          <p:nvPr/>
        </p:nvSpPr>
        <p:spPr>
          <a:xfrm>
            <a:off x="5559552" y="4059936"/>
            <a:ext cx="661416" cy="630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55</a:t>
            </a:r>
            <a:endParaRPr lang="en-IN" dirty="0"/>
          </a:p>
        </p:txBody>
      </p:sp>
      <p:cxnSp>
        <p:nvCxnSpPr>
          <p:cNvPr id="13" name="Straight Connector 12"/>
          <p:cNvCxnSpPr/>
          <p:nvPr/>
        </p:nvCxnSpPr>
        <p:spPr>
          <a:xfrm>
            <a:off x="4609589" y="1058704"/>
            <a:ext cx="3017520" cy="27432"/>
          </a:xfrm>
          <a:prstGeom prst="line">
            <a:avLst/>
          </a:prstGeom>
          <a:ln w="57150"/>
        </p:spPr>
        <p:style>
          <a:lnRef idx="3">
            <a:schemeClr val="accent2"/>
          </a:lnRef>
          <a:fillRef idx="0">
            <a:schemeClr val="accent2"/>
          </a:fillRef>
          <a:effectRef idx="2">
            <a:schemeClr val="accent2"/>
          </a:effectRef>
          <a:fontRef idx="minor">
            <a:schemeClr val="tx1"/>
          </a:fontRef>
        </p:style>
      </p:cxnSp>
      <p:sp>
        <p:nvSpPr>
          <p:cNvPr id="14" name="TextBox 13"/>
          <p:cNvSpPr txBox="1"/>
          <p:nvPr/>
        </p:nvSpPr>
        <p:spPr>
          <a:xfrm>
            <a:off x="4434840" y="105156"/>
            <a:ext cx="3474720" cy="923330"/>
          </a:xfrm>
          <a:prstGeom prst="rect">
            <a:avLst/>
          </a:prstGeom>
          <a:noFill/>
        </p:spPr>
        <p:txBody>
          <a:bodyPr wrap="square" rtlCol="0">
            <a:spAutoFit/>
          </a:bodyPr>
          <a:lstStyle/>
          <a:p>
            <a:r>
              <a:rPr lang="en-US" dirty="0">
                <a:solidFill>
                  <a:srgbClr val="FF0000"/>
                </a:solidFill>
              </a:rPr>
              <a:t>External Memory</a:t>
            </a:r>
          </a:p>
          <a:p>
            <a:r>
              <a:rPr lang="en-US" dirty="0">
                <a:solidFill>
                  <a:srgbClr val="FF0000"/>
                </a:solidFill>
              </a:rPr>
              <a:t>static</a:t>
            </a:r>
            <a:r>
              <a:rPr lang="en-US" dirty="0"/>
              <a:t> </a:t>
            </a:r>
            <a:r>
              <a:rPr lang="en-US" dirty="0" err="1"/>
              <a:t>num</a:t>
            </a:r>
            <a:r>
              <a:rPr lang="en-US" dirty="0"/>
              <a:t>(){}</a:t>
            </a:r>
          </a:p>
          <a:p>
            <a:r>
              <a:rPr lang="en-US" dirty="0">
                <a:solidFill>
                  <a:srgbClr val="FF0000"/>
                </a:solidFill>
              </a:rPr>
              <a:t>static  </a:t>
            </a:r>
            <a:r>
              <a:rPr lang="en-US" dirty="0"/>
              <a:t>add(){}</a:t>
            </a:r>
            <a:endParaRPr lang="en-IN" dirty="0"/>
          </a:p>
        </p:txBody>
      </p:sp>
      <p:cxnSp>
        <p:nvCxnSpPr>
          <p:cNvPr id="16" name="Straight Connector 15"/>
          <p:cNvCxnSpPr/>
          <p:nvPr/>
        </p:nvCxnSpPr>
        <p:spPr>
          <a:xfrm>
            <a:off x="7397496" y="0"/>
            <a:ext cx="229613" cy="525780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17" name="TextBox 16"/>
          <p:cNvSpPr txBox="1"/>
          <p:nvPr/>
        </p:nvSpPr>
        <p:spPr>
          <a:xfrm>
            <a:off x="5102352" y="5202936"/>
            <a:ext cx="196291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STACK</a:t>
            </a:r>
            <a:endParaRPr lang="en-IN" dirty="0"/>
          </a:p>
        </p:txBody>
      </p:sp>
      <p:sp>
        <p:nvSpPr>
          <p:cNvPr id="18" name="TextBox 17"/>
          <p:cNvSpPr txBox="1"/>
          <p:nvPr/>
        </p:nvSpPr>
        <p:spPr>
          <a:xfrm>
            <a:off x="9305544" y="3951208"/>
            <a:ext cx="196291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HEAP</a:t>
            </a:r>
            <a:endParaRPr lang="en-IN" dirty="0"/>
          </a:p>
        </p:txBody>
      </p:sp>
      <p:sp>
        <p:nvSpPr>
          <p:cNvPr id="19" name="TextBox 18"/>
          <p:cNvSpPr txBox="1"/>
          <p:nvPr/>
        </p:nvSpPr>
        <p:spPr>
          <a:xfrm>
            <a:off x="6357617" y="3598164"/>
            <a:ext cx="5587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y</a:t>
            </a:r>
            <a:endParaRPr lang="en-IN" dirty="0"/>
          </a:p>
        </p:txBody>
      </p:sp>
      <p:sp>
        <p:nvSpPr>
          <p:cNvPr id="20" name="Rectangle 19"/>
          <p:cNvSpPr/>
          <p:nvPr/>
        </p:nvSpPr>
        <p:spPr>
          <a:xfrm>
            <a:off x="6357617" y="4055364"/>
            <a:ext cx="661416" cy="630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Tree>
    <p:extLst>
      <p:ext uri="{BB962C8B-B14F-4D97-AF65-F5344CB8AC3E}">
        <p14:creationId xmlns:p14="http://schemas.microsoft.com/office/powerpoint/2010/main" val="334060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D5ED-F46A-3665-2D17-1F4A8A0E6737}"/>
              </a:ext>
            </a:extLst>
          </p:cNvPr>
          <p:cNvSpPr>
            <a:spLocks noGrp="1"/>
          </p:cNvSpPr>
          <p:nvPr>
            <p:ph type="title"/>
          </p:nvPr>
        </p:nvSpPr>
        <p:spPr>
          <a:xfrm>
            <a:off x="1532466" y="47095"/>
            <a:ext cx="9127067" cy="633942"/>
          </a:xfrm>
        </p:spPr>
        <p:txBody>
          <a:bodyPr>
            <a:normAutofit fontScale="90000"/>
          </a:bodyPr>
          <a:lstStyle/>
          <a:p>
            <a:r>
              <a:rPr lang="en-IN" dirty="0"/>
              <a:t>Struct after </a:t>
            </a:r>
            <a:r>
              <a:rPr lang="en-IN" dirty="0" err="1"/>
              <a:t>c#</a:t>
            </a:r>
            <a:r>
              <a:rPr lang="en-IN" dirty="0"/>
              <a:t> version 11.0</a:t>
            </a:r>
          </a:p>
        </p:txBody>
      </p:sp>
      <p:sp>
        <p:nvSpPr>
          <p:cNvPr id="5" name="TextBox 4">
            <a:extLst>
              <a:ext uri="{FF2B5EF4-FFF2-40B4-BE49-F238E27FC236}">
                <a16:creationId xmlns:a16="http://schemas.microsoft.com/office/drawing/2014/main" id="{9D72CE1E-6DD9-341B-3486-F4A5F0398CC4}"/>
              </a:ext>
            </a:extLst>
          </p:cNvPr>
          <p:cNvSpPr txBox="1"/>
          <p:nvPr/>
        </p:nvSpPr>
        <p:spPr>
          <a:xfrm>
            <a:off x="289983" y="748770"/>
            <a:ext cx="5776383" cy="375487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solidFill>
                  <a:srgbClr val="0000FF"/>
                </a:solidFill>
                <a:highlight>
                  <a:srgbClr val="FFFFFF"/>
                </a:highlight>
                <a:latin typeface="Cascadia Mono" panose="020B0609020000020004" pitchFamily="49" charset="0"/>
              </a:rPr>
              <a:t>namespace</a:t>
            </a:r>
            <a:r>
              <a:rPr lang="en-IN" sz="1400" dirty="0">
                <a:solidFill>
                  <a:srgbClr val="000000"/>
                </a:solidFill>
                <a:highlight>
                  <a:srgbClr val="FFFFFF"/>
                </a:highlight>
                <a:latin typeface="Cascadia Mono" panose="020B0609020000020004" pitchFamily="49" charset="0"/>
              </a:rPr>
              <a:t> ConsoleApp2</a:t>
            </a:r>
          </a:p>
          <a:p>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internal</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struct</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Demostruct</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internal</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a:t>
            </a:r>
            <a:r>
              <a:rPr lang="en-IN" sz="1400" dirty="0">
                <a:solidFill>
                  <a:srgbClr val="000000"/>
                </a:solidFill>
                <a:highlight>
                  <a:srgbClr val="FFFFFF"/>
                </a:highlight>
                <a:latin typeface="Cascadia Mono" panose="020B0609020000020004" pitchFamily="49" charset="0"/>
              </a:rPr>
              <a:t> a = 88, b=77;</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Demostruct</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//this must be public</a:t>
            </a:r>
            <a:endParaRPr lang="en-US"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 = 55;</a:t>
            </a:r>
          </a:p>
          <a:p>
            <a:r>
              <a:rPr lang="en-IN" sz="1400" dirty="0">
                <a:solidFill>
                  <a:srgbClr val="000000"/>
                </a:solidFill>
                <a:highlight>
                  <a:srgbClr val="FFFFFF"/>
                </a:highlight>
                <a:latin typeface="Cascadia Mono" panose="020B0609020000020004" pitchFamily="49" charset="0"/>
              </a:rPr>
              <a:t>            b = 66;</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internal</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Demostruct</a:t>
            </a:r>
            <a:r>
              <a:rPr lang="en-IN" sz="1400" dirty="0">
                <a:solidFill>
                  <a:srgbClr val="000000"/>
                </a:solidFill>
                <a:highlight>
                  <a:srgbClr val="FFFFFF"/>
                </a:highlight>
                <a:latin typeface="Cascadia Mono" panose="020B0609020000020004" pitchFamily="49" charset="0"/>
              </a:rPr>
              <a:t>(</a:t>
            </a:r>
            <a:r>
              <a:rPr lang="en-IN" sz="1400" dirty="0">
                <a:solidFill>
                  <a:srgbClr val="0000FF"/>
                </a:solidFill>
                <a:highlight>
                  <a:srgbClr val="FFFFFF"/>
                </a:highlight>
                <a:latin typeface="Cascadia Mono" panose="020B0609020000020004" pitchFamily="49" charset="0"/>
              </a:rPr>
              <a:t>int</a:t>
            </a:r>
            <a:r>
              <a:rPr lang="en-IN" sz="1400" dirty="0">
                <a:solidFill>
                  <a:srgbClr val="000000"/>
                </a:solidFill>
                <a:highlight>
                  <a:srgbClr val="FFFFFF"/>
                </a:highlight>
                <a:latin typeface="Cascadia Mono" panose="020B0609020000020004" pitchFamily="49" charset="0"/>
              </a:rPr>
              <a:t> a)</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err="1">
                <a:solidFill>
                  <a:srgbClr val="0000FF"/>
                </a:solidFill>
                <a:highlight>
                  <a:srgbClr val="FFFFFF"/>
                </a:highlight>
                <a:latin typeface="Cascadia Mono" panose="020B0609020000020004" pitchFamily="49" charset="0"/>
              </a:rPr>
              <a:t>this</a:t>
            </a:r>
            <a:r>
              <a:rPr lang="en-IN" sz="1400" dirty="0" err="1">
                <a:solidFill>
                  <a:srgbClr val="000000"/>
                </a:solidFill>
                <a:highlight>
                  <a:srgbClr val="FFFFFF"/>
                </a:highlight>
                <a:latin typeface="Cascadia Mono" panose="020B0609020000020004" pitchFamily="49" charset="0"/>
              </a:rPr>
              <a:t>.a</a:t>
            </a:r>
            <a:r>
              <a:rPr lang="en-IN" sz="1400" dirty="0">
                <a:solidFill>
                  <a:srgbClr val="000000"/>
                </a:solidFill>
                <a:highlight>
                  <a:srgbClr val="FFFFFF"/>
                </a:highlight>
                <a:latin typeface="Cascadia Mono" panose="020B0609020000020004" pitchFamily="49" charset="0"/>
              </a:rPr>
              <a:t> = a; </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a:t>
            </a:r>
          </a:p>
        </p:txBody>
      </p:sp>
      <p:sp>
        <p:nvSpPr>
          <p:cNvPr id="9" name="TextBox 8">
            <a:extLst>
              <a:ext uri="{FF2B5EF4-FFF2-40B4-BE49-F238E27FC236}">
                <a16:creationId xmlns:a16="http://schemas.microsoft.com/office/drawing/2014/main" id="{532ACAAF-C5B4-015C-F3A5-6FBD9A8AF2AD}"/>
              </a:ext>
            </a:extLst>
          </p:cNvPr>
          <p:cNvSpPr txBox="1"/>
          <p:nvPr/>
        </p:nvSpPr>
        <p:spPr>
          <a:xfrm>
            <a:off x="6352117" y="748770"/>
            <a:ext cx="5484283" cy="31085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solidFill>
                  <a:srgbClr val="0000FF"/>
                </a:solidFill>
                <a:highlight>
                  <a:srgbClr val="FFFFFF"/>
                </a:highlight>
                <a:latin typeface="Cascadia Mono" panose="020B0609020000020004" pitchFamily="49" charset="0"/>
              </a:rPr>
              <a:t>namespace</a:t>
            </a:r>
            <a:r>
              <a:rPr lang="en-IN" sz="1400" dirty="0">
                <a:solidFill>
                  <a:srgbClr val="000000"/>
                </a:solidFill>
                <a:highlight>
                  <a:srgbClr val="FFFFFF"/>
                </a:highlight>
                <a:latin typeface="Cascadia Mono" panose="020B0609020000020004" pitchFamily="49" charset="0"/>
              </a:rPr>
              <a:t> ConsoleApp2</a:t>
            </a:r>
          </a:p>
          <a:p>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internal</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class</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Program</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static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void</a:t>
            </a:r>
            <a:r>
              <a:rPr lang="en-US" sz="1400" dirty="0">
                <a:solidFill>
                  <a:srgbClr val="000000"/>
                </a:solidFill>
                <a:highlight>
                  <a:srgbClr val="FFFFFF"/>
                </a:highlight>
                <a:latin typeface="Cascadia Mono" panose="020B0609020000020004" pitchFamily="49" charset="0"/>
              </a:rPr>
              <a:t> Main(</a:t>
            </a:r>
            <a:r>
              <a:rPr lang="en-US" sz="1400" dirty="0">
                <a:solidFill>
                  <a:srgbClr val="0000FF"/>
                </a:solidFill>
                <a:highlight>
                  <a:srgbClr val="FFFFFF"/>
                </a:highlight>
                <a:latin typeface="Cascadia Mono" panose="020B0609020000020004" pitchFamily="49" charset="0"/>
              </a:rPr>
              <a:t>string</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args</a:t>
            </a:r>
            <a:r>
              <a:rPr lang="en-US"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Console</a:t>
            </a:r>
            <a:r>
              <a:rPr lang="en-IN" sz="1400" dirty="0" err="1">
                <a:solidFill>
                  <a:srgbClr val="000000"/>
                </a:solidFill>
                <a:highlight>
                  <a:srgbClr val="FFFFFF"/>
                </a:highlight>
                <a:latin typeface="Cascadia Mono" panose="020B0609020000020004" pitchFamily="49" charset="0"/>
              </a:rPr>
              <a:t>.WriteLine</a:t>
            </a:r>
            <a:r>
              <a:rPr lang="en-IN" sz="1400" dirty="0">
                <a:solidFill>
                  <a:srgbClr val="000000"/>
                </a:solidFill>
                <a:highlight>
                  <a:srgbClr val="FFFFFF"/>
                </a:highlight>
                <a:latin typeface="Cascadia Mono" panose="020B0609020000020004" pitchFamily="49" charset="0"/>
              </a:rPr>
              <a:t>(</a:t>
            </a:r>
            <a:r>
              <a:rPr lang="en-IN" sz="1400" dirty="0">
                <a:solidFill>
                  <a:srgbClr val="A31515"/>
                </a:solidFill>
                <a:highlight>
                  <a:srgbClr val="FFFFFF"/>
                </a:highlight>
                <a:latin typeface="Cascadia Mono" panose="020B0609020000020004" pitchFamily="49" charset="0"/>
              </a:rPr>
              <a:t>"Hello, World!"</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Demostruct</a:t>
            </a:r>
            <a:r>
              <a:rPr lang="en-IN" sz="1400" dirty="0">
                <a:solidFill>
                  <a:srgbClr val="000000"/>
                </a:solidFill>
                <a:highlight>
                  <a:srgbClr val="FFFFFF"/>
                </a:highlight>
                <a:latin typeface="Cascadia Mono" panose="020B0609020000020004" pitchFamily="49" charset="0"/>
              </a:rPr>
              <a:t> d = </a:t>
            </a:r>
            <a:r>
              <a:rPr lang="en-IN" sz="1400" dirty="0">
                <a:solidFill>
                  <a:srgbClr val="0000FF"/>
                </a:solidFill>
                <a:highlight>
                  <a:srgbClr val="FFFFFF"/>
                </a:highlight>
                <a:latin typeface="Cascadia Mono" panose="020B0609020000020004" pitchFamily="49" charset="0"/>
              </a:rPr>
              <a:t>new</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Demostruct</a:t>
            </a:r>
            <a:r>
              <a:rPr lang="en-IN" sz="1400" dirty="0">
                <a:solidFill>
                  <a:srgbClr val="000000"/>
                </a:solidFill>
                <a:highlight>
                  <a:srgbClr val="FFFFFF"/>
                </a:highlight>
                <a:latin typeface="Cascadia Mono" panose="020B0609020000020004" pitchFamily="49" charset="0"/>
              </a:rPr>
              <a:t>();</a:t>
            </a:r>
          </a:p>
          <a:p>
            <a:r>
              <a:rPr lang="it-IT" sz="1400" dirty="0">
                <a:solidFill>
                  <a:srgbClr val="000000"/>
                </a:solidFill>
                <a:highlight>
                  <a:srgbClr val="FFFFFF"/>
                </a:highlight>
                <a:latin typeface="Cascadia Mono" panose="020B0609020000020004" pitchFamily="49" charset="0"/>
              </a:rPr>
              <a:t>           </a:t>
            </a:r>
            <a:r>
              <a:rPr lang="it-IT" sz="1400" dirty="0">
                <a:solidFill>
                  <a:srgbClr val="2B91AF"/>
                </a:solidFill>
                <a:highlight>
                  <a:srgbClr val="FFFFFF"/>
                </a:highlight>
                <a:latin typeface="Cascadia Mono" panose="020B0609020000020004" pitchFamily="49" charset="0"/>
              </a:rPr>
              <a:t>Console</a:t>
            </a:r>
            <a:r>
              <a:rPr lang="it-IT" sz="1400" dirty="0">
                <a:solidFill>
                  <a:srgbClr val="000000"/>
                </a:solidFill>
                <a:highlight>
                  <a:srgbClr val="FFFFFF"/>
                </a:highlight>
                <a:latin typeface="Cascadia Mono" panose="020B0609020000020004" pitchFamily="49" charset="0"/>
              </a:rPr>
              <a:t>.WriteLine(d.a + </a:t>
            </a:r>
            <a:r>
              <a:rPr lang="it-IT" sz="1400" dirty="0">
                <a:solidFill>
                  <a:srgbClr val="A31515"/>
                </a:solidFill>
                <a:highlight>
                  <a:srgbClr val="FFFFFF"/>
                </a:highlight>
                <a:latin typeface="Cascadia Mono" panose="020B0609020000020004" pitchFamily="49" charset="0"/>
              </a:rPr>
              <a:t>"  "</a:t>
            </a:r>
            <a:r>
              <a:rPr lang="it-IT" sz="1400" dirty="0">
                <a:solidFill>
                  <a:srgbClr val="000000"/>
                </a:solidFill>
                <a:highlight>
                  <a:srgbClr val="FFFFFF"/>
                </a:highlight>
                <a:latin typeface="Cascadia Mono" panose="020B0609020000020004" pitchFamily="49" charset="0"/>
              </a:rPr>
              <a:t> + d.b);</a:t>
            </a:r>
          </a:p>
          <a:p>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Demostruct</a:t>
            </a:r>
            <a:r>
              <a:rPr lang="en-US" sz="1400" dirty="0">
                <a:solidFill>
                  <a:srgbClr val="000000"/>
                </a:solidFill>
                <a:highlight>
                  <a:srgbClr val="FFFFFF"/>
                </a:highlight>
                <a:latin typeface="Cascadia Mono" panose="020B0609020000020004" pitchFamily="49" charset="0"/>
              </a:rPr>
              <a:t> ds =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Demostruct</a:t>
            </a:r>
            <a:r>
              <a:rPr lang="en-US" sz="1400" dirty="0">
                <a:solidFill>
                  <a:srgbClr val="000000"/>
                </a:solidFill>
                <a:highlight>
                  <a:srgbClr val="FFFFFF"/>
                </a:highlight>
                <a:latin typeface="Cascadia Mono" panose="020B0609020000020004" pitchFamily="49" charset="0"/>
              </a:rPr>
              <a:t>(5);</a:t>
            </a:r>
          </a:p>
          <a:p>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Console</a:t>
            </a:r>
            <a:r>
              <a:rPr lang="en-IN" sz="1400" dirty="0" err="1">
                <a:solidFill>
                  <a:srgbClr val="000000"/>
                </a:solidFill>
                <a:highlight>
                  <a:srgbClr val="FFFFFF"/>
                </a:highlight>
                <a:latin typeface="Cascadia Mono" panose="020B0609020000020004" pitchFamily="49" charset="0"/>
              </a:rPr>
              <a:t>.WriteLine</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ds.a</a:t>
            </a:r>
            <a:r>
              <a:rPr lang="en-IN" sz="1400" dirty="0">
                <a:solidFill>
                  <a:srgbClr val="000000"/>
                </a:solidFill>
                <a:highlight>
                  <a:srgbClr val="FFFFFF"/>
                </a:highlight>
                <a:latin typeface="Cascadia Mono" panose="020B0609020000020004" pitchFamily="49" charset="0"/>
              </a:rPr>
              <a:t>+ </a:t>
            </a:r>
            <a:r>
              <a:rPr lang="en-IN" sz="1400" dirty="0">
                <a:solidFill>
                  <a:srgbClr val="A31515"/>
                </a:solidFill>
                <a:highlight>
                  <a:srgbClr val="FFFFFF"/>
                </a:highlight>
                <a:latin typeface="Cascadia Mono" panose="020B0609020000020004" pitchFamily="49" charset="0"/>
              </a:rPr>
              <a:t>"  "</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ds.b</a:t>
            </a:r>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3957405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2076</TotalTime>
  <Words>1461</Words>
  <Application>Microsoft Office PowerPoint</Application>
  <PresentationFormat>Widescreen</PresentationFormat>
  <Paragraphs>291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Cascadia Mono</vt:lpstr>
      <vt:lpstr>Garamond</vt:lpstr>
      <vt:lpstr>Office Theme</vt:lpstr>
      <vt:lpstr>PowerPoint Presentation</vt:lpstr>
      <vt:lpstr>Struct</vt:lpstr>
      <vt:lpstr>When to use structure</vt:lpstr>
      <vt:lpstr> Will this code compile?(parameter less constructor)</vt:lpstr>
      <vt:lpstr> Will this code compile?(only one member is initialize framework 4.6 &amp; lower C#7.3 )</vt:lpstr>
      <vt:lpstr> Will this code compile?(Yes)</vt:lpstr>
      <vt:lpstr>PowerPoint Presentation</vt:lpstr>
      <vt:lpstr>PowerPoint Presentation</vt:lpstr>
      <vt:lpstr>PowerPoint Presentation</vt:lpstr>
      <vt:lpstr>Struct after c# version 11.0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dc:title>
  <dc:creator>Sriram Mantri vidyanidhi infotech academy</dc:creator>
  <cp:lastModifiedBy>sriram mantri vidyanidhi infotech academy</cp:lastModifiedBy>
  <cp:revision>37</cp:revision>
  <dcterms:created xsi:type="dcterms:W3CDTF">2020-07-08T08:56:55Z</dcterms:created>
  <dcterms:modified xsi:type="dcterms:W3CDTF">2025-03-28T08:15:11Z</dcterms:modified>
</cp:coreProperties>
</file>