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7" r:id="rId2"/>
    <p:sldId id="256" r:id="rId3"/>
    <p:sldId id="257" r:id="rId4"/>
    <p:sldId id="258" r:id="rId5"/>
    <p:sldId id="266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9" r:id="rId14"/>
    <p:sldId id="268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1498" y="12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ABFEB1C-F450-428A-83D7-340C83DC860D}"/>
              </a:ext>
            </a:extLst>
          </p:cNvPr>
          <p:cNvSpPr/>
          <p:nvPr userDrawn="1"/>
        </p:nvSpPr>
        <p:spPr>
          <a:xfrm>
            <a:off x="171450" y="6538912"/>
            <a:ext cx="8515350" cy="30777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USM’s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Shriram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Mantri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Vidyanidhi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Info Tech Academy </a:t>
            </a:r>
            <a:endParaRPr lang="en-IN" sz="1400" dirty="0">
              <a:solidFill>
                <a:prstClr val="black"/>
              </a:solidFill>
              <a:latin typeface="Cambria" panose="02040503050406030204" pitchFamily="18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ABFEB1C-F450-428A-83D7-340C83DC860D}"/>
              </a:ext>
            </a:extLst>
          </p:cNvPr>
          <p:cNvSpPr/>
          <p:nvPr userDrawn="1"/>
        </p:nvSpPr>
        <p:spPr>
          <a:xfrm>
            <a:off x="171450" y="6553566"/>
            <a:ext cx="8515350" cy="30777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USM’s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Shriram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Mantri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Vidyanidhi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Info Tech Academy </a:t>
            </a:r>
            <a:endParaRPr lang="en-IN" sz="1400" dirty="0">
              <a:solidFill>
                <a:prstClr val="black"/>
              </a:solidFill>
              <a:latin typeface="Cambria" panose="02040503050406030204" pitchFamily="18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ABFEB1C-F450-428A-83D7-340C83DC860D}"/>
              </a:ext>
            </a:extLst>
          </p:cNvPr>
          <p:cNvSpPr/>
          <p:nvPr userDrawn="1"/>
        </p:nvSpPr>
        <p:spPr>
          <a:xfrm>
            <a:off x="660888" y="6583362"/>
            <a:ext cx="8515350" cy="30777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USM’s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Shriram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Mantri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Vidyanidhi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Info Tech Academy </a:t>
            </a:r>
            <a:endParaRPr lang="en-IN" sz="1400" dirty="0">
              <a:solidFill>
                <a:prstClr val="black"/>
              </a:solidFill>
              <a:latin typeface="Cambria" panose="02040503050406030204" pitchFamily="18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ABFEB1C-F450-428A-83D7-340C83DC860D}"/>
              </a:ext>
            </a:extLst>
          </p:cNvPr>
          <p:cNvSpPr/>
          <p:nvPr userDrawn="1"/>
        </p:nvSpPr>
        <p:spPr>
          <a:xfrm>
            <a:off x="314325" y="6490386"/>
            <a:ext cx="8515350" cy="30777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USM’s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Shriram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Mantri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Vidyanidhi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Info Tech Academy </a:t>
            </a:r>
            <a:endParaRPr lang="en-IN" sz="1400" dirty="0">
              <a:solidFill>
                <a:prstClr val="black"/>
              </a:solidFill>
              <a:latin typeface="Cambria" panose="02040503050406030204" pitchFamily="18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ABFEB1C-F450-428A-83D7-340C83DC860D}"/>
              </a:ext>
            </a:extLst>
          </p:cNvPr>
          <p:cNvSpPr/>
          <p:nvPr userDrawn="1"/>
        </p:nvSpPr>
        <p:spPr>
          <a:xfrm>
            <a:off x="457200" y="6538912"/>
            <a:ext cx="8515350" cy="30777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USM’s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Shriram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Mantri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Vidyanidhi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Info Tech Academy </a:t>
            </a:r>
            <a:endParaRPr lang="en-IN" sz="1400" dirty="0">
              <a:solidFill>
                <a:prstClr val="black"/>
              </a:solidFill>
              <a:latin typeface="Cambria" panose="02040503050406030204" pitchFamily="18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ABFEB1C-F450-428A-83D7-340C83DC860D}"/>
              </a:ext>
            </a:extLst>
          </p:cNvPr>
          <p:cNvSpPr/>
          <p:nvPr userDrawn="1"/>
        </p:nvSpPr>
        <p:spPr>
          <a:xfrm>
            <a:off x="228600" y="6538912"/>
            <a:ext cx="8515350" cy="30777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USM’s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Shriram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Mantri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Vidyanidhi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Info Tech Academy </a:t>
            </a:r>
            <a:endParaRPr lang="en-IN" sz="1400" dirty="0">
              <a:solidFill>
                <a:prstClr val="black"/>
              </a:solidFill>
              <a:latin typeface="Cambria" panose="02040503050406030204" pitchFamily="18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1A0CC2C-E31B-45BE-922D-5A41128ABF86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6200" y="-152400"/>
            <a:ext cx="1282699" cy="85753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vidyanidhi.com/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DFEADA-E901-4302-A497-05D33C2B2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52400"/>
            <a:ext cx="8458200" cy="6705600"/>
          </a:xfrm>
        </p:spPr>
        <p:txBody>
          <a:bodyPr/>
          <a:lstStyle/>
          <a:p>
            <a:pPr marL="0" indent="0" algn="ctr">
              <a:buNone/>
            </a:pPr>
            <a:r>
              <a:rPr lang="en-IN" dirty="0">
                <a:hlinkClick r:id="rId2"/>
              </a:rPr>
              <a:t>http://www.vidyanidhi.com/</a:t>
            </a:r>
            <a:endParaRPr lang="en-IN" dirty="0"/>
          </a:p>
          <a:p>
            <a:pPr marL="0" indent="0" algn="ctr">
              <a:buNone/>
            </a:pPr>
            <a:r>
              <a:rPr lang="en-IN" dirty="0"/>
              <a:t>ketkiacharya.net@gmail.com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DE8A8E-ED85-4B70-916D-ED56E0E40BBC}"/>
              </a:ext>
            </a:extLst>
          </p:cNvPr>
          <p:cNvSpPr txBox="1"/>
          <p:nvPr/>
        </p:nvSpPr>
        <p:spPr>
          <a:xfrm>
            <a:off x="533400" y="4038600"/>
            <a:ext cx="3276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Ketki</a:t>
            </a:r>
            <a:r>
              <a:rPr lang="en-IN" dirty="0"/>
              <a:t> Acharya</a:t>
            </a:r>
          </a:p>
          <a:p>
            <a:r>
              <a:rPr lang="en-IN" dirty="0"/>
              <a:t>From: SM VITA ATC of CDAC</a:t>
            </a:r>
          </a:p>
          <a:p>
            <a:r>
              <a:rPr lang="en-IN" dirty="0"/>
              <a:t>9769201036</a:t>
            </a:r>
          </a:p>
          <a:p>
            <a:r>
              <a:rPr lang="en-IN" dirty="0"/>
              <a:t>ketkiacharya.net@gmail.com</a:t>
            </a:r>
          </a:p>
        </p:txBody>
      </p:sp>
    </p:spTree>
    <p:extLst>
      <p:ext uri="{BB962C8B-B14F-4D97-AF65-F5344CB8AC3E}">
        <p14:creationId xmlns:p14="http://schemas.microsoft.com/office/powerpoint/2010/main" val="33035979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Data Types and Identifiers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Identifiers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In C#, an identifier is a name assigned to a method, a variable, or any other user-defined item. Identifiers can be one or more characters long. </a:t>
            </a:r>
          </a:p>
          <a:p>
            <a:r>
              <a:rPr lang="en-US" dirty="0"/>
              <a:t>Variable names may start with any letter of the alphabet or an underscore. Next may be a letter, a digit, or an underscore.      ( int 8net = 9-----invalid)</a:t>
            </a:r>
          </a:p>
          <a:p>
            <a:r>
              <a:rPr lang="en-US" dirty="0"/>
              <a:t> The underscore can be used to enhance the readability of a variable name, as in </a:t>
            </a:r>
            <a:r>
              <a:rPr lang="en-US" b="1" dirty="0" err="1"/>
              <a:t>line_count</a:t>
            </a:r>
            <a:r>
              <a:rPr lang="en-US" b="1" dirty="0"/>
              <a:t>.</a:t>
            </a:r>
          </a:p>
          <a:p>
            <a:r>
              <a:rPr lang="en-US" dirty="0"/>
              <a:t>However, </a:t>
            </a:r>
            <a:r>
              <a:rPr lang="en-US" dirty="0" err="1"/>
              <a:t>identifers</a:t>
            </a:r>
            <a:r>
              <a:rPr lang="en-US" dirty="0"/>
              <a:t> containing two consecutive underscores, such as </a:t>
            </a:r>
            <a:r>
              <a:rPr lang="en-US" b="1" dirty="0"/>
              <a:t>max_ _value, are </a:t>
            </a:r>
            <a:r>
              <a:rPr lang="en-US" dirty="0"/>
              <a:t>reserved for use by the compiler. </a:t>
            </a:r>
          </a:p>
          <a:p>
            <a:r>
              <a:rPr lang="en-US" dirty="0"/>
              <a:t>Uppercase and lowercase are different; that is, to C#, </a:t>
            </a:r>
            <a:r>
              <a:rPr lang="en-US" b="1" dirty="0" err="1"/>
              <a:t>myvar</a:t>
            </a:r>
            <a:r>
              <a:rPr lang="en-US" b="1" dirty="0"/>
              <a:t> and </a:t>
            </a:r>
            <a:r>
              <a:rPr lang="en-US" b="1" dirty="0" err="1"/>
              <a:t>MyVar</a:t>
            </a:r>
            <a:r>
              <a:rPr lang="en-US" b="1" dirty="0"/>
              <a:t> are separate names.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6593"/>
            <a:ext cx="8229600" cy="1039091"/>
          </a:xfrm>
        </p:spPr>
        <p:txBody>
          <a:bodyPr>
            <a:noAutofit/>
          </a:bodyPr>
          <a:lstStyle/>
          <a:p>
            <a:r>
              <a:rPr lang="en-US" sz="3200" b="1" dirty="0"/>
              <a:t>How to use reserved keyword as variable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Although you cannot use any of the reserved C# keywords as identifiers, C# does allow you to precede a keyword with an @, allowing it to be a legal identifier.</a:t>
            </a:r>
          </a:p>
          <a:p>
            <a:r>
              <a:rPr lang="en-US" dirty="0"/>
              <a:t> For example, </a:t>
            </a:r>
            <a:r>
              <a:rPr lang="en-US" b="1" dirty="0"/>
              <a:t>@for </a:t>
            </a:r>
            <a:r>
              <a:rPr lang="en-US" dirty="0"/>
              <a:t>is a valid identifier. In this case, the identifier is actually </a:t>
            </a:r>
            <a:r>
              <a:rPr lang="en-US" b="1" dirty="0"/>
              <a:t>for and the @ is ignored.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/>
              <a:t>Naming Conventions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 of the names of namespaces, classes, and members in the base classes ,property follow Pascal casing </a:t>
            </a:r>
            <a:r>
              <a:rPr lang="en-US" dirty="0" err="1"/>
              <a:t>eg.VidyaNidhi</a:t>
            </a: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camel casing: </a:t>
            </a:r>
            <a:r>
              <a:rPr lang="en-US" dirty="0" err="1"/>
              <a:t>calSalary</a:t>
            </a:r>
            <a:r>
              <a:rPr lang="en-US" dirty="0"/>
              <a:t>()</a:t>
            </a:r>
          </a:p>
          <a:p>
            <a:r>
              <a:rPr lang="en-US" dirty="0"/>
              <a:t>Private member</a:t>
            </a:r>
          </a:p>
          <a:p>
            <a:r>
              <a:rPr lang="en-US" dirty="0"/>
              <a:t>A</a:t>
            </a:r>
            <a:r>
              <a:rPr lang="en-US"/>
              <a:t>ll </a:t>
            </a:r>
            <a:r>
              <a:rPr lang="en-US" dirty="0"/>
              <a:t>parameters passed to methods: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 type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/>
              <a:t>Value Types [Primitive type and struct, </a:t>
            </a:r>
            <a:r>
              <a:rPr lang="en-US" i="1" dirty="0" err="1"/>
              <a:t>enum</a:t>
            </a:r>
            <a:r>
              <a:rPr lang="en-US" i="1" dirty="0"/>
              <a:t>]</a:t>
            </a:r>
          </a:p>
          <a:p>
            <a:r>
              <a:rPr lang="en-US" i="1" dirty="0"/>
              <a:t> Reference Types[ class, </a:t>
            </a:r>
            <a:r>
              <a:rPr lang="en-US" i="1" dirty="0" err="1"/>
              <a:t>array,string</a:t>
            </a:r>
            <a:r>
              <a:rPr lang="en-US" i="1" dirty="0"/>
              <a:t> ]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1"/>
            <a:ext cx="2819400" cy="609600"/>
          </a:xfrm>
        </p:spPr>
        <p:txBody>
          <a:bodyPr>
            <a:noAutofit/>
          </a:bodyPr>
          <a:lstStyle/>
          <a:p>
            <a:r>
              <a:rPr lang="en-US" sz="3200" dirty="0"/>
              <a:t>Value Type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257FCA4-D515-A7C1-FC2B-05B1ABB33790}"/>
              </a:ext>
            </a:extLst>
          </p:cNvPr>
          <p:cNvSpPr txBox="1">
            <a:spLocks/>
          </p:cNvSpPr>
          <p:nvPr/>
        </p:nvSpPr>
        <p:spPr>
          <a:xfrm>
            <a:off x="5235804" y="1"/>
            <a:ext cx="2819400" cy="609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 err="1"/>
              <a:t>Referece</a:t>
            </a:r>
            <a:r>
              <a:rPr lang="en-US" sz="3200" dirty="0"/>
              <a:t> Type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A9291B-B7AA-EC6F-7521-B2EC0343BDD8}"/>
              </a:ext>
            </a:extLst>
          </p:cNvPr>
          <p:cNvSpPr txBox="1"/>
          <p:nvPr/>
        </p:nvSpPr>
        <p:spPr>
          <a:xfrm>
            <a:off x="152400" y="838200"/>
            <a:ext cx="3886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All primitive type, structure, </a:t>
            </a:r>
            <a:r>
              <a:rPr lang="en-US" dirty="0" err="1"/>
              <a:t>enum</a:t>
            </a:r>
            <a:r>
              <a:rPr lang="en-US" dirty="0"/>
              <a:t> </a:t>
            </a:r>
            <a:r>
              <a:rPr lang="en-US" dirty="0" err="1"/>
              <a:t>etc</a:t>
            </a:r>
            <a:r>
              <a:rPr lang="en-US" dirty="0"/>
              <a:t> are value type data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CE1521-65A6-7EC4-C5B3-C93F2F7644EB}"/>
              </a:ext>
            </a:extLst>
          </p:cNvPr>
          <p:cNvSpPr txBox="1"/>
          <p:nvPr/>
        </p:nvSpPr>
        <p:spPr>
          <a:xfrm>
            <a:off x="4953000" y="646425"/>
            <a:ext cx="3886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Array, string, class </a:t>
            </a:r>
            <a:r>
              <a:rPr lang="en-US" dirty="0" err="1"/>
              <a:t>etc</a:t>
            </a:r>
            <a:r>
              <a:rPr lang="en-US" dirty="0"/>
              <a:t> are Reference type data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F57E34-32A2-5169-C648-C2928AC7AA88}"/>
              </a:ext>
            </a:extLst>
          </p:cNvPr>
          <p:cNvSpPr txBox="1"/>
          <p:nvPr/>
        </p:nvSpPr>
        <p:spPr>
          <a:xfrm>
            <a:off x="152400" y="1676400"/>
            <a:ext cx="39624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Eg.</a:t>
            </a:r>
            <a:r>
              <a:rPr lang="en-US" dirty="0"/>
              <a:t> </a:t>
            </a:r>
          </a:p>
          <a:p>
            <a:r>
              <a:rPr lang="en-US" dirty="0"/>
              <a:t>int </a:t>
            </a:r>
            <a:r>
              <a:rPr lang="en-US" dirty="0" err="1"/>
              <a:t>a,b</a:t>
            </a:r>
            <a:r>
              <a:rPr lang="en-US" dirty="0"/>
              <a:t>;</a:t>
            </a:r>
          </a:p>
          <a:p>
            <a:r>
              <a:rPr lang="en-US" dirty="0"/>
              <a:t>a=5;</a:t>
            </a:r>
          </a:p>
          <a:p>
            <a:r>
              <a:rPr lang="en-US" dirty="0"/>
              <a:t>b=a;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When you assign a value type data in a variable.</a:t>
            </a:r>
          </a:p>
          <a:p>
            <a:r>
              <a:rPr lang="en-US" dirty="0"/>
              <a:t>Another memory block get created and </a:t>
            </a:r>
          </a:p>
          <a:p>
            <a:r>
              <a:rPr lang="en-US" dirty="0"/>
              <a:t>Data get copied.</a:t>
            </a:r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4EC6675-1201-058C-A300-6908716965A9}"/>
              </a:ext>
            </a:extLst>
          </p:cNvPr>
          <p:cNvSpPr/>
          <p:nvPr/>
        </p:nvSpPr>
        <p:spPr>
          <a:xfrm>
            <a:off x="1905000" y="2057400"/>
            <a:ext cx="6858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ED245AC-CCA5-787F-E633-F714747C48C5}"/>
              </a:ext>
            </a:extLst>
          </p:cNvPr>
          <p:cNvSpPr txBox="1"/>
          <p:nvPr/>
        </p:nvSpPr>
        <p:spPr>
          <a:xfrm>
            <a:off x="1905000" y="1713130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  <a:endParaRPr lang="en-I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A93AB55-6DCC-F766-A038-BDF038318F3F}"/>
              </a:ext>
            </a:extLst>
          </p:cNvPr>
          <p:cNvSpPr/>
          <p:nvPr/>
        </p:nvSpPr>
        <p:spPr>
          <a:xfrm>
            <a:off x="1881433" y="3073063"/>
            <a:ext cx="6858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8695F9E-8812-CD4A-9BB5-7DBFCB061EDC}"/>
              </a:ext>
            </a:extLst>
          </p:cNvPr>
          <p:cNvSpPr txBox="1"/>
          <p:nvPr/>
        </p:nvSpPr>
        <p:spPr>
          <a:xfrm>
            <a:off x="1881433" y="2728793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14F975D-7C15-4F21-2F51-8D008C418384}"/>
              </a:ext>
            </a:extLst>
          </p:cNvPr>
          <p:cNvSpPr txBox="1"/>
          <p:nvPr/>
        </p:nvSpPr>
        <p:spPr>
          <a:xfrm>
            <a:off x="4953000" y="1364903"/>
            <a:ext cx="40386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int[] </a:t>
            </a:r>
            <a:r>
              <a:rPr lang="en-IN" dirty="0" err="1"/>
              <a:t>arr</a:t>
            </a:r>
            <a:r>
              <a:rPr lang="en-IN" dirty="0"/>
              <a:t>=new int[]{5,6,80};</a:t>
            </a:r>
          </a:p>
          <a:p>
            <a:r>
              <a:rPr lang="en-IN" dirty="0"/>
              <a:t> int [] </a:t>
            </a:r>
            <a:r>
              <a:rPr lang="en-IN" dirty="0" err="1"/>
              <a:t>cpy</a:t>
            </a:r>
            <a:r>
              <a:rPr lang="en-IN" dirty="0"/>
              <a:t>;</a:t>
            </a:r>
          </a:p>
          <a:p>
            <a:endParaRPr lang="en-IN" dirty="0"/>
          </a:p>
          <a:p>
            <a:r>
              <a:rPr lang="en-IN" dirty="0"/>
              <a:t> </a:t>
            </a:r>
            <a:r>
              <a:rPr lang="en-IN" dirty="0" err="1"/>
              <a:t>cpy</a:t>
            </a:r>
            <a:r>
              <a:rPr lang="en-IN" dirty="0"/>
              <a:t>=</a:t>
            </a:r>
            <a:r>
              <a:rPr lang="en-IN" dirty="0" err="1"/>
              <a:t>arr</a:t>
            </a:r>
            <a:r>
              <a:rPr lang="en-IN" dirty="0"/>
              <a:t>; </a:t>
            </a:r>
          </a:p>
          <a:p>
            <a:endParaRPr lang="en-IN" dirty="0"/>
          </a:p>
          <a:p>
            <a:r>
              <a:rPr lang="en-IN" dirty="0"/>
              <a:t>  foreach(int a in </a:t>
            </a:r>
            <a:r>
              <a:rPr lang="en-IN" dirty="0" err="1">
                <a:highlight>
                  <a:srgbClr val="FFFF00"/>
                </a:highlight>
              </a:rPr>
              <a:t>arr</a:t>
            </a:r>
            <a:r>
              <a:rPr lang="en-IN" dirty="0"/>
              <a:t>)        </a:t>
            </a:r>
            <a:r>
              <a:rPr lang="en-IN" dirty="0" err="1"/>
              <a:t>Console.WriteLine</a:t>
            </a:r>
            <a:r>
              <a:rPr lang="en-IN" dirty="0"/>
              <a:t>(a);     //O/P 5,6,80    </a:t>
            </a:r>
          </a:p>
          <a:p>
            <a:endParaRPr lang="en-IN" dirty="0"/>
          </a:p>
          <a:p>
            <a:r>
              <a:rPr lang="en-IN" dirty="0"/>
              <a:t>       </a:t>
            </a:r>
            <a:r>
              <a:rPr lang="en-IN" dirty="0" err="1">
                <a:highlight>
                  <a:srgbClr val="FFFF00"/>
                </a:highlight>
              </a:rPr>
              <a:t>arr</a:t>
            </a:r>
            <a:r>
              <a:rPr lang="en-IN" dirty="0">
                <a:highlight>
                  <a:srgbClr val="FFFF00"/>
                </a:highlight>
              </a:rPr>
              <a:t>[2]=11</a:t>
            </a:r>
            <a:r>
              <a:rPr lang="en-IN" dirty="0"/>
              <a:t>;       </a:t>
            </a:r>
          </a:p>
          <a:p>
            <a:endParaRPr lang="en-IN" dirty="0"/>
          </a:p>
          <a:p>
            <a:r>
              <a:rPr lang="en-IN" dirty="0"/>
              <a:t>   foreach(int a in </a:t>
            </a:r>
            <a:r>
              <a:rPr lang="en-IN" dirty="0" err="1">
                <a:highlight>
                  <a:srgbClr val="FFFF00"/>
                </a:highlight>
              </a:rPr>
              <a:t>cpy</a:t>
            </a:r>
            <a:r>
              <a:rPr lang="en-IN" dirty="0"/>
              <a:t>)        </a:t>
            </a:r>
            <a:r>
              <a:rPr lang="en-IN" dirty="0" err="1"/>
              <a:t>Console.WriteLine</a:t>
            </a:r>
            <a:r>
              <a:rPr lang="en-IN" dirty="0"/>
              <a:t> (a); //O/P 5,6,11</a:t>
            </a:r>
          </a:p>
        </p:txBody>
      </p:sp>
      <p:graphicFrame>
        <p:nvGraphicFramePr>
          <p:cNvPr id="12" name="Table 12">
            <a:extLst>
              <a:ext uri="{FF2B5EF4-FFF2-40B4-BE49-F238E27FC236}">
                <a16:creationId xmlns:a16="http://schemas.microsoft.com/office/drawing/2014/main" id="{DF2DADB2-27FF-458D-BB79-F7FF561B6D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5781007"/>
              </p:ext>
            </p:extLst>
          </p:nvPr>
        </p:nvGraphicFramePr>
        <p:xfrm>
          <a:off x="5896466" y="4797951"/>
          <a:ext cx="29718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3657801583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1393749549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542818121"/>
                    </a:ext>
                  </a:extLst>
                </a:gridCol>
              </a:tblGrid>
              <a:tr h="261204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4863079"/>
                  </a:ext>
                </a:extLst>
              </a:tr>
              <a:tr h="261204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80  11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9308335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52DAC7AE-2940-BFDA-E97B-748EBDD4BD14}"/>
              </a:ext>
            </a:extLst>
          </p:cNvPr>
          <p:cNvSpPr txBox="1"/>
          <p:nvPr/>
        </p:nvSpPr>
        <p:spPr>
          <a:xfrm>
            <a:off x="4572000" y="4953000"/>
            <a:ext cx="663804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err="1"/>
              <a:t>arr</a:t>
            </a:r>
            <a:endParaRPr lang="en-IN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A9351CA-94B3-8267-66AC-05EB80F5E59C}"/>
              </a:ext>
            </a:extLst>
          </p:cNvPr>
          <p:cNvCxnSpPr>
            <a:cxnSpLocks/>
          </p:cNvCxnSpPr>
          <p:nvPr/>
        </p:nvCxnSpPr>
        <p:spPr>
          <a:xfrm flipV="1">
            <a:off x="5029202" y="5029200"/>
            <a:ext cx="761998" cy="152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6C137062-808D-D832-640A-E9ED97C9DE7E}"/>
              </a:ext>
            </a:extLst>
          </p:cNvPr>
          <p:cNvSpPr/>
          <p:nvPr/>
        </p:nvSpPr>
        <p:spPr>
          <a:xfrm>
            <a:off x="4610100" y="5646718"/>
            <a:ext cx="587604" cy="37308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cpy</a:t>
            </a:r>
            <a:endParaRPr lang="en-IN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937AAA2-A7C6-B505-FF08-EE9399AEB035}"/>
              </a:ext>
            </a:extLst>
          </p:cNvPr>
          <p:cNvCxnSpPr/>
          <p:nvPr/>
        </p:nvCxnSpPr>
        <p:spPr>
          <a:xfrm flipV="1">
            <a:off x="5029202" y="5322332"/>
            <a:ext cx="761998" cy="5109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C5CDD41-3D53-C8B0-8BDC-B0EEA064A0DB}"/>
              </a:ext>
            </a:extLst>
          </p:cNvPr>
          <p:cNvCxnSpPr>
            <a:cxnSpLocks/>
          </p:cNvCxnSpPr>
          <p:nvPr/>
        </p:nvCxnSpPr>
        <p:spPr>
          <a:xfrm flipH="1">
            <a:off x="7864704" y="5213866"/>
            <a:ext cx="381000" cy="216932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6E7BE49-3AC3-8206-315C-0D8319008DEA}"/>
              </a:ext>
            </a:extLst>
          </p:cNvPr>
          <p:cNvCxnSpPr/>
          <p:nvPr/>
        </p:nvCxnSpPr>
        <p:spPr>
          <a:xfrm flipH="1">
            <a:off x="275734" y="2913459"/>
            <a:ext cx="56246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FA7A6F7C-F626-C2E1-1A9E-0BF447DFDD37}"/>
              </a:ext>
            </a:extLst>
          </p:cNvPr>
          <p:cNvSpPr/>
          <p:nvPr/>
        </p:nvSpPr>
        <p:spPr>
          <a:xfrm>
            <a:off x="2592371" y="2253006"/>
            <a:ext cx="603316" cy="1112363"/>
          </a:xfrm>
          <a:custGeom>
            <a:avLst/>
            <a:gdLst>
              <a:gd name="connsiteX0" fmla="*/ 0 w 603316"/>
              <a:gd name="connsiteY0" fmla="*/ 84841 h 1112363"/>
              <a:gd name="connsiteX1" fmla="*/ 47134 w 603316"/>
              <a:gd name="connsiteY1" fmla="*/ 65988 h 1112363"/>
              <a:gd name="connsiteX2" fmla="*/ 84841 w 603316"/>
              <a:gd name="connsiteY2" fmla="*/ 47134 h 1112363"/>
              <a:gd name="connsiteX3" fmla="*/ 150829 w 603316"/>
              <a:gd name="connsiteY3" fmla="*/ 28281 h 1112363"/>
              <a:gd name="connsiteX4" fmla="*/ 226243 w 603316"/>
              <a:gd name="connsiteY4" fmla="*/ 0 h 1112363"/>
              <a:gd name="connsiteX5" fmla="*/ 414780 w 603316"/>
              <a:gd name="connsiteY5" fmla="*/ 9427 h 1112363"/>
              <a:gd name="connsiteX6" fmla="*/ 480767 w 603316"/>
              <a:gd name="connsiteY6" fmla="*/ 65988 h 1112363"/>
              <a:gd name="connsiteX7" fmla="*/ 518474 w 603316"/>
              <a:gd name="connsiteY7" fmla="*/ 122549 h 1112363"/>
              <a:gd name="connsiteX8" fmla="*/ 546755 w 603316"/>
              <a:gd name="connsiteY8" fmla="*/ 169683 h 1112363"/>
              <a:gd name="connsiteX9" fmla="*/ 565608 w 603316"/>
              <a:gd name="connsiteY9" fmla="*/ 226243 h 1112363"/>
              <a:gd name="connsiteX10" fmla="*/ 603316 w 603316"/>
              <a:gd name="connsiteY10" fmla="*/ 377072 h 1112363"/>
              <a:gd name="connsiteX11" fmla="*/ 593889 w 603316"/>
              <a:gd name="connsiteY11" fmla="*/ 716437 h 1112363"/>
              <a:gd name="connsiteX12" fmla="*/ 565608 w 603316"/>
              <a:gd name="connsiteY12" fmla="*/ 810705 h 1112363"/>
              <a:gd name="connsiteX13" fmla="*/ 537328 w 603316"/>
              <a:gd name="connsiteY13" fmla="*/ 867266 h 1112363"/>
              <a:gd name="connsiteX14" fmla="*/ 518474 w 603316"/>
              <a:gd name="connsiteY14" fmla="*/ 895547 h 1112363"/>
              <a:gd name="connsiteX15" fmla="*/ 480767 w 603316"/>
              <a:gd name="connsiteY15" fmla="*/ 923827 h 1112363"/>
              <a:gd name="connsiteX16" fmla="*/ 386499 w 603316"/>
              <a:gd name="connsiteY16" fmla="*/ 1008668 h 1112363"/>
              <a:gd name="connsiteX17" fmla="*/ 273377 w 603316"/>
              <a:gd name="connsiteY17" fmla="*/ 1055802 h 1112363"/>
              <a:gd name="connsiteX18" fmla="*/ 216817 w 603316"/>
              <a:gd name="connsiteY18" fmla="*/ 1084083 h 1112363"/>
              <a:gd name="connsiteX19" fmla="*/ 141402 w 603316"/>
              <a:gd name="connsiteY19" fmla="*/ 1112363 h 1112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603316" h="1112363">
                <a:moveTo>
                  <a:pt x="0" y="84841"/>
                </a:moveTo>
                <a:cubicBezTo>
                  <a:pt x="15711" y="78557"/>
                  <a:pt x="31671" y="72860"/>
                  <a:pt x="47134" y="65988"/>
                </a:cubicBezTo>
                <a:cubicBezTo>
                  <a:pt x="59975" y="60281"/>
                  <a:pt x="71634" y="51936"/>
                  <a:pt x="84841" y="47134"/>
                </a:cubicBezTo>
                <a:cubicBezTo>
                  <a:pt x="106340" y="39316"/>
                  <a:pt x="129127" y="35515"/>
                  <a:pt x="150829" y="28281"/>
                </a:cubicBezTo>
                <a:cubicBezTo>
                  <a:pt x="176299" y="19791"/>
                  <a:pt x="201105" y="9427"/>
                  <a:pt x="226243" y="0"/>
                </a:cubicBezTo>
                <a:lnTo>
                  <a:pt x="414780" y="9427"/>
                </a:lnTo>
                <a:cubicBezTo>
                  <a:pt x="442823" y="16697"/>
                  <a:pt x="461191" y="44632"/>
                  <a:pt x="480767" y="65988"/>
                </a:cubicBezTo>
                <a:cubicBezTo>
                  <a:pt x="496078" y="82691"/>
                  <a:pt x="506309" y="103432"/>
                  <a:pt x="518474" y="122549"/>
                </a:cubicBezTo>
                <a:cubicBezTo>
                  <a:pt x="528311" y="138007"/>
                  <a:pt x="539173" y="153003"/>
                  <a:pt x="546755" y="169683"/>
                </a:cubicBezTo>
                <a:cubicBezTo>
                  <a:pt x="554979" y="187775"/>
                  <a:pt x="559680" y="207274"/>
                  <a:pt x="565608" y="226243"/>
                </a:cubicBezTo>
                <a:cubicBezTo>
                  <a:pt x="597773" y="329172"/>
                  <a:pt x="589432" y="293772"/>
                  <a:pt x="603316" y="377072"/>
                </a:cubicBezTo>
                <a:cubicBezTo>
                  <a:pt x="600174" y="490194"/>
                  <a:pt x="599403" y="603406"/>
                  <a:pt x="593889" y="716437"/>
                </a:cubicBezTo>
                <a:cubicBezTo>
                  <a:pt x="592324" y="748522"/>
                  <a:pt x="578605" y="782112"/>
                  <a:pt x="565608" y="810705"/>
                </a:cubicBezTo>
                <a:cubicBezTo>
                  <a:pt x="556885" y="829895"/>
                  <a:pt x="547565" y="848840"/>
                  <a:pt x="537328" y="867266"/>
                </a:cubicBezTo>
                <a:cubicBezTo>
                  <a:pt x="531826" y="877170"/>
                  <a:pt x="526485" y="887536"/>
                  <a:pt x="518474" y="895547"/>
                </a:cubicBezTo>
                <a:cubicBezTo>
                  <a:pt x="507365" y="906656"/>
                  <a:pt x="492591" y="913481"/>
                  <a:pt x="480767" y="923827"/>
                </a:cubicBezTo>
                <a:cubicBezTo>
                  <a:pt x="448383" y="952163"/>
                  <a:pt x="425406" y="987053"/>
                  <a:pt x="386499" y="1008668"/>
                </a:cubicBezTo>
                <a:cubicBezTo>
                  <a:pt x="350790" y="1028506"/>
                  <a:pt x="310706" y="1039211"/>
                  <a:pt x="273377" y="1055802"/>
                </a:cubicBezTo>
                <a:cubicBezTo>
                  <a:pt x="254115" y="1064363"/>
                  <a:pt x="236006" y="1075360"/>
                  <a:pt x="216817" y="1084083"/>
                </a:cubicBezTo>
                <a:cubicBezTo>
                  <a:pt x="185826" y="1098170"/>
                  <a:pt x="170839" y="1102551"/>
                  <a:pt x="141402" y="1112363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Right Triangle 25">
            <a:extLst>
              <a:ext uri="{FF2B5EF4-FFF2-40B4-BE49-F238E27FC236}">
                <a16:creationId xmlns:a16="http://schemas.microsoft.com/office/drawing/2014/main" id="{2CE4EE75-5079-B306-1755-1590DD8834A3}"/>
              </a:ext>
            </a:extLst>
          </p:cNvPr>
          <p:cNvSpPr/>
          <p:nvPr/>
        </p:nvSpPr>
        <p:spPr>
          <a:xfrm rot="2643457">
            <a:off x="2590801" y="3098125"/>
            <a:ext cx="381000" cy="369332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/>
              <a:t>Integer Types</a:t>
            </a:r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 t="-1613" r="3906"/>
          <a:stretch>
            <a:fillRect/>
          </a:stretch>
        </p:blipFill>
        <p:spPr bwMode="auto">
          <a:xfrm>
            <a:off x="1" y="1828800"/>
            <a:ext cx="9372599" cy="48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/>
              <a:t>Floating - Point Types</a:t>
            </a:r>
            <a:endParaRPr lang="en-US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0" y="2133600"/>
            <a:ext cx="9509406" cy="22852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4343400"/>
            <a:ext cx="8534400" cy="22405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/>
              <a:t>The Boolean Type</a:t>
            </a:r>
            <a:endParaRPr lang="en-US" dirty="0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0" y="2971800"/>
            <a:ext cx="914400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/>
              <a:t>The Character Type</a:t>
            </a:r>
            <a:endParaRPr lang="en-US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304800" y="2743200"/>
            <a:ext cx="8412109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/>
              <a:t>Predefined Reference Types</a:t>
            </a:r>
            <a:endParaRPr lang="en-US" dirty="0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0" y="2133600"/>
            <a:ext cx="8763000" cy="274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CF471-B013-0B31-6438-03485851A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B090BB-F16A-419E-5B53-FCCB1D3C17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46850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55537E9-1D3F-42CB-A538-B7F90E491A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23645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Garamond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448</Words>
  <Application>Microsoft Office PowerPoint</Application>
  <PresentationFormat>On-screen Show (4:3)</PresentationFormat>
  <Paragraphs>69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Cambria</vt:lpstr>
      <vt:lpstr>Garamond</vt:lpstr>
      <vt:lpstr>Office Theme</vt:lpstr>
      <vt:lpstr>PowerPoint Presentation</vt:lpstr>
      <vt:lpstr>Data Types and Identifiers</vt:lpstr>
      <vt:lpstr>Identifiers</vt:lpstr>
      <vt:lpstr>How to use reserved keyword as variable </vt:lpstr>
      <vt:lpstr>Naming Conventions</vt:lpstr>
      <vt:lpstr>Data type</vt:lpstr>
      <vt:lpstr>Value Type</vt:lpstr>
      <vt:lpstr>Integer Types</vt:lpstr>
      <vt:lpstr>Floating - Point Types</vt:lpstr>
      <vt:lpstr>The Boolean Type</vt:lpstr>
      <vt:lpstr>The Character Type</vt:lpstr>
      <vt:lpstr>Predefined Reference Types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/>
  <cp:lastModifiedBy>vidyanidhi school</cp:lastModifiedBy>
  <cp:revision>27</cp:revision>
  <dcterms:created xsi:type="dcterms:W3CDTF">2006-08-16T00:00:00Z</dcterms:created>
  <dcterms:modified xsi:type="dcterms:W3CDTF">2023-03-27T05:06:43Z</dcterms:modified>
</cp:coreProperties>
</file>