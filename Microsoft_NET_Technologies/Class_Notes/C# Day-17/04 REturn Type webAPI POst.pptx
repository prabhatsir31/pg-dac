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5" autoAdjust="0"/>
    <p:restoredTop sz="94608" autoAdjust="0"/>
  </p:normalViewPr>
  <p:slideViewPr>
    <p:cSldViewPr snapToGrid="0">
      <p:cViewPr varScale="1">
        <p:scale>
          <a:sx n="90" d="100"/>
          <a:sy n="90" d="100"/>
        </p:scale>
        <p:origin x="374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BF68-3337-4B92-8A45-564915F5D1DD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56DE-A7B8-4500-94D5-57A461D89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292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BF68-3337-4B92-8A45-564915F5D1DD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56DE-A7B8-4500-94D5-57A461D89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23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BF68-3337-4B92-8A45-564915F5D1DD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56DE-A7B8-4500-94D5-57A461D89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876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BF68-3337-4B92-8A45-564915F5D1DD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56DE-A7B8-4500-94D5-57A461D89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308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BF68-3337-4B92-8A45-564915F5D1DD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56DE-A7B8-4500-94D5-57A461D89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46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BF68-3337-4B92-8A45-564915F5D1DD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56DE-A7B8-4500-94D5-57A461D89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056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BF68-3337-4B92-8A45-564915F5D1DD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56DE-A7B8-4500-94D5-57A461D89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747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BF68-3337-4B92-8A45-564915F5D1DD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56DE-A7B8-4500-94D5-57A461D89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168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BF68-3337-4B92-8A45-564915F5D1DD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56DE-A7B8-4500-94D5-57A461D89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861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BF68-3337-4B92-8A45-564915F5D1DD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56DE-A7B8-4500-94D5-57A461D89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249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BF68-3337-4B92-8A45-564915F5D1DD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56DE-A7B8-4500-94D5-57A461D89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167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60F6-B8F2-4D2C-BB9A-47D0A8934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40E1A-F836-41C9-92C4-C6CEDA2DE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857DB-5AE6-4497-83C7-D5E6EB640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E5870-7C8B-4AC2-8E8F-358E872A1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6D3EF-002D-4207-A4C9-92D5F624B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361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064A9-73A8-4EAD-B8B0-18276DA10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90030-37F8-4037-939E-CD6BD43E9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8DAE4-97BD-41B6-8A09-08D168461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6C7C8-EA37-48BD-99B2-7520FC9E2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CD895-9B74-452F-B9E2-E0BE4B2D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0929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933D6-076A-41E0-BDA6-0555F30C4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14746-847E-46B7-96C6-3F4BAD9A8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84216-EA07-48F0-96FF-8C3F1565B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B9FB2-D29B-4AAD-BB17-AA42D118B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973A8-498D-40E5-9FF9-1B6F3507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574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8C532-277E-4932-BA0F-21A6E90B6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9E72A-EB14-49EA-BC95-7053D6499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130F7-27BE-460F-BA7F-65C4D1B4B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03107-BA38-4DD3-934E-40C97E489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36A35-4F39-4D66-BE78-716F10B60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318FF-C0EC-468E-8651-4E7F35965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075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7550F-8F4A-4923-8DF8-729A85716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AF16F-842C-4445-BCAB-02DCE3862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B468D-8610-460D-ABBC-763061A72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EECB5-ABB8-4F98-8DE6-B39E31E57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E221E7-A644-4747-B5D0-536564B19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0446AB-B28C-4F68-B8DB-33CBDA668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427039-018E-4244-93D6-C884A060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66EA19-9480-4577-9DBE-1C4F1D0FE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039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15BCD-E5EE-401C-BE5C-2E6847160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22A5C4-B038-4A9F-99B4-84CBC1A1C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BA00D-FCEB-4DFF-B291-7F23B6B6F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859E7-100A-4894-9048-77F9DA98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7951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A8A568-40FE-4A87-871D-C6F55FAA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FEA508-F9CF-4864-9DB1-51B2C9810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3CEF0-9AF7-4F38-9623-37A7F24C5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3256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C027-61C2-4868-8692-ED6FB8ADE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7F57C-0B8E-4E07-9DE4-24C355CCD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2382D-2906-4067-9E45-218EABA63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63F8D-D8C0-48CB-93EA-A1FD3420F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C4EC9-2ED1-4C01-B840-D44489CC8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75C35-545F-4F94-ABB5-9BC3D70C3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2722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319C4-4D70-40B0-994B-8090BBEA6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B281DF-00C8-455C-AD51-86696313B2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F4AE3-FC51-4940-B2C2-01C96D0B9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752D8-1FE8-4769-A4D4-181066835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C0E64-7DBC-42CF-AAD0-D71B36AD3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1B2AC-8453-47BE-B995-24EBFD781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7774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3739C-0222-41A2-85AD-AA91858D3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130B7B-5D5B-4C62-8484-81F5AFABC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ABB2-271D-407B-A12B-C5B6E84FA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C0621-27D3-48B2-971B-8F931153F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2F147-CC82-41D4-8686-C8C795EA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1893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30A948-E667-4008-B6C9-6715BA3756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A74FEB-B5F3-4667-8724-1EF8E7B0A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BF631-C030-490D-8AA7-C2E5540B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19E78-0FF5-4B61-80DB-398F4922B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B80E8-78E5-4F3E-B22F-8F021C57B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802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1BF68-3337-4B92-8A45-564915F5D1DD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056DE-A7B8-4500-94D5-57A461D89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254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3B6C73-1E0D-478F-81A5-BF4DAC9F5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EE0E8-F3F1-4344-8D56-63F829C6D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72F97-DA96-429B-9D3F-CFDCEC125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AE069-8A96-4D3A-B497-930E8A5DB08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0166D-A736-456C-827D-39865CE9BB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D430E-2204-466B-8FEA-C39EDBA3A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36BB3-0E5B-430D-A57B-8EFAF5EAA8E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20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prstClr val="black"/>
                </a:solidFill>
              </a:rPr>
              <a:t>Ketki</a:t>
            </a:r>
            <a:r>
              <a:rPr lang="en-IN" dirty="0">
                <a:solidFill>
                  <a:prstClr val="black"/>
                </a:solidFill>
              </a:rPr>
              <a:t> Acharya</a:t>
            </a:r>
          </a:p>
          <a:p>
            <a:r>
              <a:rPr lang="en-IN" dirty="0">
                <a:solidFill>
                  <a:prstClr val="black"/>
                </a:solidFill>
              </a:rPr>
              <a:t>From: SM VITA ATC of CDAC</a:t>
            </a:r>
          </a:p>
          <a:p>
            <a:r>
              <a:rPr lang="en-IN" dirty="0">
                <a:solidFill>
                  <a:prstClr val="black"/>
                </a:solidFill>
              </a:rPr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1683686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34239" y="158234"/>
            <a:ext cx="543777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IN" sz="1800" b="1" dirty="0">
                <a:solidFill>
                  <a:srgbClr val="BB3A3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1800" b="1" dirty="0" err="1">
                <a:solidFill>
                  <a:srgbClr val="BB3A3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CreatedAtAction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1800" b="1" dirty="0" err="1">
                <a:solidFill>
                  <a:srgbClr val="BB3A3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CreatedAtRoute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23825" y="990601"/>
            <a:ext cx="11515725" cy="3524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solidFill>
                  <a:srgbClr val="BB3A3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1800" b="1" dirty="0" err="1">
                <a:solidFill>
                  <a:srgbClr val="BB3A3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CreatedAtAction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1800" b="1" dirty="0" err="1">
                <a:solidFill>
                  <a:srgbClr val="BB3A3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CreatedAtRoute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dirty="0"/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their overloads are methods of </a:t>
            </a:r>
            <a:r>
              <a:rPr lang="en-IN" sz="1800" b="1" dirty="0" err="1">
                <a:solidFill>
                  <a:srgbClr val="BB3A3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ControllerBase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b="1" u="sng" dirty="0">
                <a:solidFill>
                  <a:srgbClr val="4A9AE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they provide convenient ways to return </a:t>
            </a:r>
            <a:r>
              <a:rPr lang="en-IN" sz="1800" b="1" u="sng" dirty="0">
                <a:solidFill>
                  <a:srgbClr val="4A9AE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 Created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response from Web API that signifies a successful request completion. Response includes a </a:t>
            </a:r>
            <a:r>
              <a:rPr lang="en-IN" sz="1800" b="1" dirty="0">
                <a:solidFill>
                  <a:srgbClr val="BB3A3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header with an URI that can be used to retrieve newly created resource.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So, the </a:t>
            </a:r>
            <a:r>
              <a:rPr lang="en-IN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points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about these methods are: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contrast to other methods (Ok,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NotFound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BadRequest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they create a response with status code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a </a:t>
            </a:r>
            <a:r>
              <a:rPr lang="en-IN" sz="1800" b="1" dirty="0">
                <a:solidFill>
                  <a:srgbClr val="BB3A3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header.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 accept an object as the last parameter, this object will be returned as a response body. Usually, it is just the value of newly created resource.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 fontAlgn="base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4B0BC6-E5A3-3EBC-8064-894C5C35B09E}"/>
              </a:ext>
            </a:extLst>
          </p:cNvPr>
          <p:cNvSpPr txBox="1"/>
          <p:nvPr/>
        </p:nvSpPr>
        <p:spPr>
          <a:xfrm>
            <a:off x="364067" y="4514899"/>
            <a:ext cx="10464800" cy="1929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680"/>
              </a:spcBef>
              <a:spcAft>
                <a:spcPts val="800"/>
              </a:spcAft>
            </a:pPr>
            <a:r>
              <a:rPr lang="en-IN" sz="2800" b="1" dirty="0">
                <a:solidFill>
                  <a:srgbClr val="35353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Do I Need Location Header?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a </a:t>
            </a:r>
            <a:r>
              <a:rPr lang="en-IN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convention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to include Location header in 201 Created HTTP response. It is a good practice to follow this convention, however, it is not strictly required because this is only a “SHOULD” in </a:t>
            </a:r>
            <a:r>
              <a:rPr lang="en-IN" sz="1800" u="sng" dirty="0">
                <a:solidFill>
                  <a:srgbClr val="4A9AE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RFC 2616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Another question is do we need to return 201 Created instead of simple 200 OK response. Short answer is - yes, we should return 201 response when a resource is created in case we follow </a:t>
            </a:r>
            <a:r>
              <a:rPr lang="en-IN" sz="1800" u="sng" dirty="0">
                <a:solidFill>
                  <a:srgbClr val="4A9AE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REST architectural style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912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8D6BA92-0E74-3E5C-6AB6-B42E3AB336C5}"/>
              </a:ext>
            </a:extLst>
          </p:cNvPr>
          <p:cNvSpPr txBox="1"/>
          <p:nvPr/>
        </p:nvSpPr>
        <p:spPr>
          <a:xfrm>
            <a:off x="279401" y="160437"/>
            <a:ext cx="11074400" cy="284847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2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HttpPost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4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IActionResult</a:t>
            </a: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CC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400" b="1" dirty="0">
                <a:solidFill>
                  <a:srgbClr val="CB4B1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createdResource</a:t>
            </a: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4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 Id = </a:t>
            </a:r>
            <a:r>
              <a:rPr lang="en-IN" sz="14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Version = </a:t>
            </a:r>
            <a:r>
              <a:rPr lang="en-IN" sz="14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"1.0"</a:t>
            </a: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};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b="1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400" b="1" dirty="0">
                <a:solidFill>
                  <a:srgbClr val="CB4B16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IN" sz="1400" b="1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4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$"https://www.example.com/api/values/</a:t>
            </a: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{createdResource.Id}</a:t>
            </a:r>
            <a:r>
              <a:rPr lang="en-IN" sz="14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?version=</a:t>
            </a: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{createdResource.Version}</a:t>
            </a:r>
            <a:r>
              <a:rPr lang="en-IN" sz="14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4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CC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4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createdResource</a:t>
            </a: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400" b="1" dirty="0">
                <a:solidFill>
                  <a:srgbClr val="657B8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Location: https://www.example.com/api/values/1?version=1.0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8B57B5-7B10-A573-4ED2-039FC45D7F3E}"/>
              </a:ext>
            </a:extLst>
          </p:cNvPr>
          <p:cNvSpPr txBox="1"/>
          <p:nvPr/>
        </p:nvSpPr>
        <p:spPr>
          <a:xfrm>
            <a:off x="97367" y="3429000"/>
            <a:ext cx="11760200" cy="307481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HttpPost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IActionResult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solidFill>
                  <a:srgbClr val="CC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        </a:t>
            </a:r>
            <a:r>
              <a:rPr lang="en-IN" sz="1600" b="1" dirty="0">
                <a:solidFill>
                  <a:srgbClr val="CB4B1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createdResource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 Id = </a:t>
            </a:r>
            <a:r>
              <a:rPr lang="en-IN" sz="16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Version = </a:t>
            </a:r>
            <a:r>
              <a:rPr lang="en-IN" sz="16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"1.0"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};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solidFill>
                  <a:srgbClr val="CC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$"https://www.example.com/api/values/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{createdResource.Id}</a:t>
            </a:r>
            <a:r>
              <a:rPr lang="en-IN" sz="16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?version=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{createdResource.Version}</a:t>
            </a:r>
            <a:r>
              <a:rPr lang="en-IN" sz="16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solidFill>
                  <a:srgbClr val="CC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createdResource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>
                <a:solidFill>
                  <a:srgbClr val="657B8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Location: https://www.example.com/api/values/1?version=1.0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}}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509065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B054D5-D31A-B7BC-58A7-6E2C1B4E2DE5}"/>
              </a:ext>
            </a:extLst>
          </p:cNvPr>
          <p:cNvSpPr txBox="1"/>
          <p:nvPr/>
        </p:nvSpPr>
        <p:spPr>
          <a:xfrm>
            <a:off x="194734" y="982134"/>
            <a:ext cx="11667066" cy="2665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Basically, the main difference between them is how you pass the value of the location header - as </a:t>
            </a:r>
            <a:r>
              <a:rPr lang="en-IN" sz="1600" b="1" dirty="0">
                <a:solidFill>
                  <a:srgbClr val="BB3A3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or </a:t>
            </a:r>
            <a:r>
              <a:rPr lang="en-IN" sz="1600" b="1" dirty="0">
                <a:solidFill>
                  <a:srgbClr val="BB3A3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Important points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about passing location header using these methods: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are responsible for ensuring URI correctness and existence on the server at all times, for example, when we update paths or arguments.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 </a:t>
            </a:r>
            <a:r>
              <a:rPr lang="en-IN" sz="1600" b="1" dirty="0">
                <a:solidFill>
                  <a:srgbClr val="BB3A3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means that value will be returned as is, without any validation.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b="1" dirty="0">
                <a:solidFill>
                  <a:srgbClr val="BB3A3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u="sng" dirty="0">
                <a:solidFill>
                  <a:srgbClr val="4A9AE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helps ensure that the URI format is correct. However, it doesn’t check that this path exists on the server.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 can be either absolute or relative. Examples below use absolute URI.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2DE94-5BD0-C619-09B3-69846EACAA83}"/>
              </a:ext>
            </a:extLst>
          </p:cNvPr>
          <p:cNvSpPr txBox="1"/>
          <p:nvPr/>
        </p:nvSpPr>
        <p:spPr>
          <a:xfrm>
            <a:off x="3852333" y="297934"/>
            <a:ext cx="33274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BB3A3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09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5F5D87-A019-30A7-AB15-F9AFB4499652}"/>
              </a:ext>
            </a:extLst>
          </p:cNvPr>
          <p:cNvSpPr txBox="1"/>
          <p:nvPr/>
        </p:nvSpPr>
        <p:spPr>
          <a:xfrm>
            <a:off x="228599" y="61347"/>
            <a:ext cx="11345333" cy="28007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HttpPost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IActionResult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solidFill>
                  <a:srgbClr val="CC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>
                <a:solidFill>
                  <a:srgbClr val="CB4B1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createdResource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 Id = </a:t>
            </a:r>
            <a:r>
              <a:rPr lang="en-IN" sz="16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Version = </a:t>
            </a:r>
            <a:r>
              <a:rPr lang="en-IN" sz="16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"1.0"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};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>
                <a:solidFill>
                  <a:srgbClr val="CB4B1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actionName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b="1" dirty="0" err="1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nameof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GetValue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 //name of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GetAction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>
                <a:solidFill>
                  <a:srgbClr val="CB4B1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routeValues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 id =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createdResource.Id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version =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createdResource.Version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};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solidFill>
                  <a:srgbClr val="CC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CreatedAtAction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actionName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routeValues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createdResource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>
                <a:solidFill>
                  <a:srgbClr val="657B8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Location: .../</a:t>
            </a:r>
            <a:r>
              <a:rPr lang="en-IN" sz="1600" b="1" dirty="0" err="1">
                <a:solidFill>
                  <a:srgbClr val="657B8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600" b="1" dirty="0">
                <a:solidFill>
                  <a:srgbClr val="657B8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/Values/1?version=1.0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7976DD-34D6-07B2-3AF2-F5AB57BC5F16}"/>
              </a:ext>
            </a:extLst>
          </p:cNvPr>
          <p:cNvSpPr txBox="1"/>
          <p:nvPr/>
        </p:nvSpPr>
        <p:spPr>
          <a:xfrm>
            <a:off x="228599" y="3621788"/>
            <a:ext cx="11167532" cy="25545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IActionResult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solidFill>
                  <a:srgbClr val="CC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>
                <a:solidFill>
                  <a:srgbClr val="CB4B1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createdResource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 Id = </a:t>
            </a:r>
            <a:r>
              <a:rPr lang="en-IN" sz="16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Version = </a:t>
            </a:r>
            <a:r>
              <a:rPr lang="en-IN" sz="16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"1.0"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};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>
                <a:solidFill>
                  <a:srgbClr val="CB4B1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actionName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b="1" dirty="0" err="1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nameof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(ValuesV2Controller.GetValue);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>
                <a:solidFill>
                  <a:srgbClr val="CB4B1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controllerName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"ValuesV2"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>
                <a:solidFill>
                  <a:srgbClr val="CB4B1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routeValues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 id =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createdResource.Id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version =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createdResource.Version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};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solidFill>
                  <a:srgbClr val="CC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CreatedAtAction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actionName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 err="1">
                <a:solidFill>
                  <a:srgbClr val="93A1A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controllerName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routeValues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createdResource</a:t>
            </a: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>
                <a:solidFill>
                  <a:srgbClr val="657B8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Location: .../</a:t>
            </a:r>
            <a:r>
              <a:rPr lang="en-IN" sz="1600" b="1" dirty="0" err="1">
                <a:solidFill>
                  <a:srgbClr val="657B8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600" b="1" dirty="0">
                <a:solidFill>
                  <a:srgbClr val="657B8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/ValuesV2/1?version=1.0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879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032841-41AA-C86D-9964-1236A6563D6A}"/>
              </a:ext>
            </a:extLst>
          </p:cNvPr>
          <p:cNvSpPr txBox="1"/>
          <p:nvPr/>
        </p:nvSpPr>
        <p:spPr>
          <a:xfrm>
            <a:off x="397933" y="160939"/>
            <a:ext cx="6409267" cy="65344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200" b="1" dirty="0">
                <a:solidFill>
                  <a:srgbClr val="CC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Route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b="1" dirty="0" err="1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2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/[controller]"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2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ApiController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b="1" dirty="0" err="1">
                <a:solidFill>
                  <a:srgbClr val="B58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ValuesController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12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ControllerBase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[</a:t>
            </a:r>
            <a:r>
              <a:rPr lang="en-IN" sz="1200" b="1" dirty="0" err="1">
                <a:solidFill>
                  <a:srgbClr val="CC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HttpGet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"{id}"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Name = </a:t>
            </a:r>
            <a:r>
              <a:rPr lang="en-IN" sz="12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b="1" dirty="0" err="1">
                <a:solidFill>
                  <a:srgbClr val="8599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NameForGetValueEndpoint</a:t>
            </a:r>
            <a:r>
              <a:rPr lang="en-IN" sz="12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IActionResult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b="1" dirty="0" err="1">
                <a:solidFill>
                  <a:srgbClr val="CC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GetValue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b="1" dirty="0">
                <a:solidFill>
                  <a:srgbClr val="CB4B1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id, </a:t>
            </a:r>
            <a:r>
              <a:rPr lang="en-IN" sz="1200" b="1" dirty="0">
                <a:solidFill>
                  <a:srgbClr val="CB4B1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version)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200" b="1" dirty="0">
                <a:solidFill>
                  <a:srgbClr val="CB4B1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2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$"Value 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{id}</a:t>
            </a:r>
            <a:r>
              <a:rPr lang="en-IN" sz="12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version 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{version}</a:t>
            </a:r>
            <a:r>
              <a:rPr lang="en-IN" sz="12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2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b="1" dirty="0">
                <a:solidFill>
                  <a:srgbClr val="CC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Ok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[</a:t>
            </a:r>
            <a:r>
              <a:rPr lang="en-IN" sz="12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HttpPost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IActionResult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b="1" dirty="0">
                <a:solidFill>
                  <a:srgbClr val="CC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200" b="1" dirty="0">
                <a:solidFill>
                  <a:srgbClr val="CB4B1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createdResource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2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 Id = </a:t>
            </a:r>
            <a:r>
              <a:rPr lang="en-IN" sz="12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Version = </a:t>
            </a:r>
            <a:r>
              <a:rPr lang="en-IN" sz="12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"1.0"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};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200" b="1" dirty="0">
                <a:solidFill>
                  <a:srgbClr val="CB4B1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routeValues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2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 id = </a:t>
            </a:r>
            <a:r>
              <a:rPr lang="en-IN" sz="12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createdResource.Id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version = </a:t>
            </a:r>
            <a:r>
              <a:rPr lang="en-IN" sz="12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createdResource.Version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};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200" b="1" dirty="0">
                <a:solidFill>
                  <a:srgbClr val="6C71C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b="1" dirty="0" err="1">
                <a:solidFill>
                  <a:srgbClr val="CC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CreatedAtRoute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b="1" dirty="0" err="1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NameForGetValueEndpoint</a:t>
            </a:r>
            <a:r>
              <a:rPr lang="en-IN" sz="1200" b="1" dirty="0">
                <a:solidFill>
                  <a:srgbClr val="8599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routeValues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b="1" dirty="0" err="1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createdResource</a:t>
            </a: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200" b="1" dirty="0">
                <a:solidFill>
                  <a:srgbClr val="657B8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Location: .../</a:t>
            </a:r>
            <a:r>
              <a:rPr lang="en-IN" sz="1200" b="1" dirty="0" err="1">
                <a:solidFill>
                  <a:srgbClr val="657B8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200" b="1" dirty="0">
                <a:solidFill>
                  <a:srgbClr val="657B8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/Values/1?version=1.0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b="1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F5A5F7-520A-8564-2259-0AE68EB84B75}"/>
              </a:ext>
            </a:extLst>
          </p:cNvPr>
          <p:cNvSpPr txBox="1"/>
          <p:nvPr/>
        </p:nvSpPr>
        <p:spPr>
          <a:xfrm>
            <a:off x="6959599" y="-59022"/>
            <a:ext cx="5147734" cy="6917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680"/>
              </a:spcBef>
              <a:spcAft>
                <a:spcPts val="800"/>
              </a:spcAft>
            </a:pPr>
            <a:r>
              <a:rPr lang="en-IN" sz="3600" b="1" dirty="0" err="1">
                <a:solidFill>
                  <a:srgbClr val="35353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CreatedAtRoute</a:t>
            </a:r>
            <a:r>
              <a:rPr lang="en-IN" sz="3600" b="1" dirty="0">
                <a:solidFill>
                  <a:srgbClr val="35353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Explained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my opinion, this method is more interesting and a bit harder to understand than others, but at the end it’s just an another way to specify location header in a 201 Created response.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this case framework might need the following: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b="1" dirty="0" err="1">
                <a:solidFill>
                  <a:srgbClr val="BB3A3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routeName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- name of the route, it could be assigned for a particular action or declared in the Startup class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b="1" dirty="0" err="1">
                <a:solidFill>
                  <a:srgbClr val="BB3A3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routeValues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- info necessary to generate a correct URL, for example, path or query parameters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b="1" dirty="0">
                <a:solidFill>
                  <a:srgbClr val="BB3A3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- same as in other methods, simply content of a response body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Usually, the main source of confusion   is </a:t>
            </a:r>
            <a:r>
              <a:rPr lang="en-IN" sz="1600" b="1" dirty="0" err="1">
                <a:solidFill>
                  <a:srgbClr val="BB3A3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routeName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parameter since we have to set it by ourselves. In the examples we’ll see how to specify a name for a route.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38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962</Words>
  <Application>Microsoft Office PowerPoint</Application>
  <PresentationFormat>Widescreen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Segoe UI</vt:lpstr>
      <vt:lpstr>Symbol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sriram mantri vidyanidhi infotech academy</cp:lastModifiedBy>
  <cp:revision>28</cp:revision>
  <dcterms:created xsi:type="dcterms:W3CDTF">2024-03-22T09:03:42Z</dcterms:created>
  <dcterms:modified xsi:type="dcterms:W3CDTF">2024-11-29T13:45:45Z</dcterms:modified>
</cp:coreProperties>
</file>