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57" r:id="rId4"/>
    <p:sldId id="258" r:id="rId5"/>
    <p:sldId id="259" r:id="rId6"/>
    <p:sldId id="260" r:id="rId7"/>
    <p:sldId id="263" r:id="rId8"/>
    <p:sldId id="262"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8"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C2C59-6457-6995-0F73-AA7BAA7F9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F7DBDB-9EDE-E978-855A-ABB97EB6D7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A6799-4920-C7D2-5B4C-3C84E700FF53}"/>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5" name="Footer Placeholder 4">
            <a:extLst>
              <a:ext uri="{FF2B5EF4-FFF2-40B4-BE49-F238E27FC236}">
                <a16:creationId xmlns:a16="http://schemas.microsoft.com/office/drawing/2014/main" id="{B2656370-4362-1C3F-BF79-9906E8573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A680AB-B8D2-BB91-D935-498CAF776AF7}"/>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138821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D853-A08E-2961-216E-10566FAE5F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6EF0A6-B316-C3CA-BCF9-3D896A790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BB1EC5-00DF-2989-FFBA-CB14DD024F37}"/>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5" name="Footer Placeholder 4">
            <a:extLst>
              <a:ext uri="{FF2B5EF4-FFF2-40B4-BE49-F238E27FC236}">
                <a16:creationId xmlns:a16="http://schemas.microsoft.com/office/drawing/2014/main" id="{0BBDD188-4367-4B26-3696-8E4A99F0D1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405287-064B-B14B-B04B-8007FFC931C8}"/>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1299160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57A10-EA0E-0B99-33B1-F8DA72B2E8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37F388-E447-02AF-C057-DF80E13DEE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7BF54D-2A40-8734-9472-D8DD9D402172}"/>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5" name="Footer Placeholder 4">
            <a:extLst>
              <a:ext uri="{FF2B5EF4-FFF2-40B4-BE49-F238E27FC236}">
                <a16:creationId xmlns:a16="http://schemas.microsoft.com/office/drawing/2014/main" id="{470D7DFF-5B42-6266-0E91-E93233E2D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78587A-050F-04C8-B6CA-12BE0D9EF10C}"/>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2937402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2AA5B-C4D0-3923-03FD-DFB286B7C0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386822-56FC-F97C-4652-03DC0DE28E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382C7C-DCC4-4DFE-C3A9-D348204EE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DBE9F5-3950-E3B7-E58E-54569A56772C}"/>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6" name="Footer Placeholder 5">
            <a:extLst>
              <a:ext uri="{FF2B5EF4-FFF2-40B4-BE49-F238E27FC236}">
                <a16:creationId xmlns:a16="http://schemas.microsoft.com/office/drawing/2014/main" id="{F3C81906-F46C-AC54-6213-04CFD28B07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09ECCD-3924-9DEE-C97B-99429AF6AB2E}"/>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3436433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51FE-628D-5AE0-58CF-52D1786EF2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4A745D-D066-29C0-0A2A-BF89271DF3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398990-7BFB-7C74-2CB4-601C7E9502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E47602-2D52-AC97-CB63-C66D59A17D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27D3D6-561E-85A7-5BF6-1DFE9F0569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53C2CC-5316-02AB-5213-04392ADB7CC2}"/>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8" name="Footer Placeholder 7">
            <a:extLst>
              <a:ext uri="{FF2B5EF4-FFF2-40B4-BE49-F238E27FC236}">
                <a16:creationId xmlns:a16="http://schemas.microsoft.com/office/drawing/2014/main" id="{1C73348C-504A-CDD6-E715-10CCBC66E7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74A333-B68E-38CB-5D54-1AE9F579F33D}"/>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1932758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7BAC4-FD48-7355-D304-845938A4C0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99EC71-3E34-9670-738A-626F1FC0339D}"/>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4" name="Footer Placeholder 3">
            <a:extLst>
              <a:ext uri="{FF2B5EF4-FFF2-40B4-BE49-F238E27FC236}">
                <a16:creationId xmlns:a16="http://schemas.microsoft.com/office/drawing/2014/main" id="{4E450459-3A30-4B0A-FB7A-68ADDD4DE8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4C480E-5EFF-3582-EC3C-BDBAA9C42A04}"/>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698446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20B85C-6F4F-AD12-752F-957D009104DC}"/>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3" name="Footer Placeholder 2">
            <a:extLst>
              <a:ext uri="{FF2B5EF4-FFF2-40B4-BE49-F238E27FC236}">
                <a16:creationId xmlns:a16="http://schemas.microsoft.com/office/drawing/2014/main" id="{66345982-D106-7413-B9F1-7B3FB1D0A2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CB2F8F-D6C3-06DD-4FFD-787CA088216D}"/>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409171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027EC-35C0-E047-4754-E8BDAFA99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92B1B5-2ADF-A1B5-2338-E086C82C43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DECF85-ECCE-150E-712D-34222FEA7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8221E-DED7-F3C6-AE03-597AC7A4AB24}"/>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6" name="Footer Placeholder 5">
            <a:extLst>
              <a:ext uri="{FF2B5EF4-FFF2-40B4-BE49-F238E27FC236}">
                <a16:creationId xmlns:a16="http://schemas.microsoft.com/office/drawing/2014/main" id="{0DADCE2D-8FE3-98CE-06F8-81171153CD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3C08ED-B967-693B-7EDB-3FD37FDBC1AB}"/>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2311976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51DFB-5D2D-9430-6FD3-92CAC62E1B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D36627-D5FB-74E6-8593-75EE87FA3B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17B3AC6-BC7E-8331-89C7-16EE168EF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3C392E-8B10-6AEE-64AA-838E32938DB6}"/>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6" name="Footer Placeholder 5">
            <a:extLst>
              <a:ext uri="{FF2B5EF4-FFF2-40B4-BE49-F238E27FC236}">
                <a16:creationId xmlns:a16="http://schemas.microsoft.com/office/drawing/2014/main" id="{F8675CA5-A92A-BD8A-4319-5BBF904AAF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142B8F-D074-D227-E6F2-B13C8FC536DE}"/>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97502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ED23-0684-FC5C-107C-F064FD2169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FD6FEF-597B-E109-1D88-AC706146E3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765F26-604B-0629-828F-76D066EA54A3}"/>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5" name="Footer Placeholder 4">
            <a:extLst>
              <a:ext uri="{FF2B5EF4-FFF2-40B4-BE49-F238E27FC236}">
                <a16:creationId xmlns:a16="http://schemas.microsoft.com/office/drawing/2014/main" id="{EAF8E937-55A7-5FAD-62B0-0F08238B4F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9EA373-1F4B-0318-CC03-14E3A5352AC0}"/>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1183902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FFAD68-E431-FAD1-CD78-17AFFCEDBE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3C7297-4F62-BAC0-2B30-91BDAAD4A7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5E39C7-F0D6-0E38-5D49-060A78E29234}"/>
              </a:ext>
            </a:extLst>
          </p:cNvPr>
          <p:cNvSpPr>
            <a:spLocks noGrp="1"/>
          </p:cNvSpPr>
          <p:nvPr>
            <p:ph type="dt" sz="half" idx="10"/>
          </p:nvPr>
        </p:nvSpPr>
        <p:spPr/>
        <p:txBody>
          <a:bodyPr/>
          <a:lstStyle/>
          <a:p>
            <a:fld id="{7E502986-EF93-46E7-8D09-0681323898B8}" type="datetimeFigureOut">
              <a:rPr lang="en-IN" smtClean="0"/>
              <a:t>30-11-2024</a:t>
            </a:fld>
            <a:endParaRPr lang="en-IN"/>
          </a:p>
        </p:txBody>
      </p:sp>
      <p:sp>
        <p:nvSpPr>
          <p:cNvPr id="5" name="Footer Placeholder 4">
            <a:extLst>
              <a:ext uri="{FF2B5EF4-FFF2-40B4-BE49-F238E27FC236}">
                <a16:creationId xmlns:a16="http://schemas.microsoft.com/office/drawing/2014/main" id="{71AFA701-03A9-6611-C206-21404EC393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4AEC4-9FD2-0ED6-AEB4-FB5B0225ABA0}"/>
              </a:ext>
            </a:extLst>
          </p:cNvPr>
          <p:cNvSpPr>
            <a:spLocks noGrp="1"/>
          </p:cNvSpPr>
          <p:nvPr>
            <p:ph type="sldNum" sz="quarter" idx="12"/>
          </p:nvPr>
        </p:nvSpPr>
        <p:spPr/>
        <p:txBody>
          <a:bodyPr/>
          <a:lstStyle/>
          <a:p>
            <a:fld id="{634ED7DD-2766-48AB-9455-F89134242AAF}" type="slidenum">
              <a:rPr lang="en-IN" smtClean="0"/>
              <a:t>‹#›</a:t>
            </a:fld>
            <a:endParaRPr lang="en-IN"/>
          </a:p>
        </p:txBody>
      </p:sp>
    </p:spTree>
    <p:extLst>
      <p:ext uri="{BB962C8B-B14F-4D97-AF65-F5344CB8AC3E}">
        <p14:creationId xmlns:p14="http://schemas.microsoft.com/office/powerpoint/2010/main" val="3609975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718D33-31FD-3E51-135C-EDF5F2601C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9F0644-4BFD-A0F5-DD3A-FB3394D34C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B36329-3D2B-64C2-E21E-08A673D81D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502986-EF93-46E7-8D09-0681323898B8}" type="datetimeFigureOut">
              <a:rPr lang="en-IN" smtClean="0"/>
              <a:t>30-11-2024</a:t>
            </a:fld>
            <a:endParaRPr lang="en-IN"/>
          </a:p>
        </p:txBody>
      </p:sp>
      <p:sp>
        <p:nvSpPr>
          <p:cNvPr id="5" name="Footer Placeholder 4">
            <a:extLst>
              <a:ext uri="{FF2B5EF4-FFF2-40B4-BE49-F238E27FC236}">
                <a16:creationId xmlns:a16="http://schemas.microsoft.com/office/drawing/2014/main" id="{AC560969-DAE0-AEE0-0876-8CCC6D9E18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679DBC-4617-2987-A00A-0D4BB951B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4ED7DD-2766-48AB-9455-F89134242AAF}" type="slidenum">
              <a:rPr lang="en-IN" smtClean="0"/>
              <a:t>‹#›</a:t>
            </a:fld>
            <a:endParaRPr lang="en-IN"/>
          </a:p>
        </p:txBody>
      </p:sp>
    </p:spTree>
    <p:extLst>
      <p:ext uri="{BB962C8B-B14F-4D97-AF65-F5344CB8AC3E}">
        <p14:creationId xmlns:p14="http://schemas.microsoft.com/office/powerpoint/2010/main" val="300703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7DF3E4-4357-2E96-FA41-A41F8127E07A}"/>
              </a:ext>
            </a:extLst>
          </p:cNvPr>
          <p:cNvSpPr txBox="1"/>
          <p:nvPr/>
        </p:nvSpPr>
        <p:spPr>
          <a:xfrm>
            <a:off x="94268" y="179110"/>
            <a:ext cx="5222449" cy="369332"/>
          </a:xfrm>
          <a:prstGeom prst="rect">
            <a:avLst/>
          </a:prstGeom>
          <a:noFill/>
        </p:spPr>
        <p:txBody>
          <a:bodyPr wrap="square" rtlCol="0">
            <a:spAutoFit/>
          </a:bodyPr>
          <a:lstStyle/>
          <a:p>
            <a:pPr algn="ctr"/>
            <a:r>
              <a:rPr lang="en-US" b="1" dirty="0"/>
              <a:t>What is repository design pattern</a:t>
            </a:r>
            <a:endParaRPr lang="en-IN" b="1" dirty="0"/>
          </a:p>
        </p:txBody>
      </p:sp>
      <p:sp>
        <p:nvSpPr>
          <p:cNvPr id="5" name="Rectangle 1">
            <a:extLst>
              <a:ext uri="{FF2B5EF4-FFF2-40B4-BE49-F238E27FC236}">
                <a16:creationId xmlns:a16="http://schemas.microsoft.com/office/drawing/2014/main" id="{30E4C36A-E0FA-082F-82EC-63C8242349D9}"/>
              </a:ext>
            </a:extLst>
          </p:cNvPr>
          <p:cNvSpPr>
            <a:spLocks noChangeArrowheads="1"/>
          </p:cNvSpPr>
          <p:nvPr/>
        </p:nvSpPr>
        <p:spPr bwMode="auto">
          <a:xfrm>
            <a:off x="94267" y="941563"/>
            <a:ext cx="5797485" cy="984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6176"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02124"/>
                </a:solidFill>
                <a:effectLst/>
                <a:cs typeface="Arial" panose="020B0604020202020204" pitchFamily="34" charset="0"/>
              </a:rPr>
              <a:t>   </a:t>
            </a:r>
            <a:r>
              <a:rPr kumimoji="0" lang="en-US" altLang="en-US" b="0" i="0" u="none" strike="noStrike" cap="none" normalizeH="0" baseline="0" dirty="0">
                <a:ln>
                  <a:noFill/>
                </a:ln>
                <a:solidFill>
                  <a:srgbClr val="4D5156"/>
                </a:solidFill>
                <a:effectLst/>
                <a:latin typeface="Google Sans"/>
                <a:cs typeface="Arial" panose="020B0604020202020204" pitchFamily="34" charset="0"/>
              </a:rPr>
              <a:t>The Repository pattern is </a:t>
            </a:r>
            <a:r>
              <a:rPr kumimoji="0" lang="en-US" altLang="en-US" b="0" i="0" u="none" strike="noStrike" cap="none" normalizeH="0" baseline="0" dirty="0">
                <a:ln>
                  <a:noFill/>
                </a:ln>
                <a:solidFill>
                  <a:srgbClr val="040C28"/>
                </a:solidFill>
                <a:effectLst/>
                <a:latin typeface="Google Sans"/>
                <a:cs typeface="Arial" panose="020B0604020202020204" pitchFamily="34" charset="0"/>
              </a:rPr>
              <a:t>a Domain-Driven Design pattern intended to keep</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40C28"/>
                </a:solidFill>
                <a:effectLst/>
                <a:latin typeface="Google Sans"/>
                <a:cs typeface="Arial" panose="020B0604020202020204" pitchFamily="34" charset="0"/>
              </a:rPr>
              <a:t> persistence concerns outside of the system's domain mode</a:t>
            </a:r>
            <a:endParaRPr kumimoji="0" lang="en-US" altLang="en-US" sz="14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CB7C35A3-8D8D-670C-A3F9-62C46C522A8B}"/>
              </a:ext>
            </a:extLst>
          </p:cNvPr>
          <p:cNvPicPr>
            <a:picLocks noChangeAspect="1"/>
          </p:cNvPicPr>
          <p:nvPr/>
        </p:nvPicPr>
        <p:blipFill>
          <a:blip r:embed="rId2"/>
          <a:stretch>
            <a:fillRect/>
          </a:stretch>
        </p:blipFill>
        <p:spPr>
          <a:xfrm>
            <a:off x="5891752" y="1433981"/>
            <a:ext cx="6037163" cy="4636302"/>
          </a:xfrm>
          <a:prstGeom prst="rect">
            <a:avLst/>
          </a:prstGeom>
        </p:spPr>
      </p:pic>
      <p:sp>
        <p:nvSpPr>
          <p:cNvPr id="8" name="TextBox 7">
            <a:extLst>
              <a:ext uri="{FF2B5EF4-FFF2-40B4-BE49-F238E27FC236}">
                <a16:creationId xmlns:a16="http://schemas.microsoft.com/office/drawing/2014/main" id="{3A270397-B9C6-7C19-9F25-F2828BDCFD68}"/>
              </a:ext>
            </a:extLst>
          </p:cNvPr>
          <p:cNvSpPr txBox="1"/>
          <p:nvPr/>
        </p:nvSpPr>
        <p:spPr>
          <a:xfrm>
            <a:off x="247454" y="2604423"/>
            <a:ext cx="5178105" cy="2585323"/>
          </a:xfrm>
          <a:prstGeom prst="rect">
            <a:avLst/>
          </a:prstGeom>
          <a:noFill/>
        </p:spPr>
        <p:txBody>
          <a:bodyPr wrap="square">
            <a:spAutoFit/>
          </a:bodyPr>
          <a:lstStyle/>
          <a:p>
            <a:pPr algn="l"/>
            <a:r>
              <a:rPr lang="en-US" b="1" i="0" dirty="0">
                <a:solidFill>
                  <a:srgbClr val="202124"/>
                </a:solidFill>
                <a:effectLst/>
                <a:latin typeface="Google Sans"/>
              </a:rPr>
              <a:t>What is the function of repository pattern?</a:t>
            </a:r>
          </a:p>
          <a:p>
            <a:pPr algn="l"/>
            <a:endParaRPr lang="en-US" b="1" i="0" dirty="0">
              <a:solidFill>
                <a:srgbClr val="202124"/>
              </a:solidFill>
              <a:effectLst/>
              <a:latin typeface="arial" panose="020B0604020202020204" pitchFamily="34" charset="0"/>
            </a:endParaRPr>
          </a:p>
          <a:p>
            <a:pPr algn="l"/>
            <a:r>
              <a:rPr lang="en-US" b="0" i="0" dirty="0">
                <a:solidFill>
                  <a:srgbClr val="4D5156"/>
                </a:solidFill>
                <a:effectLst/>
                <a:latin typeface="Google Sans"/>
              </a:rPr>
              <a:t>The repository pattern is a design pattern that </a:t>
            </a:r>
            <a:r>
              <a:rPr lang="en-US" b="0" i="0" dirty="0">
                <a:solidFill>
                  <a:srgbClr val="040C28"/>
                </a:solidFill>
                <a:effectLst/>
                <a:latin typeface="Google Sans"/>
              </a:rPr>
              <a:t>isolates the data layer from the rest of the app</a:t>
            </a:r>
            <a:r>
              <a:rPr lang="en-US" b="0" i="0" dirty="0">
                <a:solidFill>
                  <a:srgbClr val="4D5156"/>
                </a:solidFill>
                <a:effectLst/>
                <a:latin typeface="Google Sans"/>
              </a:rPr>
              <a:t>. </a:t>
            </a:r>
          </a:p>
          <a:p>
            <a:pPr algn="l"/>
            <a:endParaRPr lang="en-US" dirty="0">
              <a:solidFill>
                <a:srgbClr val="4D5156"/>
              </a:solidFill>
              <a:latin typeface="Google Sans"/>
            </a:endParaRPr>
          </a:p>
          <a:p>
            <a:pPr algn="l"/>
            <a:r>
              <a:rPr lang="en-US" b="0" i="0" dirty="0">
                <a:solidFill>
                  <a:srgbClr val="4D5156"/>
                </a:solidFill>
                <a:effectLst/>
                <a:latin typeface="Google Sans"/>
              </a:rPr>
              <a:t>The data layer refers to the part of your app, separate from the UI, that handles the app's data and business logic, exposing consistent APIs for the rest of your app to access this data.</a:t>
            </a:r>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474668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0D4169-86AF-1600-DD59-60FF5A696552}"/>
              </a:ext>
            </a:extLst>
          </p:cNvPr>
          <p:cNvPicPr>
            <a:picLocks noChangeAspect="1"/>
          </p:cNvPicPr>
          <p:nvPr/>
        </p:nvPicPr>
        <p:blipFill rotWithShape="1">
          <a:blip r:embed="rId2"/>
          <a:srcRect l="4868" r="1" b="23161"/>
          <a:stretch/>
        </p:blipFill>
        <p:spPr>
          <a:xfrm>
            <a:off x="240333" y="152164"/>
            <a:ext cx="6343113" cy="2881984"/>
          </a:xfrm>
          <a:prstGeom prst="rect">
            <a:avLst/>
          </a:prstGeom>
        </p:spPr>
      </p:pic>
      <p:sp>
        <p:nvSpPr>
          <p:cNvPr id="6" name="TextBox 5">
            <a:extLst>
              <a:ext uri="{FF2B5EF4-FFF2-40B4-BE49-F238E27FC236}">
                <a16:creationId xmlns:a16="http://schemas.microsoft.com/office/drawing/2014/main" id="{C2032C25-E90F-E980-5686-B3698389945D}"/>
              </a:ext>
            </a:extLst>
          </p:cNvPr>
          <p:cNvSpPr txBox="1"/>
          <p:nvPr/>
        </p:nvSpPr>
        <p:spPr>
          <a:xfrm>
            <a:off x="3260957" y="-47891"/>
            <a:ext cx="9728462" cy="400110"/>
          </a:xfrm>
          <a:prstGeom prst="rect">
            <a:avLst/>
          </a:prstGeom>
          <a:noFill/>
        </p:spPr>
        <p:txBody>
          <a:bodyPr wrap="square" rtlCol="0">
            <a:spAutoFit/>
          </a:bodyPr>
          <a:lstStyle/>
          <a:p>
            <a:pPr algn="ctr"/>
            <a:r>
              <a:rPr lang="en-US" sz="2000" b="1" dirty="0"/>
              <a:t>Down Load All dependency</a:t>
            </a:r>
            <a:endParaRPr lang="en-IN" sz="2000" b="1" dirty="0"/>
          </a:p>
        </p:txBody>
      </p:sp>
      <p:sp>
        <p:nvSpPr>
          <p:cNvPr id="4" name="TextBox 3">
            <a:extLst>
              <a:ext uri="{FF2B5EF4-FFF2-40B4-BE49-F238E27FC236}">
                <a16:creationId xmlns:a16="http://schemas.microsoft.com/office/drawing/2014/main" id="{A511C312-BAA4-4258-8D63-F3A775ECC65E}"/>
              </a:ext>
            </a:extLst>
          </p:cNvPr>
          <p:cNvSpPr txBox="1"/>
          <p:nvPr/>
        </p:nvSpPr>
        <p:spPr>
          <a:xfrm>
            <a:off x="70701" y="3068263"/>
            <a:ext cx="8686800" cy="3539430"/>
          </a:xfrm>
          <a:prstGeom prst="rect">
            <a:avLst/>
          </a:prstGeom>
          <a:noFill/>
        </p:spPr>
        <p:txBody>
          <a:bodyPr wrap="square">
            <a:spAutoFit/>
          </a:bodyPr>
          <a:lstStyle/>
          <a:p>
            <a:pPr>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Microsoft.VisualStudio.Web.CodeGeneration.Design</a:t>
            </a:r>
            <a:r>
              <a:rPr lang="en-IN" sz="1600" b="1" dirty="0">
                <a:solidFill>
                  <a:srgbClr val="3D3D3D"/>
                </a:solidFill>
                <a:latin typeface="Open Sans"/>
              </a:rPr>
              <a:t> -Version 7.0.0</a:t>
            </a:r>
          </a:p>
          <a:p>
            <a:pPr>
              <a:buFont typeface="Arial" panose="020B0604020202020204" pitchFamily="34" charset="0"/>
              <a:buChar char="•"/>
              <a:defRPr/>
            </a:pPr>
            <a:endParaRPr lang="en-IN" sz="1600" dirty="0">
              <a:solidFill>
                <a:srgbClr val="3D3D3D"/>
              </a:solidFill>
              <a:latin typeface="Open Sans"/>
            </a:endParaRPr>
          </a:p>
          <a:p>
            <a:pPr>
              <a:defRPr/>
            </a:pPr>
            <a:r>
              <a:rPr lang="en-IN" sz="1600" dirty="0">
                <a:solidFill>
                  <a:srgbClr val="3D3D3D"/>
                </a:solidFill>
                <a:latin typeface="Open Sans"/>
              </a:rPr>
              <a:t>This package helps create database context and model classes from the database.</a:t>
            </a:r>
          </a:p>
          <a:p>
            <a:pPr>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Microsoft.EntityFrameworkCore.Tools</a:t>
            </a:r>
            <a:r>
              <a:rPr lang="en-IN" sz="1600" b="1" dirty="0">
                <a:solidFill>
                  <a:srgbClr val="3D3D3D"/>
                </a:solidFill>
                <a:latin typeface="Open Sans"/>
              </a:rPr>
              <a:t> -Version 7.0.0</a:t>
            </a:r>
            <a:endParaRPr lang="en-IN" sz="1600" dirty="0">
              <a:solidFill>
                <a:srgbClr val="3D3D3D"/>
              </a:solidFill>
              <a:latin typeface="Open Sans"/>
            </a:endParaRPr>
          </a:p>
          <a:p>
            <a:pPr>
              <a:defRPr/>
            </a:pPr>
            <a:endParaRPr lang="en-IN" sz="1600" dirty="0">
              <a:solidFill>
                <a:srgbClr val="3D3D3D"/>
              </a:solidFill>
              <a:latin typeface="Open Sans"/>
            </a:endParaRPr>
          </a:p>
          <a:p>
            <a:pPr>
              <a:defRPr/>
            </a:pPr>
            <a:r>
              <a:rPr lang="en-IN" sz="1600" dirty="0">
                <a:solidFill>
                  <a:srgbClr val="3D3D3D"/>
                </a:solidFill>
                <a:latin typeface="Open Sans"/>
              </a:rPr>
              <a:t>Database provider allows Entity Framework Core to work with SQL Server.</a:t>
            </a:r>
          </a:p>
          <a:p>
            <a:pPr>
              <a:buFont typeface="Arial" panose="020B0604020202020204" pitchFamily="34" charset="0"/>
              <a:buChar char="•"/>
              <a:defRPr/>
            </a:pPr>
            <a:r>
              <a:rPr lang="en-IN" sz="1600" b="1" dirty="0">
                <a:solidFill>
                  <a:srgbClr val="3D3D3D"/>
                </a:solidFill>
                <a:latin typeface="Open Sans"/>
              </a:rPr>
              <a:t>Install-Package Microsoft.EntityFrameworkCore.SqlServer -Version 7.0.0</a:t>
            </a:r>
            <a:endParaRPr lang="en-IN" sz="1600" dirty="0">
              <a:solidFill>
                <a:srgbClr val="3D3D3D"/>
              </a:solidFill>
              <a:latin typeface="Open Sans"/>
            </a:endParaRPr>
          </a:p>
          <a:p>
            <a:pPr>
              <a:defRPr/>
            </a:pPr>
            <a:endParaRPr lang="en-IN" sz="1600" dirty="0">
              <a:solidFill>
                <a:srgbClr val="3D3D3D"/>
              </a:solidFill>
              <a:latin typeface="Open Sans"/>
            </a:endParaRPr>
          </a:p>
          <a:p>
            <a:pPr>
              <a:defRPr/>
            </a:pPr>
            <a:r>
              <a:rPr lang="en-IN" sz="1600" dirty="0">
                <a:solidFill>
                  <a:srgbClr val="3D3D3D"/>
                </a:solidFill>
                <a:latin typeface="Open Sans"/>
              </a:rPr>
              <a:t>It provides support for creating and validating a JWT token.</a:t>
            </a:r>
          </a:p>
          <a:p>
            <a:pPr>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System.IdentityModel.Tokens.Jwt</a:t>
            </a:r>
            <a:r>
              <a:rPr lang="en-IN" sz="1600" dirty="0">
                <a:solidFill>
                  <a:srgbClr val="3D3D3D"/>
                </a:solidFill>
                <a:latin typeface="Open Sans"/>
              </a:rPr>
              <a:t> </a:t>
            </a:r>
            <a:r>
              <a:rPr lang="en-IN" sz="1600" b="1" dirty="0">
                <a:solidFill>
                  <a:srgbClr val="3D3D3D"/>
                </a:solidFill>
                <a:latin typeface="Open Sans"/>
              </a:rPr>
              <a:t>-Version 7.0.0</a:t>
            </a:r>
            <a:endParaRPr lang="en-IN" sz="1600" dirty="0">
              <a:solidFill>
                <a:srgbClr val="3D3D3D"/>
              </a:solidFill>
              <a:latin typeface="Open Sans"/>
            </a:endParaRPr>
          </a:p>
          <a:p>
            <a:pPr>
              <a:defRPr/>
            </a:pPr>
            <a:endParaRPr lang="en-IN" sz="1600" dirty="0">
              <a:solidFill>
                <a:srgbClr val="3D3D3D"/>
              </a:solidFill>
              <a:latin typeface="Open Sans"/>
            </a:endParaRPr>
          </a:p>
          <a:p>
            <a:pPr>
              <a:defRPr/>
            </a:pPr>
            <a:r>
              <a:rPr lang="en-IN" sz="1600" dirty="0">
                <a:solidFill>
                  <a:srgbClr val="3D3D3D"/>
                </a:solidFill>
                <a:latin typeface="Open Sans"/>
              </a:rPr>
              <a:t>This is the middleware that enables an ASP.NET Core application to receive a bearer token in the request pipeline.</a:t>
            </a:r>
          </a:p>
          <a:p>
            <a:pPr>
              <a:buFont typeface="Arial" panose="020B0604020202020204" pitchFamily="34" charset="0"/>
              <a:buChar char="•"/>
              <a:defRPr/>
            </a:pPr>
            <a:r>
              <a:rPr lang="en-IN" sz="1600" b="1" dirty="0">
                <a:solidFill>
                  <a:srgbClr val="3D3D3D"/>
                </a:solidFill>
                <a:latin typeface="Open Sans"/>
              </a:rPr>
              <a:t>Install-Package </a:t>
            </a:r>
            <a:r>
              <a:rPr lang="en-IN" sz="1600" b="1" dirty="0" err="1">
                <a:solidFill>
                  <a:srgbClr val="3D3D3D"/>
                </a:solidFill>
                <a:latin typeface="Open Sans"/>
              </a:rPr>
              <a:t>Microsoft.AspNetCore.Authentication.JwtBearer</a:t>
            </a:r>
            <a:r>
              <a:rPr lang="en-IN" sz="1600" b="1" dirty="0">
                <a:solidFill>
                  <a:srgbClr val="3D3D3D"/>
                </a:solidFill>
                <a:latin typeface="Open Sans"/>
              </a:rPr>
              <a:t> -Version 7.0.0</a:t>
            </a:r>
            <a:endParaRPr lang="en-IN" sz="1600" dirty="0">
              <a:solidFill>
                <a:srgbClr val="3D3D3D"/>
              </a:solidFill>
              <a:latin typeface="Open Sans"/>
            </a:endParaRPr>
          </a:p>
        </p:txBody>
      </p:sp>
      <p:sp>
        <p:nvSpPr>
          <p:cNvPr id="3" name="TextBox 2">
            <a:extLst>
              <a:ext uri="{FF2B5EF4-FFF2-40B4-BE49-F238E27FC236}">
                <a16:creationId xmlns:a16="http://schemas.microsoft.com/office/drawing/2014/main" id="{E4E6CD1B-1823-756F-329F-0382A1D87465}"/>
              </a:ext>
            </a:extLst>
          </p:cNvPr>
          <p:cNvSpPr txBox="1"/>
          <p:nvPr/>
        </p:nvSpPr>
        <p:spPr>
          <a:xfrm>
            <a:off x="7308131" y="1773223"/>
            <a:ext cx="438110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b="1" i="0" dirty="0" err="1">
                <a:solidFill>
                  <a:srgbClr val="444444"/>
                </a:solidFill>
                <a:effectLst/>
                <a:latin typeface="Roboto" panose="02000000000000000000" pitchFamily="2" charset="0"/>
              </a:rPr>
              <a:t>MySql.Data.EntityFrameworkCore</a:t>
            </a:r>
            <a:r>
              <a:rPr lang="en-IN" b="0" i="0" dirty="0">
                <a:solidFill>
                  <a:srgbClr val="444444"/>
                </a:solidFill>
                <a:effectLst/>
                <a:latin typeface="Roboto" panose="02000000000000000000" pitchFamily="2" charset="0"/>
              </a:rPr>
              <a:t> </a:t>
            </a:r>
            <a:endParaRPr lang="en-IN" dirty="0"/>
          </a:p>
        </p:txBody>
      </p:sp>
      <p:cxnSp>
        <p:nvCxnSpPr>
          <p:cNvPr id="7" name="Straight Arrow Connector 6">
            <a:extLst>
              <a:ext uri="{FF2B5EF4-FFF2-40B4-BE49-F238E27FC236}">
                <a16:creationId xmlns:a16="http://schemas.microsoft.com/office/drawing/2014/main" id="{EBF55DE0-5B3F-64D8-C7A9-0F50C88270FC}"/>
              </a:ext>
            </a:extLst>
          </p:cNvPr>
          <p:cNvCxnSpPr/>
          <p:nvPr/>
        </p:nvCxnSpPr>
        <p:spPr>
          <a:xfrm>
            <a:off x="8757501" y="2142555"/>
            <a:ext cx="820132" cy="430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C1E9441-F7FC-62DF-6078-429122D72526}"/>
              </a:ext>
            </a:extLst>
          </p:cNvPr>
          <p:cNvSpPr txBox="1"/>
          <p:nvPr/>
        </p:nvSpPr>
        <p:spPr>
          <a:xfrm>
            <a:off x="9822730" y="2271860"/>
            <a:ext cx="1583703"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If you want to use </a:t>
            </a:r>
            <a:r>
              <a:rPr lang="en-US" dirty="0" err="1"/>
              <a:t>MySql</a:t>
            </a:r>
            <a:r>
              <a:rPr lang="en-US" dirty="0"/>
              <a:t> database</a:t>
            </a:r>
            <a:endParaRPr lang="en-IN" dirty="0"/>
          </a:p>
        </p:txBody>
      </p:sp>
    </p:spTree>
    <p:extLst>
      <p:ext uri="{BB962C8B-B14F-4D97-AF65-F5344CB8AC3E}">
        <p14:creationId xmlns:p14="http://schemas.microsoft.com/office/powerpoint/2010/main" val="16204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762196-839B-F9E9-7786-C76412B673C7}"/>
              </a:ext>
            </a:extLst>
          </p:cNvPr>
          <p:cNvSpPr txBox="1"/>
          <p:nvPr/>
        </p:nvSpPr>
        <p:spPr>
          <a:xfrm>
            <a:off x="115478" y="196054"/>
            <a:ext cx="4701619" cy="212365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WebApplication1.Models</a:t>
            </a: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Name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Email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Department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017D69D8-BC87-8350-A6E0-D19A67712FCE}"/>
              </a:ext>
            </a:extLst>
          </p:cNvPr>
          <p:cNvSpPr txBox="1"/>
          <p:nvPr/>
        </p:nvSpPr>
        <p:spPr>
          <a:xfrm>
            <a:off x="5224806" y="196054"/>
            <a:ext cx="6851715" cy="230832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WebApplication1.Models</a:t>
            </a: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interface</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IEmployeeRepository</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Task&lt;</a:t>
            </a:r>
            <a:r>
              <a:rPr lang="en-US" sz="1200" dirty="0" err="1">
                <a:solidFill>
                  <a:srgbClr val="000000"/>
                </a:solidFill>
                <a:latin typeface="Cascadia Mono" panose="020B0609020000020004" pitchFamily="49" charset="0"/>
              </a:rPr>
              <a:t>ActionResult</a:t>
            </a:r>
            <a:r>
              <a:rPr lang="en-US" sz="1200" dirty="0">
                <a:solidFill>
                  <a:srgbClr val="000000"/>
                </a:solidFill>
                <a:latin typeface="Cascadia Mono" panose="020B0609020000020004" pitchFamily="49" charset="0"/>
              </a:rPr>
              <a:t>&lt;Employee&gt;?&gt; </a:t>
            </a:r>
            <a:r>
              <a:rPr lang="en-US" sz="1200" dirty="0" err="1">
                <a:solidFill>
                  <a:srgbClr val="000000"/>
                </a:solidFill>
                <a:latin typeface="Cascadia Mono" panose="020B0609020000020004" pitchFamily="49" charset="0"/>
              </a:rPr>
              <a:t>GetEmployee</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a:t>
            </a:r>
          </a:p>
          <a:p>
            <a:r>
              <a:rPr lang="en-US" sz="1200" dirty="0">
                <a:solidFill>
                  <a:srgbClr val="000000"/>
                </a:solidFill>
                <a:latin typeface="Cascadia Mono" panose="020B0609020000020004" pitchFamily="49" charset="0"/>
              </a:rPr>
              <a:t>        Task&lt;</a:t>
            </a:r>
            <a:r>
              <a:rPr lang="en-US" sz="1200" dirty="0" err="1">
                <a:solidFill>
                  <a:srgbClr val="000000"/>
                </a:solidFill>
                <a:latin typeface="Cascadia Mono" panose="020B0609020000020004" pitchFamily="49" charset="0"/>
              </a:rPr>
              <a:t>ActionResult</a:t>
            </a:r>
            <a:r>
              <a:rPr lang="en-US" sz="1200" dirty="0">
                <a:solidFill>
                  <a:srgbClr val="000000"/>
                </a:solidFill>
                <a:latin typeface="Cascadia Mono" panose="020B0609020000020004" pitchFamily="49" charset="0"/>
              </a:rPr>
              <a:t>&lt;</a:t>
            </a:r>
            <a:r>
              <a:rPr lang="en-US" sz="1200" dirty="0" err="1">
                <a:solidFill>
                  <a:srgbClr val="000000"/>
                </a:solidFill>
                <a:latin typeface="Cascadia Mono" panose="020B0609020000020004" pitchFamily="49" charset="0"/>
              </a:rPr>
              <a:t>IEnumerable</a:t>
            </a:r>
            <a:r>
              <a:rPr lang="en-US" sz="1200" dirty="0">
                <a:solidFill>
                  <a:srgbClr val="000000"/>
                </a:solidFill>
                <a:latin typeface="Cascadia Mono" panose="020B0609020000020004" pitchFamily="49" charset="0"/>
              </a:rPr>
              <a:t>&lt;Employee&gt;&gt;&gt; </a:t>
            </a:r>
            <a:r>
              <a:rPr lang="en-US" sz="1200" dirty="0" err="1">
                <a:solidFill>
                  <a:srgbClr val="000000"/>
                </a:solidFill>
                <a:latin typeface="Cascadia Mono" panose="020B0609020000020004" pitchFamily="49" charset="0"/>
              </a:rPr>
              <a:t>GetAllEmployee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Task&lt;</a:t>
            </a:r>
            <a:r>
              <a:rPr lang="en-US" sz="1200" dirty="0" err="1">
                <a:solidFill>
                  <a:srgbClr val="000000"/>
                </a:solidFill>
                <a:latin typeface="Cascadia Mono" panose="020B0609020000020004" pitchFamily="49" charset="0"/>
              </a:rPr>
              <a:t>ActionResult</a:t>
            </a:r>
            <a:r>
              <a:rPr lang="en-US" sz="1200" dirty="0">
                <a:solidFill>
                  <a:srgbClr val="000000"/>
                </a:solidFill>
                <a:latin typeface="Cascadia Mono" panose="020B0609020000020004" pitchFamily="49" charset="0"/>
              </a:rPr>
              <a:t>&lt;Employee&gt;&gt; Add(Employee employee);</a:t>
            </a:r>
          </a:p>
          <a:p>
            <a:r>
              <a:rPr lang="en-US" sz="1200" dirty="0">
                <a:solidFill>
                  <a:srgbClr val="000000"/>
                </a:solidFill>
                <a:latin typeface="Cascadia Mono" panose="020B0609020000020004" pitchFamily="49" charset="0"/>
              </a:rPr>
              <a:t>        Task&lt;Employee&gt; Update(</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id,Employee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employeeChanges</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Task&lt;Employee&gt; Delete(</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p:txBody>
      </p:sp>
      <p:sp>
        <p:nvSpPr>
          <p:cNvPr id="9" name="TextBox 8">
            <a:extLst>
              <a:ext uri="{FF2B5EF4-FFF2-40B4-BE49-F238E27FC236}">
                <a16:creationId xmlns:a16="http://schemas.microsoft.com/office/drawing/2014/main" id="{CC60899A-EE88-F1DC-D183-B042F6A918AA}"/>
              </a:ext>
            </a:extLst>
          </p:cNvPr>
          <p:cNvSpPr txBox="1"/>
          <p:nvPr/>
        </p:nvSpPr>
        <p:spPr>
          <a:xfrm>
            <a:off x="115479" y="2364462"/>
            <a:ext cx="6643540" cy="4493538"/>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System.Collections.Generic</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Microsoft.EntityFrameworkCore</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WebApplication1.Models</a:t>
            </a: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Appdbcontext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DbContext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endParaRPr lang="fr-FR" sz="1100" dirty="0">
              <a:solidFill>
                <a:srgbClr val="0000FF"/>
              </a:solidFill>
              <a:latin typeface="Cascadia Mono" panose="020B0609020000020004" pitchFamily="49" charset="0"/>
            </a:endParaRPr>
          </a:p>
          <a:p>
            <a:r>
              <a:rPr lang="fr-FR" sz="1100" dirty="0">
                <a:solidFill>
                  <a:srgbClr val="0000FF"/>
                </a:solidFill>
                <a:latin typeface="Cascadia Mono" panose="020B0609020000020004" pitchFamily="49" charset="0"/>
              </a:rPr>
              <a:t>	public</a:t>
            </a:r>
            <a:r>
              <a:rPr lang="fr-FR" sz="1100" dirty="0">
                <a:solidFill>
                  <a:srgbClr val="000000"/>
                </a:solidFill>
                <a:latin typeface="Cascadia Mono" panose="020B0609020000020004" pitchFamily="49" charset="0"/>
              </a:rPr>
              <a:t> </a:t>
            </a:r>
            <a:r>
              <a:rPr lang="fr-FR" sz="1100" dirty="0" err="1">
                <a:solidFill>
                  <a:srgbClr val="2B91AF"/>
                </a:solidFill>
                <a:latin typeface="Cascadia Mono" panose="020B0609020000020004" pitchFamily="49" charset="0"/>
              </a:rPr>
              <a:t>Appdbcontext</a:t>
            </a:r>
            <a:r>
              <a:rPr lang="fr-FR" sz="1100" dirty="0">
                <a:solidFill>
                  <a:srgbClr val="000000"/>
                </a:solidFill>
                <a:latin typeface="Cascadia Mono" panose="020B0609020000020004" pitchFamily="49" charset="0"/>
              </a:rPr>
              <a:t>(</a:t>
            </a:r>
            <a:r>
              <a:rPr lang="fr-FR" sz="1100" dirty="0" err="1">
                <a:solidFill>
                  <a:srgbClr val="000000"/>
                </a:solidFill>
                <a:latin typeface="Cascadia Mono" panose="020B0609020000020004" pitchFamily="49" charset="0"/>
              </a:rPr>
              <a:t>DbContextOptions</a:t>
            </a:r>
            <a:r>
              <a:rPr lang="fr-FR" sz="1100" dirty="0">
                <a:solidFill>
                  <a:srgbClr val="000000"/>
                </a:solidFill>
                <a:latin typeface="Cascadia Mono" panose="020B0609020000020004" pitchFamily="49" charset="0"/>
              </a:rPr>
              <a:t>&lt;</a:t>
            </a:r>
            <a:r>
              <a:rPr lang="fr-FR" sz="1100" dirty="0" err="1">
                <a:solidFill>
                  <a:srgbClr val="000000"/>
                </a:solidFill>
                <a:latin typeface="Cascadia Mono" panose="020B0609020000020004" pitchFamily="49" charset="0"/>
              </a:rPr>
              <a:t>Appdbcontext</a:t>
            </a:r>
            <a:r>
              <a:rPr lang="fr-FR" sz="1100" dirty="0">
                <a:solidFill>
                  <a:srgbClr val="000000"/>
                </a:solidFill>
                <a:latin typeface="Cascadia Mono" panose="020B0609020000020004" pitchFamily="49" charset="0"/>
              </a:rPr>
              <a:t>&gt; options)</a:t>
            </a:r>
          </a:p>
          <a:p>
            <a:r>
              <a:rPr lang="en-IN" sz="1100" dirty="0">
                <a:solidFill>
                  <a:srgbClr val="000000"/>
                </a:solidFill>
                <a:latin typeface="Cascadia Mono" panose="020B0609020000020004" pitchFamily="49" charset="0"/>
              </a:rPr>
              <a:t>             : </a:t>
            </a:r>
            <a:r>
              <a:rPr lang="en-IN" sz="1100" dirty="0">
                <a:solidFill>
                  <a:srgbClr val="0000FF"/>
                </a:solidFill>
                <a:latin typeface="Cascadia Mono" panose="020B0609020000020004" pitchFamily="49" charset="0"/>
              </a:rPr>
              <a:t>base</a:t>
            </a:r>
            <a:r>
              <a:rPr lang="en-IN" sz="1100" dirty="0">
                <a:solidFill>
                  <a:srgbClr val="000000"/>
                </a:solidFill>
                <a:latin typeface="Cascadia Mono" panose="020B0609020000020004" pitchFamily="49" charset="0"/>
              </a:rPr>
              <a:t>(options)</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protected</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override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OnConfiguring</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DbContextOptionsBuilder</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optionsBuilder</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optionsBuilder.IsConfigured</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optionsBuilder.UseSqlServer</a:t>
            </a:r>
            <a:r>
              <a:rPr lang="en-US" sz="1100" dirty="0">
                <a:solidFill>
                  <a:srgbClr val="000000"/>
                </a:solidFill>
                <a:latin typeface="Cascadia Mono" panose="020B0609020000020004" pitchFamily="49" charset="0"/>
              </a:rPr>
              <a:t>(</a:t>
            </a:r>
            <a:r>
              <a:rPr lang="en-US" sz="1100" dirty="0">
                <a:solidFill>
                  <a:srgbClr val="800000"/>
                </a:solidFill>
                <a:latin typeface="Cascadia Mono" panose="020B0609020000020004" pitchFamily="49" charset="0"/>
              </a:rPr>
              <a:t>@"Data Source=(</a:t>
            </a:r>
            <a:r>
              <a:rPr lang="en-US" sz="1100" dirty="0" err="1">
                <a:solidFill>
                  <a:srgbClr val="800000"/>
                </a:solidFill>
                <a:latin typeface="Cascadia Mono" panose="020B0609020000020004" pitchFamily="49" charset="0"/>
              </a:rPr>
              <a:t>localdb</a:t>
            </a:r>
            <a:r>
              <a:rPr lang="en-US" sz="1100" dirty="0">
                <a:solidFill>
                  <a:srgbClr val="800000"/>
                </a:solidFill>
                <a:latin typeface="Cascadia Mono" panose="020B0609020000020004" pitchFamily="49" charset="0"/>
              </a:rPr>
              <a:t>)\</a:t>
            </a:r>
            <a:r>
              <a:rPr lang="en-US" sz="1100" dirty="0" err="1">
                <a:solidFill>
                  <a:srgbClr val="800000"/>
                </a:solidFill>
                <a:latin typeface="Cascadia Mono" panose="020B0609020000020004" pitchFamily="49" charset="0"/>
              </a:rPr>
              <a:t>ProjectModels;Initial</a:t>
            </a:r>
            <a:r>
              <a:rPr lang="en-US" sz="1100" dirty="0">
                <a:solidFill>
                  <a:srgbClr val="800000"/>
                </a:solidFill>
                <a:latin typeface="Cascadia Mono" panose="020B0609020000020004" pitchFamily="49" charset="0"/>
              </a:rPr>
              <a:t> Catalog=</a:t>
            </a:r>
            <a:r>
              <a:rPr lang="en-US" sz="1100" dirty="0" err="1">
                <a:solidFill>
                  <a:srgbClr val="800000"/>
                </a:solidFill>
                <a:latin typeface="Cascadia Mono" panose="020B0609020000020004" pitchFamily="49" charset="0"/>
              </a:rPr>
              <a:t>DemoData;Integrated</a:t>
            </a:r>
            <a:r>
              <a:rPr lang="en-US" sz="1100" dirty="0">
                <a:solidFill>
                  <a:srgbClr val="800000"/>
                </a:solidFill>
                <a:latin typeface="Cascadia Mono" panose="020B0609020000020004" pitchFamily="49" charset="0"/>
              </a:rPr>
              <a:t> Security=True"</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DbSet</a:t>
            </a:r>
            <a:r>
              <a:rPr lang="en-US" sz="1100" dirty="0">
                <a:solidFill>
                  <a:srgbClr val="000000"/>
                </a:solidFill>
                <a:latin typeface="Cascadia Mono" panose="020B0609020000020004" pitchFamily="49" charset="0"/>
              </a:rPr>
              <a:t>&lt;Employee&gt; Employees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p:txBody>
      </p:sp>
      <p:sp>
        <p:nvSpPr>
          <p:cNvPr id="11" name="TextBox 10">
            <a:extLst>
              <a:ext uri="{FF2B5EF4-FFF2-40B4-BE49-F238E27FC236}">
                <a16:creationId xmlns:a16="http://schemas.microsoft.com/office/drawing/2014/main" id="{6A551358-6114-9390-98AD-6DA8570DE82D}"/>
              </a:ext>
            </a:extLst>
          </p:cNvPr>
          <p:cNvSpPr txBox="1"/>
          <p:nvPr/>
        </p:nvSpPr>
        <p:spPr>
          <a:xfrm>
            <a:off x="6497426" y="2734502"/>
            <a:ext cx="5389774" cy="20313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"Logging"</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LogLevel</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"Default"</a:t>
            </a:r>
            <a:r>
              <a:rPr lang="en-IN" sz="900" dirty="0">
                <a:solidFill>
                  <a:srgbClr val="000000"/>
                </a:solidFill>
                <a:latin typeface="Cascadia Mono" panose="020B0609020000020004" pitchFamily="49" charset="0"/>
              </a:rPr>
              <a:t>: </a:t>
            </a:r>
            <a:r>
              <a:rPr lang="en-IN" sz="900" dirty="0">
                <a:solidFill>
                  <a:srgbClr val="A31515"/>
                </a:solidFill>
                <a:latin typeface="Cascadia Mono" panose="020B0609020000020004" pitchFamily="49" charset="0"/>
              </a:rPr>
              <a:t>"Information"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Microsoft.AspNetCore</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r>
              <a:rPr lang="en-IN" sz="900" dirty="0">
                <a:solidFill>
                  <a:srgbClr val="A31515"/>
                </a:solidFill>
                <a:latin typeface="Cascadia Mono" panose="020B0609020000020004" pitchFamily="49" charset="0"/>
              </a:rPr>
              <a:t>"Warning"</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ConnectionStrings</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2E75B6"/>
                </a:solidFill>
                <a:latin typeface="Cascadia Mono" panose="020B0609020000020004" pitchFamily="49" charset="0"/>
              </a:rPr>
              <a:t>"</a:t>
            </a:r>
            <a:r>
              <a:rPr lang="en-US" sz="900" dirty="0" err="1">
                <a:solidFill>
                  <a:srgbClr val="2E75B6"/>
                </a:solidFill>
                <a:latin typeface="Cascadia Mono" panose="020B0609020000020004" pitchFamily="49" charset="0"/>
              </a:rPr>
              <a:t>EmployeeDBConnection</a:t>
            </a:r>
            <a:r>
              <a:rPr lang="en-US" sz="900" dirty="0">
                <a:solidFill>
                  <a:srgbClr val="2E75B6"/>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a:solidFill>
                  <a:srgbClr val="A31515"/>
                </a:solidFill>
                <a:latin typeface="Cascadia Mono" panose="020B0609020000020004" pitchFamily="49" charset="0"/>
              </a:rPr>
              <a:t>"Data Source=(</a:t>
            </a:r>
            <a:r>
              <a:rPr lang="en-US" sz="900" dirty="0" err="1">
                <a:solidFill>
                  <a:srgbClr val="A31515"/>
                </a:solidFill>
                <a:latin typeface="Cascadia Mono" panose="020B0609020000020004" pitchFamily="49" charset="0"/>
              </a:rPr>
              <a:t>localdb</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ProjectModels;Initial</a:t>
            </a:r>
            <a:r>
              <a:rPr lang="en-US" sz="900" dirty="0">
                <a:solidFill>
                  <a:srgbClr val="A31515"/>
                </a:solidFill>
                <a:latin typeface="Cascadia Mono" panose="020B0609020000020004" pitchFamily="49" charset="0"/>
              </a:rPr>
              <a:t> Catalog=</a:t>
            </a:r>
            <a:r>
              <a:rPr lang="en-US" sz="900" dirty="0" err="1">
                <a:solidFill>
                  <a:srgbClr val="A31515"/>
                </a:solidFill>
                <a:latin typeface="Cascadia Mono" panose="020B0609020000020004" pitchFamily="49" charset="0"/>
              </a:rPr>
              <a:t>DemoData;Integrated</a:t>
            </a:r>
            <a:r>
              <a:rPr lang="en-US" sz="900" dirty="0">
                <a:solidFill>
                  <a:srgbClr val="A31515"/>
                </a:solidFill>
                <a:latin typeface="Cascadia Mono" panose="020B0609020000020004" pitchFamily="49" charset="0"/>
              </a:rPr>
              <a:t> Security=True"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2E75B6"/>
                </a:solidFill>
                <a:latin typeface="Cascadia Mono" panose="020B0609020000020004" pitchFamily="49" charset="0"/>
              </a:rPr>
              <a:t>"</a:t>
            </a:r>
            <a:r>
              <a:rPr lang="en-IN" sz="900" dirty="0" err="1">
                <a:solidFill>
                  <a:srgbClr val="2E75B6"/>
                </a:solidFill>
                <a:latin typeface="Cascadia Mono" panose="020B0609020000020004" pitchFamily="49" charset="0"/>
              </a:rPr>
              <a:t>AllowedHosts</a:t>
            </a:r>
            <a:r>
              <a:rPr lang="en-IN" sz="900" dirty="0">
                <a:solidFill>
                  <a:srgbClr val="2E75B6"/>
                </a:solidFill>
                <a:latin typeface="Cascadia Mono" panose="020B0609020000020004" pitchFamily="49" charset="0"/>
              </a:rPr>
              <a:t>"</a:t>
            </a:r>
            <a:r>
              <a:rPr lang="en-IN" sz="900" dirty="0">
                <a:solidFill>
                  <a:srgbClr val="000000"/>
                </a:solidFill>
                <a:latin typeface="Cascadia Mono" panose="020B0609020000020004" pitchFamily="49" charset="0"/>
              </a:rPr>
              <a:t>: </a:t>
            </a:r>
            <a:r>
              <a:rPr lang="en-IN" sz="900" dirty="0">
                <a:solidFill>
                  <a:srgbClr val="A31515"/>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2548820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5EB54-EDCF-45CD-CEE4-3D90C0D00FF2}"/>
              </a:ext>
            </a:extLst>
          </p:cNvPr>
          <p:cNvSpPr txBox="1"/>
          <p:nvPr/>
        </p:nvSpPr>
        <p:spPr>
          <a:xfrm>
            <a:off x="96626" y="93518"/>
            <a:ext cx="5380347" cy="5909310"/>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WebApplication1.Models</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System.Collections.Generic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SQLEmployeeRepository</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IEmployeeRepository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readonly</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Appdbcontext</a:t>
            </a:r>
            <a:r>
              <a:rPr lang="en-IN" sz="900" dirty="0">
                <a:solidFill>
                  <a:srgbClr val="000000"/>
                </a:solidFill>
                <a:latin typeface="Cascadia Mono" panose="020B0609020000020004" pitchFamily="49" charset="0"/>
              </a:rPr>
              <a:t> context;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SQLEmployeeRepository</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Appdbcontext</a:t>
            </a:r>
            <a:r>
              <a:rPr lang="en-IN" sz="900" dirty="0">
                <a:solidFill>
                  <a:srgbClr val="000000"/>
                </a:solidFill>
                <a:latin typeface="Cascadia Mono" panose="020B0609020000020004" pitchFamily="49" charset="0"/>
              </a:rPr>
              <a:t> 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.context</a:t>
            </a:r>
            <a:r>
              <a:rPr lang="en-IN" sz="900" dirty="0">
                <a:solidFill>
                  <a:srgbClr val="000000"/>
                </a:solidFill>
                <a:latin typeface="Cascadia Mono" panose="020B0609020000020004" pitchFamily="49" charset="0"/>
              </a:rPr>
              <a:t> = context;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&lt;Employee&gt;&gt; Add(Employee employee)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context.Employees.Add</a:t>
            </a:r>
            <a:r>
              <a:rPr lang="en-IN" sz="900" dirty="0">
                <a:solidFill>
                  <a:srgbClr val="000000"/>
                </a:solidFill>
                <a:latin typeface="Cascadia Mono" panose="020B0609020000020004" pitchFamily="49" charset="0"/>
              </a:rPr>
              <a:t>(employee);</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context.SaveChangesAsync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employee;</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Task&lt;Employee&gt; Delete(</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Employee </a:t>
            </a:r>
            <a:r>
              <a:rPr lang="en-US" sz="900" dirty="0" err="1">
                <a:solidFill>
                  <a:srgbClr val="000000"/>
                </a:solidFill>
                <a:latin typeface="Cascadia Mono" panose="020B0609020000020004" pitchFamily="49" charset="0"/>
              </a:rPr>
              <a:t>employee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context.Employees.Find</a:t>
            </a:r>
            <a:r>
              <a:rPr lang="en-US" sz="900" dirty="0">
                <a:solidFill>
                  <a:srgbClr val="000000"/>
                </a:solidFill>
                <a:latin typeface="Cascadia Mono" panose="020B0609020000020004" pitchFamily="49" charset="0"/>
              </a:rPr>
              <a:t>(Id);</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(employee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context.Employees.Remove</a:t>
            </a:r>
            <a:r>
              <a:rPr lang="en-IN" sz="900" dirty="0">
                <a:solidFill>
                  <a:srgbClr val="000000"/>
                </a:solidFill>
                <a:latin typeface="Cascadia Mono" panose="020B0609020000020004" pitchFamily="49" charset="0"/>
              </a:rPr>
              <a:t>(employee);</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context.SaveChangesAsync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employee;</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&lt;</a:t>
            </a:r>
            <a:r>
              <a:rPr lang="en-US" sz="900" dirty="0" err="1">
                <a:solidFill>
                  <a:srgbClr val="000000"/>
                </a:solidFill>
                <a:latin typeface="Cascadia Mono" panose="020B0609020000020004" pitchFamily="49" charset="0"/>
              </a:rPr>
              <a:t>IEnumerable</a:t>
            </a:r>
            <a:r>
              <a:rPr lang="en-US" sz="900" dirty="0">
                <a:solidFill>
                  <a:srgbClr val="000000"/>
                </a:solidFill>
                <a:latin typeface="Cascadia Mono" panose="020B0609020000020004" pitchFamily="49" charset="0"/>
              </a:rPr>
              <a:t>&lt;Employee&gt;?&gt;&gt; </a:t>
            </a:r>
            <a:r>
              <a:rPr lang="en-US" sz="900" dirty="0" err="1">
                <a:solidFill>
                  <a:srgbClr val="000000"/>
                </a:solidFill>
                <a:latin typeface="Cascadia Mono" panose="020B0609020000020004" pitchFamily="49" charset="0"/>
              </a:rPr>
              <a:t>GetAllEmployee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context.Employees</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await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context.Employees.ToListAsync</a:t>
            </a:r>
            <a:r>
              <a:rPr lang="en-US"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
        <p:nvSpPr>
          <p:cNvPr id="7" name="TextBox 6">
            <a:extLst>
              <a:ext uri="{FF2B5EF4-FFF2-40B4-BE49-F238E27FC236}">
                <a16:creationId xmlns:a16="http://schemas.microsoft.com/office/drawing/2014/main" id="{3C82364C-E74D-415D-9206-54B1E2E3A739}"/>
              </a:ext>
            </a:extLst>
          </p:cNvPr>
          <p:cNvSpPr txBox="1"/>
          <p:nvPr/>
        </p:nvSpPr>
        <p:spPr>
          <a:xfrm>
            <a:off x="5187099" y="0"/>
            <a:ext cx="6094428" cy="71558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&lt;Employee&gt;?&gt;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GetEmployee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context.Employees</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employee =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context.Employees.FindAsync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(employee ==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employee;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Task&lt;Employee?&gt; Update(</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Employee employee)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employee.Id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context.Entry</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(employee).State =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EntityState.Modified</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context.SaveChangesAsync</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DbUpdateConcurrencyException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EmployeeExists</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else</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throw</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private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bool</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EmployeeExists</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context.Employees?.Any</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(e =&gt;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e.Id</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id)).</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GetValueOrDefault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dirty="0"/>
          </a:p>
        </p:txBody>
      </p:sp>
    </p:spTree>
    <p:extLst>
      <p:ext uri="{BB962C8B-B14F-4D97-AF65-F5344CB8AC3E}">
        <p14:creationId xmlns:p14="http://schemas.microsoft.com/office/powerpoint/2010/main" val="82788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CA1514-DDFC-4727-BBC8-E53EE7D77311}"/>
              </a:ext>
            </a:extLst>
          </p:cNvPr>
          <p:cNvSpPr txBox="1"/>
          <p:nvPr/>
        </p:nvSpPr>
        <p:spPr>
          <a:xfrm>
            <a:off x="115479" y="0"/>
            <a:ext cx="5436909" cy="6186309"/>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Microsoft.AspNetCore.Mvc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Newtonsoft.Json.Linq</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NuGet.Protocol.Core.Types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System.Net.Mime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WebApplication1.Models;</a:t>
            </a:r>
          </a:p>
          <a:p>
            <a:endParaRPr lang="en-IN" sz="900" dirty="0">
              <a:solidFill>
                <a:srgbClr val="000000"/>
              </a:solidFill>
              <a:latin typeface="Cascadia Mono" panose="020B0609020000020004" pitchFamily="49" charset="0"/>
            </a:endParaRPr>
          </a:p>
          <a:p>
            <a:r>
              <a:rPr lang="en-US" sz="900" dirty="0">
                <a:solidFill>
                  <a:srgbClr val="008000"/>
                </a:solidFill>
                <a:latin typeface="Cascadia Mono" panose="020B0609020000020004" pitchFamily="49" charset="0"/>
              </a:rPr>
              <a:t>// For more information on enabling Web API for empty projects, visit https://go.microsoft.com/fwlink/?LinkID=397860</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WebApplication1.Controllers</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api</a:t>
            </a:r>
            <a:r>
              <a:rPr lang="en-IN" sz="900" dirty="0">
                <a:solidFill>
                  <a:srgbClr val="A31515"/>
                </a:solidFill>
                <a:latin typeface="Cascadia Mono" panose="020B0609020000020004" pitchFamily="49" charset="0"/>
              </a:rPr>
              <a:t>/[controller]"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EmployeeController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ControllerBase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readonly</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IEmployeeRepository</a:t>
            </a:r>
            <a:r>
              <a:rPr lang="en-IN" sz="900" dirty="0">
                <a:solidFill>
                  <a:srgbClr val="000000"/>
                </a:solidFill>
                <a:latin typeface="Cascadia Mono" panose="020B0609020000020004" pitchFamily="49" charset="0"/>
              </a:rPr>
              <a:t> _repository;</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EmployeeController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IEmployeeRepository</a:t>
            </a:r>
            <a:r>
              <a:rPr lang="en-IN" sz="900" dirty="0">
                <a:solidFill>
                  <a:srgbClr val="000000"/>
                </a:solidFill>
                <a:latin typeface="Cascadia Mono" panose="020B0609020000020004" pitchFamily="49" charset="0"/>
              </a:rPr>
              <a:t> repository)</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_repository = repository;</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HttpGet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&lt;</a:t>
            </a:r>
            <a:r>
              <a:rPr lang="en-US" sz="900" dirty="0" err="1">
                <a:solidFill>
                  <a:srgbClr val="000000"/>
                </a:solidFill>
                <a:latin typeface="Cascadia Mono" panose="020B0609020000020004" pitchFamily="49" charset="0"/>
              </a:rPr>
              <a:t>IEnumerable</a:t>
            </a:r>
            <a:r>
              <a:rPr lang="en-US" sz="900" dirty="0">
                <a:solidFill>
                  <a:srgbClr val="000000"/>
                </a:solidFill>
                <a:latin typeface="Cascadia Mono" panose="020B0609020000020004" pitchFamily="49" charset="0"/>
              </a:rPr>
              <a:t>&lt;Employee&gt;?&gt;&gt; </a:t>
            </a:r>
            <a:r>
              <a:rPr lang="en-US" sz="900" dirty="0" err="1">
                <a:solidFill>
                  <a:srgbClr val="000000"/>
                </a:solidFill>
                <a:latin typeface="Cascadia Mono" panose="020B0609020000020004" pitchFamily="49" charset="0"/>
              </a:rPr>
              <a:t>GetEmployees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if</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await</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repository.GetAllEmployee</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null</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NotFound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repository.GetAllEmployee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HttpGet</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"{id}"</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&lt;Employee&gt;&gt; </a:t>
            </a:r>
            <a:r>
              <a:rPr lang="en-US" sz="900" dirty="0" err="1">
                <a:solidFill>
                  <a:srgbClr val="000000"/>
                </a:solidFill>
                <a:latin typeface="Cascadia Mono" panose="020B0609020000020004" pitchFamily="49" charset="0"/>
              </a:rPr>
              <a:t>GetById_ActionResultOfT</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employee = </a:t>
            </a:r>
            <a:r>
              <a:rPr lang="en-US" sz="900" dirty="0">
                <a:solidFill>
                  <a:srgbClr val="0000FF"/>
                </a:solidFill>
                <a:latin typeface="Cascadia Mono" panose="020B0609020000020004" pitchFamily="49" charset="0"/>
              </a:rPr>
              <a:t>await</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repository.GetEmployee</a:t>
            </a:r>
            <a:r>
              <a:rPr lang="en-US" sz="900" dirty="0">
                <a:solidFill>
                  <a:srgbClr val="000000"/>
                </a:solidFill>
                <a:latin typeface="Cascadia Mono" panose="020B0609020000020004" pitchFamily="49" charset="0"/>
              </a:rPr>
              <a:t>(id);</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employee == </a:t>
            </a:r>
            <a:r>
              <a:rPr lang="en-US" sz="900" dirty="0">
                <a:solidFill>
                  <a:srgbClr val="0000FF"/>
                </a:solidFill>
                <a:latin typeface="Cascadia Mono" panose="020B0609020000020004" pitchFamily="49" charset="0"/>
              </a:rPr>
              <a:t>null</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NotFound</a:t>
            </a:r>
            <a:r>
              <a:rPr lang="en-US" sz="900" dirty="0">
                <a:solidFill>
                  <a:srgbClr val="000000"/>
                </a:solidFill>
                <a:latin typeface="Cascadia Mono" panose="020B0609020000020004" pitchFamily="49" charset="0"/>
              </a:rPr>
              <a:t>() : employee;</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
        <p:nvSpPr>
          <p:cNvPr id="7" name="TextBox 6">
            <a:extLst>
              <a:ext uri="{FF2B5EF4-FFF2-40B4-BE49-F238E27FC236}">
                <a16:creationId xmlns:a16="http://schemas.microsoft.com/office/drawing/2014/main" id="{B62A00F5-B6D4-2F2D-54A0-692F0A2EDE07}"/>
              </a:ext>
            </a:extLst>
          </p:cNvPr>
          <p:cNvSpPr txBox="1"/>
          <p:nvPr/>
        </p:nvSpPr>
        <p:spPr>
          <a:xfrm>
            <a:off x="5262514" y="-131975"/>
            <a:ext cx="6814007" cy="64633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PUT: </a:t>
            </a:r>
            <a:r>
              <a:rPr kumimoji="0" lang="en-IN"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/Employees/5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To protect from </a:t>
            </a:r>
            <a:r>
              <a:rPr kumimoji="0" lang="en-US"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overposting</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attacks, see https://go.microsoft.com/fwlink/?linkid=2123754</a:t>
            </a:r>
            <a:endPar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HttpPut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"{id}"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&gt;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PutEmployee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Employee employee)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employee.Id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BadRequest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try</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repository.Update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id,employee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catch</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DbUpdateConcurrencyException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repository.GetEmployee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null</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NotFound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else</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throw</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NoContent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POST: </a:t>
            </a:r>
            <a:r>
              <a:rPr kumimoji="0" lang="en-IN"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/Employees</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To protect from </a:t>
            </a:r>
            <a:r>
              <a:rPr kumimoji="0" lang="en-US"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overposting</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attacks, see https://go.microsoft.com/fwlink/?linkid=2123754</a:t>
            </a:r>
            <a:endPar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HttpPost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&lt;Employee&gt;&gt;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PostEmployee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(Employee employee)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await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repository.Add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(employee);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CreatedAtAction</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t>
            </a:r>
            <a:r>
              <a:rPr lang="en-US" sz="900" dirty="0" err="1">
                <a:solidFill>
                  <a:srgbClr val="000000"/>
                </a:solidFill>
                <a:highlight>
                  <a:srgbClr val="FFFF00"/>
                </a:highlight>
                <a:latin typeface="Cascadia Mono" panose="020B0609020000020004" pitchFamily="49" charset="0"/>
              </a:rPr>
              <a:t>GetById_ActionResultOfT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id =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employee.Id</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US" sz="900" b="0" i="0" u="none" strike="noStrike" kern="1200" cap="none" spc="0" normalizeH="0" baseline="0" noProof="0" dirty="0">
                <a:ln>
                  <a:noFill/>
                </a:ln>
                <a:solidFill>
                  <a:srgbClr val="000000"/>
                </a:solidFill>
                <a:effectLst/>
                <a:highlight>
                  <a:srgbClr val="FFFF00"/>
                </a:highlight>
                <a:uLnTx/>
                <a:uFillTx/>
                <a:latin typeface="Cascadia Mono" panose="020B0609020000020004" pitchFamily="49" charset="0"/>
                <a:ea typeface="+mn-ea"/>
                <a:cs typeface="+mn-cs"/>
              </a:rPr>
              <a:t>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DELETE: </a:t>
            </a:r>
            <a:r>
              <a:rPr kumimoji="0" lang="en-IN"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api</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/Employees/5</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HttpDelete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"{id}"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async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Task&lt;</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IActionResult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&gt;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DeleteEmployee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		await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repository.Delete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(id);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return</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NoContent</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p:txBody>
      </p:sp>
    </p:spTree>
    <p:extLst>
      <p:ext uri="{BB962C8B-B14F-4D97-AF65-F5344CB8AC3E}">
        <p14:creationId xmlns:p14="http://schemas.microsoft.com/office/powerpoint/2010/main" val="3161620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885ED9-FEBF-3DD8-1197-FB9A52F6940E}"/>
              </a:ext>
            </a:extLst>
          </p:cNvPr>
          <p:cNvSpPr txBox="1"/>
          <p:nvPr/>
        </p:nvSpPr>
        <p:spPr>
          <a:xfrm>
            <a:off x="1571" y="-142486"/>
            <a:ext cx="6879995" cy="692497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Microsoft.EntityFrameworkCore</a:t>
            </a:r>
            <a:r>
              <a:rPr lang="en-IN" sz="1200" dirty="0">
                <a:solidFill>
                  <a:srgbClr val="000000"/>
                </a:solidFill>
                <a:latin typeface="Cascadia Mono" panose="020B0609020000020004" pitchFamily="49" charset="0"/>
              </a:rPr>
              <a:t>;</a:t>
            </a:r>
          </a:p>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Microsoft.Extensions.Options</a:t>
            </a:r>
            <a:r>
              <a:rPr lang="en-IN" sz="1200" dirty="0">
                <a:solidFill>
                  <a:srgbClr val="000000"/>
                </a:solidFill>
                <a:latin typeface="Cascadia Mono" panose="020B0609020000020004" pitchFamily="49" charset="0"/>
              </a:rPr>
              <a:t>;</a:t>
            </a:r>
          </a:p>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WebApplication1.Models;</a:t>
            </a:r>
          </a:p>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WebApplication1</a:t>
            </a: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var</a:t>
            </a:r>
            <a:r>
              <a:rPr lang="en-US" sz="1200" dirty="0">
                <a:solidFill>
                  <a:srgbClr val="000000"/>
                </a:solidFill>
                <a:latin typeface="Cascadia Mono" panose="020B0609020000020004" pitchFamily="49" charset="0"/>
              </a:rPr>
              <a:t> builder = </a:t>
            </a:r>
            <a:r>
              <a:rPr lang="en-US" sz="1200" dirty="0" err="1">
                <a:solidFill>
                  <a:srgbClr val="000000"/>
                </a:solidFill>
                <a:latin typeface="Cascadia Mono" panose="020B0609020000020004" pitchFamily="49" charset="0"/>
              </a:rPr>
              <a:t>WebApplication.CreateBuilder</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Add services to the container.</a:t>
            </a:r>
            <a:endParaRPr lang="en-US"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builder.Services.AddControllers</a:t>
            </a:r>
            <a:r>
              <a:rPr lang="en-IN" sz="1200" dirty="0">
                <a:solidFill>
                  <a:srgbClr val="000000"/>
                </a:solidFill>
                <a:latin typeface="Cascadia Mono" panose="020B0609020000020004" pitchFamily="49" charset="0"/>
              </a:rPr>
              <a:t>();</a:t>
            </a:r>
          </a:p>
          <a:p>
            <a:r>
              <a:rPr lang="en-US" sz="1200" dirty="0">
                <a:solidFill>
                  <a:srgbClr val="000000"/>
                </a:solidFill>
                <a:highlight>
                  <a:srgbClr val="FFFF00"/>
                </a:highlight>
                <a:latin typeface="Cascadia Mono" panose="020B0609020000020004" pitchFamily="49" charset="0"/>
              </a:rPr>
              <a:t>            </a:t>
            </a:r>
            <a:r>
              <a:rPr lang="en-US" sz="1200" dirty="0" err="1">
                <a:solidFill>
                  <a:srgbClr val="000000"/>
                </a:solidFill>
                <a:highlight>
                  <a:srgbClr val="FFFF00"/>
                </a:highlight>
                <a:latin typeface="Cascadia Mono" panose="020B0609020000020004" pitchFamily="49" charset="0"/>
              </a:rPr>
              <a:t>builder.Services.AddTransient</a:t>
            </a:r>
            <a:r>
              <a:rPr lang="en-US" sz="1200" dirty="0">
                <a:solidFill>
                  <a:srgbClr val="000000"/>
                </a:solidFill>
                <a:highlight>
                  <a:srgbClr val="FFFF00"/>
                </a:highlight>
                <a:latin typeface="Cascadia Mono" panose="020B0609020000020004" pitchFamily="49" charset="0"/>
              </a:rPr>
              <a:t>&lt;</a:t>
            </a:r>
            <a:r>
              <a:rPr lang="en-US" sz="1200" dirty="0" err="1">
                <a:solidFill>
                  <a:srgbClr val="000000"/>
                </a:solidFill>
                <a:highlight>
                  <a:srgbClr val="FFFF00"/>
                </a:highlight>
                <a:latin typeface="Cascadia Mono" panose="020B0609020000020004" pitchFamily="49" charset="0"/>
              </a:rPr>
              <a:t>IEmployeeRepository</a:t>
            </a:r>
            <a:r>
              <a:rPr lang="en-US" sz="1200" dirty="0">
                <a:solidFill>
                  <a:srgbClr val="000000"/>
                </a:solidFill>
                <a:highlight>
                  <a:srgbClr val="FFFF00"/>
                </a:highlight>
                <a:latin typeface="Cascadia Mono" panose="020B0609020000020004" pitchFamily="49" charset="0"/>
              </a:rPr>
              <a:t>, </a:t>
            </a:r>
            <a:r>
              <a:rPr lang="en-US" sz="1200" dirty="0" err="1">
                <a:solidFill>
                  <a:srgbClr val="000000"/>
                </a:solidFill>
                <a:highlight>
                  <a:srgbClr val="FFFF00"/>
                </a:highlight>
                <a:latin typeface="Cascadia Mono" panose="020B0609020000020004" pitchFamily="49" charset="0"/>
              </a:rPr>
              <a:t>SQLEmployeeRepository</a:t>
            </a:r>
            <a:r>
              <a:rPr lang="en-US" sz="1200" dirty="0">
                <a:solidFill>
                  <a:srgbClr val="000000"/>
                </a:solidFill>
                <a:highlight>
                  <a:srgbClr val="FFFF00"/>
                </a:highlight>
                <a:latin typeface="Cascadia Mono" panose="020B0609020000020004" pitchFamily="49" charset="0"/>
              </a:rPr>
              <a:t>&gt;();</a:t>
            </a:r>
          </a:p>
          <a:p>
            <a:r>
              <a:rPr lang="en-IN" sz="1200" dirty="0" err="1">
                <a:solidFill>
                  <a:srgbClr val="000000"/>
                </a:solidFill>
                <a:highlight>
                  <a:srgbClr val="FFFF00"/>
                </a:highlight>
                <a:latin typeface="Cascadia Mono" panose="020B0609020000020004" pitchFamily="49" charset="0"/>
              </a:rPr>
              <a:t>builder.Services.AddDbContext</a:t>
            </a:r>
            <a:r>
              <a:rPr lang="en-IN" sz="1200" dirty="0">
                <a:solidFill>
                  <a:srgbClr val="000000"/>
                </a:solidFill>
                <a:highlight>
                  <a:srgbClr val="FFFF00"/>
                </a:highlight>
                <a:latin typeface="Cascadia Mono" panose="020B0609020000020004" pitchFamily="49" charset="0"/>
              </a:rPr>
              <a:t>&lt;</a:t>
            </a:r>
            <a:r>
              <a:rPr lang="en-IN" sz="1200" dirty="0" err="1">
                <a:solidFill>
                  <a:srgbClr val="000000"/>
                </a:solidFill>
                <a:highlight>
                  <a:srgbClr val="FFFF00"/>
                </a:highlight>
                <a:latin typeface="Cascadia Mono" panose="020B0609020000020004" pitchFamily="49" charset="0"/>
              </a:rPr>
              <a:t>AppContext</a:t>
            </a:r>
            <a:r>
              <a:rPr lang="en-IN" sz="1200" dirty="0">
                <a:solidFill>
                  <a:srgbClr val="000000"/>
                </a:solidFill>
                <a:highlight>
                  <a:srgbClr val="FFFF00"/>
                </a:highlight>
                <a:latin typeface="Cascadia Mono" panose="020B0609020000020004" pitchFamily="49" charset="0"/>
              </a:rPr>
              <a:t>&gt;(option =&gt; </a:t>
            </a:r>
            <a:r>
              <a:rPr lang="en-IN" sz="1200" dirty="0" err="1">
                <a:solidFill>
                  <a:srgbClr val="000000"/>
                </a:solidFill>
                <a:highlight>
                  <a:srgbClr val="FFFF00"/>
                </a:highlight>
                <a:latin typeface="Cascadia Mono" panose="020B0609020000020004" pitchFamily="49" charset="0"/>
              </a:rPr>
              <a:t>option.UseSqlServer</a:t>
            </a:r>
            <a:r>
              <a:rPr lang="en-IN" sz="1200" dirty="0">
                <a:solidFill>
                  <a:srgbClr val="000000"/>
                </a:solidFill>
                <a:highlight>
                  <a:srgbClr val="FFFF00"/>
                </a:highlight>
                <a:latin typeface="Cascadia Mono" panose="020B0609020000020004" pitchFamily="49" charset="0"/>
              </a:rPr>
              <a:t>(</a:t>
            </a:r>
            <a:r>
              <a:rPr lang="en-IN" sz="1200" dirty="0" err="1">
                <a:solidFill>
                  <a:srgbClr val="000000"/>
                </a:solidFill>
                <a:highlight>
                  <a:srgbClr val="FFFF00"/>
                </a:highlight>
                <a:latin typeface="Cascadia Mono" panose="020B0609020000020004" pitchFamily="49" charset="0"/>
              </a:rPr>
              <a:t>builder.Configuration.GetConnectionString</a:t>
            </a:r>
            <a:r>
              <a:rPr lang="en-IN" sz="1200" dirty="0">
                <a:solidFill>
                  <a:srgbClr val="000000"/>
                </a:solidFill>
                <a:highlight>
                  <a:srgbClr val="FFFF00"/>
                </a:highlight>
                <a:latin typeface="Cascadia Mono" panose="020B0609020000020004" pitchFamily="49" charset="0"/>
              </a:rPr>
              <a:t>(</a:t>
            </a:r>
            <a:r>
              <a:rPr lang="en-IN" sz="1200" dirty="0">
                <a:solidFill>
                  <a:srgbClr val="A31515"/>
                </a:solidFill>
                <a:highlight>
                  <a:srgbClr val="FFFF00"/>
                </a:highlight>
                <a:latin typeface="Cascadia Mono" panose="020B0609020000020004" pitchFamily="49" charset="0"/>
              </a:rPr>
              <a:t>"</a:t>
            </a:r>
            <a:r>
              <a:rPr lang="en-IN" sz="1200" dirty="0" err="1">
                <a:solidFill>
                  <a:srgbClr val="A31515"/>
                </a:solidFill>
                <a:highlight>
                  <a:srgbClr val="FFFF00"/>
                </a:highlight>
                <a:latin typeface="Cascadia Mono" panose="020B0609020000020004" pitchFamily="49" charset="0"/>
              </a:rPr>
              <a:t>EmployeeDBConnection</a:t>
            </a:r>
            <a:r>
              <a:rPr lang="en-IN" sz="1200" dirty="0">
                <a:solidFill>
                  <a:srgbClr val="A31515"/>
                </a:solidFill>
                <a:highlight>
                  <a:srgbClr val="FFFF00"/>
                </a:highlight>
                <a:latin typeface="Cascadia Mono" panose="020B0609020000020004" pitchFamily="49" charset="0"/>
              </a:rPr>
              <a:t>"</a:t>
            </a:r>
            <a:r>
              <a:rPr lang="en-IN" sz="1200" dirty="0">
                <a:solidFill>
                  <a:srgbClr val="000000"/>
                </a:solidFill>
                <a:highlight>
                  <a:srgbClr val="FFFF00"/>
                </a:highlight>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Learn more about configuring Swagger/</a:t>
            </a:r>
            <a:r>
              <a:rPr lang="en-US" sz="1200" dirty="0" err="1">
                <a:solidFill>
                  <a:srgbClr val="008000"/>
                </a:solidFill>
                <a:latin typeface="Cascadia Mono" panose="020B0609020000020004" pitchFamily="49" charset="0"/>
              </a:rPr>
              <a:t>OpenAPI</a:t>
            </a:r>
            <a:r>
              <a:rPr lang="en-US" sz="1200" dirty="0">
                <a:solidFill>
                  <a:srgbClr val="008000"/>
                </a:solidFill>
                <a:latin typeface="Cascadia Mono" panose="020B0609020000020004" pitchFamily="49" charset="0"/>
              </a:rPr>
              <a:t> at https://aka.ms/aspnetcore/swashbuckle</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builder.Services.AddEndpointsApiExplorer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builder.Services.AddSwaggerGen</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app = </a:t>
            </a:r>
            <a:r>
              <a:rPr lang="en-IN" sz="1200" dirty="0" err="1">
                <a:solidFill>
                  <a:srgbClr val="000000"/>
                </a:solidFill>
                <a:latin typeface="Cascadia Mono" panose="020B0609020000020004" pitchFamily="49" charset="0"/>
              </a:rPr>
              <a:t>builder.Build</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Configure the HTTP request pipeline.</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if</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app.Environment.IsDevelopment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app.UseSwagger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app.UseSwaggerUI</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endParaRPr lang="en-IN" sz="1200" dirty="0"/>
          </a:p>
        </p:txBody>
      </p:sp>
      <p:sp>
        <p:nvSpPr>
          <p:cNvPr id="7" name="TextBox 6">
            <a:extLst>
              <a:ext uri="{FF2B5EF4-FFF2-40B4-BE49-F238E27FC236}">
                <a16:creationId xmlns:a16="http://schemas.microsoft.com/office/drawing/2014/main" id="{7E512059-E1D9-3DB3-DD1E-DDDB10C1537F}"/>
              </a:ext>
            </a:extLst>
          </p:cNvPr>
          <p:cNvSpPr txBox="1"/>
          <p:nvPr/>
        </p:nvSpPr>
        <p:spPr>
          <a:xfrm>
            <a:off x="6723669" y="605871"/>
            <a:ext cx="5276653" cy="249299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app.UseHttpsRedirection</a:t>
            </a: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app.UseAuthentication</a:t>
            </a: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app.UseAuthorization</a:t>
            </a: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app.MapControllers</a:t>
            </a: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2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app.Run</a:t>
            </a: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dirty="0"/>
          </a:p>
        </p:txBody>
      </p:sp>
    </p:spTree>
    <p:extLst>
      <p:ext uri="{BB962C8B-B14F-4D97-AF65-F5344CB8AC3E}">
        <p14:creationId xmlns:p14="http://schemas.microsoft.com/office/powerpoint/2010/main" val="904395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6328" y="0"/>
            <a:ext cx="10492508" cy="6824945"/>
          </a:xfrm>
          <a:prstGeom prst="rect">
            <a:avLst/>
          </a:prstGeom>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Microsoft.AspNetCore.Authentication.JwtBearer</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Microsoft.Extensions.Options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Microsoft.IdentityModel.Tokens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WebApplication1.Models;</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WebApplication1</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builder = </a:t>
            </a:r>
            <a:r>
              <a:rPr lang="en-IN" sz="900" dirty="0" err="1">
                <a:solidFill>
                  <a:srgbClr val="000000"/>
                </a:solidFill>
                <a:latin typeface="Cascadia Mono" panose="020B0609020000020004" pitchFamily="49" charset="0"/>
              </a:rPr>
              <a:t>WebApplication.CreateBuilder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args</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builder.Services.AddTransient</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IEmployeeRepository</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SQLEmployeeRepository</a:t>
            </a:r>
            <a:r>
              <a:rPr lang="en-IN" sz="900" dirty="0">
                <a:solidFill>
                  <a:srgbClr val="000000"/>
                </a:solidFill>
                <a:latin typeface="Cascadia Mono" panose="020B0609020000020004" pitchFamily="49" charset="0"/>
              </a:rPr>
              <a:t>&gt;();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builder.Services.AddDbContext</a:t>
            </a:r>
            <a:r>
              <a:rPr lang="en-IN" sz="900" dirty="0">
                <a:solidFill>
                  <a:srgbClr val="000000"/>
                </a:solidFill>
                <a:latin typeface="Cascadia Mono" panose="020B0609020000020004" pitchFamily="49" charset="0"/>
              </a:rPr>
              <a:t>&lt;</a:t>
            </a:r>
            <a:r>
              <a:rPr lang="en-IN" sz="900" dirty="0" err="1">
                <a:solidFill>
                  <a:srgbClr val="000000"/>
                </a:solidFill>
                <a:latin typeface="Cascadia Mono" panose="020B0609020000020004" pitchFamily="49" charset="0"/>
              </a:rPr>
              <a:t>Appdbcontext</a:t>
            </a:r>
            <a:r>
              <a:rPr lang="en-IN" sz="900" dirty="0">
                <a:solidFill>
                  <a:srgbClr val="000000"/>
                </a:solidFill>
                <a:latin typeface="Cascadia Mono" panose="020B0609020000020004" pitchFamily="49" charset="0"/>
              </a:rPr>
              <a:t>&gt;(option =&gt; </a:t>
            </a:r>
            <a:r>
              <a:rPr lang="en-IN" sz="900" dirty="0" err="1">
                <a:solidFill>
                  <a:srgbClr val="000000"/>
                </a:solidFill>
                <a:latin typeface="Cascadia Mono" panose="020B0609020000020004" pitchFamily="49" charset="0"/>
              </a:rPr>
              <a:t>option.UseSqlServer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builder.Configuration.GetConnectionString</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EmployeeDBConnection</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Learn more about configuring Swagger/</a:t>
            </a:r>
            <a:r>
              <a:rPr lang="en-US" sz="900" dirty="0" err="1">
                <a:solidFill>
                  <a:srgbClr val="008000"/>
                </a:solidFill>
                <a:latin typeface="Cascadia Mono" panose="020B0609020000020004" pitchFamily="49" charset="0"/>
              </a:rPr>
              <a:t>OpenAPI</a:t>
            </a:r>
            <a:r>
              <a:rPr lang="en-US" sz="900" dirty="0">
                <a:solidFill>
                  <a:srgbClr val="008000"/>
                </a:solidFill>
                <a:latin typeface="Cascadia Mono" panose="020B0609020000020004" pitchFamily="49" charset="0"/>
              </a:rPr>
              <a:t> at https://aka.ms/aspnetcore/swashbuckle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builder.Services.AddEndpointsApiExplorer</a:t>
            </a:r>
            <a:r>
              <a:rPr lang="en-IN" sz="900" dirty="0">
                <a:solidFill>
                  <a:srgbClr val="000000"/>
                </a:solidFill>
                <a:latin typeface="Cascadia Mono" panose="020B0609020000020004" pitchFamily="49" charset="0"/>
              </a:rPr>
              <a:t>();</a:t>
            </a:r>
          </a:p>
          <a:p>
            <a:r>
              <a:rPr lang="en-IN" sz="950" b="1" i="1" dirty="0">
                <a:solidFill>
                  <a:srgbClr val="000000"/>
                </a:solidFill>
                <a:latin typeface="Cascadia Mono" panose="020B0609020000020004" pitchFamily="49" charset="0"/>
              </a:rPr>
              <a:t>            </a:t>
            </a:r>
            <a:r>
              <a:rPr lang="en-IN" sz="950" b="1" i="1" dirty="0" err="1">
                <a:solidFill>
                  <a:srgbClr val="000000"/>
                </a:solidFill>
                <a:latin typeface="Cascadia Mono" panose="020B0609020000020004" pitchFamily="49" charset="0"/>
              </a:rPr>
              <a:t>builder.Services.AddCors</a:t>
            </a:r>
            <a:r>
              <a:rPr lang="en-IN" sz="950" b="1" i="1" dirty="0">
                <a:solidFill>
                  <a:srgbClr val="000000"/>
                </a:solidFill>
                <a:latin typeface="Cascadia Mono" panose="020B0609020000020004" pitchFamily="49" charset="0"/>
              </a:rPr>
              <a:t>(options =&gt;</a:t>
            </a:r>
          </a:p>
          <a:p>
            <a:r>
              <a:rPr lang="en-IN" sz="950" b="1" i="1" dirty="0">
                <a:solidFill>
                  <a:srgbClr val="000000"/>
                </a:solidFill>
                <a:latin typeface="Cascadia Mono" panose="020B0609020000020004" pitchFamily="49" charset="0"/>
              </a:rPr>
              <a:t>            {</a:t>
            </a:r>
          </a:p>
          <a:p>
            <a:r>
              <a:rPr lang="en-IN" sz="950" b="1" i="1" dirty="0">
                <a:solidFill>
                  <a:srgbClr val="000000"/>
                </a:solidFill>
                <a:latin typeface="Cascadia Mono" panose="020B0609020000020004" pitchFamily="49" charset="0"/>
              </a:rPr>
              <a:t>                </a:t>
            </a:r>
            <a:r>
              <a:rPr lang="en-IN" sz="950" b="1" i="1" dirty="0" err="1">
                <a:solidFill>
                  <a:srgbClr val="000000"/>
                </a:solidFill>
                <a:latin typeface="Cascadia Mono" panose="020B0609020000020004" pitchFamily="49" charset="0"/>
              </a:rPr>
              <a:t>options.AddPolicy</a:t>
            </a:r>
            <a:r>
              <a:rPr lang="en-IN" sz="950" b="1" i="1" dirty="0">
                <a:solidFill>
                  <a:srgbClr val="000000"/>
                </a:solidFill>
                <a:latin typeface="Cascadia Mono" panose="020B0609020000020004" pitchFamily="49" charset="0"/>
              </a:rPr>
              <a:t>(</a:t>
            </a:r>
            <a:r>
              <a:rPr lang="en-IN" sz="950" b="1" i="1" dirty="0">
                <a:solidFill>
                  <a:srgbClr val="A31515"/>
                </a:solidFill>
                <a:latin typeface="Cascadia Mono" panose="020B0609020000020004" pitchFamily="49" charset="0"/>
              </a:rPr>
              <a:t>"</a:t>
            </a:r>
            <a:r>
              <a:rPr lang="en-IN" sz="950" b="1" i="1" dirty="0" err="1">
                <a:solidFill>
                  <a:srgbClr val="A31515"/>
                </a:solidFill>
                <a:latin typeface="Cascadia Mono" panose="020B0609020000020004" pitchFamily="49" charset="0"/>
              </a:rPr>
              <a:t>MyAllowSpecificOrigins</a:t>
            </a:r>
            <a:r>
              <a:rPr lang="en-IN" sz="950" b="1" i="1" dirty="0">
                <a:solidFill>
                  <a:srgbClr val="A31515"/>
                </a:solidFill>
                <a:latin typeface="Cascadia Mono" panose="020B0609020000020004" pitchFamily="49" charset="0"/>
              </a:rPr>
              <a:t>"</a:t>
            </a:r>
            <a:r>
              <a:rPr lang="en-IN" sz="950" b="1" i="1" dirty="0">
                <a:solidFill>
                  <a:srgbClr val="000000"/>
                </a:solidFill>
                <a:latin typeface="Cascadia Mono" panose="020B0609020000020004" pitchFamily="49" charset="0"/>
              </a:rPr>
              <a:t>,</a:t>
            </a:r>
          </a:p>
          <a:p>
            <a:r>
              <a:rPr lang="en-IN" sz="950" b="1" i="1" dirty="0">
                <a:solidFill>
                  <a:srgbClr val="000000"/>
                </a:solidFill>
                <a:latin typeface="Cascadia Mono" panose="020B0609020000020004" pitchFamily="49" charset="0"/>
              </a:rPr>
              <a:t>                                  builder =&gt;</a:t>
            </a:r>
          </a:p>
          <a:p>
            <a:r>
              <a:rPr lang="en-IN" sz="950" b="1" i="1" dirty="0">
                <a:solidFill>
                  <a:srgbClr val="000000"/>
                </a:solidFill>
                <a:latin typeface="Cascadia Mono" panose="020B0609020000020004" pitchFamily="49" charset="0"/>
              </a:rPr>
              <a:t>                                  {</a:t>
            </a:r>
          </a:p>
          <a:p>
            <a:r>
              <a:rPr lang="en-IN" sz="950" b="1" i="1" dirty="0">
                <a:solidFill>
                  <a:srgbClr val="000000"/>
                </a:solidFill>
                <a:latin typeface="Cascadia Mono" panose="020B0609020000020004" pitchFamily="49" charset="0"/>
              </a:rPr>
              <a:t>                                      </a:t>
            </a:r>
            <a:r>
              <a:rPr lang="en-IN" sz="950" b="1" i="1" dirty="0" err="1">
                <a:solidFill>
                  <a:srgbClr val="000000"/>
                </a:solidFill>
                <a:latin typeface="Cascadia Mono" panose="020B0609020000020004" pitchFamily="49" charset="0"/>
              </a:rPr>
              <a:t>builder.WithOrigins</a:t>
            </a:r>
            <a:r>
              <a:rPr lang="en-IN" sz="950" b="1" i="1" dirty="0">
                <a:solidFill>
                  <a:srgbClr val="000000"/>
                </a:solidFill>
                <a:latin typeface="Cascadia Mono" panose="020B0609020000020004" pitchFamily="49" charset="0"/>
              </a:rPr>
              <a:t>(</a:t>
            </a:r>
            <a:r>
              <a:rPr lang="en-IN" sz="950" b="1" i="1" dirty="0">
                <a:solidFill>
                  <a:srgbClr val="A31515"/>
                </a:solidFill>
                <a:latin typeface="Cascadia Mono" panose="020B0609020000020004" pitchFamily="49" charset="0"/>
              </a:rPr>
              <a:t>"http://127.0.0.1:5500"</a:t>
            </a:r>
            <a:r>
              <a:rPr lang="en-IN" sz="950" b="1" i="1" dirty="0">
                <a:solidFill>
                  <a:srgbClr val="000000"/>
                </a:solidFill>
                <a:latin typeface="Cascadia Mono" panose="020B0609020000020004" pitchFamily="49" charset="0"/>
              </a:rPr>
              <a:t>)      .</a:t>
            </a:r>
            <a:r>
              <a:rPr lang="en-IN" sz="950" b="1" i="1" dirty="0" err="1">
                <a:solidFill>
                  <a:srgbClr val="000000"/>
                </a:solidFill>
                <a:latin typeface="Cascadia Mono" panose="020B0609020000020004" pitchFamily="49" charset="0"/>
              </a:rPr>
              <a:t>AllowAnyHeader</a:t>
            </a:r>
            <a:r>
              <a:rPr lang="en-IN" sz="950" b="1" i="1" dirty="0">
                <a:solidFill>
                  <a:srgbClr val="000000"/>
                </a:solidFill>
                <a:latin typeface="Cascadia Mono" panose="020B0609020000020004" pitchFamily="49" charset="0"/>
              </a:rPr>
              <a:t>()              .</a:t>
            </a:r>
            <a:r>
              <a:rPr lang="en-IN" sz="950" b="1" i="1" dirty="0" err="1">
                <a:solidFill>
                  <a:srgbClr val="000000"/>
                </a:solidFill>
                <a:latin typeface="Cascadia Mono" panose="020B0609020000020004" pitchFamily="49" charset="0"/>
              </a:rPr>
              <a:t>AllowAnyMethod</a:t>
            </a:r>
            <a:r>
              <a:rPr lang="en-IN" sz="950" b="1" i="1" dirty="0">
                <a:solidFill>
                  <a:srgbClr val="000000"/>
                </a:solidFill>
                <a:latin typeface="Cascadia Mono" panose="020B0609020000020004" pitchFamily="49" charset="0"/>
              </a:rPr>
              <a:t>();</a:t>
            </a:r>
          </a:p>
          <a:p>
            <a:r>
              <a:rPr lang="en-IN" sz="950" b="1" i="1" dirty="0">
                <a:solidFill>
                  <a:srgbClr val="000000"/>
                </a:solidFill>
                <a:latin typeface="Cascadia Mono" panose="020B0609020000020004" pitchFamily="49" charset="0"/>
              </a:rPr>
              <a:t>                                  });</a:t>
            </a:r>
          </a:p>
          <a:p>
            <a:r>
              <a:rPr lang="en-IN" sz="950" b="1" i="1" dirty="0">
                <a:solidFill>
                  <a:srgbClr val="000000"/>
                </a:solidFill>
                <a:latin typeface="Cascadia Mono" panose="020B0609020000020004" pitchFamily="49" charset="0"/>
              </a:rPr>
              <a:t>            })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builder.Services.AddSwaggerGen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app.UseSwagger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app.UseSwaggerUI</a:t>
            </a:r>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app.UseAuthentication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r>
              <a:rPr lang="en-IN" sz="1050" b="1" dirty="0">
                <a:solidFill>
                  <a:srgbClr val="000000"/>
                </a:solidFill>
                <a:latin typeface="Cascadia Mono" panose="020B0609020000020004" pitchFamily="49" charset="0"/>
              </a:rPr>
              <a:t>            </a:t>
            </a:r>
            <a:r>
              <a:rPr lang="en-IN" sz="1050" b="1" dirty="0" err="1">
                <a:solidFill>
                  <a:srgbClr val="000000"/>
                </a:solidFill>
                <a:latin typeface="Cascadia Mono" panose="020B0609020000020004" pitchFamily="49" charset="0"/>
              </a:rPr>
              <a:t>app.UseCors</a:t>
            </a:r>
            <a:r>
              <a:rPr lang="en-IN" sz="1050" b="1" dirty="0">
                <a:solidFill>
                  <a:srgbClr val="000000"/>
                </a:solidFill>
                <a:latin typeface="Cascadia Mono" panose="020B0609020000020004" pitchFamily="49" charset="0"/>
              </a:rPr>
              <a:t>(</a:t>
            </a:r>
            <a:r>
              <a:rPr lang="en-IN" sz="1050" b="1" dirty="0">
                <a:solidFill>
                  <a:srgbClr val="A31515"/>
                </a:solidFill>
                <a:latin typeface="Cascadia Mono" panose="020B0609020000020004" pitchFamily="49" charset="0"/>
              </a:rPr>
              <a:t>"</a:t>
            </a:r>
            <a:r>
              <a:rPr lang="en-IN" sz="1050" b="1" dirty="0" err="1">
                <a:solidFill>
                  <a:srgbClr val="A31515"/>
                </a:solidFill>
                <a:latin typeface="Cascadia Mono" panose="020B0609020000020004" pitchFamily="49" charset="0"/>
              </a:rPr>
              <a:t>MyAllowSpecificOrigins</a:t>
            </a:r>
            <a:r>
              <a:rPr lang="en-IN" sz="1050" b="1" dirty="0">
                <a:solidFill>
                  <a:srgbClr val="A31515"/>
                </a:solidFill>
                <a:latin typeface="Cascadia Mono" panose="020B0609020000020004" pitchFamily="49" charset="0"/>
              </a:rPr>
              <a:t>"</a:t>
            </a:r>
            <a:r>
              <a:rPr lang="en-IN" sz="1050" b="1" dirty="0">
                <a:solidFill>
                  <a:srgbClr val="000000"/>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app.MapControllers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2" name="TextBox 1"/>
          <p:cNvSpPr txBox="1"/>
          <p:nvPr/>
        </p:nvSpPr>
        <p:spPr>
          <a:xfrm>
            <a:off x="5689600" y="120073"/>
            <a:ext cx="6086764" cy="369332"/>
          </a:xfrm>
          <a:prstGeom prst="rect">
            <a:avLst/>
          </a:prstGeom>
          <a:noFill/>
        </p:spPr>
        <p:txBody>
          <a:bodyPr wrap="square" rtlCol="0">
            <a:spAutoFit/>
          </a:bodyPr>
          <a:lstStyle/>
          <a:p>
            <a:r>
              <a:rPr lang="en-IN" dirty="0"/>
              <a:t>How to enable cores</a:t>
            </a:r>
          </a:p>
        </p:txBody>
      </p:sp>
    </p:spTree>
    <p:extLst>
      <p:ext uri="{BB962C8B-B14F-4D97-AF65-F5344CB8AC3E}">
        <p14:creationId xmlns:p14="http://schemas.microsoft.com/office/powerpoint/2010/main" val="852960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F258C-1C73-7F7D-A83C-9A3DCBE331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07BB8C-561A-9014-35E2-6B94168BE459}"/>
              </a:ext>
            </a:extLst>
          </p:cNvPr>
          <p:cNvSpPr>
            <a:spLocks noGrp="1"/>
          </p:cNvSpPr>
          <p:nvPr>
            <p:ph idx="1"/>
          </p:nvPr>
        </p:nvSpPr>
        <p:spPr/>
        <p:txBody>
          <a:bodyPr/>
          <a:lstStyle/>
          <a:p>
            <a:r>
              <a:rPr lang="en-US" dirty="0"/>
              <a:t>D:\DOT NET\50DotNetCore\</a:t>
            </a:r>
            <a:r>
              <a:rPr lang="en-US" dirty="0" err="1"/>
              <a:t>coreWebAPI</a:t>
            </a:r>
            <a:r>
              <a:rPr lang="en-US" dirty="0"/>
              <a:t>\</a:t>
            </a:r>
            <a:r>
              <a:rPr lang="en-US" dirty="0" err="1"/>
              <a:t>webapiAuthenticationdemo</a:t>
            </a:r>
            <a:r>
              <a:rPr lang="en-US"/>
              <a:t>\WebApplication1\WebApplication1</a:t>
            </a:r>
            <a:endParaRPr lang="en-IN"/>
          </a:p>
        </p:txBody>
      </p:sp>
    </p:spTree>
    <p:extLst>
      <p:ext uri="{BB962C8B-B14F-4D97-AF65-F5344CB8AC3E}">
        <p14:creationId xmlns:p14="http://schemas.microsoft.com/office/powerpoint/2010/main" val="275248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6020" y="297934"/>
            <a:ext cx="1326069" cy="369332"/>
          </a:xfrm>
          <a:prstGeom prst="rect">
            <a:avLst/>
          </a:prstGeom>
        </p:spPr>
        <p:txBody>
          <a:bodyPr wrap="none">
            <a:spAutoFit/>
          </a:bodyPr>
          <a:lstStyle/>
          <a:p>
            <a:r>
              <a:rPr lang="en-IN" dirty="0" err="1"/>
              <a:t>NotFound</a:t>
            </a:r>
            <a:r>
              <a:rPr lang="en-IN" dirty="0"/>
              <a:t>();</a:t>
            </a:r>
          </a:p>
        </p:txBody>
      </p:sp>
      <p:sp>
        <p:nvSpPr>
          <p:cNvPr id="5" name="Rectangle 4"/>
          <p:cNvSpPr/>
          <p:nvPr/>
        </p:nvSpPr>
        <p:spPr>
          <a:xfrm>
            <a:off x="2484581" y="0"/>
            <a:ext cx="9033164" cy="923330"/>
          </a:xfrm>
          <a:prstGeom prst="rect">
            <a:avLst/>
          </a:prstGeom>
        </p:spPr>
        <p:txBody>
          <a:bodyPr wrap="square">
            <a:spAutoFit/>
          </a:bodyPr>
          <a:lstStyle/>
          <a:p>
            <a:r>
              <a:rPr lang="en-IN" dirty="0">
                <a:solidFill>
                  <a:srgbClr val="008000"/>
                </a:solidFill>
                <a:latin typeface="Cascadia Mono" panose="020B0609020000020004" pitchFamily="49" charset="0"/>
              </a:rPr>
              <a:t>Creates an </a:t>
            </a:r>
            <a:r>
              <a:rPr lang="en-IN" dirty="0" err="1">
                <a:solidFill>
                  <a:srgbClr val="008000"/>
                </a:solidFill>
                <a:latin typeface="Cascadia Mono" panose="020B0609020000020004" pitchFamily="49" charset="0"/>
              </a:rPr>
              <a:t>Microsoft.AspNetCore.Mvc.NotFoundResult</a:t>
            </a:r>
            <a:r>
              <a:rPr lang="en-IN" dirty="0">
                <a:solidFill>
                  <a:srgbClr val="008000"/>
                </a:solidFill>
                <a:latin typeface="Cascadia Mono" panose="020B0609020000020004" pitchFamily="49" charset="0"/>
              </a:rPr>
              <a:t> that produces a </a:t>
            </a:r>
            <a:r>
              <a:rPr lang="en-IN" dirty="0" err="1">
                <a:solidFill>
                  <a:srgbClr val="008000"/>
                </a:solidFill>
                <a:latin typeface="Cascadia Mono" panose="020B0609020000020004" pitchFamily="49" charset="0"/>
              </a:rPr>
              <a:t>Microsoft.AspNetCore.Http.StatusCodes.Status</a:t>
            </a:r>
            <a:endParaRPr lang="en-IN" dirty="0">
              <a:solidFill>
                <a:srgbClr val="008000"/>
              </a:solidFill>
              <a:latin typeface="Cascadia Mono" panose="020B0609020000020004" pitchFamily="49" charset="0"/>
            </a:endParaRPr>
          </a:p>
          <a:p>
            <a:r>
              <a:rPr lang="en-IN" dirty="0">
                <a:solidFill>
                  <a:srgbClr val="008000"/>
                </a:solidFill>
                <a:latin typeface="Cascadia Mono" panose="020B0609020000020004" pitchFamily="49" charset="0"/>
              </a:rPr>
              <a:t>404 </a:t>
            </a:r>
            <a:r>
              <a:rPr lang="en-IN" dirty="0" err="1">
                <a:solidFill>
                  <a:srgbClr val="008000"/>
                </a:solidFill>
                <a:latin typeface="Cascadia Mono" panose="020B0609020000020004" pitchFamily="49" charset="0"/>
              </a:rPr>
              <a:t>NotFound</a:t>
            </a:r>
            <a:endParaRPr lang="en-IN" dirty="0">
              <a:solidFill>
                <a:srgbClr val="000000"/>
              </a:solidFill>
              <a:latin typeface="Cascadia Mono" panose="020B0609020000020004" pitchFamily="49" charset="0"/>
            </a:endParaRPr>
          </a:p>
        </p:txBody>
      </p:sp>
      <p:sp>
        <p:nvSpPr>
          <p:cNvPr id="6" name="Rectangle 5"/>
          <p:cNvSpPr/>
          <p:nvPr/>
        </p:nvSpPr>
        <p:spPr>
          <a:xfrm>
            <a:off x="196209" y="1424770"/>
            <a:ext cx="1935145" cy="369332"/>
          </a:xfrm>
          <a:prstGeom prst="rect">
            <a:avLst/>
          </a:prstGeom>
        </p:spPr>
        <p:txBody>
          <a:bodyPr wrap="none">
            <a:spAutoFit/>
          </a:bodyPr>
          <a:lstStyle/>
          <a:p>
            <a:r>
              <a:rPr lang="en-IN" dirty="0" err="1">
                <a:solidFill>
                  <a:srgbClr val="000000"/>
                </a:solidFill>
                <a:latin typeface="Cascadia Mono" panose="020B0609020000020004" pitchFamily="49" charset="0"/>
              </a:rPr>
              <a:t>BadRequest</a:t>
            </a:r>
            <a:r>
              <a:rPr lang="en-IN" dirty="0">
                <a:solidFill>
                  <a:srgbClr val="000000"/>
                </a:solidFill>
                <a:latin typeface="Cascadia Mono" panose="020B0609020000020004" pitchFamily="49" charset="0"/>
              </a:rPr>
              <a:t>();</a:t>
            </a:r>
            <a:endParaRPr lang="en-IN" dirty="0"/>
          </a:p>
        </p:txBody>
      </p:sp>
      <p:sp>
        <p:nvSpPr>
          <p:cNvPr id="7" name="Rectangle 6"/>
          <p:cNvSpPr/>
          <p:nvPr/>
        </p:nvSpPr>
        <p:spPr>
          <a:xfrm>
            <a:off x="2623128" y="1424770"/>
            <a:ext cx="8091054" cy="830997"/>
          </a:xfrm>
          <a:prstGeom prst="rect">
            <a:avLst/>
          </a:prstGeom>
        </p:spPr>
        <p:txBody>
          <a:bodyPr wrap="square">
            <a:spAutoFit/>
          </a:bodyPr>
          <a:lstStyle/>
          <a:p>
            <a:r>
              <a:rPr lang="en-IN" sz="1600" dirty="0">
                <a:solidFill>
                  <a:srgbClr val="008000"/>
                </a:solidFill>
                <a:latin typeface="Cascadia Mono" panose="020B0609020000020004" pitchFamily="49" charset="0"/>
              </a:rPr>
              <a:t>Creates an </a:t>
            </a:r>
            <a:r>
              <a:rPr lang="en-IN" sz="1600" dirty="0" err="1">
                <a:solidFill>
                  <a:srgbClr val="008000"/>
                </a:solidFill>
                <a:latin typeface="Cascadia Mono" panose="020B0609020000020004" pitchFamily="49" charset="0"/>
              </a:rPr>
              <a:t>Microsoft.AspNetCore.Mvc.BadRequestResult</a:t>
            </a:r>
            <a:r>
              <a:rPr lang="en-IN" sz="1600" dirty="0">
                <a:solidFill>
                  <a:srgbClr val="008000"/>
                </a:solidFill>
                <a:latin typeface="Cascadia Mono" panose="020B0609020000020004" pitchFamily="49" charset="0"/>
              </a:rPr>
              <a:t> that produces a </a:t>
            </a:r>
            <a:r>
              <a:rPr lang="en-IN" sz="1600" dirty="0" err="1">
                <a:solidFill>
                  <a:srgbClr val="008000"/>
                </a:solidFill>
                <a:latin typeface="Cascadia Mono" panose="020B0609020000020004" pitchFamily="49" charset="0"/>
              </a:rPr>
              <a:t>Microsoft.AspNetCore.Http.StatusCodes.Status</a:t>
            </a:r>
            <a:endParaRPr lang="en-IN" sz="1600" dirty="0">
              <a:solidFill>
                <a:srgbClr val="008000"/>
              </a:solidFill>
              <a:latin typeface="Cascadia Mono" panose="020B0609020000020004" pitchFamily="49" charset="0"/>
            </a:endParaRPr>
          </a:p>
          <a:p>
            <a:r>
              <a:rPr lang="en-IN" sz="1600" dirty="0">
                <a:solidFill>
                  <a:srgbClr val="008000"/>
                </a:solidFill>
                <a:latin typeface="Cascadia Mono" panose="020B0609020000020004" pitchFamily="49" charset="0"/>
              </a:rPr>
              <a:t>400  </a:t>
            </a:r>
            <a:r>
              <a:rPr lang="en-IN" sz="1600" dirty="0" err="1">
                <a:solidFill>
                  <a:srgbClr val="008000"/>
                </a:solidFill>
                <a:latin typeface="Cascadia Mono" panose="020B0609020000020004" pitchFamily="49" charset="0"/>
              </a:rPr>
              <a:t>BadRequest</a:t>
            </a:r>
            <a:endParaRPr lang="en-IN" sz="1600" dirty="0">
              <a:solidFill>
                <a:srgbClr val="000000"/>
              </a:solidFill>
              <a:latin typeface="Cascadia Mono" panose="020B0609020000020004" pitchFamily="49" charset="0"/>
            </a:endParaRPr>
          </a:p>
        </p:txBody>
      </p:sp>
      <p:sp>
        <p:nvSpPr>
          <p:cNvPr id="8" name="Rectangle 7"/>
          <p:cNvSpPr/>
          <p:nvPr/>
        </p:nvSpPr>
        <p:spPr>
          <a:xfrm>
            <a:off x="439026" y="2705725"/>
            <a:ext cx="1800493" cy="369332"/>
          </a:xfrm>
          <a:prstGeom prst="rect">
            <a:avLst/>
          </a:prstGeom>
        </p:spPr>
        <p:txBody>
          <a:bodyPr wrap="none">
            <a:spAutoFit/>
          </a:bodyPr>
          <a:lstStyle/>
          <a:p>
            <a:r>
              <a:rPr lang="en-IN" dirty="0" err="1">
                <a:solidFill>
                  <a:srgbClr val="000000"/>
                </a:solidFill>
                <a:latin typeface="Cascadia Mono" panose="020B0609020000020004" pitchFamily="49" charset="0"/>
              </a:rPr>
              <a:t>NoContent</a:t>
            </a:r>
            <a:r>
              <a:rPr lang="en-IN" dirty="0">
                <a:solidFill>
                  <a:srgbClr val="000000"/>
                </a:solidFill>
                <a:latin typeface="Cascadia Mono" panose="020B0609020000020004" pitchFamily="49" charset="0"/>
              </a:rPr>
              <a:t>();</a:t>
            </a:r>
            <a:endParaRPr lang="en-IN" dirty="0"/>
          </a:p>
        </p:txBody>
      </p:sp>
      <p:sp>
        <p:nvSpPr>
          <p:cNvPr id="9" name="Rectangle 8"/>
          <p:cNvSpPr/>
          <p:nvPr/>
        </p:nvSpPr>
        <p:spPr>
          <a:xfrm>
            <a:off x="2484581" y="2551837"/>
            <a:ext cx="9605819" cy="738664"/>
          </a:xfrm>
          <a:prstGeom prst="rect">
            <a:avLst/>
          </a:prstGeom>
        </p:spPr>
        <p:txBody>
          <a:bodyPr wrap="square">
            <a:spAutoFit/>
          </a:bodyPr>
          <a:lstStyle/>
          <a:p>
            <a:r>
              <a:rPr lang="en-US" sz="1400" dirty="0">
                <a:solidFill>
                  <a:srgbClr val="008000"/>
                </a:solidFill>
                <a:latin typeface="Cascadia Mono" panose="020B0609020000020004" pitchFamily="49" charset="0"/>
              </a:rPr>
              <a:t>Creates a </a:t>
            </a:r>
            <a:r>
              <a:rPr lang="en-US" sz="1400" dirty="0" err="1">
                <a:solidFill>
                  <a:srgbClr val="008000"/>
                </a:solidFill>
                <a:latin typeface="Cascadia Mono" panose="020B0609020000020004" pitchFamily="49" charset="0"/>
              </a:rPr>
              <a:t>Microsoft.AspNetCore.Mvc.NoContentResult</a:t>
            </a:r>
            <a:r>
              <a:rPr lang="en-US" sz="1400" dirty="0">
                <a:solidFill>
                  <a:srgbClr val="008000"/>
                </a:solidFill>
                <a:latin typeface="Cascadia Mono" panose="020B0609020000020004" pitchFamily="49" charset="0"/>
              </a:rPr>
              <a:t> object that produces an empty</a:t>
            </a:r>
            <a:endParaRPr lang="en-US"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8000"/>
                </a:solidFill>
                <a:latin typeface="Cascadia Mono" panose="020B0609020000020004" pitchFamily="49" charset="0"/>
              </a:rPr>
              <a:t>//     </a:t>
            </a:r>
            <a:r>
              <a:rPr lang="en-IN" sz="1400" dirty="0" err="1">
                <a:solidFill>
                  <a:srgbClr val="008000"/>
                </a:solidFill>
                <a:latin typeface="Cascadia Mono" panose="020B0609020000020004" pitchFamily="49" charset="0"/>
              </a:rPr>
              <a:t>Microsoft.AspNetCore.Http.StatusCodes.Status</a:t>
            </a:r>
            <a:endParaRPr lang="en-IN" sz="1400" dirty="0">
              <a:solidFill>
                <a:srgbClr val="008000"/>
              </a:solidFill>
              <a:latin typeface="Cascadia Mono" panose="020B0609020000020004" pitchFamily="49" charset="0"/>
            </a:endParaRPr>
          </a:p>
          <a:p>
            <a:r>
              <a:rPr lang="en-IN" sz="1400" dirty="0">
                <a:solidFill>
                  <a:srgbClr val="008000"/>
                </a:solidFill>
                <a:latin typeface="Cascadia Mono" panose="020B0609020000020004" pitchFamily="49" charset="0"/>
              </a:rPr>
              <a:t>204     </a:t>
            </a:r>
            <a:r>
              <a:rPr lang="en-IN" sz="1400" dirty="0" err="1">
                <a:solidFill>
                  <a:srgbClr val="008000"/>
                </a:solidFill>
                <a:latin typeface="Cascadia Mono" panose="020B0609020000020004" pitchFamily="49" charset="0"/>
              </a:rPr>
              <a:t>NoContent</a:t>
            </a:r>
            <a:r>
              <a:rPr lang="en-IN" sz="1400" dirty="0">
                <a:solidFill>
                  <a:srgbClr val="008000"/>
                </a:solidFill>
                <a:latin typeface="Cascadia Mono" panose="020B0609020000020004" pitchFamily="49" charset="0"/>
              </a:rPr>
              <a:t>.</a:t>
            </a:r>
            <a:endParaRPr lang="en-IN" sz="1400" dirty="0"/>
          </a:p>
        </p:txBody>
      </p:sp>
      <p:sp>
        <p:nvSpPr>
          <p:cNvPr id="10" name="Rectangle 9"/>
          <p:cNvSpPr/>
          <p:nvPr/>
        </p:nvSpPr>
        <p:spPr>
          <a:xfrm>
            <a:off x="196209" y="3986680"/>
            <a:ext cx="6096000" cy="261610"/>
          </a:xfrm>
          <a:prstGeom prst="rect">
            <a:avLst/>
          </a:prstGeom>
        </p:spPr>
        <p:txBody>
          <a:bodyPr>
            <a:spAutoFit/>
          </a:bodyPr>
          <a:lstStyle/>
          <a:p>
            <a:r>
              <a:rPr lang="en-US" sz="1100" dirty="0" err="1">
                <a:solidFill>
                  <a:srgbClr val="000000"/>
                </a:solidFill>
                <a:latin typeface="Cascadia Mono" panose="020B0609020000020004" pitchFamily="49" charset="0"/>
              </a:rPr>
              <a:t>CreatedAtAction</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a:t>
            </a:r>
            <a:r>
              <a:rPr lang="en-US" sz="1100" dirty="0" err="1">
                <a:solidFill>
                  <a:srgbClr val="A31515"/>
                </a:solidFill>
                <a:latin typeface="Cascadia Mono" panose="020B0609020000020004" pitchFamily="49" charset="0"/>
              </a:rPr>
              <a:t>PostEmployee</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 id = </a:t>
            </a:r>
            <a:r>
              <a:rPr lang="en-US" sz="1100" dirty="0" err="1">
                <a:solidFill>
                  <a:srgbClr val="000000"/>
                </a:solidFill>
                <a:latin typeface="Cascadia Mono" panose="020B0609020000020004" pitchFamily="49" charset="0"/>
              </a:rPr>
              <a:t>employee.Id</a:t>
            </a:r>
            <a:r>
              <a:rPr lang="en-US" sz="1100" dirty="0">
                <a:solidFill>
                  <a:srgbClr val="000000"/>
                </a:solidFill>
                <a:latin typeface="Cascadia Mono" panose="020B0609020000020004" pitchFamily="49" charset="0"/>
              </a:rPr>
              <a:t> }, employee);</a:t>
            </a:r>
            <a:endParaRPr lang="en-IN" sz="1100" dirty="0"/>
          </a:p>
        </p:txBody>
      </p:sp>
      <p:sp>
        <p:nvSpPr>
          <p:cNvPr id="11" name="Rectangle 10"/>
          <p:cNvSpPr/>
          <p:nvPr/>
        </p:nvSpPr>
        <p:spPr>
          <a:xfrm>
            <a:off x="5985164" y="3698139"/>
            <a:ext cx="6844145" cy="577081"/>
          </a:xfrm>
          <a:prstGeom prst="rect">
            <a:avLst/>
          </a:prstGeom>
        </p:spPr>
        <p:txBody>
          <a:bodyPr wrap="square">
            <a:spAutoFit/>
          </a:bodyPr>
          <a:lstStyle/>
          <a:p>
            <a:r>
              <a:rPr lang="en-US" sz="1050" dirty="0">
                <a:solidFill>
                  <a:srgbClr val="008000"/>
                </a:solidFill>
                <a:latin typeface="Cascadia Mono" panose="020B0609020000020004" pitchFamily="49" charset="0"/>
              </a:rPr>
              <a:t> Creates a </a:t>
            </a:r>
            <a:r>
              <a:rPr lang="en-US" sz="1050" dirty="0" err="1">
                <a:solidFill>
                  <a:srgbClr val="008000"/>
                </a:solidFill>
                <a:latin typeface="Cascadia Mono" panose="020B0609020000020004" pitchFamily="49" charset="0"/>
              </a:rPr>
              <a:t>Microsoft.AspNetCore.Mvc.CreatedAtActionResult</a:t>
            </a:r>
            <a:r>
              <a:rPr lang="en-US" sz="1050" dirty="0">
                <a:solidFill>
                  <a:srgbClr val="008000"/>
                </a:solidFill>
                <a:latin typeface="Cascadia Mono" panose="020B0609020000020004" pitchFamily="49" charset="0"/>
              </a:rPr>
              <a:t> object that produces</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8000"/>
                </a:solidFill>
                <a:latin typeface="Cascadia Mono" panose="020B0609020000020004" pitchFamily="49" charset="0"/>
              </a:rPr>
              <a:t>//     a </a:t>
            </a:r>
            <a:r>
              <a:rPr lang="en-IN" sz="1050" dirty="0" err="1">
                <a:solidFill>
                  <a:srgbClr val="008000"/>
                </a:solidFill>
                <a:latin typeface="Cascadia Mono" panose="020B0609020000020004" pitchFamily="49" charset="0"/>
              </a:rPr>
              <a:t>Microsoft.AspNetCore.Http.StatusCodes.Status</a:t>
            </a:r>
            <a:endParaRPr lang="en-IN" sz="1050" dirty="0">
              <a:solidFill>
                <a:srgbClr val="008000"/>
              </a:solidFill>
              <a:latin typeface="Cascadia Mono" panose="020B0609020000020004" pitchFamily="49" charset="0"/>
            </a:endParaRPr>
          </a:p>
          <a:p>
            <a:r>
              <a:rPr lang="en-IN" sz="1050" dirty="0">
                <a:solidFill>
                  <a:srgbClr val="008000"/>
                </a:solidFill>
                <a:latin typeface="Cascadia Mono" panose="020B0609020000020004" pitchFamily="49" charset="0"/>
              </a:rPr>
              <a:t>201    Created response.</a:t>
            </a:r>
            <a:endParaRPr lang="en-IN" sz="1050" dirty="0"/>
          </a:p>
        </p:txBody>
      </p:sp>
      <p:sp>
        <p:nvSpPr>
          <p:cNvPr id="12" name="Rectangle 11"/>
          <p:cNvSpPr/>
          <p:nvPr/>
        </p:nvSpPr>
        <p:spPr>
          <a:xfrm>
            <a:off x="-1" y="4399469"/>
            <a:ext cx="11517745" cy="2123658"/>
          </a:xfrm>
          <a:prstGeom prst="rect">
            <a:avLst/>
          </a:prstGeom>
        </p:spPr>
        <p:txBody>
          <a:bodyPr wrap="square">
            <a:spAutoFit/>
          </a:bodyPr>
          <a:lstStyle/>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Summary:</a:t>
            </a:r>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Creates a </a:t>
            </a:r>
            <a:r>
              <a:rPr lang="en-US" sz="1100" dirty="0" err="1">
                <a:solidFill>
                  <a:srgbClr val="008000"/>
                </a:solidFill>
                <a:latin typeface="Cascadia Mono" panose="020B0609020000020004" pitchFamily="49" charset="0"/>
              </a:rPr>
              <a:t>Microsoft.AspNetCore.Mvc.CreatedAtActionResult</a:t>
            </a:r>
            <a:r>
              <a:rPr lang="en-US" sz="1100" dirty="0">
                <a:solidFill>
                  <a:srgbClr val="008000"/>
                </a:solidFill>
                <a:latin typeface="Cascadia Mono" panose="020B0609020000020004" pitchFamily="49" charset="0"/>
              </a:rPr>
              <a:t> object that produces</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 Microsoft.AspNetCore.Http.StatusCodes.Status201Created response.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Parameters:</a:t>
            </a:r>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actionName</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name of the action to use for generating the URL.</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routeValues</a:t>
            </a:r>
            <a:r>
              <a:rPr lang="en-IN" sz="1100" dirty="0">
                <a:solidFill>
                  <a:srgbClr val="008000"/>
                </a:solidFill>
                <a:latin typeface="Cascadia Mono" panose="020B0609020000020004" pitchFamily="49" charset="0"/>
              </a:rPr>
              <a:t>:</a:t>
            </a:r>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route data to use for generating the URL.</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value:</a:t>
            </a:r>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content value to format in the entity body.</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 Returns:</a:t>
            </a:r>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The created </a:t>
            </a:r>
            <a:r>
              <a:rPr lang="en-US" sz="1100" dirty="0" err="1">
                <a:solidFill>
                  <a:srgbClr val="008000"/>
                </a:solidFill>
                <a:latin typeface="Cascadia Mono" panose="020B0609020000020004" pitchFamily="49" charset="0"/>
              </a:rPr>
              <a:t>Microsoft.AspNetCore.Mvc.CreatedAtActionResult</a:t>
            </a:r>
            <a:r>
              <a:rPr lang="en-US" sz="1100" dirty="0">
                <a:solidFill>
                  <a:srgbClr val="008000"/>
                </a:solidFill>
                <a:latin typeface="Cascadia Mono" panose="020B0609020000020004" pitchFamily="49" charset="0"/>
              </a:rPr>
              <a:t> for the response.</a:t>
            </a:r>
            <a:endParaRPr lang="en-IN" sz="1100" dirty="0"/>
          </a:p>
        </p:txBody>
      </p:sp>
    </p:spTree>
    <p:extLst>
      <p:ext uri="{BB962C8B-B14F-4D97-AF65-F5344CB8AC3E}">
        <p14:creationId xmlns:p14="http://schemas.microsoft.com/office/powerpoint/2010/main" val="3863941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1600" y="193963"/>
            <a:ext cx="6188364" cy="923330"/>
          </a:xfrm>
          <a:prstGeom prst="rect">
            <a:avLst/>
          </a:prstGeom>
        </p:spPr>
        <p:txBody>
          <a:bodyPr wrap="square">
            <a:spAutoFit/>
          </a:bodyPr>
          <a:lstStyle/>
          <a:p>
            <a:r>
              <a:rPr lang="en-US" dirty="0"/>
              <a:t>The most basic action returns a primitive or complex data type, for example, string or a custom object. Consider the following action, which returns a collection of custom Product objects:</a:t>
            </a:r>
          </a:p>
        </p:txBody>
      </p:sp>
      <p:sp>
        <p:nvSpPr>
          <p:cNvPr id="6" name="Rectangle 5"/>
          <p:cNvSpPr/>
          <p:nvPr/>
        </p:nvSpPr>
        <p:spPr>
          <a:xfrm>
            <a:off x="240146" y="1434236"/>
            <a:ext cx="6096000" cy="1754326"/>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lvl="0"/>
            <a:r>
              <a:rPr lang="en-US" dirty="0">
                <a:solidFill>
                  <a:prstClr val="black"/>
                </a:solidFill>
              </a:rPr>
              <a:t>C#</a:t>
            </a:r>
          </a:p>
          <a:p>
            <a:pPr lvl="0"/>
            <a:endParaRPr lang="en-US" dirty="0">
              <a:solidFill>
                <a:prstClr val="black"/>
              </a:solidFill>
            </a:endParaRPr>
          </a:p>
          <a:p>
            <a:pPr lvl="0"/>
            <a:r>
              <a:rPr lang="en-US" dirty="0">
                <a:solidFill>
                  <a:prstClr val="black"/>
                </a:solidFill>
              </a:rPr>
              <a:t>[</a:t>
            </a:r>
            <a:r>
              <a:rPr lang="en-US" dirty="0" err="1">
                <a:solidFill>
                  <a:prstClr val="black"/>
                </a:solidFill>
              </a:rPr>
              <a:t>HttpGet</a:t>
            </a:r>
            <a:r>
              <a:rPr lang="en-US" dirty="0">
                <a:solidFill>
                  <a:prstClr val="black"/>
                </a:solidFill>
              </a:rPr>
              <a:t>]</a:t>
            </a:r>
          </a:p>
          <a:p>
            <a:pPr lvl="0"/>
            <a:r>
              <a:rPr lang="en-US" dirty="0">
                <a:solidFill>
                  <a:prstClr val="black"/>
                </a:solidFill>
              </a:rPr>
              <a:t>public Task&lt;List&lt;Product&gt;&gt; Get() =&gt;</a:t>
            </a:r>
          </a:p>
          <a:p>
            <a:pPr lvl="0"/>
            <a:r>
              <a:rPr lang="en-US" dirty="0">
                <a:solidFill>
                  <a:prstClr val="black"/>
                </a:solidFill>
              </a:rPr>
              <a:t>    _</a:t>
            </a:r>
            <a:r>
              <a:rPr lang="en-US" dirty="0" err="1">
                <a:solidFill>
                  <a:prstClr val="black"/>
                </a:solidFill>
              </a:rPr>
              <a:t>productContext.Products.OrderBy</a:t>
            </a:r>
            <a:r>
              <a:rPr lang="en-US" dirty="0">
                <a:solidFill>
                  <a:prstClr val="black"/>
                </a:solidFill>
              </a:rPr>
              <a:t>(p =&gt; </a:t>
            </a:r>
            <a:r>
              <a:rPr lang="en-US" dirty="0" err="1">
                <a:solidFill>
                  <a:prstClr val="black"/>
                </a:solidFill>
              </a:rPr>
              <a:t>p.Name</a:t>
            </a:r>
            <a:r>
              <a:rPr lang="en-US" dirty="0">
                <a:solidFill>
                  <a:prstClr val="black"/>
                </a:solidFill>
              </a:rPr>
              <a:t>).</a:t>
            </a:r>
            <a:r>
              <a:rPr lang="en-US" dirty="0" err="1">
                <a:solidFill>
                  <a:prstClr val="black"/>
                </a:solidFill>
              </a:rPr>
              <a:t>ToListAsync</a:t>
            </a:r>
            <a:r>
              <a:rPr lang="en-US" dirty="0">
                <a:solidFill>
                  <a:prstClr val="black"/>
                </a:solidFill>
              </a:rPr>
              <a:t>();</a:t>
            </a:r>
          </a:p>
        </p:txBody>
      </p:sp>
      <p:sp>
        <p:nvSpPr>
          <p:cNvPr id="7" name="Rectangle 6"/>
          <p:cNvSpPr/>
          <p:nvPr/>
        </p:nvSpPr>
        <p:spPr>
          <a:xfrm>
            <a:off x="193964" y="3308635"/>
            <a:ext cx="6096000" cy="2585323"/>
          </a:xfrm>
          <a:prstGeom prst="rect">
            <a:avLst/>
          </a:prstGeom>
        </p:spPr>
        <p:txBody>
          <a:bodyPr>
            <a:spAutoFit/>
          </a:bodyPr>
          <a:lstStyle/>
          <a:p>
            <a:endParaRPr lang="en-US" dirty="0"/>
          </a:p>
          <a:p>
            <a:r>
              <a:rPr lang="en-US" dirty="0"/>
              <a:t>Without known conditions to safeguard against, returning a specific type could suffice. The preceding action accepts no parameters, so parameter constraints validation isn't needed.</a:t>
            </a:r>
          </a:p>
          <a:p>
            <a:endParaRPr lang="en-US" dirty="0"/>
          </a:p>
          <a:p>
            <a:r>
              <a:rPr lang="en-US" dirty="0"/>
              <a:t>When multiple return types are possible, it's common to mix an </a:t>
            </a:r>
            <a:r>
              <a:rPr lang="en-US" dirty="0" err="1"/>
              <a:t>ActionResult</a:t>
            </a:r>
            <a:r>
              <a:rPr lang="en-US" dirty="0"/>
              <a:t> return type with the primitive or complex return type. Either </a:t>
            </a:r>
            <a:r>
              <a:rPr lang="en-US" dirty="0" err="1"/>
              <a:t>IActionResult</a:t>
            </a:r>
            <a:r>
              <a:rPr lang="en-US" dirty="0"/>
              <a:t> or </a:t>
            </a:r>
            <a:r>
              <a:rPr lang="en-US" dirty="0" err="1"/>
              <a:t>ActionResult</a:t>
            </a:r>
            <a:r>
              <a:rPr lang="en-US" dirty="0"/>
              <a:t>&lt;T&gt; are necessary to accommodate this type of action.</a:t>
            </a:r>
            <a:endParaRPr lang="en-IN" dirty="0"/>
          </a:p>
        </p:txBody>
      </p:sp>
      <p:sp>
        <p:nvSpPr>
          <p:cNvPr id="8" name="Rectangle 7"/>
          <p:cNvSpPr/>
          <p:nvPr/>
        </p:nvSpPr>
        <p:spPr>
          <a:xfrm>
            <a:off x="6662651" y="-117060"/>
            <a:ext cx="5043054" cy="6463308"/>
          </a:xfrm>
          <a:prstGeom prst="rect">
            <a:avLst/>
          </a:prstGeom>
        </p:spPr>
        <p:txBody>
          <a:bodyPr wrap="square">
            <a:spAutoFit/>
          </a:bodyPr>
          <a:lstStyle/>
          <a:p>
            <a:r>
              <a:rPr lang="en-US" dirty="0"/>
              <a:t> The </a:t>
            </a:r>
            <a:r>
              <a:rPr lang="en-US" b="1" dirty="0" err="1"/>
              <a:t>ActionResult</a:t>
            </a:r>
            <a:r>
              <a:rPr lang="en-US" b="1" dirty="0"/>
              <a:t> types </a:t>
            </a:r>
            <a:r>
              <a:rPr lang="en-US" dirty="0"/>
              <a:t>represent various </a:t>
            </a:r>
            <a:r>
              <a:rPr lang="en-US" b="1" dirty="0"/>
              <a:t>HTTP status codes.</a:t>
            </a:r>
            <a:r>
              <a:rPr lang="en-US" dirty="0"/>
              <a:t> Any non-abstract class deriving from </a:t>
            </a:r>
            <a:r>
              <a:rPr lang="en-US" dirty="0" err="1"/>
              <a:t>ActionResult</a:t>
            </a:r>
            <a:r>
              <a:rPr lang="en-US" dirty="0"/>
              <a:t> qualifies as a valid return type. Some common return types in this category are </a:t>
            </a:r>
            <a:r>
              <a:rPr lang="en-US" dirty="0" err="1"/>
              <a:t>BadRequestResult</a:t>
            </a:r>
            <a:r>
              <a:rPr lang="en-US" dirty="0"/>
              <a:t> (400), </a:t>
            </a:r>
          </a:p>
          <a:p>
            <a:r>
              <a:rPr lang="en-US" dirty="0" err="1"/>
              <a:t>NotFoundResult</a:t>
            </a:r>
            <a:r>
              <a:rPr lang="en-US" dirty="0"/>
              <a:t> (404), and</a:t>
            </a:r>
          </a:p>
          <a:p>
            <a:r>
              <a:rPr lang="en-US" dirty="0"/>
              <a:t> </a:t>
            </a:r>
            <a:r>
              <a:rPr lang="en-US" dirty="0" err="1"/>
              <a:t>OkObjectResult</a:t>
            </a:r>
            <a:r>
              <a:rPr lang="en-US" dirty="0"/>
              <a:t> (200). </a:t>
            </a:r>
          </a:p>
          <a:p>
            <a:endParaRPr lang="en-US" dirty="0"/>
          </a:p>
          <a:p>
            <a:r>
              <a:rPr lang="en-US" dirty="0"/>
              <a:t>Alternatively, convenience methods in the </a:t>
            </a:r>
            <a:r>
              <a:rPr lang="en-US" dirty="0" err="1"/>
              <a:t>ControllerBase</a:t>
            </a:r>
            <a:r>
              <a:rPr lang="en-US" dirty="0"/>
              <a:t> class can be used to return </a:t>
            </a:r>
            <a:r>
              <a:rPr lang="en-US" dirty="0" err="1"/>
              <a:t>ActionResult</a:t>
            </a:r>
            <a:r>
              <a:rPr lang="en-US" dirty="0"/>
              <a:t> types from an action. For example, return </a:t>
            </a:r>
            <a:r>
              <a:rPr lang="en-US" dirty="0" err="1"/>
              <a:t>BadRequest</a:t>
            </a:r>
            <a:r>
              <a:rPr lang="en-US" dirty="0"/>
              <a:t>(); is a shorthand form of return </a:t>
            </a:r>
            <a:r>
              <a:rPr lang="en-US" b="1" dirty="0"/>
              <a:t>new </a:t>
            </a:r>
            <a:r>
              <a:rPr lang="en-US" b="1" dirty="0" err="1"/>
              <a:t>BadRequestResult</a:t>
            </a:r>
            <a:r>
              <a:rPr lang="en-US" b="1" dirty="0"/>
              <a:t>();.</a:t>
            </a:r>
          </a:p>
          <a:p>
            <a:endParaRPr lang="en-US" dirty="0"/>
          </a:p>
          <a:p>
            <a:r>
              <a:rPr lang="en-US" dirty="0"/>
              <a:t>Because there are multiple return types and paths in this type of action, liberal use of the [</a:t>
            </a:r>
            <a:r>
              <a:rPr lang="en-US" dirty="0" err="1"/>
              <a:t>ProducesResponseType</a:t>
            </a:r>
            <a:r>
              <a:rPr lang="en-US" dirty="0"/>
              <a:t>] attribute is necessary. </a:t>
            </a:r>
          </a:p>
          <a:p>
            <a:endParaRPr lang="en-US" dirty="0"/>
          </a:p>
          <a:p>
            <a:r>
              <a:rPr lang="en-US" dirty="0"/>
              <a:t>This attribute produces more descriptive response details for web API help pages generated by tools like Swagger. [</a:t>
            </a:r>
            <a:r>
              <a:rPr lang="en-US" dirty="0" err="1"/>
              <a:t>ProducesResponseType</a:t>
            </a:r>
            <a:r>
              <a:rPr lang="en-US" dirty="0"/>
              <a:t>] indicates the known types and HTTP status codes to be returned by the action.</a:t>
            </a:r>
            <a:endParaRPr lang="en-IN" dirty="0"/>
          </a:p>
        </p:txBody>
      </p:sp>
      <p:sp>
        <p:nvSpPr>
          <p:cNvPr id="9" name="Rectangle 8"/>
          <p:cNvSpPr/>
          <p:nvPr/>
        </p:nvSpPr>
        <p:spPr>
          <a:xfrm>
            <a:off x="240146" y="6211669"/>
            <a:ext cx="6096000" cy="646331"/>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n-IN" dirty="0"/>
              <a:t>https://learn.microsoft.com/en-us/aspnet/core/web-api/action-return-types?view=aspnetcore-7.0</a:t>
            </a:r>
          </a:p>
        </p:txBody>
      </p:sp>
    </p:spTree>
    <p:extLst>
      <p:ext uri="{BB962C8B-B14F-4D97-AF65-F5344CB8AC3E}">
        <p14:creationId xmlns:p14="http://schemas.microsoft.com/office/powerpoint/2010/main" val="135718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8909" y="289203"/>
            <a:ext cx="9051636" cy="3139321"/>
          </a:xfrm>
          <a:prstGeom prst="rect">
            <a:avLst/>
          </a:prstGeom>
        </p:spPr>
        <p:txBody>
          <a:bodyPr wrap="square">
            <a:spAutoFit/>
          </a:bodyPr>
          <a:lstStyle/>
          <a:p>
            <a:r>
              <a:rPr lang="en-IN" dirty="0"/>
              <a:t>[</a:t>
            </a:r>
            <a:r>
              <a:rPr lang="en-IN" dirty="0" err="1"/>
              <a:t>HttpPost</a:t>
            </a:r>
            <a:r>
              <a:rPr lang="en-IN" dirty="0"/>
              <a:t>]</a:t>
            </a:r>
          </a:p>
          <a:p>
            <a:r>
              <a:rPr lang="en-IN" dirty="0"/>
              <a:t>[</a:t>
            </a:r>
            <a:r>
              <a:rPr lang="en-IN" dirty="0" err="1"/>
              <a:t>ProducesResponseType</a:t>
            </a:r>
            <a:r>
              <a:rPr lang="en-IN" dirty="0"/>
              <a:t>(StatusCodes.Status201Created)]</a:t>
            </a:r>
          </a:p>
          <a:p>
            <a:r>
              <a:rPr lang="en-IN" dirty="0"/>
              <a:t>[</a:t>
            </a:r>
            <a:r>
              <a:rPr lang="en-IN" dirty="0" err="1"/>
              <a:t>ProducesResponseType</a:t>
            </a:r>
            <a:r>
              <a:rPr lang="en-IN" dirty="0"/>
              <a:t>(StatusCodes.Status400BadRequest)]</a:t>
            </a:r>
          </a:p>
          <a:p>
            <a:r>
              <a:rPr lang="en-IN" dirty="0"/>
              <a:t>public </a:t>
            </a:r>
            <a:r>
              <a:rPr lang="en-IN" dirty="0" err="1"/>
              <a:t>ActionResult</a:t>
            </a:r>
            <a:r>
              <a:rPr lang="en-IN" dirty="0"/>
              <a:t>&lt;Pet&gt; Create(Pet pet)</a:t>
            </a:r>
          </a:p>
          <a:p>
            <a:r>
              <a:rPr lang="en-IN" dirty="0"/>
              <a:t>{</a:t>
            </a:r>
          </a:p>
          <a:p>
            <a:r>
              <a:rPr lang="en-IN" dirty="0"/>
              <a:t>    </a:t>
            </a:r>
            <a:r>
              <a:rPr lang="en-IN" dirty="0" err="1"/>
              <a:t>pet.Id</a:t>
            </a:r>
            <a:r>
              <a:rPr lang="en-IN" dirty="0"/>
              <a:t> = _</a:t>
            </a:r>
            <a:r>
              <a:rPr lang="en-IN" dirty="0" err="1"/>
              <a:t>petsInMemoryStore.Any</a:t>
            </a:r>
            <a:r>
              <a:rPr lang="en-IN" dirty="0"/>
              <a:t>() ? </a:t>
            </a:r>
          </a:p>
          <a:p>
            <a:r>
              <a:rPr lang="en-IN" dirty="0"/>
              <a:t>             _</a:t>
            </a:r>
            <a:r>
              <a:rPr lang="en-IN" dirty="0" err="1"/>
              <a:t>petsInMemoryStore.Max</a:t>
            </a:r>
            <a:r>
              <a:rPr lang="en-IN" dirty="0"/>
              <a:t>(p =&gt; </a:t>
            </a:r>
            <a:r>
              <a:rPr lang="en-IN" dirty="0" err="1"/>
              <a:t>p.Id</a:t>
            </a:r>
            <a:r>
              <a:rPr lang="en-IN" dirty="0"/>
              <a:t>) + 1 : 1;</a:t>
            </a:r>
          </a:p>
          <a:p>
            <a:r>
              <a:rPr lang="en-IN" dirty="0"/>
              <a:t>    _</a:t>
            </a:r>
            <a:r>
              <a:rPr lang="en-IN" dirty="0" err="1"/>
              <a:t>petsInMemoryStore.Add</a:t>
            </a:r>
            <a:r>
              <a:rPr lang="en-IN" dirty="0"/>
              <a:t>(pet);</a:t>
            </a:r>
          </a:p>
          <a:p>
            <a:endParaRPr lang="en-IN" dirty="0"/>
          </a:p>
          <a:p>
            <a:r>
              <a:rPr lang="en-IN" dirty="0"/>
              <a:t>    return </a:t>
            </a:r>
            <a:r>
              <a:rPr lang="en-IN" dirty="0" err="1"/>
              <a:t>CreatedAtAction</a:t>
            </a:r>
            <a:r>
              <a:rPr lang="en-IN" dirty="0"/>
              <a:t>(</a:t>
            </a:r>
            <a:r>
              <a:rPr lang="en-IN" dirty="0" err="1"/>
              <a:t>nameof</a:t>
            </a:r>
            <a:r>
              <a:rPr lang="en-IN" dirty="0"/>
              <a:t>(</a:t>
            </a:r>
            <a:r>
              <a:rPr lang="en-IN" dirty="0" err="1"/>
              <a:t>GetById</a:t>
            </a:r>
            <a:r>
              <a:rPr lang="en-IN" dirty="0"/>
              <a:t>), new { id = </a:t>
            </a:r>
            <a:r>
              <a:rPr lang="en-IN" dirty="0" err="1"/>
              <a:t>pet.Id</a:t>
            </a:r>
            <a:r>
              <a:rPr lang="en-IN" dirty="0"/>
              <a:t> }, pet);</a:t>
            </a:r>
          </a:p>
          <a:p>
            <a:r>
              <a:rPr lang="en-IN" dirty="0"/>
              <a:t>}</a:t>
            </a:r>
          </a:p>
        </p:txBody>
      </p:sp>
    </p:spTree>
    <p:extLst>
      <p:ext uri="{BB962C8B-B14F-4D97-AF65-F5344CB8AC3E}">
        <p14:creationId xmlns:p14="http://schemas.microsoft.com/office/powerpoint/2010/main" val="390705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90D0-771E-1206-C9D7-3CC1B58F2C56}"/>
              </a:ext>
            </a:extLst>
          </p:cNvPr>
          <p:cNvSpPr>
            <a:spLocks noGrp="1"/>
          </p:cNvSpPr>
          <p:nvPr>
            <p:ph type="title"/>
          </p:nvPr>
        </p:nvSpPr>
        <p:spPr>
          <a:xfrm>
            <a:off x="1025387" y="176281"/>
            <a:ext cx="10141226" cy="598971"/>
          </a:xfrm>
        </p:spPr>
        <p:txBody>
          <a:bodyPr>
            <a:normAutofit fontScale="90000"/>
          </a:bodyPr>
          <a:lstStyle/>
          <a:p>
            <a:r>
              <a:rPr lang="en-US" dirty="0"/>
              <a:t>Update explanation</a:t>
            </a:r>
            <a:endParaRPr lang="en-IN" dirty="0"/>
          </a:p>
        </p:txBody>
      </p:sp>
      <p:sp>
        <p:nvSpPr>
          <p:cNvPr id="7" name="TextBox 6">
            <a:extLst>
              <a:ext uri="{FF2B5EF4-FFF2-40B4-BE49-F238E27FC236}">
                <a16:creationId xmlns:a16="http://schemas.microsoft.com/office/drawing/2014/main" id="{90101F37-A601-867C-2C45-12B9C264F6D3}"/>
              </a:ext>
            </a:extLst>
          </p:cNvPr>
          <p:cNvSpPr txBox="1"/>
          <p:nvPr/>
        </p:nvSpPr>
        <p:spPr>
          <a:xfrm>
            <a:off x="285749" y="872128"/>
            <a:ext cx="6184625" cy="5078313"/>
          </a:xfrm>
          <a:prstGeom prst="rect">
            <a:avLst/>
          </a:prstGeom>
          <a:noFill/>
        </p:spPr>
        <p:txBody>
          <a:bodyPr wrap="square">
            <a:spAutoFit/>
          </a:bodyPr>
          <a:lstStyle/>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async</a:t>
            </a:r>
            <a:r>
              <a:rPr lang="en-US" sz="1200" dirty="0">
                <a:solidFill>
                  <a:srgbClr val="000000"/>
                </a:solidFill>
                <a:latin typeface="Cascadia Mono" panose="020B0609020000020004" pitchFamily="49" charset="0"/>
              </a:rPr>
              <a:t> Task&lt;Employee?&gt; Update(</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 Employee employee)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if</a:t>
            </a:r>
            <a:r>
              <a:rPr lang="en-IN" sz="1200" dirty="0">
                <a:solidFill>
                  <a:srgbClr val="000000"/>
                </a:solidFill>
                <a:latin typeface="Cascadia Mono" panose="020B0609020000020004" pitchFamily="49" charset="0"/>
              </a:rPr>
              <a:t> (id != </a:t>
            </a:r>
            <a:r>
              <a:rPr lang="en-IN" sz="1200" dirty="0" err="1">
                <a:solidFill>
                  <a:srgbClr val="000000"/>
                </a:solidFill>
                <a:latin typeface="Cascadia Mono" panose="020B0609020000020004" pitchFamily="49" charset="0"/>
              </a:rPr>
              <a:t>employee.Id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null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context.Entry</a:t>
            </a:r>
            <a:r>
              <a:rPr lang="en-US" sz="1200" dirty="0">
                <a:solidFill>
                  <a:srgbClr val="000000"/>
                </a:solidFill>
                <a:latin typeface="Cascadia Mono" panose="020B0609020000020004" pitchFamily="49" charset="0"/>
              </a:rPr>
              <a:t>(employee).State = </a:t>
            </a:r>
            <a:r>
              <a:rPr lang="en-US" sz="1200" dirty="0" err="1">
                <a:solidFill>
                  <a:srgbClr val="000000"/>
                </a:solidFill>
                <a:latin typeface="Cascadia Mono" panose="020B0609020000020004" pitchFamily="49" charset="0"/>
              </a:rPr>
              <a:t>EntityState.Modified</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try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await</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context.SaveChangesAsync</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catch</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DbUpdateConcurrencyException</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if</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EmployeeExists</a:t>
            </a:r>
            <a:r>
              <a:rPr lang="en-IN" sz="1200" dirty="0">
                <a:solidFill>
                  <a:srgbClr val="000000"/>
                </a:solidFill>
                <a:latin typeface="Cascadia Mono" panose="020B0609020000020004" pitchFamily="49" charset="0"/>
              </a:rPr>
              <a:t>(id))</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null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else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throw</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null</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endParaRPr lang="en-IN" sz="1200" dirty="0"/>
          </a:p>
        </p:txBody>
      </p:sp>
      <p:sp>
        <p:nvSpPr>
          <p:cNvPr id="9" name="TextBox 8">
            <a:extLst>
              <a:ext uri="{FF2B5EF4-FFF2-40B4-BE49-F238E27FC236}">
                <a16:creationId xmlns:a16="http://schemas.microsoft.com/office/drawing/2014/main" id="{C7EC1699-DED3-761F-B1D3-AAA6D53D6866}"/>
              </a:ext>
            </a:extLst>
          </p:cNvPr>
          <p:cNvSpPr txBox="1"/>
          <p:nvPr/>
        </p:nvSpPr>
        <p:spPr>
          <a:xfrm>
            <a:off x="5844208" y="1316360"/>
            <a:ext cx="6697317" cy="1938992"/>
          </a:xfrm>
          <a:prstGeom prst="rect">
            <a:avLst/>
          </a:prstGeom>
          <a:noFill/>
        </p:spPr>
        <p:txBody>
          <a:bodyPr wrap="square">
            <a:spAutoFit/>
          </a:bodyPr>
          <a:lstStyle/>
          <a:p>
            <a:r>
              <a:rPr lang="en-US" sz="1200" dirty="0">
                <a:solidFill>
                  <a:srgbClr val="0000FF"/>
                </a:solidFill>
                <a:latin typeface="Cascadia Mono" panose="020B0609020000020004" pitchFamily="49" charset="0"/>
              </a:rPr>
              <a:t>private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bool</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EmployeeExists</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context.Employees?.Any</a:t>
            </a:r>
            <a:r>
              <a:rPr lang="en-US" sz="1200" dirty="0">
                <a:solidFill>
                  <a:srgbClr val="000000"/>
                </a:solidFill>
                <a:latin typeface="Cascadia Mono" panose="020B0609020000020004" pitchFamily="49" charset="0"/>
              </a:rPr>
              <a:t>(e =&gt; </a:t>
            </a:r>
            <a:r>
              <a:rPr lang="en-US" sz="1200" dirty="0" err="1">
                <a:solidFill>
                  <a:srgbClr val="000000"/>
                </a:solidFill>
                <a:latin typeface="Cascadia Mono" panose="020B0609020000020004" pitchFamily="49" charset="0"/>
              </a:rPr>
              <a:t>e.Id</a:t>
            </a:r>
            <a:r>
              <a:rPr lang="en-US" sz="1200" dirty="0">
                <a:solidFill>
                  <a:srgbClr val="000000"/>
                </a:solidFill>
                <a:latin typeface="Cascadia Mono" panose="020B0609020000020004" pitchFamily="49" charset="0"/>
              </a:rPr>
              <a:t> == id)).</a:t>
            </a:r>
            <a:r>
              <a:rPr lang="en-US" sz="1200" dirty="0" err="1">
                <a:solidFill>
                  <a:srgbClr val="000000"/>
                </a:solidFill>
                <a:latin typeface="Cascadia Mono" panose="020B0609020000020004" pitchFamily="49" charset="0"/>
              </a:rPr>
              <a:t>GetValueOrDefault</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//if id is there it will return true and if its not there it will return null and </a:t>
            </a:r>
          </a:p>
          <a:p>
            <a:endParaRPr lang="en-US" sz="1200" dirty="0">
              <a:solidFill>
                <a:srgbClr val="008000"/>
              </a:solidFill>
              <a:latin typeface="Cascadia Mono" panose="020B0609020000020004" pitchFamily="49" charset="0"/>
            </a:endParaRPr>
          </a:p>
          <a:p>
            <a:r>
              <a:rPr lang="en-US" sz="1200" dirty="0" err="1">
                <a:solidFill>
                  <a:srgbClr val="008000"/>
                </a:solidFill>
                <a:latin typeface="Cascadia Mono" panose="020B0609020000020004" pitchFamily="49" charset="0"/>
              </a:rPr>
              <a:t>GetValueOrDefault</a:t>
            </a:r>
            <a:r>
              <a:rPr lang="en-US" sz="1200" dirty="0">
                <a:solidFill>
                  <a:srgbClr val="008000"/>
                </a:solidFill>
                <a:latin typeface="Cascadia Mono" panose="020B0609020000020004" pitchFamily="49" charset="0"/>
              </a:rPr>
              <a:t>() method will return true if id is there else</a:t>
            </a:r>
          </a:p>
          <a:p>
            <a:r>
              <a:rPr lang="en-US" sz="1200" dirty="0">
                <a:solidFill>
                  <a:srgbClr val="008000"/>
                </a:solidFill>
                <a:latin typeface="Cascadia Mono" panose="020B0609020000020004" pitchFamily="49" charset="0"/>
              </a:rPr>
              <a:t>it will return default value false. </a:t>
            </a:r>
          </a:p>
          <a:p>
            <a:r>
              <a:rPr lang="en-IN" sz="1200" dirty="0">
                <a:solidFill>
                  <a:srgbClr val="000000"/>
                </a:solidFill>
                <a:latin typeface="Cascadia Mono" panose="020B0609020000020004" pitchFamily="49" charset="0"/>
              </a:rPr>
              <a:t>}</a:t>
            </a:r>
          </a:p>
        </p:txBody>
      </p:sp>
      <p:cxnSp>
        <p:nvCxnSpPr>
          <p:cNvPr id="12" name="Straight Arrow Connector 11">
            <a:extLst>
              <a:ext uri="{FF2B5EF4-FFF2-40B4-BE49-F238E27FC236}">
                <a16:creationId xmlns:a16="http://schemas.microsoft.com/office/drawing/2014/main" id="{70D6B506-93A6-FB12-F289-1A345185B0AF}"/>
              </a:ext>
            </a:extLst>
          </p:cNvPr>
          <p:cNvCxnSpPr/>
          <p:nvPr/>
        </p:nvCxnSpPr>
        <p:spPr>
          <a:xfrm>
            <a:off x="3378061" y="3429000"/>
            <a:ext cx="2625174" cy="765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ADCD954-1053-A454-AF8D-2E1AF24052A4}"/>
              </a:ext>
            </a:extLst>
          </p:cNvPr>
          <p:cNvSpPr txBox="1"/>
          <p:nvPr/>
        </p:nvSpPr>
        <p:spPr>
          <a:xfrm>
            <a:off x="6211957" y="3602649"/>
            <a:ext cx="6062869" cy="230832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If you try to update a id which is not there in database  it will throw </a:t>
            </a:r>
            <a:r>
              <a:rPr lang="en-IN" sz="1800" dirty="0" err="1">
                <a:solidFill>
                  <a:srgbClr val="000000"/>
                </a:solidFill>
                <a:latin typeface="Cascadia Mono" panose="020B0609020000020004" pitchFamily="49" charset="0"/>
              </a:rPr>
              <a:t>DbUpdateConcurrencyException</a:t>
            </a:r>
            <a:r>
              <a:rPr lang="en-US" sz="1800" dirty="0">
                <a:solidFill>
                  <a:srgbClr val="000000"/>
                </a:solidFill>
                <a:latin typeface="Cascadia Mono" panose="020B0609020000020004" pitchFamily="49" charset="0"/>
              </a:rPr>
              <a:t> </a:t>
            </a:r>
          </a:p>
          <a:p>
            <a:endParaRPr lang="en-US" dirty="0">
              <a:solidFill>
                <a:srgbClr val="000000"/>
              </a:solidFill>
              <a:latin typeface="Cascadia Mono" panose="020B0609020000020004" pitchFamily="49" charset="0"/>
            </a:endParaRPr>
          </a:p>
          <a:p>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The database operation was expected to affect 1 row(s), but actually affected 0 row(s); data may have been modified or deleted since entities were loaded.</a:t>
            </a:r>
            <a:endParaRPr lang="en-IN" dirty="0"/>
          </a:p>
        </p:txBody>
      </p:sp>
      <p:sp>
        <p:nvSpPr>
          <p:cNvPr id="14" name="TextBox 13">
            <a:extLst>
              <a:ext uri="{FF2B5EF4-FFF2-40B4-BE49-F238E27FC236}">
                <a16:creationId xmlns:a16="http://schemas.microsoft.com/office/drawing/2014/main" id="{1D3FBEDB-6770-76DE-7E99-0C84453B8477}"/>
              </a:ext>
            </a:extLst>
          </p:cNvPr>
          <p:cNvSpPr txBox="1"/>
          <p:nvPr/>
        </p:nvSpPr>
        <p:spPr>
          <a:xfrm>
            <a:off x="6291470" y="477078"/>
            <a:ext cx="5198165"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If id in </a:t>
            </a:r>
            <a:r>
              <a:rPr lang="en-US" dirty="0" err="1"/>
              <a:t>url</a:t>
            </a:r>
            <a:r>
              <a:rPr lang="en-US" dirty="0"/>
              <a:t> and id in employee object does not match then it will return null </a:t>
            </a:r>
            <a:endParaRPr lang="en-IN" dirty="0"/>
          </a:p>
        </p:txBody>
      </p:sp>
      <p:cxnSp>
        <p:nvCxnSpPr>
          <p:cNvPr id="16" name="Straight Arrow Connector 15">
            <a:extLst>
              <a:ext uri="{FF2B5EF4-FFF2-40B4-BE49-F238E27FC236}">
                <a16:creationId xmlns:a16="http://schemas.microsoft.com/office/drawing/2014/main" id="{C26E5CBB-6F55-A70B-5111-CB9CE5841EBC}"/>
              </a:ext>
            </a:extLst>
          </p:cNvPr>
          <p:cNvCxnSpPr/>
          <p:nvPr/>
        </p:nvCxnSpPr>
        <p:spPr>
          <a:xfrm flipV="1">
            <a:off x="2256183" y="1076049"/>
            <a:ext cx="4214191" cy="802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286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5250" y="94387"/>
            <a:ext cx="3790950" cy="2308324"/>
          </a:xfrm>
          <a:prstGeom prst="rect">
            <a:avLst/>
          </a:prstGeom>
        </p:spPr>
        <p:txBody>
          <a:bodyPr wrap="square">
            <a:spAutoFit/>
          </a:bodyPr>
          <a:lstStyle/>
          <a:p>
            <a:r>
              <a:rPr lang="en-US" b="1" dirty="0" err="1">
                <a:solidFill>
                  <a:srgbClr val="242424"/>
                </a:solidFill>
                <a:latin typeface="sohne"/>
              </a:rPr>
              <a:t>ControllerBase</a:t>
            </a:r>
            <a:r>
              <a:rPr lang="en-US" b="1" dirty="0">
                <a:solidFill>
                  <a:srgbClr val="242424"/>
                </a:solidFill>
                <a:latin typeface="sohne"/>
              </a:rPr>
              <a:t> Class</a:t>
            </a:r>
          </a:p>
          <a:p>
            <a:r>
              <a:rPr lang="en-US" dirty="0">
                <a:solidFill>
                  <a:srgbClr val="242424"/>
                </a:solidFill>
                <a:latin typeface="source-serif-pro"/>
              </a:rPr>
              <a:t>The </a:t>
            </a:r>
            <a:r>
              <a:rPr lang="en-US" dirty="0" err="1">
                <a:solidFill>
                  <a:srgbClr val="242424"/>
                </a:solidFill>
                <a:latin typeface="source-serif-pro"/>
              </a:rPr>
              <a:t>ControllerBase</a:t>
            </a:r>
            <a:r>
              <a:rPr lang="en-US" dirty="0">
                <a:solidFill>
                  <a:srgbClr val="242424"/>
                </a:solidFill>
                <a:latin typeface="source-serif-pro"/>
              </a:rPr>
              <a:t> class is a base class for controllers in ASP.NET Core. It provides basic functionality for handling HTTP requests and responses, </a:t>
            </a:r>
            <a:r>
              <a:rPr lang="en-US" b="1" dirty="0">
                <a:solidFill>
                  <a:srgbClr val="242424"/>
                </a:solidFill>
                <a:latin typeface="source-serif-pro"/>
              </a:rPr>
              <a:t>but does not include </a:t>
            </a:r>
            <a:r>
              <a:rPr lang="en-US" dirty="0">
                <a:solidFill>
                  <a:srgbClr val="242424"/>
                </a:solidFill>
                <a:latin typeface="source-serif-pro"/>
              </a:rPr>
              <a:t>any MVC-specific features such as action filters or view rendering.</a:t>
            </a:r>
            <a:endParaRPr lang="en-US" b="0" i="0" dirty="0">
              <a:solidFill>
                <a:srgbClr val="242424"/>
              </a:solidFill>
              <a:effectLst/>
              <a:latin typeface="source-serif-pro"/>
            </a:endParaRPr>
          </a:p>
        </p:txBody>
      </p:sp>
      <p:sp>
        <p:nvSpPr>
          <p:cNvPr id="5" name="Rectangle 4"/>
          <p:cNvSpPr/>
          <p:nvPr/>
        </p:nvSpPr>
        <p:spPr>
          <a:xfrm>
            <a:off x="3886200" y="18187"/>
            <a:ext cx="3609975" cy="5909310"/>
          </a:xfrm>
          <a:prstGeom prst="rect">
            <a:avLst/>
          </a:prstGeom>
        </p:spPr>
        <p:txBody>
          <a:bodyPr wrap="square">
            <a:spAutoFit/>
          </a:bodyPr>
          <a:lstStyle/>
          <a:p>
            <a:r>
              <a:rPr lang="en-US" b="1" dirty="0">
                <a:solidFill>
                  <a:srgbClr val="242424"/>
                </a:solidFill>
                <a:latin typeface="sohne"/>
              </a:rPr>
              <a:t>Controller Class</a:t>
            </a:r>
          </a:p>
          <a:p>
            <a:r>
              <a:rPr lang="en-US" dirty="0"/>
              <a:t>The Controller class is a part of the </a:t>
            </a:r>
            <a:r>
              <a:rPr lang="en-US" dirty="0" err="1"/>
              <a:t>System.Web.Mvc</a:t>
            </a:r>
            <a:r>
              <a:rPr lang="en-US" dirty="0"/>
              <a:t> namespace and is used to create controllers for ASP.NET MVC applications. It is the base class for all controllers in MVC and provides a wide range of features and functionalities such as </a:t>
            </a:r>
            <a:r>
              <a:rPr lang="en-US" b="1" dirty="0"/>
              <a:t>action filters, model binding, and view rendering.</a:t>
            </a:r>
          </a:p>
          <a:p>
            <a:endParaRPr lang="en-US" dirty="0"/>
          </a:p>
          <a:p>
            <a:r>
              <a:rPr lang="en-US" dirty="0"/>
              <a:t>using </a:t>
            </a:r>
            <a:r>
              <a:rPr lang="en-US" dirty="0" err="1"/>
              <a:t>System.Web.Mvc</a:t>
            </a:r>
            <a:r>
              <a:rPr lang="en-US" dirty="0"/>
              <a:t>;</a:t>
            </a:r>
          </a:p>
          <a:p>
            <a:endParaRPr lang="en-US" dirty="0"/>
          </a:p>
          <a:p>
            <a:r>
              <a:rPr lang="en-US" dirty="0"/>
              <a:t>public class </a:t>
            </a:r>
            <a:r>
              <a:rPr lang="en-US" dirty="0" err="1"/>
              <a:t>HomeController</a:t>
            </a:r>
            <a:r>
              <a:rPr lang="en-US" dirty="0"/>
              <a:t> : Controller</a:t>
            </a:r>
          </a:p>
          <a:p>
            <a:r>
              <a:rPr lang="en-US" dirty="0"/>
              <a:t>{</a:t>
            </a:r>
          </a:p>
          <a:p>
            <a:r>
              <a:rPr lang="en-US" dirty="0"/>
              <a:t>    public </a:t>
            </a:r>
            <a:r>
              <a:rPr lang="en-US" dirty="0" err="1"/>
              <a:t>ActionResult</a:t>
            </a:r>
            <a:r>
              <a:rPr lang="en-US" dirty="0"/>
              <a:t> Index()</a:t>
            </a:r>
          </a:p>
          <a:p>
            <a:r>
              <a:rPr lang="en-US" dirty="0"/>
              <a:t>    {</a:t>
            </a:r>
          </a:p>
          <a:p>
            <a:r>
              <a:rPr lang="en-US" dirty="0"/>
              <a:t>        return View();</a:t>
            </a:r>
          </a:p>
          <a:p>
            <a:r>
              <a:rPr lang="en-US" dirty="0"/>
              <a:t>    }</a:t>
            </a:r>
          </a:p>
          <a:p>
            <a:r>
              <a:rPr lang="en-US" dirty="0"/>
              <a:t>}</a:t>
            </a:r>
            <a:endParaRPr lang="en-IN" dirty="0"/>
          </a:p>
        </p:txBody>
      </p:sp>
      <p:sp>
        <p:nvSpPr>
          <p:cNvPr id="7" name="Rectangle 6"/>
          <p:cNvSpPr/>
          <p:nvPr/>
        </p:nvSpPr>
        <p:spPr>
          <a:xfrm>
            <a:off x="-114300" y="2867024"/>
            <a:ext cx="3867150" cy="3139321"/>
          </a:xfrm>
          <a:prstGeom prst="rect">
            <a:avLst/>
          </a:prstGeom>
        </p:spPr>
        <p:txBody>
          <a:bodyPr wrap="square">
            <a:spAutoFit/>
          </a:bodyPr>
          <a:lstStyle/>
          <a:p>
            <a:r>
              <a:rPr lang="en-IN" dirty="0"/>
              <a:t>using </a:t>
            </a:r>
            <a:r>
              <a:rPr lang="en-IN" dirty="0" err="1"/>
              <a:t>Microsoft.AspNetCore.Mvc</a:t>
            </a:r>
            <a:r>
              <a:rPr lang="en-IN" dirty="0"/>
              <a:t>;</a:t>
            </a:r>
          </a:p>
          <a:p>
            <a:endParaRPr lang="en-IN" dirty="0"/>
          </a:p>
          <a:p>
            <a:r>
              <a:rPr lang="en-IN" dirty="0"/>
              <a:t>public class </a:t>
            </a:r>
            <a:r>
              <a:rPr lang="en-IN" dirty="0" err="1"/>
              <a:t>HomeController</a:t>
            </a:r>
            <a:r>
              <a:rPr lang="en-IN" dirty="0"/>
              <a:t> : </a:t>
            </a:r>
            <a:r>
              <a:rPr lang="en-IN" dirty="0" err="1"/>
              <a:t>ControllerBase</a:t>
            </a:r>
            <a:endParaRPr lang="en-IN" dirty="0"/>
          </a:p>
          <a:p>
            <a:r>
              <a:rPr lang="en-IN" dirty="0"/>
              <a:t>{</a:t>
            </a:r>
          </a:p>
          <a:p>
            <a:r>
              <a:rPr lang="en-IN" dirty="0"/>
              <a:t>    [</a:t>
            </a:r>
            <a:r>
              <a:rPr lang="en-IN" dirty="0" err="1"/>
              <a:t>HttpGet</a:t>
            </a:r>
            <a:r>
              <a:rPr lang="en-IN" dirty="0"/>
              <a:t>]</a:t>
            </a:r>
          </a:p>
          <a:p>
            <a:r>
              <a:rPr lang="en-IN" dirty="0"/>
              <a:t>    public </a:t>
            </a:r>
            <a:r>
              <a:rPr lang="en-IN" dirty="0" err="1"/>
              <a:t>IActionResult</a:t>
            </a:r>
            <a:r>
              <a:rPr lang="en-IN" dirty="0"/>
              <a:t> Index()</a:t>
            </a:r>
          </a:p>
          <a:p>
            <a:r>
              <a:rPr lang="en-IN" dirty="0"/>
              <a:t>    {</a:t>
            </a:r>
          </a:p>
          <a:p>
            <a:r>
              <a:rPr lang="en-IN" dirty="0"/>
              <a:t>        return Ok();</a:t>
            </a:r>
          </a:p>
          <a:p>
            <a:r>
              <a:rPr lang="en-IN" dirty="0"/>
              <a:t>    }</a:t>
            </a:r>
          </a:p>
          <a:p>
            <a:r>
              <a:rPr lang="en-IN" dirty="0"/>
              <a:t>}</a:t>
            </a:r>
          </a:p>
        </p:txBody>
      </p:sp>
      <p:sp>
        <p:nvSpPr>
          <p:cNvPr id="9" name="Rectangle 8"/>
          <p:cNvSpPr/>
          <p:nvPr/>
        </p:nvSpPr>
        <p:spPr>
          <a:xfrm>
            <a:off x="7496175" y="0"/>
            <a:ext cx="4248150" cy="6740307"/>
          </a:xfrm>
          <a:prstGeom prst="rect">
            <a:avLst/>
          </a:prstGeom>
        </p:spPr>
        <p:txBody>
          <a:bodyPr wrap="square">
            <a:spAutoFit/>
          </a:bodyPr>
          <a:lstStyle/>
          <a:p>
            <a:r>
              <a:rPr lang="en-US" b="1" dirty="0" err="1">
                <a:solidFill>
                  <a:srgbClr val="242424"/>
                </a:solidFill>
                <a:latin typeface="sohne"/>
              </a:rPr>
              <a:t>APIController</a:t>
            </a:r>
            <a:r>
              <a:rPr lang="en-US" b="1" dirty="0">
                <a:solidFill>
                  <a:srgbClr val="242424"/>
                </a:solidFill>
                <a:latin typeface="sohne"/>
              </a:rPr>
              <a:t> Class</a:t>
            </a:r>
          </a:p>
          <a:p>
            <a:r>
              <a:rPr lang="en-US" dirty="0"/>
              <a:t>The </a:t>
            </a:r>
            <a:r>
              <a:rPr lang="en-US" dirty="0" err="1"/>
              <a:t>APIController</a:t>
            </a:r>
            <a:r>
              <a:rPr lang="en-US" dirty="0"/>
              <a:t> class is also a part of the </a:t>
            </a:r>
            <a:r>
              <a:rPr lang="en-US" dirty="0" err="1"/>
              <a:t>Microsoft.AspNetCore.Mvc</a:t>
            </a:r>
            <a:r>
              <a:rPr lang="en-US" dirty="0"/>
              <a:t> namespace and is used to create controllers for ASP.NET Core Web API applications. It is a specialized version of the </a:t>
            </a:r>
            <a:r>
              <a:rPr lang="en-US" dirty="0" err="1"/>
              <a:t>ControllerBase</a:t>
            </a:r>
            <a:r>
              <a:rPr lang="en-US" dirty="0"/>
              <a:t> class and includes features specific to Web API development such as content </a:t>
            </a:r>
            <a:r>
              <a:rPr lang="en-US" b="1" dirty="0"/>
              <a:t>negotiation and routing</a:t>
            </a:r>
            <a:r>
              <a:rPr lang="en-US" dirty="0"/>
              <a:t>.</a:t>
            </a:r>
          </a:p>
          <a:p>
            <a:endParaRPr lang="en-US" dirty="0"/>
          </a:p>
          <a:p>
            <a:r>
              <a:rPr lang="en-US" dirty="0"/>
              <a:t>using </a:t>
            </a:r>
            <a:r>
              <a:rPr lang="en-US" dirty="0" err="1"/>
              <a:t>Microsoft.AspNetCore.Mvc</a:t>
            </a:r>
            <a:r>
              <a:rPr lang="en-US" dirty="0"/>
              <a:t>;</a:t>
            </a:r>
          </a:p>
          <a:p>
            <a:endParaRPr lang="en-US" dirty="0"/>
          </a:p>
          <a:p>
            <a:r>
              <a:rPr lang="en-US" dirty="0"/>
              <a:t>[</a:t>
            </a:r>
            <a:r>
              <a:rPr lang="en-US" dirty="0" err="1"/>
              <a:t>ApiController</a:t>
            </a:r>
            <a:r>
              <a:rPr lang="en-US" dirty="0"/>
              <a:t>]</a:t>
            </a:r>
          </a:p>
          <a:p>
            <a:r>
              <a:rPr lang="en-US" dirty="0"/>
              <a:t>[Route("[controller]")]</a:t>
            </a:r>
          </a:p>
          <a:p>
            <a:r>
              <a:rPr lang="en-US" dirty="0"/>
              <a:t>public class </a:t>
            </a:r>
            <a:r>
              <a:rPr lang="en-US" dirty="0" err="1"/>
              <a:t>WeatherForecastController</a:t>
            </a:r>
            <a:r>
              <a:rPr lang="en-US" dirty="0"/>
              <a:t> : </a:t>
            </a:r>
            <a:r>
              <a:rPr lang="en-US" dirty="0" err="1"/>
              <a:t>ControllerBase</a:t>
            </a:r>
            <a:endParaRPr lang="en-US" dirty="0"/>
          </a:p>
          <a:p>
            <a:r>
              <a:rPr lang="en-US" dirty="0"/>
              <a:t>{</a:t>
            </a:r>
          </a:p>
          <a:p>
            <a:r>
              <a:rPr lang="en-US" dirty="0"/>
              <a:t>    [</a:t>
            </a:r>
            <a:r>
              <a:rPr lang="en-US" dirty="0" err="1"/>
              <a:t>HttpGet</a:t>
            </a:r>
            <a:r>
              <a:rPr lang="en-US" dirty="0"/>
              <a:t>]</a:t>
            </a:r>
          </a:p>
          <a:p>
            <a:r>
              <a:rPr lang="en-US" dirty="0"/>
              <a:t>    public </a:t>
            </a:r>
            <a:r>
              <a:rPr lang="en-US" dirty="0" err="1"/>
              <a:t>IEnumerable</a:t>
            </a:r>
            <a:r>
              <a:rPr lang="en-US" dirty="0"/>
              <a:t>&lt;</a:t>
            </a:r>
            <a:r>
              <a:rPr lang="en-US" dirty="0" err="1"/>
              <a:t>WeatherForecast</a:t>
            </a:r>
            <a:r>
              <a:rPr lang="en-US" dirty="0"/>
              <a:t>&gt; Get()</a:t>
            </a:r>
          </a:p>
          <a:p>
            <a:r>
              <a:rPr lang="en-US" dirty="0"/>
              <a:t>    {</a:t>
            </a:r>
          </a:p>
          <a:p>
            <a:r>
              <a:rPr lang="en-US" dirty="0"/>
              <a:t>        // Code to get weather forecast data</a:t>
            </a:r>
          </a:p>
          <a:p>
            <a:r>
              <a:rPr lang="en-US" dirty="0"/>
              <a:t>    }</a:t>
            </a:r>
          </a:p>
          <a:p>
            <a:r>
              <a:rPr lang="en-US" dirty="0"/>
              <a:t>}</a:t>
            </a:r>
            <a:endParaRPr lang="en-IN" dirty="0"/>
          </a:p>
        </p:txBody>
      </p:sp>
    </p:spTree>
    <p:extLst>
      <p:ext uri="{BB962C8B-B14F-4D97-AF65-F5344CB8AC3E}">
        <p14:creationId xmlns:p14="http://schemas.microsoft.com/office/powerpoint/2010/main" val="3265796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12008</TotalTime>
  <Words>2985</Words>
  <Application>Microsoft Office PowerPoint</Application>
  <PresentationFormat>Widescreen</PresentationFormat>
  <Paragraphs>489</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arial</vt:lpstr>
      <vt:lpstr>Calibri</vt:lpstr>
      <vt:lpstr>Calibri Light</vt:lpstr>
      <vt:lpstr>Cascadia Mono</vt:lpstr>
      <vt:lpstr>Google Sans</vt:lpstr>
      <vt:lpstr>Open Sans</vt:lpstr>
      <vt:lpstr>Roboto</vt:lpstr>
      <vt:lpstr>sohne</vt:lpstr>
      <vt:lpstr>source-serif-pro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Update explanation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47</cp:revision>
  <dcterms:created xsi:type="dcterms:W3CDTF">2023-04-21T07:57:33Z</dcterms:created>
  <dcterms:modified xsi:type="dcterms:W3CDTF">2024-11-30T04:07:17Z</dcterms:modified>
</cp:coreProperties>
</file>