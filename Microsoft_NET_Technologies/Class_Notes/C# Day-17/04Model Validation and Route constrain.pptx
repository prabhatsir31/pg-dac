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8F42BC-3BA3-4284-BA3A-16451F7B9C90}" type="datetimeFigureOut">
              <a:rPr lang="en-IN" smtClean="0"/>
              <a:t>22-03-2024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DA216-3814-418F-A7BA-056005C717FB}" type="slidenum">
              <a:rPr lang="en-IN" smtClean="0"/>
              <a:t>‹#›</a:t>
            </a:fld>
            <a:endParaRPr lang="en-IN"/>
          </a:p>
        </p:txBody>
      </p:sp>
    </p:spTree>
    <p:extLst>
      <p:ext uri="{BB962C8B-B14F-4D97-AF65-F5344CB8AC3E}">
        <p14:creationId xmlns:p14="http://schemas.microsoft.com/office/powerpoint/2010/main" val="24715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1DA216-3814-418F-A7BA-056005C717FB}" type="slidenum">
              <a:rPr lang="en-IN" smtClean="0"/>
              <a:t>7</a:t>
            </a:fld>
            <a:endParaRPr lang="en-IN"/>
          </a:p>
        </p:txBody>
      </p:sp>
    </p:spTree>
    <p:extLst>
      <p:ext uri="{BB962C8B-B14F-4D97-AF65-F5344CB8AC3E}">
        <p14:creationId xmlns:p14="http://schemas.microsoft.com/office/powerpoint/2010/main" val="2233694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5167780-3839-4FDD-97BC-996233B0D166}" type="datetimeFigureOut">
              <a:rPr lang="en-IN" smtClean="0"/>
              <a:t>22-03-2024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522049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5167780-3839-4FDD-97BC-996233B0D166}" type="datetimeFigureOut">
              <a:rPr lang="en-IN" smtClean="0"/>
              <a:t>22-03-2024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03640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167780-3839-4FDD-97BC-996233B0D166}" type="datetimeFigureOut">
              <a:rPr lang="en-IN" smtClean="0"/>
              <a:t>22-03-2024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388852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5167780-3839-4FDD-97BC-996233B0D166}" type="datetimeFigureOut">
              <a:rPr lang="en-IN" smtClean="0"/>
              <a:t>22-03-2024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133211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5167780-3839-4FDD-97BC-996233B0D166}" type="datetimeFigureOut">
              <a:rPr lang="en-IN" smtClean="0"/>
              <a:t>22-03-2024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44534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5167780-3839-4FDD-97BC-996233B0D166}" type="datetimeFigureOut">
              <a:rPr lang="en-IN" smtClean="0"/>
              <a:t>22-03-2024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409799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167780-3839-4FDD-97BC-996233B0D166}" type="datetimeFigureOut">
              <a:rPr lang="en-IN" smtClean="0"/>
              <a:t>22-03-2024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3903877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167780-3839-4FDD-97BC-996233B0D166}" type="datetimeFigureOut">
              <a:rPr lang="en-IN" smtClean="0"/>
              <a:t>22-03-2024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3594278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167780-3839-4FDD-97BC-996233B0D166}" type="datetimeFigureOut">
              <a:rPr lang="en-IN" smtClean="0"/>
              <a:t>22-03-2024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3775365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5167780-3839-4FDD-97BC-996233B0D166}" type="datetimeFigureOut">
              <a:rPr lang="en-IN" smtClean="0"/>
              <a:t>22-03-2024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4214362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5167780-3839-4FDD-97BC-996233B0D166}" type="datetimeFigureOut">
              <a:rPr lang="en-IN" smtClean="0"/>
              <a:t>22-03-2024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B2C0F3-85A4-41B0-8412-607CCB880FD5}" type="slidenum">
              <a:rPr lang="en-IN" smtClean="0"/>
              <a:t>‹#›</a:t>
            </a:fld>
            <a:endParaRPr lang="en-IN"/>
          </a:p>
        </p:txBody>
      </p:sp>
    </p:spTree>
    <p:extLst>
      <p:ext uri="{BB962C8B-B14F-4D97-AF65-F5344CB8AC3E}">
        <p14:creationId xmlns:p14="http://schemas.microsoft.com/office/powerpoint/2010/main" val="2511776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167780-3839-4FDD-97BC-996233B0D166}" type="datetimeFigureOut">
              <a:rPr lang="en-IN" smtClean="0"/>
              <a:t>22-03-2024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B2C0F3-85A4-41B0-8412-607CCB880FD5}" type="slidenum">
              <a:rPr lang="en-IN" smtClean="0"/>
              <a:t>‹#›</a:t>
            </a:fld>
            <a:endParaRPr lang="en-IN"/>
          </a:p>
        </p:txBody>
      </p:sp>
    </p:spTree>
    <p:extLst>
      <p:ext uri="{BB962C8B-B14F-4D97-AF65-F5344CB8AC3E}">
        <p14:creationId xmlns:p14="http://schemas.microsoft.com/office/powerpoint/2010/main" val="1336422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0217" y="451231"/>
            <a:ext cx="6096000" cy="5847755"/>
          </a:xfrm>
          <a:prstGeom prst="rect">
            <a:avLst/>
          </a:prstGeom>
        </p:spPr>
        <p:txBody>
          <a:bodyPr>
            <a:spAutoFit/>
          </a:bodyPr>
          <a:lstStyle/>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Employee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US" sz="1100" dirty="0">
                <a:solidFill>
                  <a:srgbClr val="0000FF"/>
                </a:solidFill>
                <a:latin typeface="Cascadia Mono" panose="020B0609020000020004" pitchFamily="49" charset="0"/>
              </a:rPr>
              <a:t>	</a:t>
            </a:r>
          </a:p>
          <a:p>
            <a:r>
              <a:rPr lang="en-US" sz="1100" dirty="0">
                <a:solidFill>
                  <a:srgbClr val="0000FF"/>
                </a:solidFill>
                <a:latin typeface="Cascadia Mono" panose="020B0609020000020004" pitchFamily="49" charset="0"/>
              </a:rPr>
              <a:t>        public</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Id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[Required(</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"First name is required"</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StringLength</a:t>
            </a:r>
            <a:r>
              <a:rPr lang="en-IN" sz="1100" dirty="0">
                <a:solidFill>
                  <a:srgbClr val="000000"/>
                </a:solidFill>
                <a:latin typeface="Cascadia Mono" panose="020B0609020000020004" pitchFamily="49" charset="0"/>
              </a:rPr>
              <a:t>(50)]</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FirstName</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[Required(</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"Last name is required"</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StringLength</a:t>
            </a:r>
            <a:r>
              <a:rPr lang="en-IN" sz="1100" dirty="0">
                <a:solidFill>
                  <a:srgbClr val="000000"/>
                </a:solidFill>
                <a:latin typeface="Cascadia Mono" panose="020B0609020000020004" pitchFamily="49" charset="0"/>
              </a:rPr>
              <a:t>(15)]</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LastName</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[Range(0, 10, </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"Rating must be between 0 and 10"</a:t>
            </a:r>
            <a:r>
              <a:rPr lang="en-US"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Rating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RegularExpression</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"^[0-9]{10}$"</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"Phone number must be 10 digits"</a:t>
            </a:r>
            <a:r>
              <a:rPr lang="en-US"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PhoneNumber</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CreditCard</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"Invalid credit card number"</a:t>
            </a:r>
            <a:r>
              <a:rPr lang="en-US"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CreditCardNumber</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MaxLength</a:t>
            </a:r>
            <a:r>
              <a:rPr lang="en-IN" sz="1100" dirty="0">
                <a:solidFill>
                  <a:srgbClr val="000000"/>
                </a:solidFill>
                <a:latin typeface="Cascadia Mono" panose="020B0609020000020004" pitchFamily="49" charset="0"/>
              </a:rPr>
              <a:t>(500)]</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Bio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MinLength</a:t>
            </a:r>
            <a:r>
              <a:rPr lang="en-US" sz="1100" dirty="0">
                <a:solidFill>
                  <a:srgbClr val="000000"/>
                </a:solidFill>
                <a:latin typeface="Cascadia Mono" panose="020B0609020000020004" pitchFamily="49" charset="0"/>
              </a:rPr>
              <a:t>(6, </a:t>
            </a:r>
            <a:r>
              <a:rPr lang="en-US" sz="1100" dirty="0" err="1">
                <a:solidFill>
                  <a:srgbClr val="000000"/>
                </a:solidFill>
                <a:latin typeface="Cascadia Mono" panose="020B0609020000020004" pitchFamily="49" charset="0"/>
              </a:rPr>
              <a:t>ErrorMessage</a:t>
            </a:r>
            <a:r>
              <a:rPr lang="en-US" sz="1100" dirty="0">
                <a:solidFill>
                  <a:srgbClr val="000000"/>
                </a:solidFill>
                <a:latin typeface="Cascadia Mono" panose="020B0609020000020004" pitchFamily="49" charset="0"/>
              </a:rPr>
              <a:t> = </a:t>
            </a:r>
            <a:r>
              <a:rPr lang="en-US" sz="1100" dirty="0">
                <a:solidFill>
                  <a:srgbClr val="A31515"/>
                </a:solidFill>
                <a:latin typeface="Cascadia Mono" panose="020B0609020000020004" pitchFamily="49" charset="0"/>
              </a:rPr>
              <a:t>"Password must be at least 6 characters long"</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Password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a:t>
            </a:r>
            <a:endParaRPr lang="en-IN" sz="2800" dirty="0"/>
          </a:p>
        </p:txBody>
      </p:sp>
      <p:sp>
        <p:nvSpPr>
          <p:cNvPr id="5" name="Rectangle 4"/>
          <p:cNvSpPr/>
          <p:nvPr/>
        </p:nvSpPr>
        <p:spPr>
          <a:xfrm>
            <a:off x="6899563" y="571426"/>
            <a:ext cx="4304146" cy="276999"/>
          </a:xfrm>
          <a:prstGeom prst="rect">
            <a:avLst/>
          </a:prstGeom>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System.ComponentModel.DataAnnotations</a:t>
            </a:r>
            <a:r>
              <a:rPr lang="en-IN" sz="1200" dirty="0">
                <a:solidFill>
                  <a:srgbClr val="000000"/>
                </a:solidFill>
                <a:latin typeface="Cascadia Mono" panose="020B0609020000020004" pitchFamily="49" charset="0"/>
              </a:rPr>
              <a:t>;</a:t>
            </a:r>
            <a:endParaRPr lang="en-IN" sz="3200" dirty="0"/>
          </a:p>
        </p:txBody>
      </p:sp>
      <p:sp>
        <p:nvSpPr>
          <p:cNvPr id="6" name="Rectangle 5"/>
          <p:cNvSpPr/>
          <p:nvPr/>
        </p:nvSpPr>
        <p:spPr>
          <a:xfrm>
            <a:off x="6714837" y="1738853"/>
            <a:ext cx="5200072" cy="646331"/>
          </a:xfrm>
          <a:prstGeom prst="rect">
            <a:avLst/>
          </a:prstGeom>
        </p:spPr>
        <p:txBody>
          <a:bodyPr wrap="square">
            <a:spAutoFit/>
          </a:bodyPr>
          <a:lstStyle/>
          <a:p>
            <a:r>
              <a:rPr lang="en-US" dirty="0"/>
              <a:t>The </a:t>
            </a:r>
            <a:r>
              <a:rPr lang="en-US" dirty="0" err="1"/>
              <a:t>StringLength</a:t>
            </a:r>
            <a:r>
              <a:rPr lang="en-US" dirty="0"/>
              <a:t> data annotation is used to define the maximum length of a string property.</a:t>
            </a:r>
            <a:endParaRPr lang="en-IN" dirty="0"/>
          </a:p>
        </p:txBody>
      </p:sp>
    </p:spTree>
    <p:extLst>
      <p:ext uri="{BB962C8B-B14F-4D97-AF65-F5344CB8AC3E}">
        <p14:creationId xmlns:p14="http://schemas.microsoft.com/office/powerpoint/2010/main" val="400527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B58FF96-2FA3-7C1E-05CE-E617D8829AB9}"/>
              </a:ext>
            </a:extLst>
          </p:cNvPr>
          <p:cNvSpPr txBox="1"/>
          <p:nvPr/>
        </p:nvSpPr>
        <p:spPr>
          <a:xfrm>
            <a:off x="511405" y="146017"/>
            <a:ext cx="6094428" cy="3139321"/>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RoutingInASPNETCoreWebAPI.Controllers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EmployeeController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EmployeeId</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$"Response from </a:t>
            </a:r>
            <a:r>
              <a:rPr lang="en-US" sz="900" dirty="0" err="1">
                <a:solidFill>
                  <a:srgbClr val="A31515"/>
                </a:solidFill>
                <a:latin typeface="Cascadia Mono" panose="020B0609020000020004" pitchFamily="49" charset="0"/>
              </a:rPr>
              <a:t>GetEmployeeDetails</a:t>
            </a:r>
            <a:r>
              <a:rPr lang="en-US" sz="900" dirty="0">
                <a:solidFill>
                  <a:srgbClr val="A31515"/>
                </a:solidFill>
                <a:latin typeface="Cascadia Mono" panose="020B0609020000020004" pitchFamily="49" charset="0"/>
              </a:rPr>
              <a:t> Method, </a:t>
            </a:r>
            <a:r>
              <a:rPr lang="en-US" sz="900" dirty="0" err="1">
                <a:solidFill>
                  <a:srgbClr val="A31515"/>
                </a:solidFill>
                <a:latin typeface="Cascadia Mono" panose="020B0609020000020004" pitchFamily="49" charset="0"/>
              </a:rPr>
              <a:t>EmployeeId</a:t>
            </a:r>
            <a:r>
              <a:rPr lang="en-US" sz="900" dirty="0">
                <a:solidFill>
                  <a:srgbClr val="A31515"/>
                </a:solidFill>
                <a:latin typeface="Cascadia Mono" panose="020B0609020000020004" pitchFamily="49" charset="0"/>
              </a:rPr>
              <a:t> :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EmployeeName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$"Response from </a:t>
            </a:r>
            <a:r>
              <a:rPr lang="en-US" sz="900" dirty="0" err="1">
                <a:solidFill>
                  <a:srgbClr val="A31515"/>
                </a:solidFill>
                <a:latin typeface="Cascadia Mono" panose="020B0609020000020004" pitchFamily="49" charset="0"/>
              </a:rPr>
              <a:t>GetEmployeeDetails</a:t>
            </a:r>
            <a:r>
              <a:rPr lang="en-US" sz="900" dirty="0">
                <a:solidFill>
                  <a:srgbClr val="A31515"/>
                </a:solidFill>
                <a:latin typeface="Cascadia Mono" panose="020B0609020000020004" pitchFamily="49" charset="0"/>
              </a:rPr>
              <a:t> Method, </a:t>
            </a:r>
            <a:r>
              <a:rPr lang="en-US" sz="900" dirty="0" err="1">
                <a:solidFill>
                  <a:srgbClr val="A31515"/>
                </a:solidFill>
                <a:latin typeface="Cascadia Mono" panose="020B0609020000020004" pitchFamily="49" charset="0"/>
              </a:rPr>
              <a:t>EmployeeName</a:t>
            </a:r>
            <a:r>
              <a:rPr lang="en-US" sz="900" dirty="0">
                <a:solidFill>
                  <a:srgbClr val="A31515"/>
                </a:solidFill>
                <a:latin typeface="Cascadia Mono" panose="020B0609020000020004" pitchFamily="49" charset="0"/>
              </a:rPr>
              <a:t> :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pic>
        <p:nvPicPr>
          <p:cNvPr id="6" name="Picture 5">
            <a:extLst>
              <a:ext uri="{FF2B5EF4-FFF2-40B4-BE49-F238E27FC236}">
                <a16:creationId xmlns:a16="http://schemas.microsoft.com/office/drawing/2014/main" xmlns="" id="{02FF1404-8909-5141-6D2F-65B6B156B530}"/>
              </a:ext>
            </a:extLst>
          </p:cNvPr>
          <p:cNvPicPr>
            <a:picLocks noChangeAspect="1"/>
          </p:cNvPicPr>
          <p:nvPr/>
        </p:nvPicPr>
        <p:blipFill>
          <a:blip r:embed="rId2"/>
          <a:stretch>
            <a:fillRect/>
          </a:stretch>
        </p:blipFill>
        <p:spPr>
          <a:xfrm>
            <a:off x="6499782" y="236554"/>
            <a:ext cx="5387419" cy="3812468"/>
          </a:xfrm>
          <a:prstGeom prst="rect">
            <a:avLst/>
          </a:prstGeom>
        </p:spPr>
      </p:pic>
      <p:sp>
        <p:nvSpPr>
          <p:cNvPr id="8" name="TextBox 7">
            <a:extLst>
              <a:ext uri="{FF2B5EF4-FFF2-40B4-BE49-F238E27FC236}">
                <a16:creationId xmlns:a16="http://schemas.microsoft.com/office/drawing/2014/main" xmlns="" id="{D477738D-1E80-3B81-72E4-256F7EA08FF6}"/>
              </a:ext>
            </a:extLst>
          </p:cNvPr>
          <p:cNvSpPr txBox="1"/>
          <p:nvPr/>
        </p:nvSpPr>
        <p:spPr>
          <a:xfrm>
            <a:off x="596244" y="4605203"/>
            <a:ext cx="8519475"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when the request comes, the application does not identify which version of the </a:t>
            </a:r>
            <a:r>
              <a:rPr lang="en-US" b="0" i="0" dirty="0" err="1">
                <a:solidFill>
                  <a:srgbClr val="000000"/>
                </a:solidFill>
                <a:effectLst/>
                <a:latin typeface="arial" panose="020B0604020202020204" pitchFamily="34" charset="0"/>
              </a:rPr>
              <a:t>GetEmployeeDetails</a:t>
            </a:r>
            <a:r>
              <a:rPr lang="en-US" b="0" i="0" dirty="0">
                <a:solidFill>
                  <a:srgbClr val="000000"/>
                </a:solidFill>
                <a:effectLst/>
                <a:latin typeface="arial" panose="020B0604020202020204" pitchFamily="34" charset="0"/>
              </a:rPr>
              <a:t>() method to use, and hence it gives an Ambiguous Match Exception as two end pints match the same request. This is the situation where the Route Constraints come into the picture in ASP.NET Core Web API.</a:t>
            </a:r>
            <a:endParaRPr lang="en-IN" dirty="0"/>
          </a:p>
        </p:txBody>
      </p:sp>
    </p:spTree>
    <p:extLst>
      <p:ext uri="{BB962C8B-B14F-4D97-AF65-F5344CB8AC3E}">
        <p14:creationId xmlns:p14="http://schemas.microsoft.com/office/powerpoint/2010/main" val="2486569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1E04BFE-0DAA-6925-8FDD-B3608D4E6D0D}"/>
              </a:ext>
            </a:extLst>
          </p:cNvPr>
          <p:cNvSpPr txBox="1"/>
          <p:nvPr/>
        </p:nvSpPr>
        <p:spPr>
          <a:xfrm>
            <a:off x="2434473" y="148174"/>
            <a:ext cx="7567366" cy="369332"/>
          </a:xfrm>
          <a:prstGeom prst="rect">
            <a:avLst/>
          </a:prstGeom>
          <a:noFill/>
        </p:spPr>
        <p:txBody>
          <a:bodyPr wrap="square">
            <a:spAutoFit/>
          </a:bodyPr>
          <a:lstStyle/>
          <a:p>
            <a:r>
              <a:rPr lang="en-IN" b="1" i="0" dirty="0">
                <a:solidFill>
                  <a:srgbClr val="000000"/>
                </a:solidFill>
                <a:effectLst/>
                <a:latin typeface="arial" panose="020B0604020202020204" pitchFamily="34" charset="0"/>
              </a:rPr>
              <a:t>Route Constraints in ASP.NET Core Web API</a:t>
            </a:r>
            <a:r>
              <a:rPr lang="en-IN" b="0" i="0" dirty="0">
                <a:solidFill>
                  <a:srgbClr val="000000"/>
                </a:solidFill>
                <a:effectLst/>
                <a:latin typeface="arial" panose="020B0604020202020204" pitchFamily="34" charset="0"/>
              </a:rPr>
              <a:t> Application</a:t>
            </a:r>
            <a:endParaRPr lang="en-IN" dirty="0"/>
          </a:p>
        </p:txBody>
      </p:sp>
      <p:sp>
        <p:nvSpPr>
          <p:cNvPr id="7" name="TextBox 6">
            <a:extLst>
              <a:ext uri="{FF2B5EF4-FFF2-40B4-BE49-F238E27FC236}">
                <a16:creationId xmlns:a16="http://schemas.microsoft.com/office/drawing/2014/main" xmlns="" id="{FED4D9B0-F400-2EB6-F109-54590ED1333F}"/>
              </a:ext>
            </a:extLst>
          </p:cNvPr>
          <p:cNvSpPr txBox="1"/>
          <p:nvPr/>
        </p:nvSpPr>
        <p:spPr>
          <a:xfrm>
            <a:off x="681087" y="982100"/>
            <a:ext cx="5342641" cy="2862322"/>
          </a:xfrm>
          <a:prstGeom prst="rect">
            <a:avLst/>
          </a:prstGeom>
          <a:noFill/>
        </p:spPr>
        <p:txBody>
          <a:bodyPr wrap="square">
            <a:spAutoFit/>
          </a:bodyPr>
          <a:lstStyle/>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Type: int, double, bool, float, datetime, etc</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Min: min(number)</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Max: max(number)</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Range: range(10. 15)</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Alpha: alpha</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err="1">
                <a:solidFill>
                  <a:schemeClr val="tx1">
                    <a:lumMod val="50000"/>
                    <a:lumOff val="50000"/>
                  </a:schemeClr>
                </a:solidFill>
                <a:effectLst/>
                <a:latin typeface="arial" panose="020B0604020202020204" pitchFamily="34" charset="0"/>
              </a:rPr>
              <a:t>MinLength</a:t>
            </a:r>
            <a:r>
              <a:rPr lang="en-IN" b="1" i="0" dirty="0">
                <a:solidFill>
                  <a:schemeClr val="tx1">
                    <a:lumMod val="50000"/>
                    <a:lumOff val="50000"/>
                  </a:schemeClr>
                </a:solidFill>
                <a:effectLst/>
                <a:latin typeface="arial" panose="020B0604020202020204" pitchFamily="34" charset="0"/>
              </a:rPr>
              <a:t>: </a:t>
            </a:r>
            <a:r>
              <a:rPr lang="en-IN" b="1" i="0" dirty="0" err="1">
                <a:solidFill>
                  <a:schemeClr val="tx1">
                    <a:lumMod val="50000"/>
                    <a:lumOff val="50000"/>
                  </a:schemeClr>
                </a:solidFill>
                <a:effectLst/>
                <a:latin typeface="arial" panose="020B0604020202020204" pitchFamily="34" charset="0"/>
              </a:rPr>
              <a:t>minlength</a:t>
            </a:r>
            <a:r>
              <a:rPr lang="en-IN" b="1" i="0" dirty="0">
                <a:solidFill>
                  <a:schemeClr val="tx1">
                    <a:lumMod val="50000"/>
                    <a:lumOff val="50000"/>
                  </a:schemeClr>
                </a:solidFill>
                <a:effectLst/>
                <a:latin typeface="arial" panose="020B0604020202020204" pitchFamily="34" charset="0"/>
              </a:rPr>
              <a:t>(5)</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err="1">
                <a:solidFill>
                  <a:schemeClr val="tx1">
                    <a:lumMod val="50000"/>
                    <a:lumOff val="50000"/>
                  </a:schemeClr>
                </a:solidFill>
                <a:effectLst/>
                <a:latin typeface="arial" panose="020B0604020202020204" pitchFamily="34" charset="0"/>
              </a:rPr>
              <a:t>MaxLength</a:t>
            </a:r>
            <a:r>
              <a:rPr lang="en-IN" b="1" i="0" dirty="0">
                <a:solidFill>
                  <a:schemeClr val="tx1">
                    <a:lumMod val="50000"/>
                    <a:lumOff val="50000"/>
                  </a:schemeClr>
                </a:solidFill>
                <a:effectLst/>
                <a:latin typeface="arial" panose="020B0604020202020204" pitchFamily="34" charset="0"/>
              </a:rPr>
              <a:t>: </a:t>
            </a:r>
            <a:r>
              <a:rPr lang="en-IN" b="1" i="0" dirty="0" err="1">
                <a:solidFill>
                  <a:schemeClr val="tx1">
                    <a:lumMod val="50000"/>
                    <a:lumOff val="50000"/>
                  </a:schemeClr>
                </a:solidFill>
                <a:effectLst/>
                <a:latin typeface="arial" panose="020B0604020202020204" pitchFamily="34" charset="0"/>
              </a:rPr>
              <a:t>maxlength</a:t>
            </a:r>
            <a:r>
              <a:rPr lang="en-IN" b="1" i="0" dirty="0">
                <a:solidFill>
                  <a:schemeClr val="tx1">
                    <a:lumMod val="50000"/>
                    <a:lumOff val="50000"/>
                  </a:schemeClr>
                </a:solidFill>
                <a:effectLst/>
                <a:latin typeface="arial" panose="020B0604020202020204" pitchFamily="34" charset="0"/>
              </a:rPr>
              <a:t>(10)</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Length: length(10)</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Required: required</a:t>
            </a:r>
            <a:endParaRPr lang="en-IN" b="0" i="0" dirty="0">
              <a:solidFill>
                <a:schemeClr val="tx1">
                  <a:lumMod val="50000"/>
                  <a:lumOff val="50000"/>
                </a:schemeClr>
              </a:solidFill>
              <a:effectLst/>
              <a:latin typeface="-apple-system"/>
            </a:endParaRPr>
          </a:p>
          <a:p>
            <a:pPr marL="285750" indent="-285750" algn="l" fontAlgn="base">
              <a:buFont typeface="Arial" panose="020B0604020202020204" pitchFamily="34" charset="0"/>
              <a:buChar char="•"/>
            </a:pPr>
            <a:r>
              <a:rPr lang="en-IN" b="1" i="0" dirty="0">
                <a:solidFill>
                  <a:schemeClr val="tx1">
                    <a:lumMod val="50000"/>
                    <a:lumOff val="50000"/>
                  </a:schemeClr>
                </a:solidFill>
                <a:effectLst/>
                <a:latin typeface="arial" panose="020B0604020202020204" pitchFamily="34" charset="0"/>
              </a:rPr>
              <a:t>Regex: regex(expression)</a:t>
            </a:r>
            <a:endParaRPr lang="en-IN" b="0" i="0" dirty="0">
              <a:solidFill>
                <a:schemeClr val="tx1">
                  <a:lumMod val="50000"/>
                  <a:lumOff val="50000"/>
                </a:schemeClr>
              </a:solidFill>
              <a:effectLst/>
              <a:latin typeface="-apple-system"/>
            </a:endParaRPr>
          </a:p>
        </p:txBody>
      </p:sp>
    </p:spTree>
    <p:extLst>
      <p:ext uri="{BB962C8B-B14F-4D97-AF65-F5344CB8AC3E}">
        <p14:creationId xmlns:p14="http://schemas.microsoft.com/office/powerpoint/2010/main" val="1777312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C38F2145-C8CD-FAF5-855F-7B17F40D895D}"/>
              </a:ext>
            </a:extLst>
          </p:cNvPr>
          <p:cNvGraphicFramePr>
            <a:graphicFrameLocks noGrp="1"/>
          </p:cNvGraphicFramePr>
          <p:nvPr>
            <p:extLst>
              <p:ext uri="{D42A27DB-BD31-4B8C-83A1-F6EECF244321}">
                <p14:modId xmlns:p14="http://schemas.microsoft.com/office/powerpoint/2010/main" val="2555237285"/>
              </p:ext>
            </p:extLst>
          </p:nvPr>
        </p:nvGraphicFramePr>
        <p:xfrm>
          <a:off x="320512" y="763571"/>
          <a:ext cx="11302737" cy="5571632"/>
        </p:xfrm>
        <a:graphic>
          <a:graphicData uri="http://schemas.openxmlformats.org/drawingml/2006/table">
            <a:tbl>
              <a:tblPr>
                <a:tableStyleId>{2D5ABB26-0587-4C30-8999-92F81FD0307C}</a:tableStyleId>
              </a:tblPr>
              <a:tblGrid>
                <a:gridCol w="3767579">
                  <a:extLst>
                    <a:ext uri="{9D8B030D-6E8A-4147-A177-3AD203B41FA5}">
                      <a16:colId xmlns:a16="http://schemas.microsoft.com/office/drawing/2014/main" xmlns="" val="805598700"/>
                    </a:ext>
                  </a:extLst>
                </a:gridCol>
                <a:gridCol w="3767579">
                  <a:extLst>
                    <a:ext uri="{9D8B030D-6E8A-4147-A177-3AD203B41FA5}">
                      <a16:colId xmlns:a16="http://schemas.microsoft.com/office/drawing/2014/main" xmlns="" val="3921704243"/>
                    </a:ext>
                  </a:extLst>
                </a:gridCol>
                <a:gridCol w="3767579">
                  <a:extLst>
                    <a:ext uri="{9D8B030D-6E8A-4147-A177-3AD203B41FA5}">
                      <a16:colId xmlns:a16="http://schemas.microsoft.com/office/drawing/2014/main" xmlns="" val="3304332783"/>
                    </a:ext>
                  </a:extLst>
                </a:gridCol>
              </a:tblGrid>
              <a:tr h="123509">
                <a:tc>
                  <a:txBody>
                    <a:bodyPr/>
                    <a:lstStyle/>
                    <a:p>
                      <a:pPr algn="l" fontAlgn="t"/>
                      <a:r>
                        <a:rPr lang="en-IN" sz="1600">
                          <a:effectLst/>
                        </a:rPr>
                        <a:t>Constraint</a:t>
                      </a:r>
                    </a:p>
                  </a:txBody>
                  <a:tcPr marL="26056" marR="26056" marT="13028" marB="13028"/>
                </a:tc>
                <a:tc>
                  <a:txBody>
                    <a:bodyPr/>
                    <a:lstStyle/>
                    <a:p>
                      <a:pPr algn="l" fontAlgn="t"/>
                      <a:r>
                        <a:rPr lang="en-IN" sz="1600">
                          <a:effectLst/>
                        </a:rPr>
                        <a:t>Description</a:t>
                      </a:r>
                    </a:p>
                  </a:txBody>
                  <a:tcPr marL="26056" marR="26056" marT="13028" marB="13028"/>
                </a:tc>
                <a:tc>
                  <a:txBody>
                    <a:bodyPr/>
                    <a:lstStyle/>
                    <a:p>
                      <a:pPr algn="l" fontAlgn="t"/>
                      <a:r>
                        <a:rPr lang="en-IN" sz="1600">
                          <a:effectLst/>
                        </a:rPr>
                        <a:t>Example</a:t>
                      </a:r>
                    </a:p>
                  </a:txBody>
                  <a:tcPr marL="26056" marR="26056" marT="13028" marB="13028"/>
                </a:tc>
                <a:extLst>
                  <a:ext uri="{0D108BD9-81ED-4DB2-BD59-A6C34878D82A}">
                    <a16:rowId xmlns:a16="http://schemas.microsoft.com/office/drawing/2014/main" xmlns="" val="128934120"/>
                  </a:ext>
                </a:extLst>
              </a:tr>
              <a:tr h="586663">
                <a:tc>
                  <a:txBody>
                    <a:bodyPr/>
                    <a:lstStyle/>
                    <a:p>
                      <a:pPr algn="l" fontAlgn="t"/>
                      <a:r>
                        <a:rPr lang="en-IN" sz="1600" dirty="0">
                          <a:effectLst/>
                        </a:rPr>
                        <a:t>alpha</a:t>
                      </a:r>
                    </a:p>
                  </a:txBody>
                  <a:tcPr marL="26056" marR="26056" marT="13028" marB="13028"/>
                </a:tc>
                <a:tc>
                  <a:txBody>
                    <a:bodyPr/>
                    <a:lstStyle/>
                    <a:p>
                      <a:pPr algn="l" fontAlgn="t"/>
                      <a:r>
                        <a:rPr lang="en-US" sz="1600" dirty="0">
                          <a:effectLst/>
                        </a:rPr>
                        <a:t>Matches uppercase or lowercase Latin alphabet characters (a-z, A-Z)</a:t>
                      </a:r>
                    </a:p>
                  </a:txBody>
                  <a:tcPr marL="26056" marR="26056" marT="13028" marB="13028"/>
                </a:tc>
                <a:tc>
                  <a:txBody>
                    <a:bodyPr/>
                    <a:lstStyle/>
                    <a:p>
                      <a:pPr algn="l" fontAlgn="t"/>
                      <a:r>
                        <a:rPr lang="en-IN" sz="1600">
                          <a:effectLst/>
                        </a:rPr>
                        <a:t>{x:alpha}</a:t>
                      </a:r>
                    </a:p>
                  </a:txBody>
                  <a:tcPr marL="26056" marR="26056" marT="13028" marB="13028"/>
                </a:tc>
                <a:extLst>
                  <a:ext uri="{0D108BD9-81ED-4DB2-BD59-A6C34878D82A}">
                    <a16:rowId xmlns:a16="http://schemas.microsoft.com/office/drawing/2014/main" xmlns="" val="832125827"/>
                  </a:ext>
                </a:extLst>
              </a:tr>
              <a:tr h="216139">
                <a:tc>
                  <a:txBody>
                    <a:bodyPr/>
                    <a:lstStyle/>
                    <a:p>
                      <a:pPr algn="l" fontAlgn="t"/>
                      <a:r>
                        <a:rPr lang="en-IN" sz="1600">
                          <a:effectLst/>
                        </a:rPr>
                        <a:t>bool</a:t>
                      </a:r>
                    </a:p>
                  </a:txBody>
                  <a:tcPr marL="26056" marR="26056" marT="13028" marB="13028"/>
                </a:tc>
                <a:tc>
                  <a:txBody>
                    <a:bodyPr/>
                    <a:lstStyle/>
                    <a:p>
                      <a:pPr algn="l" fontAlgn="t"/>
                      <a:r>
                        <a:rPr lang="en-IN" sz="1600">
                          <a:effectLst/>
                        </a:rPr>
                        <a:t>Matches a Boolean value.</a:t>
                      </a:r>
                    </a:p>
                  </a:txBody>
                  <a:tcPr marL="26056" marR="26056" marT="13028" marB="13028"/>
                </a:tc>
                <a:tc>
                  <a:txBody>
                    <a:bodyPr/>
                    <a:lstStyle/>
                    <a:p>
                      <a:pPr algn="l" fontAlgn="t"/>
                      <a:r>
                        <a:rPr lang="en-IN" sz="1600">
                          <a:effectLst/>
                        </a:rPr>
                        <a:t>{x:bool}</a:t>
                      </a:r>
                    </a:p>
                  </a:txBody>
                  <a:tcPr marL="26056" marR="26056" marT="13028" marB="13028"/>
                </a:tc>
                <a:extLst>
                  <a:ext uri="{0D108BD9-81ED-4DB2-BD59-A6C34878D82A}">
                    <a16:rowId xmlns:a16="http://schemas.microsoft.com/office/drawing/2014/main" xmlns="" val="1773384035"/>
                  </a:ext>
                </a:extLst>
              </a:tr>
              <a:tr h="308770">
                <a:tc>
                  <a:txBody>
                    <a:bodyPr/>
                    <a:lstStyle/>
                    <a:p>
                      <a:pPr algn="l" fontAlgn="t"/>
                      <a:r>
                        <a:rPr lang="en-IN" sz="1600" dirty="0">
                          <a:effectLst/>
                        </a:rPr>
                        <a:t>datetime</a:t>
                      </a:r>
                    </a:p>
                  </a:txBody>
                  <a:tcPr marL="26056" marR="26056" marT="13028" marB="13028"/>
                </a:tc>
                <a:tc>
                  <a:txBody>
                    <a:bodyPr/>
                    <a:lstStyle/>
                    <a:p>
                      <a:pPr algn="l" fontAlgn="t"/>
                      <a:r>
                        <a:rPr lang="en-IN" sz="1600">
                          <a:effectLst/>
                        </a:rPr>
                        <a:t>Matches a </a:t>
                      </a:r>
                      <a:r>
                        <a:rPr lang="en-IN" sz="1600" b="1">
                          <a:effectLst/>
                        </a:rPr>
                        <a:t>DateTime</a:t>
                      </a:r>
                      <a:r>
                        <a:rPr lang="en-IN" sz="1600">
                          <a:effectLst/>
                        </a:rPr>
                        <a:t> value.</a:t>
                      </a:r>
                    </a:p>
                  </a:txBody>
                  <a:tcPr marL="26056" marR="26056" marT="13028" marB="13028"/>
                </a:tc>
                <a:tc>
                  <a:txBody>
                    <a:bodyPr/>
                    <a:lstStyle/>
                    <a:p>
                      <a:pPr algn="l" fontAlgn="t"/>
                      <a:r>
                        <a:rPr lang="en-IN" sz="1600">
                          <a:effectLst/>
                        </a:rPr>
                        <a:t>{x:datetime}</a:t>
                      </a:r>
                    </a:p>
                  </a:txBody>
                  <a:tcPr marL="26056" marR="26056" marT="13028" marB="13028"/>
                </a:tc>
                <a:extLst>
                  <a:ext uri="{0D108BD9-81ED-4DB2-BD59-A6C34878D82A}">
                    <a16:rowId xmlns:a16="http://schemas.microsoft.com/office/drawing/2014/main" xmlns="" val="992269755"/>
                  </a:ext>
                </a:extLst>
              </a:tr>
              <a:tr h="216139">
                <a:tc>
                  <a:txBody>
                    <a:bodyPr/>
                    <a:lstStyle/>
                    <a:p>
                      <a:pPr algn="l" fontAlgn="t"/>
                      <a:r>
                        <a:rPr lang="en-IN" sz="1600" dirty="0">
                          <a:effectLst/>
                        </a:rPr>
                        <a:t>decimal</a:t>
                      </a:r>
                    </a:p>
                  </a:txBody>
                  <a:tcPr marL="26056" marR="26056" marT="13028" marB="13028"/>
                </a:tc>
                <a:tc>
                  <a:txBody>
                    <a:bodyPr/>
                    <a:lstStyle/>
                    <a:p>
                      <a:pPr algn="l" fontAlgn="t"/>
                      <a:r>
                        <a:rPr lang="en-IN" sz="1600">
                          <a:effectLst/>
                        </a:rPr>
                        <a:t>Matches a decimal value.</a:t>
                      </a:r>
                    </a:p>
                  </a:txBody>
                  <a:tcPr marL="26056" marR="26056" marT="13028" marB="13028"/>
                </a:tc>
                <a:tc>
                  <a:txBody>
                    <a:bodyPr/>
                    <a:lstStyle/>
                    <a:p>
                      <a:pPr algn="l" fontAlgn="t"/>
                      <a:r>
                        <a:rPr lang="en-IN" sz="1600">
                          <a:effectLst/>
                        </a:rPr>
                        <a:t>{x:decimal}</a:t>
                      </a:r>
                    </a:p>
                  </a:txBody>
                  <a:tcPr marL="26056" marR="26056" marT="13028" marB="13028"/>
                </a:tc>
                <a:extLst>
                  <a:ext uri="{0D108BD9-81ED-4DB2-BD59-A6C34878D82A}">
                    <a16:rowId xmlns:a16="http://schemas.microsoft.com/office/drawing/2014/main" xmlns="" val="4182320779"/>
                  </a:ext>
                </a:extLst>
              </a:tr>
              <a:tr h="308770">
                <a:tc>
                  <a:txBody>
                    <a:bodyPr/>
                    <a:lstStyle/>
                    <a:p>
                      <a:pPr algn="l" fontAlgn="t"/>
                      <a:r>
                        <a:rPr lang="en-IN" sz="1600" dirty="0">
                          <a:effectLst/>
                        </a:rPr>
                        <a:t>double</a:t>
                      </a:r>
                    </a:p>
                  </a:txBody>
                  <a:tcPr marL="26056" marR="26056" marT="13028" marB="13028"/>
                </a:tc>
                <a:tc>
                  <a:txBody>
                    <a:bodyPr/>
                    <a:lstStyle/>
                    <a:p>
                      <a:pPr algn="l" fontAlgn="t"/>
                      <a:r>
                        <a:rPr lang="en-US" sz="1600">
                          <a:effectLst/>
                        </a:rPr>
                        <a:t>Matches a 64-bit floating-point value.</a:t>
                      </a:r>
                    </a:p>
                  </a:txBody>
                  <a:tcPr marL="26056" marR="26056" marT="13028" marB="13028"/>
                </a:tc>
                <a:tc>
                  <a:txBody>
                    <a:bodyPr/>
                    <a:lstStyle/>
                    <a:p>
                      <a:pPr algn="l" fontAlgn="t"/>
                      <a:r>
                        <a:rPr lang="en-IN" sz="1600">
                          <a:effectLst/>
                        </a:rPr>
                        <a:t>{x:double}</a:t>
                      </a:r>
                    </a:p>
                  </a:txBody>
                  <a:tcPr marL="26056" marR="26056" marT="13028" marB="13028"/>
                </a:tc>
                <a:extLst>
                  <a:ext uri="{0D108BD9-81ED-4DB2-BD59-A6C34878D82A}">
                    <a16:rowId xmlns:a16="http://schemas.microsoft.com/office/drawing/2014/main" xmlns="" val="96486902"/>
                  </a:ext>
                </a:extLst>
              </a:tr>
              <a:tr h="308770">
                <a:tc>
                  <a:txBody>
                    <a:bodyPr/>
                    <a:lstStyle/>
                    <a:p>
                      <a:pPr algn="l" fontAlgn="t"/>
                      <a:r>
                        <a:rPr lang="en-IN" sz="1600">
                          <a:effectLst/>
                        </a:rPr>
                        <a:t>float</a:t>
                      </a:r>
                    </a:p>
                  </a:txBody>
                  <a:tcPr marL="26056" marR="26056" marT="13028" marB="13028"/>
                </a:tc>
                <a:tc>
                  <a:txBody>
                    <a:bodyPr/>
                    <a:lstStyle/>
                    <a:p>
                      <a:pPr algn="l" fontAlgn="t"/>
                      <a:r>
                        <a:rPr lang="en-US" sz="1600">
                          <a:effectLst/>
                        </a:rPr>
                        <a:t>Matches a 32-bit floating-point value.</a:t>
                      </a:r>
                    </a:p>
                  </a:txBody>
                  <a:tcPr marL="26056" marR="26056" marT="13028" marB="13028"/>
                </a:tc>
                <a:tc>
                  <a:txBody>
                    <a:bodyPr/>
                    <a:lstStyle/>
                    <a:p>
                      <a:pPr algn="l" fontAlgn="t"/>
                      <a:r>
                        <a:rPr lang="en-IN" sz="1600">
                          <a:effectLst/>
                        </a:rPr>
                        <a:t>{x:float}</a:t>
                      </a:r>
                    </a:p>
                  </a:txBody>
                  <a:tcPr marL="26056" marR="26056" marT="13028" marB="13028"/>
                </a:tc>
                <a:extLst>
                  <a:ext uri="{0D108BD9-81ED-4DB2-BD59-A6C34878D82A}">
                    <a16:rowId xmlns:a16="http://schemas.microsoft.com/office/drawing/2014/main" xmlns="" val="3552820652"/>
                  </a:ext>
                </a:extLst>
              </a:tr>
              <a:tr h="216139">
                <a:tc>
                  <a:txBody>
                    <a:bodyPr/>
                    <a:lstStyle/>
                    <a:p>
                      <a:pPr algn="l" fontAlgn="t"/>
                      <a:r>
                        <a:rPr lang="en-IN" sz="1600">
                          <a:effectLst/>
                        </a:rPr>
                        <a:t>guid</a:t>
                      </a:r>
                    </a:p>
                  </a:txBody>
                  <a:tcPr marL="26056" marR="26056" marT="13028" marB="13028"/>
                </a:tc>
                <a:tc>
                  <a:txBody>
                    <a:bodyPr/>
                    <a:lstStyle/>
                    <a:p>
                      <a:pPr algn="l" fontAlgn="t"/>
                      <a:r>
                        <a:rPr lang="en-IN" sz="1600">
                          <a:effectLst/>
                        </a:rPr>
                        <a:t>Matches a GUID value.</a:t>
                      </a:r>
                    </a:p>
                  </a:txBody>
                  <a:tcPr marL="26056" marR="26056" marT="13028" marB="13028"/>
                </a:tc>
                <a:tc>
                  <a:txBody>
                    <a:bodyPr/>
                    <a:lstStyle/>
                    <a:p>
                      <a:pPr algn="l" fontAlgn="t"/>
                      <a:r>
                        <a:rPr lang="en-IN" sz="1600">
                          <a:effectLst/>
                        </a:rPr>
                        <a:t>{x:guid}</a:t>
                      </a:r>
                    </a:p>
                  </a:txBody>
                  <a:tcPr marL="26056" marR="26056" marT="13028" marB="13028"/>
                </a:tc>
                <a:extLst>
                  <a:ext uri="{0D108BD9-81ED-4DB2-BD59-A6C34878D82A}">
                    <a16:rowId xmlns:a16="http://schemas.microsoft.com/office/drawing/2014/main" xmlns="" val="3340556752"/>
                  </a:ext>
                </a:extLst>
              </a:tr>
              <a:tr h="216139">
                <a:tc>
                  <a:txBody>
                    <a:bodyPr/>
                    <a:lstStyle/>
                    <a:p>
                      <a:pPr algn="l" fontAlgn="t"/>
                      <a:r>
                        <a:rPr lang="en-IN" sz="1600">
                          <a:effectLst/>
                        </a:rPr>
                        <a:t>int</a:t>
                      </a:r>
                    </a:p>
                  </a:txBody>
                  <a:tcPr marL="26056" marR="26056" marT="13028" marB="13028"/>
                </a:tc>
                <a:tc>
                  <a:txBody>
                    <a:bodyPr/>
                    <a:lstStyle/>
                    <a:p>
                      <a:pPr algn="l" fontAlgn="t"/>
                      <a:r>
                        <a:rPr lang="en-US" sz="1600">
                          <a:effectLst/>
                        </a:rPr>
                        <a:t>Matches a 32-bit integer value.</a:t>
                      </a:r>
                    </a:p>
                  </a:txBody>
                  <a:tcPr marL="26056" marR="26056" marT="13028" marB="13028"/>
                </a:tc>
                <a:tc>
                  <a:txBody>
                    <a:bodyPr/>
                    <a:lstStyle/>
                    <a:p>
                      <a:pPr algn="l" fontAlgn="t"/>
                      <a:r>
                        <a:rPr lang="en-IN" sz="1600">
                          <a:effectLst/>
                        </a:rPr>
                        <a:t>{x:int}</a:t>
                      </a:r>
                    </a:p>
                  </a:txBody>
                  <a:tcPr marL="26056" marR="26056" marT="13028" marB="13028"/>
                </a:tc>
                <a:extLst>
                  <a:ext uri="{0D108BD9-81ED-4DB2-BD59-A6C34878D82A}">
                    <a16:rowId xmlns:a16="http://schemas.microsoft.com/office/drawing/2014/main" xmlns="" val="335020159"/>
                  </a:ext>
                </a:extLst>
              </a:tr>
              <a:tr h="586663">
                <a:tc>
                  <a:txBody>
                    <a:bodyPr/>
                    <a:lstStyle/>
                    <a:p>
                      <a:pPr algn="l" fontAlgn="t"/>
                      <a:r>
                        <a:rPr lang="en-IN" sz="1600">
                          <a:effectLst/>
                        </a:rPr>
                        <a:t>length</a:t>
                      </a:r>
                    </a:p>
                  </a:txBody>
                  <a:tcPr marL="26056" marR="26056" marT="13028" marB="13028"/>
                </a:tc>
                <a:tc>
                  <a:txBody>
                    <a:bodyPr/>
                    <a:lstStyle/>
                    <a:p>
                      <a:pPr algn="l" fontAlgn="t"/>
                      <a:r>
                        <a:rPr lang="en-US" sz="1600">
                          <a:effectLst/>
                        </a:rPr>
                        <a:t>Matches a string with the specified length or within a specified range of lengths.</a:t>
                      </a:r>
                    </a:p>
                  </a:txBody>
                  <a:tcPr marL="26056" marR="26056" marT="13028" marB="13028"/>
                </a:tc>
                <a:tc>
                  <a:txBody>
                    <a:bodyPr/>
                    <a:lstStyle/>
                    <a:p>
                      <a:pPr algn="l" fontAlgn="t"/>
                      <a:r>
                        <a:rPr lang="en-US" sz="1600">
                          <a:effectLst/>
                        </a:rPr>
                        <a:t>{x:length(6)} {x:length(1,20)}</a:t>
                      </a:r>
                    </a:p>
                  </a:txBody>
                  <a:tcPr marL="26056" marR="26056" marT="13028" marB="13028"/>
                </a:tc>
                <a:extLst>
                  <a:ext uri="{0D108BD9-81ED-4DB2-BD59-A6C34878D82A}">
                    <a16:rowId xmlns:a16="http://schemas.microsoft.com/office/drawing/2014/main" xmlns="" val="2805100932"/>
                  </a:ext>
                </a:extLst>
              </a:tr>
              <a:tr h="216139">
                <a:tc>
                  <a:txBody>
                    <a:bodyPr/>
                    <a:lstStyle/>
                    <a:p>
                      <a:pPr algn="l" fontAlgn="t"/>
                      <a:r>
                        <a:rPr lang="en-IN" sz="1600">
                          <a:effectLst/>
                        </a:rPr>
                        <a:t>long</a:t>
                      </a:r>
                    </a:p>
                  </a:txBody>
                  <a:tcPr marL="26056" marR="26056" marT="13028" marB="13028"/>
                </a:tc>
                <a:tc>
                  <a:txBody>
                    <a:bodyPr/>
                    <a:lstStyle/>
                    <a:p>
                      <a:pPr algn="l" fontAlgn="t"/>
                      <a:r>
                        <a:rPr lang="en-US" sz="1600">
                          <a:effectLst/>
                        </a:rPr>
                        <a:t>Matches a 64-bit integer value.</a:t>
                      </a:r>
                    </a:p>
                  </a:txBody>
                  <a:tcPr marL="26056" marR="26056" marT="13028" marB="13028"/>
                </a:tc>
                <a:tc>
                  <a:txBody>
                    <a:bodyPr/>
                    <a:lstStyle/>
                    <a:p>
                      <a:pPr algn="l" fontAlgn="t"/>
                      <a:r>
                        <a:rPr lang="en-IN" sz="1600">
                          <a:effectLst/>
                        </a:rPr>
                        <a:t>{x:long}</a:t>
                      </a:r>
                    </a:p>
                  </a:txBody>
                  <a:tcPr marL="26056" marR="26056" marT="13028" marB="13028"/>
                </a:tc>
                <a:extLst>
                  <a:ext uri="{0D108BD9-81ED-4DB2-BD59-A6C34878D82A}">
                    <a16:rowId xmlns:a16="http://schemas.microsoft.com/office/drawing/2014/main" xmlns="" val="2346037587"/>
                  </a:ext>
                </a:extLst>
              </a:tr>
              <a:tr h="308770">
                <a:tc>
                  <a:txBody>
                    <a:bodyPr/>
                    <a:lstStyle/>
                    <a:p>
                      <a:pPr algn="l" fontAlgn="t"/>
                      <a:r>
                        <a:rPr lang="en-IN" sz="1600">
                          <a:effectLst/>
                        </a:rPr>
                        <a:t>max</a:t>
                      </a:r>
                    </a:p>
                  </a:txBody>
                  <a:tcPr marL="26056" marR="26056" marT="13028" marB="13028"/>
                </a:tc>
                <a:tc>
                  <a:txBody>
                    <a:bodyPr/>
                    <a:lstStyle/>
                    <a:p>
                      <a:pPr algn="l" fontAlgn="t"/>
                      <a:r>
                        <a:rPr lang="en-US" sz="1600">
                          <a:effectLst/>
                        </a:rPr>
                        <a:t>Matches an integer with a maximum value.</a:t>
                      </a:r>
                    </a:p>
                  </a:txBody>
                  <a:tcPr marL="26056" marR="26056" marT="13028" marB="13028"/>
                </a:tc>
                <a:tc>
                  <a:txBody>
                    <a:bodyPr/>
                    <a:lstStyle/>
                    <a:p>
                      <a:pPr algn="l" fontAlgn="t"/>
                      <a:r>
                        <a:rPr lang="en-IN" sz="1600">
                          <a:effectLst/>
                        </a:rPr>
                        <a:t>{x:max(10)}</a:t>
                      </a:r>
                    </a:p>
                  </a:txBody>
                  <a:tcPr marL="26056" marR="26056" marT="13028" marB="13028"/>
                </a:tc>
                <a:extLst>
                  <a:ext uri="{0D108BD9-81ED-4DB2-BD59-A6C34878D82A}">
                    <a16:rowId xmlns:a16="http://schemas.microsoft.com/office/drawing/2014/main" xmlns="" val="3017989878"/>
                  </a:ext>
                </a:extLst>
              </a:tr>
              <a:tr h="308770">
                <a:tc>
                  <a:txBody>
                    <a:bodyPr/>
                    <a:lstStyle/>
                    <a:p>
                      <a:pPr algn="l" fontAlgn="t"/>
                      <a:r>
                        <a:rPr lang="en-IN" sz="1600">
                          <a:effectLst/>
                        </a:rPr>
                        <a:t>maxlength</a:t>
                      </a:r>
                    </a:p>
                  </a:txBody>
                  <a:tcPr marL="26056" marR="26056" marT="13028" marB="13028"/>
                </a:tc>
                <a:tc>
                  <a:txBody>
                    <a:bodyPr/>
                    <a:lstStyle/>
                    <a:p>
                      <a:pPr algn="l" fontAlgn="t"/>
                      <a:r>
                        <a:rPr lang="en-US" sz="1600">
                          <a:effectLst/>
                        </a:rPr>
                        <a:t>Matches a string with a maximum length.</a:t>
                      </a:r>
                    </a:p>
                  </a:txBody>
                  <a:tcPr marL="26056" marR="26056" marT="13028" marB="13028"/>
                </a:tc>
                <a:tc>
                  <a:txBody>
                    <a:bodyPr/>
                    <a:lstStyle/>
                    <a:p>
                      <a:pPr algn="l" fontAlgn="t"/>
                      <a:r>
                        <a:rPr lang="en-IN" sz="1600">
                          <a:effectLst/>
                        </a:rPr>
                        <a:t>{x:maxlength(10)}</a:t>
                      </a:r>
                    </a:p>
                  </a:txBody>
                  <a:tcPr marL="26056" marR="26056" marT="13028" marB="13028"/>
                </a:tc>
                <a:extLst>
                  <a:ext uri="{0D108BD9-81ED-4DB2-BD59-A6C34878D82A}">
                    <a16:rowId xmlns:a16="http://schemas.microsoft.com/office/drawing/2014/main" xmlns="" val="3012472562"/>
                  </a:ext>
                </a:extLst>
              </a:tr>
              <a:tr h="308770">
                <a:tc>
                  <a:txBody>
                    <a:bodyPr/>
                    <a:lstStyle/>
                    <a:p>
                      <a:pPr algn="l" fontAlgn="t"/>
                      <a:r>
                        <a:rPr lang="en-IN" sz="1600">
                          <a:effectLst/>
                        </a:rPr>
                        <a:t>min</a:t>
                      </a:r>
                    </a:p>
                  </a:txBody>
                  <a:tcPr marL="26056" marR="26056" marT="13028" marB="13028"/>
                </a:tc>
                <a:tc>
                  <a:txBody>
                    <a:bodyPr/>
                    <a:lstStyle/>
                    <a:p>
                      <a:pPr algn="l" fontAlgn="t"/>
                      <a:r>
                        <a:rPr lang="en-US" sz="1600">
                          <a:effectLst/>
                        </a:rPr>
                        <a:t>Matches an integer with a minimum value.</a:t>
                      </a:r>
                    </a:p>
                  </a:txBody>
                  <a:tcPr marL="26056" marR="26056" marT="13028" marB="13028"/>
                </a:tc>
                <a:tc>
                  <a:txBody>
                    <a:bodyPr/>
                    <a:lstStyle/>
                    <a:p>
                      <a:pPr algn="l" fontAlgn="t"/>
                      <a:r>
                        <a:rPr lang="en-IN" sz="1600">
                          <a:effectLst/>
                        </a:rPr>
                        <a:t>{x:min(10)}</a:t>
                      </a:r>
                    </a:p>
                  </a:txBody>
                  <a:tcPr marL="26056" marR="26056" marT="13028" marB="13028"/>
                </a:tc>
                <a:extLst>
                  <a:ext uri="{0D108BD9-81ED-4DB2-BD59-A6C34878D82A}">
                    <a16:rowId xmlns:a16="http://schemas.microsoft.com/office/drawing/2014/main" xmlns="" val="611123913"/>
                  </a:ext>
                </a:extLst>
              </a:tr>
              <a:tr h="308770">
                <a:tc>
                  <a:txBody>
                    <a:bodyPr/>
                    <a:lstStyle/>
                    <a:p>
                      <a:pPr algn="l" fontAlgn="t"/>
                      <a:r>
                        <a:rPr lang="en-IN" sz="1600">
                          <a:effectLst/>
                        </a:rPr>
                        <a:t>minlength</a:t>
                      </a:r>
                    </a:p>
                  </a:txBody>
                  <a:tcPr marL="26056" marR="26056" marT="13028" marB="13028"/>
                </a:tc>
                <a:tc>
                  <a:txBody>
                    <a:bodyPr/>
                    <a:lstStyle/>
                    <a:p>
                      <a:pPr algn="l" fontAlgn="t"/>
                      <a:r>
                        <a:rPr lang="en-US" sz="1600">
                          <a:effectLst/>
                        </a:rPr>
                        <a:t>Matches a string with a minimum length.</a:t>
                      </a:r>
                    </a:p>
                  </a:txBody>
                  <a:tcPr marL="26056" marR="26056" marT="13028" marB="13028"/>
                </a:tc>
                <a:tc>
                  <a:txBody>
                    <a:bodyPr/>
                    <a:lstStyle/>
                    <a:p>
                      <a:pPr algn="l" fontAlgn="t"/>
                      <a:r>
                        <a:rPr lang="en-IN" sz="1600">
                          <a:effectLst/>
                        </a:rPr>
                        <a:t>{x:minlength(10)}</a:t>
                      </a:r>
                    </a:p>
                  </a:txBody>
                  <a:tcPr marL="26056" marR="26056" marT="13028" marB="13028"/>
                </a:tc>
                <a:extLst>
                  <a:ext uri="{0D108BD9-81ED-4DB2-BD59-A6C34878D82A}">
                    <a16:rowId xmlns:a16="http://schemas.microsoft.com/office/drawing/2014/main" xmlns="" val="2251465421"/>
                  </a:ext>
                </a:extLst>
              </a:tr>
              <a:tr h="308770">
                <a:tc>
                  <a:txBody>
                    <a:bodyPr/>
                    <a:lstStyle/>
                    <a:p>
                      <a:pPr algn="l" fontAlgn="t"/>
                      <a:r>
                        <a:rPr lang="en-IN" sz="1600">
                          <a:effectLst/>
                        </a:rPr>
                        <a:t>range</a:t>
                      </a:r>
                    </a:p>
                  </a:txBody>
                  <a:tcPr marL="26056" marR="26056" marT="13028" marB="13028"/>
                </a:tc>
                <a:tc>
                  <a:txBody>
                    <a:bodyPr/>
                    <a:lstStyle/>
                    <a:p>
                      <a:pPr algn="l" fontAlgn="t"/>
                      <a:r>
                        <a:rPr lang="en-US" sz="1600">
                          <a:effectLst/>
                        </a:rPr>
                        <a:t>Matches an integer within a range of values.</a:t>
                      </a:r>
                    </a:p>
                  </a:txBody>
                  <a:tcPr marL="26056" marR="26056" marT="13028" marB="13028"/>
                </a:tc>
                <a:tc>
                  <a:txBody>
                    <a:bodyPr/>
                    <a:lstStyle/>
                    <a:p>
                      <a:pPr algn="l" fontAlgn="t"/>
                      <a:r>
                        <a:rPr lang="en-IN" sz="1600">
                          <a:effectLst/>
                        </a:rPr>
                        <a:t>{x:range(10,50)}</a:t>
                      </a:r>
                    </a:p>
                  </a:txBody>
                  <a:tcPr marL="26056" marR="26056" marT="13028" marB="13028"/>
                </a:tc>
                <a:extLst>
                  <a:ext uri="{0D108BD9-81ED-4DB2-BD59-A6C34878D82A}">
                    <a16:rowId xmlns:a16="http://schemas.microsoft.com/office/drawing/2014/main" xmlns="" val="3292076290"/>
                  </a:ext>
                </a:extLst>
              </a:tr>
              <a:tr h="308770">
                <a:tc>
                  <a:txBody>
                    <a:bodyPr/>
                    <a:lstStyle/>
                    <a:p>
                      <a:pPr algn="l" fontAlgn="t"/>
                      <a:r>
                        <a:rPr lang="en-IN" sz="1600">
                          <a:effectLst/>
                        </a:rPr>
                        <a:t>regex</a:t>
                      </a:r>
                    </a:p>
                  </a:txBody>
                  <a:tcPr marL="26056" marR="26056" marT="13028" marB="13028"/>
                </a:tc>
                <a:tc>
                  <a:txBody>
                    <a:bodyPr/>
                    <a:lstStyle/>
                    <a:p>
                      <a:pPr algn="l" fontAlgn="t"/>
                      <a:r>
                        <a:rPr lang="en-IN" sz="1600">
                          <a:effectLst/>
                        </a:rPr>
                        <a:t>Matches a regular expression.</a:t>
                      </a:r>
                    </a:p>
                  </a:txBody>
                  <a:tcPr marL="26056" marR="26056" marT="13028" marB="13028"/>
                </a:tc>
                <a:tc>
                  <a:txBody>
                    <a:bodyPr/>
                    <a:lstStyle/>
                    <a:p>
                      <a:pPr algn="l" fontAlgn="t"/>
                      <a:r>
                        <a:rPr lang="en-IN" sz="1600" dirty="0">
                          <a:effectLst/>
                        </a:rPr>
                        <a:t>{</a:t>
                      </a:r>
                      <a:r>
                        <a:rPr lang="en-IN" sz="1600" dirty="0" err="1">
                          <a:effectLst/>
                        </a:rPr>
                        <a:t>x:regex</a:t>
                      </a:r>
                      <a:r>
                        <a:rPr lang="en-IN" sz="1600" dirty="0">
                          <a:effectLst/>
                        </a:rPr>
                        <a:t>(^\d{3}-\d{3}-\d{4}$)}</a:t>
                      </a:r>
                    </a:p>
                  </a:txBody>
                  <a:tcPr marL="26056" marR="26056" marT="13028" marB="13028"/>
                </a:tc>
                <a:extLst>
                  <a:ext uri="{0D108BD9-81ED-4DB2-BD59-A6C34878D82A}">
                    <a16:rowId xmlns:a16="http://schemas.microsoft.com/office/drawing/2014/main" xmlns="" val="1478230009"/>
                  </a:ext>
                </a:extLst>
              </a:tr>
            </a:tbl>
          </a:graphicData>
        </a:graphic>
      </p:graphicFrame>
    </p:spTree>
    <p:extLst>
      <p:ext uri="{BB962C8B-B14F-4D97-AF65-F5344CB8AC3E}">
        <p14:creationId xmlns:p14="http://schemas.microsoft.com/office/powerpoint/2010/main" val="1838554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8771D26-4511-B561-5A54-4C1D0E0BC9E9}"/>
              </a:ext>
            </a:extLst>
          </p:cNvPr>
          <p:cNvSpPr txBox="1"/>
          <p:nvPr/>
        </p:nvSpPr>
        <p:spPr>
          <a:xfrm>
            <a:off x="209747" y="229155"/>
            <a:ext cx="5210665" cy="313932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RoutingInASPNETCoreWebAPI.Controllers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EmployeeController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EmployeeId</a:t>
            </a:r>
            <a:r>
              <a:rPr lang="en-IN" sz="900" dirty="0" err="1">
                <a:solidFill>
                  <a:srgbClr val="A31515"/>
                </a:solidFill>
                <a:highlight>
                  <a:srgbClr val="FFFF00"/>
                </a:highlight>
                <a:latin typeface="Cascadia Mono" panose="020B0609020000020004" pitchFamily="49" charset="0"/>
              </a:rPr>
              <a:t>:int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FF"/>
                </a:solidFill>
                <a:latin typeface="Cascadia Mono" panose="020B0609020000020004" pitchFamily="49" charset="0"/>
              </a:rPr>
              <a:t>	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$"Response from </a:t>
            </a:r>
            <a:r>
              <a:rPr lang="en-US" sz="900" dirty="0" err="1">
                <a:solidFill>
                  <a:srgbClr val="A31515"/>
                </a:solidFill>
                <a:latin typeface="Cascadia Mono" panose="020B0609020000020004" pitchFamily="49" charset="0"/>
              </a:rPr>
              <a:t>GetEmployeeDetails</a:t>
            </a:r>
            <a:r>
              <a:rPr lang="en-US" sz="900" dirty="0">
                <a:solidFill>
                  <a:srgbClr val="A31515"/>
                </a:solidFill>
                <a:latin typeface="Cascadia Mono" panose="020B0609020000020004" pitchFamily="49" charset="0"/>
              </a:rPr>
              <a:t> Method, </a:t>
            </a:r>
            <a:r>
              <a:rPr lang="en-US" sz="900" dirty="0" err="1">
                <a:solidFill>
                  <a:srgbClr val="A31515"/>
                </a:solidFill>
                <a:latin typeface="Cascadia Mono" panose="020B0609020000020004" pitchFamily="49" charset="0"/>
              </a:rPr>
              <a:t>EmployeeId</a:t>
            </a:r>
            <a:r>
              <a:rPr lang="en-US" sz="900" dirty="0">
                <a:solidFill>
                  <a:srgbClr val="A31515"/>
                </a:solidFill>
                <a:latin typeface="Cascadia Mono" panose="020B0609020000020004" pitchFamily="49" charset="0"/>
              </a:rPr>
              <a:t> :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EmployeeName</a:t>
            </a:r>
            <a:r>
              <a:rPr lang="en-IN" sz="900" dirty="0" err="1">
                <a:solidFill>
                  <a:srgbClr val="A31515"/>
                </a:solidFill>
                <a:highlight>
                  <a:srgbClr val="FFFF00"/>
                </a:highlight>
                <a:latin typeface="Cascadia Mono" panose="020B0609020000020004" pitchFamily="49" charset="0"/>
              </a:rPr>
              <a:t>:alpha</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$"Response from </a:t>
            </a:r>
            <a:r>
              <a:rPr lang="en-US" sz="900" dirty="0" err="1">
                <a:solidFill>
                  <a:srgbClr val="A31515"/>
                </a:solidFill>
                <a:latin typeface="Cascadia Mono" panose="020B0609020000020004" pitchFamily="49" charset="0"/>
              </a:rPr>
              <a:t>GetEmployeeDetails</a:t>
            </a:r>
            <a:r>
              <a:rPr lang="en-US" sz="900" dirty="0">
                <a:solidFill>
                  <a:srgbClr val="A31515"/>
                </a:solidFill>
                <a:latin typeface="Cascadia Mono" panose="020B0609020000020004" pitchFamily="49" charset="0"/>
              </a:rPr>
              <a:t> Method, </a:t>
            </a:r>
            <a:r>
              <a:rPr lang="en-US" sz="900" dirty="0" err="1">
                <a:solidFill>
                  <a:srgbClr val="A31515"/>
                </a:solidFill>
                <a:latin typeface="Cascadia Mono" panose="020B0609020000020004" pitchFamily="49" charset="0"/>
              </a:rPr>
              <a:t>EmployeeName</a:t>
            </a:r>
            <a:r>
              <a:rPr lang="en-US" sz="900" dirty="0">
                <a:solidFill>
                  <a:srgbClr val="A31515"/>
                </a:solidFill>
                <a:latin typeface="Cascadia Mono" panose="020B0609020000020004" pitchFamily="49" charset="0"/>
              </a:rPr>
              <a:t> :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7" name="TextBox 6">
            <a:extLst>
              <a:ext uri="{FF2B5EF4-FFF2-40B4-BE49-F238E27FC236}">
                <a16:creationId xmlns:a16="http://schemas.microsoft.com/office/drawing/2014/main" xmlns="" id="{7925974D-B9C3-93C0-BE85-82C0223EBDF4}"/>
              </a:ext>
            </a:extLst>
          </p:cNvPr>
          <p:cNvSpPr txBox="1"/>
          <p:nvPr/>
        </p:nvSpPr>
        <p:spPr>
          <a:xfrm>
            <a:off x="1572" y="5272734"/>
            <a:ext cx="5418840" cy="1077218"/>
          </a:xfrm>
          <a:prstGeom prst="rect">
            <a:avLst/>
          </a:prstGeom>
          <a:noFill/>
        </p:spPr>
        <p:txBody>
          <a:bodyPr wrap="square">
            <a:spAutoFit/>
          </a:bodyPr>
          <a:lstStyle/>
          <a:p>
            <a:pPr algn="just" fontAlgn="base"/>
            <a:r>
              <a:rPr lang="en-US" sz="1600" b="1" i="0" dirty="0">
                <a:solidFill>
                  <a:srgbClr val="0000FF"/>
                </a:solidFill>
                <a:effectLst/>
                <a:latin typeface="arial" panose="020B0604020202020204" pitchFamily="34" charset="0"/>
              </a:rPr>
              <a:t>[Route(“{</a:t>
            </a:r>
            <a:r>
              <a:rPr lang="en-US" sz="1600" b="1" i="0" dirty="0" err="1">
                <a:solidFill>
                  <a:srgbClr val="0000FF"/>
                </a:solidFill>
                <a:effectLst/>
                <a:latin typeface="arial" panose="020B0604020202020204" pitchFamily="34" charset="0"/>
              </a:rPr>
              <a:t>EmployeeName:alpha</a:t>
            </a:r>
            <a:r>
              <a:rPr lang="en-US" sz="1600" b="1" i="0" dirty="0">
                <a:solidFill>
                  <a:srgbClr val="0000FF"/>
                </a:solidFill>
                <a:effectLst/>
                <a:latin typeface="arial" panose="020B0604020202020204" pitchFamily="34" charset="0"/>
              </a:rPr>
              <a:t>}”)]</a:t>
            </a:r>
            <a:endParaRPr lang="en-US" sz="1600" b="0" i="0" dirty="0">
              <a:solidFill>
                <a:srgbClr val="3A3A3A"/>
              </a:solidFill>
              <a:effectLst/>
              <a:latin typeface="-apple-system"/>
            </a:endParaRPr>
          </a:p>
          <a:p>
            <a:pPr algn="just" fontAlgn="base"/>
            <a:r>
              <a:rPr lang="en-US" sz="1600" b="0" i="0" dirty="0">
                <a:solidFill>
                  <a:srgbClr val="000000"/>
                </a:solidFill>
                <a:effectLst/>
                <a:latin typeface="arial" panose="020B0604020202020204" pitchFamily="34" charset="0"/>
              </a:rPr>
              <a:t>Here, alpha stands for uppercase or lowercase alphabet characters. So, changes the </a:t>
            </a:r>
            <a:r>
              <a:rPr lang="en-US" sz="1600" b="0" i="0" dirty="0" err="1">
                <a:solidFill>
                  <a:srgbClr val="000000"/>
                </a:solidFill>
                <a:effectLst/>
                <a:latin typeface="arial" panose="020B0604020202020204" pitchFamily="34" charset="0"/>
              </a:rPr>
              <a:t>GetEmployeeDetails</a:t>
            </a:r>
            <a:r>
              <a:rPr lang="en-US" sz="1600" b="0" i="0" dirty="0">
                <a:solidFill>
                  <a:srgbClr val="000000"/>
                </a:solidFill>
                <a:effectLst/>
                <a:latin typeface="arial" panose="020B0604020202020204" pitchFamily="34" charset="0"/>
              </a:rPr>
              <a:t> method which takes the string parameter as shown below.</a:t>
            </a:r>
            <a:endParaRPr lang="en-US" sz="1600" b="0" i="0" dirty="0">
              <a:solidFill>
                <a:srgbClr val="3A3A3A"/>
              </a:solidFill>
              <a:effectLst/>
              <a:latin typeface="-apple-system"/>
            </a:endParaRPr>
          </a:p>
        </p:txBody>
      </p:sp>
      <p:sp>
        <p:nvSpPr>
          <p:cNvPr id="9" name="TextBox 8">
            <a:extLst>
              <a:ext uri="{FF2B5EF4-FFF2-40B4-BE49-F238E27FC236}">
                <a16:creationId xmlns:a16="http://schemas.microsoft.com/office/drawing/2014/main" xmlns="" id="{8C8030CB-D4A2-9C10-0B69-0FE7293FD1BC}"/>
              </a:ext>
            </a:extLst>
          </p:cNvPr>
          <p:cNvSpPr txBox="1"/>
          <p:nvPr/>
        </p:nvSpPr>
        <p:spPr>
          <a:xfrm>
            <a:off x="1572" y="3644156"/>
            <a:ext cx="5079475" cy="1077218"/>
          </a:xfrm>
          <a:prstGeom prst="rect">
            <a:avLst/>
          </a:prstGeom>
          <a:noFill/>
        </p:spPr>
        <p:txBody>
          <a:bodyPr wrap="square">
            <a:spAutoFit/>
          </a:bodyPr>
          <a:lstStyle/>
          <a:p>
            <a:pPr algn="just" fontAlgn="base"/>
            <a:r>
              <a:rPr lang="en-US" sz="1600" b="1" i="0" dirty="0">
                <a:solidFill>
                  <a:srgbClr val="0000FF"/>
                </a:solidFill>
                <a:effectLst/>
                <a:latin typeface="arial" panose="020B0604020202020204" pitchFamily="34" charset="0"/>
              </a:rPr>
              <a:t>[Route(“{</a:t>
            </a:r>
            <a:r>
              <a:rPr lang="en-US" sz="1600" b="1" i="0" dirty="0" err="1">
                <a:solidFill>
                  <a:srgbClr val="0000FF"/>
                </a:solidFill>
                <a:effectLst/>
                <a:latin typeface="arial" panose="020B0604020202020204" pitchFamily="34" charset="0"/>
              </a:rPr>
              <a:t>EmployeeId:int</a:t>
            </a:r>
            <a:r>
              <a:rPr lang="en-US" sz="1600" b="1" i="0" dirty="0">
                <a:solidFill>
                  <a:srgbClr val="0000FF"/>
                </a:solidFill>
                <a:effectLst/>
                <a:latin typeface="arial" panose="020B0604020202020204" pitchFamily="34" charset="0"/>
              </a:rPr>
              <a:t>}”)]</a:t>
            </a:r>
            <a:endParaRPr lang="en-US" sz="1600" b="0" i="0" dirty="0">
              <a:solidFill>
                <a:srgbClr val="3A3A3A"/>
              </a:solidFill>
              <a:effectLst/>
              <a:latin typeface="-apple-system"/>
            </a:endParaRPr>
          </a:p>
          <a:p>
            <a:pPr algn="just" fontAlgn="base"/>
            <a:r>
              <a:rPr lang="en-US" sz="1600" b="1" i="0" dirty="0">
                <a:solidFill>
                  <a:srgbClr val="000000"/>
                </a:solidFill>
                <a:effectLst/>
                <a:latin typeface="arial" panose="020B0604020202020204" pitchFamily="34" charset="0"/>
              </a:rPr>
              <a:t>Note:</a:t>
            </a:r>
            <a:r>
              <a:rPr lang="en-US" sz="1600" b="0" i="0" dirty="0">
                <a:solidFill>
                  <a:srgbClr val="000000"/>
                </a:solidFill>
                <a:effectLst/>
                <a:latin typeface="arial" panose="020B0604020202020204" pitchFamily="34" charset="0"/>
              </a:rPr>
              <a:t> we don’t need to specify anything for the string parameter as by default all the parameters in ASP.NET Core Web Application are string only.</a:t>
            </a:r>
            <a:endParaRPr lang="en-US" sz="1600" b="0" i="0" dirty="0">
              <a:solidFill>
                <a:srgbClr val="3A3A3A"/>
              </a:solidFill>
              <a:effectLst/>
              <a:latin typeface="-apple-system"/>
            </a:endParaRPr>
          </a:p>
        </p:txBody>
      </p:sp>
      <p:sp>
        <p:nvSpPr>
          <p:cNvPr id="13" name="TextBox 12">
            <a:extLst>
              <a:ext uri="{FF2B5EF4-FFF2-40B4-BE49-F238E27FC236}">
                <a16:creationId xmlns:a16="http://schemas.microsoft.com/office/drawing/2014/main" xmlns="" id="{2E0D5BC5-6F2C-05DF-C6C0-231BE66156DB}"/>
              </a:ext>
            </a:extLst>
          </p:cNvPr>
          <p:cNvSpPr txBox="1"/>
          <p:nvPr/>
        </p:nvSpPr>
        <p:spPr>
          <a:xfrm>
            <a:off x="5696539" y="2301565"/>
            <a:ext cx="6088930" cy="1815882"/>
          </a:xfrm>
          <a:prstGeom prst="rect">
            <a:avLst/>
          </a:prstGeom>
          <a:noFill/>
        </p:spPr>
        <p:txBody>
          <a:bodyPr wrap="square">
            <a:spAutoFit/>
          </a:bodyPr>
          <a:lstStyle/>
          <a:p>
            <a:pPr algn="just" fontAlgn="base"/>
            <a:r>
              <a:rPr lang="en-US" sz="1400" b="1" i="0" dirty="0">
                <a:solidFill>
                  <a:srgbClr val="000000"/>
                </a:solidFill>
                <a:effectLst/>
                <a:latin typeface="arial" panose="020B0604020202020204" pitchFamily="34" charset="0"/>
              </a:rPr>
              <a:t>Min(number) constraint in ASP.NET Core:</a:t>
            </a:r>
            <a:endParaRPr lang="en-US" sz="1400" b="1"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If you want to apply some minimum value constraint for any parameter then you can use the Min constraint. The min constraint takes one parameter i.e. the minimum value to be applied on the parameter. For example, if you want the </a:t>
            </a:r>
            <a:r>
              <a:rPr lang="en-US" sz="1400" b="0" i="0" dirty="0" err="1">
                <a:solidFill>
                  <a:srgbClr val="000000"/>
                </a:solidFill>
                <a:effectLst/>
                <a:latin typeface="arial" panose="020B0604020202020204" pitchFamily="34" charset="0"/>
              </a:rPr>
              <a:t>GetEmployeeDetails</a:t>
            </a:r>
            <a:r>
              <a:rPr lang="en-US" sz="1400" b="0" i="0" dirty="0">
                <a:solidFill>
                  <a:srgbClr val="000000"/>
                </a:solidFill>
                <a:effectLst/>
                <a:latin typeface="arial" panose="020B0604020202020204" pitchFamily="34" charset="0"/>
              </a:rPr>
              <a:t>(int </a:t>
            </a:r>
            <a:r>
              <a:rPr lang="en-US" sz="1400" b="0" i="0" dirty="0" err="1">
                <a:solidFill>
                  <a:srgbClr val="000000"/>
                </a:solidFill>
                <a:effectLst/>
                <a:latin typeface="arial" panose="020B0604020202020204" pitchFamily="34" charset="0"/>
              </a:rPr>
              <a:t>EmployeeId</a:t>
            </a:r>
            <a:r>
              <a:rPr lang="en-US" sz="1400" b="0" i="0" dirty="0">
                <a:solidFill>
                  <a:srgbClr val="000000"/>
                </a:solidFill>
                <a:effectLst/>
                <a:latin typeface="arial" panose="020B0604020202020204" pitchFamily="34" charset="0"/>
              </a:rPr>
              <a:t>) action method to be invoked only if the </a:t>
            </a:r>
            <a:r>
              <a:rPr lang="en-US" sz="1400" b="0" i="0" dirty="0" err="1">
                <a:solidFill>
                  <a:srgbClr val="000000"/>
                </a:solidFill>
                <a:effectLst/>
                <a:latin typeface="arial" panose="020B0604020202020204" pitchFamily="34" charset="0"/>
              </a:rPr>
              <a:t>EmployeeId</a:t>
            </a:r>
            <a:r>
              <a:rPr lang="en-US" sz="1400" b="0" i="0" dirty="0">
                <a:solidFill>
                  <a:srgbClr val="000000"/>
                </a:solidFill>
                <a:effectLst/>
                <a:latin typeface="arial" panose="020B0604020202020204" pitchFamily="34" charset="0"/>
              </a:rPr>
              <a:t> is a number greater than 1000, then you can use the min(1000) constraint in ASP.NET Core Web API as shown below. </a:t>
            </a:r>
            <a:endParaRPr lang="en-US" sz="1400" b="0" i="0" dirty="0">
              <a:solidFill>
                <a:srgbClr val="3A3A3A"/>
              </a:solidFill>
              <a:effectLst/>
              <a:latin typeface="-apple-system"/>
            </a:endParaRPr>
          </a:p>
        </p:txBody>
      </p:sp>
      <p:sp>
        <p:nvSpPr>
          <p:cNvPr id="15" name="TextBox 14">
            <a:extLst>
              <a:ext uri="{FF2B5EF4-FFF2-40B4-BE49-F238E27FC236}">
                <a16:creationId xmlns:a16="http://schemas.microsoft.com/office/drawing/2014/main" xmlns="" id="{DDCB23F7-ED1F-867B-F288-D406FAD2B705}"/>
              </a:ext>
            </a:extLst>
          </p:cNvPr>
          <p:cNvSpPr txBox="1"/>
          <p:nvPr/>
        </p:nvSpPr>
        <p:spPr>
          <a:xfrm>
            <a:off x="5684363" y="31192"/>
            <a:ext cx="6240544" cy="219290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Microsoft.AspNetCore.Mvc</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RoutingInASPNETCoreWebAPI.Controllers</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ApiController</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[Route(</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api</a:t>
            </a:r>
            <a:r>
              <a:rPr lang="en-IN" sz="1050" dirty="0">
                <a:solidFill>
                  <a:srgbClr val="A31515"/>
                </a:solidFill>
                <a:latin typeface="Cascadia Mono" panose="020B0609020000020004" pitchFamily="49" charset="0"/>
              </a:rPr>
              <a:t>/[controller]"</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EmployeeController</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ControllerBase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US" sz="1050" dirty="0">
                <a:solidFill>
                  <a:srgbClr val="000000"/>
                </a:solidFill>
                <a:latin typeface="Cascadia Mono" panose="020B0609020000020004" pitchFamily="49" charset="0"/>
              </a:rPr>
              <a:t>  [Route(</a:t>
            </a:r>
            <a:r>
              <a:rPr lang="en-US" sz="1050" dirty="0">
                <a:solidFill>
                  <a:srgbClr val="A31515"/>
                </a:solidFill>
                <a:latin typeface="Cascadia Mono" panose="020B0609020000020004" pitchFamily="49" charset="0"/>
              </a:rPr>
              <a:t>"{</a:t>
            </a:r>
            <a:r>
              <a:rPr lang="en-US" sz="1050" dirty="0" err="1">
                <a:solidFill>
                  <a:srgbClr val="A31515"/>
                </a:solidFill>
                <a:latin typeface="Cascadia Mono" panose="020B0609020000020004" pitchFamily="49" charset="0"/>
              </a:rPr>
              <a:t>EmployeeId:</a:t>
            </a:r>
            <a:r>
              <a:rPr lang="en-US" sz="1050" dirty="0" err="1">
                <a:solidFill>
                  <a:srgbClr val="A31515"/>
                </a:solidFill>
                <a:highlight>
                  <a:srgbClr val="FFFF00"/>
                </a:highlight>
                <a:latin typeface="Cascadia Mono" panose="020B0609020000020004" pitchFamily="49" charset="0"/>
              </a:rPr>
              <a:t>int:min</a:t>
            </a:r>
            <a:r>
              <a:rPr lang="en-US" sz="1050" dirty="0">
                <a:solidFill>
                  <a:srgbClr val="A31515"/>
                </a:solidFill>
                <a:highlight>
                  <a:srgbClr val="FFFF00"/>
                </a:highlight>
                <a:latin typeface="Cascadia Mono" panose="020B0609020000020004" pitchFamily="49" charset="0"/>
              </a:rPr>
              <a:t>(1000)}"</a:t>
            </a:r>
            <a:r>
              <a:rPr lang="en-US" sz="1050" dirty="0">
                <a:solidFill>
                  <a:srgbClr val="000000"/>
                </a:solidFill>
                <a:highlight>
                  <a:srgbClr val="FFFF00"/>
                </a:highlight>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GetEmployeeDetails</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int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EmployeeId</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return</a:t>
            </a:r>
            <a:r>
              <a:rPr lang="en-US" sz="1050" dirty="0">
                <a:solidFill>
                  <a:srgbClr val="000000"/>
                </a:solidFill>
                <a:latin typeface="Cascadia Mono" panose="020B0609020000020004" pitchFamily="49" charset="0"/>
              </a:rPr>
              <a:t> </a:t>
            </a:r>
            <a:r>
              <a:rPr lang="en-US" sz="1050" dirty="0">
                <a:solidFill>
                  <a:srgbClr val="A31515"/>
                </a:solidFill>
                <a:latin typeface="Cascadia Mono" panose="020B0609020000020004" pitchFamily="49" charset="0"/>
              </a:rPr>
              <a:t>$"Response from </a:t>
            </a:r>
            <a:r>
              <a:rPr lang="en-US" sz="1050" dirty="0" err="1">
                <a:solidFill>
                  <a:srgbClr val="A31515"/>
                </a:solidFill>
                <a:latin typeface="Cascadia Mono" panose="020B0609020000020004" pitchFamily="49" charset="0"/>
              </a:rPr>
              <a:t>GetEmployeeDetails</a:t>
            </a:r>
            <a:r>
              <a:rPr lang="en-US" sz="1050" dirty="0">
                <a:solidFill>
                  <a:srgbClr val="A31515"/>
                </a:solidFill>
                <a:latin typeface="Cascadia Mono" panose="020B0609020000020004" pitchFamily="49" charset="0"/>
              </a:rPr>
              <a:t> Method, </a:t>
            </a:r>
            <a:r>
              <a:rPr lang="en-US" sz="1050" dirty="0" err="1">
                <a:solidFill>
                  <a:srgbClr val="A31515"/>
                </a:solidFill>
                <a:latin typeface="Cascadia Mono" panose="020B0609020000020004" pitchFamily="49" charset="0"/>
              </a:rPr>
              <a:t>EmployeeId</a:t>
            </a:r>
            <a:r>
              <a:rPr lang="en-US" sz="1050" dirty="0">
                <a:solidFill>
                  <a:srgbClr val="A31515"/>
                </a:solidFill>
                <a:latin typeface="Cascadia Mono" panose="020B0609020000020004" pitchFamily="49" charset="0"/>
              </a:rPr>
              <a:t> : </a:t>
            </a:r>
            <a:r>
              <a:rPr lang="en-US" sz="1050" dirty="0">
                <a:solidFill>
                  <a:srgbClr val="000000"/>
                </a:solidFill>
                <a:latin typeface="Cascadia Mono" panose="020B0609020000020004" pitchFamily="49" charset="0"/>
              </a:rPr>
              <a:t>{</a:t>
            </a:r>
            <a:r>
              <a:rPr lang="en-US" sz="1050" dirty="0" err="1">
                <a:solidFill>
                  <a:srgbClr val="000000"/>
                </a:solidFill>
                <a:latin typeface="Cascadia Mono" panose="020B0609020000020004" pitchFamily="49" charset="0"/>
              </a:rPr>
              <a:t>EmployeeId</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endParaRPr lang="en-IN" sz="2400" dirty="0"/>
          </a:p>
        </p:txBody>
      </p:sp>
      <p:sp>
        <p:nvSpPr>
          <p:cNvPr id="17" name="TextBox 16">
            <a:extLst>
              <a:ext uri="{FF2B5EF4-FFF2-40B4-BE49-F238E27FC236}">
                <a16:creationId xmlns:a16="http://schemas.microsoft.com/office/drawing/2014/main" xmlns="" id="{FAA80F56-E9E2-C0C0-9DB7-D1636A232678}"/>
              </a:ext>
            </a:extLst>
          </p:cNvPr>
          <p:cNvSpPr txBox="1"/>
          <p:nvPr/>
        </p:nvSpPr>
        <p:spPr>
          <a:xfrm>
            <a:off x="5672187" y="4117447"/>
            <a:ext cx="6113282" cy="1600438"/>
          </a:xfrm>
          <a:prstGeom prst="rect">
            <a:avLst/>
          </a:prstGeom>
          <a:noFill/>
        </p:spPr>
        <p:txBody>
          <a:bodyPr wrap="square">
            <a:spAutoFit/>
          </a:bodyPr>
          <a:lstStyle/>
          <a:p>
            <a:pPr algn="just" fontAlgn="base"/>
            <a:r>
              <a:rPr lang="en-US" sz="1400" b="1" i="0" dirty="0">
                <a:solidFill>
                  <a:srgbClr val="000000"/>
                </a:solidFill>
                <a:effectLst/>
                <a:latin typeface="arial" panose="020B0604020202020204" pitchFamily="34" charset="0"/>
              </a:rPr>
              <a:t>Max(Number) constraint in ASP.NET Core Web API:</a:t>
            </a:r>
            <a:endParaRPr lang="en-US" sz="1400" b="1"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Along with the min constraint, you can also specify the max constraint in ASP.NET Core Web API. The max constraint also takes one parameter which is used to specify the max value that can be applied to the parameter. For example, if you want the </a:t>
            </a:r>
            <a:r>
              <a:rPr lang="en-US" sz="1400" b="0" i="0" dirty="0" err="1">
                <a:solidFill>
                  <a:srgbClr val="000000"/>
                </a:solidFill>
                <a:effectLst/>
                <a:latin typeface="arial" panose="020B0604020202020204" pitchFamily="34" charset="0"/>
              </a:rPr>
              <a:t>EmployeeId</a:t>
            </a:r>
            <a:r>
              <a:rPr lang="en-US" sz="1400" b="0" i="0" dirty="0">
                <a:solidFill>
                  <a:srgbClr val="000000"/>
                </a:solidFill>
                <a:effectLst/>
                <a:latin typeface="arial" panose="020B0604020202020204" pitchFamily="34" charset="0"/>
              </a:rPr>
              <a:t> in the URL should not to be greater than 1000, then you can use the max constraint as shown below.</a:t>
            </a:r>
            <a:endParaRPr lang="en-US" sz="1400" b="0" i="0" dirty="0">
              <a:solidFill>
                <a:srgbClr val="3A3A3A"/>
              </a:solidFill>
              <a:effectLst/>
              <a:latin typeface="-apple-system"/>
            </a:endParaRPr>
          </a:p>
        </p:txBody>
      </p:sp>
      <p:sp>
        <p:nvSpPr>
          <p:cNvPr id="19" name="TextBox 18">
            <a:extLst>
              <a:ext uri="{FF2B5EF4-FFF2-40B4-BE49-F238E27FC236}">
                <a16:creationId xmlns:a16="http://schemas.microsoft.com/office/drawing/2014/main" xmlns="" id="{C5228484-BFE2-A3AC-D542-342B81DDB768}"/>
              </a:ext>
            </a:extLst>
          </p:cNvPr>
          <p:cNvSpPr txBox="1"/>
          <p:nvPr/>
        </p:nvSpPr>
        <p:spPr>
          <a:xfrm>
            <a:off x="5811625" y="5717885"/>
            <a:ext cx="6113282"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900" dirty="0">
                <a:solidFill>
                  <a:srgbClr val="000000"/>
                </a:solidFill>
                <a:latin typeface="Cascadia Mono" panose="020B0609020000020004" pitchFamily="49" charset="0"/>
              </a:rPr>
              <a:t> [Route(</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EmployeeId:</a:t>
            </a:r>
            <a:r>
              <a:rPr lang="en-US" sz="900" dirty="0" err="1">
                <a:solidFill>
                  <a:srgbClr val="A31515"/>
                </a:solidFill>
                <a:highlight>
                  <a:srgbClr val="FFFF00"/>
                </a:highlight>
                <a:latin typeface="Cascadia Mono" panose="020B0609020000020004" pitchFamily="49" charset="0"/>
              </a:rPr>
              <a:t>int:min</a:t>
            </a:r>
            <a:r>
              <a:rPr lang="en-US" sz="900" dirty="0">
                <a:solidFill>
                  <a:srgbClr val="A31515"/>
                </a:solidFill>
                <a:highlight>
                  <a:srgbClr val="FFFF00"/>
                </a:highlight>
                <a:latin typeface="Cascadia Mono" panose="020B0609020000020004" pitchFamily="49" charset="0"/>
              </a:rPr>
              <a:t>(100):max(1000)}"</a:t>
            </a:r>
            <a:r>
              <a:rPr lang="en-US" sz="900" dirty="0">
                <a:solidFill>
                  <a:srgbClr val="000000"/>
                </a:solidFill>
                <a:highlight>
                  <a:srgbClr val="FFFF00"/>
                </a:highlight>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$"Response from </a:t>
            </a:r>
            <a:r>
              <a:rPr lang="en-US" sz="900" dirty="0" err="1">
                <a:solidFill>
                  <a:srgbClr val="A31515"/>
                </a:solidFill>
                <a:latin typeface="Cascadia Mono" panose="020B0609020000020004" pitchFamily="49" charset="0"/>
              </a:rPr>
              <a:t>GetEmployeeDetails</a:t>
            </a:r>
            <a:r>
              <a:rPr lang="en-US" sz="900" dirty="0">
                <a:solidFill>
                  <a:srgbClr val="A31515"/>
                </a:solidFill>
                <a:latin typeface="Cascadia Mono" panose="020B0609020000020004" pitchFamily="49" charset="0"/>
              </a:rPr>
              <a:t> Method, </a:t>
            </a:r>
            <a:r>
              <a:rPr lang="en-US" sz="900" dirty="0" err="1">
                <a:solidFill>
                  <a:srgbClr val="A31515"/>
                </a:solidFill>
                <a:latin typeface="Cascadia Mono" panose="020B0609020000020004" pitchFamily="49" charset="0"/>
              </a:rPr>
              <a:t>EmployeeId</a:t>
            </a:r>
            <a:r>
              <a:rPr lang="en-US" sz="900" dirty="0">
                <a:solidFill>
                  <a:srgbClr val="A31515"/>
                </a:solidFill>
                <a:latin typeface="Cascadia Mono" panose="020B0609020000020004" pitchFamily="49" charset="0"/>
              </a:rPr>
              <a:t> :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EmployeeId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1662254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5EE96D5-F963-057B-CC8C-4CBEB7BE6824}"/>
              </a:ext>
            </a:extLst>
          </p:cNvPr>
          <p:cNvSpPr txBox="1"/>
          <p:nvPr/>
        </p:nvSpPr>
        <p:spPr>
          <a:xfrm>
            <a:off x="2104534" y="1357707"/>
            <a:ext cx="6094428" cy="1107996"/>
          </a:xfrm>
          <a:prstGeom prst="rect">
            <a:avLst/>
          </a:prstGeom>
          <a:noFill/>
        </p:spPr>
        <p:txBody>
          <a:bodyPr wrap="square">
            <a:spAutoFit/>
          </a:bodyPr>
          <a:lstStyle/>
          <a:p>
            <a:r>
              <a:rPr lang="en-US" sz="1100" dirty="0">
                <a:solidFill>
                  <a:srgbClr val="000000"/>
                </a:solidFill>
                <a:latin typeface="Cascadia Mono" panose="020B0609020000020004" pitchFamily="49" charset="0"/>
              </a:rPr>
              <a:t> [Route(</a:t>
            </a:r>
            <a:r>
              <a:rPr lang="en-US" sz="1100" dirty="0">
                <a:solidFill>
                  <a:srgbClr val="A31515"/>
                </a:solidFill>
                <a:latin typeface="Cascadia Mono" panose="020B0609020000020004" pitchFamily="49" charset="0"/>
              </a:rPr>
              <a:t>"{</a:t>
            </a:r>
            <a:r>
              <a:rPr lang="en-US" sz="1100" dirty="0" err="1">
                <a:solidFill>
                  <a:srgbClr val="A31515"/>
                </a:solidFill>
                <a:latin typeface="Cascadia Mono" panose="020B0609020000020004" pitchFamily="49" charset="0"/>
              </a:rPr>
              <a:t>EmployeeId:</a:t>
            </a:r>
            <a:r>
              <a:rPr lang="en-US" sz="1100" dirty="0" err="1">
                <a:solidFill>
                  <a:srgbClr val="A31515"/>
                </a:solidFill>
                <a:highlight>
                  <a:srgbClr val="FFFF00"/>
                </a:highlight>
                <a:latin typeface="Cascadia Mono" panose="020B0609020000020004" pitchFamily="49" charset="0"/>
              </a:rPr>
              <a:t>int:range</a:t>
            </a:r>
            <a:r>
              <a:rPr lang="en-US" sz="1100" dirty="0">
                <a:solidFill>
                  <a:srgbClr val="A31515"/>
                </a:solidFill>
                <a:highlight>
                  <a:srgbClr val="FFFF00"/>
                </a:highlight>
                <a:latin typeface="Cascadia Mono" panose="020B0609020000020004" pitchFamily="49" charset="0"/>
              </a:rPr>
              <a:t>(100,1000</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GetEmployeeDetails</a:t>
            </a:r>
            <a:r>
              <a:rPr lang="en-US" sz="1100" dirty="0">
                <a:solidFill>
                  <a:srgbClr val="000000"/>
                </a:solidFill>
                <a:latin typeface="Cascadia Mono" panose="020B0609020000020004" pitchFamily="49" charset="0"/>
              </a:rPr>
              <a:t>(</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EmployeeId</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return</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$"Response from </a:t>
            </a:r>
            <a:r>
              <a:rPr lang="en-US" sz="1100" dirty="0" err="1">
                <a:solidFill>
                  <a:srgbClr val="A31515"/>
                </a:solidFill>
                <a:latin typeface="Cascadia Mono" panose="020B0609020000020004" pitchFamily="49" charset="0"/>
              </a:rPr>
              <a:t>GetEmployeeDetails</a:t>
            </a:r>
            <a:r>
              <a:rPr lang="en-US" sz="1100" dirty="0">
                <a:solidFill>
                  <a:srgbClr val="A31515"/>
                </a:solidFill>
                <a:latin typeface="Cascadia Mono" panose="020B0609020000020004" pitchFamily="49" charset="0"/>
              </a:rPr>
              <a:t> Method, </a:t>
            </a:r>
            <a:r>
              <a:rPr lang="en-US" sz="1100" dirty="0" err="1">
                <a:solidFill>
                  <a:srgbClr val="A31515"/>
                </a:solidFill>
                <a:latin typeface="Cascadia Mono" panose="020B0609020000020004" pitchFamily="49" charset="0"/>
              </a:rPr>
              <a:t>EmployeeId</a:t>
            </a:r>
            <a:r>
              <a:rPr lang="en-US" sz="1100" dirty="0">
                <a:solidFill>
                  <a:srgbClr val="A31515"/>
                </a:solidFill>
                <a:latin typeface="Cascadia Mono" panose="020B0609020000020004" pitchFamily="49" charset="0"/>
              </a:rPr>
              <a:t> : </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EmployeeId</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endParaRPr lang="en-IN" sz="2800" dirty="0"/>
          </a:p>
        </p:txBody>
      </p:sp>
      <p:sp>
        <p:nvSpPr>
          <p:cNvPr id="7" name="TextBox 6">
            <a:extLst>
              <a:ext uri="{FF2B5EF4-FFF2-40B4-BE49-F238E27FC236}">
                <a16:creationId xmlns:a16="http://schemas.microsoft.com/office/drawing/2014/main" xmlns="" id="{3F465A54-1CCF-393D-54C1-84DBD0A1DA81}"/>
              </a:ext>
            </a:extLst>
          </p:cNvPr>
          <p:cNvSpPr txBox="1"/>
          <p:nvPr/>
        </p:nvSpPr>
        <p:spPr>
          <a:xfrm>
            <a:off x="1192097" y="3253446"/>
            <a:ext cx="6094428" cy="1569660"/>
          </a:xfrm>
          <a:prstGeom prst="rect">
            <a:avLst/>
          </a:prstGeom>
          <a:noFill/>
        </p:spPr>
        <p:txBody>
          <a:bodyPr wrap="square">
            <a:spAutoFit/>
          </a:bodyPr>
          <a:lstStyle/>
          <a:p>
            <a:pPr algn="just" fontAlgn="base"/>
            <a:r>
              <a:rPr lang="en-US" sz="1600" b="1" i="0" dirty="0">
                <a:solidFill>
                  <a:srgbClr val="000000"/>
                </a:solidFill>
                <a:effectLst/>
                <a:latin typeface="arial" panose="020B0604020202020204" pitchFamily="34" charset="0"/>
              </a:rPr>
              <a:t>Range Constraint in ASP.NET Core:</a:t>
            </a:r>
            <a:endParaRPr lang="en-US" sz="1600" b="1" i="0" dirty="0">
              <a:solidFill>
                <a:srgbClr val="3A3A3A"/>
              </a:solidFill>
              <a:effectLst/>
              <a:latin typeface="-apple-system"/>
            </a:endParaRPr>
          </a:p>
          <a:p>
            <a:pPr algn="just" fontAlgn="base"/>
            <a:r>
              <a:rPr lang="en-US" sz="1600" b="0" i="0" dirty="0">
                <a:solidFill>
                  <a:srgbClr val="000000"/>
                </a:solidFill>
                <a:effectLst/>
                <a:latin typeface="arial" panose="020B0604020202020204" pitchFamily="34" charset="0"/>
              </a:rPr>
              <a:t>Instead of using the min and max constraint to specify the minimum and maximum value, we can also use the Range constraint. The Range method takes two parameters, the first parameter is the minimum value and the second parameter is the maximum value. </a:t>
            </a:r>
            <a:endParaRPr lang="en-US" sz="1600" b="0" i="0" dirty="0">
              <a:solidFill>
                <a:srgbClr val="3A3A3A"/>
              </a:solidFill>
              <a:effectLst/>
              <a:latin typeface="-apple-system"/>
            </a:endParaRPr>
          </a:p>
        </p:txBody>
      </p:sp>
    </p:spTree>
    <p:extLst>
      <p:ext uri="{BB962C8B-B14F-4D97-AF65-F5344CB8AC3E}">
        <p14:creationId xmlns:p14="http://schemas.microsoft.com/office/powerpoint/2010/main" val="379317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7437BF64-7D9A-094B-8345-F12A3EF53811}"/>
              </a:ext>
            </a:extLst>
          </p:cNvPr>
          <p:cNvSpPr txBox="1"/>
          <p:nvPr/>
        </p:nvSpPr>
        <p:spPr>
          <a:xfrm>
            <a:off x="247453" y="414780"/>
            <a:ext cx="9820373"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solidFill>
                  <a:srgbClr val="000000"/>
                </a:solidFill>
                <a:latin typeface="Cascadia Mono" panose="020B0609020000020004" pitchFamily="49" charset="0"/>
              </a:rPr>
              <a:t>        [Route(</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EmployeeName:alpha:</a:t>
            </a:r>
            <a:r>
              <a:rPr lang="en-US" sz="1200" dirty="0" err="1">
                <a:solidFill>
                  <a:srgbClr val="A31515"/>
                </a:solidFill>
                <a:highlight>
                  <a:srgbClr val="FFFF00"/>
                </a:highlight>
                <a:latin typeface="Cascadia Mono" panose="020B0609020000020004" pitchFamily="49" charset="0"/>
              </a:rPr>
              <a:t>minlength</a:t>
            </a:r>
            <a:r>
              <a:rPr lang="en-US" sz="1200" dirty="0">
                <a:solidFill>
                  <a:srgbClr val="A31515"/>
                </a:solidFill>
                <a:highlight>
                  <a:srgbClr val="FFFF00"/>
                </a:highlight>
                <a:latin typeface="Cascadia Mono" panose="020B0609020000020004" pitchFamily="49" charset="0"/>
              </a:rPr>
              <a:t>(5):</a:t>
            </a:r>
            <a:r>
              <a:rPr lang="en-US" sz="1200" dirty="0" err="1">
                <a:solidFill>
                  <a:srgbClr val="A31515"/>
                </a:solidFill>
                <a:highlight>
                  <a:srgbClr val="FFFF00"/>
                </a:highlight>
                <a:latin typeface="Cascadia Mono" panose="020B0609020000020004" pitchFamily="49" charset="0"/>
              </a:rPr>
              <a:t>maxlength</a:t>
            </a:r>
            <a:r>
              <a:rPr lang="en-US" sz="1200" dirty="0">
                <a:solidFill>
                  <a:srgbClr val="A31515"/>
                </a:solidFill>
                <a:highlight>
                  <a:srgbClr val="FFFF00"/>
                </a:highlight>
                <a:latin typeface="Cascadia Mono" panose="020B0609020000020004" pitchFamily="49" charset="0"/>
              </a:rPr>
              <a:t>(10)}</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GetEmployeeDetails</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$"Response from </a:t>
            </a:r>
            <a:r>
              <a:rPr lang="en-US" sz="1200" dirty="0" err="1">
                <a:solidFill>
                  <a:srgbClr val="A31515"/>
                </a:solidFill>
                <a:latin typeface="Cascadia Mono" panose="020B0609020000020004" pitchFamily="49" charset="0"/>
              </a:rPr>
              <a:t>GetEmployeeDetails</a:t>
            </a:r>
            <a:r>
              <a:rPr lang="en-US" sz="1200" dirty="0">
                <a:solidFill>
                  <a:srgbClr val="A31515"/>
                </a:solidFill>
                <a:latin typeface="Cascadia Mono" panose="020B0609020000020004" pitchFamily="49" charset="0"/>
              </a:rPr>
              <a:t> Method, </a:t>
            </a:r>
            <a:r>
              <a:rPr lang="en-US" sz="1200" dirty="0" err="1">
                <a:solidFill>
                  <a:srgbClr val="A31515"/>
                </a:solidFill>
                <a:latin typeface="Cascadia Mono" panose="020B0609020000020004" pitchFamily="49" charset="0"/>
              </a:rPr>
              <a:t>EmployeeName</a:t>
            </a:r>
            <a:r>
              <a:rPr lang="en-US" sz="1200" dirty="0">
                <a:solidFill>
                  <a:srgbClr val="A31515"/>
                </a:solidFill>
                <a:latin typeface="Cascadia Mono" panose="020B0609020000020004" pitchFamily="49" charset="0"/>
              </a:rPr>
              <a:t> : </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endParaRPr lang="en-IN" sz="1200" dirty="0"/>
          </a:p>
        </p:txBody>
      </p:sp>
      <p:sp>
        <p:nvSpPr>
          <p:cNvPr id="7" name="TextBox 6">
            <a:extLst>
              <a:ext uri="{FF2B5EF4-FFF2-40B4-BE49-F238E27FC236}">
                <a16:creationId xmlns:a16="http://schemas.microsoft.com/office/drawing/2014/main" xmlns="" id="{76D43CF6-C5DE-60F5-0A56-DECE407BA907}"/>
              </a:ext>
            </a:extLst>
          </p:cNvPr>
          <p:cNvSpPr txBox="1"/>
          <p:nvPr/>
        </p:nvSpPr>
        <p:spPr>
          <a:xfrm>
            <a:off x="247453" y="2178754"/>
            <a:ext cx="1116840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It is also possible to apply both </a:t>
            </a:r>
            <a:r>
              <a:rPr lang="en-US" b="0" i="0" dirty="0" err="1">
                <a:solidFill>
                  <a:srgbClr val="000000"/>
                </a:solidFill>
                <a:effectLst/>
                <a:latin typeface="arial" panose="020B0604020202020204" pitchFamily="34" charset="0"/>
              </a:rPr>
              <a:t>minlength</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maxlength</a:t>
            </a:r>
            <a:r>
              <a:rPr lang="en-US" b="0" i="0" dirty="0">
                <a:solidFill>
                  <a:srgbClr val="000000"/>
                </a:solidFill>
                <a:effectLst/>
                <a:latin typeface="arial" panose="020B0604020202020204" pitchFamily="34" charset="0"/>
              </a:rPr>
              <a:t> constraints on a single parameter. For example, if we want to specify the </a:t>
            </a:r>
            <a:r>
              <a:rPr lang="en-US" b="0" i="0" dirty="0" err="1">
                <a:solidFill>
                  <a:srgbClr val="000000"/>
                </a:solidFill>
                <a:effectLst/>
                <a:latin typeface="arial" panose="020B0604020202020204" pitchFamily="34" charset="0"/>
              </a:rPr>
              <a:t>EmployeeName</a:t>
            </a:r>
            <a:r>
              <a:rPr lang="en-US" b="0" i="0" dirty="0">
                <a:solidFill>
                  <a:srgbClr val="000000"/>
                </a:solidFill>
                <a:effectLst/>
                <a:latin typeface="arial" panose="020B0604020202020204" pitchFamily="34" charset="0"/>
              </a:rPr>
              <a:t> parameter to a minimum of 5 characters and a maximum of 10 characters, then we can apply both </a:t>
            </a:r>
            <a:r>
              <a:rPr lang="en-US" b="0" i="0" dirty="0" err="1">
                <a:solidFill>
                  <a:srgbClr val="000000"/>
                </a:solidFill>
                <a:effectLst/>
                <a:latin typeface="arial" panose="020B0604020202020204" pitchFamily="34" charset="0"/>
              </a:rPr>
              <a:t>minlength</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maxlength</a:t>
            </a:r>
            <a:r>
              <a:rPr lang="en-US" b="0" i="0" dirty="0">
                <a:solidFill>
                  <a:srgbClr val="000000"/>
                </a:solidFill>
                <a:effectLst/>
                <a:latin typeface="arial" panose="020B0604020202020204" pitchFamily="34" charset="0"/>
              </a:rPr>
              <a:t> constraints as shown below.</a:t>
            </a:r>
            <a:endParaRPr lang="en-IN" dirty="0"/>
          </a:p>
        </p:txBody>
      </p:sp>
      <p:sp>
        <p:nvSpPr>
          <p:cNvPr id="9" name="TextBox 8">
            <a:extLst>
              <a:ext uri="{FF2B5EF4-FFF2-40B4-BE49-F238E27FC236}">
                <a16:creationId xmlns:a16="http://schemas.microsoft.com/office/drawing/2014/main" xmlns="" id="{36EE8167-AA5F-1607-E17D-916D64D72967}"/>
              </a:ext>
            </a:extLst>
          </p:cNvPr>
          <p:cNvSpPr txBox="1"/>
          <p:nvPr/>
        </p:nvSpPr>
        <p:spPr>
          <a:xfrm>
            <a:off x="643379" y="3470748"/>
            <a:ext cx="8660876" cy="1384995"/>
          </a:xfrm>
          <a:prstGeom prst="rect">
            <a:avLst/>
          </a:prstGeom>
          <a:noFill/>
        </p:spPr>
        <p:txBody>
          <a:bodyPr wrap="square">
            <a:spAutoFit/>
          </a:bodyPr>
          <a:lstStyle/>
          <a:p>
            <a:r>
              <a:rPr lang="en-US" sz="1200" dirty="0">
                <a:solidFill>
                  <a:srgbClr val="000000"/>
                </a:solidFill>
                <a:latin typeface="Cascadia Mono" panose="020B0609020000020004" pitchFamily="49" charset="0"/>
              </a:rPr>
              <a:t> [Route(</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EmployeeName:alpha:</a:t>
            </a:r>
            <a:r>
              <a:rPr lang="en-US" sz="1200" dirty="0" err="1">
                <a:solidFill>
                  <a:srgbClr val="A31515"/>
                </a:solidFill>
                <a:highlight>
                  <a:srgbClr val="FFFF00"/>
                </a:highlight>
                <a:latin typeface="Cascadia Mono" panose="020B0609020000020004" pitchFamily="49" charset="0"/>
              </a:rPr>
              <a:t>length</a:t>
            </a:r>
            <a:r>
              <a:rPr lang="en-US" sz="1200" dirty="0">
                <a:solidFill>
                  <a:srgbClr val="A31515"/>
                </a:solidFill>
                <a:highlight>
                  <a:srgbClr val="FFFF00"/>
                </a:highlight>
                <a:latin typeface="Cascadia Mono" panose="020B0609020000020004" pitchFamily="49" charset="0"/>
              </a:rPr>
              <a:t>(5)</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GetEmployeeDetails</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$"Response from </a:t>
            </a:r>
            <a:r>
              <a:rPr lang="en-US" sz="1200" dirty="0" err="1">
                <a:solidFill>
                  <a:srgbClr val="A31515"/>
                </a:solidFill>
                <a:latin typeface="Cascadia Mono" panose="020B0609020000020004" pitchFamily="49" charset="0"/>
              </a:rPr>
              <a:t>GetEmployeeDetails</a:t>
            </a:r>
            <a:r>
              <a:rPr lang="en-US" sz="1200" dirty="0">
                <a:solidFill>
                  <a:srgbClr val="A31515"/>
                </a:solidFill>
                <a:latin typeface="Cascadia Mono" panose="020B0609020000020004" pitchFamily="49" charset="0"/>
              </a:rPr>
              <a:t> Method, </a:t>
            </a:r>
            <a:r>
              <a:rPr lang="en-US" sz="1200" dirty="0" err="1">
                <a:solidFill>
                  <a:srgbClr val="A31515"/>
                </a:solidFill>
                <a:latin typeface="Cascadia Mono" panose="020B0609020000020004" pitchFamily="49" charset="0"/>
              </a:rPr>
              <a:t>EmployeeName</a:t>
            </a:r>
            <a:r>
              <a:rPr lang="en-US" sz="1200" dirty="0">
                <a:solidFill>
                  <a:srgbClr val="A31515"/>
                </a:solidFill>
                <a:latin typeface="Cascadia Mono" panose="020B0609020000020004" pitchFamily="49" charset="0"/>
              </a:rPr>
              <a:t> : </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endParaRPr lang="en-IN" sz="3200" dirty="0"/>
          </a:p>
        </p:txBody>
      </p:sp>
      <p:sp>
        <p:nvSpPr>
          <p:cNvPr id="11" name="TextBox 10">
            <a:extLst>
              <a:ext uri="{FF2B5EF4-FFF2-40B4-BE49-F238E27FC236}">
                <a16:creationId xmlns:a16="http://schemas.microsoft.com/office/drawing/2014/main" xmlns="" id="{DAB76E38-32A1-3D07-12B5-17D7B8B81C55}"/>
              </a:ext>
            </a:extLst>
          </p:cNvPr>
          <p:cNvSpPr txBox="1"/>
          <p:nvPr/>
        </p:nvSpPr>
        <p:spPr>
          <a:xfrm>
            <a:off x="134332" y="5224407"/>
            <a:ext cx="11705734" cy="954107"/>
          </a:xfrm>
          <a:prstGeom prst="rect">
            <a:avLst/>
          </a:prstGeom>
          <a:noFill/>
        </p:spPr>
        <p:txBody>
          <a:bodyPr wrap="square">
            <a:spAutoFit/>
          </a:bodyPr>
          <a:lstStyle/>
          <a:p>
            <a:pPr algn="just" fontAlgn="base"/>
            <a:r>
              <a:rPr lang="en-US" sz="1400" b="1" i="0" dirty="0">
                <a:solidFill>
                  <a:srgbClr val="000000"/>
                </a:solidFill>
                <a:effectLst/>
                <a:latin typeface="arial" panose="020B0604020202020204" pitchFamily="34" charset="0"/>
              </a:rPr>
              <a:t>Length Route Constraint in ASP.NET Core Web API:</a:t>
            </a:r>
            <a:endParaRPr lang="en-US" sz="1400" b="1"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The Length Route Constraint is basically used to specify the exact length of a string. This constraint takes one parameter which specifies the length to be applied for the parameter. For example, we want the </a:t>
            </a:r>
            <a:r>
              <a:rPr lang="en-US" sz="1400" b="0" i="0" dirty="0" err="1">
                <a:solidFill>
                  <a:srgbClr val="000000"/>
                </a:solidFill>
                <a:effectLst/>
                <a:latin typeface="arial" panose="020B0604020202020204" pitchFamily="34" charset="0"/>
              </a:rPr>
              <a:t>GetEmployeeDetails</a:t>
            </a:r>
            <a:r>
              <a:rPr lang="en-US" sz="1400" b="0" i="0" dirty="0">
                <a:solidFill>
                  <a:srgbClr val="000000"/>
                </a:solidFill>
                <a:effectLst/>
                <a:latin typeface="arial" panose="020B0604020202020204" pitchFamily="34" charset="0"/>
              </a:rPr>
              <a:t>(string </a:t>
            </a:r>
            <a:r>
              <a:rPr lang="en-US" sz="1400" b="0" i="0" dirty="0" err="1">
                <a:solidFill>
                  <a:srgbClr val="000000"/>
                </a:solidFill>
                <a:effectLst/>
                <a:latin typeface="arial" panose="020B0604020202020204" pitchFamily="34" charset="0"/>
              </a:rPr>
              <a:t>EmployeeName</a:t>
            </a:r>
            <a:r>
              <a:rPr lang="en-US" sz="1400" b="0" i="0" dirty="0">
                <a:solidFill>
                  <a:srgbClr val="000000"/>
                </a:solidFill>
                <a:effectLst/>
                <a:latin typeface="arial" panose="020B0604020202020204" pitchFamily="34" charset="0"/>
              </a:rPr>
              <a:t>) method to be invoked only when the </a:t>
            </a:r>
            <a:r>
              <a:rPr lang="en-US" sz="1400" b="0" i="0" dirty="0" err="1">
                <a:solidFill>
                  <a:srgbClr val="000000"/>
                </a:solidFill>
                <a:effectLst/>
                <a:latin typeface="arial" panose="020B0604020202020204" pitchFamily="34" charset="0"/>
              </a:rPr>
              <a:t>EmployeeName</a:t>
            </a:r>
            <a:r>
              <a:rPr lang="en-US" sz="1400" b="0" i="0" dirty="0">
                <a:solidFill>
                  <a:srgbClr val="000000"/>
                </a:solidFill>
                <a:effectLst/>
                <a:latin typeface="arial" panose="020B0604020202020204" pitchFamily="34" charset="0"/>
              </a:rPr>
              <a:t> is five characters. Then we can achieve the same very easily by using the length route constraint.</a:t>
            </a:r>
            <a:endParaRPr lang="en-US" sz="1400" b="0" i="0" dirty="0">
              <a:solidFill>
                <a:srgbClr val="3A3A3A"/>
              </a:solidFill>
              <a:effectLst/>
              <a:latin typeface="-apple-system"/>
            </a:endParaRPr>
          </a:p>
        </p:txBody>
      </p:sp>
    </p:spTree>
    <p:extLst>
      <p:ext uri="{BB962C8B-B14F-4D97-AF65-F5344CB8AC3E}">
        <p14:creationId xmlns:p14="http://schemas.microsoft.com/office/powerpoint/2010/main" val="602823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AFAF921B-339E-8C09-B8B9-C52487F01B27}"/>
              </a:ext>
            </a:extLst>
          </p:cNvPr>
          <p:cNvSpPr txBox="1"/>
          <p:nvPr/>
        </p:nvSpPr>
        <p:spPr>
          <a:xfrm>
            <a:off x="209745" y="416491"/>
            <a:ext cx="11602039" cy="1754326"/>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Regex Route Constraint in ASP.NET Core Web API:</a:t>
            </a:r>
            <a:endParaRPr lang="en-US" b="1"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You can also validate the value of a particular variable by using the regex route constraint. The regex takes one parameter and you can specify an expression or pattern to validate. Let us understand this with an example. Modify the </a:t>
            </a:r>
            <a:r>
              <a:rPr lang="en-US" b="1" i="0" dirty="0" err="1">
                <a:solidFill>
                  <a:srgbClr val="000000"/>
                </a:solidFill>
                <a:effectLst/>
                <a:latin typeface="arial" panose="020B0604020202020204" pitchFamily="34" charset="0"/>
              </a:rPr>
              <a:t>GetEmployeeDetails</a:t>
            </a:r>
            <a:r>
              <a:rPr lang="en-US" b="1" i="0" dirty="0">
                <a:solidFill>
                  <a:srgbClr val="000000"/>
                </a:solidFill>
                <a:effectLst/>
                <a:latin typeface="arial" panose="020B0604020202020204" pitchFamily="34" charset="0"/>
              </a:rPr>
              <a:t>(string </a:t>
            </a:r>
            <a:r>
              <a:rPr lang="en-US" b="1" i="0" dirty="0" err="1">
                <a:solidFill>
                  <a:srgbClr val="000000"/>
                </a:solidFill>
                <a:effectLst/>
                <a:latin typeface="arial" panose="020B0604020202020204" pitchFamily="34" charset="0"/>
              </a:rPr>
              <a:t>EmployeeName</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method as shown below. Here, we are adding a simple pattern that will validate if the string starts with the letter a and followed by b or c, then this method is going to be invoked.</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xmlns="" id="{684A196F-892D-15C5-2DDE-4632F209D7DE}"/>
              </a:ext>
            </a:extLst>
          </p:cNvPr>
          <p:cNvSpPr txBox="1"/>
          <p:nvPr/>
        </p:nvSpPr>
        <p:spPr>
          <a:xfrm>
            <a:off x="209745" y="2551837"/>
            <a:ext cx="9056802" cy="1015663"/>
          </a:xfrm>
          <a:prstGeom prst="rect">
            <a:avLst/>
          </a:prstGeom>
          <a:noFill/>
        </p:spPr>
        <p:txBody>
          <a:bodyPr wrap="square">
            <a:spAutoFit/>
          </a:bodyPr>
          <a:lstStyle/>
          <a:p>
            <a:r>
              <a:rPr lang="en-US" sz="1200" dirty="0">
                <a:solidFill>
                  <a:srgbClr val="000000"/>
                </a:solidFill>
                <a:latin typeface="Cascadia Mono" panose="020B0609020000020004" pitchFamily="49" charset="0"/>
              </a:rPr>
              <a:t> [Route(</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EmployeeName:regex</a:t>
            </a:r>
            <a:r>
              <a:rPr lang="en-US" sz="1200" dirty="0">
                <a:solidFill>
                  <a:srgbClr val="A31515"/>
                </a:solidFill>
                <a:latin typeface="Cascadia Mono" panose="020B0609020000020004" pitchFamily="49" charset="0"/>
              </a:rPr>
              <a:t>(a(</a:t>
            </a:r>
            <a:r>
              <a:rPr lang="en-US" sz="1200" dirty="0" err="1">
                <a:solidFill>
                  <a:srgbClr val="A31515"/>
                </a:solidFill>
                <a:latin typeface="Cascadia Mono" panose="020B0609020000020004" pitchFamily="49" charset="0"/>
              </a:rPr>
              <a:t>b|c</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GetEmployeeDetails</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$"Response from </a:t>
            </a:r>
            <a:r>
              <a:rPr lang="en-US" sz="1200" dirty="0" err="1">
                <a:solidFill>
                  <a:srgbClr val="A31515"/>
                </a:solidFill>
                <a:latin typeface="Cascadia Mono" panose="020B0609020000020004" pitchFamily="49" charset="0"/>
              </a:rPr>
              <a:t>GetEmployeeDetails</a:t>
            </a:r>
            <a:r>
              <a:rPr lang="en-US" sz="1200" dirty="0">
                <a:solidFill>
                  <a:srgbClr val="A31515"/>
                </a:solidFill>
                <a:latin typeface="Cascadia Mono" panose="020B0609020000020004" pitchFamily="49" charset="0"/>
              </a:rPr>
              <a:t> Method, </a:t>
            </a:r>
            <a:r>
              <a:rPr lang="en-US" sz="1200" dirty="0" err="1">
                <a:solidFill>
                  <a:srgbClr val="A31515"/>
                </a:solidFill>
                <a:latin typeface="Cascadia Mono" panose="020B0609020000020004" pitchFamily="49" charset="0"/>
              </a:rPr>
              <a:t>EmployeeName</a:t>
            </a:r>
            <a:r>
              <a:rPr lang="en-US" sz="1200" dirty="0">
                <a:solidFill>
                  <a:srgbClr val="A31515"/>
                </a:solidFill>
                <a:latin typeface="Cascadia Mono" panose="020B0609020000020004" pitchFamily="49" charset="0"/>
              </a:rPr>
              <a:t> : </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EmployeeName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endParaRPr lang="en-IN" sz="1200" dirty="0"/>
          </a:p>
        </p:txBody>
      </p:sp>
    </p:spTree>
    <p:extLst>
      <p:ext uri="{BB962C8B-B14F-4D97-AF65-F5344CB8AC3E}">
        <p14:creationId xmlns:p14="http://schemas.microsoft.com/office/powerpoint/2010/main" val="2176640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901</Words>
  <Application>Microsoft Office PowerPoint</Application>
  <PresentationFormat>Widescreen</PresentationFormat>
  <Paragraphs>191</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-apple-system</vt:lpstr>
      <vt:lpstr>arial</vt: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Basaid</dc:creator>
  <cp:lastModifiedBy>User</cp:lastModifiedBy>
  <cp:revision>13</cp:revision>
  <dcterms:created xsi:type="dcterms:W3CDTF">2023-07-20T14:12:54Z</dcterms:created>
  <dcterms:modified xsi:type="dcterms:W3CDTF">2024-03-22T08:54:08Z</dcterms:modified>
</cp:coreProperties>
</file>