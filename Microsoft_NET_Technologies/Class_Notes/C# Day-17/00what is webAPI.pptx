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4" r:id="rId12"/>
    <p:sldId id="275" r:id="rId13"/>
    <p:sldId id="268" r:id="rId14"/>
    <p:sldId id="269" r:id="rId15"/>
    <p:sldId id="274" r:id="rId16"/>
    <p:sldId id="265" r:id="rId17"/>
    <p:sldId id="267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60F6-B8F2-4D2C-BB9A-47D0A8934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40E1A-F836-41C9-92C4-C6CEDA2DE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857DB-5AE6-4497-83C7-D5E6EB640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E5870-7C8B-4AC2-8E8F-358E872A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6D3EF-002D-4207-A4C9-92D5F624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123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64A9-73A8-4EAD-B8B0-18276DA1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0030-37F8-4037-939E-CD6BD43E9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8DAE4-97BD-41B6-8A09-08D16846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6C7C8-EA37-48BD-99B2-7520FC9E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CD895-9B74-452F-B9E2-E0BE4B2D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90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33D6-076A-41E0-BDA6-0555F30C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14746-847E-46B7-96C6-3F4BAD9A8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84216-EA07-48F0-96FF-8C3F1565B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9FB2-D29B-4AAD-BB17-AA42D118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973A8-498D-40E5-9FF9-1B6F3507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910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C532-277E-4932-BA0F-21A6E90B6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E72A-EB14-49EA-BC95-7053D6499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130F7-27BE-460F-BA7F-65C4D1B4B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03107-BA38-4DD3-934E-40C97E48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36A35-4F39-4D66-BE78-716F10B60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318FF-C0EC-468E-8651-4E7F35965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82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550F-8F4A-4923-8DF8-729A8571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AF16F-842C-4445-BCAB-02DCE386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B468D-8610-460D-ABBC-763061A72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EECB5-ABB8-4F98-8DE6-B39E31E5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221E7-A644-4747-B5D0-536564B19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446AB-B28C-4F68-B8DB-33CBDA66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27039-018E-4244-93D6-C884A060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66EA19-9480-4577-9DBE-1C4F1D0F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07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5BCD-E5EE-401C-BE5C-2E6847160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2A5C4-B038-4A9F-99B4-84CBC1A1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BA00D-FCEB-4DFF-B291-7F23B6B6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859E7-100A-4894-9048-77F9DA98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77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8A568-40FE-4A87-871D-C6F55FAA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EA508-F9CF-4864-9DB1-51B2C9810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3CEF0-9AF7-4F38-9623-37A7F24C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632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C027-61C2-4868-8692-ED6FB8AD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7F57C-0B8E-4E07-9DE4-24C355CCD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2382D-2906-4067-9E45-218EABA63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63F8D-D8C0-48CB-93EA-A1FD3420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C4EC9-2ED1-4C01-B840-D44489CC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75C35-545F-4F94-ABB5-9BC3D70C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81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19C4-4D70-40B0-994B-8090BBEA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281DF-00C8-455C-AD51-86696313B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F4AE3-FC51-4940-B2C2-01C96D0B9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752D8-1FE8-4769-A4D4-18106683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C0E64-7DBC-42CF-AAD0-D71B36AD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1B2AC-8453-47BE-B995-24EBFD781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71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739C-0222-41A2-85AD-AA91858D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30B7B-5D5B-4C62-8484-81F5AFABC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ABB2-271D-407B-A12B-C5B6E84F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C0621-27D3-48B2-971B-8F931153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2F147-CC82-41D4-8686-C8C795EA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92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30A948-E667-4008-B6C9-6715BA375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74FEB-B5F3-4667-8724-1EF8E7B0A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BF631-C030-490D-8AA7-C2E5540B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19E78-0FF5-4B61-80DB-398F4922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B80E8-78E5-4F3E-B22F-8F021C57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35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B6C73-1E0D-478F-81A5-BF4DAC9F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EE0E8-F3F1-4344-8D56-63F829C6D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2F97-DA96-429B-9D3F-CFDCEC125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AE069-8A96-4D3A-B497-930E8A5DB087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166D-A736-456C-827D-39865CE9B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D430E-2204-466B-8FEA-C39EDBA3A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36BB3-0E5B-430D-A57B-8EFAF5EAA8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1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localhost:5171/api/Member/1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246564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8BCD2-5521-4C69-8D18-D075F5289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0"/>
            <a:ext cx="7219950" cy="625474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3C3950"/>
                </a:solidFill>
                <a:effectLst/>
                <a:latin typeface="Open Sans"/>
              </a:rPr>
              <a:t>What is a REST API?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669ED-80B7-4F3E-99DE-624482254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923925"/>
            <a:ext cx="11715750" cy="62388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Due to the increasing number of different varieties of clients (mobile apps, browser-based SPAs, desktop apps, IOT apps, etc.), we need better ways for transferring data from servers to clients, independent of technology and server stacks.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b="0" i="0" dirty="0">
              <a:solidFill>
                <a:srgbClr val="3D3D3D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REST APIs solve this problem. REST stands for representational state transfer. REST APIs are HTTP-based and provide applications the ability to communicate using lightweight JSON format. They run on web servers.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b="0" i="0" dirty="0">
              <a:solidFill>
                <a:srgbClr val="3D3D3D"/>
              </a:solidFill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REST consists of the following entities: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Resource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: Resources are uniquely identifiable entities (for example: data from a database, images, or any data).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Endpoint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: A resource can be accessed through a </a:t>
            </a:r>
            <a:r>
              <a:rPr lang="en-US" sz="1600" b="1" i="0" dirty="0">
                <a:solidFill>
                  <a:srgbClr val="3D3D3D"/>
                </a:solidFill>
                <a:effectLst/>
              </a:rPr>
              <a:t>URL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 identifier.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HTTP method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: HTTP method is the type of request a client sends to a server.  GET POST PUT DELETE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HTTP header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: An HTTP header is a key-value pair used to share additional information between a client and server, such as: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0" i="0" dirty="0">
              <a:solidFill>
                <a:srgbClr val="3D3D3D"/>
              </a:solidFill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Type of data being sent to server (JSON, XML).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0" i="0" dirty="0">
              <a:solidFill>
                <a:srgbClr val="3D3D3D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Type of encryption supported by client.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Authentication-related token.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0" i="0" dirty="0">
                <a:solidFill>
                  <a:srgbClr val="3D3D3D"/>
                </a:solidFill>
                <a:effectLst/>
              </a:rPr>
              <a:t>Customer data based on application need.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b="1" i="0" dirty="0">
              <a:solidFill>
                <a:srgbClr val="3D3D3D"/>
              </a:solidFill>
              <a:effectLst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3D3D3D"/>
                </a:solidFill>
                <a:effectLst/>
              </a:rPr>
              <a:t>Data format</a:t>
            </a:r>
            <a:r>
              <a:rPr lang="en-US" sz="1600" b="0" i="0" dirty="0">
                <a:solidFill>
                  <a:srgbClr val="3D3D3D"/>
                </a:solidFill>
                <a:effectLst/>
              </a:rPr>
              <a:t>: JSON is a common format to send and receive data through REST APIs.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3149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9801CB-6104-4B68-AD45-45F5BED9FB5A}"/>
              </a:ext>
            </a:extLst>
          </p:cNvPr>
          <p:cNvSpPr txBox="1"/>
          <p:nvPr/>
        </p:nvSpPr>
        <p:spPr>
          <a:xfrm>
            <a:off x="422786" y="314236"/>
            <a:ext cx="106974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What is Web API?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Why Web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Api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required?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How to create Asp.net Core web API using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.Net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7.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727E1-C98F-4F62-9654-5B88676B9125}"/>
              </a:ext>
            </a:extLst>
          </p:cNvPr>
          <p:cNvSpPr txBox="1"/>
          <p:nvPr/>
        </p:nvSpPr>
        <p:spPr>
          <a:xfrm>
            <a:off x="3805083" y="17326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What is Web API?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9B6272-6696-4801-A265-81EF2A52F3EB}"/>
              </a:ext>
            </a:extLst>
          </p:cNvPr>
          <p:cNvSpPr txBox="1"/>
          <p:nvPr/>
        </p:nvSpPr>
        <p:spPr>
          <a:xfrm>
            <a:off x="422785" y="2193045"/>
            <a:ext cx="11641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API stands for Application Programming Interface. It is an intermediate software agent that allows two or more applications to interact with each other.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9FB534-EAE2-4524-BAF4-DBF3AA4BF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494" y="3203472"/>
            <a:ext cx="6724650" cy="12573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6F3133-E08A-4A35-8C23-E175F41222B0}"/>
              </a:ext>
            </a:extLst>
          </p:cNvPr>
          <p:cNvSpPr txBox="1"/>
          <p:nvPr/>
        </p:nvSpPr>
        <p:spPr>
          <a:xfrm>
            <a:off x="78658" y="5140179"/>
            <a:ext cx="117200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In simple words, we can say that a web API is an application programming interface for a web application or web server. It uses HTTP protocol to communicate between clients and websites to have data access. 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Asp.net Core web API is a cross-platform web API.</a:t>
            </a:r>
          </a:p>
        </p:txBody>
      </p:sp>
    </p:spTree>
    <p:extLst>
      <p:ext uri="{BB962C8B-B14F-4D97-AF65-F5344CB8AC3E}">
        <p14:creationId xmlns:p14="http://schemas.microsoft.com/office/powerpoint/2010/main" val="244291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9F4F41-0A8A-48DE-89A7-0527009ADE01}"/>
              </a:ext>
            </a:extLst>
          </p:cNvPr>
          <p:cNvSpPr txBox="1"/>
          <p:nvPr/>
        </p:nvSpPr>
        <p:spPr>
          <a:xfrm>
            <a:off x="2959508" y="84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Why is Web API required?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379DA-68E9-41B6-B917-BB2EFBB40460}"/>
              </a:ext>
            </a:extLst>
          </p:cNvPr>
          <p:cNvSpPr txBox="1"/>
          <p:nvPr/>
        </p:nvSpPr>
        <p:spPr>
          <a:xfrm>
            <a:off x="265469" y="454186"/>
            <a:ext cx="114840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The user wants to access the application from different devices like mobile, browser, Google devices, etc. In this case, Web API can be useful. 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Different devices request to Web API and Web API will respond in JSON format. Most of the devices are able to understand JSON output. 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Let’s see the below web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Api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Architecture diagram,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0A761C-517C-423A-BF94-F720DD1DA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528" y="1931514"/>
            <a:ext cx="7058025" cy="3448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13C89A-3027-46CC-AC59-849F21833B6D}"/>
              </a:ext>
            </a:extLst>
          </p:cNvPr>
          <p:cNvSpPr txBox="1"/>
          <p:nvPr/>
        </p:nvSpPr>
        <p:spPr>
          <a:xfrm>
            <a:off x="265469" y="5085328"/>
            <a:ext cx="119265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This diagram explains the architecture of Web API.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 client called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api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/controller – In the above diagram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Browers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, Phones, and Google Devices are called Web API Controllers.</a:t>
            </a:r>
          </a:p>
          <a:p>
            <a:pPr algn="l">
              <a:buFont typeface="+mj-lt"/>
              <a:buAutoNum type="arabicPeriod"/>
            </a:pP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api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/Controller interact with business layer and get Data from DB.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The output will be returned in JSON format.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This is very basic Web API. </a:t>
            </a:r>
          </a:p>
        </p:txBody>
      </p:sp>
    </p:spTree>
    <p:extLst>
      <p:ext uri="{BB962C8B-B14F-4D97-AF65-F5344CB8AC3E}">
        <p14:creationId xmlns:p14="http://schemas.microsoft.com/office/powerpoint/2010/main" val="357315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14A99D-5EED-4F84-8027-EA5D3F0D4B76}"/>
              </a:ext>
            </a:extLst>
          </p:cNvPr>
          <p:cNvSpPr txBox="1"/>
          <p:nvPr/>
        </p:nvSpPr>
        <p:spPr>
          <a:xfrm>
            <a:off x="216310" y="188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How to create an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Asp.Net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core web API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2A521-8C18-412E-921C-FF8936557257}"/>
              </a:ext>
            </a:extLst>
          </p:cNvPr>
          <p:cNvSpPr txBox="1"/>
          <p:nvPr/>
        </p:nvSpPr>
        <p:spPr>
          <a:xfrm>
            <a:off x="216310" y="78535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We will create our first simple Web API using Visual Studio 2022. You can download the free community version from the Microsoft official site.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Follow the below steps to create your first Web API project,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Open Visual Studio 2012 and create a new project.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ADF99-74E2-404A-8723-E7B077138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50" y="0"/>
            <a:ext cx="3638550" cy="4953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05" y="3138142"/>
            <a:ext cx="7991878" cy="33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2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AF8F4A-2262-4064-AC0E-9201C8CA8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71" y="704696"/>
            <a:ext cx="8096250" cy="5133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E80CF8-CB79-4DD8-84BC-1E21D4550FE1}"/>
              </a:ext>
            </a:extLst>
          </p:cNvPr>
          <p:cNvSpPr txBox="1"/>
          <p:nvPr/>
        </p:nvSpPr>
        <p:spPr>
          <a:xfrm>
            <a:off x="599768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Provide Project name and location.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DEE9C-16C4-4D85-83BE-2B2F785B6C65}"/>
              </a:ext>
            </a:extLst>
          </p:cNvPr>
          <p:cNvSpPr txBox="1"/>
          <p:nvPr/>
        </p:nvSpPr>
        <p:spPr>
          <a:xfrm>
            <a:off x="855407" y="62207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Select Target Framework and click on Create button.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618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F4E15C-CA72-485E-8D9E-A831945B3611}"/>
              </a:ext>
            </a:extLst>
          </p:cNvPr>
          <p:cNvSpPr txBox="1"/>
          <p:nvPr/>
        </p:nvSpPr>
        <p:spPr>
          <a:xfrm>
            <a:off x="2723535" y="2381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Member API is created. See below project structure.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F29AF-401C-4FC8-84CF-1F6A469DA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37" y="1187859"/>
            <a:ext cx="2628900" cy="2476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9B6AAC-FC0D-449E-A3B9-A46E642DC17E}"/>
              </a:ext>
            </a:extLst>
          </p:cNvPr>
          <p:cNvSpPr txBox="1"/>
          <p:nvPr/>
        </p:nvSpPr>
        <p:spPr>
          <a:xfrm>
            <a:off x="255638" y="1278645"/>
            <a:ext cx="6921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Web API is mostly used for CRUD (Create, Read, Update, DELETE) operations. It  follows HTTP verbs for these operations.</a:t>
            </a:r>
            <a:endParaRPr lang="en-IN" dirty="0"/>
          </a:p>
        </p:txBody>
      </p:sp>
      <p:pic>
        <p:nvPicPr>
          <p:cNvPr id="2052" name="Picture 4" descr="Asp.Net Core 5.0 Web API">
            <a:extLst>
              <a:ext uri="{FF2B5EF4-FFF2-40B4-BE49-F238E27FC236}">
                <a16:creationId xmlns:a16="http://schemas.microsoft.com/office/drawing/2014/main" id="{64E2F28E-B9FB-47F9-8B48-CCE515E03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65" y="2873167"/>
            <a:ext cx="3248025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4B27B2-3578-49E9-A064-E29F8BE28535}"/>
              </a:ext>
            </a:extLst>
          </p:cNvPr>
          <p:cNvSpPr txBox="1"/>
          <p:nvPr/>
        </p:nvSpPr>
        <p:spPr>
          <a:xfrm>
            <a:off x="5614220" y="485673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HTTP GET – Read Operation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HTTP POST – Create Operation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HTTP PUT – Update Operation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HTTP DELETE – Delete Operation</a:t>
            </a:r>
          </a:p>
        </p:txBody>
      </p:sp>
    </p:spTree>
    <p:extLst>
      <p:ext uri="{BB962C8B-B14F-4D97-AF65-F5344CB8AC3E}">
        <p14:creationId xmlns:p14="http://schemas.microsoft.com/office/powerpoint/2010/main" val="545775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sp.Net Core 5.0 Web API">
            <a:extLst>
              <a:ext uri="{FF2B5EF4-FFF2-40B4-BE49-F238E27FC236}">
                <a16:creationId xmlns:a16="http://schemas.microsoft.com/office/drawing/2014/main" id="{4D2CA760-C4DD-4606-94B9-E203832BB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790" y="698552"/>
            <a:ext cx="5724525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645C20-5577-4D11-ADBC-3BC956FEDF0C}"/>
              </a:ext>
            </a:extLst>
          </p:cNvPr>
          <p:cNvSpPr txBox="1"/>
          <p:nvPr/>
        </p:nvSpPr>
        <p:spPr>
          <a:xfrm>
            <a:off x="432618" y="178280"/>
            <a:ext cx="10166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Following Diagram will explain our project which we are going to create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FB0ABD-3D70-45A1-AB01-8C6722A426E5}"/>
              </a:ext>
            </a:extLst>
          </p:cNvPr>
          <p:cNvSpPr txBox="1"/>
          <p:nvPr/>
        </p:nvSpPr>
        <p:spPr>
          <a:xfrm>
            <a:off x="432617" y="2071667"/>
            <a:ext cx="109728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First, we will create Member Data Layer and then create Member API Controller.</a:t>
            </a:r>
          </a:p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Step 1</a:t>
            </a:r>
            <a:endParaRPr lang="en-US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Create New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.Net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Class Library Called Member. Data</a:t>
            </a:r>
          </a:p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Step 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2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 Add three Folders; Models, Interface, and Repository in Member. Data Class library.</a:t>
            </a:r>
          </a:p>
        </p:txBody>
      </p:sp>
      <p:pic>
        <p:nvPicPr>
          <p:cNvPr id="3076" name="Picture 4" descr="Asp.Net Core 5.0 Web API">
            <a:extLst>
              <a:ext uri="{FF2B5EF4-FFF2-40B4-BE49-F238E27FC236}">
                <a16:creationId xmlns:a16="http://schemas.microsoft.com/office/drawing/2014/main" id="{8D766E7C-33F0-4DAB-9E11-09F26D69D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193" y="4006250"/>
            <a:ext cx="1800225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714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C06F57-820E-4123-B2A6-4641F4AC5C6E}"/>
              </a:ext>
            </a:extLst>
          </p:cNvPr>
          <p:cNvSpPr txBox="1"/>
          <p:nvPr/>
        </p:nvSpPr>
        <p:spPr>
          <a:xfrm>
            <a:off x="0" y="0"/>
            <a:ext cx="9409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Step 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3</a:t>
            </a: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In the model folder, create a Model Class called member.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8BD1CC-BCBD-4333-AE6C-578D8A2F7DE5}"/>
              </a:ext>
            </a:extLst>
          </p:cNvPr>
          <p:cNvSpPr txBox="1"/>
          <p:nvPr/>
        </p:nvSpPr>
        <p:spPr>
          <a:xfrm>
            <a:off x="453206" y="8421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2B91AF"/>
                </a:solidFill>
                <a:latin typeface="Consolas" panose="020B0609020204030204" pitchFamily="49" charset="0"/>
              </a:rPr>
              <a:t>Members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FirstName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Address {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IN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9B4B3-FCE7-4333-B660-F43D28C588D5}"/>
              </a:ext>
            </a:extLst>
          </p:cNvPr>
          <p:cNvSpPr txBox="1"/>
          <p:nvPr/>
        </p:nvSpPr>
        <p:spPr>
          <a:xfrm>
            <a:off x="6449962" y="195807"/>
            <a:ext cx="54372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IMembers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      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List&lt;Members&gt;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GetAllMember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Members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GetMember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id);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Members Add(Members employee);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Members Update(int id, Members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MembersChanges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Members Delete(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Id);    </a:t>
            </a:r>
            <a:endParaRPr lang="en-IN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F74299-444C-4714-BA24-3C4D0EC94202}"/>
              </a:ext>
            </a:extLst>
          </p:cNvPr>
          <p:cNvSpPr txBox="1"/>
          <p:nvPr/>
        </p:nvSpPr>
        <p:spPr>
          <a:xfrm>
            <a:off x="358849" y="4042017"/>
            <a:ext cx="1085207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In </a:t>
            </a:r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program.cs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file don’t forget to add this line</a:t>
            </a:r>
          </a:p>
          <a:p>
            <a:endParaRPr lang="en-IN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builder.Services.AddScoped</a:t>
            </a:r>
            <a:r>
              <a:rPr lang="en-I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IN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IMembers</a:t>
            </a:r>
            <a:r>
              <a:rPr lang="en-I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MembersRepository</a:t>
            </a:r>
            <a:r>
              <a:rPr lang="en-I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2597552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FCD848-79FA-4C62-B7C2-2FFA3DACFF03}"/>
              </a:ext>
            </a:extLst>
          </p:cNvPr>
          <p:cNvSpPr txBox="1"/>
          <p:nvPr/>
        </p:nvSpPr>
        <p:spPr>
          <a:xfrm>
            <a:off x="98323" y="0"/>
            <a:ext cx="805261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2B91AF"/>
                </a:solidFill>
                <a:latin typeface="Consolas" panose="020B0609020204030204" pitchFamily="49" charset="0"/>
              </a:rPr>
              <a:t>MembersRepository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IMembers</a:t>
            </a:r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	static 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List&lt;Members&gt;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List&lt;Members&gt;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=1,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Kirtesh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“Mumbai"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=2,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"Nitya"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"Vadodara"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=3,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Dilip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Banglore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=4,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"Atul"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“Indore"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=5,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"Swati"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“Mumbai"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Members{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=6, FirstName=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"Rashmi"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"Shah"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Address=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Ahamdabad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List&lt;Members&gt;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GetAllMember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endParaRPr lang="en-IN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GetMember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lisMembers.FirstOrDefault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(x =&gt;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x.MemberId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== id);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 Add(Members member)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member.MemberId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lisMembers.Max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(e =&gt;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e.MemberId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) + 1;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lisMembers.Add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(member);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 Delete(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Members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lisMembers.FirstOrDefault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(e =&gt;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e.MemberId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== Id);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(members !=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IN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lisMembers.Remove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(members);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members;</a:t>
            </a:r>
          </a:p>
          <a:p>
            <a:r>
              <a:rPr lang="en-IN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479AD4-4501-4CE9-A682-BF2C72542AF7}"/>
              </a:ext>
            </a:extLst>
          </p:cNvPr>
          <p:cNvSpPr txBox="1"/>
          <p:nvPr/>
        </p:nvSpPr>
        <p:spPr>
          <a:xfrm>
            <a:off x="6096000" y="3393237"/>
            <a:ext cx="609600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Members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Update(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id,Members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memberChanges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Members member =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lisMembers.FirstOrDefault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 =&gt;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e.MemberId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==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memberChanges.MemberId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(member != 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member.FirstName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memberChanges.FirstName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member.LastName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memberChanges.LastName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 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member.Address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memberChanges.Address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member;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087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59D5EA-C143-4770-A471-DFCAB61512E1}"/>
              </a:ext>
            </a:extLst>
          </p:cNvPr>
          <p:cNvSpPr txBox="1"/>
          <p:nvPr/>
        </p:nvSpPr>
        <p:spPr>
          <a:xfrm>
            <a:off x="167148" y="0"/>
            <a:ext cx="115037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Step 7</a:t>
            </a:r>
            <a:endParaRPr lang="en-US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Now we will create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MembeApi</a:t>
            </a:r>
            <a:r>
              <a:rPr lang="en-US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 Controller in the Controller folder. Right-click on the Controller folder and Click on Add-Controller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F1E398-2402-422F-93DB-3417CDA1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98" y="1228725"/>
            <a:ext cx="8096250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89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284513"/>
              </p:ext>
            </p:extLst>
          </p:nvPr>
        </p:nvGraphicFramePr>
        <p:xfrm>
          <a:off x="2032000" y="719666"/>
          <a:ext cx="8127999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Url</a:t>
                      </a:r>
                      <a:r>
                        <a:rPr lang="en-US" dirty="0"/>
                        <a:t>/hyperlink   [</a:t>
                      </a:r>
                      <a:r>
                        <a:rPr lang="en-US" dirty="0" err="1"/>
                        <a:t>HttpGet</a:t>
                      </a:r>
                      <a:r>
                        <a:rPr lang="en-US" dirty="0"/>
                        <a:t>]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Api</a:t>
                      </a:r>
                      <a:r>
                        <a:rPr lang="en-US" dirty="0"/>
                        <a:t>/member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Get(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id)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Url</a:t>
                      </a:r>
                      <a:r>
                        <a:rPr lang="en-US" dirty="0"/>
                        <a:t>/hyperlink   [</a:t>
                      </a:r>
                      <a:r>
                        <a:rPr lang="en-US" dirty="0" err="1"/>
                        <a:t>HttpGet</a:t>
                      </a:r>
                      <a:r>
                        <a:rPr lang="en-US" dirty="0"/>
                        <a:t>(“{id}”)]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Api</a:t>
                      </a:r>
                      <a:r>
                        <a:rPr lang="en-US" dirty="0"/>
                        <a:t>/member/1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Post([</a:t>
                      </a:r>
                      <a:r>
                        <a:rPr lang="en-US" dirty="0" err="1"/>
                        <a:t>FromBody</a:t>
                      </a:r>
                      <a:r>
                        <a:rPr lang="en-US" dirty="0"/>
                        <a:t>] member)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</a:t>
                      </a:r>
                      <a:r>
                        <a:rPr lang="en-US" dirty="0" err="1"/>
                        <a:t>HttpPost</a:t>
                      </a:r>
                      <a:r>
                        <a:rPr lang="en-US" dirty="0"/>
                        <a:t>]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Add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Api</a:t>
                      </a:r>
                      <a:r>
                        <a:rPr lang="en-US" dirty="0"/>
                        <a:t>/member 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frombody</a:t>
                      </a:r>
                      <a:endParaRPr lang="en-US" dirty="0">
                        <a:sym typeface="Wingdings" panose="05000000000000000000" pitchFamily="2" charset="2"/>
                      </a:endParaRP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Raw 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json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Delete(</a:t>
                      </a:r>
                      <a:r>
                        <a:rPr lang="en-US" dirty="0" err="1"/>
                        <a:t>int</a:t>
                      </a:r>
                      <a:r>
                        <a:rPr lang="en-US" dirty="0"/>
                        <a:t> id)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</a:t>
                      </a:r>
                      <a:r>
                        <a:rPr lang="en-US" dirty="0" err="1"/>
                        <a:t>HttpDelete</a:t>
                      </a:r>
                      <a:r>
                        <a:rPr lang="en-US" dirty="0"/>
                        <a:t>]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delete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Api</a:t>
                      </a:r>
                      <a:r>
                        <a:rPr lang="en-US" dirty="0"/>
                        <a:t>/member/1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URL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Put(id , [</a:t>
                      </a:r>
                      <a:r>
                        <a:rPr lang="en-US" dirty="0" err="1"/>
                        <a:t>FromBody</a:t>
                      </a:r>
                      <a:r>
                        <a:rPr lang="en-US" dirty="0"/>
                        <a:t>]member)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</a:t>
                      </a:r>
                      <a:r>
                        <a:rPr lang="en-US" dirty="0" err="1"/>
                        <a:t>HttpPut</a:t>
                      </a:r>
                      <a:r>
                        <a:rPr lang="en-US" dirty="0"/>
                        <a:t>]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Update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Api</a:t>
                      </a:r>
                      <a:r>
                        <a:rPr lang="en-US" dirty="0"/>
                        <a:t>/member/1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Url</a:t>
                      </a:r>
                    </a:p>
                    <a:p>
                      <a:r>
                        <a:rPr lang="en-US" dirty="0" err="1">
                          <a:sym typeface="Wingdings" panose="05000000000000000000" pitchFamily="2" charset="2"/>
                        </a:rPr>
                        <a:t>MemberFrom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 body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555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DB340E-41DA-28AE-32EA-E0C3C0391CA3}"/>
              </a:ext>
            </a:extLst>
          </p:cNvPr>
          <p:cNvSpPr txBox="1"/>
          <p:nvPr/>
        </p:nvSpPr>
        <p:spPr>
          <a:xfrm>
            <a:off x="200320" y="0"/>
            <a:ext cx="6094428" cy="703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Microsoft.AspNetCore.Mvc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System.Collections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System.Collections.Generic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WebAPI.Models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// For more information on enabling Web API for empty projects, visit https://go.microsoft.com/fwlink/?LinkID=397860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WebAPI.Controllers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[Route(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IN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api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/[controller]"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ApiController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ControllerBase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{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readonly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IMembers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member;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IMembers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mem)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member = mem;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}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GET: 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api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/&lt;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HttpGet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IEnumerable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&lt;Members&gt; Get()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member.GetAllMember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GET 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api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/&lt;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&gt;/5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HttpGet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"{id}"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Members Get(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member.GetMember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(id);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POST 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api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/&lt;</a:t>
            </a:r>
            <a:r>
              <a:rPr lang="en-IN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100" dirty="0">
                <a:solidFill>
                  <a:srgbClr val="008000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HttpPost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Members Post([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FromBody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] Members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memberpost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member.Add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memberpost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674C5-83DA-002C-8126-60E6F18B51B1}"/>
              </a:ext>
            </a:extLst>
          </p:cNvPr>
          <p:cNvSpPr txBox="1"/>
          <p:nvPr/>
        </p:nvSpPr>
        <p:spPr>
          <a:xfrm>
            <a:off x="5897252" y="85117"/>
            <a:ext cx="60944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// PUT 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api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/&lt;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&gt;/5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HttpPut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latin typeface="Consolas" panose="020B0609020204030204" pitchFamily="49" charset="0"/>
              </a:rPr>
              <a:t>"{id}"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Members Put(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id, 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FromBody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Members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memberput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member.Update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id,memberput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// DELETE 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api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/&lt;</a:t>
            </a:r>
            <a:r>
              <a:rPr lang="en-IN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MemberController</a:t>
            </a:r>
            <a:r>
              <a:rPr lang="en-IN" sz="1800" dirty="0">
                <a:solidFill>
                  <a:srgbClr val="008000"/>
                </a:solidFill>
                <a:latin typeface="Consolas" panose="020B0609020204030204" pitchFamily="49" charset="0"/>
              </a:rPr>
              <a:t>&gt;/5</a:t>
            </a:r>
            <a:endParaRPr lang="en-I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HttpDelete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latin typeface="Consolas" panose="020B0609020204030204" pitchFamily="49" charset="0"/>
              </a:rPr>
              <a:t>"{id}"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Delete(</a:t>
            </a:r>
            <a:r>
              <a:rPr lang="en-IN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id)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member.Delete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(id);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944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32327" y="1000731"/>
            <a:ext cx="6096000" cy="26776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GET </a:t>
            </a:r>
            <a:r>
              <a:rPr lang="en-IN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api</a:t>
            </a:r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/&lt;</a:t>
            </a:r>
            <a:r>
              <a:rPr lang="en-IN" sz="1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MemberController</a:t>
            </a:r>
            <a:r>
              <a:rPr lang="en-IN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&gt;/5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"{</a:t>
            </a:r>
            <a:r>
              <a:rPr lang="en-IN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id:int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}"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Members Get(</a:t>
            </a:r>
            <a:r>
              <a:rPr lang="en-IN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member.GetMember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(id);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"{name}"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&lt;Members&gt; Get(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name)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member.GetAllMemberbyname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(name);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IN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378691" y="0"/>
            <a:ext cx="5273964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if I have two method with same format</a:t>
            </a:r>
          </a:p>
          <a:p>
            <a:r>
              <a:rPr lang="en-IN" dirty="0">
                <a:hlinkClick r:id="rId2"/>
              </a:rPr>
              <a:t>http://localhost:5171/api/Member/1</a:t>
            </a:r>
            <a:endParaRPr lang="en-IN" dirty="0"/>
          </a:p>
          <a:p>
            <a:r>
              <a:rPr lang="en-IN" dirty="0"/>
              <a:t>http://localhost:5171/api/Member/Atul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8376" y="92333"/>
            <a:ext cx="51753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http://localhost:5171/api/Member/</a:t>
            </a:r>
            <a:r>
              <a:rPr lang="en-IN" dirty="0">
                <a:solidFill>
                  <a:srgbClr val="FF0000"/>
                </a:solidFill>
              </a:rPr>
              <a:t>Address</a:t>
            </a:r>
            <a:r>
              <a:rPr lang="en-IN" dirty="0"/>
              <a:t>/Mumbai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600362"/>
            <a:ext cx="6096000" cy="116955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"Address/{address}"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&lt;Members&gt;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GetAddress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address)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member.GetAllMemberbyaddress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(address);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IN" sz="3600" dirty="0"/>
          </a:p>
        </p:txBody>
      </p:sp>
      <p:sp>
        <p:nvSpPr>
          <p:cNvPr id="8" name="Rectangle 7"/>
          <p:cNvSpPr/>
          <p:nvPr/>
        </p:nvSpPr>
        <p:spPr>
          <a:xfrm>
            <a:off x="32327" y="4357914"/>
            <a:ext cx="6096000" cy="166199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Add method in interface </a:t>
            </a:r>
          </a:p>
          <a:p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IMembers</a:t>
            </a:r>
            <a:endParaRPr lang="en-IN" sz="9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List&lt;Members&gt;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GetAllMember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Members </a:t>
            </a:r>
            <a:r>
              <a:rPr lang="en-IN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GetMember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id);</a:t>
            </a:r>
          </a:p>
          <a:p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List&lt;Members&gt; </a:t>
            </a:r>
            <a:r>
              <a:rPr lang="en-IN" sz="105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GetAllMemberbyname</a:t>
            </a:r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b="1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 name);</a:t>
            </a:r>
          </a:p>
          <a:p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List&lt;Members&gt; </a:t>
            </a:r>
            <a:r>
              <a:rPr lang="en-IN" sz="105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GetAllMemberbyaddress</a:t>
            </a:r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050" b="1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050" b="1" dirty="0">
                <a:solidFill>
                  <a:srgbClr val="000000"/>
                </a:solidFill>
                <a:latin typeface="Cascadia Mono" panose="020B0609020000020004" pitchFamily="49" charset="0"/>
              </a:rPr>
              <a:t> address);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Members Add(Members employee);</a:t>
            </a:r>
          </a:p>
          <a:p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Members Update(</a:t>
            </a:r>
            <a:r>
              <a:rPr lang="en-US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id, Members </a:t>
            </a:r>
            <a:r>
              <a:rPr lang="en-US" sz="9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MembersChanges</a:t>
            </a:r>
            <a:r>
              <a:rPr lang="en-US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Members Delete(</a:t>
            </a:r>
            <a:r>
              <a:rPr lang="en-IN" sz="9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Id);</a:t>
            </a:r>
          </a:p>
          <a:p>
            <a:r>
              <a:rPr lang="en-IN" sz="9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6063673" y="4137694"/>
            <a:ext cx="6096000" cy="21236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Add method definition in service class</a:t>
            </a:r>
          </a:p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List&lt;Members&gt;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GetAllMemberbyname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name)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lisMembers.FindAll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((nm)=&gt;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nm.FirstName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==name);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List&lt;Members&gt;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GetAllMemberbyaddress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address)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lisMembers.FindAll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((nm) =&gt;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nm.Address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== address);</a:t>
            </a:r>
          </a:p>
          <a:p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IN" sz="3200" dirty="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305175" y="1343025"/>
            <a:ext cx="3562350" cy="694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67525" y="1924050"/>
            <a:ext cx="3848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Observe data type is mentioned here</a:t>
            </a:r>
          </a:p>
          <a:p>
            <a:r>
              <a:rPr lang="en-US" dirty="0"/>
              <a:t>Other wise you get</a:t>
            </a:r>
          </a:p>
          <a:p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71" y="3702489"/>
            <a:ext cx="9206902" cy="387519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endCxn id="11" idx="0"/>
          </p:cNvCxnSpPr>
          <p:nvPr/>
        </p:nvCxnSpPr>
        <p:spPr>
          <a:xfrm flipH="1">
            <a:off x="7556222" y="2492138"/>
            <a:ext cx="1035328" cy="121035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7953375" y="332456"/>
            <a:ext cx="1819275" cy="398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085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-12401"/>
            <a:ext cx="10773677" cy="687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13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2C1CF8-A5D6-4656-A7BC-4B2BEEBD1E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1" r="4678" b="68458"/>
          <a:stretch/>
        </p:blipFill>
        <p:spPr>
          <a:xfrm>
            <a:off x="0" y="58994"/>
            <a:ext cx="11621729" cy="2104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E97FEA-22BA-47B7-8E87-E131752307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38" b="75197"/>
          <a:stretch/>
        </p:blipFill>
        <p:spPr>
          <a:xfrm>
            <a:off x="142567" y="2271252"/>
            <a:ext cx="11906865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05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8D3429-9488-48A9-9927-CB285389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69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49560"/>
            <a:ext cx="450532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24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ApiController</a:t>
            </a:r>
            <a:r>
              <a:rPr lang="en-IN" sz="2400" b="1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45311"/>
            <a:ext cx="48291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dirty="0">
                <a:solidFill>
                  <a:srgbClr val="3B4045"/>
                </a:solidFill>
                <a:latin typeface="-apple-system"/>
              </a:rPr>
              <a:t>The [</a:t>
            </a:r>
            <a:r>
              <a:rPr lang="en-IN" dirty="0" err="1">
                <a:solidFill>
                  <a:srgbClr val="3B4045"/>
                </a:solidFill>
                <a:latin typeface="-apple-system"/>
              </a:rPr>
              <a:t>ApiController</a:t>
            </a:r>
            <a:r>
              <a:rPr lang="en-IN" dirty="0">
                <a:solidFill>
                  <a:srgbClr val="3B4045"/>
                </a:solidFill>
                <a:latin typeface="-apple-system"/>
              </a:rPr>
              <a:t>] attribute can be applied to a controller class to enable the following opinionated, API-specific </a:t>
            </a:r>
            <a:r>
              <a:rPr lang="en-IN" dirty="0" err="1">
                <a:solidFill>
                  <a:srgbClr val="3B4045"/>
                </a:solidFill>
                <a:latin typeface="-apple-system"/>
              </a:rPr>
              <a:t>behaviors</a:t>
            </a:r>
            <a:r>
              <a:rPr lang="en-IN" dirty="0">
                <a:solidFill>
                  <a:srgbClr val="3B4045"/>
                </a:solidFill>
                <a:latin typeface="-apple-system"/>
              </a:rPr>
              <a:t>:</a:t>
            </a:r>
          </a:p>
          <a:p>
            <a:pPr fontAlgn="base"/>
            <a:endParaRPr lang="en-US" dirty="0">
              <a:solidFill>
                <a:srgbClr val="3B4045"/>
              </a:solidFill>
              <a:latin typeface="-apple-system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91275" y="-49560"/>
            <a:ext cx="60579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Attribute routing</a:t>
            </a:r>
          </a:p>
          <a:p>
            <a:endParaRPr lang="en-US" dirty="0"/>
          </a:p>
          <a:p>
            <a:r>
              <a:rPr lang="en-US" dirty="0"/>
              <a:t>Attribute routing will be required if you use [</a:t>
            </a:r>
            <a:r>
              <a:rPr lang="en-US" dirty="0" err="1"/>
              <a:t>ApiController</a:t>
            </a:r>
            <a:r>
              <a:rPr lang="en-US" dirty="0"/>
              <a:t>], </a:t>
            </a:r>
            <a:r>
              <a:rPr lang="en-US" dirty="0" err="1"/>
              <a:t>eg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[</a:t>
            </a:r>
            <a:r>
              <a:rPr lang="en-US" dirty="0" err="1"/>
              <a:t>ApiController</a:t>
            </a:r>
            <a:r>
              <a:rPr lang="en-US" dirty="0"/>
              <a:t>]</a:t>
            </a:r>
          </a:p>
          <a:p>
            <a:r>
              <a:rPr lang="en-US" dirty="0"/>
              <a:t>[Route("[controller]")]</a:t>
            </a:r>
          </a:p>
          <a:p>
            <a:r>
              <a:rPr lang="en-US" dirty="0"/>
              <a:t>public class </a:t>
            </a:r>
            <a:r>
              <a:rPr lang="en-US" dirty="0" err="1"/>
              <a:t>DataTablesController</a:t>
            </a:r>
            <a:r>
              <a:rPr lang="en-US" dirty="0"/>
              <a:t>: </a:t>
            </a:r>
            <a:r>
              <a:rPr lang="en-US" dirty="0" err="1"/>
              <a:t>ControllerBase</a:t>
            </a:r>
            <a:endParaRPr lang="en-US" dirty="0"/>
          </a:p>
          <a:p>
            <a:r>
              <a:rPr lang="en-US" dirty="0"/>
              <a:t>Actions are inaccessible via conventional routes defined by </a:t>
            </a:r>
            <a:r>
              <a:rPr lang="en-US" dirty="0" err="1"/>
              <a:t>UseEndpoints</a:t>
            </a:r>
            <a:r>
              <a:rPr lang="en-US" dirty="0"/>
              <a:t>, </a:t>
            </a:r>
            <a:r>
              <a:rPr lang="en-US" dirty="0" err="1"/>
              <a:t>UseMvc</a:t>
            </a:r>
            <a:r>
              <a:rPr lang="en-US" dirty="0"/>
              <a:t>, or </a:t>
            </a:r>
            <a:r>
              <a:rPr lang="en-US" dirty="0" err="1"/>
              <a:t>UseMvcWithDefaultRoute</a:t>
            </a:r>
            <a:r>
              <a:rPr lang="en-US" dirty="0"/>
              <a:t> in </a:t>
            </a:r>
            <a:r>
              <a:rPr lang="en-US" dirty="0" err="1"/>
              <a:t>Startup.Configure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Automatic Http 400 responses</a:t>
            </a:r>
          </a:p>
          <a:p>
            <a:endParaRPr lang="en-US" dirty="0"/>
          </a:p>
          <a:p>
            <a:r>
              <a:rPr lang="en-US" dirty="0"/>
              <a:t>Adds an action filter to return 400 response if the </a:t>
            </a:r>
            <a:r>
              <a:rPr lang="en-US" dirty="0" err="1"/>
              <a:t>ModelState</a:t>
            </a:r>
            <a:r>
              <a:rPr lang="en-US" dirty="0"/>
              <a:t> fails validation. You no longer need to write this in your actions, it will be handled automatically:</a:t>
            </a:r>
          </a:p>
          <a:p>
            <a:endParaRPr lang="en-US" dirty="0"/>
          </a:p>
          <a:p>
            <a:r>
              <a:rPr lang="en-US" dirty="0"/>
              <a:t>if (!</a:t>
            </a:r>
            <a:r>
              <a:rPr lang="en-US" dirty="0" err="1"/>
              <a:t>ModelState.IsValid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return </a:t>
            </a:r>
            <a:r>
              <a:rPr lang="en-US" dirty="0" err="1"/>
              <a:t>BadRequest</a:t>
            </a:r>
            <a:r>
              <a:rPr lang="en-US" dirty="0"/>
              <a:t>(</a:t>
            </a:r>
            <a:r>
              <a:rPr lang="en-US" dirty="0" err="1"/>
              <a:t>ModelState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278821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b="1" dirty="0">
                <a:solidFill>
                  <a:prstClr val="black"/>
                </a:solidFill>
              </a:rPr>
              <a:t>Binding source parameter inference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A binding source attribute defines the location at which an action parameter's value is found. The following binding source attributes exist: [</a:t>
            </a:r>
            <a:r>
              <a:rPr lang="en-US" dirty="0" err="1">
                <a:solidFill>
                  <a:prstClr val="black"/>
                </a:solidFill>
              </a:rPr>
              <a:t>FromBody</a:t>
            </a:r>
            <a:r>
              <a:rPr lang="en-US" dirty="0">
                <a:solidFill>
                  <a:prstClr val="black"/>
                </a:solidFill>
              </a:rPr>
              <a:t>], [</a:t>
            </a:r>
            <a:r>
              <a:rPr lang="en-US" dirty="0" err="1">
                <a:solidFill>
                  <a:prstClr val="black"/>
                </a:solidFill>
              </a:rPr>
              <a:t>FromForm</a:t>
            </a:r>
            <a:r>
              <a:rPr lang="en-US" dirty="0">
                <a:solidFill>
                  <a:prstClr val="black"/>
                </a:solidFill>
              </a:rPr>
              <a:t>], [</a:t>
            </a:r>
            <a:r>
              <a:rPr lang="en-US" dirty="0" err="1">
                <a:solidFill>
                  <a:prstClr val="black"/>
                </a:solidFill>
              </a:rPr>
              <a:t>FromHeader</a:t>
            </a:r>
            <a:r>
              <a:rPr lang="en-US" dirty="0">
                <a:solidFill>
                  <a:prstClr val="black"/>
                </a:solidFill>
              </a:rPr>
              <a:t>], [</a:t>
            </a:r>
            <a:r>
              <a:rPr lang="en-US" dirty="0" err="1">
                <a:solidFill>
                  <a:prstClr val="black"/>
                </a:solidFill>
              </a:rPr>
              <a:t>FromQuery</a:t>
            </a:r>
            <a:r>
              <a:rPr lang="en-US" dirty="0">
                <a:solidFill>
                  <a:prstClr val="black"/>
                </a:solidFill>
              </a:rPr>
              <a:t>], [</a:t>
            </a:r>
            <a:r>
              <a:rPr lang="en-US" dirty="0" err="1">
                <a:solidFill>
                  <a:prstClr val="black"/>
                </a:solidFill>
              </a:rPr>
              <a:t>FromRoute</a:t>
            </a:r>
            <a:r>
              <a:rPr lang="en-US" dirty="0">
                <a:solidFill>
                  <a:prstClr val="black"/>
                </a:solidFill>
              </a:rPr>
              <a:t>], [</a:t>
            </a:r>
            <a:r>
              <a:rPr lang="en-US" dirty="0" err="1">
                <a:solidFill>
                  <a:prstClr val="black"/>
                </a:solidFill>
              </a:rPr>
              <a:t>FromServices</a:t>
            </a:r>
            <a:r>
              <a:rPr lang="en-US" dirty="0">
                <a:solidFill>
                  <a:prstClr val="black"/>
                </a:solidFill>
              </a:rPr>
              <a:t>]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b="1" dirty="0">
                <a:solidFill>
                  <a:prstClr val="black"/>
                </a:solidFill>
              </a:rPr>
              <a:t>Multipart/form-data request inference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The [</a:t>
            </a:r>
            <a:r>
              <a:rPr lang="en-US" dirty="0" err="1">
                <a:solidFill>
                  <a:prstClr val="black"/>
                </a:solidFill>
              </a:rPr>
              <a:t>ApiController</a:t>
            </a:r>
            <a:r>
              <a:rPr lang="en-US" dirty="0">
                <a:solidFill>
                  <a:prstClr val="black"/>
                </a:solidFill>
              </a:rPr>
              <a:t>] attribute applies an inference rule when an action parameter is annotated with the [</a:t>
            </a:r>
            <a:r>
              <a:rPr lang="en-US" dirty="0" err="1">
                <a:solidFill>
                  <a:prstClr val="black"/>
                </a:solidFill>
              </a:rPr>
              <a:t>FromForm</a:t>
            </a:r>
            <a:r>
              <a:rPr lang="en-US" dirty="0">
                <a:solidFill>
                  <a:prstClr val="black"/>
                </a:solidFill>
              </a:rPr>
              <a:t>] attribute. The multipart/form-data request content type is inferred.</a:t>
            </a:r>
          </a:p>
          <a:p>
            <a:pPr lvl="0"/>
            <a:endParaRPr lang="en-US" dirty="0">
              <a:solidFill>
                <a:prstClr val="black"/>
              </a:solidFill>
            </a:endParaRPr>
          </a:p>
          <a:p>
            <a:pPr lvl="0"/>
            <a:r>
              <a:rPr lang="en-US" dirty="0">
                <a:solidFill>
                  <a:prstClr val="black"/>
                </a:solidFill>
              </a:rPr>
              <a:t>An example using binding source parameter inference: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[</a:t>
            </a:r>
            <a:r>
              <a:rPr lang="en-US" dirty="0" err="1">
                <a:solidFill>
                  <a:prstClr val="black"/>
                </a:solidFill>
              </a:rPr>
              <a:t>HttpPost</a:t>
            </a:r>
            <a:r>
              <a:rPr lang="en-US" dirty="0">
                <a:solidFill>
                  <a:prstClr val="black"/>
                </a:solidFill>
              </a:rPr>
              <a:t>]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public </a:t>
            </a:r>
            <a:r>
              <a:rPr lang="en-US" dirty="0" err="1">
                <a:solidFill>
                  <a:prstClr val="black"/>
                </a:solidFill>
              </a:rPr>
              <a:t>IActionResult</a:t>
            </a:r>
            <a:r>
              <a:rPr lang="en-US" dirty="0">
                <a:solidFill>
                  <a:prstClr val="black"/>
                </a:solidFill>
              </a:rPr>
              <a:t> Test([</a:t>
            </a:r>
            <a:r>
              <a:rPr lang="en-US" dirty="0" err="1">
                <a:solidFill>
                  <a:prstClr val="black"/>
                </a:solidFill>
              </a:rPr>
              <a:t>FromForm</a:t>
            </a:r>
            <a:r>
              <a:rPr lang="en-US" dirty="0">
                <a:solidFill>
                  <a:prstClr val="black"/>
                </a:solidFill>
              </a:rPr>
              <a:t>] Model model)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{    return Ok("test");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}</a:t>
            </a:r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445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41" y="104485"/>
            <a:ext cx="10283884" cy="6067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4350" y="485775"/>
            <a:ext cx="2514600" cy="60007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83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2058</Words>
  <Application>Microsoft Office PowerPoint</Application>
  <PresentationFormat>Widescreen</PresentationFormat>
  <Paragraphs>276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-apple-system</vt:lpstr>
      <vt:lpstr>Arial</vt:lpstr>
      <vt:lpstr>Calibri</vt:lpstr>
      <vt:lpstr>Calibri Light</vt:lpstr>
      <vt:lpstr>Cascadia Mono</vt:lpstr>
      <vt:lpstr>Consolas</vt:lpstr>
      <vt:lpstr>open sans</vt:lpstr>
      <vt:lpstr>open sans</vt:lpstr>
      <vt:lpstr>Roboto</vt:lpstr>
      <vt:lpstr>Wingdings</vt:lpstr>
      <vt:lpstr>Office Theme</vt:lpstr>
      <vt:lpstr>PowerPoint Presentation</vt:lpstr>
      <vt:lpstr>What is a REST API?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36</cp:revision>
  <dcterms:created xsi:type="dcterms:W3CDTF">2021-10-22T02:07:14Z</dcterms:created>
  <dcterms:modified xsi:type="dcterms:W3CDTF">2024-11-27T04:12:50Z</dcterms:modified>
</cp:coreProperties>
</file>