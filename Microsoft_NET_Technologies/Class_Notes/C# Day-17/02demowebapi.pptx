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0" r:id="rId2"/>
    <p:sldId id="274" r:id="rId3"/>
    <p:sldId id="261" r:id="rId4"/>
    <p:sldId id="264" r:id="rId5"/>
    <p:sldId id="275" r:id="rId6"/>
    <p:sldId id="276" r:id="rId7"/>
    <p:sldId id="262" r:id="rId8"/>
    <p:sldId id="297" r:id="rId9"/>
    <p:sldId id="277" r:id="rId10"/>
    <p:sldId id="278" r:id="rId11"/>
    <p:sldId id="263" r:id="rId12"/>
    <p:sldId id="279" r:id="rId13"/>
    <p:sldId id="298" r:id="rId14"/>
    <p:sldId id="280" r:id="rId15"/>
    <p:sldId id="299" r:id="rId16"/>
    <p:sldId id="300" r:id="rId17"/>
    <p:sldId id="301" r:id="rId18"/>
    <p:sldId id="302" r:id="rId19"/>
    <p:sldId id="303" r:id="rId20"/>
    <p:sldId id="304" r:id="rId21"/>
    <p:sldId id="281" r:id="rId22"/>
    <p:sldId id="282" r:id="rId23"/>
    <p:sldId id="283" r:id="rId24"/>
    <p:sldId id="284" r:id="rId25"/>
    <p:sldId id="285" r:id="rId26"/>
    <p:sldId id="286" r:id="rId27"/>
    <p:sldId id="265" r:id="rId28"/>
    <p:sldId id="266" r:id="rId29"/>
    <p:sldId id="267" r:id="rId30"/>
    <p:sldId id="268" r:id="rId31"/>
    <p:sldId id="269" r:id="rId32"/>
    <p:sldId id="306" r:id="rId33"/>
    <p:sldId id="270" r:id="rId34"/>
    <p:sldId id="271" r:id="rId35"/>
    <p:sldId id="272" r:id="rId36"/>
    <p:sldId id="307" r:id="rId37"/>
    <p:sldId id="273" r:id="rId38"/>
    <p:sldId id="287" r:id="rId39"/>
    <p:sldId id="305" r:id="rId40"/>
    <p:sldId id="288" r:id="rId41"/>
    <p:sldId id="289" r:id="rId42"/>
    <p:sldId id="290" r:id="rId43"/>
    <p:sldId id="291" r:id="rId44"/>
    <p:sldId id="292" r:id="rId45"/>
    <p:sldId id="293" r:id="rId46"/>
    <p:sldId id="294" r:id="rId47"/>
    <p:sldId id="295" r:id="rId48"/>
    <p:sldId id="296"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riram Mantri vidyanidhi infotech academy" initials="SMvia" lastIdx="1" clrIdx="0">
    <p:extLst>
      <p:ext uri="{19B8F6BF-5375-455C-9EA6-DF929625EA0E}">
        <p15:presenceInfo xmlns:p15="http://schemas.microsoft.com/office/powerpoint/2012/main" userId="51cb69a88b7242c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p:scale>
          <a:sx n="100" d="100"/>
          <a:sy n="100" d="100"/>
        </p:scale>
        <p:origin x="902" y="-6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06D2B0-4A09-4077-A16F-47EF53C7B9A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F999B8F7-FB15-4E52-99EA-D5C8DA45F0CB}"/>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192A00E3-0B9B-461E-8769-6733F6B06C82}"/>
              </a:ext>
            </a:extLst>
          </p:cNvPr>
          <p:cNvSpPr>
            <a:spLocks noGrp="1"/>
          </p:cNvSpPr>
          <p:nvPr>
            <p:ph type="dt" sz="half" idx="10"/>
          </p:nvPr>
        </p:nvSpPr>
        <p:spPr/>
        <p:txBody>
          <a:bodyPr/>
          <a:lstStyle/>
          <a:p>
            <a:fld id="{CA63E55B-20EA-41BC-BD1C-971839B344EB}" type="datetimeFigureOut">
              <a:rPr lang="en-US" smtClean="0"/>
              <a:t>5/28/2024</a:t>
            </a:fld>
            <a:endParaRPr lang="en-US"/>
          </a:p>
        </p:txBody>
      </p:sp>
      <p:sp>
        <p:nvSpPr>
          <p:cNvPr id="5" name="Footer Placeholder 4">
            <a:extLst>
              <a:ext uri="{FF2B5EF4-FFF2-40B4-BE49-F238E27FC236}">
                <a16:creationId xmlns:a16="http://schemas.microsoft.com/office/drawing/2014/main" xmlns="" id="{EB2DB9E8-792D-48AB-B5DC-6339AF8C50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88AE14BD-A444-4EE6-9F1F-9FDA24758213}"/>
              </a:ext>
            </a:extLst>
          </p:cNvPr>
          <p:cNvSpPr>
            <a:spLocks noGrp="1"/>
          </p:cNvSpPr>
          <p:nvPr>
            <p:ph type="sldNum" sz="quarter" idx="12"/>
          </p:nvPr>
        </p:nvSpPr>
        <p:spPr/>
        <p:txBody>
          <a:bodyPr/>
          <a:lstStyle/>
          <a:p>
            <a:fld id="{4D6E2103-0152-4525-945D-993C97345546}" type="slidenum">
              <a:rPr lang="en-US" smtClean="0"/>
              <a:t>‹#›</a:t>
            </a:fld>
            <a:endParaRPr lang="en-US"/>
          </a:p>
        </p:txBody>
      </p:sp>
      <p:sp>
        <p:nvSpPr>
          <p:cNvPr id="8" name="Rectangle 7">
            <a:extLst>
              <a:ext uri="{FF2B5EF4-FFF2-40B4-BE49-F238E27FC236}">
                <a16:creationId xmlns:a16="http://schemas.microsoft.com/office/drawing/2014/main" xmlns="" id="{BABFEB1C-F450-428A-83D7-340C83DC860D}"/>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690290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309AC40-2D59-4D63-A85F-88A1B05AB556}"/>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xmlns="" id="{85236B28-72B5-448B-9EB7-D6B17A3D6163}"/>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xmlns="" id="{62D14418-9775-4183-8BED-2D31C2F1878C}"/>
              </a:ext>
            </a:extLst>
          </p:cNvPr>
          <p:cNvSpPr>
            <a:spLocks noGrp="1"/>
          </p:cNvSpPr>
          <p:nvPr>
            <p:ph type="dt" sz="half" idx="10"/>
          </p:nvPr>
        </p:nvSpPr>
        <p:spPr/>
        <p:txBody>
          <a:bodyPr/>
          <a:lstStyle/>
          <a:p>
            <a:fld id="{CA63E55B-20EA-41BC-BD1C-971839B344EB}" type="datetimeFigureOut">
              <a:rPr lang="en-US" smtClean="0"/>
              <a:t>5/28/2024</a:t>
            </a:fld>
            <a:endParaRPr lang="en-US"/>
          </a:p>
        </p:txBody>
      </p:sp>
      <p:sp>
        <p:nvSpPr>
          <p:cNvPr id="5" name="Footer Placeholder 4">
            <a:extLst>
              <a:ext uri="{FF2B5EF4-FFF2-40B4-BE49-F238E27FC236}">
                <a16:creationId xmlns:a16="http://schemas.microsoft.com/office/drawing/2014/main" xmlns="" id="{8AB95571-159D-4E16-9442-1A64A5950E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9178B35A-86EE-4F1D-B326-E2422DD54D04}"/>
              </a:ext>
            </a:extLst>
          </p:cNvPr>
          <p:cNvSpPr>
            <a:spLocks noGrp="1"/>
          </p:cNvSpPr>
          <p:nvPr>
            <p:ph type="sldNum" sz="quarter" idx="12"/>
          </p:nvPr>
        </p:nvSpPr>
        <p:spPr/>
        <p:txBody>
          <a:bodyPr/>
          <a:lstStyle/>
          <a:p>
            <a:fld id="{4D6E2103-0152-4525-945D-993C97345546}" type="slidenum">
              <a:rPr lang="en-US" smtClean="0"/>
              <a:t>‹#›</a:t>
            </a:fld>
            <a:endParaRPr lang="en-US"/>
          </a:p>
        </p:txBody>
      </p:sp>
      <p:pic>
        <p:nvPicPr>
          <p:cNvPr id="8" name="Picture 7">
            <a:extLst>
              <a:ext uri="{FF2B5EF4-FFF2-40B4-BE49-F238E27FC236}">
                <a16:creationId xmlns:a16="http://schemas.microsoft.com/office/drawing/2014/main" xmlns="" id="{EFFFF0A3-15C6-4568-91D3-BE507A6C528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
        <p:nvSpPr>
          <p:cNvPr id="10" name="Rectangle 9">
            <a:extLst>
              <a:ext uri="{FF2B5EF4-FFF2-40B4-BE49-F238E27FC236}">
                <a16:creationId xmlns:a16="http://schemas.microsoft.com/office/drawing/2014/main" xmlns="" id="{B441817B-44DC-4B7A-A4C7-D59F40D65C9C}"/>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2382042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53B270A-6F8F-4629-BAF7-7FD05F1541E8}"/>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67F87B2F-F56F-4E5D-9CBE-9507142DA187}"/>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11206FFD-1B08-439C-A38C-0E7806B715BD}"/>
              </a:ext>
            </a:extLst>
          </p:cNvPr>
          <p:cNvSpPr>
            <a:spLocks noGrp="1"/>
          </p:cNvSpPr>
          <p:nvPr>
            <p:ph type="dt" sz="half" idx="10"/>
          </p:nvPr>
        </p:nvSpPr>
        <p:spPr/>
        <p:txBody>
          <a:bodyPr/>
          <a:lstStyle/>
          <a:p>
            <a:fld id="{CA63E55B-20EA-41BC-BD1C-971839B344EB}" type="datetimeFigureOut">
              <a:rPr lang="en-US" smtClean="0"/>
              <a:t>5/28/2024</a:t>
            </a:fld>
            <a:endParaRPr lang="en-US"/>
          </a:p>
        </p:txBody>
      </p:sp>
      <p:sp>
        <p:nvSpPr>
          <p:cNvPr id="5" name="Footer Placeholder 4">
            <a:extLst>
              <a:ext uri="{FF2B5EF4-FFF2-40B4-BE49-F238E27FC236}">
                <a16:creationId xmlns:a16="http://schemas.microsoft.com/office/drawing/2014/main" xmlns="" id="{4674952C-2D91-4955-807D-D44B144062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C85896C4-BDA4-4F8B-B0CB-A3F2D6DF2912}"/>
              </a:ext>
            </a:extLst>
          </p:cNvPr>
          <p:cNvSpPr>
            <a:spLocks noGrp="1"/>
          </p:cNvSpPr>
          <p:nvPr>
            <p:ph type="sldNum" sz="quarter" idx="12"/>
          </p:nvPr>
        </p:nvSpPr>
        <p:spPr/>
        <p:txBody>
          <a:bodyPr/>
          <a:lstStyle/>
          <a:p>
            <a:fld id="{4D6E2103-0152-4525-945D-993C97345546}" type="slidenum">
              <a:rPr lang="en-US" smtClean="0"/>
              <a:t>‹#›</a:t>
            </a:fld>
            <a:endParaRPr lang="en-US"/>
          </a:p>
        </p:txBody>
      </p:sp>
      <p:sp>
        <p:nvSpPr>
          <p:cNvPr id="10" name="Rectangle 9">
            <a:extLst>
              <a:ext uri="{FF2B5EF4-FFF2-40B4-BE49-F238E27FC236}">
                <a16:creationId xmlns:a16="http://schemas.microsoft.com/office/drawing/2014/main" xmlns="" id="{2C19E40E-1E09-4FBD-93DB-5D61896E4676}"/>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401806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F953CCB-2FA4-4084-BD4F-FA292A024F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39E53C5E-BCDC-4D34-9F70-040FD30B4319}"/>
              </a:ext>
            </a:extLst>
          </p:cNvPr>
          <p:cNvSpPr>
            <a:spLocks noGrp="1"/>
          </p:cNvSpPr>
          <p:nvPr>
            <p:ph sz="half" idx="1"/>
          </p:nvPr>
        </p:nvSpPr>
        <p:spPr>
          <a:xfrm>
            <a:off x="628650" y="1825625"/>
            <a:ext cx="38862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a:extLst>
              <a:ext uri="{FF2B5EF4-FFF2-40B4-BE49-F238E27FC236}">
                <a16:creationId xmlns:a16="http://schemas.microsoft.com/office/drawing/2014/main" xmlns="" id="{F84DEE8A-AA47-4E02-ACE2-30603FDF4642}"/>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2A2DF106-7445-4B25-88A6-F8375332AE0D}"/>
              </a:ext>
            </a:extLst>
          </p:cNvPr>
          <p:cNvSpPr>
            <a:spLocks noGrp="1"/>
          </p:cNvSpPr>
          <p:nvPr>
            <p:ph type="dt" sz="half" idx="10"/>
          </p:nvPr>
        </p:nvSpPr>
        <p:spPr/>
        <p:txBody>
          <a:bodyPr/>
          <a:lstStyle/>
          <a:p>
            <a:fld id="{CA63E55B-20EA-41BC-BD1C-971839B344EB}" type="datetimeFigureOut">
              <a:rPr lang="en-US" smtClean="0"/>
              <a:t>5/28/2024</a:t>
            </a:fld>
            <a:endParaRPr lang="en-US"/>
          </a:p>
        </p:txBody>
      </p:sp>
      <p:sp>
        <p:nvSpPr>
          <p:cNvPr id="6" name="Footer Placeholder 5">
            <a:extLst>
              <a:ext uri="{FF2B5EF4-FFF2-40B4-BE49-F238E27FC236}">
                <a16:creationId xmlns:a16="http://schemas.microsoft.com/office/drawing/2014/main" xmlns="" id="{A886E2C9-014B-4C9D-865C-277DE17797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D1D34B14-67D2-4200-A9A1-E02FB5F859D0}"/>
              </a:ext>
            </a:extLst>
          </p:cNvPr>
          <p:cNvSpPr>
            <a:spLocks noGrp="1"/>
          </p:cNvSpPr>
          <p:nvPr>
            <p:ph type="sldNum" sz="quarter" idx="12"/>
          </p:nvPr>
        </p:nvSpPr>
        <p:spPr/>
        <p:txBody>
          <a:bodyPr/>
          <a:lstStyle/>
          <a:p>
            <a:fld id="{4D6E2103-0152-4525-945D-993C97345546}" type="slidenum">
              <a:rPr lang="en-US" smtClean="0"/>
              <a:t>‹#›</a:t>
            </a:fld>
            <a:endParaRPr lang="en-US"/>
          </a:p>
        </p:txBody>
      </p:sp>
      <p:sp>
        <p:nvSpPr>
          <p:cNvPr id="11" name="Rectangle 10">
            <a:extLst>
              <a:ext uri="{FF2B5EF4-FFF2-40B4-BE49-F238E27FC236}">
                <a16:creationId xmlns:a16="http://schemas.microsoft.com/office/drawing/2014/main" xmlns="" id="{632970CB-1007-426F-8BAF-20E17DC48EBB}"/>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4276171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A803A8-E3C2-4521-BAB0-EEA84642CD60}"/>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2305B118-C53A-4E78-BEC8-3F4EAA240CA0}"/>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16045913-94E8-4A79-8EF4-F9C118ED014D}"/>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4D531397-8C84-4B9B-B5B8-CEEEFC58857E}"/>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4FDF4B68-3FC3-4FB2-A053-7B0FCDAFFEAC}"/>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C958C094-6BBF-4769-B9C8-0267561CC4F6}"/>
              </a:ext>
            </a:extLst>
          </p:cNvPr>
          <p:cNvSpPr>
            <a:spLocks noGrp="1"/>
          </p:cNvSpPr>
          <p:nvPr>
            <p:ph type="dt" sz="half" idx="10"/>
          </p:nvPr>
        </p:nvSpPr>
        <p:spPr/>
        <p:txBody>
          <a:bodyPr/>
          <a:lstStyle/>
          <a:p>
            <a:fld id="{CA63E55B-20EA-41BC-BD1C-971839B344EB}" type="datetimeFigureOut">
              <a:rPr lang="en-US" smtClean="0"/>
              <a:t>5/28/2024</a:t>
            </a:fld>
            <a:endParaRPr lang="en-US"/>
          </a:p>
        </p:txBody>
      </p:sp>
      <p:sp>
        <p:nvSpPr>
          <p:cNvPr id="8" name="Footer Placeholder 7">
            <a:extLst>
              <a:ext uri="{FF2B5EF4-FFF2-40B4-BE49-F238E27FC236}">
                <a16:creationId xmlns:a16="http://schemas.microsoft.com/office/drawing/2014/main" xmlns="" id="{F65B6ED7-A64A-4564-A7BC-AF2199FEF3D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15FDBFF9-C2DC-47A6-A290-9D0B53D2A49B}"/>
              </a:ext>
            </a:extLst>
          </p:cNvPr>
          <p:cNvSpPr>
            <a:spLocks noGrp="1"/>
          </p:cNvSpPr>
          <p:nvPr>
            <p:ph type="sldNum" sz="quarter" idx="12"/>
          </p:nvPr>
        </p:nvSpPr>
        <p:spPr/>
        <p:txBody>
          <a:bodyPr/>
          <a:lstStyle/>
          <a:p>
            <a:fld id="{4D6E2103-0152-4525-945D-993C97345546}" type="slidenum">
              <a:rPr lang="en-US" smtClean="0"/>
              <a:t>‹#›</a:t>
            </a:fld>
            <a:endParaRPr lang="en-US"/>
          </a:p>
        </p:txBody>
      </p:sp>
      <p:pic>
        <p:nvPicPr>
          <p:cNvPr id="11" name="Picture 10">
            <a:extLst>
              <a:ext uri="{FF2B5EF4-FFF2-40B4-BE49-F238E27FC236}">
                <a16:creationId xmlns:a16="http://schemas.microsoft.com/office/drawing/2014/main" xmlns="" id="{F44B7B4C-9242-41F9-9EFA-37803263D96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82699" cy="857534"/>
          </a:xfrm>
          <a:prstGeom prst="rect">
            <a:avLst/>
          </a:prstGeom>
        </p:spPr>
      </p:pic>
      <p:sp>
        <p:nvSpPr>
          <p:cNvPr id="13" name="Rectangle 12">
            <a:extLst>
              <a:ext uri="{FF2B5EF4-FFF2-40B4-BE49-F238E27FC236}">
                <a16:creationId xmlns:a16="http://schemas.microsoft.com/office/drawing/2014/main" xmlns="" id="{5ADFB1EB-EA8A-4B40-B65B-E5F97A5BDEA6}"/>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671716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218B92-803A-43F1-96E0-15B5A9CB286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4F67875B-CA21-4A34-815A-AC8E46B65D10}"/>
              </a:ext>
            </a:extLst>
          </p:cNvPr>
          <p:cNvSpPr>
            <a:spLocks noGrp="1"/>
          </p:cNvSpPr>
          <p:nvPr>
            <p:ph type="dt" sz="half" idx="10"/>
          </p:nvPr>
        </p:nvSpPr>
        <p:spPr/>
        <p:txBody>
          <a:bodyPr/>
          <a:lstStyle/>
          <a:p>
            <a:fld id="{CA63E55B-20EA-41BC-BD1C-971839B344EB}" type="datetimeFigureOut">
              <a:rPr lang="en-US" smtClean="0"/>
              <a:t>5/28/2024</a:t>
            </a:fld>
            <a:endParaRPr lang="en-US"/>
          </a:p>
        </p:txBody>
      </p:sp>
      <p:sp>
        <p:nvSpPr>
          <p:cNvPr id="4" name="Footer Placeholder 3">
            <a:extLst>
              <a:ext uri="{FF2B5EF4-FFF2-40B4-BE49-F238E27FC236}">
                <a16:creationId xmlns:a16="http://schemas.microsoft.com/office/drawing/2014/main" xmlns="" id="{22051392-43F0-4389-8EE8-963F90F1AC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399F3021-3732-4E7B-B105-8D53733AED62}"/>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2959284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13105B1C-D14F-4038-92D6-2AD4B375CE08}"/>
              </a:ext>
            </a:extLst>
          </p:cNvPr>
          <p:cNvSpPr>
            <a:spLocks noGrp="1"/>
          </p:cNvSpPr>
          <p:nvPr>
            <p:ph type="dt" sz="half" idx="10"/>
          </p:nvPr>
        </p:nvSpPr>
        <p:spPr/>
        <p:txBody>
          <a:bodyPr/>
          <a:lstStyle/>
          <a:p>
            <a:fld id="{CA63E55B-20EA-41BC-BD1C-971839B344EB}" type="datetimeFigureOut">
              <a:rPr lang="en-US" smtClean="0"/>
              <a:t>5/28/2024</a:t>
            </a:fld>
            <a:endParaRPr lang="en-US"/>
          </a:p>
        </p:txBody>
      </p:sp>
      <p:sp>
        <p:nvSpPr>
          <p:cNvPr id="3" name="Footer Placeholder 2">
            <a:extLst>
              <a:ext uri="{FF2B5EF4-FFF2-40B4-BE49-F238E27FC236}">
                <a16:creationId xmlns:a16="http://schemas.microsoft.com/office/drawing/2014/main" xmlns="" id="{8439ADE9-7ED1-44FE-9A63-2DF37671EAE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94E109B7-7EF5-44C2-8821-DFB5084812E5}"/>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4073322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68C241-CE34-485A-B25B-5B17F6196392}"/>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C86EDE76-2F56-4722-A19F-90CF92396944}"/>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2792879C-E670-44C6-B777-E4CC693E3AD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xmlns="" id="{F2F925B6-8CF3-455D-B73D-119D0B4E441A}"/>
              </a:ext>
            </a:extLst>
          </p:cNvPr>
          <p:cNvSpPr>
            <a:spLocks noGrp="1"/>
          </p:cNvSpPr>
          <p:nvPr>
            <p:ph type="dt" sz="half" idx="10"/>
          </p:nvPr>
        </p:nvSpPr>
        <p:spPr/>
        <p:txBody>
          <a:bodyPr/>
          <a:lstStyle/>
          <a:p>
            <a:fld id="{CA63E55B-20EA-41BC-BD1C-971839B344EB}" type="datetimeFigureOut">
              <a:rPr lang="en-US" smtClean="0"/>
              <a:t>5/28/2024</a:t>
            </a:fld>
            <a:endParaRPr lang="en-US"/>
          </a:p>
        </p:txBody>
      </p:sp>
      <p:sp>
        <p:nvSpPr>
          <p:cNvPr id="6" name="Footer Placeholder 5">
            <a:extLst>
              <a:ext uri="{FF2B5EF4-FFF2-40B4-BE49-F238E27FC236}">
                <a16:creationId xmlns:a16="http://schemas.microsoft.com/office/drawing/2014/main" xmlns="" id="{DC7BEC62-2B2D-47D8-814E-CEB11FBDE0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CD4B180D-9A69-407A-B767-849DC3F09309}"/>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2303496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32B198-AFEA-40C2-BE37-C68CFDF483DD}"/>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EA7B8C5B-9A98-470A-8110-499A6518DD56}"/>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xmlns="" id="{F09FA6F1-1813-4B57-B473-833646D2E82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xmlns="" id="{BB4D1A94-0748-4E41-9D2F-C83D9F732710}"/>
              </a:ext>
            </a:extLst>
          </p:cNvPr>
          <p:cNvSpPr>
            <a:spLocks noGrp="1"/>
          </p:cNvSpPr>
          <p:nvPr>
            <p:ph type="dt" sz="half" idx="10"/>
          </p:nvPr>
        </p:nvSpPr>
        <p:spPr/>
        <p:txBody>
          <a:bodyPr/>
          <a:lstStyle/>
          <a:p>
            <a:fld id="{CA63E55B-20EA-41BC-BD1C-971839B344EB}" type="datetimeFigureOut">
              <a:rPr lang="en-US" smtClean="0"/>
              <a:t>5/28/2024</a:t>
            </a:fld>
            <a:endParaRPr lang="en-US"/>
          </a:p>
        </p:txBody>
      </p:sp>
      <p:sp>
        <p:nvSpPr>
          <p:cNvPr id="6" name="Footer Placeholder 5">
            <a:extLst>
              <a:ext uri="{FF2B5EF4-FFF2-40B4-BE49-F238E27FC236}">
                <a16:creationId xmlns:a16="http://schemas.microsoft.com/office/drawing/2014/main" xmlns="" id="{34FA210D-43D8-47ED-9949-2CED61B4BA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DE342B31-3A2B-4E1F-B426-BCF9E3DD68BE}"/>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2008349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54A8523-61C0-453B-8977-7E823EDCC31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CDB0E370-F9F6-4D63-86BA-0C0C7ABB2E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9D7AF5E7-A24A-4D4F-9251-D3C3CD538475}"/>
              </a:ext>
            </a:extLst>
          </p:cNvPr>
          <p:cNvSpPr>
            <a:spLocks noGrp="1"/>
          </p:cNvSpPr>
          <p:nvPr>
            <p:ph type="dt" sz="half" idx="10"/>
          </p:nvPr>
        </p:nvSpPr>
        <p:spPr/>
        <p:txBody>
          <a:bodyPr/>
          <a:lstStyle/>
          <a:p>
            <a:fld id="{CA63E55B-20EA-41BC-BD1C-971839B344EB}" type="datetimeFigureOut">
              <a:rPr lang="en-US" smtClean="0"/>
              <a:t>5/28/2024</a:t>
            </a:fld>
            <a:endParaRPr lang="en-US"/>
          </a:p>
        </p:txBody>
      </p:sp>
      <p:sp>
        <p:nvSpPr>
          <p:cNvPr id="5" name="Footer Placeholder 4">
            <a:extLst>
              <a:ext uri="{FF2B5EF4-FFF2-40B4-BE49-F238E27FC236}">
                <a16:creationId xmlns:a16="http://schemas.microsoft.com/office/drawing/2014/main" xmlns="" id="{A5469C26-5F35-4403-BB25-270B7A428F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37C1B4A1-1332-4B3D-9570-914A118EEFE5}"/>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2761785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6D866256-29E0-4FB4-B70D-23F0615B4331}"/>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9E49EE83-F08B-4085-92DD-887191E74932}"/>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C4C09255-745E-47C1-A734-54C4277C6AAF}"/>
              </a:ext>
            </a:extLst>
          </p:cNvPr>
          <p:cNvSpPr>
            <a:spLocks noGrp="1"/>
          </p:cNvSpPr>
          <p:nvPr>
            <p:ph type="dt" sz="half" idx="10"/>
          </p:nvPr>
        </p:nvSpPr>
        <p:spPr/>
        <p:txBody>
          <a:bodyPr/>
          <a:lstStyle/>
          <a:p>
            <a:fld id="{CA63E55B-20EA-41BC-BD1C-971839B344EB}" type="datetimeFigureOut">
              <a:rPr lang="en-US" smtClean="0"/>
              <a:t>5/28/2024</a:t>
            </a:fld>
            <a:endParaRPr lang="en-US"/>
          </a:p>
        </p:txBody>
      </p:sp>
      <p:sp>
        <p:nvSpPr>
          <p:cNvPr id="5" name="Footer Placeholder 4">
            <a:extLst>
              <a:ext uri="{FF2B5EF4-FFF2-40B4-BE49-F238E27FC236}">
                <a16:creationId xmlns:a16="http://schemas.microsoft.com/office/drawing/2014/main" xmlns="" id="{6FEE1911-73E7-44C4-8A47-7A3E73020D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EA76C518-9C28-479C-BDDC-CCEAD9D83CC2}"/>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3317666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B8A40FBA-4B31-4400-8703-448B6BB92946}"/>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xmlns="" id="{A55A2560-6694-4066-9BBE-CDBCA9527119}"/>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xmlns="" id="{BCE10E3E-5C9C-477B-9737-59527A0399B4}"/>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A63E55B-20EA-41BC-BD1C-971839B344EB}" type="datetimeFigureOut">
              <a:rPr lang="en-US" smtClean="0"/>
              <a:t>5/28/2024</a:t>
            </a:fld>
            <a:endParaRPr lang="en-US"/>
          </a:p>
        </p:txBody>
      </p:sp>
      <p:sp>
        <p:nvSpPr>
          <p:cNvPr id="5" name="Footer Placeholder 4">
            <a:extLst>
              <a:ext uri="{FF2B5EF4-FFF2-40B4-BE49-F238E27FC236}">
                <a16:creationId xmlns:a16="http://schemas.microsoft.com/office/drawing/2014/main" xmlns="" id="{3D5B4180-7DA2-4E7A-9EAC-CB2B7A99B58B}"/>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485689F4-61E0-46DF-9DC0-37CC35E22E28}"/>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D6E2103-0152-4525-945D-993C97345546}" type="slidenum">
              <a:rPr lang="en-US" smtClean="0"/>
              <a:t>‹#›</a:t>
            </a:fld>
            <a:endParaRPr lang="en-US"/>
          </a:p>
        </p:txBody>
      </p:sp>
      <p:pic>
        <p:nvPicPr>
          <p:cNvPr id="8" name="Picture 7">
            <a:extLst>
              <a:ext uri="{FF2B5EF4-FFF2-40B4-BE49-F238E27FC236}">
                <a16:creationId xmlns:a16="http://schemas.microsoft.com/office/drawing/2014/main" xmlns="" id="{662FD64A-3AB0-4FC1-8ED4-0FDB131B238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
        <p:nvSpPr>
          <p:cNvPr id="10" name="Rectangle 9">
            <a:extLst>
              <a:ext uri="{FF2B5EF4-FFF2-40B4-BE49-F238E27FC236}">
                <a16:creationId xmlns:a16="http://schemas.microsoft.com/office/drawing/2014/main" xmlns="" id="{877C570F-9E57-4117-ADC2-587B1CB76B7C}"/>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7007844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localhost:44305/api/products"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localhost:44305/api/products/7"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jwt.io/"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hyperlink" Target="https://docs.microsoft.com/en-us/dotnet/api/microsoft.aspnetcore.builder.responsecachingextensions.useresponsecaching" TargetMode="External"/><Relationship Id="rId3" Type="http://schemas.openxmlformats.org/officeDocument/2006/relationships/hyperlink" Target="https://docs.microsoft.com/en-us/aspnet/core/security/cors?view=aspnetcore-5.0#how-cors" TargetMode="External"/><Relationship Id="rId7" Type="http://schemas.openxmlformats.org/officeDocument/2006/relationships/hyperlink" Target="https://docs.microsoft.com/en-us/aspnet/core/fundamentals/middleware/?view=aspnetcore-5.0#middleware-order" TargetMode="External"/><Relationship Id="rId2" Type="http://schemas.openxmlformats.org/officeDocument/2006/relationships/hyperlink" Target="https://www.w3.org/TR/cors/" TargetMode="External"/><Relationship Id="rId1" Type="http://schemas.openxmlformats.org/officeDocument/2006/relationships/slideLayout" Target="../slideLayouts/slideLayout2.xml"/><Relationship Id="rId6" Type="http://schemas.openxmlformats.org/officeDocument/2006/relationships/hyperlink" Target="https://docs.microsoft.com/en-us/dotnet/api/microsoft.aspnetcore.builder.corsmiddlewareextensions.usecors" TargetMode="External"/><Relationship Id="rId5" Type="http://schemas.openxmlformats.org/officeDocument/2006/relationships/hyperlink" Target="https://docs.microsoft.com/en-us/aspnet/core/security/cors?view=aspnetcore-5.0#attr" TargetMode="External"/><Relationship Id="rId4" Type="http://schemas.openxmlformats.org/officeDocument/2006/relationships/hyperlink" Target="https://docs.microsoft.com/en-us/dotnet/framework/wcf/samples/jsonp"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docs.microsoft.com/en-us/dotnet/api/microsoft.aspnetcore.cors.enablecorsattribute"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DDFEADA-E901-4302-A497-05D33C2B29A4}"/>
              </a:ext>
            </a:extLst>
          </p:cNvPr>
          <p:cNvSpPr>
            <a:spLocks noGrp="1"/>
          </p:cNvSpPr>
          <p:nvPr>
            <p:ph idx="1"/>
          </p:nvPr>
        </p:nvSpPr>
        <p:spPr>
          <a:xfrm>
            <a:off x="228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xmlns="" id="{E8DE8A8E-ED85-4B70-916D-ED56E0E40BBC}"/>
              </a:ext>
            </a:extLst>
          </p:cNvPr>
          <p:cNvSpPr txBox="1"/>
          <p:nvPr/>
        </p:nvSpPr>
        <p:spPr>
          <a:xfrm>
            <a:off x="533400" y="4038600"/>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0C8BCD2-5521-4C69-8D18-D075F5289142}"/>
              </a:ext>
            </a:extLst>
          </p:cNvPr>
          <p:cNvSpPr>
            <a:spLocks noGrp="1"/>
          </p:cNvSpPr>
          <p:nvPr>
            <p:ph type="title"/>
          </p:nvPr>
        </p:nvSpPr>
        <p:spPr>
          <a:xfrm>
            <a:off x="1143000" y="0"/>
            <a:ext cx="7219950" cy="625474"/>
          </a:xfrm>
        </p:spPr>
        <p:txBody>
          <a:bodyPr/>
          <a:lstStyle/>
          <a:p>
            <a:r>
              <a:rPr lang="en-US" b="1" i="0" dirty="0">
                <a:solidFill>
                  <a:srgbClr val="3C3950"/>
                </a:solidFill>
                <a:effectLst/>
                <a:latin typeface="Open Sans"/>
              </a:rPr>
              <a:t>What is a REST API?</a:t>
            </a:r>
            <a:endParaRPr lang="en-IN" dirty="0"/>
          </a:p>
        </p:txBody>
      </p:sp>
      <p:sp>
        <p:nvSpPr>
          <p:cNvPr id="3" name="Content Placeholder 2">
            <a:extLst>
              <a:ext uri="{FF2B5EF4-FFF2-40B4-BE49-F238E27FC236}">
                <a16:creationId xmlns:a16="http://schemas.microsoft.com/office/drawing/2014/main" xmlns="" id="{C45669ED-80B7-4F3E-99DE-62448225481B}"/>
              </a:ext>
            </a:extLst>
          </p:cNvPr>
          <p:cNvSpPr>
            <a:spLocks noGrp="1"/>
          </p:cNvSpPr>
          <p:nvPr>
            <p:ph idx="1"/>
          </p:nvPr>
        </p:nvSpPr>
        <p:spPr>
          <a:xfrm>
            <a:off x="228600" y="762000"/>
            <a:ext cx="8610600" cy="5867400"/>
          </a:xfrm>
        </p:spPr>
        <p:txBody>
          <a:bodyPr>
            <a:normAutofit fontScale="70000" lnSpcReduction="20000"/>
          </a:bodyPr>
          <a:lstStyle/>
          <a:p>
            <a:pPr algn="l">
              <a:lnSpc>
                <a:spcPct val="120000"/>
              </a:lnSpc>
              <a:spcBef>
                <a:spcPts val="0"/>
              </a:spcBef>
            </a:pPr>
            <a:r>
              <a:rPr lang="en-US" b="0" i="0" dirty="0">
                <a:solidFill>
                  <a:srgbClr val="3D3D3D"/>
                </a:solidFill>
                <a:effectLst/>
                <a:latin typeface="Open Sans"/>
              </a:rPr>
              <a:t>Due to the increasing number of different varieties of clients (mobile apps, browser-based SPAs, desktop apps, IOT apps, etc.), we need better ways for transferring data from servers to clients, independent of technology and server stacks.</a:t>
            </a:r>
          </a:p>
          <a:p>
            <a:pPr algn="l">
              <a:lnSpc>
                <a:spcPct val="120000"/>
              </a:lnSpc>
              <a:spcBef>
                <a:spcPts val="0"/>
              </a:spcBef>
            </a:pPr>
            <a:endParaRPr lang="en-US" b="0" i="0" dirty="0">
              <a:solidFill>
                <a:srgbClr val="3D3D3D"/>
              </a:solidFill>
              <a:effectLst/>
              <a:latin typeface="Open Sans"/>
            </a:endParaRPr>
          </a:p>
          <a:p>
            <a:pPr algn="l">
              <a:lnSpc>
                <a:spcPct val="120000"/>
              </a:lnSpc>
              <a:spcBef>
                <a:spcPts val="0"/>
              </a:spcBef>
            </a:pPr>
            <a:r>
              <a:rPr lang="en-US" b="0" i="0" dirty="0">
                <a:solidFill>
                  <a:srgbClr val="3D3D3D"/>
                </a:solidFill>
                <a:effectLst/>
                <a:latin typeface="Open Sans"/>
              </a:rPr>
              <a:t>REST APIs solve this problem. REST stands for representational state transfer. REST APIs are HTTP-based and provide applications the ability to communicate using lightweight JSON format. They run on web servers.</a:t>
            </a:r>
          </a:p>
          <a:p>
            <a:pPr algn="l">
              <a:lnSpc>
                <a:spcPct val="120000"/>
              </a:lnSpc>
              <a:spcBef>
                <a:spcPts val="0"/>
              </a:spcBef>
            </a:pPr>
            <a:endParaRPr lang="en-US" b="0" i="0" dirty="0">
              <a:solidFill>
                <a:srgbClr val="3D3D3D"/>
              </a:solidFill>
              <a:effectLst/>
              <a:latin typeface="Open Sans"/>
            </a:endParaRPr>
          </a:p>
          <a:p>
            <a:pPr marL="0" indent="0" algn="l">
              <a:lnSpc>
                <a:spcPct val="120000"/>
              </a:lnSpc>
              <a:spcBef>
                <a:spcPts val="0"/>
              </a:spcBef>
              <a:buNone/>
            </a:pPr>
            <a:r>
              <a:rPr lang="en-US" b="1" i="0" dirty="0">
                <a:solidFill>
                  <a:srgbClr val="3D3D3D"/>
                </a:solidFill>
                <a:effectLst/>
                <a:latin typeface="Open Sans"/>
              </a:rPr>
              <a:t>REST consists of the following entities:</a:t>
            </a:r>
          </a:p>
          <a:p>
            <a:pPr algn="l">
              <a:lnSpc>
                <a:spcPct val="120000"/>
              </a:lnSpc>
              <a:spcBef>
                <a:spcPts val="0"/>
              </a:spcBef>
            </a:pPr>
            <a:r>
              <a:rPr lang="en-US" b="1" i="0" dirty="0">
                <a:solidFill>
                  <a:srgbClr val="3D3D3D"/>
                </a:solidFill>
                <a:effectLst/>
                <a:latin typeface="Open Sans"/>
              </a:rPr>
              <a:t>Resource</a:t>
            </a:r>
            <a:r>
              <a:rPr lang="en-US" b="0" i="0" dirty="0">
                <a:solidFill>
                  <a:srgbClr val="3D3D3D"/>
                </a:solidFill>
                <a:effectLst/>
                <a:latin typeface="Open Sans"/>
              </a:rPr>
              <a:t>: Resources are uniquely identifiable entities (for example: data from a database, images, or any data).</a:t>
            </a:r>
          </a:p>
          <a:p>
            <a:pPr algn="l">
              <a:lnSpc>
                <a:spcPct val="120000"/>
              </a:lnSpc>
              <a:spcBef>
                <a:spcPts val="0"/>
              </a:spcBef>
            </a:pPr>
            <a:r>
              <a:rPr lang="en-US" b="1" i="0" dirty="0">
                <a:solidFill>
                  <a:srgbClr val="3D3D3D"/>
                </a:solidFill>
                <a:effectLst/>
                <a:latin typeface="Open Sans"/>
              </a:rPr>
              <a:t>Endpoint</a:t>
            </a:r>
            <a:r>
              <a:rPr lang="en-US" b="0" i="0" dirty="0">
                <a:solidFill>
                  <a:srgbClr val="3D3D3D"/>
                </a:solidFill>
                <a:effectLst/>
                <a:latin typeface="Open Sans"/>
              </a:rPr>
              <a:t>: A resource can be accessed through a </a:t>
            </a:r>
            <a:r>
              <a:rPr lang="en-US" b="1" i="0" dirty="0">
                <a:solidFill>
                  <a:srgbClr val="3D3D3D"/>
                </a:solidFill>
                <a:effectLst/>
                <a:latin typeface="Open Sans"/>
              </a:rPr>
              <a:t>URL</a:t>
            </a:r>
            <a:r>
              <a:rPr lang="en-US" b="0" i="0" dirty="0">
                <a:solidFill>
                  <a:srgbClr val="3D3D3D"/>
                </a:solidFill>
                <a:effectLst/>
                <a:latin typeface="Open Sans"/>
              </a:rPr>
              <a:t> identifier.</a:t>
            </a:r>
          </a:p>
          <a:p>
            <a:pPr algn="l">
              <a:lnSpc>
                <a:spcPct val="120000"/>
              </a:lnSpc>
              <a:spcBef>
                <a:spcPts val="0"/>
              </a:spcBef>
            </a:pPr>
            <a:r>
              <a:rPr lang="en-US" b="1" i="0" dirty="0">
                <a:solidFill>
                  <a:srgbClr val="3D3D3D"/>
                </a:solidFill>
                <a:effectLst/>
                <a:latin typeface="Open Sans"/>
              </a:rPr>
              <a:t>HTTP method</a:t>
            </a:r>
            <a:r>
              <a:rPr lang="en-US" b="0" i="0" dirty="0">
                <a:solidFill>
                  <a:srgbClr val="3D3D3D"/>
                </a:solidFill>
                <a:effectLst/>
                <a:latin typeface="Open Sans"/>
              </a:rPr>
              <a:t>: HTTP method is the type of request a client sends to a server.  GET POST PUT DELETE</a:t>
            </a:r>
          </a:p>
          <a:p>
            <a:pPr algn="l">
              <a:lnSpc>
                <a:spcPct val="120000"/>
              </a:lnSpc>
              <a:spcBef>
                <a:spcPts val="0"/>
              </a:spcBef>
            </a:pPr>
            <a:r>
              <a:rPr lang="en-US" b="1" i="0" dirty="0">
                <a:solidFill>
                  <a:srgbClr val="3D3D3D"/>
                </a:solidFill>
                <a:effectLst/>
                <a:latin typeface="Open Sans"/>
              </a:rPr>
              <a:t>HTTP header</a:t>
            </a:r>
            <a:r>
              <a:rPr lang="en-US" b="0" i="0" dirty="0">
                <a:solidFill>
                  <a:srgbClr val="3D3D3D"/>
                </a:solidFill>
                <a:effectLst/>
                <a:latin typeface="Open Sans"/>
              </a:rPr>
              <a:t>: An HTTP header is a key-value pair used to share additional information between a client and server, such as:</a:t>
            </a:r>
          </a:p>
          <a:p>
            <a:pPr marL="0" indent="0" algn="l">
              <a:lnSpc>
                <a:spcPct val="120000"/>
              </a:lnSpc>
              <a:spcBef>
                <a:spcPts val="0"/>
              </a:spcBef>
              <a:buNone/>
            </a:pPr>
            <a:endParaRPr lang="en-US" b="0" i="0" dirty="0">
              <a:solidFill>
                <a:srgbClr val="3D3D3D"/>
              </a:solidFill>
              <a:effectLst/>
              <a:latin typeface="Open Sans"/>
            </a:endParaRPr>
          </a:p>
          <a:p>
            <a:pPr marL="0" indent="0" algn="l">
              <a:lnSpc>
                <a:spcPct val="120000"/>
              </a:lnSpc>
              <a:spcBef>
                <a:spcPts val="0"/>
              </a:spcBef>
              <a:buNone/>
            </a:pPr>
            <a:r>
              <a:rPr lang="en-US" b="0" i="0" dirty="0">
                <a:solidFill>
                  <a:srgbClr val="3D3D3D"/>
                </a:solidFill>
                <a:effectLst/>
                <a:latin typeface="Open Sans"/>
              </a:rPr>
              <a:t>Type of data being sent to server (JSON, XML).</a:t>
            </a:r>
          </a:p>
          <a:p>
            <a:pPr marL="0" indent="0" algn="l">
              <a:lnSpc>
                <a:spcPct val="120000"/>
              </a:lnSpc>
              <a:spcBef>
                <a:spcPts val="0"/>
              </a:spcBef>
              <a:buNone/>
            </a:pPr>
            <a:endParaRPr lang="en-US" b="0" i="0" dirty="0">
              <a:solidFill>
                <a:srgbClr val="3D3D3D"/>
              </a:solidFill>
              <a:effectLst/>
              <a:latin typeface="Open Sans"/>
            </a:endParaRPr>
          </a:p>
          <a:p>
            <a:pPr>
              <a:lnSpc>
                <a:spcPct val="120000"/>
              </a:lnSpc>
              <a:spcBef>
                <a:spcPts val="0"/>
              </a:spcBef>
            </a:pPr>
            <a:r>
              <a:rPr lang="en-US" b="0" i="0" dirty="0">
                <a:solidFill>
                  <a:srgbClr val="3D3D3D"/>
                </a:solidFill>
                <a:effectLst/>
                <a:latin typeface="Open Sans"/>
              </a:rPr>
              <a:t>Type of encryption supported by client.</a:t>
            </a:r>
          </a:p>
          <a:p>
            <a:pPr algn="l">
              <a:lnSpc>
                <a:spcPct val="120000"/>
              </a:lnSpc>
              <a:spcBef>
                <a:spcPts val="0"/>
              </a:spcBef>
              <a:buFont typeface="Arial" panose="020B0604020202020204" pitchFamily="34" charset="0"/>
              <a:buChar char="•"/>
            </a:pPr>
            <a:r>
              <a:rPr lang="en-US" b="0" i="0" dirty="0">
                <a:solidFill>
                  <a:srgbClr val="3D3D3D"/>
                </a:solidFill>
                <a:effectLst/>
                <a:latin typeface="Open Sans"/>
              </a:rPr>
              <a:t>Authentication-related token.</a:t>
            </a:r>
          </a:p>
          <a:p>
            <a:pPr algn="l">
              <a:lnSpc>
                <a:spcPct val="120000"/>
              </a:lnSpc>
              <a:spcBef>
                <a:spcPts val="0"/>
              </a:spcBef>
              <a:buFont typeface="Arial" panose="020B0604020202020204" pitchFamily="34" charset="0"/>
              <a:buChar char="•"/>
            </a:pPr>
            <a:r>
              <a:rPr lang="en-US" b="0" i="0" dirty="0">
                <a:solidFill>
                  <a:srgbClr val="3D3D3D"/>
                </a:solidFill>
                <a:effectLst/>
                <a:latin typeface="Open Sans"/>
              </a:rPr>
              <a:t>Customer data based on application need.</a:t>
            </a:r>
          </a:p>
          <a:p>
            <a:pPr marL="0" indent="0" algn="l">
              <a:lnSpc>
                <a:spcPct val="120000"/>
              </a:lnSpc>
              <a:spcBef>
                <a:spcPts val="0"/>
              </a:spcBef>
              <a:buNone/>
            </a:pPr>
            <a:endParaRPr lang="en-US" b="1" i="0" dirty="0">
              <a:solidFill>
                <a:srgbClr val="3D3D3D"/>
              </a:solidFill>
              <a:effectLst/>
              <a:latin typeface="Open Sans"/>
            </a:endParaRPr>
          </a:p>
          <a:p>
            <a:pPr marL="0" indent="0" algn="l">
              <a:lnSpc>
                <a:spcPct val="120000"/>
              </a:lnSpc>
              <a:spcBef>
                <a:spcPts val="0"/>
              </a:spcBef>
              <a:buNone/>
            </a:pPr>
            <a:r>
              <a:rPr lang="en-US" b="1" i="0" dirty="0">
                <a:solidFill>
                  <a:srgbClr val="3D3D3D"/>
                </a:solidFill>
                <a:effectLst/>
                <a:latin typeface="Open Sans"/>
              </a:rPr>
              <a:t>Data format</a:t>
            </a:r>
            <a:r>
              <a:rPr lang="en-US" b="0" i="0" dirty="0">
                <a:solidFill>
                  <a:srgbClr val="3D3D3D"/>
                </a:solidFill>
                <a:effectLst/>
                <a:latin typeface="Open Sans"/>
              </a:rPr>
              <a:t>: JSON is a common format to send and receive data through REST APIs.</a:t>
            </a:r>
          </a:p>
          <a:p>
            <a:pPr>
              <a:lnSpc>
                <a:spcPct val="120000"/>
              </a:lnSpc>
              <a:spcBef>
                <a:spcPts val="0"/>
              </a:spcBef>
            </a:pPr>
            <a:endParaRPr lang="en-IN" dirty="0"/>
          </a:p>
        </p:txBody>
      </p:sp>
    </p:spTree>
    <p:extLst>
      <p:ext uri="{BB962C8B-B14F-4D97-AF65-F5344CB8AC3E}">
        <p14:creationId xmlns:p14="http://schemas.microsoft.com/office/powerpoint/2010/main" val="41021220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6DC6DA70-C6BE-4DBE-9E92-3C176798FED2}"/>
              </a:ext>
            </a:extLst>
          </p:cNvPr>
          <p:cNvSpPr txBox="1"/>
          <p:nvPr/>
        </p:nvSpPr>
        <p:spPr>
          <a:xfrm>
            <a:off x="1066800" y="152400"/>
            <a:ext cx="9067800" cy="2677656"/>
          </a:xfrm>
          <a:prstGeom prst="rect">
            <a:avLst/>
          </a:prstGeom>
          <a:noFill/>
        </p:spPr>
        <p:txBody>
          <a:bodyPr wrap="square">
            <a:spAutoFit/>
          </a:bodyPr>
          <a:lstStyle/>
          <a:p>
            <a:pPr algn="l"/>
            <a:r>
              <a:rPr lang="en-US" sz="1400" b="1" i="0" dirty="0">
                <a:solidFill>
                  <a:srgbClr val="3C3950"/>
                </a:solidFill>
                <a:effectLst/>
                <a:latin typeface="Open Sans"/>
              </a:rPr>
              <a:t>Create an ASP.NET Core REST API application</a:t>
            </a:r>
          </a:p>
          <a:p>
            <a:pPr algn="l"/>
            <a:r>
              <a:rPr lang="en-US" sz="1400" b="0" i="0" dirty="0">
                <a:solidFill>
                  <a:srgbClr val="3D3D3D"/>
                </a:solidFill>
                <a:effectLst/>
                <a:latin typeface="Open Sans"/>
              </a:rPr>
              <a:t>Follow these steps to create an ASP.NET Core application in Visual Studio 2022:</a:t>
            </a:r>
          </a:p>
          <a:p>
            <a:pPr algn="l"/>
            <a:endParaRPr lang="en-US" sz="1400" b="0" i="0" dirty="0">
              <a:solidFill>
                <a:srgbClr val="3D3D3D"/>
              </a:solidFill>
              <a:effectLst/>
              <a:latin typeface="Open Sans"/>
            </a:endParaRPr>
          </a:p>
          <a:p>
            <a:pPr algn="l"/>
            <a:r>
              <a:rPr lang="en-US" sz="1400" b="1" i="0" dirty="0">
                <a:solidFill>
                  <a:srgbClr val="3D3D3D"/>
                </a:solidFill>
                <a:effectLst/>
                <a:latin typeface="Open Sans"/>
              </a:rPr>
              <a:t>Step 1:</a:t>
            </a:r>
            <a:r>
              <a:rPr lang="en-US" sz="1400" b="0" i="0" dirty="0">
                <a:solidFill>
                  <a:srgbClr val="3D3D3D"/>
                </a:solidFill>
                <a:effectLst/>
                <a:latin typeface="Open Sans"/>
              </a:rPr>
              <a:t> Go to </a:t>
            </a:r>
            <a:r>
              <a:rPr lang="en-US" sz="1400" b="1" i="0" dirty="0">
                <a:solidFill>
                  <a:srgbClr val="3D3D3D"/>
                </a:solidFill>
                <a:effectLst/>
                <a:latin typeface="Open Sans"/>
              </a:rPr>
              <a:t>File</a:t>
            </a:r>
            <a:r>
              <a:rPr lang="en-US" sz="1400" b="0" i="0" dirty="0">
                <a:solidFill>
                  <a:srgbClr val="3D3D3D"/>
                </a:solidFill>
                <a:effectLst/>
                <a:latin typeface="Open Sans"/>
              </a:rPr>
              <a:t> &gt; </a:t>
            </a:r>
            <a:r>
              <a:rPr lang="en-US" sz="1400" b="1" i="0" dirty="0">
                <a:solidFill>
                  <a:srgbClr val="3D3D3D"/>
                </a:solidFill>
                <a:effectLst/>
                <a:latin typeface="Open Sans"/>
              </a:rPr>
              <a:t>New</a:t>
            </a:r>
            <a:r>
              <a:rPr lang="en-US" sz="1400" b="0" i="0" dirty="0">
                <a:solidFill>
                  <a:srgbClr val="3D3D3D"/>
                </a:solidFill>
                <a:effectLst/>
                <a:latin typeface="Open Sans"/>
              </a:rPr>
              <a:t>, and then select </a:t>
            </a:r>
            <a:r>
              <a:rPr lang="en-US" sz="1400" b="1" i="0" dirty="0">
                <a:solidFill>
                  <a:srgbClr val="3D3D3D"/>
                </a:solidFill>
                <a:effectLst/>
                <a:latin typeface="Open Sans"/>
              </a:rPr>
              <a:t>Project.</a:t>
            </a:r>
          </a:p>
          <a:p>
            <a:pPr algn="l"/>
            <a:endParaRPr lang="en-US" sz="1400" b="0" i="0" dirty="0">
              <a:solidFill>
                <a:srgbClr val="3D3D3D"/>
              </a:solidFill>
              <a:effectLst/>
              <a:latin typeface="Open Sans"/>
            </a:endParaRPr>
          </a:p>
          <a:p>
            <a:pPr algn="l"/>
            <a:r>
              <a:rPr lang="en-US" sz="1400" b="1" i="0" dirty="0">
                <a:solidFill>
                  <a:srgbClr val="3D3D3D"/>
                </a:solidFill>
                <a:effectLst/>
                <a:latin typeface="Open Sans"/>
              </a:rPr>
              <a:t>Step 2:</a:t>
            </a:r>
            <a:r>
              <a:rPr lang="en-US" sz="1400" b="0" i="0" dirty="0">
                <a:solidFill>
                  <a:srgbClr val="3D3D3D"/>
                </a:solidFill>
                <a:effectLst/>
                <a:latin typeface="Open Sans"/>
              </a:rPr>
              <a:t> Choose </a:t>
            </a:r>
            <a:r>
              <a:rPr lang="en-US" sz="1400" b="1" i="0" dirty="0">
                <a:solidFill>
                  <a:srgbClr val="3D3D3D"/>
                </a:solidFill>
                <a:effectLst/>
                <a:latin typeface="Open Sans"/>
              </a:rPr>
              <a:t>Create a new project</a:t>
            </a:r>
            <a:r>
              <a:rPr lang="en-US" sz="1400" b="0" i="0" dirty="0">
                <a:solidFill>
                  <a:srgbClr val="3D3D3D"/>
                </a:solidFill>
                <a:effectLst/>
                <a:latin typeface="Open Sans"/>
              </a:rPr>
              <a:t>.</a:t>
            </a:r>
          </a:p>
          <a:p>
            <a:pPr algn="l"/>
            <a:endParaRPr lang="en-US" sz="1400" b="0" i="0" dirty="0">
              <a:solidFill>
                <a:srgbClr val="3D3D3D"/>
              </a:solidFill>
              <a:effectLst/>
              <a:latin typeface="Open Sans"/>
            </a:endParaRPr>
          </a:p>
          <a:p>
            <a:pPr algn="l"/>
            <a:r>
              <a:rPr lang="en-US" sz="1400" b="1" i="0" dirty="0">
                <a:solidFill>
                  <a:srgbClr val="3D3D3D"/>
                </a:solidFill>
                <a:effectLst/>
                <a:latin typeface="Open Sans"/>
              </a:rPr>
              <a:t>Step 3: </a:t>
            </a:r>
            <a:r>
              <a:rPr lang="en-US" sz="1400" b="0" i="0" dirty="0">
                <a:solidFill>
                  <a:srgbClr val="3D3D3D"/>
                </a:solidFill>
                <a:effectLst/>
                <a:latin typeface="Open Sans"/>
              </a:rPr>
              <a:t>Select </a:t>
            </a:r>
            <a:r>
              <a:rPr lang="en-US" sz="1400" b="1" i="0" dirty="0">
                <a:solidFill>
                  <a:srgbClr val="3D3D3D"/>
                </a:solidFill>
                <a:effectLst/>
                <a:latin typeface="Open Sans"/>
              </a:rPr>
              <a:t>ASP.NET Core Web Application</a:t>
            </a:r>
            <a:r>
              <a:rPr lang="en-US" sz="1400" b="0" i="0" dirty="0">
                <a:solidFill>
                  <a:srgbClr val="3D3D3D"/>
                </a:solidFill>
                <a:effectLst/>
                <a:latin typeface="Open Sans"/>
              </a:rPr>
              <a:t> template.</a:t>
            </a:r>
          </a:p>
          <a:p>
            <a:pPr algn="l"/>
            <a:endParaRPr lang="en-US" sz="1400" b="0" i="0" dirty="0">
              <a:solidFill>
                <a:srgbClr val="3D3D3D"/>
              </a:solidFill>
              <a:effectLst/>
              <a:latin typeface="Open Sans"/>
            </a:endParaRPr>
          </a:p>
          <a:p>
            <a:pPr algn="l"/>
            <a:r>
              <a:rPr lang="en-US" sz="1400" b="1" i="0" dirty="0">
                <a:solidFill>
                  <a:srgbClr val="3D3D3D"/>
                </a:solidFill>
                <a:effectLst/>
                <a:latin typeface="Open Sans"/>
              </a:rPr>
              <a:t>Step 4:</a:t>
            </a:r>
            <a:r>
              <a:rPr lang="en-US" sz="1400" b="0" i="0" dirty="0">
                <a:solidFill>
                  <a:srgbClr val="3D3D3D"/>
                </a:solidFill>
                <a:effectLst/>
                <a:latin typeface="Open Sans"/>
              </a:rPr>
              <a:t>  Enter the </a:t>
            </a:r>
            <a:r>
              <a:rPr lang="en-US" sz="1400" b="1" i="0" dirty="0">
                <a:solidFill>
                  <a:srgbClr val="3D3D3D"/>
                </a:solidFill>
                <a:effectLst/>
                <a:latin typeface="Open Sans"/>
              </a:rPr>
              <a:t>Project name</a:t>
            </a:r>
            <a:r>
              <a:rPr lang="en-US" sz="1400" b="0" i="0" dirty="0">
                <a:solidFill>
                  <a:srgbClr val="3D3D3D"/>
                </a:solidFill>
                <a:effectLst/>
                <a:latin typeface="Open Sans"/>
              </a:rPr>
              <a:t>, and then click </a:t>
            </a:r>
            <a:r>
              <a:rPr lang="en-US" sz="1400" b="1" i="0" dirty="0">
                <a:solidFill>
                  <a:srgbClr val="3D3D3D"/>
                </a:solidFill>
                <a:effectLst/>
                <a:latin typeface="Open Sans"/>
              </a:rPr>
              <a:t>Create</a:t>
            </a:r>
            <a:r>
              <a:rPr lang="en-US" sz="1400" b="0" i="0" dirty="0">
                <a:solidFill>
                  <a:srgbClr val="3D3D3D"/>
                </a:solidFill>
                <a:effectLst/>
                <a:latin typeface="Open Sans"/>
              </a:rPr>
              <a:t>. The Project template dialog will be displayed.</a:t>
            </a:r>
          </a:p>
          <a:p>
            <a:pPr algn="l"/>
            <a:endParaRPr lang="en-US" sz="1400" b="0" i="0" dirty="0">
              <a:solidFill>
                <a:srgbClr val="3D3D3D"/>
              </a:solidFill>
              <a:effectLst/>
              <a:latin typeface="Open Sans"/>
            </a:endParaRPr>
          </a:p>
          <a:p>
            <a:pPr algn="l"/>
            <a:r>
              <a:rPr lang="en-US" sz="1400" b="1" i="0" dirty="0">
                <a:solidFill>
                  <a:srgbClr val="3D3D3D"/>
                </a:solidFill>
                <a:effectLst/>
                <a:latin typeface="Open Sans"/>
              </a:rPr>
              <a:t>Step 5:</a:t>
            </a:r>
            <a:r>
              <a:rPr lang="en-US" sz="1400" b="0" i="0" dirty="0">
                <a:solidFill>
                  <a:srgbClr val="3D3D3D"/>
                </a:solidFill>
                <a:effectLst/>
                <a:latin typeface="Open Sans"/>
              </a:rPr>
              <a:t> Select </a:t>
            </a:r>
            <a:r>
              <a:rPr lang="en-US" sz="1400" b="1" i="0" dirty="0">
                <a:solidFill>
                  <a:srgbClr val="3D3D3D"/>
                </a:solidFill>
                <a:effectLst/>
                <a:latin typeface="Open Sans"/>
              </a:rPr>
              <a:t>.NET Core,</a:t>
            </a:r>
            <a:r>
              <a:rPr lang="en-US" sz="1400" b="0" i="0" dirty="0">
                <a:solidFill>
                  <a:srgbClr val="3D3D3D"/>
                </a:solidFill>
                <a:effectLst/>
                <a:latin typeface="Open Sans"/>
              </a:rPr>
              <a:t> </a:t>
            </a:r>
            <a:r>
              <a:rPr lang="en-US" sz="1400" b="1" i="0" dirty="0">
                <a:solidFill>
                  <a:srgbClr val="3D3D3D"/>
                </a:solidFill>
                <a:effectLst/>
                <a:latin typeface="Open Sans"/>
              </a:rPr>
              <a:t>ASP.NET 7.0</a:t>
            </a:r>
            <a:r>
              <a:rPr lang="en-US" sz="1400" b="0" i="0" dirty="0">
                <a:solidFill>
                  <a:srgbClr val="3D3D3D"/>
                </a:solidFill>
                <a:effectLst/>
                <a:latin typeface="Open Sans"/>
              </a:rPr>
              <a:t>and </a:t>
            </a:r>
            <a:r>
              <a:rPr lang="en-US" sz="1400" b="1" i="0" dirty="0">
                <a:solidFill>
                  <a:srgbClr val="3D3D3D"/>
                </a:solidFill>
                <a:effectLst/>
                <a:latin typeface="Open Sans"/>
              </a:rPr>
              <a:t>API</a:t>
            </a:r>
            <a:r>
              <a:rPr lang="en-US" sz="1400" b="0" i="0" dirty="0">
                <a:solidFill>
                  <a:srgbClr val="3D3D3D"/>
                </a:solidFill>
                <a:effectLst/>
                <a:latin typeface="Open Sans"/>
              </a:rPr>
              <a:t> template (highlighted in the following).</a:t>
            </a:r>
          </a:p>
        </p:txBody>
      </p:sp>
      <p:pic>
        <p:nvPicPr>
          <p:cNvPr id="3" name="Picture 2">
            <a:extLst>
              <a:ext uri="{FF2B5EF4-FFF2-40B4-BE49-F238E27FC236}">
                <a16:creationId xmlns:a16="http://schemas.microsoft.com/office/drawing/2014/main" xmlns="" id="{1406A801-47B5-5C49-EDEF-D028F0565335}"/>
              </a:ext>
            </a:extLst>
          </p:cNvPr>
          <p:cNvPicPr>
            <a:picLocks noChangeAspect="1"/>
          </p:cNvPicPr>
          <p:nvPr/>
        </p:nvPicPr>
        <p:blipFill rotWithShape="1">
          <a:blip r:embed="rId2"/>
          <a:srcRect l="16667" t="4074" r="17500" b="26296"/>
          <a:stretch/>
        </p:blipFill>
        <p:spPr>
          <a:xfrm>
            <a:off x="838200" y="2895600"/>
            <a:ext cx="6019800" cy="3581400"/>
          </a:xfrm>
          <a:prstGeom prst="rect">
            <a:avLst/>
          </a:prstGeom>
        </p:spPr>
      </p:pic>
    </p:spTree>
    <p:extLst>
      <p:ext uri="{BB962C8B-B14F-4D97-AF65-F5344CB8AC3E}">
        <p14:creationId xmlns:p14="http://schemas.microsoft.com/office/powerpoint/2010/main" val="1099079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DF0DED3F-FDE4-4434-8ABB-ED3DAB50B3D1}"/>
              </a:ext>
            </a:extLst>
          </p:cNvPr>
          <p:cNvSpPr txBox="1"/>
          <p:nvPr/>
        </p:nvSpPr>
        <p:spPr>
          <a:xfrm>
            <a:off x="1219200" y="76200"/>
            <a:ext cx="7772400" cy="646331"/>
          </a:xfrm>
          <a:prstGeom prst="rect">
            <a:avLst/>
          </a:prstGeom>
          <a:noFill/>
        </p:spPr>
        <p:txBody>
          <a:bodyPr wrap="square">
            <a:spAutoFit/>
          </a:bodyPr>
          <a:lstStyle/>
          <a:p>
            <a:r>
              <a:rPr lang="en-US" b="1" i="0" dirty="0">
                <a:solidFill>
                  <a:srgbClr val="3D3D3D"/>
                </a:solidFill>
                <a:effectLst/>
                <a:latin typeface="Open Sans"/>
              </a:rPr>
              <a:t>Step 6: </a:t>
            </a:r>
            <a:r>
              <a:rPr lang="en-US" b="0" i="0" dirty="0">
                <a:solidFill>
                  <a:srgbClr val="3D3D3D"/>
                </a:solidFill>
                <a:effectLst/>
                <a:latin typeface="Open Sans"/>
              </a:rPr>
              <a:t>Click </a:t>
            </a:r>
            <a:r>
              <a:rPr lang="en-US" b="1" i="0" dirty="0">
                <a:solidFill>
                  <a:srgbClr val="3D3D3D"/>
                </a:solidFill>
                <a:effectLst/>
                <a:latin typeface="Open Sans"/>
              </a:rPr>
              <a:t>Create</a:t>
            </a:r>
            <a:r>
              <a:rPr lang="en-US" b="0" i="0" dirty="0">
                <a:solidFill>
                  <a:srgbClr val="3D3D3D"/>
                </a:solidFill>
                <a:effectLst/>
                <a:latin typeface="Open Sans"/>
              </a:rPr>
              <a:t>. The sample ASP.NET Core API application will be created. Find the project structure in the following screenshot.</a:t>
            </a:r>
            <a:endParaRPr lang="en-IN" dirty="0"/>
          </a:p>
        </p:txBody>
      </p:sp>
      <p:pic>
        <p:nvPicPr>
          <p:cNvPr id="8" name="Picture 7">
            <a:extLst>
              <a:ext uri="{FF2B5EF4-FFF2-40B4-BE49-F238E27FC236}">
                <a16:creationId xmlns:a16="http://schemas.microsoft.com/office/drawing/2014/main" xmlns="" id="{1387A54C-CCBC-40E4-9E49-7792663D6F92}"/>
              </a:ext>
            </a:extLst>
          </p:cNvPr>
          <p:cNvPicPr>
            <a:picLocks noChangeAspect="1"/>
          </p:cNvPicPr>
          <p:nvPr/>
        </p:nvPicPr>
        <p:blipFill>
          <a:blip r:embed="rId2"/>
          <a:stretch>
            <a:fillRect/>
          </a:stretch>
        </p:blipFill>
        <p:spPr>
          <a:xfrm>
            <a:off x="6267450" y="609600"/>
            <a:ext cx="2876550" cy="2076450"/>
          </a:xfrm>
          <a:prstGeom prst="rect">
            <a:avLst/>
          </a:prstGeom>
        </p:spPr>
      </p:pic>
      <p:sp>
        <p:nvSpPr>
          <p:cNvPr id="12" name="TextBox 11">
            <a:extLst>
              <a:ext uri="{FF2B5EF4-FFF2-40B4-BE49-F238E27FC236}">
                <a16:creationId xmlns:a16="http://schemas.microsoft.com/office/drawing/2014/main" xmlns="" id="{F45D6C2F-1C51-41EA-8783-17BD73670488}"/>
              </a:ext>
            </a:extLst>
          </p:cNvPr>
          <p:cNvSpPr txBox="1"/>
          <p:nvPr/>
        </p:nvSpPr>
        <p:spPr>
          <a:xfrm>
            <a:off x="323850" y="612058"/>
            <a:ext cx="5791200" cy="2062103"/>
          </a:xfrm>
          <a:prstGeom prst="rect">
            <a:avLst/>
          </a:prstGeom>
          <a:noFill/>
        </p:spPr>
        <p:txBody>
          <a:bodyPr wrap="square">
            <a:spAutoFit/>
          </a:bodyPr>
          <a:lstStyle/>
          <a:p>
            <a:pPr algn="l"/>
            <a:r>
              <a:rPr lang="en-IN" sz="1600" b="0" i="0" dirty="0">
                <a:solidFill>
                  <a:srgbClr val="3D3D3D"/>
                </a:solidFill>
                <a:effectLst/>
                <a:latin typeface="Open Sans"/>
              </a:rPr>
              <a:t>By default, a sample </a:t>
            </a:r>
            <a:r>
              <a:rPr lang="en-IN" sz="1600" b="1" i="0" dirty="0" err="1">
                <a:solidFill>
                  <a:srgbClr val="3D3D3D"/>
                </a:solidFill>
                <a:effectLst/>
                <a:latin typeface="Open Sans"/>
              </a:rPr>
              <a:t>WeatherForecast</a:t>
            </a:r>
            <a:r>
              <a:rPr lang="en-IN" sz="1600" b="0" i="0" dirty="0">
                <a:solidFill>
                  <a:srgbClr val="3D3D3D"/>
                </a:solidFill>
                <a:effectLst/>
                <a:latin typeface="Open Sans"/>
              </a:rPr>
              <a:t> API is created. We can remove this.</a:t>
            </a:r>
          </a:p>
          <a:p>
            <a:pPr algn="l"/>
            <a:r>
              <a:rPr lang="en-IN" sz="1600" b="1" i="0" dirty="0">
                <a:solidFill>
                  <a:srgbClr val="3C3950"/>
                </a:solidFill>
                <a:effectLst/>
                <a:latin typeface="Open Sans"/>
              </a:rPr>
              <a:t>Install necessary NuGet packages</a:t>
            </a:r>
          </a:p>
          <a:p>
            <a:pPr algn="l"/>
            <a:r>
              <a:rPr lang="en-IN" sz="1600" b="0" i="0" dirty="0">
                <a:solidFill>
                  <a:srgbClr val="3D3D3D"/>
                </a:solidFill>
                <a:effectLst/>
                <a:latin typeface="Open Sans"/>
              </a:rPr>
              <a:t>Add the following NuGet packages to work with SQL Server database and scaffolding, and run the following commands in </a:t>
            </a:r>
            <a:r>
              <a:rPr lang="en-IN" sz="1600" b="1" i="0" dirty="0">
                <a:solidFill>
                  <a:srgbClr val="3D3D3D"/>
                </a:solidFill>
                <a:effectLst/>
                <a:latin typeface="Open Sans"/>
              </a:rPr>
              <a:t>Package Manager Console </a:t>
            </a:r>
            <a:r>
              <a:rPr lang="en-IN" sz="1600" b="0" i="0" dirty="0">
                <a:solidFill>
                  <a:srgbClr val="3D3D3D"/>
                </a:solidFill>
                <a:effectLst/>
                <a:latin typeface="Open Sans"/>
              </a:rPr>
              <a:t>(Click </a:t>
            </a:r>
            <a:r>
              <a:rPr lang="en-IN" sz="1600" b="1" i="0" dirty="0">
                <a:solidFill>
                  <a:srgbClr val="3D3D3D"/>
                </a:solidFill>
                <a:effectLst/>
                <a:latin typeface="Open Sans"/>
              </a:rPr>
              <a:t>Tools -&gt; NuGet Package Manager -&gt;  Package Manager Console</a:t>
            </a:r>
            <a:r>
              <a:rPr lang="en-IN" sz="1600" b="0" i="0" dirty="0">
                <a:solidFill>
                  <a:srgbClr val="3D3D3D"/>
                </a:solidFill>
                <a:effectLst/>
                <a:latin typeface="Open Sans"/>
              </a:rPr>
              <a:t>).</a:t>
            </a:r>
          </a:p>
          <a:p>
            <a:pPr algn="l"/>
            <a:r>
              <a:rPr lang="en-IN" sz="1600" b="0" i="0" dirty="0">
                <a:solidFill>
                  <a:srgbClr val="3D3D3D"/>
                </a:solidFill>
                <a:effectLst/>
                <a:latin typeface="Open Sans"/>
              </a:rPr>
              <a:t>This package helps generate controllers and views.</a:t>
            </a:r>
          </a:p>
        </p:txBody>
      </p:sp>
      <p:sp>
        <p:nvSpPr>
          <p:cNvPr id="14" name="TextBox 13">
            <a:extLst>
              <a:ext uri="{FF2B5EF4-FFF2-40B4-BE49-F238E27FC236}">
                <a16:creationId xmlns:a16="http://schemas.microsoft.com/office/drawing/2014/main" xmlns="" id="{A511C312-BAA4-4258-8D63-F3A775ECC65E}"/>
              </a:ext>
            </a:extLst>
          </p:cNvPr>
          <p:cNvSpPr txBox="1"/>
          <p:nvPr/>
        </p:nvSpPr>
        <p:spPr>
          <a:xfrm>
            <a:off x="228600" y="2895600"/>
            <a:ext cx="8686800" cy="35394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solidFill>
                  <a:srgbClr val="3D3D3D"/>
                </a:solidFill>
                <a:effectLst/>
                <a:uLnTx/>
                <a:uFillTx/>
                <a:latin typeface="Open Sans"/>
                <a:ea typeface="+mn-ea"/>
                <a:cs typeface="+mn-cs"/>
              </a:rPr>
              <a:t>Install-Package </a:t>
            </a:r>
            <a:r>
              <a:rPr kumimoji="0" lang="en-IN" sz="1600" b="1" i="0" u="none" strike="noStrike" kern="1200" cap="none" spc="0" normalizeH="0" baseline="0" noProof="0" dirty="0" err="1">
                <a:ln>
                  <a:noFill/>
                </a:ln>
                <a:solidFill>
                  <a:srgbClr val="3D3D3D"/>
                </a:solidFill>
                <a:effectLst/>
                <a:uLnTx/>
                <a:uFillTx/>
                <a:latin typeface="Open Sans"/>
                <a:ea typeface="+mn-ea"/>
                <a:cs typeface="+mn-cs"/>
              </a:rPr>
              <a:t>Microsoft.VisualStudio.Web.CodeGeneration.Design</a:t>
            </a:r>
            <a:r>
              <a:rPr kumimoji="0" lang="en-IN" sz="1600" b="1" i="0" u="none" strike="noStrike" kern="1200" cap="none" spc="0" normalizeH="0" baseline="0" noProof="0" dirty="0">
                <a:ln>
                  <a:noFill/>
                </a:ln>
                <a:solidFill>
                  <a:srgbClr val="3D3D3D"/>
                </a:solidFill>
                <a:effectLst/>
                <a:uLnTx/>
                <a:uFillTx/>
                <a:latin typeface="Open Sans"/>
                <a:ea typeface="+mn-ea"/>
                <a:cs typeface="+mn-cs"/>
              </a:rPr>
              <a:t> -Version 7.0.0</a:t>
            </a: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3D3D3D"/>
                </a:solidFill>
                <a:effectLst/>
                <a:uLnTx/>
                <a:uFillTx/>
                <a:latin typeface="Open Sans"/>
                <a:ea typeface="+mn-ea"/>
                <a:cs typeface="+mn-cs"/>
              </a:rPr>
              <a:t>This package helps create database context and model classes from the database.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600" b="1"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solidFill>
                  <a:srgbClr val="3D3D3D"/>
                </a:solidFill>
                <a:effectLst/>
                <a:uLnTx/>
                <a:uFillTx/>
                <a:latin typeface="Open Sans"/>
                <a:ea typeface="+mn-ea"/>
                <a:cs typeface="+mn-cs"/>
              </a:rPr>
              <a:t>Install-Package </a:t>
            </a:r>
            <a:r>
              <a:rPr kumimoji="0" lang="en-IN" sz="1600" b="1" i="0" u="none" strike="noStrike" kern="1200" cap="none" spc="0" normalizeH="0" baseline="0" noProof="0" dirty="0" err="1">
                <a:ln>
                  <a:noFill/>
                </a:ln>
                <a:solidFill>
                  <a:srgbClr val="3D3D3D"/>
                </a:solidFill>
                <a:effectLst/>
                <a:uLnTx/>
                <a:uFillTx/>
                <a:latin typeface="Open Sans"/>
                <a:ea typeface="+mn-ea"/>
                <a:cs typeface="+mn-cs"/>
              </a:rPr>
              <a:t>Microsoft.EntityFrameworkCore.Tools</a:t>
            </a:r>
            <a:r>
              <a:rPr kumimoji="0" lang="en-IN" sz="1600" b="1" i="0" u="none" strike="noStrike" kern="1200" cap="none" spc="0" normalizeH="0" baseline="0" noProof="0" dirty="0">
                <a:ln>
                  <a:noFill/>
                </a:ln>
                <a:solidFill>
                  <a:srgbClr val="3D3D3D"/>
                </a:solidFill>
                <a:effectLst/>
                <a:uLnTx/>
                <a:uFillTx/>
                <a:latin typeface="Open Sans"/>
                <a:ea typeface="+mn-ea"/>
                <a:cs typeface="+mn-cs"/>
              </a:rPr>
              <a:t> -Version 7.0.0</a:t>
            </a: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3D3D3D"/>
                </a:solidFill>
                <a:effectLst/>
                <a:uLnTx/>
                <a:uFillTx/>
                <a:latin typeface="Open Sans"/>
                <a:ea typeface="+mn-ea"/>
                <a:cs typeface="+mn-cs"/>
              </a:rPr>
              <a:t>Database provider allows Entity Framework Core to work with SQL Server.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solidFill>
                  <a:srgbClr val="3D3D3D"/>
                </a:solidFill>
                <a:effectLst/>
                <a:uLnTx/>
                <a:uFillTx/>
                <a:latin typeface="Open Sans"/>
                <a:ea typeface="+mn-ea"/>
                <a:cs typeface="+mn-cs"/>
              </a:rPr>
              <a:t>Install-Package Microsoft.EntityFrameworkCore.SqlServer -Version 7.0.0</a:t>
            </a: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3D3D3D"/>
                </a:solidFill>
                <a:effectLst/>
                <a:uLnTx/>
                <a:uFillTx/>
                <a:latin typeface="Open Sans"/>
                <a:ea typeface="+mn-ea"/>
                <a:cs typeface="+mn-cs"/>
              </a:rPr>
              <a:t>It provides support for creating and validating a JWT token.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solidFill>
                  <a:srgbClr val="3D3D3D"/>
                </a:solidFill>
                <a:effectLst/>
                <a:uLnTx/>
                <a:uFillTx/>
                <a:latin typeface="Open Sans"/>
                <a:ea typeface="+mn-ea"/>
                <a:cs typeface="+mn-cs"/>
              </a:rPr>
              <a:t>Install-Package </a:t>
            </a:r>
            <a:r>
              <a:rPr kumimoji="0" lang="en-IN" sz="1600" b="1" i="0" u="none" strike="noStrike" kern="1200" cap="none" spc="0" normalizeH="0" baseline="0" noProof="0" dirty="0" err="1">
                <a:ln>
                  <a:noFill/>
                </a:ln>
                <a:solidFill>
                  <a:srgbClr val="3D3D3D"/>
                </a:solidFill>
                <a:effectLst/>
                <a:uLnTx/>
                <a:uFillTx/>
                <a:latin typeface="Open Sans"/>
                <a:ea typeface="+mn-ea"/>
                <a:cs typeface="+mn-cs"/>
              </a:rPr>
              <a:t>System.IdentityModel.Tokens.Jwt</a:t>
            </a:r>
            <a:r>
              <a:rPr kumimoji="0" lang="en-IN" sz="1600" b="0" i="0" u="none" strike="noStrike" kern="1200" cap="none" spc="0" normalizeH="0" baseline="0" noProof="0" dirty="0">
                <a:ln>
                  <a:noFill/>
                </a:ln>
                <a:solidFill>
                  <a:srgbClr val="3D3D3D"/>
                </a:solidFill>
                <a:effectLst/>
                <a:uLnTx/>
                <a:uFillTx/>
                <a:latin typeface="Open Sans"/>
                <a:ea typeface="+mn-ea"/>
                <a:cs typeface="+mn-cs"/>
              </a:rPr>
              <a:t> </a:t>
            </a:r>
            <a:r>
              <a:rPr kumimoji="0" lang="en-IN" sz="1600" b="1" i="0" u="none" strike="noStrike" kern="1200" cap="none" spc="0" normalizeH="0" baseline="0" noProof="0" dirty="0">
                <a:ln>
                  <a:noFill/>
                </a:ln>
                <a:solidFill>
                  <a:srgbClr val="3D3D3D"/>
                </a:solidFill>
                <a:effectLst/>
                <a:uLnTx/>
                <a:uFillTx/>
                <a:latin typeface="Open Sans"/>
                <a:ea typeface="+mn-ea"/>
                <a:cs typeface="+mn-cs"/>
              </a:rPr>
              <a:t>-Version 7.0.0</a:t>
            </a: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3D3D3D"/>
                </a:solidFill>
                <a:effectLst/>
                <a:uLnTx/>
                <a:uFillTx/>
                <a:latin typeface="Open Sans"/>
                <a:ea typeface="+mn-ea"/>
                <a:cs typeface="+mn-cs"/>
              </a:rPr>
              <a:t>This is the middleware that enables an ASP.NET Core application to receive a bearer token in the request pipeline.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solidFill>
                  <a:srgbClr val="3D3D3D"/>
                </a:solidFill>
                <a:effectLst/>
                <a:uLnTx/>
                <a:uFillTx/>
                <a:latin typeface="Open Sans"/>
                <a:ea typeface="+mn-ea"/>
                <a:cs typeface="+mn-cs"/>
              </a:rPr>
              <a:t>Install-Package </a:t>
            </a:r>
            <a:r>
              <a:rPr kumimoji="0" lang="en-IN" sz="1600" b="1" i="0" u="none" strike="noStrike" kern="1200" cap="none" spc="0" normalizeH="0" baseline="0" noProof="0" dirty="0" err="1">
                <a:ln>
                  <a:noFill/>
                </a:ln>
                <a:solidFill>
                  <a:srgbClr val="3D3D3D"/>
                </a:solidFill>
                <a:effectLst/>
                <a:uLnTx/>
                <a:uFillTx/>
                <a:latin typeface="Open Sans"/>
                <a:ea typeface="+mn-ea"/>
                <a:cs typeface="+mn-cs"/>
              </a:rPr>
              <a:t>Microsoft.AspNetCore.Authentication.JwtBearer</a:t>
            </a:r>
            <a:r>
              <a:rPr kumimoji="0" lang="en-IN" sz="1600" b="1" i="0" u="none" strike="noStrike" kern="1200" cap="none" spc="0" normalizeH="0" baseline="0" noProof="0" dirty="0">
                <a:ln>
                  <a:noFill/>
                </a:ln>
                <a:solidFill>
                  <a:srgbClr val="3D3D3D"/>
                </a:solidFill>
                <a:effectLst/>
                <a:uLnTx/>
                <a:uFillTx/>
                <a:latin typeface="Open Sans"/>
                <a:ea typeface="+mn-ea"/>
                <a:cs typeface="+mn-cs"/>
              </a:rPr>
              <a:t> -Version 7.0.0</a:t>
            </a: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p:txBody>
      </p:sp>
    </p:spTree>
    <p:extLst>
      <p:ext uri="{BB962C8B-B14F-4D97-AF65-F5344CB8AC3E}">
        <p14:creationId xmlns:p14="http://schemas.microsoft.com/office/powerpoint/2010/main" val="34288378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3322161-0C97-4442-8E62-6AE2D81DDF68}"/>
              </a:ext>
            </a:extLst>
          </p:cNvPr>
          <p:cNvSpPr>
            <a:spLocks noGrp="1"/>
          </p:cNvSpPr>
          <p:nvPr>
            <p:ph idx="1"/>
          </p:nvPr>
        </p:nvSpPr>
        <p:spPr>
          <a:xfrm>
            <a:off x="1143000" y="0"/>
            <a:ext cx="6400800" cy="381000"/>
          </a:xfrm>
        </p:spPr>
        <p:txBody>
          <a:bodyPr/>
          <a:lstStyle/>
          <a:p>
            <a:pPr marL="0" indent="0" algn="l">
              <a:buNone/>
            </a:pPr>
            <a:r>
              <a:rPr lang="en-US" b="1" i="0" dirty="0">
                <a:solidFill>
                  <a:srgbClr val="3C3950"/>
                </a:solidFill>
                <a:effectLst/>
                <a:latin typeface="Open Sans"/>
              </a:rPr>
              <a:t>Create database and connect it to application</a:t>
            </a:r>
          </a:p>
          <a:p>
            <a:endParaRPr lang="en-IN" dirty="0"/>
          </a:p>
        </p:txBody>
      </p:sp>
      <p:sp>
        <p:nvSpPr>
          <p:cNvPr id="5" name="TextBox 4">
            <a:extLst>
              <a:ext uri="{FF2B5EF4-FFF2-40B4-BE49-F238E27FC236}">
                <a16:creationId xmlns:a16="http://schemas.microsoft.com/office/drawing/2014/main" xmlns="" id="{8C859F1A-26A7-46F3-BA76-83555C63607A}"/>
              </a:ext>
            </a:extLst>
          </p:cNvPr>
          <p:cNvSpPr txBox="1"/>
          <p:nvPr/>
        </p:nvSpPr>
        <p:spPr>
          <a:xfrm>
            <a:off x="152400" y="588801"/>
            <a:ext cx="8915400" cy="2308324"/>
          </a:xfrm>
          <a:prstGeom prst="rect">
            <a:avLst/>
          </a:prstGeom>
          <a:noFill/>
        </p:spPr>
        <p:txBody>
          <a:bodyPr wrap="square">
            <a:spAutoFit/>
          </a:bodyPr>
          <a:lstStyle/>
          <a:p>
            <a:pPr algn="l"/>
            <a:r>
              <a:rPr lang="en-US" b="0" i="0" dirty="0">
                <a:solidFill>
                  <a:srgbClr val="3D3D3D"/>
                </a:solidFill>
                <a:effectLst/>
                <a:latin typeface="Open Sans"/>
              </a:rPr>
              <a:t>I hope you have installed SQL Server 2017 in your machine. (You can also use SQL Server 2008, 2012, or 2016.)</a:t>
            </a:r>
          </a:p>
          <a:p>
            <a:pPr algn="l"/>
            <a:r>
              <a:rPr lang="en-US" b="1" i="0" dirty="0">
                <a:solidFill>
                  <a:srgbClr val="3D3D3D"/>
                </a:solidFill>
                <a:effectLst/>
                <a:latin typeface="Open Sans"/>
              </a:rPr>
              <a:t>Step 1</a:t>
            </a:r>
            <a:r>
              <a:rPr lang="en-US" b="0" i="0" dirty="0">
                <a:solidFill>
                  <a:srgbClr val="3D3D3D"/>
                </a:solidFill>
                <a:effectLst/>
                <a:latin typeface="Open Sans"/>
              </a:rPr>
              <a:t>: Create a new database (</a:t>
            </a:r>
            <a:r>
              <a:rPr lang="en-US" b="1" i="0" dirty="0">
                <a:solidFill>
                  <a:srgbClr val="3D3D3D"/>
                </a:solidFill>
                <a:effectLst/>
                <a:latin typeface="Open Sans"/>
              </a:rPr>
              <a:t>Inventory</a:t>
            </a:r>
            <a:r>
              <a:rPr lang="en-US" b="0" i="0" dirty="0">
                <a:solidFill>
                  <a:srgbClr val="3D3D3D"/>
                </a:solidFill>
                <a:effectLst/>
                <a:latin typeface="Open Sans"/>
              </a:rPr>
              <a:t>).</a:t>
            </a:r>
          </a:p>
          <a:p>
            <a:pPr algn="l"/>
            <a:endParaRPr lang="en-US" b="0" i="0" dirty="0">
              <a:solidFill>
                <a:srgbClr val="3D3D3D"/>
              </a:solidFill>
              <a:effectLst/>
              <a:latin typeface="Open Sans"/>
            </a:endParaRPr>
          </a:p>
          <a:p>
            <a:pPr algn="l"/>
            <a:r>
              <a:rPr lang="en-US" b="1" i="0" dirty="0">
                <a:solidFill>
                  <a:srgbClr val="3D3D3D"/>
                </a:solidFill>
                <a:effectLst/>
                <a:latin typeface="Open Sans"/>
              </a:rPr>
              <a:t>Step 2</a:t>
            </a:r>
            <a:r>
              <a:rPr lang="en-US" b="0" i="0" dirty="0">
                <a:solidFill>
                  <a:srgbClr val="3D3D3D"/>
                </a:solidFill>
                <a:effectLst/>
                <a:latin typeface="Open Sans"/>
              </a:rPr>
              <a:t>: For this application, I am going to create tables called </a:t>
            </a:r>
            <a:r>
              <a:rPr lang="en-US" b="1" i="0" dirty="0">
                <a:solidFill>
                  <a:srgbClr val="3D3D3D"/>
                </a:solidFill>
                <a:effectLst/>
                <a:latin typeface="Open Sans"/>
              </a:rPr>
              <a:t>Products</a:t>
            </a:r>
            <a:r>
              <a:rPr lang="en-US" b="0" i="0" dirty="0">
                <a:solidFill>
                  <a:srgbClr val="3D3D3D"/>
                </a:solidFill>
                <a:effectLst/>
                <a:latin typeface="Open Sans"/>
              </a:rPr>
              <a:t> and</a:t>
            </a:r>
            <a:r>
              <a:rPr lang="en-US" b="1" i="0" dirty="0">
                <a:solidFill>
                  <a:srgbClr val="3D3D3D"/>
                </a:solidFill>
                <a:effectLst/>
                <a:latin typeface="Open Sans"/>
              </a:rPr>
              <a:t> </a:t>
            </a:r>
            <a:r>
              <a:rPr lang="en-US" b="1" i="0" dirty="0" err="1">
                <a:solidFill>
                  <a:srgbClr val="3D3D3D"/>
                </a:solidFill>
                <a:effectLst/>
                <a:latin typeface="Open Sans"/>
              </a:rPr>
              <a:t>UserInfo</a:t>
            </a:r>
            <a:r>
              <a:rPr lang="en-US" b="0" i="0" dirty="0">
                <a:solidFill>
                  <a:srgbClr val="3D3D3D"/>
                </a:solidFill>
                <a:effectLst/>
                <a:latin typeface="Open Sans"/>
              </a:rPr>
              <a:t> with basic attributes. Paste the following SQL query into the Query window to create necessary tables.</a:t>
            </a:r>
          </a:p>
          <a:p>
            <a:pPr algn="l"/>
            <a:endParaRPr lang="en-US" b="0" i="0" dirty="0">
              <a:solidFill>
                <a:srgbClr val="3D3D3D"/>
              </a:solidFill>
              <a:effectLst/>
              <a:latin typeface="Open Sans"/>
            </a:endParaRPr>
          </a:p>
        </p:txBody>
      </p:sp>
      <p:sp>
        <p:nvSpPr>
          <p:cNvPr id="8" name="Rectangle 2">
            <a:extLst>
              <a:ext uri="{FF2B5EF4-FFF2-40B4-BE49-F238E27FC236}">
                <a16:creationId xmlns:a16="http://schemas.microsoft.com/office/drawing/2014/main" xmlns="" id="{C17180C3-0308-4AEE-B952-D20B279E6E76}"/>
              </a:ext>
            </a:extLst>
          </p:cNvPr>
          <p:cNvSpPr>
            <a:spLocks noChangeArrowheads="1"/>
          </p:cNvSpPr>
          <p:nvPr/>
        </p:nvSpPr>
        <p:spPr bwMode="auto">
          <a:xfrm>
            <a:off x="457200" y="2667000"/>
            <a:ext cx="6553200" cy="3847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6699"/>
                </a:solidFill>
                <a:effectLst/>
                <a:latin typeface="Monaco"/>
              </a:rPr>
              <a:t>Create</a:t>
            </a:r>
            <a:r>
              <a:rPr kumimoji="0" lang="en-US" altLang="en-US" sz="1400" b="0" i="0" u="none" strike="noStrike" cap="none" normalizeH="0" baseline="0" dirty="0">
                <a:ln>
                  <a:noFill/>
                </a:ln>
                <a:solidFill>
                  <a:srgbClr val="AFAFAF"/>
                </a:solidFill>
                <a:effectLst/>
                <a:latin typeface="Monaco"/>
              </a:rPr>
              <a:t> </a:t>
            </a:r>
            <a:r>
              <a:rPr kumimoji="0" lang="en-US" altLang="en-US" sz="1000" b="1" i="0" u="none" strike="noStrike" cap="none" normalizeH="0" baseline="0" dirty="0">
                <a:ln>
                  <a:noFill/>
                </a:ln>
                <a:solidFill>
                  <a:srgbClr val="006699"/>
                </a:solidFill>
                <a:effectLst/>
                <a:latin typeface="Monaco"/>
              </a:rPr>
              <a:t>Table</a:t>
            </a:r>
            <a:r>
              <a:rPr kumimoji="0" lang="en-US" altLang="en-US" sz="1400" b="0" i="0" u="none" strike="noStrike" cap="none" normalizeH="0" baseline="0" dirty="0">
                <a:ln>
                  <a:noFill/>
                </a:ln>
                <a:solidFill>
                  <a:srgbClr val="AFAFAF"/>
                </a:solidFill>
                <a:effectLst/>
                <a:latin typeface="Monaco"/>
              </a:rPr>
              <a:t> </a:t>
            </a:r>
            <a:r>
              <a:rPr kumimoji="0" lang="en-US" altLang="en-US" sz="1000" b="0" i="0" u="none" strike="noStrike" cap="none" normalizeH="0" baseline="0" dirty="0">
                <a:ln>
                  <a:noFill/>
                </a:ln>
                <a:solidFill>
                  <a:srgbClr val="000000"/>
                </a:solidFill>
                <a:effectLst/>
                <a:latin typeface="Monaco"/>
              </a:rPr>
              <a:t>Products(</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err="1">
                <a:ln>
                  <a:noFill/>
                </a:ln>
                <a:solidFill>
                  <a:srgbClr val="000000"/>
                </a:solidFill>
                <a:effectLst/>
                <a:latin typeface="Monaco"/>
              </a:rPr>
              <a:t>ProductId</a:t>
            </a:r>
            <a:r>
              <a:rPr kumimoji="0" lang="en-US" altLang="en-US" sz="1000" b="0" i="0" u="none" strike="noStrike" cap="none" normalizeH="0" baseline="0" dirty="0">
                <a:ln>
                  <a:noFill/>
                </a:ln>
                <a:solidFill>
                  <a:srgbClr val="000000"/>
                </a:solidFill>
                <a:effectLst/>
                <a:latin typeface="Monaco"/>
              </a:rPr>
              <a:t> </a:t>
            </a:r>
            <a:r>
              <a:rPr kumimoji="0" lang="en-US" altLang="en-US" sz="1000" b="1" i="0" u="none" strike="noStrike" cap="none" normalizeH="0" baseline="0" dirty="0">
                <a:ln>
                  <a:noFill/>
                </a:ln>
                <a:solidFill>
                  <a:srgbClr val="006699"/>
                </a:solidFill>
                <a:effectLst/>
                <a:latin typeface="Monaco"/>
              </a:rPr>
              <a:t>Int</a:t>
            </a:r>
            <a:r>
              <a:rPr kumimoji="0" lang="en-US" altLang="en-US" sz="1400" b="0" i="0" u="none" strike="noStrike" cap="none" normalizeH="0" baseline="0" dirty="0">
                <a:ln>
                  <a:noFill/>
                </a:ln>
                <a:solidFill>
                  <a:srgbClr val="3D3D3D"/>
                </a:solidFill>
                <a:effectLst/>
                <a:latin typeface="Monaco"/>
              </a:rPr>
              <a:t> </a:t>
            </a:r>
            <a:r>
              <a:rPr kumimoji="0" lang="en-US" altLang="en-US" sz="1000" b="0" i="0" u="none" strike="noStrike" cap="none" normalizeH="0" baseline="0" dirty="0">
                <a:ln>
                  <a:noFill/>
                </a:ln>
                <a:solidFill>
                  <a:srgbClr val="000000"/>
                </a:solidFill>
                <a:effectLst/>
                <a:latin typeface="Monaco"/>
              </a:rPr>
              <a:t>Identity(1,1) </a:t>
            </a:r>
            <a:r>
              <a:rPr kumimoji="0" lang="en-US" altLang="en-US" sz="1000" b="1" i="0" u="none" strike="noStrike" cap="none" normalizeH="0" baseline="0" dirty="0">
                <a:ln>
                  <a:noFill/>
                </a:ln>
                <a:solidFill>
                  <a:srgbClr val="006699"/>
                </a:solidFill>
                <a:effectLst/>
                <a:latin typeface="Monaco"/>
              </a:rPr>
              <a:t>Primary</a:t>
            </a:r>
            <a:r>
              <a:rPr kumimoji="0" lang="en-US" altLang="en-US" sz="1400" b="0" i="0" u="none" strike="noStrike" cap="none" normalizeH="0" baseline="0" dirty="0">
                <a:ln>
                  <a:noFill/>
                </a:ln>
                <a:solidFill>
                  <a:srgbClr val="3D3D3D"/>
                </a:solidFill>
                <a:effectLst/>
                <a:latin typeface="Monaco"/>
              </a:rPr>
              <a:t> </a:t>
            </a:r>
            <a:r>
              <a:rPr kumimoji="0" lang="en-US" altLang="en-US" sz="1000" b="1" i="0" u="none" strike="noStrike" cap="none" normalizeH="0" baseline="0" dirty="0">
                <a:ln>
                  <a:noFill/>
                </a:ln>
                <a:solidFill>
                  <a:srgbClr val="006699"/>
                </a:solidFill>
                <a:effectLst/>
                <a:latin typeface="Monaco"/>
              </a:rPr>
              <a:t>Key</a:t>
            </a:r>
            <a:r>
              <a:rPr kumimoji="0" lang="en-US" altLang="en-US" sz="1000" b="0" i="0" u="none" strike="noStrike" cap="none" normalizeH="0" baseline="0" dirty="0">
                <a:ln>
                  <a:noFill/>
                </a:ln>
                <a:solidFill>
                  <a:srgbClr val="000000"/>
                </a:solidFill>
                <a:effectLst/>
                <a:latin typeface="Monaco"/>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6699"/>
                </a:solidFill>
                <a:effectLst/>
                <a:latin typeface="Monaco"/>
              </a:rPr>
              <a:t>Name</a:t>
            </a:r>
            <a:r>
              <a:rPr kumimoji="0" lang="en-US" altLang="en-US" sz="1400" b="0" i="0" u="none" strike="noStrike" cap="none" normalizeH="0" baseline="0" dirty="0">
                <a:ln>
                  <a:noFill/>
                </a:ln>
                <a:solidFill>
                  <a:srgbClr val="AFAFAF"/>
                </a:solidFill>
                <a:effectLst/>
                <a:latin typeface="Monaco"/>
              </a:rPr>
              <a:t> </a:t>
            </a:r>
            <a:r>
              <a:rPr kumimoji="0" lang="en-US" altLang="en-US" sz="1000" b="1" i="0" u="none" strike="noStrike" cap="none" normalizeH="0" baseline="0" dirty="0">
                <a:ln>
                  <a:noFill/>
                </a:ln>
                <a:solidFill>
                  <a:srgbClr val="006699"/>
                </a:solidFill>
                <a:effectLst/>
                <a:latin typeface="Monaco"/>
              </a:rPr>
              <a:t>Varchar</a:t>
            </a:r>
            <a:r>
              <a:rPr kumimoji="0" lang="en-US" altLang="en-US" sz="1000" b="0" i="0" u="none" strike="noStrike" cap="none" normalizeH="0" baseline="0" dirty="0">
                <a:ln>
                  <a:noFill/>
                </a:ln>
                <a:solidFill>
                  <a:srgbClr val="000000"/>
                </a:solidFill>
                <a:effectLst/>
                <a:latin typeface="Monaco"/>
              </a:rPr>
              <a:t>(100) </a:t>
            </a:r>
            <a:r>
              <a:rPr kumimoji="0" lang="en-US" altLang="en-US" sz="1000" b="0" i="0" u="none" strike="noStrike" cap="none" normalizeH="0" baseline="0" dirty="0">
                <a:ln>
                  <a:noFill/>
                </a:ln>
                <a:solidFill>
                  <a:srgbClr val="808080"/>
                </a:solidFill>
                <a:effectLst/>
                <a:latin typeface="Monaco"/>
              </a:rPr>
              <a:t>Not</a:t>
            </a:r>
            <a:r>
              <a:rPr kumimoji="0" lang="en-US" altLang="en-US" sz="1400" b="0" i="0" u="none" strike="noStrike" cap="none" normalizeH="0" baseline="0" dirty="0">
                <a:ln>
                  <a:noFill/>
                </a:ln>
                <a:solidFill>
                  <a:srgbClr val="AFAFAF"/>
                </a:solidFill>
                <a:effectLst/>
                <a:latin typeface="Monaco"/>
              </a:rPr>
              <a:t> </a:t>
            </a:r>
            <a:r>
              <a:rPr kumimoji="0" lang="en-US" altLang="en-US" sz="1000" b="0" i="0" u="none" strike="noStrike" cap="none" normalizeH="0" baseline="0" dirty="0">
                <a:ln>
                  <a:noFill/>
                </a:ln>
                <a:solidFill>
                  <a:srgbClr val="808080"/>
                </a:solidFill>
                <a:effectLst/>
                <a:latin typeface="Monaco"/>
              </a:rPr>
              <a:t>Null</a:t>
            </a:r>
            <a:r>
              <a:rPr kumimoji="0" lang="en-US" altLang="en-US" sz="1000" b="0" i="0" u="none" strike="noStrike" cap="none" normalizeH="0" baseline="0" dirty="0">
                <a:ln>
                  <a:noFill/>
                </a:ln>
                <a:solidFill>
                  <a:srgbClr val="000000"/>
                </a:solidFill>
                <a:effectLst/>
                <a:latin typeface="Monaco"/>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Monaco"/>
              </a:rPr>
              <a:t>Category </a:t>
            </a:r>
            <a:r>
              <a:rPr kumimoji="0" lang="en-US" altLang="en-US" sz="1000" b="1" i="0" u="none" strike="noStrike" cap="none" normalizeH="0" baseline="0" dirty="0">
                <a:ln>
                  <a:noFill/>
                </a:ln>
                <a:solidFill>
                  <a:srgbClr val="006699"/>
                </a:solidFill>
                <a:effectLst/>
                <a:latin typeface="Monaco"/>
              </a:rPr>
              <a:t>Varchar</a:t>
            </a:r>
            <a:r>
              <a:rPr kumimoji="0" lang="en-US" altLang="en-US" sz="1000" b="0" i="0" u="none" strike="noStrike" cap="none" normalizeH="0" baseline="0" dirty="0">
                <a:ln>
                  <a:noFill/>
                </a:ln>
                <a:solidFill>
                  <a:srgbClr val="000000"/>
                </a:solidFill>
                <a:effectLst/>
                <a:latin typeface="Monaco"/>
              </a:rPr>
              <a:t>(100),</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Monaco"/>
              </a:rPr>
              <a:t>Color </a:t>
            </a:r>
            <a:r>
              <a:rPr kumimoji="0" lang="en-US" altLang="en-US" sz="1000" b="1" i="0" u="none" strike="noStrike" cap="none" normalizeH="0" baseline="0" dirty="0">
                <a:ln>
                  <a:noFill/>
                </a:ln>
                <a:solidFill>
                  <a:srgbClr val="006699"/>
                </a:solidFill>
                <a:effectLst/>
                <a:latin typeface="Monaco"/>
              </a:rPr>
              <a:t>Varchar</a:t>
            </a:r>
            <a:r>
              <a:rPr kumimoji="0" lang="en-US" altLang="en-US" sz="1000" b="0" i="0" u="none" strike="noStrike" cap="none" normalizeH="0" baseline="0" dirty="0">
                <a:ln>
                  <a:noFill/>
                </a:ln>
                <a:solidFill>
                  <a:srgbClr val="000000"/>
                </a:solidFill>
                <a:effectLst/>
                <a:latin typeface="Monaco"/>
              </a:rPr>
              <a:t>(20),</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err="1">
                <a:ln>
                  <a:noFill/>
                </a:ln>
                <a:solidFill>
                  <a:srgbClr val="000000"/>
                </a:solidFill>
                <a:effectLst/>
                <a:latin typeface="Monaco"/>
              </a:rPr>
              <a:t>UnitPrice</a:t>
            </a:r>
            <a:r>
              <a:rPr kumimoji="0" lang="en-US" altLang="en-US" sz="1000" b="0" i="0" u="none" strike="noStrike" cap="none" normalizeH="0" baseline="0" dirty="0">
                <a:ln>
                  <a:noFill/>
                </a:ln>
                <a:solidFill>
                  <a:srgbClr val="000000"/>
                </a:solidFill>
                <a:effectLst/>
                <a:latin typeface="Monaco"/>
              </a:rPr>
              <a:t> </a:t>
            </a:r>
            <a:r>
              <a:rPr kumimoji="0" lang="en-US" altLang="en-US" sz="1000" b="1" i="0" u="none" strike="noStrike" cap="none" normalizeH="0" baseline="0" dirty="0">
                <a:ln>
                  <a:noFill/>
                </a:ln>
                <a:solidFill>
                  <a:srgbClr val="006699"/>
                </a:solidFill>
                <a:effectLst/>
                <a:latin typeface="Monaco"/>
              </a:rPr>
              <a:t>Decimal</a:t>
            </a:r>
            <a:r>
              <a:rPr kumimoji="0" lang="en-US" altLang="en-US" sz="1400" b="0" i="0" u="none" strike="noStrike" cap="none" normalizeH="0" baseline="0" dirty="0">
                <a:ln>
                  <a:noFill/>
                </a:ln>
                <a:solidFill>
                  <a:srgbClr val="3D3D3D"/>
                </a:solidFill>
                <a:effectLst/>
                <a:latin typeface="Monaco"/>
              </a:rPr>
              <a:t> </a:t>
            </a:r>
            <a:r>
              <a:rPr kumimoji="0" lang="en-US" altLang="en-US" sz="1000" b="0" i="0" u="none" strike="noStrike" cap="none" normalizeH="0" baseline="0" dirty="0">
                <a:ln>
                  <a:noFill/>
                </a:ln>
                <a:solidFill>
                  <a:srgbClr val="808080"/>
                </a:solidFill>
                <a:effectLst/>
                <a:latin typeface="Monaco"/>
              </a:rPr>
              <a:t>Not</a:t>
            </a:r>
            <a:r>
              <a:rPr kumimoji="0" lang="en-US" altLang="en-US" sz="1400" b="0" i="0" u="none" strike="noStrike" cap="none" normalizeH="0" baseline="0" dirty="0">
                <a:ln>
                  <a:noFill/>
                </a:ln>
                <a:solidFill>
                  <a:srgbClr val="3D3D3D"/>
                </a:solidFill>
                <a:effectLst/>
                <a:latin typeface="Monaco"/>
              </a:rPr>
              <a:t> </a:t>
            </a:r>
            <a:r>
              <a:rPr kumimoji="0" lang="en-US" altLang="en-US" sz="1000" b="0" i="0" u="none" strike="noStrike" cap="none" normalizeH="0" baseline="0" dirty="0">
                <a:ln>
                  <a:noFill/>
                </a:ln>
                <a:solidFill>
                  <a:srgbClr val="808080"/>
                </a:solidFill>
                <a:effectLst/>
                <a:latin typeface="Monaco"/>
              </a:rPr>
              <a:t>Null</a:t>
            </a:r>
            <a:r>
              <a:rPr kumimoji="0" lang="en-US" altLang="en-US" sz="1000" b="0" i="0" u="none" strike="noStrike" cap="none" normalizeH="0" baseline="0" dirty="0">
                <a:ln>
                  <a:noFill/>
                </a:ln>
                <a:solidFill>
                  <a:srgbClr val="000000"/>
                </a:solidFill>
                <a:effectLst/>
                <a:latin typeface="Monaco"/>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err="1">
                <a:ln>
                  <a:noFill/>
                </a:ln>
                <a:solidFill>
                  <a:srgbClr val="000000"/>
                </a:solidFill>
                <a:effectLst/>
                <a:latin typeface="Monaco"/>
              </a:rPr>
              <a:t>AvailableQuantity</a:t>
            </a:r>
            <a:r>
              <a:rPr kumimoji="0" lang="en-US" altLang="en-US" sz="1000" b="0" i="0" u="none" strike="noStrike" cap="none" normalizeH="0" baseline="0" dirty="0">
                <a:ln>
                  <a:noFill/>
                </a:ln>
                <a:solidFill>
                  <a:srgbClr val="000000"/>
                </a:solidFill>
                <a:effectLst/>
                <a:latin typeface="Monaco"/>
              </a:rPr>
              <a:t> </a:t>
            </a:r>
            <a:r>
              <a:rPr kumimoji="0" lang="en-US" altLang="en-US" sz="1000" b="1" i="0" u="none" strike="noStrike" cap="none" normalizeH="0" baseline="0" dirty="0">
                <a:ln>
                  <a:noFill/>
                </a:ln>
                <a:solidFill>
                  <a:srgbClr val="006699"/>
                </a:solidFill>
                <a:effectLst/>
                <a:latin typeface="Monaco"/>
              </a:rPr>
              <a:t>Int</a:t>
            </a:r>
            <a:r>
              <a:rPr kumimoji="0" lang="en-US" altLang="en-US" sz="1400" b="0" i="0" u="none" strike="noStrike" cap="none" normalizeH="0" baseline="0" dirty="0">
                <a:ln>
                  <a:noFill/>
                </a:ln>
                <a:solidFill>
                  <a:srgbClr val="AFAFAF"/>
                </a:solidFill>
                <a:effectLst/>
                <a:latin typeface="Monaco"/>
              </a:rPr>
              <a:t> </a:t>
            </a:r>
            <a:r>
              <a:rPr kumimoji="0" lang="en-US" altLang="en-US" sz="1000" b="0" i="0" u="none" strike="noStrike" cap="none" normalizeH="0" baseline="0" dirty="0">
                <a:ln>
                  <a:noFill/>
                </a:ln>
                <a:solidFill>
                  <a:srgbClr val="808080"/>
                </a:solidFill>
                <a:effectLst/>
                <a:latin typeface="Monaco"/>
              </a:rPr>
              <a:t>Not</a:t>
            </a:r>
            <a:r>
              <a:rPr kumimoji="0" lang="en-US" altLang="en-US" sz="1400" b="0" i="0" u="none" strike="noStrike" cap="none" normalizeH="0" baseline="0" dirty="0">
                <a:ln>
                  <a:noFill/>
                </a:ln>
                <a:solidFill>
                  <a:srgbClr val="AFAFAF"/>
                </a:solidFill>
                <a:effectLst/>
                <a:latin typeface="Monaco"/>
              </a:rPr>
              <a:t> </a:t>
            </a:r>
            <a:r>
              <a:rPr kumimoji="0" lang="en-US" altLang="en-US" sz="1000" b="0" i="0" u="none" strike="noStrike" cap="none" normalizeH="0" baseline="0" dirty="0">
                <a:ln>
                  <a:noFill/>
                </a:ln>
                <a:solidFill>
                  <a:srgbClr val="808080"/>
                </a:solidFill>
                <a:effectLst/>
                <a:latin typeface="Monaco"/>
              </a:rPr>
              <a:t>Null</a:t>
            </a:r>
            <a:r>
              <a:rPr kumimoji="0" lang="en-US" altLang="en-US" sz="1000" b="0" i="0" u="none" strike="noStrike" cap="none" normalizeH="0" baseline="0" dirty="0">
                <a:ln>
                  <a:noFill/>
                </a:ln>
                <a:solidFill>
                  <a:srgbClr val="000000"/>
                </a:solidFill>
                <a:effectLst/>
                <a:latin typeface="Monaco"/>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Monaco"/>
              </a:rPr>
              <a:t>GO</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6699"/>
                </a:solidFill>
                <a:effectLst/>
                <a:latin typeface="Monaco"/>
              </a:rPr>
              <a:t>Create</a:t>
            </a:r>
            <a:r>
              <a:rPr kumimoji="0" lang="en-US" altLang="en-US" sz="1400" b="0" i="0" u="none" strike="noStrike" cap="none" normalizeH="0" baseline="0" dirty="0">
                <a:ln>
                  <a:noFill/>
                </a:ln>
                <a:solidFill>
                  <a:srgbClr val="AFAFAF"/>
                </a:solidFill>
                <a:effectLst/>
                <a:latin typeface="Monaco"/>
              </a:rPr>
              <a:t> </a:t>
            </a:r>
            <a:r>
              <a:rPr kumimoji="0" lang="en-US" altLang="en-US" sz="1000" b="1" i="0" u="none" strike="noStrike" cap="none" normalizeH="0" baseline="0" dirty="0">
                <a:ln>
                  <a:noFill/>
                </a:ln>
                <a:solidFill>
                  <a:srgbClr val="006699"/>
                </a:solidFill>
                <a:effectLst/>
                <a:latin typeface="Monaco"/>
              </a:rPr>
              <a:t>Table</a:t>
            </a:r>
            <a:r>
              <a:rPr kumimoji="0" lang="en-US" altLang="en-US" sz="1400" b="0" i="0" u="none" strike="noStrike" cap="none" normalizeH="0" baseline="0" dirty="0">
                <a:ln>
                  <a:noFill/>
                </a:ln>
                <a:solidFill>
                  <a:srgbClr val="AFAFAF"/>
                </a:solidFill>
                <a:effectLst/>
                <a:latin typeface="Monaco"/>
              </a:rPr>
              <a:t> </a:t>
            </a:r>
            <a:r>
              <a:rPr kumimoji="0" lang="en-US" altLang="en-US" sz="1000" b="0" i="0" u="none" strike="noStrike" cap="none" normalizeH="0" baseline="0" dirty="0" err="1">
                <a:ln>
                  <a:noFill/>
                </a:ln>
                <a:solidFill>
                  <a:srgbClr val="000000"/>
                </a:solidFill>
                <a:effectLst/>
                <a:latin typeface="Monaco"/>
              </a:rPr>
              <a:t>UserInfo</a:t>
            </a:r>
            <a:r>
              <a:rPr kumimoji="0" lang="en-US" altLang="en-US" sz="1000" b="0" i="0" u="none" strike="noStrike" cap="none" normalizeH="0" baseline="0" dirty="0">
                <a:ln>
                  <a:noFill/>
                </a:ln>
                <a:solidFill>
                  <a:srgbClr val="000000"/>
                </a:solidFill>
                <a:effectLst/>
                <a:latin typeface="Monaco"/>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err="1">
                <a:ln>
                  <a:noFill/>
                </a:ln>
                <a:solidFill>
                  <a:srgbClr val="000000"/>
                </a:solidFill>
                <a:effectLst/>
                <a:latin typeface="Monaco"/>
              </a:rPr>
              <a:t>UserId</a:t>
            </a:r>
            <a:r>
              <a:rPr kumimoji="0" lang="en-US" altLang="en-US" sz="1000" b="0" i="0" u="none" strike="noStrike" cap="none" normalizeH="0" baseline="0" dirty="0">
                <a:ln>
                  <a:noFill/>
                </a:ln>
                <a:solidFill>
                  <a:srgbClr val="000000"/>
                </a:solidFill>
                <a:effectLst/>
                <a:latin typeface="Monaco"/>
              </a:rPr>
              <a:t> </a:t>
            </a:r>
            <a:r>
              <a:rPr kumimoji="0" lang="en-US" altLang="en-US" sz="1000" b="1" i="0" u="none" strike="noStrike" cap="none" normalizeH="0" baseline="0" dirty="0">
                <a:ln>
                  <a:noFill/>
                </a:ln>
                <a:solidFill>
                  <a:srgbClr val="006699"/>
                </a:solidFill>
                <a:effectLst/>
                <a:latin typeface="Monaco"/>
              </a:rPr>
              <a:t>Int</a:t>
            </a:r>
            <a:r>
              <a:rPr kumimoji="0" lang="en-US" altLang="en-US" sz="1400" b="0" i="0" u="none" strike="noStrike" cap="none" normalizeH="0" baseline="0" dirty="0">
                <a:ln>
                  <a:noFill/>
                </a:ln>
                <a:solidFill>
                  <a:srgbClr val="3D3D3D"/>
                </a:solidFill>
                <a:effectLst/>
                <a:latin typeface="Monaco"/>
              </a:rPr>
              <a:t> </a:t>
            </a:r>
            <a:r>
              <a:rPr kumimoji="0" lang="en-US" altLang="en-US" sz="1000" b="0" i="0" u="none" strike="noStrike" cap="none" normalizeH="0" baseline="0" dirty="0">
                <a:ln>
                  <a:noFill/>
                </a:ln>
                <a:solidFill>
                  <a:srgbClr val="000000"/>
                </a:solidFill>
                <a:effectLst/>
                <a:latin typeface="Monaco"/>
              </a:rPr>
              <a:t>Identity(1,1) </a:t>
            </a:r>
            <a:r>
              <a:rPr kumimoji="0" lang="en-US" altLang="en-US" sz="1000" b="0" i="0" u="none" strike="noStrike" cap="none" normalizeH="0" baseline="0" dirty="0">
                <a:ln>
                  <a:noFill/>
                </a:ln>
                <a:solidFill>
                  <a:srgbClr val="808080"/>
                </a:solidFill>
                <a:effectLst/>
                <a:latin typeface="Monaco"/>
              </a:rPr>
              <a:t>Not</a:t>
            </a:r>
            <a:r>
              <a:rPr kumimoji="0" lang="en-US" altLang="en-US" sz="1400" b="0" i="0" u="none" strike="noStrike" cap="none" normalizeH="0" baseline="0" dirty="0">
                <a:ln>
                  <a:noFill/>
                </a:ln>
                <a:solidFill>
                  <a:srgbClr val="3D3D3D"/>
                </a:solidFill>
                <a:effectLst/>
                <a:latin typeface="Monaco"/>
              </a:rPr>
              <a:t> </a:t>
            </a:r>
            <a:r>
              <a:rPr kumimoji="0" lang="en-US" altLang="en-US" sz="1000" b="0" i="0" u="none" strike="noStrike" cap="none" normalizeH="0" baseline="0" dirty="0">
                <a:ln>
                  <a:noFill/>
                </a:ln>
                <a:solidFill>
                  <a:srgbClr val="808080"/>
                </a:solidFill>
                <a:effectLst/>
                <a:latin typeface="Monaco"/>
              </a:rPr>
              <a:t>null</a:t>
            </a:r>
            <a:r>
              <a:rPr kumimoji="0" lang="en-US" altLang="en-US" sz="1400" b="0" i="0" u="none" strike="noStrike" cap="none" normalizeH="0" baseline="0" dirty="0">
                <a:ln>
                  <a:noFill/>
                </a:ln>
                <a:solidFill>
                  <a:srgbClr val="3D3D3D"/>
                </a:solidFill>
                <a:effectLst/>
                <a:latin typeface="Monaco"/>
              </a:rPr>
              <a:t> </a:t>
            </a:r>
            <a:r>
              <a:rPr kumimoji="0" lang="en-US" altLang="en-US" sz="1000" b="1" i="0" u="none" strike="noStrike" cap="none" normalizeH="0" baseline="0" dirty="0">
                <a:ln>
                  <a:noFill/>
                </a:ln>
                <a:solidFill>
                  <a:srgbClr val="006699"/>
                </a:solidFill>
                <a:effectLst/>
                <a:latin typeface="Monaco"/>
              </a:rPr>
              <a:t>Primary</a:t>
            </a:r>
            <a:r>
              <a:rPr kumimoji="0" lang="en-US" altLang="en-US" sz="1400" b="0" i="0" u="none" strike="noStrike" cap="none" normalizeH="0" baseline="0" dirty="0">
                <a:ln>
                  <a:noFill/>
                </a:ln>
                <a:solidFill>
                  <a:srgbClr val="3D3D3D"/>
                </a:solidFill>
                <a:effectLst/>
                <a:latin typeface="Monaco"/>
              </a:rPr>
              <a:t> </a:t>
            </a:r>
            <a:r>
              <a:rPr kumimoji="0" lang="en-US" altLang="en-US" sz="1000" b="1" i="0" u="none" strike="noStrike" cap="none" normalizeH="0" baseline="0" dirty="0">
                <a:ln>
                  <a:noFill/>
                </a:ln>
                <a:solidFill>
                  <a:srgbClr val="006699"/>
                </a:solidFill>
                <a:effectLst/>
                <a:latin typeface="Monaco"/>
              </a:rPr>
              <a:t>Key</a:t>
            </a:r>
            <a:r>
              <a:rPr kumimoji="0" lang="en-US" altLang="en-US" sz="1000" b="0" i="0" u="none" strike="noStrike" cap="none" normalizeH="0" baseline="0" dirty="0">
                <a:ln>
                  <a:noFill/>
                </a:ln>
                <a:solidFill>
                  <a:srgbClr val="000000"/>
                </a:solidFill>
                <a:effectLst/>
                <a:latin typeface="Monaco"/>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Monaco"/>
              </a:rPr>
              <a:t>FirstName </a:t>
            </a:r>
            <a:r>
              <a:rPr kumimoji="0" lang="en-US" altLang="en-US" sz="1000" b="1" i="0" u="none" strike="noStrike" cap="none" normalizeH="0" baseline="0" dirty="0">
                <a:ln>
                  <a:noFill/>
                </a:ln>
                <a:solidFill>
                  <a:srgbClr val="006699"/>
                </a:solidFill>
                <a:effectLst/>
                <a:latin typeface="Monaco"/>
              </a:rPr>
              <a:t>Varchar</a:t>
            </a:r>
            <a:r>
              <a:rPr kumimoji="0" lang="en-US" altLang="en-US" sz="1000" b="0" i="0" u="none" strike="noStrike" cap="none" normalizeH="0" baseline="0" dirty="0">
                <a:ln>
                  <a:noFill/>
                </a:ln>
                <a:solidFill>
                  <a:srgbClr val="000000"/>
                </a:solidFill>
                <a:effectLst/>
                <a:latin typeface="Monaco"/>
              </a:rPr>
              <a:t>(30) </a:t>
            </a:r>
            <a:r>
              <a:rPr kumimoji="0" lang="en-US" altLang="en-US" sz="1000" b="0" i="0" u="none" strike="noStrike" cap="none" normalizeH="0" baseline="0" dirty="0">
                <a:ln>
                  <a:noFill/>
                </a:ln>
                <a:solidFill>
                  <a:srgbClr val="808080"/>
                </a:solidFill>
                <a:effectLst/>
                <a:latin typeface="Monaco"/>
              </a:rPr>
              <a:t>Not</a:t>
            </a:r>
            <a:r>
              <a:rPr kumimoji="0" lang="en-US" altLang="en-US" sz="1400" b="0" i="0" u="none" strike="noStrike" cap="none" normalizeH="0" baseline="0" dirty="0">
                <a:ln>
                  <a:noFill/>
                </a:ln>
                <a:solidFill>
                  <a:srgbClr val="AFAFAF"/>
                </a:solidFill>
                <a:effectLst/>
                <a:latin typeface="Monaco"/>
              </a:rPr>
              <a:t> </a:t>
            </a:r>
            <a:r>
              <a:rPr kumimoji="0" lang="en-US" altLang="en-US" sz="1000" b="0" i="0" u="none" strike="noStrike" cap="none" normalizeH="0" baseline="0" dirty="0">
                <a:ln>
                  <a:noFill/>
                </a:ln>
                <a:solidFill>
                  <a:srgbClr val="808080"/>
                </a:solidFill>
                <a:effectLst/>
                <a:latin typeface="Monaco"/>
              </a:rPr>
              <a:t>null</a:t>
            </a:r>
            <a:r>
              <a:rPr kumimoji="0" lang="en-US" altLang="en-US" sz="1000" b="0" i="0" u="none" strike="noStrike" cap="none" normalizeH="0" baseline="0" dirty="0">
                <a:ln>
                  <a:noFill/>
                </a:ln>
                <a:solidFill>
                  <a:srgbClr val="000000"/>
                </a:solidFill>
                <a:effectLst/>
                <a:latin typeface="Monaco"/>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err="1">
                <a:ln>
                  <a:noFill/>
                </a:ln>
                <a:solidFill>
                  <a:srgbClr val="000000"/>
                </a:solidFill>
                <a:effectLst/>
                <a:latin typeface="Monaco"/>
              </a:rPr>
              <a:t>LastName</a:t>
            </a:r>
            <a:r>
              <a:rPr kumimoji="0" lang="en-US" altLang="en-US" sz="1000" b="0" i="0" u="none" strike="noStrike" cap="none" normalizeH="0" baseline="0" dirty="0">
                <a:ln>
                  <a:noFill/>
                </a:ln>
                <a:solidFill>
                  <a:srgbClr val="000000"/>
                </a:solidFill>
                <a:effectLst/>
                <a:latin typeface="Monaco"/>
              </a:rPr>
              <a:t> </a:t>
            </a:r>
            <a:r>
              <a:rPr kumimoji="0" lang="en-US" altLang="en-US" sz="1000" b="1" i="0" u="none" strike="noStrike" cap="none" normalizeH="0" baseline="0" dirty="0">
                <a:ln>
                  <a:noFill/>
                </a:ln>
                <a:solidFill>
                  <a:srgbClr val="006699"/>
                </a:solidFill>
                <a:effectLst/>
                <a:latin typeface="Monaco"/>
              </a:rPr>
              <a:t>Varchar</a:t>
            </a:r>
            <a:r>
              <a:rPr kumimoji="0" lang="en-US" altLang="en-US" sz="1000" b="0" i="0" u="none" strike="noStrike" cap="none" normalizeH="0" baseline="0" dirty="0">
                <a:ln>
                  <a:noFill/>
                </a:ln>
                <a:solidFill>
                  <a:srgbClr val="000000"/>
                </a:solidFill>
                <a:effectLst/>
                <a:latin typeface="Monaco"/>
              </a:rPr>
              <a:t>(30) </a:t>
            </a:r>
            <a:r>
              <a:rPr kumimoji="0" lang="en-US" altLang="en-US" sz="1000" b="0" i="0" u="none" strike="noStrike" cap="none" normalizeH="0" baseline="0" dirty="0">
                <a:ln>
                  <a:noFill/>
                </a:ln>
                <a:solidFill>
                  <a:srgbClr val="808080"/>
                </a:solidFill>
                <a:effectLst/>
                <a:latin typeface="Monaco"/>
              </a:rPr>
              <a:t>Not</a:t>
            </a:r>
            <a:r>
              <a:rPr kumimoji="0" lang="en-US" altLang="en-US" sz="1400" b="0" i="0" u="none" strike="noStrike" cap="none" normalizeH="0" baseline="0" dirty="0">
                <a:ln>
                  <a:noFill/>
                </a:ln>
                <a:solidFill>
                  <a:srgbClr val="3D3D3D"/>
                </a:solidFill>
                <a:effectLst/>
                <a:latin typeface="Monaco"/>
              </a:rPr>
              <a:t> </a:t>
            </a:r>
            <a:r>
              <a:rPr kumimoji="0" lang="en-US" altLang="en-US" sz="1000" b="0" i="0" u="none" strike="noStrike" cap="none" normalizeH="0" baseline="0" dirty="0">
                <a:ln>
                  <a:noFill/>
                </a:ln>
                <a:solidFill>
                  <a:srgbClr val="808080"/>
                </a:solidFill>
                <a:effectLst/>
                <a:latin typeface="Monaco"/>
              </a:rPr>
              <a:t>null</a:t>
            </a:r>
            <a:r>
              <a:rPr kumimoji="0" lang="en-US" altLang="en-US" sz="1000" b="0" i="0" u="none" strike="noStrike" cap="none" normalizeH="0" baseline="0" dirty="0">
                <a:ln>
                  <a:noFill/>
                </a:ln>
                <a:solidFill>
                  <a:srgbClr val="000000"/>
                </a:solidFill>
                <a:effectLst/>
                <a:latin typeface="Monaco"/>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err="1">
                <a:ln>
                  <a:noFill/>
                </a:ln>
                <a:solidFill>
                  <a:srgbClr val="000000"/>
                </a:solidFill>
                <a:effectLst/>
                <a:latin typeface="Monaco"/>
              </a:rPr>
              <a:t>UserName</a:t>
            </a:r>
            <a:r>
              <a:rPr kumimoji="0" lang="en-US" altLang="en-US" sz="1000" b="0" i="0" u="none" strike="noStrike" cap="none" normalizeH="0" baseline="0" dirty="0">
                <a:ln>
                  <a:noFill/>
                </a:ln>
                <a:solidFill>
                  <a:srgbClr val="000000"/>
                </a:solidFill>
                <a:effectLst/>
                <a:latin typeface="Monaco"/>
              </a:rPr>
              <a:t> </a:t>
            </a:r>
            <a:r>
              <a:rPr kumimoji="0" lang="en-US" altLang="en-US" sz="1000" b="1" i="0" u="none" strike="noStrike" cap="none" normalizeH="0" baseline="0" dirty="0">
                <a:ln>
                  <a:noFill/>
                </a:ln>
                <a:solidFill>
                  <a:srgbClr val="006699"/>
                </a:solidFill>
                <a:effectLst/>
                <a:latin typeface="Monaco"/>
              </a:rPr>
              <a:t>Varchar</a:t>
            </a:r>
            <a:r>
              <a:rPr kumimoji="0" lang="en-US" altLang="en-US" sz="1000" b="0" i="0" u="none" strike="noStrike" cap="none" normalizeH="0" baseline="0" dirty="0">
                <a:ln>
                  <a:noFill/>
                </a:ln>
                <a:solidFill>
                  <a:srgbClr val="000000"/>
                </a:solidFill>
                <a:effectLst/>
                <a:latin typeface="Monaco"/>
              </a:rPr>
              <a:t>(30) </a:t>
            </a:r>
            <a:r>
              <a:rPr kumimoji="0" lang="en-US" altLang="en-US" sz="1000" b="0" i="0" u="none" strike="noStrike" cap="none" normalizeH="0" baseline="0" dirty="0">
                <a:ln>
                  <a:noFill/>
                </a:ln>
                <a:solidFill>
                  <a:srgbClr val="808080"/>
                </a:solidFill>
                <a:effectLst/>
                <a:latin typeface="Monaco"/>
              </a:rPr>
              <a:t>Not</a:t>
            </a:r>
            <a:r>
              <a:rPr kumimoji="0" lang="en-US" altLang="en-US" sz="1400" b="0" i="0" u="none" strike="noStrike" cap="none" normalizeH="0" baseline="0" dirty="0">
                <a:ln>
                  <a:noFill/>
                </a:ln>
                <a:solidFill>
                  <a:srgbClr val="AFAFAF"/>
                </a:solidFill>
                <a:effectLst/>
                <a:latin typeface="Monaco"/>
              </a:rPr>
              <a:t> </a:t>
            </a:r>
            <a:r>
              <a:rPr kumimoji="0" lang="en-US" altLang="en-US" sz="1000" b="0" i="0" u="none" strike="noStrike" cap="none" normalizeH="0" baseline="0" dirty="0">
                <a:ln>
                  <a:noFill/>
                </a:ln>
                <a:solidFill>
                  <a:srgbClr val="808080"/>
                </a:solidFill>
                <a:effectLst/>
                <a:latin typeface="Monaco"/>
              </a:rPr>
              <a:t>null</a:t>
            </a:r>
            <a:r>
              <a:rPr kumimoji="0" lang="en-US" altLang="en-US" sz="1000" b="0" i="0" u="none" strike="noStrike" cap="none" normalizeH="0" baseline="0" dirty="0">
                <a:ln>
                  <a:noFill/>
                </a:ln>
                <a:solidFill>
                  <a:srgbClr val="000000"/>
                </a:solidFill>
                <a:effectLst/>
                <a:latin typeface="Monaco"/>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Monaco"/>
              </a:rPr>
              <a:t>Email </a:t>
            </a:r>
            <a:r>
              <a:rPr kumimoji="0" lang="en-US" altLang="en-US" sz="1000" b="1" i="0" u="none" strike="noStrike" cap="none" normalizeH="0" baseline="0" dirty="0">
                <a:ln>
                  <a:noFill/>
                </a:ln>
                <a:solidFill>
                  <a:srgbClr val="006699"/>
                </a:solidFill>
                <a:effectLst/>
                <a:latin typeface="Monaco"/>
              </a:rPr>
              <a:t>Varchar</a:t>
            </a:r>
            <a:r>
              <a:rPr kumimoji="0" lang="en-US" altLang="en-US" sz="1000" b="0" i="0" u="none" strike="noStrike" cap="none" normalizeH="0" baseline="0" dirty="0">
                <a:ln>
                  <a:noFill/>
                </a:ln>
                <a:solidFill>
                  <a:srgbClr val="000000"/>
                </a:solidFill>
                <a:effectLst/>
                <a:latin typeface="Monaco"/>
              </a:rPr>
              <a:t>(50) </a:t>
            </a:r>
            <a:r>
              <a:rPr kumimoji="0" lang="en-US" altLang="en-US" sz="1000" b="0" i="0" u="none" strike="noStrike" cap="none" normalizeH="0" baseline="0" dirty="0">
                <a:ln>
                  <a:noFill/>
                </a:ln>
                <a:solidFill>
                  <a:srgbClr val="808080"/>
                </a:solidFill>
                <a:effectLst/>
                <a:latin typeface="Monaco"/>
              </a:rPr>
              <a:t>Not</a:t>
            </a:r>
            <a:r>
              <a:rPr kumimoji="0" lang="en-US" altLang="en-US" sz="1400" b="0" i="0" u="none" strike="noStrike" cap="none" normalizeH="0" baseline="0" dirty="0">
                <a:ln>
                  <a:noFill/>
                </a:ln>
                <a:solidFill>
                  <a:srgbClr val="3D3D3D"/>
                </a:solidFill>
                <a:effectLst/>
                <a:latin typeface="Monaco"/>
              </a:rPr>
              <a:t> </a:t>
            </a:r>
            <a:r>
              <a:rPr kumimoji="0" lang="en-US" altLang="en-US" sz="1000" b="0" i="0" u="none" strike="noStrike" cap="none" normalizeH="0" baseline="0" dirty="0">
                <a:ln>
                  <a:noFill/>
                </a:ln>
                <a:solidFill>
                  <a:srgbClr val="808080"/>
                </a:solidFill>
                <a:effectLst/>
                <a:latin typeface="Monaco"/>
              </a:rPr>
              <a:t>null</a:t>
            </a:r>
            <a:r>
              <a:rPr kumimoji="0" lang="en-US" altLang="en-US" sz="1000" b="0" i="0" u="none" strike="noStrike" cap="none" normalizeH="0" baseline="0" dirty="0">
                <a:ln>
                  <a:noFill/>
                </a:ln>
                <a:solidFill>
                  <a:srgbClr val="000000"/>
                </a:solidFill>
                <a:effectLst/>
                <a:latin typeface="Monaco"/>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6699"/>
                </a:solidFill>
                <a:effectLst/>
                <a:latin typeface="Monaco"/>
              </a:rPr>
              <a:t>Password</a:t>
            </a:r>
            <a:r>
              <a:rPr kumimoji="0" lang="en-US" altLang="en-US" sz="1400" b="0" i="0" u="none" strike="noStrike" cap="none" normalizeH="0" baseline="0" dirty="0">
                <a:ln>
                  <a:noFill/>
                </a:ln>
                <a:solidFill>
                  <a:srgbClr val="AFAFAF"/>
                </a:solidFill>
                <a:effectLst/>
                <a:latin typeface="Monaco"/>
              </a:rPr>
              <a:t> </a:t>
            </a:r>
            <a:r>
              <a:rPr kumimoji="0" lang="en-US" altLang="en-US" sz="1000" b="1" i="0" u="none" strike="noStrike" cap="none" normalizeH="0" baseline="0" dirty="0">
                <a:ln>
                  <a:noFill/>
                </a:ln>
                <a:solidFill>
                  <a:srgbClr val="006699"/>
                </a:solidFill>
                <a:effectLst/>
                <a:latin typeface="Monaco"/>
              </a:rPr>
              <a:t>Varchar</a:t>
            </a:r>
            <a:r>
              <a:rPr kumimoji="0" lang="en-US" altLang="en-US" sz="1000" b="0" i="0" u="none" strike="noStrike" cap="none" normalizeH="0" baseline="0" dirty="0">
                <a:ln>
                  <a:noFill/>
                </a:ln>
                <a:solidFill>
                  <a:srgbClr val="000000"/>
                </a:solidFill>
                <a:effectLst/>
                <a:latin typeface="Monaco"/>
              </a:rPr>
              <a:t>(20) </a:t>
            </a:r>
            <a:r>
              <a:rPr kumimoji="0" lang="en-US" altLang="en-US" sz="1000" b="0" i="0" u="none" strike="noStrike" cap="none" normalizeH="0" baseline="0" dirty="0">
                <a:ln>
                  <a:noFill/>
                </a:ln>
                <a:solidFill>
                  <a:srgbClr val="808080"/>
                </a:solidFill>
                <a:effectLst/>
                <a:latin typeface="Monaco"/>
              </a:rPr>
              <a:t>Not</a:t>
            </a:r>
            <a:r>
              <a:rPr kumimoji="0" lang="en-US" altLang="en-US" sz="1400" b="0" i="0" u="none" strike="noStrike" cap="none" normalizeH="0" baseline="0" dirty="0">
                <a:ln>
                  <a:noFill/>
                </a:ln>
                <a:solidFill>
                  <a:srgbClr val="AFAFAF"/>
                </a:solidFill>
                <a:effectLst/>
                <a:latin typeface="Monaco"/>
              </a:rPr>
              <a:t> </a:t>
            </a:r>
            <a:r>
              <a:rPr kumimoji="0" lang="en-US" altLang="en-US" sz="1000" b="0" i="0" u="none" strike="noStrike" cap="none" normalizeH="0" baseline="0" dirty="0">
                <a:ln>
                  <a:noFill/>
                </a:ln>
                <a:solidFill>
                  <a:srgbClr val="808080"/>
                </a:solidFill>
                <a:effectLst/>
                <a:latin typeface="Monaco"/>
              </a:rPr>
              <a:t>null</a:t>
            </a:r>
            <a:r>
              <a:rPr kumimoji="0" lang="en-US" altLang="en-US" sz="1000" b="0" i="0" u="none" strike="noStrike" cap="none" normalizeH="0" baseline="0" dirty="0">
                <a:ln>
                  <a:noFill/>
                </a:ln>
                <a:solidFill>
                  <a:srgbClr val="000000"/>
                </a:solidFill>
                <a:effectLst/>
                <a:latin typeface="Monaco"/>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err="1">
                <a:ln>
                  <a:noFill/>
                </a:ln>
                <a:solidFill>
                  <a:srgbClr val="000000"/>
                </a:solidFill>
                <a:effectLst/>
                <a:latin typeface="Monaco"/>
              </a:rPr>
              <a:t>CreatedDate</a:t>
            </a:r>
            <a:r>
              <a:rPr kumimoji="0" lang="en-US" altLang="en-US" sz="1000" b="0" i="0" u="none" strike="noStrike" cap="none" normalizeH="0" baseline="0" dirty="0">
                <a:ln>
                  <a:noFill/>
                </a:ln>
                <a:solidFill>
                  <a:srgbClr val="000000"/>
                </a:solidFill>
                <a:effectLst/>
                <a:latin typeface="Monaco"/>
              </a:rPr>
              <a:t> </a:t>
            </a:r>
            <a:r>
              <a:rPr kumimoji="0" lang="en-US" altLang="en-US" sz="1000" b="0" i="0" u="none" strike="noStrike" cap="none" normalizeH="0" baseline="0" dirty="0" err="1">
                <a:ln>
                  <a:noFill/>
                </a:ln>
                <a:solidFill>
                  <a:srgbClr val="000000"/>
                </a:solidFill>
                <a:effectLst/>
                <a:latin typeface="Monaco"/>
              </a:rPr>
              <a:t>DateTime</a:t>
            </a:r>
            <a:r>
              <a:rPr kumimoji="0" lang="en-US" altLang="en-US" sz="1000" b="0" i="0" u="none" strike="noStrike" cap="none" normalizeH="0" baseline="0" dirty="0">
                <a:ln>
                  <a:noFill/>
                </a:ln>
                <a:solidFill>
                  <a:srgbClr val="000000"/>
                </a:solidFill>
                <a:effectLst/>
                <a:latin typeface="Monaco"/>
              </a:rPr>
              <a:t> </a:t>
            </a:r>
            <a:r>
              <a:rPr kumimoji="0" lang="en-US" altLang="en-US" sz="1000" b="1" i="0" u="none" strike="noStrike" cap="none" normalizeH="0" baseline="0" dirty="0">
                <a:ln>
                  <a:noFill/>
                </a:ln>
                <a:solidFill>
                  <a:srgbClr val="006699"/>
                </a:solidFill>
                <a:effectLst/>
                <a:latin typeface="Monaco"/>
              </a:rPr>
              <a:t>Default</a:t>
            </a:r>
            <a:r>
              <a:rPr kumimoji="0" lang="en-US" altLang="en-US" sz="1000" b="0" i="0" u="none" strike="noStrike" cap="none" normalizeH="0" baseline="0" dirty="0">
                <a:ln>
                  <a:noFill/>
                </a:ln>
                <a:solidFill>
                  <a:srgbClr val="000000"/>
                </a:solidFill>
                <a:effectLst/>
                <a:latin typeface="Monaco"/>
              </a:rPr>
              <a:t>(</a:t>
            </a:r>
            <a:r>
              <a:rPr kumimoji="0" lang="en-US" altLang="en-US" sz="1000" b="0" i="0" u="none" strike="noStrike" cap="none" normalizeH="0" baseline="0" dirty="0" err="1">
                <a:ln>
                  <a:noFill/>
                </a:ln>
                <a:solidFill>
                  <a:srgbClr val="000000"/>
                </a:solidFill>
                <a:effectLst/>
                <a:latin typeface="Monaco"/>
              </a:rPr>
              <a:t>GetDate</a:t>
            </a:r>
            <a:r>
              <a:rPr kumimoji="0" lang="en-US" altLang="en-US" sz="1000" b="0" i="0" u="none" strike="noStrike" cap="none" normalizeH="0" baseline="0" dirty="0">
                <a:ln>
                  <a:noFill/>
                </a:ln>
                <a:solidFill>
                  <a:srgbClr val="000000"/>
                </a:solidFill>
                <a:effectLst/>
                <a:latin typeface="Monaco"/>
              </a:rPr>
              <a:t>()) </a:t>
            </a:r>
            <a:r>
              <a:rPr kumimoji="0" lang="en-US" altLang="en-US" sz="1000" b="0" i="0" u="none" strike="noStrike" cap="none" normalizeH="0" baseline="0" dirty="0">
                <a:ln>
                  <a:noFill/>
                </a:ln>
                <a:solidFill>
                  <a:srgbClr val="808080"/>
                </a:solidFill>
                <a:effectLst/>
                <a:latin typeface="Monaco"/>
              </a:rPr>
              <a:t>Not</a:t>
            </a:r>
            <a:r>
              <a:rPr kumimoji="0" lang="en-US" altLang="en-US" sz="1400" b="0" i="0" u="none" strike="noStrike" cap="none" normalizeH="0" baseline="0" dirty="0">
                <a:ln>
                  <a:noFill/>
                </a:ln>
                <a:solidFill>
                  <a:srgbClr val="3D3D3D"/>
                </a:solidFill>
                <a:effectLst/>
                <a:latin typeface="Monaco"/>
              </a:rPr>
              <a:t> </a:t>
            </a:r>
            <a:r>
              <a:rPr kumimoji="0" lang="en-US" altLang="en-US" sz="1000" b="0" i="0" u="none" strike="noStrike" cap="none" normalizeH="0" baseline="0" dirty="0">
                <a:ln>
                  <a:noFill/>
                </a:ln>
                <a:solidFill>
                  <a:srgbClr val="808080"/>
                </a:solidFill>
                <a:effectLst/>
                <a:latin typeface="Monaco"/>
              </a:rPr>
              <a:t>Null</a:t>
            </a:r>
            <a:r>
              <a:rPr kumimoji="0" lang="en-US" altLang="en-US" sz="1000" b="0" i="0" u="none" strike="noStrike" cap="none" normalizeH="0" baseline="0" dirty="0">
                <a:ln>
                  <a:noFill/>
                </a:ln>
                <a:solidFill>
                  <a:srgbClr val="000000"/>
                </a:solidFill>
                <a:effectLst/>
                <a:latin typeface="Monaco"/>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Monaco"/>
              </a:rPr>
              <a:t>GO</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6699"/>
                </a:solidFill>
                <a:effectLst/>
                <a:latin typeface="Monaco"/>
              </a:rPr>
              <a:t>Insert</a:t>
            </a:r>
            <a:r>
              <a:rPr kumimoji="0" lang="en-US" altLang="en-US" sz="1400" b="0" i="0" u="none" strike="noStrike" cap="none" normalizeH="0" baseline="0" dirty="0">
                <a:ln>
                  <a:noFill/>
                </a:ln>
                <a:solidFill>
                  <a:srgbClr val="3D3D3D"/>
                </a:solidFill>
                <a:effectLst/>
                <a:latin typeface="Monaco"/>
              </a:rPr>
              <a:t> </a:t>
            </a:r>
            <a:r>
              <a:rPr kumimoji="0" lang="en-US" altLang="en-US" sz="1000" b="1" i="0" u="none" strike="noStrike" cap="none" normalizeH="0" baseline="0" dirty="0">
                <a:ln>
                  <a:noFill/>
                </a:ln>
                <a:solidFill>
                  <a:srgbClr val="006699"/>
                </a:solidFill>
                <a:effectLst/>
                <a:latin typeface="Monaco"/>
              </a:rPr>
              <a:t>Into</a:t>
            </a:r>
            <a:r>
              <a:rPr kumimoji="0" lang="en-US" altLang="en-US" sz="1400" b="0" i="0" u="none" strike="noStrike" cap="none" normalizeH="0" baseline="0" dirty="0">
                <a:ln>
                  <a:noFill/>
                </a:ln>
                <a:solidFill>
                  <a:srgbClr val="3D3D3D"/>
                </a:solidFill>
                <a:effectLst/>
                <a:latin typeface="Monaco"/>
              </a:rPr>
              <a:t> </a:t>
            </a:r>
            <a:r>
              <a:rPr kumimoji="0" lang="en-US" altLang="en-US" sz="1000" b="0" i="0" u="none" strike="noStrike" cap="none" normalizeH="0" baseline="0" dirty="0" err="1">
                <a:ln>
                  <a:noFill/>
                </a:ln>
                <a:solidFill>
                  <a:srgbClr val="000000"/>
                </a:solidFill>
                <a:effectLst/>
                <a:latin typeface="Monaco"/>
              </a:rPr>
              <a:t>UserInfo</a:t>
            </a:r>
            <a:r>
              <a:rPr kumimoji="0" lang="en-US" altLang="en-US" sz="1000" b="0" i="0" u="none" strike="noStrike" cap="none" normalizeH="0" baseline="0" dirty="0">
                <a:ln>
                  <a:noFill/>
                </a:ln>
                <a:solidFill>
                  <a:srgbClr val="000000"/>
                </a:solidFill>
                <a:effectLst/>
                <a:latin typeface="Monaco"/>
              </a:rPr>
              <a:t>(FirstName, </a:t>
            </a:r>
            <a:r>
              <a:rPr kumimoji="0" lang="en-US" altLang="en-US" sz="1000" b="0" i="0" u="none" strike="noStrike" cap="none" normalizeH="0" baseline="0" dirty="0" err="1">
                <a:ln>
                  <a:noFill/>
                </a:ln>
                <a:solidFill>
                  <a:srgbClr val="000000"/>
                </a:solidFill>
                <a:effectLst/>
                <a:latin typeface="Monaco"/>
              </a:rPr>
              <a:t>LastName</a:t>
            </a:r>
            <a:r>
              <a:rPr kumimoji="0" lang="en-US" altLang="en-US" sz="1000" b="0" i="0" u="none" strike="noStrike" cap="none" normalizeH="0" baseline="0" dirty="0">
                <a:ln>
                  <a:noFill/>
                </a:ln>
                <a:solidFill>
                  <a:srgbClr val="000000"/>
                </a:solidFill>
                <a:effectLst/>
                <a:latin typeface="Monaco"/>
              </a:rPr>
              <a:t>, </a:t>
            </a:r>
            <a:r>
              <a:rPr kumimoji="0" lang="en-US" altLang="en-US" sz="1000" b="0" i="0" u="none" strike="noStrike" cap="none" normalizeH="0" baseline="0" dirty="0" err="1">
                <a:ln>
                  <a:noFill/>
                </a:ln>
                <a:solidFill>
                  <a:srgbClr val="000000"/>
                </a:solidFill>
                <a:effectLst/>
                <a:latin typeface="Monaco"/>
              </a:rPr>
              <a:t>UserName</a:t>
            </a:r>
            <a:r>
              <a:rPr kumimoji="0" lang="en-US" altLang="en-US" sz="1000" b="0" i="0" u="none" strike="noStrike" cap="none" normalizeH="0" baseline="0" dirty="0">
                <a:ln>
                  <a:noFill/>
                </a:ln>
                <a:solidFill>
                  <a:srgbClr val="000000"/>
                </a:solidFill>
                <a:effectLst/>
                <a:latin typeface="Monaco"/>
              </a:rPr>
              <a:t>, Email, </a:t>
            </a:r>
            <a:r>
              <a:rPr kumimoji="0" lang="en-US" altLang="en-US" sz="1000" b="1" i="0" u="none" strike="noStrike" cap="none" normalizeH="0" baseline="0" dirty="0">
                <a:ln>
                  <a:noFill/>
                </a:ln>
                <a:solidFill>
                  <a:srgbClr val="006699"/>
                </a:solidFill>
                <a:effectLst/>
                <a:latin typeface="Monaco"/>
              </a:rPr>
              <a:t>Password</a:t>
            </a:r>
            <a:r>
              <a:rPr kumimoji="0" lang="en-US" altLang="en-US" sz="1000" b="0" i="0" u="none" strike="noStrike" cap="none" normalizeH="0" baseline="0" dirty="0">
                <a:ln>
                  <a:noFill/>
                </a:ln>
                <a:solidFill>
                  <a:srgbClr val="000000"/>
                </a:solidFill>
                <a:effectLst/>
                <a:latin typeface="Monaco"/>
              </a:rPr>
              <a:t>) </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6699"/>
                </a:solidFill>
                <a:effectLst/>
                <a:latin typeface="Monaco"/>
              </a:rPr>
              <a:t>Values</a:t>
            </a:r>
            <a:r>
              <a:rPr kumimoji="0" lang="en-US" altLang="en-US" sz="1400" b="0" i="0" u="none" strike="noStrike" cap="none" normalizeH="0" baseline="0" dirty="0">
                <a:ln>
                  <a:noFill/>
                </a:ln>
                <a:solidFill>
                  <a:srgbClr val="AFAFAF"/>
                </a:solidFill>
                <a:effectLst/>
                <a:latin typeface="Monaco"/>
              </a:rPr>
              <a:t> </a:t>
            </a:r>
            <a:r>
              <a:rPr kumimoji="0" lang="en-US" altLang="en-US" sz="1000" b="0" i="0" u="none" strike="noStrike" cap="none" normalizeH="0" baseline="0" dirty="0">
                <a:ln>
                  <a:noFill/>
                </a:ln>
                <a:solidFill>
                  <a:srgbClr val="000000"/>
                </a:solidFill>
                <a:effectLst/>
                <a:latin typeface="Monaco"/>
              </a:rPr>
              <a:t>(</a:t>
            </a:r>
            <a:r>
              <a:rPr kumimoji="0" lang="en-US" altLang="en-US" sz="1000" b="0" i="0" u="none" strike="noStrike" cap="none" normalizeH="0" baseline="0" dirty="0">
                <a:ln>
                  <a:noFill/>
                </a:ln>
                <a:solidFill>
                  <a:srgbClr val="0000FF"/>
                </a:solidFill>
                <a:effectLst/>
                <a:latin typeface="Monaco"/>
              </a:rPr>
              <a:t>'Inventory'</a:t>
            </a:r>
            <a:r>
              <a:rPr kumimoji="0" lang="en-US" altLang="en-US" sz="1000" b="0" i="0" u="none" strike="noStrike" cap="none" normalizeH="0" baseline="0" dirty="0">
                <a:ln>
                  <a:noFill/>
                </a:ln>
                <a:solidFill>
                  <a:srgbClr val="000000"/>
                </a:solidFill>
                <a:effectLst/>
                <a:latin typeface="Monaco"/>
              </a:rPr>
              <a:t>, </a:t>
            </a:r>
            <a:r>
              <a:rPr kumimoji="0" lang="en-US" altLang="en-US" sz="1000" b="0" i="0" u="none" strike="noStrike" cap="none" normalizeH="0" baseline="0" dirty="0">
                <a:ln>
                  <a:noFill/>
                </a:ln>
                <a:solidFill>
                  <a:srgbClr val="0000FF"/>
                </a:solidFill>
                <a:effectLst/>
                <a:latin typeface="Monaco"/>
              </a:rPr>
              <a:t>'Admin'</a:t>
            </a:r>
            <a:r>
              <a:rPr kumimoji="0" lang="en-US" altLang="en-US" sz="1000" b="0" i="0" u="none" strike="noStrike" cap="none" normalizeH="0" baseline="0" dirty="0">
                <a:ln>
                  <a:noFill/>
                </a:ln>
                <a:solidFill>
                  <a:srgbClr val="000000"/>
                </a:solidFill>
                <a:effectLst/>
                <a:latin typeface="Monaco"/>
              </a:rPr>
              <a:t>, </a:t>
            </a:r>
            <a:r>
              <a:rPr kumimoji="0" lang="en-US" altLang="en-US" sz="1000" b="0" i="0" u="none" strike="noStrike" cap="none" normalizeH="0" baseline="0" dirty="0">
                <a:ln>
                  <a:noFill/>
                </a:ln>
                <a:solidFill>
                  <a:srgbClr val="0000FF"/>
                </a:solidFill>
                <a:effectLst/>
                <a:latin typeface="Monaco"/>
              </a:rPr>
              <a:t>'</a:t>
            </a:r>
            <a:r>
              <a:rPr kumimoji="0" lang="en-US" altLang="en-US" sz="1000" b="0" i="0" u="none" strike="noStrike" cap="none" normalizeH="0" baseline="0" dirty="0" err="1">
                <a:ln>
                  <a:noFill/>
                </a:ln>
                <a:solidFill>
                  <a:srgbClr val="0000FF"/>
                </a:solidFill>
                <a:effectLst/>
                <a:latin typeface="Monaco"/>
              </a:rPr>
              <a:t>InventoryAdmin</a:t>
            </a:r>
            <a:r>
              <a:rPr kumimoji="0" lang="en-US" altLang="en-US" sz="1000" b="0" i="0" u="none" strike="noStrike" cap="none" normalizeH="0" baseline="0" dirty="0">
                <a:ln>
                  <a:noFill/>
                </a:ln>
                <a:solidFill>
                  <a:srgbClr val="0000FF"/>
                </a:solidFill>
                <a:effectLst/>
                <a:latin typeface="Monaco"/>
              </a:rPr>
              <a:t>'</a:t>
            </a:r>
            <a:r>
              <a:rPr kumimoji="0" lang="en-US" altLang="en-US" sz="1000" b="0" i="0" u="none" strike="noStrike" cap="none" normalizeH="0" baseline="0" dirty="0">
                <a:ln>
                  <a:noFill/>
                </a:ln>
                <a:solidFill>
                  <a:srgbClr val="000000"/>
                </a:solidFill>
                <a:effectLst/>
                <a:latin typeface="Monaco"/>
              </a:rPr>
              <a:t>, </a:t>
            </a:r>
            <a:r>
              <a:rPr kumimoji="0" lang="en-US" altLang="en-US" sz="1000" b="0" i="0" u="none" strike="noStrike" cap="none" normalizeH="0" baseline="0" dirty="0">
                <a:ln>
                  <a:noFill/>
                </a:ln>
                <a:solidFill>
                  <a:srgbClr val="0000FF"/>
                </a:solidFill>
                <a:effectLst/>
                <a:latin typeface="Monaco"/>
              </a:rPr>
              <a:t>'InventoryAdmin@abc.com'</a:t>
            </a:r>
            <a:r>
              <a:rPr kumimoji="0" lang="en-US" altLang="en-US" sz="1000" b="0" i="0" u="none" strike="noStrike" cap="none" normalizeH="0" baseline="0" dirty="0">
                <a:ln>
                  <a:noFill/>
                </a:ln>
                <a:solidFill>
                  <a:srgbClr val="000000"/>
                </a:solidFill>
                <a:effectLst/>
                <a:latin typeface="Monaco"/>
              </a:rPr>
              <a:t>, </a:t>
            </a:r>
            <a:r>
              <a:rPr kumimoji="0" lang="en-US" altLang="en-US" sz="1000" b="0" i="0" u="none" strike="noStrike" cap="none" normalizeH="0" baseline="0" dirty="0">
                <a:ln>
                  <a:noFill/>
                </a:ln>
                <a:solidFill>
                  <a:srgbClr val="0000FF"/>
                </a:solidFill>
                <a:effectLst/>
                <a:latin typeface="Monaco"/>
              </a:rPr>
              <a:t>'$admin@2017'</a:t>
            </a:r>
            <a:r>
              <a:rPr kumimoji="0" lang="en-US" altLang="en-US" sz="1000" b="0" i="0" u="none" strike="noStrike" cap="none" normalizeH="0" baseline="0" dirty="0">
                <a:ln>
                  <a:noFill/>
                </a:ln>
                <a:solidFill>
                  <a:srgbClr val="000000"/>
                </a:solidFill>
                <a:effectLst/>
                <a:latin typeface="Monaco"/>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14539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4620020-943F-4FF3-BB0B-18AA57E65206}"/>
              </a:ext>
            </a:extLst>
          </p:cNvPr>
          <p:cNvSpPr>
            <a:spLocks noGrp="1"/>
          </p:cNvSpPr>
          <p:nvPr>
            <p:ph idx="1"/>
          </p:nvPr>
        </p:nvSpPr>
        <p:spPr>
          <a:xfrm>
            <a:off x="76200" y="990600"/>
            <a:ext cx="8991600" cy="5643563"/>
          </a:xfrm>
        </p:spPr>
        <p:txBody>
          <a:bodyPr/>
          <a:lstStyle/>
          <a:p>
            <a:pPr algn="l"/>
            <a:endParaRPr lang="en-US" b="1" i="0" dirty="0">
              <a:solidFill>
                <a:srgbClr val="3D3D3D"/>
              </a:solidFill>
              <a:effectLst/>
              <a:latin typeface="Open Sans"/>
            </a:endParaRPr>
          </a:p>
          <a:p>
            <a:pPr algn="l"/>
            <a:endParaRPr lang="en-US" sz="1800" b="1" dirty="0">
              <a:solidFill>
                <a:srgbClr val="3D3D3D"/>
              </a:solidFill>
              <a:latin typeface="Open Sans"/>
            </a:endParaRPr>
          </a:p>
          <a:p>
            <a:pPr algn="l"/>
            <a:endParaRPr lang="en-US" sz="1800" b="1" dirty="0">
              <a:solidFill>
                <a:srgbClr val="3D3D3D"/>
              </a:solidFill>
              <a:latin typeface="Open Sans"/>
            </a:endParaRPr>
          </a:p>
          <a:p>
            <a:pPr algn="l"/>
            <a:endParaRPr lang="en-US" sz="1800" b="1" dirty="0">
              <a:solidFill>
                <a:srgbClr val="3D3D3D"/>
              </a:solidFill>
              <a:latin typeface="Open Sans"/>
            </a:endParaRPr>
          </a:p>
          <a:p>
            <a:pPr algn="l"/>
            <a:r>
              <a:rPr lang="en-US" sz="1800" b="1" i="0" dirty="0">
                <a:solidFill>
                  <a:srgbClr val="3D3D3D"/>
                </a:solidFill>
                <a:effectLst/>
                <a:latin typeface="Open Sans"/>
              </a:rPr>
              <a:t>Step 3:</a:t>
            </a:r>
            <a:r>
              <a:rPr lang="en-US" sz="1800" b="0" i="0" dirty="0">
                <a:solidFill>
                  <a:srgbClr val="3D3D3D"/>
                </a:solidFill>
                <a:effectLst/>
                <a:latin typeface="Open Sans"/>
              </a:rPr>
              <a:t> Run the following scaffold command in </a:t>
            </a:r>
            <a:r>
              <a:rPr lang="en-US" sz="1800" b="1" i="0" dirty="0">
                <a:solidFill>
                  <a:srgbClr val="3D3D3D"/>
                </a:solidFill>
                <a:effectLst/>
                <a:latin typeface="Open Sans"/>
              </a:rPr>
              <a:t>Package Manager Console</a:t>
            </a:r>
            <a:r>
              <a:rPr lang="en-US" sz="1800" b="0" i="0" dirty="0">
                <a:solidFill>
                  <a:srgbClr val="3D3D3D"/>
                </a:solidFill>
                <a:effectLst/>
                <a:latin typeface="Open Sans"/>
              </a:rPr>
              <a:t> to reverse engineer the database to create database context and entity POCO classes from tables. The scaffold command will create POCO class only for the tables that have a primary key.</a:t>
            </a:r>
          </a:p>
          <a:p>
            <a:pPr algn="l"/>
            <a:endParaRPr lang="en-US" sz="1800" b="0" i="0" dirty="0">
              <a:solidFill>
                <a:srgbClr val="3D3D3D"/>
              </a:solidFill>
              <a:effectLst/>
              <a:latin typeface="Open Sans"/>
            </a:endParaRPr>
          </a:p>
          <a:p>
            <a:pPr algn="l"/>
            <a:r>
              <a:rPr lang="en-US" sz="1800" b="1" i="0" dirty="0">
                <a:solidFill>
                  <a:srgbClr val="3D3D3D"/>
                </a:solidFill>
                <a:effectLst/>
                <a:latin typeface="Open Sans"/>
              </a:rPr>
              <a:t>Scaffold-</a:t>
            </a:r>
            <a:r>
              <a:rPr lang="en-US" sz="1800" b="1" i="0" dirty="0" err="1">
                <a:solidFill>
                  <a:srgbClr val="3D3D3D"/>
                </a:solidFill>
                <a:effectLst/>
                <a:latin typeface="Open Sans"/>
              </a:rPr>
              <a:t>DbContext</a:t>
            </a:r>
            <a:r>
              <a:rPr lang="en-US" sz="1800" b="1" i="0" dirty="0">
                <a:solidFill>
                  <a:srgbClr val="3D3D3D"/>
                </a:solidFill>
                <a:effectLst/>
                <a:latin typeface="Open Sans"/>
              </a:rPr>
              <a:t> “Server=******;Database=</a:t>
            </a:r>
            <a:r>
              <a:rPr lang="en-US" sz="1800" b="1" i="0" dirty="0" err="1">
                <a:solidFill>
                  <a:srgbClr val="3D3D3D"/>
                </a:solidFill>
                <a:effectLst/>
                <a:latin typeface="Open Sans"/>
              </a:rPr>
              <a:t>Inventory;Integrated</a:t>
            </a:r>
            <a:r>
              <a:rPr lang="en-US" sz="1800" b="1" i="0" dirty="0">
                <a:solidFill>
                  <a:srgbClr val="3D3D3D"/>
                </a:solidFill>
                <a:effectLst/>
                <a:latin typeface="Open Sans"/>
              </a:rPr>
              <a:t> Security=True” </a:t>
            </a:r>
            <a:r>
              <a:rPr lang="en-US" sz="1800" b="1" i="0" dirty="0" err="1">
                <a:solidFill>
                  <a:srgbClr val="3D3D3D"/>
                </a:solidFill>
                <a:effectLst/>
                <a:latin typeface="Open Sans"/>
              </a:rPr>
              <a:t>Microsoft.EntityFrameworkCore.SqlServer</a:t>
            </a:r>
            <a:r>
              <a:rPr lang="en-US" sz="1800" b="1" i="0" dirty="0">
                <a:solidFill>
                  <a:srgbClr val="3D3D3D"/>
                </a:solidFill>
                <a:effectLst/>
                <a:latin typeface="Open Sans"/>
              </a:rPr>
              <a:t> -</a:t>
            </a:r>
            <a:r>
              <a:rPr lang="en-US" sz="1800" b="1" i="0" dirty="0" err="1">
                <a:solidFill>
                  <a:srgbClr val="3D3D3D"/>
                </a:solidFill>
                <a:effectLst/>
                <a:latin typeface="Open Sans"/>
              </a:rPr>
              <a:t>OutputDir</a:t>
            </a:r>
            <a:r>
              <a:rPr lang="en-US" sz="1800" b="1" i="0" dirty="0">
                <a:solidFill>
                  <a:srgbClr val="3D3D3D"/>
                </a:solidFill>
                <a:effectLst/>
                <a:latin typeface="Open Sans"/>
              </a:rPr>
              <a:t> Models</a:t>
            </a:r>
          </a:p>
          <a:p>
            <a:pPr algn="l">
              <a:buFont typeface="Arial" panose="020B0604020202020204" pitchFamily="34" charset="0"/>
              <a:buChar char="•"/>
            </a:pPr>
            <a:r>
              <a:rPr lang="en-US" sz="1800" b="1" i="0" dirty="0">
                <a:solidFill>
                  <a:srgbClr val="3D3D3D"/>
                </a:solidFill>
                <a:effectLst/>
                <a:latin typeface="Open Sans"/>
              </a:rPr>
              <a:t>Connection</a:t>
            </a:r>
            <a:r>
              <a:rPr lang="en-US" sz="1800" b="0" i="0" dirty="0">
                <a:solidFill>
                  <a:srgbClr val="3D3D3D"/>
                </a:solidFill>
                <a:effectLst/>
                <a:latin typeface="Open Sans"/>
              </a:rPr>
              <a:t>: Sets connection string of the database.</a:t>
            </a:r>
          </a:p>
          <a:p>
            <a:pPr algn="l">
              <a:buFont typeface="Arial" panose="020B0604020202020204" pitchFamily="34" charset="0"/>
              <a:buChar char="•"/>
            </a:pPr>
            <a:r>
              <a:rPr lang="en-US" sz="1800" b="1" i="0" dirty="0">
                <a:solidFill>
                  <a:srgbClr val="3D3D3D"/>
                </a:solidFill>
                <a:effectLst/>
                <a:latin typeface="Open Sans"/>
              </a:rPr>
              <a:t>Provider</a:t>
            </a:r>
            <a:r>
              <a:rPr lang="en-US" sz="1800" b="0" i="0" dirty="0">
                <a:solidFill>
                  <a:srgbClr val="3D3D3D"/>
                </a:solidFill>
                <a:effectLst/>
                <a:latin typeface="Open Sans"/>
              </a:rPr>
              <a:t>: Sets the provider to be used to connect database.</a:t>
            </a:r>
          </a:p>
          <a:p>
            <a:pPr algn="l">
              <a:buFont typeface="Arial" panose="020B0604020202020204" pitchFamily="34" charset="0"/>
              <a:buChar char="•"/>
            </a:pPr>
            <a:r>
              <a:rPr lang="en-US" sz="1800" b="1" i="0" dirty="0" err="1">
                <a:solidFill>
                  <a:srgbClr val="3D3D3D"/>
                </a:solidFill>
                <a:effectLst/>
                <a:latin typeface="Open Sans"/>
              </a:rPr>
              <a:t>OutputDir</a:t>
            </a:r>
            <a:r>
              <a:rPr lang="en-US" sz="1800" b="0" i="0" dirty="0">
                <a:solidFill>
                  <a:srgbClr val="3D3D3D"/>
                </a:solidFill>
                <a:effectLst/>
                <a:latin typeface="Open Sans"/>
              </a:rPr>
              <a:t>: Sets the directory where the POCO classes are generated.</a:t>
            </a:r>
          </a:p>
          <a:p>
            <a:pPr algn="l"/>
            <a:r>
              <a:rPr lang="en-US" sz="1800" b="0" i="0" dirty="0">
                <a:solidFill>
                  <a:srgbClr val="3D3D3D"/>
                </a:solidFill>
                <a:effectLst/>
                <a:latin typeface="Open Sans"/>
              </a:rPr>
              <a:t>In our case, the Products class and Inventory context class will be created as shown in the following screenshot.</a:t>
            </a:r>
          </a:p>
          <a:p>
            <a:pPr marL="0" indent="0">
              <a:buNone/>
            </a:pPr>
            <a:endParaRPr lang="en-IN" dirty="0"/>
          </a:p>
        </p:txBody>
      </p:sp>
      <p:pic>
        <p:nvPicPr>
          <p:cNvPr id="4" name="Picture 3">
            <a:extLst>
              <a:ext uri="{FF2B5EF4-FFF2-40B4-BE49-F238E27FC236}">
                <a16:creationId xmlns:a16="http://schemas.microsoft.com/office/drawing/2014/main" xmlns="" id="{080C821A-03DB-42B6-B742-7BAA9A1D6064}"/>
              </a:ext>
            </a:extLst>
          </p:cNvPr>
          <p:cNvPicPr>
            <a:picLocks noChangeAspect="1"/>
          </p:cNvPicPr>
          <p:nvPr/>
        </p:nvPicPr>
        <p:blipFill>
          <a:blip r:embed="rId2"/>
          <a:stretch>
            <a:fillRect/>
          </a:stretch>
        </p:blipFill>
        <p:spPr>
          <a:xfrm>
            <a:off x="6581775" y="-152400"/>
            <a:ext cx="2562225" cy="2628900"/>
          </a:xfrm>
          <a:prstGeom prst="rect">
            <a:avLst/>
          </a:prstGeom>
        </p:spPr>
      </p:pic>
    </p:spTree>
    <p:extLst>
      <p:ext uri="{BB962C8B-B14F-4D97-AF65-F5344CB8AC3E}">
        <p14:creationId xmlns:p14="http://schemas.microsoft.com/office/powerpoint/2010/main" val="2804380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66913079-23C3-00D2-F7D4-5E5F8EDBC5CB}"/>
              </a:ext>
            </a:extLst>
          </p:cNvPr>
          <p:cNvSpPr txBox="1"/>
          <p:nvPr/>
        </p:nvSpPr>
        <p:spPr>
          <a:xfrm>
            <a:off x="1143000" y="1295400"/>
            <a:ext cx="7467600" cy="1754326"/>
          </a:xfrm>
          <a:prstGeom prst="rect">
            <a:avLst/>
          </a:prstGeom>
          <a:noFill/>
        </p:spPr>
        <p:txBody>
          <a:bodyPr wrap="square">
            <a:spAutoFit/>
          </a:bodyPr>
          <a:lstStyle/>
          <a:p>
            <a:r>
              <a:rPr lang="en-IN" sz="1800" dirty="0">
                <a:solidFill>
                  <a:srgbClr val="000000"/>
                </a:solidFill>
                <a:latin typeface="Cascadia Mono" panose="020B0609020000020004" pitchFamily="49" charset="0"/>
              </a:rPr>
              <a:t>Scaffold-</a:t>
            </a:r>
            <a:r>
              <a:rPr lang="en-IN" sz="1800" dirty="0" err="1">
                <a:solidFill>
                  <a:srgbClr val="000000"/>
                </a:solidFill>
                <a:latin typeface="Cascadia Mono" panose="020B0609020000020004" pitchFamily="49" charset="0"/>
              </a:rPr>
              <a:t>DbContext</a:t>
            </a:r>
            <a:r>
              <a:rPr lang="en-IN" sz="1800" dirty="0">
                <a:solidFill>
                  <a:srgbClr val="000000"/>
                </a:solidFill>
                <a:latin typeface="Cascadia Mono" panose="020B0609020000020004" pitchFamily="49" charset="0"/>
              </a:rPr>
              <a:t> "Data Source=(</a:t>
            </a:r>
            <a:r>
              <a:rPr lang="en-IN" sz="1800" dirty="0" err="1">
                <a:solidFill>
                  <a:srgbClr val="000000"/>
                </a:solidFill>
                <a:latin typeface="Cascadia Mono" panose="020B0609020000020004" pitchFamily="49" charset="0"/>
              </a:rPr>
              <a:t>localdb</a:t>
            </a:r>
            <a:r>
              <a:rPr lang="en-IN" sz="1800" dirty="0">
                <a:solidFill>
                  <a:srgbClr val="000000"/>
                </a:solidFill>
                <a:latin typeface="Cascadia Mono" panose="020B0609020000020004" pitchFamily="49" charset="0"/>
              </a:rPr>
              <a:t>)\</a:t>
            </a:r>
            <a:r>
              <a:rPr lang="en-IN" sz="1800" dirty="0" err="1">
                <a:solidFill>
                  <a:srgbClr val="000000"/>
                </a:solidFill>
                <a:latin typeface="Cascadia Mono" panose="020B0609020000020004" pitchFamily="49" charset="0"/>
              </a:rPr>
              <a:t>ProjectModels;Initial</a:t>
            </a:r>
            <a:r>
              <a:rPr lang="en-IN" sz="1800" dirty="0">
                <a:solidFill>
                  <a:srgbClr val="000000"/>
                </a:solidFill>
                <a:latin typeface="Cascadia Mono" panose="020B0609020000020004" pitchFamily="49" charset="0"/>
              </a:rPr>
              <a:t> </a:t>
            </a:r>
            <a:r>
              <a:rPr lang="en-IN" sz="1800" dirty="0" err="1">
                <a:solidFill>
                  <a:srgbClr val="000000"/>
                </a:solidFill>
                <a:latin typeface="Cascadia Mono" panose="020B0609020000020004" pitchFamily="49" charset="0"/>
              </a:rPr>
              <a:t>Catalog</a:t>
            </a:r>
            <a:r>
              <a:rPr lang="en-IN" sz="1800" dirty="0">
                <a:solidFill>
                  <a:srgbClr val="000000"/>
                </a:solidFill>
                <a:latin typeface="Cascadia Mono" panose="020B0609020000020004" pitchFamily="49" charset="0"/>
              </a:rPr>
              <a:t>=</a:t>
            </a:r>
            <a:r>
              <a:rPr lang="en-IN" sz="1800" dirty="0" err="1">
                <a:solidFill>
                  <a:srgbClr val="000000"/>
                </a:solidFill>
                <a:latin typeface="Cascadia Mono" panose="020B0609020000020004" pitchFamily="49" charset="0"/>
              </a:rPr>
              <a:t>StudentData;Integrated</a:t>
            </a:r>
            <a:r>
              <a:rPr lang="en-IN" sz="1800" dirty="0">
                <a:solidFill>
                  <a:srgbClr val="000000"/>
                </a:solidFill>
                <a:latin typeface="Cascadia Mono" panose="020B0609020000020004" pitchFamily="49" charset="0"/>
              </a:rPr>
              <a:t> Security=True" </a:t>
            </a:r>
            <a:r>
              <a:rPr lang="en-IN" sz="1800" dirty="0" err="1">
                <a:solidFill>
                  <a:srgbClr val="000000"/>
                </a:solidFill>
                <a:latin typeface="Cascadia Mono" panose="020B0609020000020004" pitchFamily="49" charset="0"/>
              </a:rPr>
              <a:t>Microsoft.EntityFrameworkCore.SqlServer</a:t>
            </a:r>
            <a:r>
              <a:rPr lang="en-IN" sz="1800" dirty="0">
                <a:solidFill>
                  <a:srgbClr val="000000"/>
                </a:solidFill>
                <a:latin typeface="Cascadia Mono" panose="020B0609020000020004" pitchFamily="49" charset="0"/>
              </a:rPr>
              <a:t> –</a:t>
            </a:r>
            <a:r>
              <a:rPr lang="en-IN" sz="1800" dirty="0" err="1">
                <a:solidFill>
                  <a:srgbClr val="000000"/>
                </a:solidFill>
                <a:latin typeface="Cascadia Mono" panose="020B0609020000020004" pitchFamily="49" charset="0"/>
              </a:rPr>
              <a:t>OutputDir</a:t>
            </a:r>
            <a:r>
              <a:rPr lang="en-IN" sz="1800" dirty="0">
                <a:solidFill>
                  <a:srgbClr val="000000"/>
                </a:solidFill>
                <a:latin typeface="Cascadia Mono" panose="020B0609020000020004" pitchFamily="49" charset="0"/>
              </a:rPr>
              <a:t> Models –Context </a:t>
            </a:r>
            <a:r>
              <a:rPr lang="en-IN" sz="1800" dirty="0" err="1">
                <a:solidFill>
                  <a:srgbClr val="000000"/>
                </a:solidFill>
                <a:latin typeface="Cascadia Mono" panose="020B0609020000020004" pitchFamily="49" charset="0"/>
              </a:rPr>
              <a:t>StudentContext</a:t>
            </a:r>
            <a:r>
              <a:rPr lang="en-IN" sz="1800" dirty="0">
                <a:solidFill>
                  <a:srgbClr val="000000"/>
                </a:solidFill>
                <a:latin typeface="Cascadia Mono" panose="020B0609020000020004" pitchFamily="49" charset="0"/>
              </a:rPr>
              <a:t> –tables "</a:t>
            </a:r>
            <a:r>
              <a:rPr lang="en-IN" sz="1800" dirty="0" err="1">
                <a:solidFill>
                  <a:srgbClr val="000000"/>
                </a:solidFill>
                <a:latin typeface="Cascadia Mono" panose="020B0609020000020004" pitchFamily="49" charset="0"/>
              </a:rPr>
              <a:t>UserInfo</a:t>
            </a:r>
            <a:r>
              <a:rPr lang="en-IN" sz="1800" dirty="0">
                <a:solidFill>
                  <a:srgbClr val="000000"/>
                </a:solidFill>
                <a:latin typeface="Cascadia Mono" panose="020B0609020000020004" pitchFamily="49" charset="0"/>
              </a:rPr>
              <a:t>", "Products" –</a:t>
            </a:r>
            <a:r>
              <a:rPr lang="en-IN" sz="1800" dirty="0" err="1">
                <a:solidFill>
                  <a:srgbClr val="000000"/>
                </a:solidFill>
                <a:latin typeface="Cascadia Mono" panose="020B0609020000020004" pitchFamily="49" charset="0"/>
              </a:rPr>
              <a:t>DataAnnotations</a:t>
            </a:r>
            <a:r>
              <a:rPr lang="en-IN" sz="1800" dirty="0">
                <a:solidFill>
                  <a:srgbClr val="000000"/>
                </a:solidFill>
                <a:latin typeface="Cascadia Mono" panose="020B0609020000020004" pitchFamily="49" charset="0"/>
              </a:rPr>
              <a:t> -Force</a:t>
            </a:r>
            <a:endParaRPr lang="en-IN" dirty="0"/>
          </a:p>
        </p:txBody>
      </p:sp>
    </p:spTree>
    <p:extLst>
      <p:ext uri="{BB962C8B-B14F-4D97-AF65-F5344CB8AC3E}">
        <p14:creationId xmlns:p14="http://schemas.microsoft.com/office/powerpoint/2010/main" val="3516298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6774500-8683-3B6A-0B99-CBF58541A028}"/>
              </a:ext>
            </a:extLst>
          </p:cNvPr>
          <p:cNvSpPr>
            <a:spLocks noGrp="1"/>
          </p:cNvSpPr>
          <p:nvPr>
            <p:ph type="title"/>
          </p:nvPr>
        </p:nvSpPr>
        <p:spPr/>
        <p:txBody>
          <a:bodyPr/>
          <a:lstStyle/>
          <a:p>
            <a:r>
              <a:rPr lang="en-US" dirty="0"/>
              <a:t>If scaffold-</a:t>
            </a:r>
            <a:r>
              <a:rPr lang="en-US" dirty="0" err="1"/>
              <a:t>DbContext</a:t>
            </a:r>
            <a:r>
              <a:rPr lang="en-US" dirty="0"/>
              <a:t> command does not work use following tool</a:t>
            </a:r>
            <a:endParaRPr lang="en-IN" dirty="0"/>
          </a:p>
        </p:txBody>
      </p:sp>
      <p:sp>
        <p:nvSpPr>
          <p:cNvPr id="3" name="Content Placeholder 2">
            <a:extLst>
              <a:ext uri="{FF2B5EF4-FFF2-40B4-BE49-F238E27FC236}">
                <a16:creationId xmlns:a16="http://schemas.microsoft.com/office/drawing/2014/main" xmlns="" id="{BB02AD8F-FD5E-36EF-67AB-B356064B9486}"/>
              </a:ext>
            </a:extLst>
          </p:cNvPr>
          <p:cNvSpPr>
            <a:spLocks noGrp="1"/>
          </p:cNvSpPr>
          <p:nvPr>
            <p:ph idx="1"/>
          </p:nvPr>
        </p:nvSpPr>
        <p:spPr/>
        <p:txBody>
          <a:bodyPr/>
          <a:lstStyle/>
          <a:p>
            <a:r>
              <a:rPr lang="en-IN"/>
              <a:t>https://marketplace.visualstudio.com/items?itemName=ErikEJ.EFCorePowerTools</a:t>
            </a:r>
          </a:p>
        </p:txBody>
      </p:sp>
    </p:spTree>
    <p:extLst>
      <p:ext uri="{BB962C8B-B14F-4D97-AF65-F5344CB8AC3E}">
        <p14:creationId xmlns:p14="http://schemas.microsoft.com/office/powerpoint/2010/main" val="275333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F292922-1D65-4526-9C4F-9CA3C86207A5}"/>
              </a:ext>
            </a:extLst>
          </p:cNvPr>
          <p:cNvSpPr>
            <a:spLocks noGrp="1"/>
          </p:cNvSpPr>
          <p:nvPr>
            <p:ph idx="1"/>
          </p:nvPr>
        </p:nvSpPr>
        <p:spPr>
          <a:xfrm>
            <a:off x="1524000" y="-29497"/>
            <a:ext cx="7086600" cy="1828800"/>
          </a:xfrm>
        </p:spPr>
        <p:txBody>
          <a:bodyPr>
            <a:normAutofit/>
          </a:bodyPr>
          <a:lstStyle/>
          <a:p>
            <a:pPr marL="0" indent="0">
              <a:buNone/>
            </a:pPr>
            <a:r>
              <a:rPr lang="en-US" dirty="0"/>
              <a:t>In the autogenerated </a:t>
            </a:r>
            <a:r>
              <a:rPr lang="en-US" dirty="0" err="1"/>
              <a:t>InventoryContext</a:t>
            </a:r>
            <a:r>
              <a:rPr lang="en-US" dirty="0"/>
              <a:t> class file, the database credentials you can see are hard coded in the </a:t>
            </a:r>
            <a:r>
              <a:rPr lang="en-US" dirty="0" err="1"/>
              <a:t>OnConfiguring</a:t>
            </a:r>
            <a:r>
              <a:rPr lang="en-US" dirty="0"/>
              <a:t> method. It is not a good practice to have SQL Server credentials in C# class, considering the security issues. We will red connection string from </a:t>
            </a:r>
            <a:r>
              <a:rPr lang="en-US" dirty="0" err="1"/>
              <a:t>appsettings.json</a:t>
            </a:r>
            <a:r>
              <a:rPr lang="en-US" dirty="0"/>
              <a:t> file</a:t>
            </a:r>
            <a:endParaRPr lang="en-IN" dirty="0"/>
          </a:p>
        </p:txBody>
      </p:sp>
      <p:pic>
        <p:nvPicPr>
          <p:cNvPr id="5" name="Picture 4">
            <a:extLst>
              <a:ext uri="{FF2B5EF4-FFF2-40B4-BE49-F238E27FC236}">
                <a16:creationId xmlns:a16="http://schemas.microsoft.com/office/drawing/2014/main" xmlns="" id="{5CE115E3-CB4D-E025-E600-41557BA5A628}"/>
              </a:ext>
            </a:extLst>
          </p:cNvPr>
          <p:cNvPicPr>
            <a:picLocks noChangeAspect="1"/>
          </p:cNvPicPr>
          <p:nvPr/>
        </p:nvPicPr>
        <p:blipFill rotWithShape="1">
          <a:blip r:embed="rId2"/>
          <a:srcRect t="7037" r="14166" b="7037"/>
          <a:stretch/>
        </p:blipFill>
        <p:spPr>
          <a:xfrm>
            <a:off x="304800" y="1905000"/>
            <a:ext cx="7848600" cy="4419600"/>
          </a:xfrm>
          <a:prstGeom prst="rect">
            <a:avLst/>
          </a:prstGeom>
        </p:spPr>
      </p:pic>
    </p:spTree>
    <p:extLst>
      <p:ext uri="{BB962C8B-B14F-4D97-AF65-F5344CB8AC3E}">
        <p14:creationId xmlns:p14="http://schemas.microsoft.com/office/powerpoint/2010/main" val="870378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664409E-E6D4-4D54-8F26-A9BC0CAF295D}"/>
              </a:ext>
            </a:extLst>
          </p:cNvPr>
          <p:cNvSpPr>
            <a:spLocks noGrp="1"/>
          </p:cNvSpPr>
          <p:nvPr>
            <p:ph idx="1"/>
          </p:nvPr>
        </p:nvSpPr>
        <p:spPr>
          <a:xfrm>
            <a:off x="990600" y="100767"/>
            <a:ext cx="8686800" cy="457200"/>
          </a:xfrm>
        </p:spPr>
        <p:txBody>
          <a:bodyPr/>
          <a:lstStyle/>
          <a:p>
            <a:pPr marL="0" indent="0">
              <a:buNone/>
            </a:pPr>
            <a:r>
              <a:rPr lang="en-US" dirty="0"/>
              <a:t>Add a connection string to the </a:t>
            </a:r>
            <a:r>
              <a:rPr lang="en-US" dirty="0" err="1"/>
              <a:t>appsetting.json</a:t>
            </a:r>
            <a:r>
              <a:rPr lang="en-US" dirty="0"/>
              <a:t> file.</a:t>
            </a:r>
            <a:endParaRPr lang="en-IN" dirty="0"/>
          </a:p>
        </p:txBody>
      </p:sp>
      <p:pic>
        <p:nvPicPr>
          <p:cNvPr id="4" name="Picture 3">
            <a:extLst>
              <a:ext uri="{FF2B5EF4-FFF2-40B4-BE49-F238E27FC236}">
                <a16:creationId xmlns:a16="http://schemas.microsoft.com/office/drawing/2014/main" xmlns="" id="{74C2EBCD-DF36-4052-9203-5B75EAB06FCC}"/>
              </a:ext>
            </a:extLst>
          </p:cNvPr>
          <p:cNvPicPr>
            <a:picLocks noChangeAspect="1"/>
          </p:cNvPicPr>
          <p:nvPr/>
        </p:nvPicPr>
        <p:blipFill>
          <a:blip r:embed="rId2"/>
          <a:stretch>
            <a:fillRect/>
          </a:stretch>
        </p:blipFill>
        <p:spPr>
          <a:xfrm>
            <a:off x="1066800" y="457200"/>
            <a:ext cx="6781800" cy="2179018"/>
          </a:xfrm>
          <a:prstGeom prst="rect">
            <a:avLst/>
          </a:prstGeom>
        </p:spPr>
      </p:pic>
      <p:sp>
        <p:nvSpPr>
          <p:cNvPr id="6" name="TextBox 5">
            <a:extLst>
              <a:ext uri="{FF2B5EF4-FFF2-40B4-BE49-F238E27FC236}">
                <a16:creationId xmlns:a16="http://schemas.microsoft.com/office/drawing/2014/main" xmlns="" id="{FBBBC49C-A34B-4697-8A94-00C42C0E3BDB}"/>
              </a:ext>
            </a:extLst>
          </p:cNvPr>
          <p:cNvSpPr txBox="1"/>
          <p:nvPr/>
        </p:nvSpPr>
        <p:spPr>
          <a:xfrm>
            <a:off x="0" y="2636218"/>
            <a:ext cx="8686800" cy="923330"/>
          </a:xfrm>
          <a:prstGeom prst="rect">
            <a:avLst/>
          </a:prstGeom>
          <a:noFill/>
        </p:spPr>
        <p:txBody>
          <a:bodyPr wrap="square">
            <a:spAutoFit/>
          </a:bodyPr>
          <a:lstStyle/>
          <a:p>
            <a:r>
              <a:rPr lang="en-US" dirty="0"/>
              <a:t>Then, register the database context service (</a:t>
            </a:r>
            <a:r>
              <a:rPr lang="en-US" dirty="0" err="1"/>
              <a:t>InventoryContext</a:t>
            </a:r>
            <a:r>
              <a:rPr lang="en-US" dirty="0"/>
              <a:t>) during application </a:t>
            </a:r>
            <a:r>
              <a:rPr lang="en-US" dirty="0" err="1"/>
              <a:t>program.cs</a:t>
            </a:r>
            <a:r>
              <a:rPr lang="en-US" dirty="0"/>
              <a:t> startup. In the following code, the connection string is read from the </a:t>
            </a:r>
            <a:r>
              <a:rPr lang="en-US" dirty="0" err="1"/>
              <a:t>appsettings</a:t>
            </a:r>
            <a:r>
              <a:rPr lang="en-US" dirty="0"/>
              <a:t> file and is passed to the context service.</a:t>
            </a:r>
            <a:endParaRPr lang="en-IN" dirty="0"/>
          </a:p>
        </p:txBody>
      </p:sp>
      <p:pic>
        <p:nvPicPr>
          <p:cNvPr id="5" name="Picture 4">
            <a:extLst>
              <a:ext uri="{FF2B5EF4-FFF2-40B4-BE49-F238E27FC236}">
                <a16:creationId xmlns:a16="http://schemas.microsoft.com/office/drawing/2014/main" xmlns="" id="{679042BF-CF8C-D916-DAD5-980322F3DD60}"/>
              </a:ext>
            </a:extLst>
          </p:cNvPr>
          <p:cNvPicPr>
            <a:picLocks noChangeAspect="1"/>
          </p:cNvPicPr>
          <p:nvPr/>
        </p:nvPicPr>
        <p:blipFill rotWithShape="1">
          <a:blip r:embed="rId3"/>
          <a:srcRect l="8333" t="13334" r="30000" b="17037"/>
          <a:stretch/>
        </p:blipFill>
        <p:spPr>
          <a:xfrm>
            <a:off x="3505200" y="3299012"/>
            <a:ext cx="5638800" cy="3581400"/>
          </a:xfrm>
          <a:prstGeom prst="rect">
            <a:avLst/>
          </a:prstGeom>
        </p:spPr>
      </p:pic>
      <p:cxnSp>
        <p:nvCxnSpPr>
          <p:cNvPr id="9" name="Straight Arrow Connector 8">
            <a:extLst>
              <a:ext uri="{FF2B5EF4-FFF2-40B4-BE49-F238E27FC236}">
                <a16:creationId xmlns:a16="http://schemas.microsoft.com/office/drawing/2014/main" xmlns="" id="{A2313404-A063-FCC2-9708-5892B982817B}"/>
              </a:ext>
            </a:extLst>
          </p:cNvPr>
          <p:cNvCxnSpPr/>
          <p:nvPr/>
        </p:nvCxnSpPr>
        <p:spPr>
          <a:xfrm>
            <a:off x="457200" y="4572000"/>
            <a:ext cx="3124200" cy="76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xmlns="" id="{E5ECE9BA-FF0B-B963-5017-8114CE561506}"/>
              </a:ext>
            </a:extLst>
          </p:cNvPr>
          <p:cNvCxnSpPr>
            <a:cxnSpLocks/>
          </p:cNvCxnSpPr>
          <p:nvPr/>
        </p:nvCxnSpPr>
        <p:spPr>
          <a:xfrm flipV="1">
            <a:off x="457200" y="4800600"/>
            <a:ext cx="3124200" cy="76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7453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0D8B441-5247-4609-A359-D1E696DB78DA}"/>
              </a:ext>
            </a:extLst>
          </p:cNvPr>
          <p:cNvSpPr>
            <a:spLocks noGrp="1"/>
          </p:cNvSpPr>
          <p:nvPr>
            <p:ph idx="1"/>
          </p:nvPr>
        </p:nvSpPr>
        <p:spPr>
          <a:xfrm>
            <a:off x="1143000" y="387608"/>
            <a:ext cx="7848600" cy="838200"/>
          </a:xfrm>
        </p:spPr>
        <p:style>
          <a:lnRef idx="2">
            <a:schemeClr val="accent4"/>
          </a:lnRef>
          <a:fillRef idx="1">
            <a:schemeClr val="lt1"/>
          </a:fillRef>
          <a:effectRef idx="0">
            <a:schemeClr val="accent4"/>
          </a:effectRef>
          <a:fontRef idx="minor">
            <a:schemeClr val="dk1"/>
          </a:fontRef>
        </p:style>
        <p:txBody>
          <a:bodyPr>
            <a:normAutofit fontScale="62500" lnSpcReduction="20000"/>
          </a:bodyPr>
          <a:lstStyle/>
          <a:p>
            <a:r>
              <a:rPr lang="en-IN" sz="1800" dirty="0">
                <a:solidFill>
                  <a:srgbClr val="000000"/>
                </a:solidFill>
                <a:latin typeface="Consolas" panose="020B0609020204030204" pitchFamily="49" charset="0"/>
              </a:rPr>
              <a:t> </a:t>
            </a:r>
            <a:endParaRPr lang="en-IN" sz="1800" dirty="0">
              <a:solidFill>
                <a:srgbClr val="000000"/>
              </a:solidFill>
              <a:latin typeface="Cascadia Mono" panose="020B0609020000020004" pitchFamily="49" charset="0"/>
            </a:endParaRPr>
          </a:p>
          <a:p>
            <a:r>
              <a:rPr lang="en-IN" sz="1800" dirty="0">
                <a:solidFill>
                  <a:srgbClr val="0000FF"/>
                </a:solidFill>
                <a:latin typeface="Cascadia Mono" panose="020B0609020000020004" pitchFamily="49" charset="0"/>
              </a:rPr>
              <a:t>var</a:t>
            </a:r>
            <a:r>
              <a:rPr lang="en-IN" sz="1800" dirty="0">
                <a:solidFill>
                  <a:srgbClr val="000000"/>
                </a:solidFill>
                <a:latin typeface="Cascadia Mono" panose="020B0609020000020004" pitchFamily="49" charset="0"/>
              </a:rPr>
              <a:t> b=</a:t>
            </a:r>
            <a:r>
              <a:rPr lang="en-IN" sz="1800" dirty="0" err="1">
                <a:solidFill>
                  <a:srgbClr val="000000"/>
                </a:solidFill>
                <a:latin typeface="Cascadia Mono" panose="020B0609020000020004" pitchFamily="49" charset="0"/>
              </a:rPr>
              <a:t>builder.Configuration.GetConnectionString</a:t>
            </a:r>
            <a:r>
              <a:rPr lang="en-IN" sz="1800" dirty="0">
                <a:solidFill>
                  <a:srgbClr val="000000"/>
                </a:solidFill>
                <a:latin typeface="Cascadia Mono" panose="020B0609020000020004" pitchFamily="49" charset="0"/>
              </a:rPr>
              <a:t>(</a:t>
            </a:r>
            <a:r>
              <a:rPr lang="en-IN" sz="1800" dirty="0">
                <a:solidFill>
                  <a:srgbClr val="A31515"/>
                </a:solidFill>
                <a:latin typeface="Cascadia Mono" panose="020B0609020000020004" pitchFamily="49" charset="0"/>
              </a:rPr>
              <a:t>"</a:t>
            </a:r>
            <a:r>
              <a:rPr lang="en-IN" sz="1800" dirty="0" err="1">
                <a:solidFill>
                  <a:srgbClr val="A31515"/>
                </a:solidFill>
                <a:latin typeface="Cascadia Mono" panose="020B0609020000020004" pitchFamily="49" charset="0"/>
              </a:rPr>
              <a:t>InventoryDatabase</a:t>
            </a:r>
            <a:r>
              <a:rPr lang="en-IN" sz="1800" dirty="0">
                <a:solidFill>
                  <a:srgbClr val="A31515"/>
                </a:solidFill>
                <a:latin typeface="Cascadia Mono" panose="020B0609020000020004" pitchFamily="49" charset="0"/>
              </a:rPr>
              <a:t>"</a:t>
            </a:r>
            <a:r>
              <a:rPr lang="en-IN" sz="1800" dirty="0">
                <a:solidFill>
                  <a:srgbClr val="000000"/>
                </a:solidFill>
                <a:latin typeface="Cascadia Mono" panose="020B0609020000020004" pitchFamily="49" charset="0"/>
              </a:rPr>
              <a:t>);</a:t>
            </a:r>
          </a:p>
          <a:p>
            <a:r>
              <a:rPr lang="en-IN" sz="1800" dirty="0" err="1">
                <a:solidFill>
                  <a:srgbClr val="000000"/>
                </a:solidFill>
                <a:latin typeface="Cascadia Mono" panose="020B0609020000020004" pitchFamily="49" charset="0"/>
              </a:rPr>
              <a:t>builder.Services.AddDbContextPool</a:t>
            </a:r>
            <a:r>
              <a:rPr lang="en-IN" sz="1800" dirty="0">
                <a:solidFill>
                  <a:srgbClr val="000000"/>
                </a:solidFill>
                <a:latin typeface="Cascadia Mono" panose="020B0609020000020004" pitchFamily="49" charset="0"/>
              </a:rPr>
              <a:t>&lt;</a:t>
            </a:r>
            <a:r>
              <a:rPr lang="en-IN" sz="1800" dirty="0" err="1">
                <a:solidFill>
                  <a:srgbClr val="000000"/>
                </a:solidFill>
                <a:latin typeface="Cascadia Mono" panose="020B0609020000020004" pitchFamily="49" charset="0"/>
              </a:rPr>
              <a:t>StudentDataContext</a:t>
            </a:r>
            <a:r>
              <a:rPr lang="en-IN" sz="1800" dirty="0">
                <a:solidFill>
                  <a:srgbClr val="000000"/>
                </a:solidFill>
                <a:latin typeface="Cascadia Mono" panose="020B0609020000020004" pitchFamily="49" charset="0"/>
              </a:rPr>
              <a:t>&gt;((op)=&gt;</a:t>
            </a:r>
            <a:r>
              <a:rPr lang="en-IN" sz="1800" dirty="0" err="1">
                <a:solidFill>
                  <a:srgbClr val="000000"/>
                </a:solidFill>
                <a:latin typeface="Cascadia Mono" panose="020B0609020000020004" pitchFamily="49" charset="0"/>
              </a:rPr>
              <a:t>op.UseSqlServer</a:t>
            </a:r>
            <a:r>
              <a:rPr lang="en-IN" sz="1800" dirty="0">
                <a:solidFill>
                  <a:srgbClr val="000000"/>
                </a:solidFill>
                <a:latin typeface="Cascadia Mono" panose="020B0609020000020004" pitchFamily="49" charset="0"/>
              </a:rPr>
              <a:t>(b));</a:t>
            </a:r>
            <a:endParaRPr lang="en-IN" dirty="0"/>
          </a:p>
        </p:txBody>
      </p:sp>
      <p:sp>
        <p:nvSpPr>
          <p:cNvPr id="4" name="TextBox 3">
            <a:extLst>
              <a:ext uri="{FF2B5EF4-FFF2-40B4-BE49-F238E27FC236}">
                <a16:creationId xmlns:a16="http://schemas.microsoft.com/office/drawing/2014/main" xmlns="" id="{29B15B84-EDFC-4DED-A57E-D23D2C767A6A}"/>
              </a:ext>
            </a:extLst>
          </p:cNvPr>
          <p:cNvSpPr txBox="1"/>
          <p:nvPr/>
        </p:nvSpPr>
        <p:spPr>
          <a:xfrm>
            <a:off x="228600" y="1219200"/>
            <a:ext cx="8475406" cy="4832092"/>
          </a:xfrm>
          <a:prstGeom prst="rect">
            <a:avLst/>
          </a:prstGeom>
          <a:noFill/>
        </p:spPr>
        <p:txBody>
          <a:bodyPr wrap="square">
            <a:spAutoFit/>
          </a:bodyPr>
          <a:lstStyle/>
          <a:p>
            <a:r>
              <a:rPr lang="en-IN" sz="1400" b="1" dirty="0" err="1"/>
              <a:t>Appseting.json</a:t>
            </a:r>
            <a:endParaRPr lang="en-IN" sz="1400" b="1" dirty="0"/>
          </a:p>
          <a:p>
            <a:r>
              <a:rPr lang="en-IN" sz="1400" dirty="0"/>
              <a:t>{</a:t>
            </a:r>
          </a:p>
          <a:p>
            <a:r>
              <a:rPr lang="en-IN" sz="1400" dirty="0"/>
              <a:t>  "Logging": {</a:t>
            </a:r>
          </a:p>
          <a:p>
            <a:r>
              <a:rPr lang="en-IN" sz="1400" dirty="0"/>
              <a:t>    "</a:t>
            </a:r>
            <a:r>
              <a:rPr lang="en-IN" sz="1400" dirty="0" err="1"/>
              <a:t>LogLevel</a:t>
            </a:r>
            <a:r>
              <a:rPr lang="en-IN" sz="1400" dirty="0"/>
              <a:t>": {</a:t>
            </a:r>
          </a:p>
          <a:p>
            <a:r>
              <a:rPr lang="en-IN" sz="1400" dirty="0"/>
              <a:t>      "Default": "Information",</a:t>
            </a:r>
          </a:p>
          <a:p>
            <a:r>
              <a:rPr lang="en-IN" sz="1400" dirty="0"/>
              <a:t>      "Microsoft": "Warning",</a:t>
            </a:r>
          </a:p>
          <a:p>
            <a:r>
              <a:rPr lang="en-IN" sz="1400" dirty="0"/>
              <a:t>      "</a:t>
            </a:r>
            <a:r>
              <a:rPr lang="en-IN" sz="1400" dirty="0" err="1"/>
              <a:t>Microsoft.Hosting.Lifetime</a:t>
            </a:r>
            <a:r>
              <a:rPr lang="en-IN" sz="1400" dirty="0"/>
              <a:t>": "Information"</a:t>
            </a:r>
          </a:p>
          <a:p>
            <a:r>
              <a:rPr lang="en-IN" sz="1400" dirty="0"/>
              <a:t>    }</a:t>
            </a:r>
          </a:p>
          <a:p>
            <a:r>
              <a:rPr lang="en-IN" sz="1400" dirty="0"/>
              <a:t>  },</a:t>
            </a:r>
          </a:p>
          <a:p>
            <a:r>
              <a:rPr lang="en-IN" sz="1400" dirty="0"/>
              <a:t>  "</a:t>
            </a:r>
            <a:r>
              <a:rPr lang="en-IN" sz="1400" dirty="0" err="1"/>
              <a:t>ConnectionStrings</a:t>
            </a:r>
            <a:r>
              <a:rPr lang="en-IN" sz="1400" dirty="0"/>
              <a:t>": {</a:t>
            </a:r>
          </a:p>
          <a:p>
            <a:r>
              <a:rPr lang="en-IN" sz="1400" dirty="0"/>
              <a:t>    "</a:t>
            </a:r>
            <a:r>
              <a:rPr lang="en-IN" sz="1400" dirty="0" err="1"/>
              <a:t>InventoryDatabase</a:t>
            </a:r>
            <a:r>
              <a:rPr lang="en-IN" sz="1400" dirty="0"/>
              <a:t>": "Data Source=(</a:t>
            </a:r>
            <a:r>
              <a:rPr lang="en-IN" sz="1400" dirty="0" err="1"/>
              <a:t>localdb</a:t>
            </a:r>
            <a:r>
              <a:rPr lang="en-IN" sz="1400" dirty="0"/>
              <a:t>)\\ProjectsV13;Initial </a:t>
            </a:r>
            <a:r>
              <a:rPr lang="en-IN" sz="1400" dirty="0" err="1"/>
              <a:t>Catalog</a:t>
            </a:r>
            <a:r>
              <a:rPr lang="en-IN" sz="1400" dirty="0"/>
              <a:t>=</a:t>
            </a:r>
            <a:r>
              <a:rPr lang="en-IN" sz="1400" dirty="0" err="1"/>
              <a:t>Inventory;Integrated</a:t>
            </a:r>
            <a:r>
              <a:rPr lang="en-IN" sz="1400" dirty="0"/>
              <a:t> Security=True"</a:t>
            </a:r>
          </a:p>
          <a:p>
            <a:r>
              <a:rPr lang="en-IN" sz="1400" dirty="0"/>
              <a:t>  },</a:t>
            </a:r>
          </a:p>
          <a:p>
            <a:endParaRPr lang="en-IN" sz="1400" dirty="0"/>
          </a:p>
          <a:p>
            <a:r>
              <a:rPr lang="en-IN" sz="1400" dirty="0"/>
              <a:t>  "</a:t>
            </a:r>
            <a:r>
              <a:rPr lang="en-IN" sz="1400" dirty="0" err="1"/>
              <a:t>Jwt</a:t>
            </a:r>
            <a:r>
              <a:rPr lang="en-IN" sz="1400" dirty="0"/>
              <a:t>": {</a:t>
            </a:r>
          </a:p>
          <a:p>
            <a:r>
              <a:rPr lang="en-IN" sz="1400" dirty="0"/>
              <a:t>    "Key": "</a:t>
            </a:r>
            <a:r>
              <a:rPr lang="en-IN" sz="1400" dirty="0" err="1"/>
              <a:t>vidyanidhiinfotech</a:t>
            </a:r>
            <a:r>
              <a:rPr lang="en-IN" sz="1400" dirty="0"/>
              <a:t>",</a:t>
            </a:r>
          </a:p>
          <a:p>
            <a:r>
              <a:rPr lang="en-IN" sz="1400" dirty="0"/>
              <a:t>    "Issuer": "vita",</a:t>
            </a:r>
          </a:p>
          <a:p>
            <a:r>
              <a:rPr lang="en-IN" sz="1400" dirty="0"/>
              <a:t>    "Audience": "</a:t>
            </a:r>
            <a:r>
              <a:rPr lang="en-IN" sz="1400" dirty="0" err="1"/>
              <a:t>productspostmentclient</a:t>
            </a:r>
            <a:r>
              <a:rPr lang="en-IN" sz="1400" dirty="0"/>
              <a:t>",</a:t>
            </a:r>
          </a:p>
          <a:p>
            <a:r>
              <a:rPr lang="en-IN" sz="1400" dirty="0"/>
              <a:t>    "Subject": "</a:t>
            </a:r>
            <a:r>
              <a:rPr lang="en-IN" sz="1400" dirty="0" err="1"/>
              <a:t>ProductServiceAccessService</a:t>
            </a:r>
            <a:r>
              <a:rPr lang="en-IN" sz="1400" dirty="0"/>
              <a:t>"</a:t>
            </a:r>
          </a:p>
          <a:p>
            <a:endParaRPr lang="en-IN" sz="1400" dirty="0"/>
          </a:p>
          <a:p>
            <a:r>
              <a:rPr lang="en-IN" sz="1400" dirty="0"/>
              <a:t>  },</a:t>
            </a:r>
          </a:p>
          <a:p>
            <a:r>
              <a:rPr lang="en-IN" sz="1400" dirty="0"/>
              <a:t>  "</a:t>
            </a:r>
            <a:r>
              <a:rPr lang="en-IN" sz="1400" dirty="0" err="1"/>
              <a:t>AllowedHosts</a:t>
            </a:r>
            <a:r>
              <a:rPr lang="en-IN" sz="1400" dirty="0"/>
              <a:t>": "*"</a:t>
            </a:r>
          </a:p>
          <a:p>
            <a:r>
              <a:rPr lang="en-IN" sz="1400" dirty="0"/>
              <a:t>  }</a:t>
            </a:r>
          </a:p>
        </p:txBody>
      </p:sp>
      <p:sp>
        <p:nvSpPr>
          <p:cNvPr id="2" name="TextBox 1">
            <a:extLst>
              <a:ext uri="{FF2B5EF4-FFF2-40B4-BE49-F238E27FC236}">
                <a16:creationId xmlns:a16="http://schemas.microsoft.com/office/drawing/2014/main" xmlns="" id="{1A33894D-8F9A-18B4-2736-06C39C1865A4}"/>
              </a:ext>
            </a:extLst>
          </p:cNvPr>
          <p:cNvSpPr txBox="1"/>
          <p:nvPr/>
        </p:nvSpPr>
        <p:spPr>
          <a:xfrm>
            <a:off x="1532603" y="0"/>
            <a:ext cx="5867400" cy="369332"/>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a:solidFill>
                  <a:srgbClr val="FF0000"/>
                </a:solidFill>
              </a:rPr>
              <a:t>Add this line in </a:t>
            </a:r>
            <a:r>
              <a:rPr lang="en-US" dirty="0" err="1">
                <a:solidFill>
                  <a:srgbClr val="FF0000"/>
                </a:solidFill>
              </a:rPr>
              <a:t>program.cs</a:t>
            </a:r>
            <a:r>
              <a:rPr lang="en-US" dirty="0">
                <a:solidFill>
                  <a:srgbClr val="FF0000"/>
                </a:solidFill>
              </a:rPr>
              <a:t> file as shown in above figure</a:t>
            </a:r>
            <a:endParaRPr lang="en-IN" dirty="0">
              <a:solidFill>
                <a:srgbClr val="FF0000"/>
              </a:solidFill>
            </a:endParaRPr>
          </a:p>
        </p:txBody>
      </p:sp>
    </p:spTree>
    <p:extLst>
      <p:ext uri="{BB962C8B-B14F-4D97-AF65-F5344CB8AC3E}">
        <p14:creationId xmlns:p14="http://schemas.microsoft.com/office/powerpoint/2010/main" val="3550447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xmlns="" id="{86B83491-4F0B-462E-9C74-7019480BDDB8}"/>
              </a:ext>
            </a:extLst>
          </p:cNvPr>
          <p:cNvGraphicFramePr>
            <a:graphicFrameLocks noGrp="1"/>
          </p:cNvGraphicFramePr>
          <p:nvPr>
            <p:ph idx="1"/>
            <p:extLst>
              <p:ext uri="{D42A27DB-BD31-4B8C-83A1-F6EECF244321}">
                <p14:modId xmlns:p14="http://schemas.microsoft.com/office/powerpoint/2010/main" val="945542208"/>
              </p:ext>
            </p:extLst>
          </p:nvPr>
        </p:nvGraphicFramePr>
        <p:xfrm>
          <a:off x="850490" y="685800"/>
          <a:ext cx="5029200" cy="487680"/>
        </p:xfrm>
        <a:graphic>
          <a:graphicData uri="http://schemas.openxmlformats.org/drawingml/2006/table">
            <a:tbl>
              <a:tblPr/>
              <a:tblGrid>
                <a:gridCol w="276789">
                  <a:extLst>
                    <a:ext uri="{9D8B030D-6E8A-4147-A177-3AD203B41FA5}">
                      <a16:colId xmlns:a16="http://schemas.microsoft.com/office/drawing/2014/main" xmlns="" val="65770380"/>
                    </a:ext>
                  </a:extLst>
                </a:gridCol>
                <a:gridCol w="4752411">
                  <a:extLst>
                    <a:ext uri="{9D8B030D-6E8A-4147-A177-3AD203B41FA5}">
                      <a16:colId xmlns:a16="http://schemas.microsoft.com/office/drawing/2014/main" xmlns="" val="320439241"/>
                    </a:ext>
                  </a:extLst>
                </a:gridCol>
              </a:tblGrid>
              <a:tr h="0">
                <a:tc>
                  <a:txBody>
                    <a:bodyPr/>
                    <a:lstStyle/>
                    <a:p>
                      <a:pPr algn="r" rtl="0" fontAlgn="base"/>
                      <a:r>
                        <a:rPr lang="en-IN" b="0" i="0">
                          <a:solidFill>
                            <a:srgbClr val="AFAFAF"/>
                          </a:solidFill>
                          <a:effectLst/>
                          <a:latin typeface="Monaco"/>
                        </a:rPr>
                        <a:t>1</a:t>
                      </a:r>
                    </a:p>
                    <a:p>
                      <a:pPr algn="r" rtl="0" fontAlgn="base"/>
                      <a:r>
                        <a:rPr lang="en-IN" b="0" i="0">
                          <a:solidFill>
                            <a:srgbClr val="AFAFAF"/>
                          </a:solidFill>
                          <a:effectLst/>
                          <a:latin typeface="Monaco"/>
                        </a:rPr>
                        <a:t>2</a:t>
                      </a:r>
                    </a:p>
                  </a:txBody>
                  <a:tcPr marL="76200" marR="76200" marT="38100" marB="38100" anchor="ctr">
                    <a:lnL w="7620" cap="flat" cmpd="sng" algn="ctr">
                      <a:solidFill>
                        <a:srgbClr val="DFE5E8"/>
                      </a:solidFill>
                      <a:prstDash val="solid"/>
                      <a:round/>
                      <a:headEnd type="none" w="med" len="med"/>
                      <a:tailEnd type="none" w="med" len="med"/>
                    </a:lnL>
                    <a:lnR w="7620" cap="flat" cmpd="sng" algn="ctr">
                      <a:solidFill>
                        <a:srgbClr val="DFE5E8"/>
                      </a:solidFill>
                      <a:prstDash val="solid"/>
                      <a:round/>
                      <a:headEnd type="none" w="med" len="med"/>
                      <a:tailEnd type="none" w="med" len="med"/>
                    </a:lnR>
                    <a:lnT w="7620" cap="flat" cmpd="sng" algn="ctr">
                      <a:solidFill>
                        <a:srgbClr val="DFE5E8"/>
                      </a:solidFill>
                      <a:prstDash val="solid"/>
                      <a:round/>
                      <a:headEnd type="none" w="med" len="med"/>
                      <a:tailEnd type="none" w="med" len="med"/>
                    </a:lnT>
                    <a:lnB w="7620" cap="flat" cmpd="sng" algn="ctr">
                      <a:solidFill>
                        <a:srgbClr val="DFE5E8"/>
                      </a:solidFill>
                      <a:prstDash val="solid"/>
                      <a:round/>
                      <a:headEnd type="none" w="med" len="med"/>
                      <a:tailEnd type="none" w="med" len="med"/>
                    </a:lnB>
                    <a:solidFill>
                      <a:srgbClr val="F6F6F6"/>
                    </a:solidFill>
                  </a:tcPr>
                </a:tc>
                <a:tc>
                  <a:txBody>
                    <a:bodyPr/>
                    <a:lstStyle/>
                    <a:p>
                      <a:pPr algn="l" rtl="0" fontAlgn="base"/>
                      <a:r>
                        <a:rPr lang="en-IN" b="0" i="0" dirty="0">
                          <a:solidFill>
                            <a:schemeClr val="tx1"/>
                          </a:solidFill>
                          <a:effectLst/>
                          <a:latin typeface="Monaco"/>
                        </a:rPr>
                        <a:t>using </a:t>
                      </a:r>
                      <a:r>
                        <a:rPr lang="en-IN" b="0" i="0" dirty="0" err="1">
                          <a:solidFill>
                            <a:schemeClr val="tx1"/>
                          </a:solidFill>
                          <a:effectLst/>
                          <a:latin typeface="Monaco"/>
                        </a:rPr>
                        <a:t>InventoryService.Models</a:t>
                      </a:r>
                      <a:r>
                        <a:rPr lang="en-IN" b="0" i="0" dirty="0">
                          <a:solidFill>
                            <a:srgbClr val="AFAFAF"/>
                          </a:solidFill>
                          <a:effectLst/>
                          <a:latin typeface="Monaco"/>
                        </a:rPr>
                        <a:t>;</a:t>
                      </a:r>
                    </a:p>
                    <a:p>
                      <a:pPr algn="l" rtl="0" fontAlgn="base"/>
                      <a:r>
                        <a:rPr lang="en-IN" b="0" i="0" dirty="0">
                          <a:effectLst/>
                          <a:latin typeface="Monaco"/>
                        </a:rPr>
                        <a:t>using </a:t>
                      </a:r>
                      <a:r>
                        <a:rPr lang="en-IN" b="0" i="0" dirty="0" err="1">
                          <a:effectLst/>
                          <a:latin typeface="Monaco"/>
                        </a:rPr>
                        <a:t>Microsoft.EntityFrameworkCore</a:t>
                      </a:r>
                      <a:r>
                        <a:rPr lang="en-IN" b="0" i="0" dirty="0">
                          <a:effectLst/>
                          <a:latin typeface="Monaco"/>
                        </a:rPr>
                        <a:t>;</a:t>
                      </a:r>
                    </a:p>
                  </a:txBody>
                  <a:tcPr marL="76200" marR="76200" marT="38100" marB="38100" anchor="ctr">
                    <a:lnL w="7620" cap="flat" cmpd="sng" algn="ctr">
                      <a:solidFill>
                        <a:srgbClr val="DFE5E8"/>
                      </a:solidFill>
                      <a:prstDash val="solid"/>
                      <a:round/>
                      <a:headEnd type="none" w="med" len="med"/>
                      <a:tailEnd type="none" w="med" len="med"/>
                    </a:lnL>
                    <a:lnR w="7620" cap="flat" cmpd="sng" algn="ctr">
                      <a:solidFill>
                        <a:srgbClr val="DFE5E8"/>
                      </a:solidFill>
                      <a:prstDash val="solid"/>
                      <a:round/>
                      <a:headEnd type="none" w="med" len="med"/>
                      <a:tailEnd type="none" w="med" len="med"/>
                    </a:lnR>
                    <a:lnT w="7620" cap="flat" cmpd="sng" algn="ctr">
                      <a:solidFill>
                        <a:srgbClr val="DFE5E8"/>
                      </a:solidFill>
                      <a:prstDash val="solid"/>
                      <a:round/>
                      <a:headEnd type="none" w="med" len="med"/>
                      <a:tailEnd type="none" w="med" len="med"/>
                    </a:lnT>
                    <a:lnB w="7620" cap="flat" cmpd="sng" algn="ctr">
                      <a:solidFill>
                        <a:srgbClr val="DFE5E8"/>
                      </a:solidFill>
                      <a:prstDash val="solid"/>
                      <a:round/>
                      <a:headEnd type="none" w="med" len="med"/>
                      <a:tailEnd type="none" w="med" len="med"/>
                    </a:lnB>
                    <a:solidFill>
                      <a:srgbClr val="F6F6F6"/>
                    </a:solidFill>
                  </a:tcPr>
                </a:tc>
                <a:extLst>
                  <a:ext uri="{0D108BD9-81ED-4DB2-BD59-A6C34878D82A}">
                    <a16:rowId xmlns:a16="http://schemas.microsoft.com/office/drawing/2014/main" xmlns="" val="1118035701"/>
                  </a:ext>
                </a:extLst>
              </a:tr>
            </a:tbl>
          </a:graphicData>
        </a:graphic>
      </p:graphicFrame>
      <p:sp>
        <p:nvSpPr>
          <p:cNvPr id="5" name="Rectangle 2">
            <a:extLst>
              <a:ext uri="{FF2B5EF4-FFF2-40B4-BE49-F238E27FC236}">
                <a16:creationId xmlns:a16="http://schemas.microsoft.com/office/drawing/2014/main" xmlns="" id="{16BE963A-5A18-4041-BCA4-2FCE9FB88F45}"/>
              </a:ext>
            </a:extLst>
          </p:cNvPr>
          <p:cNvSpPr>
            <a:spLocks noChangeArrowheads="1"/>
          </p:cNvSpPr>
          <p:nvPr/>
        </p:nvSpPr>
        <p:spPr bwMode="auto">
          <a:xfrm>
            <a:off x="1295400" y="762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D3D3D"/>
                </a:solidFill>
                <a:effectLst/>
                <a:latin typeface="Open Sans"/>
              </a:rPr>
              <a:t>Add the following namespaces to the startup file:</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D3D3D"/>
                </a:solidFill>
                <a:effectLst/>
                <a:latin typeface="Open Sans"/>
              </a:rPr>
              <a:t>Then this context service is injected with the required controllers via dependency injection.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xmlns="" id="{DCB274E0-FE3A-4B72-9BD3-DC152CFEB289}"/>
              </a:ext>
            </a:extLst>
          </p:cNvPr>
          <p:cNvSpPr txBox="1"/>
          <p:nvPr/>
        </p:nvSpPr>
        <p:spPr>
          <a:xfrm>
            <a:off x="76200" y="1333254"/>
            <a:ext cx="8610600" cy="2585323"/>
          </a:xfrm>
          <a:prstGeom prst="rect">
            <a:avLst/>
          </a:prstGeom>
          <a:noFill/>
        </p:spPr>
        <p:txBody>
          <a:bodyPr wrap="square">
            <a:spAutoFit/>
          </a:bodyPr>
          <a:lstStyle/>
          <a:p>
            <a:r>
              <a:rPr lang="en-US" dirty="0"/>
              <a:t>Build REST APIs</a:t>
            </a:r>
          </a:p>
          <a:p>
            <a:r>
              <a:rPr lang="en-US" dirty="0"/>
              <a:t>Now, we have database and entity classes in place. Follow these steps to create Products API:</a:t>
            </a:r>
          </a:p>
          <a:p>
            <a:endParaRPr lang="en-US" dirty="0"/>
          </a:p>
          <a:p>
            <a:r>
              <a:rPr lang="en-US" dirty="0"/>
              <a:t>Step 1: Right–click the Controllers folder, choose Add, and then click Controller.</a:t>
            </a:r>
          </a:p>
          <a:p>
            <a:endParaRPr lang="en-US" dirty="0"/>
          </a:p>
          <a:p>
            <a:r>
              <a:rPr lang="en-US" dirty="0"/>
              <a:t>Step 2: Select API Controller with actions using the Entity Framework template.</a:t>
            </a:r>
          </a:p>
          <a:p>
            <a:endParaRPr lang="en-US" dirty="0"/>
          </a:p>
          <a:p>
            <a:r>
              <a:rPr lang="en-US" dirty="0"/>
              <a:t>Step 3: Choose the Products model class and </a:t>
            </a:r>
            <a:r>
              <a:rPr lang="en-US" dirty="0" err="1"/>
              <a:t>InventoryContext</a:t>
            </a:r>
            <a:r>
              <a:rPr lang="en-US" dirty="0"/>
              <a:t> context class, and then name the control </a:t>
            </a:r>
            <a:r>
              <a:rPr lang="en-US" dirty="0" err="1"/>
              <a:t>ProductsController</a:t>
            </a:r>
            <a:r>
              <a:rPr lang="en-US" dirty="0"/>
              <a:t>.</a:t>
            </a:r>
            <a:endParaRPr lang="en-IN" dirty="0"/>
          </a:p>
        </p:txBody>
      </p:sp>
    </p:spTree>
    <p:extLst>
      <p:ext uri="{BB962C8B-B14F-4D97-AF65-F5344CB8AC3E}">
        <p14:creationId xmlns:p14="http://schemas.microsoft.com/office/powerpoint/2010/main" val="22574251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E73AC295-3851-10F8-BAE3-EE57267C5BF2}"/>
              </a:ext>
            </a:extLst>
          </p:cNvPr>
          <p:cNvPicPr>
            <a:picLocks noChangeAspect="1"/>
          </p:cNvPicPr>
          <p:nvPr/>
        </p:nvPicPr>
        <p:blipFill rotWithShape="1">
          <a:blip r:embed="rId2"/>
          <a:srcRect l="19167" t="5555" r="18333" b="12963"/>
          <a:stretch/>
        </p:blipFill>
        <p:spPr>
          <a:xfrm>
            <a:off x="1752600" y="457200"/>
            <a:ext cx="5715000" cy="4191000"/>
          </a:xfrm>
          <a:prstGeom prst="rect">
            <a:avLst/>
          </a:prstGeom>
        </p:spPr>
      </p:pic>
      <p:pic>
        <p:nvPicPr>
          <p:cNvPr id="6" name="Picture 5">
            <a:extLst>
              <a:ext uri="{FF2B5EF4-FFF2-40B4-BE49-F238E27FC236}">
                <a16:creationId xmlns:a16="http://schemas.microsoft.com/office/drawing/2014/main" xmlns="" id="{7D3A83A0-75EC-497B-4692-6E2303AF47A1}"/>
              </a:ext>
            </a:extLst>
          </p:cNvPr>
          <p:cNvPicPr>
            <a:picLocks noChangeAspect="1"/>
          </p:cNvPicPr>
          <p:nvPr/>
        </p:nvPicPr>
        <p:blipFill>
          <a:blip r:embed="rId3"/>
          <a:stretch>
            <a:fillRect/>
          </a:stretch>
        </p:blipFill>
        <p:spPr>
          <a:xfrm>
            <a:off x="685800" y="4159624"/>
            <a:ext cx="6175783" cy="2603218"/>
          </a:xfrm>
          <a:prstGeom prst="rect">
            <a:avLst/>
          </a:prstGeom>
        </p:spPr>
      </p:pic>
    </p:spTree>
    <p:extLst>
      <p:ext uri="{BB962C8B-B14F-4D97-AF65-F5344CB8AC3E}">
        <p14:creationId xmlns:p14="http://schemas.microsoft.com/office/powerpoint/2010/main" val="4128887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3D2214F-FB4A-4CA0-A34C-FD6E2CF8FD12}"/>
              </a:ext>
            </a:extLst>
          </p:cNvPr>
          <p:cNvSpPr>
            <a:spLocks noGrp="1"/>
          </p:cNvSpPr>
          <p:nvPr>
            <p:ph idx="1"/>
          </p:nvPr>
        </p:nvSpPr>
        <p:spPr>
          <a:xfrm>
            <a:off x="1143000" y="76200"/>
            <a:ext cx="7924800" cy="3886200"/>
          </a:xfrm>
        </p:spPr>
        <p:txBody>
          <a:bodyPr/>
          <a:lstStyle/>
          <a:p>
            <a:pPr algn="l"/>
            <a:r>
              <a:rPr lang="en-US" sz="1600" b="0" i="0" dirty="0">
                <a:solidFill>
                  <a:srgbClr val="3D3D3D"/>
                </a:solidFill>
                <a:effectLst/>
                <a:latin typeface="Open Sans"/>
              </a:rPr>
              <a:t>When we click </a:t>
            </a:r>
            <a:r>
              <a:rPr lang="en-US" sz="1600" b="1" i="0" dirty="0">
                <a:solidFill>
                  <a:srgbClr val="3D3D3D"/>
                </a:solidFill>
                <a:effectLst/>
                <a:latin typeface="Open Sans"/>
              </a:rPr>
              <a:t>Add</a:t>
            </a:r>
            <a:r>
              <a:rPr lang="en-US" sz="1600" b="0" i="0" dirty="0">
                <a:solidFill>
                  <a:srgbClr val="3D3D3D"/>
                </a:solidFill>
                <a:effectLst/>
                <a:latin typeface="Open Sans"/>
              </a:rPr>
              <a:t>, the API is automatically created using the </a:t>
            </a:r>
            <a:r>
              <a:rPr lang="en-US" sz="1600" b="1" i="0" dirty="0">
                <a:solidFill>
                  <a:srgbClr val="3D3D3D"/>
                </a:solidFill>
                <a:effectLst/>
                <a:latin typeface="Open Sans"/>
              </a:rPr>
              <a:t>ASP.NET CORE scaffolding</a:t>
            </a:r>
            <a:r>
              <a:rPr lang="en-US" sz="1600" b="0" i="0" dirty="0">
                <a:solidFill>
                  <a:srgbClr val="3D3D3D"/>
                </a:solidFill>
                <a:effectLst/>
                <a:latin typeface="Open Sans"/>
              </a:rPr>
              <a:t> code generation technique.</a:t>
            </a:r>
          </a:p>
          <a:p>
            <a:pPr algn="l"/>
            <a:r>
              <a:rPr lang="en-US" sz="1600" b="0" i="0" dirty="0">
                <a:solidFill>
                  <a:srgbClr val="3D3D3D"/>
                </a:solidFill>
                <a:effectLst/>
                <a:latin typeface="Open Sans"/>
              </a:rPr>
              <a:t>The following APIs are created:</a:t>
            </a:r>
          </a:p>
          <a:p>
            <a:pPr algn="l">
              <a:buFont typeface="Arial" panose="020B0604020202020204" pitchFamily="34" charset="0"/>
              <a:buChar char="•"/>
            </a:pPr>
            <a:r>
              <a:rPr lang="en-US" sz="1600" b="0" i="0" dirty="0">
                <a:solidFill>
                  <a:srgbClr val="3D3D3D"/>
                </a:solidFill>
                <a:effectLst/>
                <a:latin typeface="Open Sans"/>
              </a:rPr>
              <a:t>To list all products: HTTP Get method</a:t>
            </a:r>
          </a:p>
          <a:p>
            <a:pPr algn="l">
              <a:buFont typeface="Arial" panose="020B0604020202020204" pitchFamily="34" charset="0"/>
              <a:buChar char="•"/>
            </a:pPr>
            <a:r>
              <a:rPr lang="en-US" sz="1600" b="0" i="0" dirty="0">
                <a:solidFill>
                  <a:srgbClr val="3D3D3D"/>
                </a:solidFill>
                <a:effectLst/>
                <a:latin typeface="Open Sans"/>
              </a:rPr>
              <a:t>Get product detail: HTTP Get method</a:t>
            </a:r>
          </a:p>
          <a:p>
            <a:pPr algn="l">
              <a:buFont typeface="Arial" panose="020B0604020202020204" pitchFamily="34" charset="0"/>
              <a:buChar char="•"/>
            </a:pPr>
            <a:r>
              <a:rPr lang="en-US" sz="1600" b="0" i="0" dirty="0">
                <a:solidFill>
                  <a:srgbClr val="3D3D3D"/>
                </a:solidFill>
                <a:effectLst/>
                <a:latin typeface="Open Sans"/>
              </a:rPr>
              <a:t>Update product detail: HTTP Put method</a:t>
            </a:r>
          </a:p>
          <a:p>
            <a:pPr algn="l">
              <a:buFont typeface="Arial" panose="020B0604020202020204" pitchFamily="34" charset="0"/>
              <a:buChar char="•"/>
            </a:pPr>
            <a:r>
              <a:rPr lang="en-US" sz="1600" b="0" i="0" dirty="0">
                <a:solidFill>
                  <a:srgbClr val="3D3D3D"/>
                </a:solidFill>
                <a:effectLst/>
                <a:latin typeface="Open Sans"/>
              </a:rPr>
              <a:t>Create product: HTTP Post method</a:t>
            </a:r>
          </a:p>
          <a:p>
            <a:pPr algn="l">
              <a:buFont typeface="Arial" panose="020B0604020202020204" pitchFamily="34" charset="0"/>
              <a:buChar char="•"/>
            </a:pPr>
            <a:r>
              <a:rPr lang="en-US" sz="1600" b="0" i="0" dirty="0">
                <a:solidFill>
                  <a:srgbClr val="3D3D3D"/>
                </a:solidFill>
                <a:effectLst/>
                <a:latin typeface="Open Sans"/>
              </a:rPr>
              <a:t>Delete product: HTTP Delete method</a:t>
            </a:r>
          </a:p>
          <a:p>
            <a:pPr algn="l"/>
            <a:r>
              <a:rPr lang="en-US" sz="1600" b="0" i="0" dirty="0">
                <a:solidFill>
                  <a:srgbClr val="3D3D3D"/>
                </a:solidFill>
                <a:effectLst/>
                <a:latin typeface="Open Sans"/>
              </a:rPr>
              <a:t>As per REST best practice, each endpoint is assigned with respective </a:t>
            </a:r>
            <a:r>
              <a:rPr lang="en-US" sz="1600" b="1" i="0" dirty="0">
                <a:solidFill>
                  <a:srgbClr val="3D3D3D"/>
                </a:solidFill>
                <a:effectLst/>
                <a:latin typeface="Open Sans"/>
              </a:rPr>
              <a:t>HTTP methods</a:t>
            </a:r>
            <a:r>
              <a:rPr lang="en-US" sz="1600" b="0" i="0" dirty="0">
                <a:solidFill>
                  <a:srgbClr val="3D3D3D"/>
                </a:solidFill>
                <a:effectLst/>
                <a:latin typeface="Open Sans"/>
              </a:rPr>
              <a:t> based on its operation.</a:t>
            </a:r>
          </a:p>
          <a:p>
            <a:pPr algn="l"/>
            <a:endParaRPr lang="en-US" sz="1600" dirty="0">
              <a:solidFill>
                <a:srgbClr val="3D3D3D"/>
              </a:solidFill>
              <a:latin typeface="Open Sans"/>
            </a:endParaRPr>
          </a:p>
          <a:p>
            <a:pPr algn="l"/>
            <a:r>
              <a:rPr lang="en-US" sz="1600" dirty="0">
                <a:solidFill>
                  <a:srgbClr val="3D3D3D"/>
                </a:solidFill>
                <a:latin typeface="Open Sans"/>
              </a:rPr>
              <a:t>You will see the code given in next slide</a:t>
            </a:r>
            <a:endParaRPr lang="en-US" sz="1600" b="0" i="0" dirty="0">
              <a:solidFill>
                <a:srgbClr val="3D3D3D"/>
              </a:solidFill>
              <a:effectLst/>
              <a:latin typeface="Open Sans"/>
            </a:endParaRPr>
          </a:p>
          <a:p>
            <a:pPr marL="0" indent="0">
              <a:buNone/>
            </a:pPr>
            <a:endParaRPr lang="en-IN" dirty="0"/>
          </a:p>
        </p:txBody>
      </p:sp>
      <p:sp>
        <p:nvSpPr>
          <p:cNvPr id="5" name="TextBox 4">
            <a:extLst>
              <a:ext uri="{FF2B5EF4-FFF2-40B4-BE49-F238E27FC236}">
                <a16:creationId xmlns:a16="http://schemas.microsoft.com/office/drawing/2014/main" xmlns="" id="{209A285A-0475-4377-BBC3-AE1788F59E97}"/>
              </a:ext>
            </a:extLst>
          </p:cNvPr>
          <p:cNvSpPr txBox="1"/>
          <p:nvPr/>
        </p:nvSpPr>
        <p:spPr>
          <a:xfrm>
            <a:off x="117987" y="4417143"/>
            <a:ext cx="4611328" cy="646331"/>
          </a:xfrm>
          <a:prstGeom prst="rect">
            <a:avLst/>
          </a:prstGeom>
          <a:noFill/>
        </p:spPr>
        <p:txBody>
          <a:bodyPr wrap="square">
            <a:spAutoFit/>
          </a:bodyPr>
          <a:lstStyle/>
          <a:p>
            <a:r>
              <a:rPr lang="en-US" dirty="0"/>
              <a:t>Change the launch URL to </a:t>
            </a:r>
            <a:r>
              <a:rPr lang="en-US" dirty="0" err="1"/>
              <a:t>api</a:t>
            </a:r>
            <a:r>
              <a:rPr lang="en-US" dirty="0"/>
              <a:t>/products in launchSettings.js.</a:t>
            </a:r>
            <a:endParaRPr lang="en-IN" dirty="0"/>
          </a:p>
        </p:txBody>
      </p:sp>
      <p:pic>
        <p:nvPicPr>
          <p:cNvPr id="6" name="Picture 5">
            <a:extLst>
              <a:ext uri="{FF2B5EF4-FFF2-40B4-BE49-F238E27FC236}">
                <a16:creationId xmlns:a16="http://schemas.microsoft.com/office/drawing/2014/main" xmlns="" id="{9B4BBD72-7B22-4FCA-BB4B-252544D3AFF2}"/>
              </a:ext>
            </a:extLst>
          </p:cNvPr>
          <p:cNvPicPr>
            <a:picLocks noChangeAspect="1"/>
          </p:cNvPicPr>
          <p:nvPr/>
        </p:nvPicPr>
        <p:blipFill>
          <a:blip r:embed="rId2"/>
          <a:stretch>
            <a:fillRect/>
          </a:stretch>
        </p:blipFill>
        <p:spPr>
          <a:xfrm>
            <a:off x="4460158" y="4495800"/>
            <a:ext cx="4324350" cy="1533525"/>
          </a:xfrm>
          <a:prstGeom prst="rect">
            <a:avLst/>
          </a:prstGeom>
        </p:spPr>
      </p:pic>
    </p:spTree>
    <p:extLst>
      <p:ext uri="{BB962C8B-B14F-4D97-AF65-F5344CB8AC3E}">
        <p14:creationId xmlns:p14="http://schemas.microsoft.com/office/powerpoint/2010/main" val="1400187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CDCF3011-44A0-68E6-72E0-023182B2EF96}"/>
              </a:ext>
            </a:extLst>
          </p:cNvPr>
          <p:cNvSpPr txBox="1"/>
          <p:nvPr/>
        </p:nvSpPr>
        <p:spPr>
          <a:xfrm>
            <a:off x="152400" y="-76200"/>
            <a:ext cx="4612340" cy="6863417"/>
          </a:xfrm>
          <a:prstGeom prst="rect">
            <a:avLst/>
          </a:prstGeom>
          <a:noFill/>
        </p:spPr>
        <p:txBody>
          <a:bodyPr wrap="square">
            <a:spAutoFit/>
          </a:bodyPr>
          <a:lstStyle/>
          <a:p>
            <a:r>
              <a:rPr lang="en-IN" sz="1000" dirty="0">
                <a:solidFill>
                  <a:srgbClr val="0000FF"/>
                </a:solidFill>
                <a:latin typeface="Cascadia Mono" panose="020B0609020000020004" pitchFamily="49" charset="0"/>
              </a:rPr>
              <a:t>using</a:t>
            </a:r>
            <a:r>
              <a:rPr lang="en-IN" sz="1000" dirty="0">
                <a:solidFill>
                  <a:srgbClr val="000000"/>
                </a:solidFill>
                <a:latin typeface="Cascadia Mono" panose="020B0609020000020004" pitchFamily="49" charset="0"/>
              </a:rPr>
              <a:t> System;</a:t>
            </a:r>
          </a:p>
          <a:p>
            <a:r>
              <a:rPr lang="en-IN" sz="1000" dirty="0">
                <a:solidFill>
                  <a:srgbClr val="0000FF"/>
                </a:solidFill>
                <a:latin typeface="Cascadia Mono" panose="020B0609020000020004" pitchFamily="49" charset="0"/>
              </a:rPr>
              <a:t>using</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System.Collections.Generic</a:t>
            </a:r>
            <a:r>
              <a:rPr lang="en-IN" sz="1000" dirty="0">
                <a:solidFill>
                  <a:srgbClr val="000000"/>
                </a:solidFill>
                <a:latin typeface="Cascadia Mono" panose="020B0609020000020004" pitchFamily="49" charset="0"/>
              </a:rPr>
              <a:t>;</a:t>
            </a:r>
          </a:p>
          <a:p>
            <a:r>
              <a:rPr lang="en-IN" sz="1000" dirty="0">
                <a:solidFill>
                  <a:srgbClr val="0000FF"/>
                </a:solidFill>
                <a:latin typeface="Cascadia Mono" panose="020B0609020000020004" pitchFamily="49" charset="0"/>
              </a:rPr>
              <a:t>using</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System.Linq</a:t>
            </a:r>
            <a:r>
              <a:rPr lang="en-IN" sz="1000" dirty="0">
                <a:solidFill>
                  <a:srgbClr val="000000"/>
                </a:solidFill>
                <a:latin typeface="Cascadia Mono" panose="020B0609020000020004" pitchFamily="49" charset="0"/>
              </a:rPr>
              <a:t>;</a:t>
            </a:r>
          </a:p>
          <a:p>
            <a:r>
              <a:rPr lang="en-IN" sz="1000" dirty="0">
                <a:solidFill>
                  <a:srgbClr val="0000FF"/>
                </a:solidFill>
                <a:latin typeface="Cascadia Mono" panose="020B0609020000020004" pitchFamily="49" charset="0"/>
              </a:rPr>
              <a:t>using</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System.Threading.Tasks</a:t>
            </a:r>
            <a:r>
              <a:rPr lang="en-IN" sz="1000" dirty="0">
                <a:solidFill>
                  <a:srgbClr val="000000"/>
                </a:solidFill>
                <a:latin typeface="Cascadia Mono" panose="020B0609020000020004" pitchFamily="49" charset="0"/>
              </a:rPr>
              <a:t>;</a:t>
            </a:r>
          </a:p>
          <a:p>
            <a:r>
              <a:rPr lang="en-IN" sz="1000" dirty="0">
                <a:solidFill>
                  <a:srgbClr val="0000FF"/>
                </a:solidFill>
                <a:latin typeface="Cascadia Mono" panose="020B0609020000020004" pitchFamily="49" charset="0"/>
              </a:rPr>
              <a:t>using</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Microsoft.AspNetCore.Http</a:t>
            </a:r>
            <a:r>
              <a:rPr lang="en-IN" sz="1000" dirty="0">
                <a:solidFill>
                  <a:srgbClr val="000000"/>
                </a:solidFill>
                <a:latin typeface="Cascadia Mono" panose="020B0609020000020004" pitchFamily="49" charset="0"/>
              </a:rPr>
              <a:t>;</a:t>
            </a:r>
          </a:p>
          <a:p>
            <a:r>
              <a:rPr lang="en-IN" sz="1000" dirty="0">
                <a:solidFill>
                  <a:srgbClr val="0000FF"/>
                </a:solidFill>
                <a:latin typeface="Cascadia Mono" panose="020B0609020000020004" pitchFamily="49" charset="0"/>
              </a:rPr>
              <a:t>using</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Microsoft.AspNetCore.Mvc</a:t>
            </a:r>
            <a:r>
              <a:rPr lang="en-IN" sz="1000" dirty="0">
                <a:solidFill>
                  <a:srgbClr val="000000"/>
                </a:solidFill>
                <a:latin typeface="Cascadia Mono" panose="020B0609020000020004" pitchFamily="49" charset="0"/>
              </a:rPr>
              <a:t>;</a:t>
            </a:r>
          </a:p>
          <a:p>
            <a:r>
              <a:rPr lang="en-IN" sz="1000" dirty="0">
                <a:solidFill>
                  <a:srgbClr val="0000FF"/>
                </a:solidFill>
                <a:latin typeface="Cascadia Mono" panose="020B0609020000020004" pitchFamily="49" charset="0"/>
              </a:rPr>
              <a:t>using</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Microsoft.EntityFrameworkCore</a:t>
            </a:r>
            <a:r>
              <a:rPr lang="en-IN" sz="1000" dirty="0">
                <a:solidFill>
                  <a:srgbClr val="000000"/>
                </a:solidFill>
                <a:latin typeface="Cascadia Mono" panose="020B0609020000020004" pitchFamily="49" charset="0"/>
              </a:rPr>
              <a:t>;</a:t>
            </a:r>
          </a:p>
          <a:p>
            <a:r>
              <a:rPr lang="en-IN" sz="1000" dirty="0">
                <a:solidFill>
                  <a:srgbClr val="0000FF"/>
                </a:solidFill>
                <a:latin typeface="Cascadia Mono" panose="020B0609020000020004" pitchFamily="49" charset="0"/>
              </a:rPr>
              <a:t>using</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WebAppAPI.Models</a:t>
            </a:r>
            <a:r>
              <a:rPr lang="en-IN" sz="1000" dirty="0">
                <a:solidFill>
                  <a:srgbClr val="000000"/>
                </a:solidFill>
                <a:latin typeface="Cascadia Mono" panose="020B0609020000020004" pitchFamily="49" charset="0"/>
              </a:rPr>
              <a:t>;</a:t>
            </a:r>
          </a:p>
          <a:p>
            <a:endParaRPr lang="en-IN" sz="1000" dirty="0">
              <a:solidFill>
                <a:srgbClr val="000000"/>
              </a:solidFill>
              <a:latin typeface="Cascadia Mono" panose="020B0609020000020004" pitchFamily="49" charset="0"/>
            </a:endParaRPr>
          </a:p>
          <a:p>
            <a:r>
              <a:rPr lang="en-IN" sz="1000" dirty="0">
                <a:solidFill>
                  <a:srgbClr val="0000FF"/>
                </a:solidFill>
                <a:latin typeface="Cascadia Mono" panose="020B0609020000020004" pitchFamily="49" charset="0"/>
              </a:rPr>
              <a:t>namespace</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WebAppAPI.Controllers</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[Route(</a:t>
            </a:r>
            <a:r>
              <a:rPr lang="en-IN" sz="1000" dirty="0">
                <a:solidFill>
                  <a:srgbClr val="A31515"/>
                </a:solidFill>
                <a:latin typeface="Cascadia Mono" panose="020B0609020000020004" pitchFamily="49" charset="0"/>
              </a:rPr>
              <a:t>"</a:t>
            </a:r>
            <a:r>
              <a:rPr lang="en-IN" sz="1000" dirty="0" err="1">
                <a:solidFill>
                  <a:srgbClr val="A31515"/>
                </a:solidFill>
                <a:latin typeface="Cascadia Mono" panose="020B0609020000020004" pitchFamily="49" charset="0"/>
              </a:rPr>
              <a:t>api</a:t>
            </a:r>
            <a:r>
              <a:rPr lang="en-IN" sz="1000" dirty="0">
                <a:solidFill>
                  <a:srgbClr val="A31515"/>
                </a:solidFill>
                <a:latin typeface="Cascadia Mono" panose="020B0609020000020004" pitchFamily="49" charset="0"/>
              </a:rPr>
              <a:t>/[controller]"</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ApiController</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public</a:t>
            </a:r>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class</a:t>
            </a:r>
            <a:r>
              <a:rPr lang="en-IN" sz="1000" dirty="0">
                <a:solidFill>
                  <a:srgbClr val="000000"/>
                </a:solidFill>
                <a:latin typeface="Cascadia Mono" panose="020B0609020000020004" pitchFamily="49" charset="0"/>
              </a:rPr>
              <a:t> </a:t>
            </a:r>
            <a:r>
              <a:rPr lang="en-IN" sz="1000" dirty="0" err="1">
                <a:solidFill>
                  <a:srgbClr val="2B91AF"/>
                </a:solidFill>
                <a:latin typeface="Cascadia Mono" panose="020B0609020000020004" pitchFamily="49" charset="0"/>
              </a:rPr>
              <a:t>ProductsController</a:t>
            </a:r>
            <a:r>
              <a:rPr lang="en-IN" sz="1000" dirty="0">
                <a:solidFill>
                  <a:srgbClr val="000000"/>
                </a:solidFill>
                <a:latin typeface="Cascadia Mono" panose="020B0609020000020004" pitchFamily="49" charset="0"/>
              </a:rPr>
              <a:t> : </a:t>
            </a:r>
            <a:r>
              <a:rPr lang="en-IN" sz="1000" dirty="0" err="1">
                <a:solidFill>
                  <a:srgbClr val="000000"/>
                </a:solidFill>
                <a:latin typeface="Cascadia Mono" panose="020B0609020000020004" pitchFamily="49" charset="0"/>
              </a:rPr>
              <a:t>ControllerBase</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private</a:t>
            </a:r>
            <a:r>
              <a:rPr lang="en-IN" sz="1000" dirty="0">
                <a:solidFill>
                  <a:srgbClr val="000000"/>
                </a:solidFill>
                <a:latin typeface="Cascadia Mono" panose="020B0609020000020004" pitchFamily="49" charset="0"/>
              </a:rPr>
              <a:t> </a:t>
            </a:r>
            <a:r>
              <a:rPr lang="en-IN" sz="1000" dirty="0" err="1">
                <a:solidFill>
                  <a:srgbClr val="0000FF"/>
                </a:solidFill>
                <a:latin typeface="Cascadia Mono" panose="020B0609020000020004" pitchFamily="49" charset="0"/>
              </a:rPr>
              <a:t>readonly</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StudentDataContext</a:t>
            </a:r>
            <a:r>
              <a:rPr lang="en-IN" sz="1000" dirty="0">
                <a:solidFill>
                  <a:srgbClr val="000000"/>
                </a:solidFill>
                <a:latin typeface="Cascadia Mono" panose="020B0609020000020004" pitchFamily="49" charset="0"/>
              </a:rPr>
              <a:t> _context;</a:t>
            </a:r>
          </a:p>
          <a:p>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public</a:t>
            </a:r>
            <a:r>
              <a:rPr lang="en-IN" sz="1000" dirty="0">
                <a:solidFill>
                  <a:srgbClr val="000000"/>
                </a:solidFill>
                <a:latin typeface="Cascadia Mono" panose="020B0609020000020004" pitchFamily="49" charset="0"/>
              </a:rPr>
              <a:t> </a:t>
            </a:r>
            <a:r>
              <a:rPr lang="en-IN" sz="1000" dirty="0" err="1">
                <a:solidFill>
                  <a:srgbClr val="2B91AF"/>
                </a:solidFill>
                <a:latin typeface="Cascadia Mono" panose="020B0609020000020004" pitchFamily="49" charset="0"/>
              </a:rPr>
              <a:t>ProductsController</a:t>
            </a:r>
            <a:r>
              <a:rPr lang="en-IN" sz="1000" dirty="0">
                <a:solidFill>
                  <a:srgbClr val="000000"/>
                </a:solidFill>
                <a:latin typeface="Cascadia Mono" panose="020B0609020000020004" pitchFamily="49" charset="0"/>
              </a:rPr>
              <a:t>(</a:t>
            </a:r>
            <a:r>
              <a:rPr lang="en-IN" sz="1000" dirty="0" err="1">
                <a:solidFill>
                  <a:srgbClr val="000000"/>
                </a:solidFill>
                <a:latin typeface="Cascadia Mono" panose="020B0609020000020004" pitchFamily="49" charset="0"/>
              </a:rPr>
              <a:t>StudentDataContext</a:t>
            </a:r>
            <a:r>
              <a:rPr lang="en-IN" sz="1000" dirty="0">
                <a:solidFill>
                  <a:srgbClr val="000000"/>
                </a:solidFill>
                <a:latin typeface="Cascadia Mono" panose="020B0609020000020004" pitchFamily="49" charset="0"/>
              </a:rPr>
              <a:t> context)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_context = context;</a:t>
            </a:r>
          </a:p>
          <a:p>
            <a:r>
              <a:rPr lang="en-IN" sz="1000" dirty="0">
                <a:solidFill>
                  <a:srgbClr val="000000"/>
                </a:solidFill>
                <a:latin typeface="Cascadia Mono" panose="020B0609020000020004" pitchFamily="49" charset="0"/>
              </a:rPr>
              <a:t>        }</a:t>
            </a:r>
          </a:p>
          <a:p>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a:solidFill>
                  <a:srgbClr val="008000"/>
                </a:solidFill>
                <a:latin typeface="Cascadia Mono" panose="020B0609020000020004" pitchFamily="49" charset="0"/>
              </a:rPr>
              <a:t>// GET: </a:t>
            </a:r>
            <a:r>
              <a:rPr lang="en-IN" sz="1000" dirty="0" err="1">
                <a:solidFill>
                  <a:srgbClr val="008000"/>
                </a:solidFill>
                <a:latin typeface="Cascadia Mono" panose="020B0609020000020004" pitchFamily="49" charset="0"/>
              </a:rPr>
              <a:t>api</a:t>
            </a:r>
            <a:r>
              <a:rPr lang="en-IN" sz="1000" dirty="0">
                <a:solidFill>
                  <a:srgbClr val="008000"/>
                </a:solidFill>
                <a:latin typeface="Cascadia Mono" panose="020B0609020000020004" pitchFamily="49" charset="0"/>
              </a:rPr>
              <a:t>/Products</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HttpGet</a:t>
            </a:r>
            <a:r>
              <a:rPr lang="en-IN" sz="1000" dirty="0">
                <a:solidFill>
                  <a:srgbClr val="000000"/>
                </a:solidFill>
                <a:latin typeface="Cascadia Mono" panose="020B0609020000020004" pitchFamily="49" charset="0"/>
              </a:rPr>
              <a:t>]</a:t>
            </a:r>
          </a:p>
          <a:p>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public</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async</a:t>
            </a:r>
            <a:r>
              <a:rPr lang="en-US" sz="1000" dirty="0">
                <a:solidFill>
                  <a:srgbClr val="000000"/>
                </a:solidFill>
                <a:latin typeface="Cascadia Mono" panose="020B0609020000020004" pitchFamily="49" charset="0"/>
              </a:rPr>
              <a:t> Task&lt;</a:t>
            </a:r>
            <a:r>
              <a:rPr lang="en-US" sz="1000" dirty="0" err="1">
                <a:solidFill>
                  <a:srgbClr val="000000"/>
                </a:solidFill>
                <a:latin typeface="Cascadia Mono" panose="020B0609020000020004" pitchFamily="49" charset="0"/>
              </a:rPr>
              <a:t>ActionResult</a:t>
            </a:r>
            <a:r>
              <a:rPr lang="en-US" sz="1000" dirty="0">
                <a:solidFill>
                  <a:srgbClr val="000000"/>
                </a:solidFill>
                <a:latin typeface="Cascadia Mono" panose="020B0609020000020004" pitchFamily="49" charset="0"/>
              </a:rPr>
              <a:t>&lt;</a:t>
            </a:r>
            <a:r>
              <a:rPr lang="en-US" sz="1000" dirty="0" err="1">
                <a:solidFill>
                  <a:srgbClr val="000000"/>
                </a:solidFill>
                <a:latin typeface="Cascadia Mono" panose="020B0609020000020004" pitchFamily="49" charset="0"/>
              </a:rPr>
              <a:t>IEnumerable</a:t>
            </a:r>
            <a:r>
              <a:rPr lang="en-US" sz="1000" dirty="0">
                <a:solidFill>
                  <a:srgbClr val="000000"/>
                </a:solidFill>
                <a:latin typeface="Cascadia Mono" panose="020B0609020000020004" pitchFamily="49" charset="0"/>
              </a:rPr>
              <a:t>&lt;Products&gt;&gt;&gt; </a:t>
            </a:r>
            <a:r>
              <a:rPr lang="en-US" sz="1000" dirty="0" err="1">
                <a:solidFill>
                  <a:srgbClr val="000000"/>
                </a:solidFill>
                <a:latin typeface="Cascadia Mono" panose="020B0609020000020004" pitchFamily="49" charset="0"/>
              </a:rPr>
              <a:t>GetProducts</a:t>
            </a:r>
            <a:r>
              <a:rPr lang="en-US"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if</a:t>
            </a:r>
            <a:r>
              <a:rPr lang="en-IN" sz="1000" dirty="0">
                <a:solidFill>
                  <a:srgbClr val="000000"/>
                </a:solidFill>
                <a:latin typeface="Cascadia Mono" panose="020B0609020000020004" pitchFamily="49" charset="0"/>
              </a:rPr>
              <a:t> (_</a:t>
            </a:r>
            <a:r>
              <a:rPr lang="en-IN" sz="1000" dirty="0" err="1">
                <a:solidFill>
                  <a:srgbClr val="000000"/>
                </a:solidFill>
                <a:latin typeface="Cascadia Mono" panose="020B0609020000020004" pitchFamily="49" charset="0"/>
              </a:rPr>
              <a:t>context.Products</a:t>
            </a:r>
            <a:r>
              <a:rPr lang="en-IN" sz="1000" dirty="0">
                <a:solidFill>
                  <a:srgbClr val="000000"/>
                </a:solidFill>
                <a:latin typeface="Cascadia Mono" panose="020B0609020000020004" pitchFamily="49" charset="0"/>
              </a:rPr>
              <a:t> == </a:t>
            </a:r>
            <a:r>
              <a:rPr lang="en-IN" sz="1000" dirty="0">
                <a:solidFill>
                  <a:srgbClr val="0000FF"/>
                </a:solidFill>
                <a:latin typeface="Cascadia Mono" panose="020B0609020000020004" pitchFamily="49" charset="0"/>
              </a:rPr>
              <a:t>null</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return</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NotFound</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return</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await</a:t>
            </a:r>
            <a:r>
              <a:rPr lang="en-US" sz="1000" dirty="0">
                <a:solidFill>
                  <a:srgbClr val="000000"/>
                </a:solidFill>
                <a:latin typeface="Cascadia Mono" panose="020B0609020000020004" pitchFamily="49" charset="0"/>
              </a:rPr>
              <a:t> _</a:t>
            </a:r>
            <a:r>
              <a:rPr lang="en-US" sz="1000" dirty="0" err="1">
                <a:solidFill>
                  <a:srgbClr val="000000"/>
                </a:solidFill>
                <a:latin typeface="Cascadia Mono" panose="020B0609020000020004" pitchFamily="49" charset="0"/>
              </a:rPr>
              <a:t>context.Products.ToListAsync</a:t>
            </a:r>
            <a:r>
              <a:rPr lang="en-US"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008000"/>
                </a:solidFill>
                <a:latin typeface="Cascadia Mono" panose="020B0609020000020004" pitchFamily="49" charset="0"/>
              </a:rPr>
              <a:t>// GET: </a:t>
            </a:r>
            <a:r>
              <a:rPr lang="en-IN" sz="1000" dirty="0" err="1">
                <a:solidFill>
                  <a:srgbClr val="008000"/>
                </a:solidFill>
                <a:latin typeface="Cascadia Mono" panose="020B0609020000020004" pitchFamily="49" charset="0"/>
              </a:rPr>
              <a:t>api</a:t>
            </a:r>
            <a:r>
              <a:rPr lang="en-IN" sz="1000" dirty="0">
                <a:solidFill>
                  <a:srgbClr val="008000"/>
                </a:solidFill>
                <a:latin typeface="Cascadia Mono" panose="020B0609020000020004" pitchFamily="49" charset="0"/>
              </a:rPr>
              <a:t>/Products/5</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HttpGet</a:t>
            </a:r>
            <a:r>
              <a:rPr lang="en-IN" sz="1000" dirty="0">
                <a:solidFill>
                  <a:srgbClr val="000000"/>
                </a:solidFill>
                <a:latin typeface="Cascadia Mono" panose="020B0609020000020004" pitchFamily="49" charset="0"/>
              </a:rPr>
              <a:t>(</a:t>
            </a:r>
            <a:r>
              <a:rPr lang="en-IN" sz="1000" dirty="0">
                <a:solidFill>
                  <a:srgbClr val="A31515"/>
                </a:solidFill>
                <a:latin typeface="Cascadia Mono" panose="020B0609020000020004" pitchFamily="49" charset="0"/>
              </a:rPr>
              <a:t>"{id}"</a:t>
            </a:r>
            <a:r>
              <a:rPr lang="en-IN" sz="1000" dirty="0">
                <a:solidFill>
                  <a:srgbClr val="000000"/>
                </a:solidFill>
                <a:latin typeface="Cascadia Mono" panose="020B0609020000020004" pitchFamily="49" charset="0"/>
              </a:rPr>
              <a:t>)]</a:t>
            </a:r>
          </a:p>
          <a:p>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public</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async</a:t>
            </a:r>
            <a:r>
              <a:rPr lang="en-US" sz="1000" dirty="0">
                <a:solidFill>
                  <a:srgbClr val="000000"/>
                </a:solidFill>
                <a:latin typeface="Cascadia Mono" panose="020B0609020000020004" pitchFamily="49" charset="0"/>
              </a:rPr>
              <a:t> Task&lt;</a:t>
            </a:r>
            <a:r>
              <a:rPr lang="en-US" sz="1000" dirty="0" err="1">
                <a:solidFill>
                  <a:srgbClr val="000000"/>
                </a:solidFill>
                <a:latin typeface="Cascadia Mono" panose="020B0609020000020004" pitchFamily="49" charset="0"/>
              </a:rPr>
              <a:t>ActionResult</a:t>
            </a:r>
            <a:r>
              <a:rPr lang="en-US" sz="1000" dirty="0">
                <a:solidFill>
                  <a:srgbClr val="000000"/>
                </a:solidFill>
                <a:latin typeface="Cascadia Mono" panose="020B0609020000020004" pitchFamily="49" charset="0"/>
              </a:rPr>
              <a:t>&lt;Products&gt;&gt; </a:t>
            </a:r>
            <a:r>
              <a:rPr lang="en-US" sz="1000" dirty="0" err="1">
                <a:solidFill>
                  <a:srgbClr val="000000"/>
                </a:solidFill>
                <a:latin typeface="Cascadia Mono" panose="020B0609020000020004" pitchFamily="49" charset="0"/>
              </a:rPr>
              <a:t>GetProducts</a:t>
            </a:r>
            <a:r>
              <a:rPr lang="en-US" sz="1000" dirty="0">
                <a:solidFill>
                  <a:srgbClr val="000000"/>
                </a:solidFill>
                <a:latin typeface="Cascadia Mono" panose="020B0609020000020004" pitchFamily="49" charset="0"/>
              </a:rPr>
              <a:t>(</a:t>
            </a:r>
            <a:r>
              <a:rPr lang="en-US" sz="1000" dirty="0">
                <a:solidFill>
                  <a:srgbClr val="0000FF"/>
                </a:solidFill>
                <a:latin typeface="Cascadia Mono" panose="020B0609020000020004" pitchFamily="49" charset="0"/>
              </a:rPr>
              <a:t>int</a:t>
            </a:r>
            <a:r>
              <a:rPr lang="en-US" sz="1000" dirty="0">
                <a:solidFill>
                  <a:srgbClr val="000000"/>
                </a:solidFill>
                <a:latin typeface="Cascadia Mono" panose="020B0609020000020004" pitchFamily="49" charset="0"/>
              </a:rPr>
              <a:t> id)</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if</a:t>
            </a:r>
            <a:r>
              <a:rPr lang="en-IN" sz="1000" dirty="0">
                <a:solidFill>
                  <a:srgbClr val="000000"/>
                </a:solidFill>
                <a:latin typeface="Cascadia Mono" panose="020B0609020000020004" pitchFamily="49" charset="0"/>
              </a:rPr>
              <a:t> (_</a:t>
            </a:r>
            <a:r>
              <a:rPr lang="en-IN" sz="1000" dirty="0" err="1">
                <a:solidFill>
                  <a:srgbClr val="000000"/>
                </a:solidFill>
                <a:latin typeface="Cascadia Mono" panose="020B0609020000020004" pitchFamily="49" charset="0"/>
              </a:rPr>
              <a:t>context.Products</a:t>
            </a:r>
            <a:r>
              <a:rPr lang="en-IN" sz="1000" dirty="0">
                <a:solidFill>
                  <a:srgbClr val="000000"/>
                </a:solidFill>
                <a:latin typeface="Cascadia Mono" panose="020B0609020000020004" pitchFamily="49" charset="0"/>
              </a:rPr>
              <a:t> == </a:t>
            </a:r>
            <a:r>
              <a:rPr lang="en-IN" sz="1000" dirty="0">
                <a:solidFill>
                  <a:srgbClr val="0000FF"/>
                </a:solidFill>
                <a:latin typeface="Cascadia Mono" panose="020B0609020000020004" pitchFamily="49" charset="0"/>
              </a:rPr>
              <a:t>null</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return</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NotFound</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endParaRPr lang="en-IN" sz="1000" dirty="0">
              <a:solidFill>
                <a:srgbClr val="000000"/>
              </a:solidFill>
              <a:latin typeface="Cascadia Mono" panose="020B0609020000020004" pitchFamily="49" charset="0"/>
            </a:endParaRPr>
          </a:p>
        </p:txBody>
      </p:sp>
      <p:sp>
        <p:nvSpPr>
          <p:cNvPr id="7" name="TextBox 6">
            <a:extLst>
              <a:ext uri="{FF2B5EF4-FFF2-40B4-BE49-F238E27FC236}">
                <a16:creationId xmlns:a16="http://schemas.microsoft.com/office/drawing/2014/main" xmlns="" id="{16F48095-0A86-4CF4-CE7A-F424DC3FF777}"/>
              </a:ext>
            </a:extLst>
          </p:cNvPr>
          <p:cNvSpPr txBox="1"/>
          <p:nvPr/>
        </p:nvSpPr>
        <p:spPr>
          <a:xfrm>
            <a:off x="4796116" y="26894"/>
            <a:ext cx="4612340" cy="67095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var</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products =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await</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context.Products.FindAsync</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(id);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if</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(products ==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null</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NotFound</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products;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PUT: </a:t>
            </a:r>
            <a:r>
              <a:rPr kumimoji="0" lang="en-IN" sz="1000" b="0" i="0" u="none" strike="noStrike" kern="1200" cap="none" spc="0" normalizeH="0" baseline="0" noProof="0" dirty="0" err="1">
                <a:ln>
                  <a:noFill/>
                </a:ln>
                <a:solidFill>
                  <a:srgbClr val="008000"/>
                </a:solidFill>
                <a:effectLst/>
                <a:uLnTx/>
                <a:uFillTx/>
                <a:latin typeface="Cascadia Mono" panose="020B0609020000020004" pitchFamily="49" charset="0"/>
                <a:ea typeface="+mn-ea"/>
                <a:cs typeface="+mn-cs"/>
              </a:rPr>
              <a:t>api</a:t>
            </a:r>
            <a:r>
              <a:rPr kumimoji="0" lang="en-IN" sz="10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/Products/5</a:t>
            </a: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To protect from </a:t>
            </a:r>
            <a:r>
              <a:rPr kumimoji="0" lang="en-US" sz="1000" b="0" i="0" u="none" strike="noStrike" kern="1200" cap="none" spc="0" normalizeH="0" baseline="0" noProof="0" dirty="0" err="1">
                <a:ln>
                  <a:noFill/>
                </a:ln>
                <a:solidFill>
                  <a:srgbClr val="008000"/>
                </a:solidFill>
                <a:effectLst/>
                <a:uLnTx/>
                <a:uFillTx/>
                <a:latin typeface="Cascadia Mono" panose="020B0609020000020004" pitchFamily="49" charset="0"/>
                <a:ea typeface="+mn-ea"/>
                <a:cs typeface="+mn-cs"/>
              </a:rPr>
              <a:t>overposting</a:t>
            </a:r>
            <a:r>
              <a:rPr kumimoji="0" lang="en-US" sz="10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attacks, see https://go.microsoft.com/fwlink/?linkid=2123754</a:t>
            </a:r>
            <a:endPar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HttpPut</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IN" sz="1000" b="0" i="0" u="none" strike="noStrike" kern="1200" cap="none" spc="0" normalizeH="0" baseline="0" noProof="0" dirty="0">
                <a:ln>
                  <a:noFill/>
                </a:ln>
                <a:solidFill>
                  <a:srgbClr val="A31515"/>
                </a:solidFill>
                <a:effectLst/>
                <a:uLnTx/>
                <a:uFillTx/>
                <a:latin typeface="Cascadia Mono" panose="020B0609020000020004" pitchFamily="49" charset="0"/>
                <a:ea typeface="+mn-ea"/>
                <a:cs typeface="+mn-cs"/>
              </a:rPr>
              <a:t>"{id}"</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public</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async</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Task&lt;</a:t>
            </a:r>
            <a:r>
              <a:rPr kumimoji="0" lang="en-US"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IActionResult</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&gt; </a:t>
            </a:r>
            <a:r>
              <a:rPr kumimoji="0" lang="en-US"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PutProducts</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US"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int</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id, Products products)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if</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(id !=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products.ProductId</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BadRequest</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US"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context.Entry</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(products).State = </a:t>
            </a:r>
            <a:r>
              <a:rPr kumimoji="0" lang="en-US"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EntityState.Modified</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try</a:t>
            </a: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await</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context.SaveChangesAsync</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catch</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DbUpdateConcurrencyException</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if</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ProductsExists</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NotFound</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else</a:t>
            </a: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throw</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NoContent</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endParaRPr lang="en-IN" dirty="0"/>
          </a:p>
        </p:txBody>
      </p:sp>
    </p:spTree>
    <p:extLst>
      <p:ext uri="{BB962C8B-B14F-4D97-AF65-F5344CB8AC3E}">
        <p14:creationId xmlns:p14="http://schemas.microsoft.com/office/powerpoint/2010/main" val="1735467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65F4A504-499A-10EF-2F8E-9670B4A6BE86}"/>
              </a:ext>
            </a:extLst>
          </p:cNvPr>
          <p:cNvSpPr txBox="1"/>
          <p:nvPr/>
        </p:nvSpPr>
        <p:spPr>
          <a:xfrm>
            <a:off x="1143000" y="-76200"/>
            <a:ext cx="7391400" cy="686341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POST: </a:t>
            </a:r>
            <a:r>
              <a:rPr kumimoji="0" lang="en-IN" sz="1000" b="0" i="0" u="none" strike="noStrike" kern="1200" cap="none" spc="0" normalizeH="0" baseline="0" noProof="0" dirty="0" err="1">
                <a:ln>
                  <a:noFill/>
                </a:ln>
                <a:solidFill>
                  <a:srgbClr val="008000"/>
                </a:solidFill>
                <a:effectLst/>
                <a:uLnTx/>
                <a:uFillTx/>
                <a:latin typeface="Cascadia Mono" panose="020B0609020000020004" pitchFamily="49" charset="0"/>
                <a:ea typeface="+mn-ea"/>
                <a:cs typeface="+mn-cs"/>
              </a:rPr>
              <a:t>api</a:t>
            </a:r>
            <a:r>
              <a:rPr kumimoji="0" lang="en-IN" sz="10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/Products</a:t>
            </a: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To protect from </a:t>
            </a:r>
            <a:r>
              <a:rPr kumimoji="0" lang="en-US" sz="1000" b="0" i="0" u="none" strike="noStrike" kern="1200" cap="none" spc="0" normalizeH="0" baseline="0" noProof="0" dirty="0" err="1">
                <a:ln>
                  <a:noFill/>
                </a:ln>
                <a:solidFill>
                  <a:srgbClr val="008000"/>
                </a:solidFill>
                <a:effectLst/>
                <a:uLnTx/>
                <a:uFillTx/>
                <a:latin typeface="Cascadia Mono" panose="020B0609020000020004" pitchFamily="49" charset="0"/>
                <a:ea typeface="+mn-ea"/>
                <a:cs typeface="+mn-cs"/>
              </a:rPr>
              <a:t>overposting</a:t>
            </a:r>
            <a:r>
              <a:rPr kumimoji="0" lang="en-US" sz="10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attacks, see https://go.microsoft.com/fwlink/?linkid=2123754</a:t>
            </a:r>
            <a:endPar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HttpPost</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public</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async</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Task&lt;</a:t>
            </a:r>
            <a:r>
              <a:rPr kumimoji="0" lang="en-US"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ActionResult</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&lt;Products&gt;&gt; </a:t>
            </a:r>
            <a:r>
              <a:rPr kumimoji="0" lang="en-US"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PostProducts</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(Products products)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if</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context.Products</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null</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Problem(</a:t>
            </a:r>
            <a:r>
              <a:rPr kumimoji="0" lang="en-US" sz="1000" b="0" i="0" u="none" strike="noStrike" kern="1200" cap="none" spc="0" normalizeH="0" baseline="0" noProof="0" dirty="0">
                <a:ln>
                  <a:noFill/>
                </a:ln>
                <a:solidFill>
                  <a:srgbClr val="A31515"/>
                </a:solidFill>
                <a:effectLst/>
                <a:uLnTx/>
                <a:uFillTx/>
                <a:latin typeface="Cascadia Mono" panose="020B0609020000020004" pitchFamily="49" charset="0"/>
                <a:ea typeface="+mn-ea"/>
                <a:cs typeface="+mn-cs"/>
              </a:rPr>
              <a:t>"Entity set '</a:t>
            </a:r>
            <a:r>
              <a:rPr kumimoji="0" lang="en-US" sz="1000" b="0" i="0" u="none" strike="noStrike" kern="1200" cap="none" spc="0" normalizeH="0" baseline="0" noProof="0" dirty="0" err="1">
                <a:ln>
                  <a:noFill/>
                </a:ln>
                <a:solidFill>
                  <a:srgbClr val="A31515"/>
                </a:solidFill>
                <a:effectLst/>
                <a:uLnTx/>
                <a:uFillTx/>
                <a:latin typeface="Cascadia Mono" panose="020B0609020000020004" pitchFamily="49" charset="0"/>
                <a:ea typeface="+mn-ea"/>
                <a:cs typeface="+mn-cs"/>
              </a:rPr>
              <a:t>StudentDataContext.Products</a:t>
            </a:r>
            <a:r>
              <a:rPr kumimoji="0" lang="en-US" sz="1000" b="0" i="0" u="none" strike="noStrike" kern="1200" cap="none" spc="0" normalizeH="0" baseline="0" noProof="0" dirty="0">
                <a:ln>
                  <a:noFill/>
                </a:ln>
                <a:solidFill>
                  <a:srgbClr val="A31515"/>
                </a:solidFill>
                <a:effectLst/>
                <a:uLnTx/>
                <a:uFillTx/>
                <a:latin typeface="Cascadia Mono" panose="020B0609020000020004" pitchFamily="49" charset="0"/>
                <a:ea typeface="+mn-ea"/>
                <a:cs typeface="+mn-cs"/>
              </a:rPr>
              <a:t>'  is null."</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context.Products.Add</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(products);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await</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context.SaveChangesAsync</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CreatedAtAction</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US" sz="1000" b="0" i="0" u="none" strike="noStrike" kern="1200" cap="none" spc="0" normalizeH="0" baseline="0" noProof="0" dirty="0">
                <a:ln>
                  <a:noFill/>
                </a:ln>
                <a:solidFill>
                  <a:srgbClr val="A31515"/>
                </a:solidFill>
                <a:effectLst/>
                <a:uLnTx/>
                <a:uFillTx/>
                <a:latin typeface="Cascadia Mono" panose="020B0609020000020004" pitchFamily="49" charset="0"/>
                <a:ea typeface="+mn-ea"/>
                <a:cs typeface="+mn-cs"/>
              </a:rPr>
              <a:t>"</a:t>
            </a:r>
            <a:r>
              <a:rPr kumimoji="0" lang="en-US" sz="1000" b="0" i="0" u="none" strike="noStrike" kern="1200" cap="none" spc="0" normalizeH="0" baseline="0" noProof="0" dirty="0" err="1">
                <a:ln>
                  <a:noFill/>
                </a:ln>
                <a:solidFill>
                  <a:srgbClr val="A31515"/>
                </a:solidFill>
                <a:effectLst/>
                <a:uLnTx/>
                <a:uFillTx/>
                <a:latin typeface="Cascadia Mono" panose="020B0609020000020004" pitchFamily="49" charset="0"/>
                <a:ea typeface="+mn-ea"/>
                <a:cs typeface="+mn-cs"/>
              </a:rPr>
              <a:t>GetProducts</a:t>
            </a:r>
            <a:r>
              <a:rPr kumimoji="0" lang="en-US" sz="1000" b="0" i="0" u="none" strike="noStrike" kern="1200" cap="none" spc="0" normalizeH="0" baseline="0" noProof="0" dirty="0">
                <a:ln>
                  <a:noFill/>
                </a:ln>
                <a:solidFill>
                  <a:srgbClr val="A31515"/>
                </a:solidFill>
                <a:effectLst/>
                <a:uLnTx/>
                <a:uFillTx/>
                <a:latin typeface="Cascadia Mono" panose="020B0609020000020004" pitchFamily="49" charset="0"/>
                <a:ea typeface="+mn-ea"/>
                <a:cs typeface="+mn-cs"/>
              </a:rPr>
              <a:t>"</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new</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 id = </a:t>
            </a:r>
            <a:r>
              <a:rPr kumimoji="0" lang="en-US"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products.ProductId</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 products);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DELETE: </a:t>
            </a:r>
            <a:r>
              <a:rPr kumimoji="0" lang="en-IN" sz="1000" b="0" i="0" u="none" strike="noStrike" kern="1200" cap="none" spc="0" normalizeH="0" baseline="0" noProof="0" dirty="0" err="1">
                <a:ln>
                  <a:noFill/>
                </a:ln>
                <a:solidFill>
                  <a:srgbClr val="008000"/>
                </a:solidFill>
                <a:effectLst/>
                <a:uLnTx/>
                <a:uFillTx/>
                <a:latin typeface="Cascadia Mono" panose="020B0609020000020004" pitchFamily="49" charset="0"/>
                <a:ea typeface="+mn-ea"/>
                <a:cs typeface="+mn-cs"/>
              </a:rPr>
              <a:t>api</a:t>
            </a:r>
            <a:r>
              <a:rPr kumimoji="0" lang="en-IN" sz="10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/Products/5</a:t>
            </a: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HttpDelete</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IN" sz="1000" b="0" i="0" u="none" strike="noStrike" kern="1200" cap="none" spc="0" normalizeH="0" baseline="0" noProof="0" dirty="0">
                <a:ln>
                  <a:noFill/>
                </a:ln>
                <a:solidFill>
                  <a:srgbClr val="A31515"/>
                </a:solidFill>
                <a:effectLst/>
                <a:uLnTx/>
                <a:uFillTx/>
                <a:latin typeface="Cascadia Mono" panose="020B0609020000020004" pitchFamily="49" charset="0"/>
                <a:ea typeface="+mn-ea"/>
                <a:cs typeface="+mn-cs"/>
              </a:rPr>
              <a:t>"{id}"</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public</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async</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Task&lt;</a:t>
            </a:r>
            <a:r>
              <a:rPr kumimoji="0" lang="en-US"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IActionResult</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&gt; </a:t>
            </a:r>
            <a:r>
              <a:rPr kumimoji="0" lang="en-US"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DeleteProducts</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US"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int</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if</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context.Products</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null</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NotFound</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var</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products =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await</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context.Products.FindAsync</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if</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(products ==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null</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NotFound</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context.Products.Remove</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(products);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await</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context.SaveChangesAsync</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NoContent</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private</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bool</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ProductsExists</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US"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int</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US"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context.Products?.Any</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(e =&gt; </a:t>
            </a:r>
            <a:r>
              <a:rPr kumimoji="0" lang="en-US"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e.ProductId</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 id)).</a:t>
            </a:r>
            <a:r>
              <a:rPr kumimoji="0" lang="en-US"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GetValueOrDefault</a:t>
            </a: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endParaRPr kumimoji="0" lang="en-IN" sz="1800" b="0" i="0" u="none" strike="noStrike" kern="1200" cap="none" spc="0" normalizeH="0" baseline="0" noProof="0" dirty="0">
              <a:ln>
                <a:noFill/>
              </a:ln>
              <a:solidFill>
                <a:prstClr val="black"/>
              </a:solidFill>
              <a:effectLst/>
              <a:uLnTx/>
              <a:uFillTx/>
              <a:latin typeface="Garamond" panose="02020404030301010803"/>
              <a:ea typeface="+mn-ea"/>
              <a:cs typeface="+mn-cs"/>
            </a:endParaRPr>
          </a:p>
        </p:txBody>
      </p:sp>
    </p:spTree>
    <p:extLst>
      <p:ext uri="{BB962C8B-B14F-4D97-AF65-F5344CB8AC3E}">
        <p14:creationId xmlns:p14="http://schemas.microsoft.com/office/powerpoint/2010/main" val="15663298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E482319B-6531-BE09-2E4C-29907ECE9871}"/>
              </a:ext>
            </a:extLst>
          </p:cNvPr>
          <p:cNvSpPr txBox="1"/>
          <p:nvPr/>
        </p:nvSpPr>
        <p:spPr>
          <a:xfrm>
            <a:off x="1447800" y="180200"/>
            <a:ext cx="7391400" cy="923330"/>
          </a:xfrm>
          <a:prstGeom prst="rect">
            <a:avLst/>
          </a:prstGeom>
          <a:noFill/>
        </p:spPr>
        <p:txBody>
          <a:bodyPr wrap="square" rtlCol="0">
            <a:spAutoFit/>
          </a:bodyPr>
          <a:lstStyle/>
          <a:p>
            <a:r>
              <a:rPr lang="en-US" dirty="0"/>
              <a:t>Run application  in </a:t>
            </a:r>
            <a:r>
              <a:rPr lang="en-US" dirty="0">
                <a:highlight>
                  <a:srgbClr val="FFFF00"/>
                </a:highlight>
              </a:rPr>
              <a:t>URL type</a:t>
            </a:r>
          </a:p>
          <a:p>
            <a:r>
              <a:rPr lang="en-US" dirty="0">
                <a:solidFill>
                  <a:srgbClr val="00B050"/>
                </a:solidFill>
              </a:rPr>
              <a:t>https://localhost:44300/api/Products</a:t>
            </a:r>
          </a:p>
          <a:p>
            <a:endParaRPr lang="en-IN" dirty="0"/>
          </a:p>
        </p:txBody>
      </p:sp>
      <p:cxnSp>
        <p:nvCxnSpPr>
          <p:cNvPr id="6" name="Straight Arrow Connector 5">
            <a:extLst>
              <a:ext uri="{FF2B5EF4-FFF2-40B4-BE49-F238E27FC236}">
                <a16:creationId xmlns:a16="http://schemas.microsoft.com/office/drawing/2014/main" xmlns="" id="{11FF5751-212B-9114-C79A-280122FA548F}"/>
              </a:ext>
            </a:extLst>
          </p:cNvPr>
          <p:cNvCxnSpPr>
            <a:cxnSpLocks/>
          </p:cNvCxnSpPr>
          <p:nvPr/>
        </p:nvCxnSpPr>
        <p:spPr>
          <a:xfrm>
            <a:off x="4953000" y="627964"/>
            <a:ext cx="1143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xmlns="" id="{4A5155C1-4D72-F29E-A890-851E661676EA}"/>
              </a:ext>
            </a:extLst>
          </p:cNvPr>
          <p:cNvSpPr txBox="1"/>
          <p:nvPr/>
        </p:nvSpPr>
        <p:spPr>
          <a:xfrm>
            <a:off x="6163235" y="457200"/>
            <a:ext cx="1752600" cy="646331"/>
          </a:xfrm>
          <a:prstGeom prst="rect">
            <a:avLst/>
          </a:prstGeom>
          <a:noFill/>
        </p:spPr>
        <p:txBody>
          <a:bodyPr wrap="square" rtlCol="0">
            <a:spAutoFit/>
          </a:bodyPr>
          <a:lstStyle/>
          <a:p>
            <a:r>
              <a:rPr lang="en-US" dirty="0">
                <a:solidFill>
                  <a:srgbClr val="00B050"/>
                </a:solidFill>
              </a:rPr>
              <a:t>Products</a:t>
            </a:r>
            <a:r>
              <a:rPr lang="en-US" dirty="0"/>
              <a:t> is name of </a:t>
            </a:r>
            <a:r>
              <a:rPr lang="en-US" dirty="0">
                <a:solidFill>
                  <a:srgbClr val="FF0000"/>
                </a:solidFill>
              </a:rPr>
              <a:t>controller</a:t>
            </a:r>
            <a:endParaRPr lang="en-IN" dirty="0">
              <a:solidFill>
                <a:srgbClr val="FF0000"/>
              </a:solidFill>
            </a:endParaRPr>
          </a:p>
        </p:txBody>
      </p:sp>
      <p:pic>
        <p:nvPicPr>
          <p:cNvPr id="9" name="Picture 8">
            <a:extLst>
              <a:ext uri="{FF2B5EF4-FFF2-40B4-BE49-F238E27FC236}">
                <a16:creationId xmlns:a16="http://schemas.microsoft.com/office/drawing/2014/main" xmlns="" id="{FBA04D3F-6C33-1F72-75AC-2EBB5204086A}"/>
              </a:ext>
            </a:extLst>
          </p:cNvPr>
          <p:cNvPicPr>
            <a:picLocks noChangeAspect="1"/>
          </p:cNvPicPr>
          <p:nvPr/>
        </p:nvPicPr>
        <p:blipFill rotWithShape="1">
          <a:blip r:embed="rId2"/>
          <a:srcRect t="4788" r="50000" b="12963"/>
          <a:stretch/>
        </p:blipFill>
        <p:spPr>
          <a:xfrm>
            <a:off x="1447800" y="1524000"/>
            <a:ext cx="4572000" cy="4230470"/>
          </a:xfrm>
          <a:prstGeom prst="rect">
            <a:avLst/>
          </a:prstGeom>
        </p:spPr>
      </p:pic>
      <p:sp>
        <p:nvSpPr>
          <p:cNvPr id="2" name="TextBox 1">
            <a:extLst>
              <a:ext uri="{FF2B5EF4-FFF2-40B4-BE49-F238E27FC236}">
                <a16:creationId xmlns:a16="http://schemas.microsoft.com/office/drawing/2014/main" xmlns="" id="{57A93396-4251-D9A5-10F0-6271F62BBFC1}"/>
              </a:ext>
            </a:extLst>
          </p:cNvPr>
          <p:cNvSpPr txBox="1"/>
          <p:nvPr/>
        </p:nvSpPr>
        <p:spPr>
          <a:xfrm>
            <a:off x="838200" y="6019800"/>
            <a:ext cx="6172200" cy="381000"/>
          </a:xfrm>
          <a:prstGeom prst="rect">
            <a:avLst/>
          </a:prstGeom>
          <a:noFill/>
        </p:spPr>
        <p:txBody>
          <a:bodyPr wrap="square" rtlCol="0">
            <a:spAutoFit/>
          </a:bodyPr>
          <a:lstStyle/>
          <a:p>
            <a:r>
              <a:rPr lang="en-US" dirty="0"/>
              <a:t>If you </a:t>
            </a:r>
            <a:r>
              <a:rPr lang="en-US" dirty="0">
                <a:highlight>
                  <a:srgbClr val="FFFF00"/>
                </a:highlight>
              </a:rPr>
              <a:t>don’t type any things </a:t>
            </a:r>
            <a:r>
              <a:rPr lang="en-US" dirty="0"/>
              <a:t>you will get following screen</a:t>
            </a:r>
            <a:endParaRPr lang="en-IN" dirty="0"/>
          </a:p>
        </p:txBody>
      </p:sp>
    </p:spTree>
    <p:extLst>
      <p:ext uri="{BB962C8B-B14F-4D97-AF65-F5344CB8AC3E}">
        <p14:creationId xmlns:p14="http://schemas.microsoft.com/office/powerpoint/2010/main" val="1467073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AFA43FA0-B896-3EE8-5A80-240120D2CFDA}"/>
              </a:ext>
            </a:extLst>
          </p:cNvPr>
          <p:cNvPicPr>
            <a:picLocks noChangeAspect="1"/>
          </p:cNvPicPr>
          <p:nvPr/>
        </p:nvPicPr>
        <p:blipFill>
          <a:blip r:embed="rId2"/>
          <a:stretch>
            <a:fillRect/>
          </a:stretch>
        </p:blipFill>
        <p:spPr>
          <a:xfrm>
            <a:off x="0" y="857250"/>
            <a:ext cx="9144000" cy="5143500"/>
          </a:xfrm>
          <a:prstGeom prst="rect">
            <a:avLst/>
          </a:prstGeom>
        </p:spPr>
      </p:pic>
    </p:spTree>
    <p:extLst>
      <p:ext uri="{BB962C8B-B14F-4D97-AF65-F5344CB8AC3E}">
        <p14:creationId xmlns:p14="http://schemas.microsoft.com/office/powerpoint/2010/main" val="36061449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F617FE97-6858-3E11-EF5F-58DE4FCC5333}"/>
              </a:ext>
            </a:extLst>
          </p:cNvPr>
          <p:cNvPicPr>
            <a:picLocks noChangeAspect="1"/>
          </p:cNvPicPr>
          <p:nvPr/>
        </p:nvPicPr>
        <p:blipFill rotWithShape="1">
          <a:blip r:embed="rId2"/>
          <a:srcRect l="16667" t="8518" r="12500"/>
          <a:stretch/>
        </p:blipFill>
        <p:spPr>
          <a:xfrm>
            <a:off x="533400" y="1143000"/>
            <a:ext cx="6477000" cy="4705350"/>
          </a:xfrm>
          <a:prstGeom prst="rect">
            <a:avLst/>
          </a:prstGeom>
        </p:spPr>
      </p:pic>
      <p:sp>
        <p:nvSpPr>
          <p:cNvPr id="6" name="TextBox 5">
            <a:extLst>
              <a:ext uri="{FF2B5EF4-FFF2-40B4-BE49-F238E27FC236}">
                <a16:creationId xmlns:a16="http://schemas.microsoft.com/office/drawing/2014/main" xmlns="" id="{95B3C8A0-7E0C-C978-A90C-06872C7A0C7C}"/>
              </a:ext>
            </a:extLst>
          </p:cNvPr>
          <p:cNvSpPr txBox="1"/>
          <p:nvPr/>
        </p:nvSpPr>
        <p:spPr>
          <a:xfrm>
            <a:off x="1447800" y="76200"/>
            <a:ext cx="7086600" cy="923330"/>
          </a:xfrm>
          <a:prstGeom prst="rect">
            <a:avLst/>
          </a:prstGeom>
          <a:noFill/>
        </p:spPr>
        <p:txBody>
          <a:bodyPr wrap="square" rtlCol="0">
            <a:spAutoFit/>
          </a:bodyPr>
          <a:lstStyle/>
          <a:p>
            <a:r>
              <a:rPr lang="en-US" dirty="0"/>
              <a:t>Click </a:t>
            </a:r>
            <a:r>
              <a:rPr lang="en-US" dirty="0">
                <a:highlight>
                  <a:srgbClr val="00FFFF"/>
                </a:highlight>
              </a:rPr>
              <a:t>GET</a:t>
            </a:r>
          </a:p>
          <a:p>
            <a:r>
              <a:rPr lang="en-US" dirty="0"/>
              <a:t>Click </a:t>
            </a:r>
            <a:r>
              <a:rPr lang="en-US" dirty="0">
                <a:highlight>
                  <a:srgbClr val="00FFFF"/>
                </a:highlight>
              </a:rPr>
              <a:t>Tryout</a:t>
            </a:r>
            <a:endParaRPr lang="en-US" dirty="0"/>
          </a:p>
          <a:p>
            <a:r>
              <a:rPr lang="en-US" dirty="0" err="1"/>
              <a:t>Clik</a:t>
            </a:r>
            <a:r>
              <a:rPr lang="en-US" dirty="0"/>
              <a:t> </a:t>
            </a:r>
            <a:r>
              <a:rPr lang="en-US" dirty="0" err="1">
                <a:highlight>
                  <a:srgbClr val="00FFFF"/>
                </a:highlight>
              </a:rPr>
              <a:t>Ececute</a:t>
            </a:r>
            <a:r>
              <a:rPr lang="en-US" dirty="0">
                <a:highlight>
                  <a:srgbClr val="00FFFF"/>
                </a:highlight>
              </a:rPr>
              <a:t> </a:t>
            </a:r>
            <a:endParaRPr lang="en-IN" dirty="0">
              <a:highlight>
                <a:srgbClr val="00FFFF"/>
              </a:highlight>
            </a:endParaRPr>
          </a:p>
        </p:txBody>
      </p:sp>
    </p:spTree>
    <p:extLst>
      <p:ext uri="{BB962C8B-B14F-4D97-AF65-F5344CB8AC3E}">
        <p14:creationId xmlns:p14="http://schemas.microsoft.com/office/powerpoint/2010/main" val="1759976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66FB58C1-4B00-0C48-3928-947D35E12061}"/>
              </a:ext>
            </a:extLst>
          </p:cNvPr>
          <p:cNvPicPr>
            <a:picLocks noChangeAspect="1"/>
          </p:cNvPicPr>
          <p:nvPr/>
        </p:nvPicPr>
        <p:blipFill rotWithShape="1">
          <a:blip r:embed="rId2"/>
          <a:srcRect l="15000" t="5556" r="16667" b="-1"/>
          <a:stretch/>
        </p:blipFill>
        <p:spPr>
          <a:xfrm>
            <a:off x="228600" y="762000"/>
            <a:ext cx="8229600" cy="6398012"/>
          </a:xfrm>
          <a:prstGeom prst="rect">
            <a:avLst/>
          </a:prstGeom>
        </p:spPr>
      </p:pic>
      <p:sp>
        <p:nvSpPr>
          <p:cNvPr id="6" name="TextBox 5">
            <a:extLst>
              <a:ext uri="{FF2B5EF4-FFF2-40B4-BE49-F238E27FC236}">
                <a16:creationId xmlns:a16="http://schemas.microsoft.com/office/drawing/2014/main" xmlns="" id="{18A69755-0EB6-1CBB-4724-96CD6E425805}"/>
              </a:ext>
            </a:extLst>
          </p:cNvPr>
          <p:cNvSpPr txBox="1"/>
          <p:nvPr/>
        </p:nvSpPr>
        <p:spPr>
          <a:xfrm>
            <a:off x="1295400" y="152400"/>
            <a:ext cx="4114800" cy="369332"/>
          </a:xfrm>
          <a:prstGeom prst="rect">
            <a:avLst/>
          </a:prstGeom>
          <a:noFill/>
        </p:spPr>
        <p:txBody>
          <a:bodyPr wrap="square" rtlCol="0">
            <a:spAutoFit/>
          </a:bodyPr>
          <a:lstStyle/>
          <a:p>
            <a:r>
              <a:rPr lang="en-US" dirty="0"/>
              <a:t>Click on GET/API/Products/{Id}</a:t>
            </a:r>
            <a:endParaRPr lang="en-IN" dirty="0"/>
          </a:p>
        </p:txBody>
      </p:sp>
      <p:cxnSp>
        <p:nvCxnSpPr>
          <p:cNvPr id="8" name="Straight Arrow Connector 7">
            <a:extLst>
              <a:ext uri="{FF2B5EF4-FFF2-40B4-BE49-F238E27FC236}">
                <a16:creationId xmlns:a16="http://schemas.microsoft.com/office/drawing/2014/main" xmlns="" id="{9E55856C-823A-B59D-0512-FC3A99F35B1E}"/>
              </a:ext>
            </a:extLst>
          </p:cNvPr>
          <p:cNvCxnSpPr/>
          <p:nvPr/>
        </p:nvCxnSpPr>
        <p:spPr>
          <a:xfrm flipV="1">
            <a:off x="3048000" y="2057400"/>
            <a:ext cx="1371600"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xmlns="" id="{0E8B8A08-94AF-F845-0374-DD7E006E3AD3}"/>
              </a:ext>
            </a:extLst>
          </p:cNvPr>
          <p:cNvSpPr txBox="1"/>
          <p:nvPr/>
        </p:nvSpPr>
        <p:spPr>
          <a:xfrm>
            <a:off x="4648200" y="1676400"/>
            <a:ext cx="1905000" cy="369332"/>
          </a:xfrm>
          <a:prstGeom prst="rect">
            <a:avLst/>
          </a:prstGeom>
          <a:noFill/>
        </p:spPr>
        <p:txBody>
          <a:bodyPr wrap="square" rtlCol="0">
            <a:spAutoFit/>
          </a:bodyPr>
          <a:lstStyle/>
          <a:p>
            <a:r>
              <a:rPr lang="en-US" dirty="0"/>
              <a:t>TYPE ID</a:t>
            </a:r>
            <a:endParaRPr lang="en-IN" dirty="0"/>
          </a:p>
        </p:txBody>
      </p:sp>
      <p:cxnSp>
        <p:nvCxnSpPr>
          <p:cNvPr id="11" name="Straight Arrow Connector 10">
            <a:extLst>
              <a:ext uri="{FF2B5EF4-FFF2-40B4-BE49-F238E27FC236}">
                <a16:creationId xmlns:a16="http://schemas.microsoft.com/office/drawing/2014/main" xmlns="" id="{01D6630B-C863-D53A-7549-EE6CAA229FFD}"/>
              </a:ext>
            </a:extLst>
          </p:cNvPr>
          <p:cNvCxnSpPr/>
          <p:nvPr/>
        </p:nvCxnSpPr>
        <p:spPr>
          <a:xfrm flipV="1">
            <a:off x="2438400" y="4495800"/>
            <a:ext cx="2362200" cy="685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xmlns="" id="{88AD8D04-C100-E57F-F90B-DC713B9EF07F}"/>
              </a:ext>
            </a:extLst>
          </p:cNvPr>
          <p:cNvSpPr txBox="1"/>
          <p:nvPr/>
        </p:nvSpPr>
        <p:spPr>
          <a:xfrm>
            <a:off x="4953000" y="4126470"/>
            <a:ext cx="2438400" cy="646331"/>
          </a:xfrm>
          <a:prstGeom prst="rect">
            <a:avLst/>
          </a:prstGeom>
          <a:noFill/>
        </p:spPr>
        <p:txBody>
          <a:bodyPr wrap="square" rtlCol="0">
            <a:spAutoFit/>
          </a:bodyPr>
          <a:lstStyle/>
          <a:p>
            <a:r>
              <a:rPr lang="en-US" dirty="0"/>
              <a:t>It will display detail of product with ID 1</a:t>
            </a:r>
            <a:endParaRPr lang="en-IN" dirty="0"/>
          </a:p>
        </p:txBody>
      </p:sp>
    </p:spTree>
    <p:extLst>
      <p:ext uri="{BB962C8B-B14F-4D97-AF65-F5344CB8AC3E}">
        <p14:creationId xmlns:p14="http://schemas.microsoft.com/office/powerpoint/2010/main" val="27383825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275F29B-0733-4738-A13A-DAF2AB67076D}"/>
              </a:ext>
            </a:extLst>
          </p:cNvPr>
          <p:cNvSpPr>
            <a:spLocks noGrp="1"/>
          </p:cNvSpPr>
          <p:nvPr>
            <p:ph idx="1"/>
          </p:nvPr>
        </p:nvSpPr>
        <p:spPr>
          <a:xfrm>
            <a:off x="1066800" y="1"/>
            <a:ext cx="8286750" cy="990600"/>
          </a:xfrm>
        </p:spPr>
        <p:txBody>
          <a:bodyPr>
            <a:normAutofit lnSpcReduction="10000"/>
          </a:bodyPr>
          <a:lstStyle/>
          <a:p>
            <a:pPr marL="0" indent="0">
              <a:buNone/>
            </a:pPr>
            <a:r>
              <a:rPr lang="en-US" dirty="0"/>
              <a:t>Run and test APIs using Postman</a:t>
            </a:r>
          </a:p>
          <a:p>
            <a:r>
              <a:rPr lang="en-US" dirty="0"/>
              <a:t>Click Run to view the Inventory service.  A new browser tab will open, and we’ll be able to see the product listing.</a:t>
            </a:r>
            <a:endParaRPr lang="en-IN" dirty="0"/>
          </a:p>
        </p:txBody>
      </p:sp>
      <p:pic>
        <p:nvPicPr>
          <p:cNvPr id="4" name="Picture 3">
            <a:extLst>
              <a:ext uri="{FF2B5EF4-FFF2-40B4-BE49-F238E27FC236}">
                <a16:creationId xmlns:a16="http://schemas.microsoft.com/office/drawing/2014/main" xmlns="" id="{1C9CC113-8F08-4166-B060-9EFB623A8C0E}"/>
              </a:ext>
            </a:extLst>
          </p:cNvPr>
          <p:cNvPicPr>
            <a:picLocks noChangeAspect="1"/>
          </p:cNvPicPr>
          <p:nvPr/>
        </p:nvPicPr>
        <p:blipFill>
          <a:blip r:embed="rId2"/>
          <a:stretch>
            <a:fillRect/>
          </a:stretch>
        </p:blipFill>
        <p:spPr>
          <a:xfrm>
            <a:off x="533400" y="1219200"/>
            <a:ext cx="4229100" cy="4991100"/>
          </a:xfrm>
          <a:prstGeom prst="rect">
            <a:avLst/>
          </a:prstGeom>
        </p:spPr>
      </p:pic>
      <p:sp>
        <p:nvSpPr>
          <p:cNvPr id="6" name="TextBox 5">
            <a:extLst>
              <a:ext uri="{FF2B5EF4-FFF2-40B4-BE49-F238E27FC236}">
                <a16:creationId xmlns:a16="http://schemas.microsoft.com/office/drawing/2014/main" xmlns="" id="{3C667595-6AF2-4982-99E5-90AB9EDEC8C7}"/>
              </a:ext>
            </a:extLst>
          </p:cNvPr>
          <p:cNvSpPr txBox="1"/>
          <p:nvPr/>
        </p:nvSpPr>
        <p:spPr>
          <a:xfrm>
            <a:off x="4638984" y="1020098"/>
            <a:ext cx="4428816" cy="4801314"/>
          </a:xfrm>
          <a:prstGeom prst="rect">
            <a:avLst/>
          </a:prstGeom>
          <a:noFill/>
        </p:spPr>
        <p:txBody>
          <a:bodyPr wrap="square">
            <a:spAutoFit/>
          </a:bodyPr>
          <a:lstStyle/>
          <a:p>
            <a:r>
              <a:rPr lang="en-US" dirty="0"/>
              <a:t>Our Inventory REST service is up and running.</a:t>
            </a:r>
          </a:p>
          <a:p>
            <a:endParaRPr lang="en-US" dirty="0"/>
          </a:p>
          <a:p>
            <a:r>
              <a:rPr lang="en-US" dirty="0"/>
              <a:t>Note: The localhost port number may be different in your development machine.</a:t>
            </a:r>
          </a:p>
          <a:p>
            <a:endParaRPr lang="en-US" dirty="0"/>
          </a:p>
          <a:p>
            <a:r>
              <a:rPr lang="en-US" dirty="0"/>
              <a:t>In this section, we will see how to consume our service using Postman (Postman is an API testing tool that helps developers consume and check how an API works).</a:t>
            </a:r>
          </a:p>
          <a:p>
            <a:endParaRPr lang="en-US" dirty="0"/>
          </a:p>
          <a:p>
            <a:r>
              <a:rPr lang="en-US" dirty="0"/>
              <a:t>Follow these steps to view the products list:</a:t>
            </a:r>
          </a:p>
          <a:p>
            <a:r>
              <a:rPr lang="en-US" dirty="0"/>
              <a:t>Step 1: Open Postman and enter this endpoint: https://localhost:44305/api/products.</a:t>
            </a:r>
          </a:p>
          <a:p>
            <a:endParaRPr lang="en-US" dirty="0"/>
          </a:p>
          <a:p>
            <a:r>
              <a:rPr lang="en-US" dirty="0"/>
              <a:t>Step 2: Choose the GET method and click Send. Now, all the products will be listed as shown in the following screenshot.</a:t>
            </a:r>
            <a:endParaRPr lang="en-IN" dirty="0"/>
          </a:p>
        </p:txBody>
      </p:sp>
    </p:spTree>
    <p:extLst>
      <p:ext uri="{BB962C8B-B14F-4D97-AF65-F5344CB8AC3E}">
        <p14:creationId xmlns:p14="http://schemas.microsoft.com/office/powerpoint/2010/main" val="7396857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xmlns="" id="{F26D7393-1AB5-44D6-AE8F-590808859FAA}"/>
              </a:ext>
            </a:extLst>
          </p:cNvPr>
          <p:cNvPicPr>
            <a:picLocks noGrp="1" noChangeAspect="1"/>
          </p:cNvPicPr>
          <p:nvPr>
            <p:ph idx="1"/>
          </p:nvPr>
        </p:nvPicPr>
        <p:blipFill>
          <a:blip r:embed="rId2"/>
          <a:stretch>
            <a:fillRect/>
          </a:stretch>
        </p:blipFill>
        <p:spPr>
          <a:xfrm>
            <a:off x="2743200" y="228600"/>
            <a:ext cx="6026059" cy="5719763"/>
          </a:xfrm>
          <a:prstGeom prst="rect">
            <a:avLst/>
          </a:prstGeom>
        </p:spPr>
      </p:pic>
      <p:sp>
        <p:nvSpPr>
          <p:cNvPr id="2" name="TextBox 1">
            <a:extLst>
              <a:ext uri="{FF2B5EF4-FFF2-40B4-BE49-F238E27FC236}">
                <a16:creationId xmlns:a16="http://schemas.microsoft.com/office/drawing/2014/main" xmlns="" id="{DD898459-C769-B896-D886-7682E43AEF82}"/>
              </a:ext>
            </a:extLst>
          </p:cNvPr>
          <p:cNvSpPr txBox="1"/>
          <p:nvPr/>
        </p:nvSpPr>
        <p:spPr>
          <a:xfrm>
            <a:off x="152400" y="914400"/>
            <a:ext cx="1981200" cy="646331"/>
          </a:xfrm>
          <a:prstGeom prst="rect">
            <a:avLst/>
          </a:prstGeom>
          <a:noFill/>
        </p:spPr>
        <p:txBody>
          <a:bodyPr wrap="square" rtlCol="0">
            <a:spAutoFit/>
          </a:bodyPr>
          <a:lstStyle/>
          <a:p>
            <a:r>
              <a:rPr lang="en-US" dirty="0"/>
              <a:t>Download Postman to test our API</a:t>
            </a:r>
            <a:endParaRPr lang="en-IN" dirty="0"/>
          </a:p>
        </p:txBody>
      </p:sp>
    </p:spTree>
    <p:extLst>
      <p:ext uri="{BB962C8B-B14F-4D97-AF65-F5344CB8AC3E}">
        <p14:creationId xmlns:p14="http://schemas.microsoft.com/office/powerpoint/2010/main" val="8903158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9CC8B21-CFC2-4405-970C-86C7B0939BA2}"/>
              </a:ext>
            </a:extLst>
          </p:cNvPr>
          <p:cNvSpPr>
            <a:spLocks noGrp="1"/>
          </p:cNvSpPr>
          <p:nvPr>
            <p:ph idx="1"/>
          </p:nvPr>
        </p:nvSpPr>
        <p:spPr>
          <a:xfrm>
            <a:off x="1143000" y="1"/>
            <a:ext cx="7848600" cy="1828800"/>
          </a:xfrm>
        </p:spPr>
        <p:txBody>
          <a:bodyPr>
            <a:normAutofit/>
          </a:bodyPr>
          <a:lstStyle/>
          <a:p>
            <a:r>
              <a:rPr lang="en-US" dirty="0"/>
              <a:t>Follow these steps to view the details of a product:</a:t>
            </a:r>
          </a:p>
          <a:p>
            <a:r>
              <a:rPr lang="en-US" dirty="0"/>
              <a:t>Step 1: Open Postman and enter this endpoint: https://localhost:44305/api/products/1.</a:t>
            </a:r>
          </a:p>
          <a:p>
            <a:r>
              <a:rPr lang="en-US" dirty="0"/>
              <a:t>Step 2: Choose GET method and click Send. Now, you can see the details of the product. Here, the product id is 1.</a:t>
            </a:r>
            <a:endParaRPr lang="en-IN" dirty="0"/>
          </a:p>
        </p:txBody>
      </p:sp>
      <p:pic>
        <p:nvPicPr>
          <p:cNvPr id="4" name="Picture 3">
            <a:extLst>
              <a:ext uri="{FF2B5EF4-FFF2-40B4-BE49-F238E27FC236}">
                <a16:creationId xmlns:a16="http://schemas.microsoft.com/office/drawing/2014/main" xmlns="" id="{75D76C83-19C1-4162-A338-DF00821325CD}"/>
              </a:ext>
            </a:extLst>
          </p:cNvPr>
          <p:cNvPicPr>
            <a:picLocks noChangeAspect="1"/>
          </p:cNvPicPr>
          <p:nvPr/>
        </p:nvPicPr>
        <p:blipFill>
          <a:blip r:embed="rId2"/>
          <a:stretch>
            <a:fillRect/>
          </a:stretch>
        </p:blipFill>
        <p:spPr>
          <a:xfrm>
            <a:off x="381000" y="2209800"/>
            <a:ext cx="4324350" cy="4219575"/>
          </a:xfrm>
          <a:prstGeom prst="rect">
            <a:avLst/>
          </a:prstGeom>
        </p:spPr>
      </p:pic>
    </p:spTree>
    <p:extLst>
      <p:ext uri="{BB962C8B-B14F-4D97-AF65-F5344CB8AC3E}">
        <p14:creationId xmlns:p14="http://schemas.microsoft.com/office/powerpoint/2010/main" val="7155148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B8A9FEF-EAE2-4D6A-95C2-6284E6B9391C}"/>
              </a:ext>
            </a:extLst>
          </p:cNvPr>
          <p:cNvSpPr>
            <a:spLocks noGrp="1"/>
          </p:cNvSpPr>
          <p:nvPr>
            <p:ph idx="1"/>
          </p:nvPr>
        </p:nvSpPr>
        <p:spPr>
          <a:xfrm>
            <a:off x="1371600" y="1"/>
            <a:ext cx="7772400" cy="2971800"/>
          </a:xfrm>
        </p:spPr>
        <p:txBody>
          <a:bodyPr>
            <a:normAutofit lnSpcReduction="10000"/>
          </a:bodyPr>
          <a:lstStyle/>
          <a:p>
            <a:pPr algn="l"/>
            <a:r>
              <a:rPr lang="en-US" b="1" i="0" dirty="0">
                <a:solidFill>
                  <a:srgbClr val="1A1A1A"/>
                </a:solidFill>
                <a:effectLst/>
                <a:latin typeface="Open Sans"/>
              </a:rPr>
              <a:t>Note:</a:t>
            </a:r>
            <a:r>
              <a:rPr lang="en-US" b="0" i="0" dirty="0">
                <a:solidFill>
                  <a:srgbClr val="1A1A1A"/>
                </a:solidFill>
                <a:effectLst/>
                <a:latin typeface="Open Sans"/>
              </a:rPr>
              <a:t> Change </a:t>
            </a:r>
            <a:r>
              <a:rPr lang="en-US" b="0" i="0" dirty="0" err="1">
                <a:solidFill>
                  <a:srgbClr val="1A1A1A"/>
                </a:solidFill>
                <a:effectLst/>
                <a:latin typeface="Open Sans"/>
              </a:rPr>
              <a:t>ProductId</a:t>
            </a:r>
            <a:r>
              <a:rPr lang="en-US" b="0" i="0" dirty="0">
                <a:solidFill>
                  <a:srgbClr val="1A1A1A"/>
                </a:solidFill>
                <a:effectLst/>
                <a:latin typeface="Open Sans"/>
              </a:rPr>
              <a:t> based on records available in your database.</a:t>
            </a:r>
          </a:p>
          <a:p>
            <a:pPr algn="l"/>
            <a:r>
              <a:rPr lang="en-US" b="0" i="0" dirty="0">
                <a:solidFill>
                  <a:srgbClr val="3D3D3D"/>
                </a:solidFill>
                <a:effectLst/>
                <a:latin typeface="Open Sans"/>
              </a:rPr>
              <a:t>Follow these steps to create a product:</a:t>
            </a:r>
          </a:p>
          <a:p>
            <a:pPr algn="l"/>
            <a:r>
              <a:rPr lang="en-US" b="1" i="0" dirty="0">
                <a:solidFill>
                  <a:srgbClr val="3D3D3D"/>
                </a:solidFill>
                <a:effectLst/>
                <a:latin typeface="Open Sans"/>
              </a:rPr>
              <a:t>Step 1</a:t>
            </a:r>
            <a:r>
              <a:rPr lang="en-US" b="0" i="0" dirty="0">
                <a:solidFill>
                  <a:srgbClr val="3D3D3D"/>
                </a:solidFill>
                <a:effectLst/>
                <a:latin typeface="Open Sans"/>
              </a:rPr>
              <a:t>: Enter this endpoint into Postman: </a:t>
            </a:r>
            <a:r>
              <a:rPr lang="en-US" b="0" i="0" u="none" strike="noStrike" dirty="0">
                <a:solidFill>
                  <a:srgbClr val="0073DC"/>
                </a:solidFill>
                <a:effectLst/>
                <a:latin typeface="Open Sans"/>
                <a:hlinkClick r:id="rId2"/>
              </a:rPr>
              <a:t>https://localhost:44305/api/products</a:t>
            </a:r>
            <a:r>
              <a:rPr lang="en-US" b="0" i="0" dirty="0">
                <a:solidFill>
                  <a:srgbClr val="3D3D3D"/>
                </a:solidFill>
                <a:effectLst/>
                <a:latin typeface="Open Sans"/>
              </a:rPr>
              <a:t>.</a:t>
            </a:r>
          </a:p>
          <a:p>
            <a:pPr algn="l"/>
            <a:r>
              <a:rPr lang="en-US" b="1" i="0" dirty="0">
                <a:solidFill>
                  <a:srgbClr val="3D3D3D"/>
                </a:solidFill>
                <a:effectLst/>
                <a:latin typeface="Open Sans"/>
              </a:rPr>
              <a:t>Step 2</a:t>
            </a:r>
            <a:r>
              <a:rPr lang="en-US" b="0" i="0" dirty="0">
                <a:solidFill>
                  <a:srgbClr val="3D3D3D"/>
                </a:solidFill>
                <a:effectLst/>
                <a:latin typeface="Open Sans"/>
              </a:rPr>
              <a:t>: Choose </a:t>
            </a:r>
            <a:r>
              <a:rPr lang="en-US" b="1" i="0" dirty="0">
                <a:solidFill>
                  <a:srgbClr val="3D3D3D"/>
                </a:solidFill>
                <a:effectLst/>
                <a:latin typeface="Open Sans"/>
              </a:rPr>
              <a:t>POST</a:t>
            </a:r>
            <a:r>
              <a:rPr lang="en-US" b="0" i="0" dirty="0">
                <a:solidFill>
                  <a:srgbClr val="3D3D3D"/>
                </a:solidFill>
                <a:effectLst/>
                <a:latin typeface="Open Sans"/>
              </a:rPr>
              <a:t> method and set as header: </a:t>
            </a:r>
            <a:r>
              <a:rPr lang="en-US" b="1" i="0" dirty="0">
                <a:solidFill>
                  <a:srgbClr val="3D3D3D"/>
                </a:solidFill>
                <a:effectLst/>
                <a:latin typeface="Open Sans"/>
              </a:rPr>
              <a:t>‘Content-Type’: ‘application/json’</a:t>
            </a:r>
            <a:r>
              <a:rPr lang="en-US" b="0" i="0" dirty="0">
                <a:solidFill>
                  <a:srgbClr val="3D3D3D"/>
                </a:solidFill>
                <a:effectLst/>
                <a:latin typeface="Open Sans"/>
              </a:rPr>
              <a:t>.</a:t>
            </a:r>
          </a:p>
          <a:p>
            <a:pPr algn="l"/>
            <a:r>
              <a:rPr lang="en-US" b="1" i="0" dirty="0">
                <a:solidFill>
                  <a:srgbClr val="3D3D3D"/>
                </a:solidFill>
                <a:effectLst/>
                <a:latin typeface="Open Sans"/>
              </a:rPr>
              <a:t>Step 3</a:t>
            </a:r>
            <a:r>
              <a:rPr lang="en-US" b="0" i="0" dirty="0">
                <a:solidFill>
                  <a:srgbClr val="3D3D3D"/>
                </a:solidFill>
                <a:effectLst/>
                <a:latin typeface="Open Sans"/>
              </a:rPr>
              <a:t>: Under Body &gt; Raw, choose type </a:t>
            </a:r>
            <a:r>
              <a:rPr lang="en-US" b="1" i="0" dirty="0">
                <a:solidFill>
                  <a:srgbClr val="3D3D3D"/>
                </a:solidFill>
                <a:effectLst/>
                <a:latin typeface="Open Sans"/>
              </a:rPr>
              <a:t>JSON (application/</a:t>
            </a:r>
            <a:r>
              <a:rPr lang="en-US" b="1" i="0" dirty="0" err="1">
                <a:solidFill>
                  <a:srgbClr val="3D3D3D"/>
                </a:solidFill>
                <a:effectLst/>
                <a:latin typeface="Open Sans"/>
              </a:rPr>
              <a:t>javascript</a:t>
            </a:r>
            <a:r>
              <a:rPr lang="en-US" b="1" i="0" dirty="0">
                <a:solidFill>
                  <a:srgbClr val="3D3D3D"/>
                </a:solidFill>
                <a:effectLst/>
                <a:latin typeface="Open Sans"/>
              </a:rPr>
              <a:t>)</a:t>
            </a:r>
            <a:r>
              <a:rPr lang="en-US" b="0" i="0" dirty="0">
                <a:solidFill>
                  <a:srgbClr val="3D3D3D"/>
                </a:solidFill>
                <a:effectLst/>
                <a:latin typeface="Open Sans"/>
              </a:rPr>
              <a:t> and paste the product details.</a:t>
            </a:r>
          </a:p>
          <a:p>
            <a:pPr marL="0" indent="0">
              <a:buNone/>
            </a:pPr>
            <a:endParaRPr lang="en-IN" dirty="0"/>
          </a:p>
        </p:txBody>
      </p:sp>
      <p:pic>
        <p:nvPicPr>
          <p:cNvPr id="4" name="Picture 3">
            <a:extLst>
              <a:ext uri="{FF2B5EF4-FFF2-40B4-BE49-F238E27FC236}">
                <a16:creationId xmlns:a16="http://schemas.microsoft.com/office/drawing/2014/main" xmlns="" id="{4ED55AB6-5E93-4AAC-9255-6A206768EC30}"/>
              </a:ext>
            </a:extLst>
          </p:cNvPr>
          <p:cNvPicPr>
            <a:picLocks noChangeAspect="1"/>
          </p:cNvPicPr>
          <p:nvPr/>
        </p:nvPicPr>
        <p:blipFill>
          <a:blip r:embed="rId3"/>
          <a:stretch>
            <a:fillRect/>
          </a:stretch>
        </p:blipFill>
        <p:spPr>
          <a:xfrm>
            <a:off x="228600" y="2971801"/>
            <a:ext cx="6296025" cy="2724150"/>
          </a:xfrm>
          <a:prstGeom prst="rect">
            <a:avLst/>
          </a:prstGeom>
        </p:spPr>
      </p:pic>
      <p:sp>
        <p:nvSpPr>
          <p:cNvPr id="6" name="TextBox 5">
            <a:extLst>
              <a:ext uri="{FF2B5EF4-FFF2-40B4-BE49-F238E27FC236}">
                <a16:creationId xmlns:a16="http://schemas.microsoft.com/office/drawing/2014/main" xmlns="" id="{BD9D669C-7A40-4CAB-B9B5-7E81DB6FFB32}"/>
              </a:ext>
            </a:extLst>
          </p:cNvPr>
          <p:cNvSpPr txBox="1"/>
          <p:nvPr/>
        </p:nvSpPr>
        <p:spPr>
          <a:xfrm>
            <a:off x="1070948" y="5695951"/>
            <a:ext cx="7234852" cy="646331"/>
          </a:xfrm>
          <a:prstGeom prst="rect">
            <a:avLst/>
          </a:prstGeom>
          <a:noFill/>
        </p:spPr>
        <p:txBody>
          <a:bodyPr wrap="square">
            <a:spAutoFit/>
          </a:bodyPr>
          <a:lstStyle/>
          <a:p>
            <a:r>
              <a:rPr lang="en-US" dirty="0"/>
              <a:t>By clicking Send, a product is created, and by loading the product listing page, you can see the newly created product.</a:t>
            </a:r>
            <a:endParaRPr lang="en-IN" dirty="0"/>
          </a:p>
        </p:txBody>
      </p:sp>
    </p:spTree>
    <p:extLst>
      <p:ext uri="{BB962C8B-B14F-4D97-AF65-F5344CB8AC3E}">
        <p14:creationId xmlns:p14="http://schemas.microsoft.com/office/powerpoint/2010/main" val="31844547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3E8A874-6C08-4564-9841-F41CEC083589}"/>
              </a:ext>
            </a:extLst>
          </p:cNvPr>
          <p:cNvSpPr>
            <a:spLocks noGrp="1"/>
          </p:cNvSpPr>
          <p:nvPr>
            <p:ph idx="1"/>
          </p:nvPr>
        </p:nvSpPr>
        <p:spPr>
          <a:xfrm>
            <a:off x="884289" y="9832"/>
            <a:ext cx="8286750" cy="2362200"/>
          </a:xfrm>
        </p:spPr>
        <p:txBody>
          <a:bodyPr>
            <a:normAutofit lnSpcReduction="10000"/>
          </a:bodyPr>
          <a:lstStyle/>
          <a:p>
            <a:pPr algn="l"/>
            <a:r>
              <a:rPr lang="en-US" b="0" i="0" dirty="0">
                <a:solidFill>
                  <a:srgbClr val="3D3D3D"/>
                </a:solidFill>
                <a:effectLst/>
                <a:latin typeface="Open Sans"/>
              </a:rPr>
              <a:t>Follow these steps to update the product:</a:t>
            </a:r>
          </a:p>
          <a:p>
            <a:pPr algn="l"/>
            <a:r>
              <a:rPr lang="en-US" b="1" i="0" dirty="0">
                <a:solidFill>
                  <a:srgbClr val="3D3D3D"/>
                </a:solidFill>
                <a:effectLst/>
                <a:latin typeface="Open Sans"/>
              </a:rPr>
              <a:t>Step 1</a:t>
            </a:r>
            <a:r>
              <a:rPr lang="en-US" b="0" i="0" dirty="0">
                <a:solidFill>
                  <a:srgbClr val="3D3D3D"/>
                </a:solidFill>
                <a:effectLst/>
                <a:latin typeface="Open Sans"/>
              </a:rPr>
              <a:t>: Enter this endpoint into Postman: </a:t>
            </a:r>
            <a:r>
              <a:rPr lang="en-US" b="0" i="0" u="none" strike="noStrike" dirty="0">
                <a:solidFill>
                  <a:srgbClr val="0073DC"/>
                </a:solidFill>
                <a:effectLst/>
                <a:latin typeface="Open Sans"/>
                <a:hlinkClick r:id="rId2"/>
              </a:rPr>
              <a:t>https://localhost:44305/api/products/7</a:t>
            </a:r>
            <a:r>
              <a:rPr lang="en-US" b="0" i="0" dirty="0">
                <a:solidFill>
                  <a:srgbClr val="3D3D3D"/>
                </a:solidFill>
                <a:effectLst/>
                <a:latin typeface="Open Sans"/>
              </a:rPr>
              <a:t>.</a:t>
            </a:r>
          </a:p>
          <a:p>
            <a:pPr algn="l"/>
            <a:r>
              <a:rPr lang="en-US" b="1" i="0" dirty="0">
                <a:solidFill>
                  <a:srgbClr val="3D3D3D"/>
                </a:solidFill>
                <a:effectLst/>
                <a:latin typeface="Open Sans"/>
              </a:rPr>
              <a:t>Step 2</a:t>
            </a:r>
            <a:r>
              <a:rPr lang="en-US" b="0" i="0" dirty="0">
                <a:solidFill>
                  <a:srgbClr val="3D3D3D"/>
                </a:solidFill>
                <a:effectLst/>
                <a:latin typeface="Open Sans"/>
              </a:rPr>
              <a:t>: Choose the </a:t>
            </a:r>
            <a:r>
              <a:rPr lang="en-US" b="1" i="0" dirty="0">
                <a:solidFill>
                  <a:srgbClr val="3D3D3D"/>
                </a:solidFill>
                <a:effectLst/>
                <a:latin typeface="Open Sans"/>
              </a:rPr>
              <a:t>PUT</a:t>
            </a:r>
            <a:r>
              <a:rPr lang="en-US" b="0" i="0" dirty="0">
                <a:solidFill>
                  <a:srgbClr val="3D3D3D"/>
                </a:solidFill>
                <a:effectLst/>
                <a:latin typeface="Open Sans"/>
              </a:rPr>
              <a:t> method and set as header: </a:t>
            </a:r>
            <a:r>
              <a:rPr lang="en-US" b="1" i="0" dirty="0">
                <a:solidFill>
                  <a:srgbClr val="3D3D3D"/>
                </a:solidFill>
                <a:effectLst/>
                <a:latin typeface="Open Sans"/>
              </a:rPr>
              <a:t>‘Content-Type’: ‘application/json’</a:t>
            </a:r>
            <a:r>
              <a:rPr lang="en-US" b="0" i="0" dirty="0">
                <a:solidFill>
                  <a:srgbClr val="3D3D3D"/>
                </a:solidFill>
                <a:effectLst/>
                <a:latin typeface="Open Sans"/>
              </a:rPr>
              <a:t>.</a:t>
            </a:r>
          </a:p>
          <a:p>
            <a:pPr algn="l"/>
            <a:r>
              <a:rPr lang="en-US" b="1" i="0" dirty="0">
                <a:solidFill>
                  <a:srgbClr val="3D3D3D"/>
                </a:solidFill>
                <a:effectLst/>
                <a:latin typeface="Open Sans"/>
              </a:rPr>
              <a:t>Step 3</a:t>
            </a:r>
            <a:r>
              <a:rPr lang="en-US" b="0" i="0" dirty="0">
                <a:solidFill>
                  <a:srgbClr val="3D3D3D"/>
                </a:solidFill>
                <a:effectLst/>
                <a:latin typeface="Open Sans"/>
              </a:rPr>
              <a:t>: Under Body &gt; Raw, choose type </a:t>
            </a:r>
            <a:r>
              <a:rPr lang="en-US" b="1" i="0" dirty="0">
                <a:solidFill>
                  <a:srgbClr val="3D3D3D"/>
                </a:solidFill>
                <a:effectLst/>
                <a:latin typeface="Open Sans"/>
              </a:rPr>
              <a:t>JSON (application/</a:t>
            </a:r>
            <a:r>
              <a:rPr lang="en-US" b="1" i="0" dirty="0" err="1">
                <a:solidFill>
                  <a:srgbClr val="3D3D3D"/>
                </a:solidFill>
                <a:effectLst/>
                <a:latin typeface="Open Sans"/>
              </a:rPr>
              <a:t>javascript</a:t>
            </a:r>
            <a:r>
              <a:rPr lang="en-US" b="1" i="0" dirty="0">
                <a:solidFill>
                  <a:srgbClr val="3D3D3D"/>
                </a:solidFill>
                <a:effectLst/>
                <a:latin typeface="Open Sans"/>
              </a:rPr>
              <a:t>)</a:t>
            </a:r>
            <a:r>
              <a:rPr lang="en-US" b="0" i="0" dirty="0">
                <a:solidFill>
                  <a:srgbClr val="3D3D3D"/>
                </a:solidFill>
                <a:effectLst/>
                <a:latin typeface="Open Sans"/>
              </a:rPr>
              <a:t> and paste the product details.</a:t>
            </a:r>
          </a:p>
          <a:p>
            <a:pPr marL="0" indent="0">
              <a:buNone/>
            </a:pPr>
            <a:endParaRPr lang="en-IN" dirty="0"/>
          </a:p>
        </p:txBody>
      </p:sp>
      <p:pic>
        <p:nvPicPr>
          <p:cNvPr id="4" name="Picture 3">
            <a:extLst>
              <a:ext uri="{FF2B5EF4-FFF2-40B4-BE49-F238E27FC236}">
                <a16:creationId xmlns:a16="http://schemas.microsoft.com/office/drawing/2014/main" xmlns="" id="{E00A3719-2338-41EC-A57B-455F0F614047}"/>
              </a:ext>
            </a:extLst>
          </p:cNvPr>
          <p:cNvPicPr>
            <a:picLocks noChangeAspect="1"/>
          </p:cNvPicPr>
          <p:nvPr/>
        </p:nvPicPr>
        <p:blipFill>
          <a:blip r:embed="rId3"/>
          <a:stretch>
            <a:fillRect/>
          </a:stretch>
        </p:blipFill>
        <p:spPr>
          <a:xfrm>
            <a:off x="533400" y="2354826"/>
            <a:ext cx="5810250" cy="2705100"/>
          </a:xfrm>
          <a:prstGeom prst="rect">
            <a:avLst/>
          </a:prstGeom>
        </p:spPr>
      </p:pic>
      <p:sp>
        <p:nvSpPr>
          <p:cNvPr id="6" name="TextBox 5">
            <a:extLst>
              <a:ext uri="{FF2B5EF4-FFF2-40B4-BE49-F238E27FC236}">
                <a16:creationId xmlns:a16="http://schemas.microsoft.com/office/drawing/2014/main" xmlns="" id="{E4C279D6-257F-4114-9492-EA4081C1D489}"/>
              </a:ext>
            </a:extLst>
          </p:cNvPr>
          <p:cNvSpPr txBox="1"/>
          <p:nvPr/>
        </p:nvSpPr>
        <p:spPr>
          <a:xfrm>
            <a:off x="76200" y="5059926"/>
            <a:ext cx="8382000" cy="1200329"/>
          </a:xfrm>
          <a:prstGeom prst="rect">
            <a:avLst/>
          </a:prstGeom>
          <a:noFill/>
        </p:spPr>
        <p:txBody>
          <a:bodyPr wrap="square">
            <a:spAutoFit/>
          </a:bodyPr>
          <a:lstStyle/>
          <a:p>
            <a:r>
              <a:rPr lang="en-US" dirty="0"/>
              <a:t>By clicking Send, the product details are updated.</a:t>
            </a:r>
          </a:p>
          <a:p>
            <a:endParaRPr lang="en-US" dirty="0"/>
          </a:p>
          <a:p>
            <a:r>
              <a:rPr lang="en-US" dirty="0"/>
              <a:t>Note: </a:t>
            </a:r>
            <a:r>
              <a:rPr lang="en-US" dirty="0" err="1"/>
              <a:t>ProductId</a:t>
            </a:r>
            <a:r>
              <a:rPr lang="en-US" dirty="0"/>
              <a:t> must be the same in the endpoint and product details (see the red highlight in the previous image), otherwise the API will throw bad request.</a:t>
            </a:r>
            <a:endParaRPr lang="en-IN" dirty="0"/>
          </a:p>
        </p:txBody>
      </p:sp>
    </p:spTree>
    <p:extLst>
      <p:ext uri="{BB962C8B-B14F-4D97-AF65-F5344CB8AC3E}">
        <p14:creationId xmlns:p14="http://schemas.microsoft.com/office/powerpoint/2010/main" val="16179124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5221BB2-9D8E-4CE7-8B58-03897B4341B6}"/>
              </a:ext>
            </a:extLst>
          </p:cNvPr>
          <p:cNvSpPr>
            <a:spLocks noGrp="1"/>
          </p:cNvSpPr>
          <p:nvPr>
            <p:ph idx="1"/>
          </p:nvPr>
        </p:nvSpPr>
        <p:spPr>
          <a:xfrm>
            <a:off x="228600" y="609600"/>
            <a:ext cx="8286750" cy="5567363"/>
          </a:xfrm>
        </p:spPr>
        <p:txBody>
          <a:bodyPr/>
          <a:lstStyle/>
          <a:p>
            <a:r>
              <a:rPr lang="en-US" dirty="0"/>
              <a:t>Follow these steps to delete a product:</a:t>
            </a:r>
          </a:p>
          <a:p>
            <a:endParaRPr lang="en-US" dirty="0"/>
          </a:p>
          <a:p>
            <a:r>
              <a:rPr lang="en-US" dirty="0"/>
              <a:t>Step 1: Enter this endpoint into Postman: https://localhost:44305/api/products/7.</a:t>
            </a:r>
          </a:p>
          <a:p>
            <a:endParaRPr lang="en-US" dirty="0"/>
          </a:p>
          <a:p>
            <a:r>
              <a:rPr lang="en-US" dirty="0"/>
              <a:t>Step 2: Choose the DELETE method and click Send. Now, the product will be deleted from the database.</a:t>
            </a:r>
            <a:endParaRPr lang="en-IN" dirty="0"/>
          </a:p>
        </p:txBody>
      </p:sp>
      <p:pic>
        <p:nvPicPr>
          <p:cNvPr id="4" name="Picture 3">
            <a:extLst>
              <a:ext uri="{FF2B5EF4-FFF2-40B4-BE49-F238E27FC236}">
                <a16:creationId xmlns:a16="http://schemas.microsoft.com/office/drawing/2014/main" xmlns="" id="{C0361045-5E63-4F01-A212-387D9B0CB2FF}"/>
              </a:ext>
            </a:extLst>
          </p:cNvPr>
          <p:cNvPicPr>
            <a:picLocks noChangeAspect="1"/>
          </p:cNvPicPr>
          <p:nvPr/>
        </p:nvPicPr>
        <p:blipFill>
          <a:blip r:embed="rId2"/>
          <a:stretch>
            <a:fillRect/>
          </a:stretch>
        </p:blipFill>
        <p:spPr>
          <a:xfrm>
            <a:off x="838200" y="3460376"/>
            <a:ext cx="5638800" cy="1638300"/>
          </a:xfrm>
          <a:prstGeom prst="rect">
            <a:avLst/>
          </a:prstGeom>
        </p:spPr>
      </p:pic>
      <p:sp>
        <p:nvSpPr>
          <p:cNvPr id="2" name="TextBox 1">
            <a:extLst>
              <a:ext uri="{FF2B5EF4-FFF2-40B4-BE49-F238E27FC236}">
                <a16:creationId xmlns:a16="http://schemas.microsoft.com/office/drawing/2014/main" xmlns="" id="{641D9717-DA84-7BA2-2FF5-D968F6449CE0}"/>
              </a:ext>
            </a:extLst>
          </p:cNvPr>
          <p:cNvSpPr txBox="1"/>
          <p:nvPr/>
        </p:nvSpPr>
        <p:spPr>
          <a:xfrm>
            <a:off x="457200" y="5638800"/>
            <a:ext cx="8229600" cy="369332"/>
          </a:xfrm>
          <a:prstGeom prst="rect">
            <a:avLst/>
          </a:prstGeom>
          <a:noFill/>
        </p:spPr>
        <p:txBody>
          <a:bodyPr wrap="square" rtlCol="0">
            <a:spAutoFit/>
          </a:bodyPr>
          <a:lstStyle/>
          <a:p>
            <a:r>
              <a:rPr lang="en-US" dirty="0"/>
              <a:t>After this next ppt is about JWT token which we will study after Web Module.</a:t>
            </a:r>
            <a:endParaRPr lang="en-IN" dirty="0"/>
          </a:p>
        </p:txBody>
      </p:sp>
    </p:spTree>
    <p:extLst>
      <p:ext uri="{BB962C8B-B14F-4D97-AF65-F5344CB8AC3E}">
        <p14:creationId xmlns:p14="http://schemas.microsoft.com/office/powerpoint/2010/main" val="27411948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8DB78FD-B8E3-4F06-AA2F-ADC044FB5795}"/>
              </a:ext>
            </a:extLst>
          </p:cNvPr>
          <p:cNvSpPr>
            <a:spLocks noGrp="1"/>
          </p:cNvSpPr>
          <p:nvPr>
            <p:ph type="title"/>
          </p:nvPr>
        </p:nvSpPr>
        <p:spPr>
          <a:xfrm>
            <a:off x="1219200" y="152400"/>
            <a:ext cx="5391150" cy="625474"/>
          </a:xfrm>
        </p:spPr>
        <p:txBody>
          <a:bodyPr/>
          <a:lstStyle/>
          <a:p>
            <a:r>
              <a:rPr lang="en-US" dirty="0"/>
              <a:t>What is a JWT Token?</a:t>
            </a:r>
            <a:endParaRPr lang="en-IN" dirty="0"/>
          </a:p>
        </p:txBody>
      </p:sp>
      <p:sp>
        <p:nvSpPr>
          <p:cNvPr id="3" name="Content Placeholder 2">
            <a:extLst>
              <a:ext uri="{FF2B5EF4-FFF2-40B4-BE49-F238E27FC236}">
                <a16:creationId xmlns:a16="http://schemas.microsoft.com/office/drawing/2014/main" xmlns="" id="{A5A5650B-D88A-4C5D-AFF6-6DCDCFE98A2C}"/>
              </a:ext>
            </a:extLst>
          </p:cNvPr>
          <p:cNvSpPr>
            <a:spLocks noGrp="1"/>
          </p:cNvSpPr>
          <p:nvPr>
            <p:ph idx="1"/>
          </p:nvPr>
        </p:nvSpPr>
        <p:spPr>
          <a:xfrm>
            <a:off x="0" y="777874"/>
            <a:ext cx="8515350" cy="5399089"/>
          </a:xfrm>
        </p:spPr>
        <p:txBody>
          <a:bodyPr>
            <a:normAutofit lnSpcReduction="10000"/>
          </a:bodyPr>
          <a:lstStyle/>
          <a:p>
            <a:r>
              <a:rPr lang="en-US" dirty="0"/>
              <a:t>JWT stands for JSON Web Token. It is open standard and defines a better way for transferring data securely between two entities (client and server).</a:t>
            </a:r>
          </a:p>
          <a:p>
            <a:endParaRPr lang="en-US" dirty="0"/>
          </a:p>
          <a:p>
            <a:r>
              <a:rPr lang="en-US" dirty="0"/>
              <a:t>A JWT is digitally signed using a secret key by a token provider or authentication server. A JWT helps the resource server verify the token data using the same secret key, so that you can trust the data.</a:t>
            </a:r>
          </a:p>
          <a:p>
            <a:endParaRPr lang="en-US" dirty="0"/>
          </a:p>
          <a:p>
            <a:pPr marL="0" indent="0">
              <a:buNone/>
            </a:pPr>
            <a:r>
              <a:rPr lang="en-US" dirty="0"/>
              <a:t>JWT consists of the following three parts:</a:t>
            </a:r>
          </a:p>
          <a:p>
            <a:endParaRPr lang="en-US" dirty="0"/>
          </a:p>
          <a:p>
            <a:r>
              <a:rPr lang="en-US" b="1" dirty="0"/>
              <a:t>Header</a:t>
            </a:r>
            <a:r>
              <a:rPr lang="en-US" dirty="0"/>
              <a:t>: encoded data of token type and the algorithm used to sign the data.</a:t>
            </a:r>
          </a:p>
          <a:p>
            <a:endParaRPr lang="en-US" dirty="0"/>
          </a:p>
          <a:p>
            <a:r>
              <a:rPr lang="en-US" b="1" dirty="0"/>
              <a:t>Payload</a:t>
            </a:r>
            <a:r>
              <a:rPr lang="en-US" dirty="0"/>
              <a:t>: encoded data of claims intended to share.</a:t>
            </a:r>
          </a:p>
          <a:p>
            <a:endParaRPr lang="en-US" dirty="0"/>
          </a:p>
          <a:p>
            <a:r>
              <a:rPr lang="en-US" b="1" dirty="0"/>
              <a:t>Signature</a:t>
            </a:r>
            <a:r>
              <a:rPr lang="en-US" dirty="0"/>
              <a:t>: created by signing (encoded header + encoded payload) using a </a:t>
            </a:r>
            <a:r>
              <a:rPr lang="en-US" dirty="0" smtClean="0"/>
              <a:t>secret </a:t>
            </a:r>
            <a:endParaRPr lang="en-IN" dirty="0"/>
          </a:p>
        </p:txBody>
      </p:sp>
    </p:spTree>
    <p:extLst>
      <p:ext uri="{BB962C8B-B14F-4D97-AF65-F5344CB8AC3E}">
        <p14:creationId xmlns:p14="http://schemas.microsoft.com/office/powerpoint/2010/main" val="15603803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315DAF2-0EA6-4B4B-99E2-75BCF16EFC6F}"/>
              </a:ext>
            </a:extLst>
          </p:cNvPr>
          <p:cNvSpPr>
            <a:spLocks noGrp="1"/>
          </p:cNvSpPr>
          <p:nvPr>
            <p:ph idx="1"/>
          </p:nvPr>
        </p:nvSpPr>
        <p:spPr>
          <a:xfrm>
            <a:off x="304800" y="685800"/>
            <a:ext cx="8210550" cy="5491163"/>
          </a:xfrm>
        </p:spPr>
        <p:txBody>
          <a:bodyPr>
            <a:normAutofit fontScale="62500" lnSpcReduction="20000"/>
          </a:bodyPr>
          <a:lstStyle/>
          <a:p>
            <a:pPr marL="0" indent="0">
              <a:buNone/>
            </a:pPr>
            <a:r>
              <a:rPr lang="en-US" b="1" dirty="0"/>
              <a:t>Token workflow</a:t>
            </a:r>
          </a:p>
          <a:p>
            <a:pPr marL="0" indent="0" algn="l">
              <a:buNone/>
            </a:pPr>
            <a:r>
              <a:rPr lang="en-US" b="1" i="0" dirty="0">
                <a:solidFill>
                  <a:srgbClr val="3D3D3D"/>
                </a:solidFill>
                <a:effectLst/>
                <a:latin typeface="Open Sans"/>
              </a:rPr>
              <a:t>Step 1: Client requesting token</a:t>
            </a:r>
            <a:endParaRPr lang="en-US" b="0" i="0" dirty="0">
              <a:solidFill>
                <a:srgbClr val="3D3D3D"/>
              </a:solidFill>
              <a:effectLst/>
              <a:latin typeface="Open Sans"/>
            </a:endParaRPr>
          </a:p>
          <a:p>
            <a:pPr algn="l"/>
            <a:r>
              <a:rPr lang="en-US" b="0" i="0" dirty="0">
                <a:solidFill>
                  <a:srgbClr val="3D3D3D"/>
                </a:solidFill>
                <a:effectLst/>
                <a:latin typeface="Open Sans"/>
              </a:rPr>
              <a:t>The client sends a request to the authentication server with the necessary information to prove its identity.</a:t>
            </a:r>
          </a:p>
          <a:p>
            <a:pPr marL="0" indent="0" algn="l">
              <a:buNone/>
            </a:pPr>
            <a:r>
              <a:rPr lang="en-US" b="1" i="0" dirty="0">
                <a:solidFill>
                  <a:srgbClr val="3D3D3D"/>
                </a:solidFill>
                <a:effectLst/>
                <a:latin typeface="Open Sans"/>
              </a:rPr>
              <a:t>Step 2: Token creation</a:t>
            </a:r>
            <a:endParaRPr lang="en-US" b="0" i="0" dirty="0">
              <a:solidFill>
                <a:srgbClr val="3D3D3D"/>
              </a:solidFill>
              <a:effectLst/>
              <a:latin typeface="Open Sans"/>
            </a:endParaRPr>
          </a:p>
          <a:p>
            <a:pPr algn="l"/>
            <a:r>
              <a:rPr lang="en-US" b="0" i="0" dirty="0">
                <a:solidFill>
                  <a:srgbClr val="3D3D3D"/>
                </a:solidFill>
                <a:effectLst/>
                <a:latin typeface="Open Sans"/>
              </a:rPr>
              <a:t>The authentication server receives the token request and verifies the identity. If it is found valid, a token will be created (as explained previously) with the necessary claims, and a JWT token will be sent back to the client.</a:t>
            </a:r>
          </a:p>
          <a:p>
            <a:pPr marL="0" indent="0" algn="l">
              <a:buNone/>
            </a:pPr>
            <a:r>
              <a:rPr lang="en-US" b="1" i="0" dirty="0">
                <a:solidFill>
                  <a:srgbClr val="3D3D3D"/>
                </a:solidFill>
                <a:effectLst/>
                <a:latin typeface="Open Sans"/>
              </a:rPr>
              <a:t>Step 3: Client sends token to resource server</a:t>
            </a:r>
            <a:endParaRPr lang="en-US" b="0" i="0" dirty="0">
              <a:solidFill>
                <a:srgbClr val="3D3D3D"/>
              </a:solidFill>
              <a:effectLst/>
              <a:latin typeface="Open Sans"/>
            </a:endParaRPr>
          </a:p>
          <a:p>
            <a:pPr algn="l"/>
            <a:r>
              <a:rPr lang="en-US" b="0" i="0" dirty="0">
                <a:solidFill>
                  <a:srgbClr val="3D3D3D"/>
                </a:solidFill>
                <a:effectLst/>
                <a:latin typeface="Open Sans"/>
              </a:rPr>
              <a:t>For each request to Resource or the API server, the client needs to include a token in the header and request the resource using its URI.</a:t>
            </a:r>
          </a:p>
          <a:p>
            <a:pPr marL="0" indent="0" algn="l">
              <a:buNone/>
            </a:pPr>
            <a:r>
              <a:rPr lang="en-US" b="1" i="0" dirty="0">
                <a:solidFill>
                  <a:srgbClr val="3D3D3D"/>
                </a:solidFill>
                <a:effectLst/>
                <a:latin typeface="Open Sans"/>
              </a:rPr>
              <a:t>Step 4: Resource server verifies the token</a:t>
            </a:r>
            <a:endParaRPr lang="en-US" b="0" i="0" dirty="0">
              <a:solidFill>
                <a:srgbClr val="3D3D3D"/>
              </a:solidFill>
              <a:effectLst/>
              <a:latin typeface="Open Sans"/>
            </a:endParaRPr>
          </a:p>
          <a:p>
            <a:pPr algn="l"/>
            <a:r>
              <a:rPr lang="en-US" b="0" i="0" dirty="0">
                <a:solidFill>
                  <a:srgbClr val="3D3D3D"/>
                </a:solidFill>
                <a:effectLst/>
                <a:latin typeface="Open Sans"/>
              </a:rPr>
              <a:t>Follow these steps to verify the token:</a:t>
            </a:r>
          </a:p>
          <a:p>
            <a:pPr algn="l">
              <a:buFont typeface="Arial" panose="020B0604020202020204" pitchFamily="34" charset="0"/>
              <a:buChar char="•"/>
            </a:pPr>
            <a:r>
              <a:rPr lang="en-US" b="0" i="0" dirty="0">
                <a:solidFill>
                  <a:srgbClr val="3D3D3D"/>
                </a:solidFill>
                <a:effectLst/>
                <a:latin typeface="Open Sans"/>
              </a:rPr>
              <a:t>Read the token from authentication header.</a:t>
            </a:r>
          </a:p>
          <a:p>
            <a:pPr algn="l">
              <a:buFont typeface="Arial" panose="020B0604020202020204" pitchFamily="34" charset="0"/>
              <a:buChar char="•"/>
            </a:pPr>
            <a:r>
              <a:rPr lang="en-US" b="0" i="0" dirty="0">
                <a:solidFill>
                  <a:srgbClr val="3D3D3D"/>
                </a:solidFill>
                <a:effectLst/>
                <a:latin typeface="Open Sans"/>
              </a:rPr>
              <a:t>Split the header, payload, and signature from token.</a:t>
            </a:r>
          </a:p>
          <a:p>
            <a:pPr algn="l">
              <a:buFont typeface="Arial" panose="020B0604020202020204" pitchFamily="34" charset="0"/>
              <a:buChar char="•"/>
            </a:pPr>
            <a:r>
              <a:rPr lang="en-US" b="0" i="0" dirty="0">
                <a:solidFill>
                  <a:srgbClr val="3D3D3D"/>
                </a:solidFill>
                <a:effectLst/>
                <a:latin typeface="Open Sans"/>
              </a:rPr>
              <a:t>Create signature of received header and payload using the same secret key used when creating the token.</a:t>
            </a:r>
          </a:p>
          <a:p>
            <a:pPr algn="l">
              <a:buFont typeface="Arial" panose="020B0604020202020204" pitchFamily="34" charset="0"/>
              <a:buChar char="•"/>
            </a:pPr>
            <a:r>
              <a:rPr lang="en-US" b="0" i="0" dirty="0">
                <a:solidFill>
                  <a:srgbClr val="3D3D3D"/>
                </a:solidFill>
                <a:effectLst/>
                <a:latin typeface="Open Sans"/>
              </a:rPr>
              <a:t>Check whether both newly created signature and signature received from token are valid.</a:t>
            </a:r>
          </a:p>
          <a:p>
            <a:pPr algn="l">
              <a:buFont typeface="Arial" panose="020B0604020202020204" pitchFamily="34" charset="0"/>
              <a:buChar char="•"/>
            </a:pPr>
            <a:r>
              <a:rPr lang="en-US" b="0" i="0" dirty="0">
                <a:solidFill>
                  <a:srgbClr val="3D3D3D"/>
                </a:solidFill>
                <a:effectLst/>
                <a:latin typeface="Open Sans"/>
              </a:rPr>
              <a:t>If the signatures are the same, the tokens are valid (not altered in the middle) and they provide access to the requested resource.</a:t>
            </a:r>
          </a:p>
          <a:p>
            <a:pPr algn="l">
              <a:buFont typeface="Arial" panose="020B0604020202020204" pitchFamily="34" charset="0"/>
              <a:buChar char="•"/>
            </a:pPr>
            <a:r>
              <a:rPr lang="en-US" b="0" i="0" dirty="0">
                <a:solidFill>
                  <a:srgbClr val="3D3D3D"/>
                </a:solidFill>
                <a:effectLst/>
                <a:latin typeface="Open Sans"/>
              </a:rPr>
              <a:t>If the signatures are different, an </a:t>
            </a:r>
            <a:r>
              <a:rPr lang="en-US" b="1" i="0" dirty="0">
                <a:solidFill>
                  <a:srgbClr val="3D3D3D"/>
                </a:solidFill>
                <a:effectLst/>
                <a:latin typeface="Open Sans"/>
              </a:rPr>
              <a:t>unauthorized</a:t>
            </a:r>
            <a:r>
              <a:rPr lang="en-US" b="0" i="0" dirty="0">
                <a:solidFill>
                  <a:srgbClr val="3D3D3D"/>
                </a:solidFill>
                <a:effectLst/>
                <a:latin typeface="Open Sans"/>
              </a:rPr>
              <a:t> response will be sent back to the client. (In the middle, if claims are alerted, they will generate a different signature, hence resource access will be restricted.)</a:t>
            </a:r>
          </a:p>
          <a:p>
            <a:pPr algn="l"/>
            <a:r>
              <a:rPr lang="en-US" b="0" i="0" dirty="0">
                <a:solidFill>
                  <a:srgbClr val="3D3D3D"/>
                </a:solidFill>
                <a:effectLst/>
                <a:latin typeface="Open Sans"/>
              </a:rPr>
              <a:t>Don’t share confidential information using a JWT, since a JWT can be decoded and the claims or data it possesses can be viewed.</a:t>
            </a:r>
          </a:p>
          <a:p>
            <a:pPr marL="0" indent="0">
              <a:buNone/>
            </a:pPr>
            <a:endParaRPr lang="en-IN" b="1" dirty="0"/>
          </a:p>
        </p:txBody>
      </p:sp>
    </p:spTree>
    <p:extLst>
      <p:ext uri="{BB962C8B-B14F-4D97-AF65-F5344CB8AC3E}">
        <p14:creationId xmlns:p14="http://schemas.microsoft.com/office/powerpoint/2010/main" val="10868041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3841F09-6FB3-49A0-9A63-9AD153F1F8C8}"/>
              </a:ext>
            </a:extLst>
          </p:cNvPr>
          <p:cNvSpPr>
            <a:spLocks noGrp="1"/>
          </p:cNvSpPr>
          <p:nvPr>
            <p:ph idx="1"/>
          </p:nvPr>
        </p:nvSpPr>
        <p:spPr>
          <a:xfrm>
            <a:off x="1143000" y="-7374"/>
            <a:ext cx="7696200" cy="1600200"/>
          </a:xfrm>
        </p:spPr>
        <p:txBody>
          <a:bodyPr>
            <a:normAutofit lnSpcReduction="10000"/>
          </a:bodyPr>
          <a:lstStyle/>
          <a:p>
            <a:pPr marL="0" indent="0">
              <a:buNone/>
            </a:pPr>
            <a:r>
              <a:rPr lang="en-US" b="1" dirty="0"/>
              <a:t>Create a JWT</a:t>
            </a:r>
          </a:p>
          <a:p>
            <a:pPr marL="0" indent="0">
              <a:buNone/>
            </a:pPr>
            <a:r>
              <a:rPr lang="en-US" dirty="0"/>
              <a:t>We can consume and test our API using Postman, but the problem here is anyone who knows the endpoint can consume it. So this is not the case, we need an option to control who can consume our service. This is achieved by a JWT bearer token.</a:t>
            </a:r>
            <a:endParaRPr lang="en-IN" dirty="0"/>
          </a:p>
        </p:txBody>
      </p:sp>
      <p:sp>
        <p:nvSpPr>
          <p:cNvPr id="5" name="TextBox 4">
            <a:extLst>
              <a:ext uri="{FF2B5EF4-FFF2-40B4-BE49-F238E27FC236}">
                <a16:creationId xmlns:a16="http://schemas.microsoft.com/office/drawing/2014/main" xmlns="" id="{ED80C18F-10E0-4EA3-91CD-FFA2436DBBD7}"/>
              </a:ext>
            </a:extLst>
          </p:cNvPr>
          <p:cNvSpPr txBox="1"/>
          <p:nvPr/>
        </p:nvSpPr>
        <p:spPr>
          <a:xfrm>
            <a:off x="76200" y="1524000"/>
            <a:ext cx="4611328" cy="369332"/>
          </a:xfrm>
          <a:prstGeom prst="rect">
            <a:avLst/>
          </a:prstGeom>
          <a:noFill/>
        </p:spPr>
        <p:txBody>
          <a:bodyPr wrap="square">
            <a:spAutoFit/>
          </a:bodyPr>
          <a:lstStyle/>
          <a:p>
            <a:r>
              <a:rPr lang="en-US" dirty="0"/>
              <a:t>Here, we will see how to create a token:</a:t>
            </a:r>
            <a:endParaRPr lang="en-IN" dirty="0"/>
          </a:p>
        </p:txBody>
      </p:sp>
      <p:sp>
        <p:nvSpPr>
          <p:cNvPr id="7" name="TextBox 6">
            <a:extLst>
              <a:ext uri="{FF2B5EF4-FFF2-40B4-BE49-F238E27FC236}">
                <a16:creationId xmlns:a16="http://schemas.microsoft.com/office/drawing/2014/main" xmlns="" id="{BACECC3B-4057-4DE7-A886-AD140E9DD7CE}"/>
              </a:ext>
            </a:extLst>
          </p:cNvPr>
          <p:cNvSpPr txBox="1"/>
          <p:nvPr/>
        </p:nvSpPr>
        <p:spPr>
          <a:xfrm>
            <a:off x="0" y="1893332"/>
            <a:ext cx="8991600" cy="923330"/>
          </a:xfrm>
          <a:prstGeom prst="rect">
            <a:avLst/>
          </a:prstGeom>
          <a:noFill/>
        </p:spPr>
        <p:txBody>
          <a:bodyPr wrap="square">
            <a:spAutoFit/>
          </a:bodyPr>
          <a:lstStyle/>
          <a:p>
            <a:r>
              <a:rPr lang="en-US" dirty="0"/>
              <a:t>Step 1: Create an empty API controller called </a:t>
            </a:r>
            <a:r>
              <a:rPr lang="en-US" dirty="0" err="1"/>
              <a:t>TokenController</a:t>
            </a:r>
            <a:r>
              <a:rPr lang="en-US" dirty="0"/>
              <a:t>.</a:t>
            </a:r>
          </a:p>
          <a:p>
            <a:endParaRPr lang="en-US" dirty="0"/>
          </a:p>
          <a:p>
            <a:r>
              <a:rPr lang="en-US" dirty="0"/>
              <a:t>Step 2: Paste the below JWT configuration into the </a:t>
            </a:r>
            <a:r>
              <a:rPr lang="en-US" dirty="0" err="1"/>
              <a:t>appsetting.json</a:t>
            </a:r>
            <a:r>
              <a:rPr lang="en-US" dirty="0"/>
              <a:t> file.</a:t>
            </a:r>
            <a:endParaRPr lang="en-IN" dirty="0"/>
          </a:p>
        </p:txBody>
      </p:sp>
      <p:sp>
        <p:nvSpPr>
          <p:cNvPr id="14" name="TextBox 13">
            <a:extLst>
              <a:ext uri="{FF2B5EF4-FFF2-40B4-BE49-F238E27FC236}">
                <a16:creationId xmlns:a16="http://schemas.microsoft.com/office/drawing/2014/main" xmlns="" id="{552D955E-5D19-437D-9B1B-A8611FF05834}"/>
              </a:ext>
            </a:extLst>
          </p:cNvPr>
          <p:cNvSpPr txBox="1"/>
          <p:nvPr/>
        </p:nvSpPr>
        <p:spPr>
          <a:xfrm>
            <a:off x="5638800" y="2816662"/>
            <a:ext cx="3620728" cy="3139321"/>
          </a:xfrm>
          <a:prstGeom prst="rect">
            <a:avLst/>
          </a:prstGeom>
          <a:noFill/>
        </p:spPr>
        <p:txBody>
          <a:bodyPr wrap="square">
            <a:spAutoFit/>
          </a:bodyPr>
          <a:lstStyle/>
          <a:p>
            <a:r>
              <a:rPr lang="en-US" dirty="0"/>
              <a:t>Step 3: Add the action method under </a:t>
            </a:r>
            <a:r>
              <a:rPr lang="en-US" dirty="0" err="1"/>
              <a:t>TokenController</a:t>
            </a:r>
            <a:r>
              <a:rPr lang="en-US" dirty="0"/>
              <a:t> to perform the following operations:</a:t>
            </a:r>
          </a:p>
          <a:p>
            <a:endParaRPr lang="en-US" dirty="0"/>
          </a:p>
          <a:p>
            <a:pPr marL="285750" indent="-285750">
              <a:buFont typeface="Arial" panose="020B0604020202020204" pitchFamily="34" charset="0"/>
              <a:buChar char="•"/>
            </a:pPr>
            <a:r>
              <a:rPr lang="en-US" dirty="0"/>
              <a:t>Accept username and password as input.</a:t>
            </a:r>
          </a:p>
          <a:p>
            <a:pPr marL="285750" indent="-285750">
              <a:buFont typeface="Arial" panose="020B0604020202020204" pitchFamily="34" charset="0"/>
              <a:buChar char="•"/>
            </a:pPr>
            <a:r>
              <a:rPr lang="en-US" dirty="0"/>
              <a:t>Check users’ credentials with database to ensure users’ identity:</a:t>
            </a:r>
          </a:p>
          <a:p>
            <a:r>
              <a:rPr lang="en-US" dirty="0"/>
              <a:t>If valid, access token will be returned.</a:t>
            </a:r>
          </a:p>
          <a:p>
            <a:r>
              <a:rPr lang="en-US" dirty="0"/>
              <a:t>If invalid, bad request error will be returned.</a:t>
            </a:r>
            <a:endParaRPr lang="en-IN" dirty="0"/>
          </a:p>
        </p:txBody>
      </p:sp>
      <p:pic>
        <p:nvPicPr>
          <p:cNvPr id="2" name="Picture 1">
            <a:extLst>
              <a:ext uri="{FF2B5EF4-FFF2-40B4-BE49-F238E27FC236}">
                <a16:creationId xmlns:a16="http://schemas.microsoft.com/office/drawing/2014/main" xmlns="" id="{AB992F97-14D8-47FC-9AD8-A5BC887A6C87}"/>
              </a:ext>
            </a:extLst>
          </p:cNvPr>
          <p:cNvPicPr>
            <a:picLocks noChangeAspect="1"/>
          </p:cNvPicPr>
          <p:nvPr/>
        </p:nvPicPr>
        <p:blipFill>
          <a:blip r:embed="rId2"/>
          <a:stretch>
            <a:fillRect/>
          </a:stretch>
        </p:blipFill>
        <p:spPr>
          <a:xfrm>
            <a:off x="122903" y="2743200"/>
            <a:ext cx="5133975" cy="3771900"/>
          </a:xfrm>
          <a:prstGeom prst="rect">
            <a:avLst/>
          </a:prstGeom>
        </p:spPr>
      </p:pic>
      <p:sp>
        <p:nvSpPr>
          <p:cNvPr id="4" name="TextBox 3">
            <a:extLst>
              <a:ext uri="{FF2B5EF4-FFF2-40B4-BE49-F238E27FC236}">
                <a16:creationId xmlns:a16="http://schemas.microsoft.com/office/drawing/2014/main" xmlns="" id="{03A029A4-A3FB-4DB0-82B9-3E9237EFE5E2}"/>
              </a:ext>
            </a:extLst>
          </p:cNvPr>
          <p:cNvSpPr txBox="1"/>
          <p:nvPr/>
        </p:nvSpPr>
        <p:spPr>
          <a:xfrm>
            <a:off x="5583033" y="5920318"/>
            <a:ext cx="3048000" cy="923330"/>
          </a:xfrm>
          <a:prstGeom prst="rect">
            <a:avLst/>
          </a:prstGeom>
          <a:noFill/>
        </p:spPr>
        <p:txBody>
          <a:bodyPr wrap="square" rtlCol="0">
            <a:spAutoFit/>
          </a:bodyPr>
          <a:lstStyle/>
          <a:p>
            <a:r>
              <a:rPr lang="en-US" b="1" dirty="0" err="1"/>
              <a:t>Note</a:t>
            </a:r>
            <a:r>
              <a:rPr lang="en-US" dirty="0" err="1"/>
              <a:t>:Audience</a:t>
            </a:r>
            <a:endParaRPr lang="en-US" dirty="0"/>
          </a:p>
          <a:p>
            <a:r>
              <a:rPr lang="en-US" dirty="0"/>
              <a:t>Subject should hold name of application</a:t>
            </a:r>
            <a:endParaRPr lang="en-IN" dirty="0"/>
          </a:p>
        </p:txBody>
      </p:sp>
    </p:spTree>
    <p:extLst>
      <p:ext uri="{BB962C8B-B14F-4D97-AF65-F5344CB8AC3E}">
        <p14:creationId xmlns:p14="http://schemas.microsoft.com/office/powerpoint/2010/main" val="29501463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30597E9-ED7C-4A17-963C-BABA06D63A94}"/>
              </a:ext>
            </a:extLst>
          </p:cNvPr>
          <p:cNvSpPr>
            <a:spLocks noGrp="1"/>
          </p:cNvSpPr>
          <p:nvPr>
            <p:ph idx="1"/>
          </p:nvPr>
        </p:nvSpPr>
        <p:spPr>
          <a:xfrm>
            <a:off x="76200" y="609600"/>
            <a:ext cx="4572000" cy="6172200"/>
          </a:xfrm>
        </p:spPr>
        <p:txBody>
          <a:bodyPr>
            <a:noAutofit/>
          </a:bodyPr>
          <a:lstStyle/>
          <a:p>
            <a:pPr marL="0" indent="0">
              <a:buNone/>
            </a:pPr>
            <a:r>
              <a:rPr lang="en-IN" sz="1800" dirty="0"/>
              <a:t>using </a:t>
            </a:r>
            <a:r>
              <a:rPr lang="en-IN" sz="1800" dirty="0" err="1"/>
              <a:t>InventoryService.Models</a:t>
            </a:r>
            <a:r>
              <a:rPr lang="en-IN" sz="1800" dirty="0"/>
              <a:t>;</a:t>
            </a:r>
          </a:p>
          <a:p>
            <a:pPr marL="0" indent="0">
              <a:buNone/>
            </a:pPr>
            <a:r>
              <a:rPr lang="en-IN" sz="1800" dirty="0"/>
              <a:t>using </a:t>
            </a:r>
            <a:r>
              <a:rPr lang="en-IN" sz="1800" dirty="0" err="1"/>
              <a:t>Microsoft.AspNetCore.Mvc</a:t>
            </a:r>
            <a:r>
              <a:rPr lang="en-IN" sz="1800" dirty="0"/>
              <a:t>;</a:t>
            </a:r>
          </a:p>
          <a:p>
            <a:pPr marL="0" indent="0">
              <a:buNone/>
            </a:pPr>
            <a:r>
              <a:rPr lang="en-IN" sz="1800" dirty="0"/>
              <a:t>using </a:t>
            </a:r>
            <a:r>
              <a:rPr lang="en-IN" sz="1800" dirty="0" err="1"/>
              <a:t>Microsoft.EntityFrameworkCore</a:t>
            </a:r>
            <a:r>
              <a:rPr lang="en-IN" sz="1800" dirty="0"/>
              <a:t>;</a:t>
            </a:r>
          </a:p>
          <a:p>
            <a:pPr marL="0" indent="0">
              <a:buNone/>
            </a:pPr>
            <a:r>
              <a:rPr lang="en-IN" sz="1800" dirty="0"/>
              <a:t>using </a:t>
            </a:r>
            <a:r>
              <a:rPr lang="en-IN" sz="1800" dirty="0" err="1"/>
              <a:t>Microsoft.Extensions.Configuration</a:t>
            </a:r>
            <a:r>
              <a:rPr lang="en-IN" sz="1800" dirty="0"/>
              <a:t>;</a:t>
            </a:r>
          </a:p>
          <a:p>
            <a:pPr marL="0" indent="0">
              <a:buNone/>
            </a:pPr>
            <a:r>
              <a:rPr lang="en-IN" sz="1800" dirty="0"/>
              <a:t>using </a:t>
            </a:r>
            <a:r>
              <a:rPr lang="en-IN" sz="1800" dirty="0" err="1"/>
              <a:t>Microsoft.IdentityModel.Tokens</a:t>
            </a:r>
            <a:r>
              <a:rPr lang="en-IN" sz="1800" dirty="0"/>
              <a:t>;</a:t>
            </a:r>
          </a:p>
          <a:p>
            <a:pPr marL="0" indent="0">
              <a:buNone/>
            </a:pPr>
            <a:r>
              <a:rPr lang="en-IN" sz="1800" dirty="0"/>
              <a:t>using System;</a:t>
            </a:r>
          </a:p>
          <a:p>
            <a:pPr marL="0" indent="0">
              <a:buNone/>
            </a:pPr>
            <a:r>
              <a:rPr lang="en-IN" sz="1800" dirty="0"/>
              <a:t>using </a:t>
            </a:r>
            <a:r>
              <a:rPr lang="en-IN" sz="1800" dirty="0" err="1"/>
              <a:t>System.IdentityModel.Tokens.Jwt</a:t>
            </a:r>
            <a:r>
              <a:rPr lang="en-IN" sz="1800" dirty="0"/>
              <a:t>;</a:t>
            </a:r>
          </a:p>
          <a:p>
            <a:pPr marL="0" indent="0">
              <a:buNone/>
            </a:pPr>
            <a:r>
              <a:rPr lang="en-IN" sz="1800" dirty="0"/>
              <a:t>using </a:t>
            </a:r>
            <a:r>
              <a:rPr lang="en-IN" sz="1800" dirty="0" err="1"/>
              <a:t>System.Security.Claims</a:t>
            </a:r>
            <a:r>
              <a:rPr lang="en-IN" sz="1800" dirty="0"/>
              <a:t>;</a:t>
            </a:r>
          </a:p>
          <a:p>
            <a:pPr marL="0" indent="0">
              <a:buNone/>
            </a:pPr>
            <a:r>
              <a:rPr lang="en-IN" sz="1800" dirty="0"/>
              <a:t>using </a:t>
            </a:r>
            <a:r>
              <a:rPr lang="en-IN" sz="1800" dirty="0" err="1"/>
              <a:t>System.Text</a:t>
            </a:r>
            <a:r>
              <a:rPr lang="en-IN" sz="1800" dirty="0"/>
              <a:t>;</a:t>
            </a:r>
          </a:p>
          <a:p>
            <a:pPr marL="0" indent="0">
              <a:buNone/>
            </a:pPr>
            <a:r>
              <a:rPr lang="en-IN" sz="1800" dirty="0"/>
              <a:t>using </a:t>
            </a:r>
            <a:r>
              <a:rPr lang="en-IN" sz="1800" dirty="0" err="1"/>
              <a:t>System.Threading.Tasks</a:t>
            </a:r>
            <a:r>
              <a:rPr lang="en-IN" sz="1800" dirty="0"/>
              <a:t>;</a:t>
            </a:r>
          </a:p>
          <a:p>
            <a:pPr marL="0" indent="0">
              <a:buNone/>
            </a:pPr>
            <a:r>
              <a:rPr lang="en-IN" sz="1800" dirty="0"/>
              <a:t> namespace </a:t>
            </a:r>
            <a:r>
              <a:rPr lang="en-IN" sz="1800" dirty="0" err="1"/>
              <a:t>InventoryService.Controllers</a:t>
            </a:r>
            <a:endParaRPr lang="en-IN" sz="1800" dirty="0"/>
          </a:p>
          <a:p>
            <a:pPr marL="0" indent="0">
              <a:buNone/>
            </a:pPr>
            <a:r>
              <a:rPr lang="en-IN" sz="1800" dirty="0"/>
              <a:t>{</a:t>
            </a:r>
          </a:p>
          <a:p>
            <a:pPr marL="0" indent="0">
              <a:buNone/>
            </a:pPr>
            <a:r>
              <a:rPr lang="en-IN" sz="1800" dirty="0"/>
              <a:t>    [Route("</a:t>
            </a:r>
            <a:r>
              <a:rPr lang="en-IN" sz="1800" dirty="0" err="1"/>
              <a:t>api</a:t>
            </a:r>
            <a:r>
              <a:rPr lang="en-IN" sz="1800" dirty="0"/>
              <a:t>/[controller]")]</a:t>
            </a:r>
          </a:p>
          <a:p>
            <a:pPr marL="0" indent="0">
              <a:buNone/>
            </a:pPr>
            <a:r>
              <a:rPr lang="en-IN" sz="1800" dirty="0"/>
              <a:t>    [</a:t>
            </a:r>
            <a:r>
              <a:rPr lang="en-IN" sz="1800" dirty="0" err="1"/>
              <a:t>ApiController</a:t>
            </a:r>
            <a:r>
              <a:rPr lang="en-IN" sz="1800" dirty="0"/>
              <a:t>]</a:t>
            </a:r>
          </a:p>
          <a:p>
            <a:pPr marL="0" indent="0">
              <a:buNone/>
            </a:pPr>
            <a:r>
              <a:rPr lang="en-IN" sz="1800" dirty="0"/>
              <a:t>    public class </a:t>
            </a:r>
            <a:r>
              <a:rPr lang="en-IN" sz="1800" dirty="0" err="1"/>
              <a:t>TokenController</a:t>
            </a:r>
            <a:r>
              <a:rPr lang="en-IN" sz="1800" dirty="0"/>
              <a:t> : </a:t>
            </a:r>
            <a:r>
              <a:rPr lang="en-IN" sz="1800" dirty="0" err="1"/>
              <a:t>ControllerBase</a:t>
            </a:r>
            <a:endParaRPr lang="en-IN" sz="1800" dirty="0"/>
          </a:p>
          <a:p>
            <a:pPr marL="0" indent="0">
              <a:buNone/>
            </a:pPr>
            <a:r>
              <a:rPr lang="en-IN" sz="1800" dirty="0"/>
              <a:t>    {      public </a:t>
            </a:r>
            <a:r>
              <a:rPr lang="en-IN" sz="1800" dirty="0" err="1"/>
              <a:t>IConfiguration</a:t>
            </a:r>
            <a:r>
              <a:rPr lang="en-IN" sz="1800" dirty="0"/>
              <a:t> _configuration;</a:t>
            </a:r>
          </a:p>
          <a:p>
            <a:pPr marL="0" indent="0">
              <a:buNone/>
            </a:pPr>
            <a:r>
              <a:rPr lang="en-IN" sz="1800" dirty="0"/>
              <a:t>       private </a:t>
            </a:r>
            <a:r>
              <a:rPr lang="en-IN" sz="1800" dirty="0" err="1"/>
              <a:t>readonly</a:t>
            </a:r>
            <a:r>
              <a:rPr lang="en-IN" sz="1800" dirty="0"/>
              <a:t> </a:t>
            </a:r>
            <a:r>
              <a:rPr lang="en-IN" sz="1800" dirty="0" err="1"/>
              <a:t>InventoryContext</a:t>
            </a:r>
            <a:r>
              <a:rPr lang="en-IN" sz="1800" dirty="0"/>
              <a:t> _context;</a:t>
            </a:r>
          </a:p>
          <a:p>
            <a:pPr marL="0" indent="0">
              <a:buNone/>
            </a:pPr>
            <a:r>
              <a:rPr lang="en-IN" sz="1800" dirty="0"/>
              <a:t> </a:t>
            </a:r>
          </a:p>
        </p:txBody>
      </p:sp>
      <p:sp>
        <p:nvSpPr>
          <p:cNvPr id="5" name="TextBox 4">
            <a:extLst>
              <a:ext uri="{FF2B5EF4-FFF2-40B4-BE49-F238E27FC236}">
                <a16:creationId xmlns:a16="http://schemas.microsoft.com/office/drawing/2014/main" xmlns="" id="{21206538-CB6D-4D7F-AEF7-E58894E80DFF}"/>
              </a:ext>
            </a:extLst>
          </p:cNvPr>
          <p:cNvSpPr txBox="1"/>
          <p:nvPr/>
        </p:nvSpPr>
        <p:spPr>
          <a:xfrm>
            <a:off x="4549877" y="0"/>
            <a:ext cx="4611328" cy="6186309"/>
          </a:xfrm>
          <a:prstGeom prst="rect">
            <a:avLst/>
          </a:prstGeom>
          <a:noFill/>
        </p:spPr>
        <p:txBody>
          <a:bodyPr wrap="square">
            <a:spAutoFit/>
          </a:bodyPr>
          <a:lstStyle/>
          <a:p>
            <a:r>
              <a:rPr lang="en-IN" dirty="0"/>
              <a:t> public </a:t>
            </a:r>
            <a:r>
              <a:rPr lang="en-IN" dirty="0" err="1"/>
              <a:t>TokenController</a:t>
            </a:r>
            <a:r>
              <a:rPr lang="en-IN" dirty="0"/>
              <a:t>(</a:t>
            </a:r>
            <a:r>
              <a:rPr lang="en-IN" dirty="0" err="1"/>
              <a:t>IConfiguration</a:t>
            </a:r>
            <a:r>
              <a:rPr lang="en-IN" dirty="0"/>
              <a:t> config, </a:t>
            </a:r>
            <a:r>
              <a:rPr lang="en-IN" dirty="0" err="1"/>
              <a:t>InventoryContext</a:t>
            </a:r>
            <a:r>
              <a:rPr lang="en-IN" dirty="0"/>
              <a:t> context)</a:t>
            </a:r>
          </a:p>
          <a:p>
            <a:r>
              <a:rPr lang="en-IN" dirty="0"/>
              <a:t>        {</a:t>
            </a:r>
          </a:p>
          <a:p>
            <a:r>
              <a:rPr lang="en-IN" dirty="0"/>
              <a:t>            _configuration = config;</a:t>
            </a:r>
          </a:p>
          <a:p>
            <a:r>
              <a:rPr lang="en-IN" dirty="0"/>
              <a:t>            _context = context;</a:t>
            </a:r>
          </a:p>
          <a:p>
            <a:r>
              <a:rPr lang="en-IN" dirty="0"/>
              <a:t>        }</a:t>
            </a:r>
          </a:p>
          <a:p>
            <a:r>
              <a:rPr lang="en-IN" dirty="0"/>
              <a:t> </a:t>
            </a:r>
          </a:p>
          <a:p>
            <a:r>
              <a:rPr lang="en-IN" dirty="0"/>
              <a:t>        [</a:t>
            </a:r>
            <a:r>
              <a:rPr lang="en-IN" dirty="0" err="1"/>
              <a:t>HttpPost</a:t>
            </a:r>
            <a:r>
              <a:rPr lang="en-IN" dirty="0"/>
              <a:t>]</a:t>
            </a:r>
          </a:p>
          <a:p>
            <a:r>
              <a:rPr lang="en-IN" dirty="0"/>
              <a:t>        public async Task&lt;</a:t>
            </a:r>
            <a:r>
              <a:rPr lang="en-IN" dirty="0" err="1"/>
              <a:t>IActionResult</a:t>
            </a:r>
            <a:r>
              <a:rPr lang="en-IN" dirty="0"/>
              <a:t>&gt; Post(</a:t>
            </a:r>
            <a:r>
              <a:rPr lang="en-IN" dirty="0" err="1"/>
              <a:t>UserInfo</a:t>
            </a:r>
            <a:r>
              <a:rPr lang="en-IN" dirty="0"/>
              <a:t> _</a:t>
            </a:r>
            <a:r>
              <a:rPr lang="en-IN" dirty="0" err="1"/>
              <a:t>userData</a:t>
            </a:r>
            <a:r>
              <a:rPr lang="en-IN" dirty="0"/>
              <a:t>)</a:t>
            </a:r>
          </a:p>
          <a:p>
            <a:r>
              <a:rPr lang="en-IN" dirty="0"/>
              <a:t>        {</a:t>
            </a:r>
          </a:p>
          <a:p>
            <a:r>
              <a:rPr lang="en-IN" dirty="0"/>
              <a:t> </a:t>
            </a:r>
          </a:p>
          <a:p>
            <a:r>
              <a:rPr lang="en-IN" dirty="0"/>
              <a:t>if (_</a:t>
            </a:r>
            <a:r>
              <a:rPr lang="en-IN" dirty="0" err="1"/>
              <a:t>userData</a:t>
            </a:r>
            <a:r>
              <a:rPr lang="en-IN" dirty="0"/>
              <a:t> != null &amp;&amp; _</a:t>
            </a:r>
            <a:r>
              <a:rPr lang="en-IN" dirty="0" err="1"/>
              <a:t>userData.Email</a:t>
            </a:r>
            <a:r>
              <a:rPr lang="en-IN" dirty="0"/>
              <a:t> != null &amp;&amp; _</a:t>
            </a:r>
            <a:r>
              <a:rPr lang="en-IN" dirty="0" err="1"/>
              <a:t>userData.Password</a:t>
            </a:r>
            <a:r>
              <a:rPr lang="en-IN" dirty="0"/>
              <a:t> != null)</a:t>
            </a:r>
          </a:p>
          <a:p>
            <a:r>
              <a:rPr lang="en-IN" dirty="0"/>
              <a:t>            {</a:t>
            </a:r>
          </a:p>
          <a:p>
            <a:r>
              <a:rPr lang="en-IN" dirty="0"/>
              <a:t>                var user = await </a:t>
            </a:r>
            <a:r>
              <a:rPr lang="en-IN" dirty="0" err="1"/>
              <a:t>GetUser</a:t>
            </a:r>
            <a:r>
              <a:rPr lang="en-IN" dirty="0"/>
              <a:t>(_</a:t>
            </a:r>
            <a:r>
              <a:rPr lang="en-IN" dirty="0" err="1"/>
              <a:t>userData.Email</a:t>
            </a:r>
            <a:r>
              <a:rPr lang="en-IN" dirty="0"/>
              <a:t>, _</a:t>
            </a:r>
            <a:r>
              <a:rPr lang="en-IN" dirty="0" err="1"/>
              <a:t>userData.Password</a:t>
            </a:r>
            <a:r>
              <a:rPr lang="en-IN" dirty="0"/>
              <a:t>);</a:t>
            </a:r>
          </a:p>
          <a:p>
            <a:r>
              <a:rPr lang="en-IN" dirty="0"/>
              <a:t>                 if (user != null)</a:t>
            </a:r>
          </a:p>
          <a:p>
            <a:r>
              <a:rPr lang="en-IN" dirty="0"/>
              <a:t>                {</a:t>
            </a:r>
          </a:p>
          <a:p>
            <a:r>
              <a:rPr lang="en-IN" dirty="0"/>
              <a:t> //create claims details based on the user information</a:t>
            </a:r>
          </a:p>
          <a:p>
            <a:endParaRPr lang="en-IN" dirty="0"/>
          </a:p>
        </p:txBody>
      </p:sp>
    </p:spTree>
    <p:extLst>
      <p:ext uri="{BB962C8B-B14F-4D97-AF65-F5344CB8AC3E}">
        <p14:creationId xmlns:p14="http://schemas.microsoft.com/office/powerpoint/2010/main" val="18929796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51034F5-49E7-4733-8892-321F195DEE22}"/>
              </a:ext>
            </a:extLst>
          </p:cNvPr>
          <p:cNvSpPr>
            <a:spLocks noGrp="1"/>
          </p:cNvSpPr>
          <p:nvPr>
            <p:ph idx="1"/>
          </p:nvPr>
        </p:nvSpPr>
        <p:spPr>
          <a:xfrm>
            <a:off x="0" y="609600"/>
            <a:ext cx="5181600" cy="6095999"/>
          </a:xfrm>
        </p:spPr>
        <p:txBody>
          <a:bodyPr>
            <a:noAutofit/>
          </a:bodyPr>
          <a:lstStyle/>
          <a:p>
            <a:pPr marL="0" indent="0">
              <a:buNone/>
            </a:pPr>
            <a:r>
              <a:rPr lang="en-IN" sz="1200" dirty="0"/>
              <a:t> var claims = new[] {</a:t>
            </a:r>
          </a:p>
          <a:p>
            <a:pPr marL="0" indent="0">
              <a:buNone/>
            </a:pPr>
            <a:r>
              <a:rPr lang="en-IN" sz="1200" dirty="0"/>
              <a:t>                    new Claim(</a:t>
            </a:r>
            <a:r>
              <a:rPr lang="en-IN" sz="1200" dirty="0" err="1"/>
              <a:t>JwtRegisteredClaimNames.Sub</a:t>
            </a:r>
            <a:r>
              <a:rPr lang="en-IN" sz="1200" dirty="0"/>
              <a:t>, _configuration["</a:t>
            </a:r>
            <a:r>
              <a:rPr lang="en-IN" sz="1200" dirty="0" err="1"/>
              <a:t>Jwt:Subject</a:t>
            </a:r>
            <a:r>
              <a:rPr lang="en-IN" sz="1200" dirty="0"/>
              <a:t>"]),</a:t>
            </a:r>
          </a:p>
          <a:p>
            <a:pPr marL="0" indent="0">
              <a:buNone/>
            </a:pPr>
            <a:r>
              <a:rPr lang="en-IN" sz="1200" dirty="0"/>
              <a:t>            new Claim(</a:t>
            </a:r>
            <a:r>
              <a:rPr lang="en-IN" sz="1200" dirty="0" err="1"/>
              <a:t>JwtRegisteredClaimNames.Jti</a:t>
            </a:r>
            <a:r>
              <a:rPr lang="en-IN" sz="1200" dirty="0"/>
              <a:t>, </a:t>
            </a:r>
            <a:r>
              <a:rPr lang="en-IN" sz="1200" dirty="0" err="1"/>
              <a:t>Guid.NewGuid</a:t>
            </a:r>
            <a:r>
              <a:rPr lang="en-IN" sz="1200" dirty="0"/>
              <a:t>().</a:t>
            </a:r>
            <a:r>
              <a:rPr lang="en-IN" sz="1200" dirty="0" err="1"/>
              <a:t>ToString</a:t>
            </a:r>
            <a:r>
              <a:rPr lang="en-IN" sz="1200" dirty="0"/>
              <a:t>()),</a:t>
            </a:r>
          </a:p>
          <a:p>
            <a:pPr marL="0" indent="0">
              <a:buNone/>
            </a:pPr>
            <a:r>
              <a:rPr lang="en-IN" sz="1200" dirty="0"/>
              <a:t>               new Claim(</a:t>
            </a:r>
            <a:r>
              <a:rPr lang="en-IN" sz="1200" dirty="0" err="1"/>
              <a:t>JwtRegisteredClaimNames.Iat</a:t>
            </a:r>
            <a:r>
              <a:rPr lang="en-IN" sz="1200" dirty="0"/>
              <a:t>, </a:t>
            </a:r>
            <a:r>
              <a:rPr lang="en-IN" sz="1200" dirty="0" err="1"/>
              <a:t>DateTime.UtcNow.ToString</a:t>
            </a:r>
            <a:r>
              <a:rPr lang="en-IN" sz="1200" dirty="0"/>
              <a:t>()),</a:t>
            </a:r>
          </a:p>
          <a:p>
            <a:pPr marL="0" indent="0">
              <a:buNone/>
            </a:pPr>
            <a:r>
              <a:rPr lang="en-IN" sz="1200" dirty="0"/>
              <a:t>                    new Claim("Id", </a:t>
            </a:r>
            <a:r>
              <a:rPr lang="en-IN" sz="1200" dirty="0" err="1"/>
              <a:t>user.UserId.ToString</a:t>
            </a:r>
            <a:r>
              <a:rPr lang="en-IN" sz="1200" dirty="0"/>
              <a:t>()),</a:t>
            </a:r>
          </a:p>
          <a:p>
            <a:pPr marL="0" indent="0">
              <a:buNone/>
            </a:pPr>
            <a:r>
              <a:rPr lang="en-IN" sz="1200" dirty="0"/>
              <a:t>                    new Claim("FirstName", </a:t>
            </a:r>
            <a:r>
              <a:rPr lang="en-IN" sz="1200" dirty="0" err="1"/>
              <a:t>user.FirstName</a:t>
            </a:r>
            <a:r>
              <a:rPr lang="en-IN" sz="1200" dirty="0"/>
              <a:t>),</a:t>
            </a:r>
          </a:p>
          <a:p>
            <a:pPr marL="0" indent="0">
              <a:buNone/>
            </a:pPr>
            <a:r>
              <a:rPr lang="en-IN" sz="1200" dirty="0"/>
              <a:t>                    new Claim("</a:t>
            </a:r>
            <a:r>
              <a:rPr lang="en-IN" sz="1200" dirty="0" err="1"/>
              <a:t>LastName</a:t>
            </a:r>
            <a:r>
              <a:rPr lang="en-IN" sz="1200" dirty="0"/>
              <a:t>", </a:t>
            </a:r>
            <a:r>
              <a:rPr lang="en-IN" sz="1200" dirty="0" err="1"/>
              <a:t>user.LastName</a:t>
            </a:r>
            <a:r>
              <a:rPr lang="en-IN" sz="1200" dirty="0"/>
              <a:t>),</a:t>
            </a:r>
          </a:p>
          <a:p>
            <a:pPr marL="0" indent="0">
              <a:buNone/>
            </a:pPr>
            <a:r>
              <a:rPr lang="en-IN" sz="1200" dirty="0"/>
              <a:t>                    new Claim("</a:t>
            </a:r>
            <a:r>
              <a:rPr lang="en-IN" sz="1200" dirty="0" err="1"/>
              <a:t>UserName</a:t>
            </a:r>
            <a:r>
              <a:rPr lang="en-IN" sz="1200" dirty="0"/>
              <a:t>", </a:t>
            </a:r>
            <a:r>
              <a:rPr lang="en-IN" sz="1200" dirty="0" err="1"/>
              <a:t>user.UserName</a:t>
            </a:r>
            <a:r>
              <a:rPr lang="en-IN" sz="1200" dirty="0"/>
              <a:t>),</a:t>
            </a:r>
          </a:p>
          <a:p>
            <a:pPr marL="0" indent="0">
              <a:buNone/>
            </a:pPr>
            <a:r>
              <a:rPr lang="en-IN" sz="1200" dirty="0"/>
              <a:t>                    new Claim("Email", </a:t>
            </a:r>
            <a:r>
              <a:rPr lang="en-IN" sz="1200" dirty="0" err="1"/>
              <a:t>user.Email</a:t>
            </a:r>
            <a:r>
              <a:rPr lang="en-IN" sz="1200" dirty="0"/>
              <a:t>)</a:t>
            </a:r>
          </a:p>
          <a:p>
            <a:pPr marL="0" indent="0">
              <a:buNone/>
            </a:pPr>
            <a:r>
              <a:rPr lang="en-IN" sz="1200" dirty="0"/>
              <a:t>                   };</a:t>
            </a:r>
          </a:p>
          <a:p>
            <a:pPr marL="0" indent="0">
              <a:buNone/>
            </a:pPr>
            <a:r>
              <a:rPr lang="en-IN" sz="1200" dirty="0"/>
              <a:t>          var key = new </a:t>
            </a:r>
            <a:r>
              <a:rPr lang="en-IN" sz="1200" dirty="0" err="1"/>
              <a:t>SymmetricSecurityKey</a:t>
            </a:r>
            <a:r>
              <a:rPr lang="en-IN" sz="1200" dirty="0"/>
              <a:t>(Encoding.UTF8.GetBytes(_configuration["</a:t>
            </a:r>
            <a:r>
              <a:rPr lang="en-IN" sz="1200" dirty="0" err="1"/>
              <a:t>Jwt:Key</a:t>
            </a:r>
            <a:r>
              <a:rPr lang="en-IN" sz="1200" dirty="0"/>
              <a:t>"]));</a:t>
            </a:r>
          </a:p>
          <a:p>
            <a:pPr marL="0" indent="0">
              <a:buNone/>
            </a:pPr>
            <a:r>
              <a:rPr lang="en-IN" sz="1200" dirty="0"/>
              <a:t>        var </a:t>
            </a:r>
            <a:r>
              <a:rPr lang="en-IN" sz="1200" dirty="0" err="1"/>
              <a:t>signIn</a:t>
            </a:r>
            <a:r>
              <a:rPr lang="en-IN" sz="1200" dirty="0"/>
              <a:t> = new </a:t>
            </a:r>
            <a:r>
              <a:rPr lang="en-IN" sz="1200" dirty="0" err="1"/>
              <a:t>SigningCredentials</a:t>
            </a:r>
            <a:r>
              <a:rPr lang="en-IN" sz="1200" dirty="0"/>
              <a:t>(key, SecurityAlgorithms.HmacSha256);</a:t>
            </a:r>
          </a:p>
          <a:p>
            <a:pPr marL="0" indent="0">
              <a:buNone/>
            </a:pPr>
            <a:r>
              <a:rPr lang="en-IN" sz="1200" dirty="0"/>
              <a:t>         var token = new </a:t>
            </a:r>
            <a:r>
              <a:rPr lang="en-IN" sz="1200" dirty="0" err="1"/>
              <a:t>JwtSecurityToken</a:t>
            </a:r>
            <a:r>
              <a:rPr lang="en-IN" sz="1200" dirty="0"/>
              <a:t>(_configuration["</a:t>
            </a:r>
            <a:r>
              <a:rPr lang="en-IN" sz="1200" dirty="0" err="1"/>
              <a:t>Jwt:Issuer</a:t>
            </a:r>
            <a:r>
              <a:rPr lang="en-IN" sz="1200" dirty="0"/>
              <a:t>"], _configuration["</a:t>
            </a:r>
            <a:r>
              <a:rPr lang="en-IN" sz="1200" dirty="0" err="1"/>
              <a:t>Jwt:Audience</a:t>
            </a:r>
            <a:r>
              <a:rPr lang="en-IN" sz="1200" dirty="0"/>
              <a:t>"], claims, expires: </a:t>
            </a:r>
            <a:r>
              <a:rPr lang="en-IN" sz="1200" dirty="0" err="1"/>
              <a:t>DateTime.UtcNow.AddDays</a:t>
            </a:r>
            <a:r>
              <a:rPr lang="en-IN" sz="1200" dirty="0"/>
              <a:t>(1), </a:t>
            </a:r>
            <a:r>
              <a:rPr lang="en-IN" sz="1200" dirty="0" err="1"/>
              <a:t>signingCredentials</a:t>
            </a:r>
            <a:r>
              <a:rPr lang="en-IN" sz="1200" dirty="0"/>
              <a:t>: </a:t>
            </a:r>
            <a:r>
              <a:rPr lang="en-IN" sz="1200" dirty="0" err="1"/>
              <a:t>signIn</a:t>
            </a:r>
            <a:r>
              <a:rPr lang="en-IN" sz="1200" dirty="0"/>
              <a:t>);</a:t>
            </a:r>
          </a:p>
          <a:p>
            <a:pPr marL="0" indent="0">
              <a:buNone/>
            </a:pPr>
            <a:r>
              <a:rPr lang="en-IN" sz="1200" dirty="0"/>
              <a:t>              return Ok(new </a:t>
            </a:r>
            <a:r>
              <a:rPr lang="en-IN" sz="1200" dirty="0" err="1"/>
              <a:t>JwtSecurityTokenHandler</a:t>
            </a:r>
            <a:r>
              <a:rPr lang="en-IN" sz="1200" dirty="0"/>
              <a:t>().</a:t>
            </a:r>
            <a:r>
              <a:rPr lang="en-IN" sz="1200" dirty="0" err="1"/>
              <a:t>WriteToken</a:t>
            </a:r>
            <a:r>
              <a:rPr lang="en-IN" sz="1200" dirty="0"/>
              <a:t>(token));</a:t>
            </a:r>
          </a:p>
          <a:p>
            <a:pPr marL="0" indent="0">
              <a:buNone/>
            </a:pPr>
            <a:r>
              <a:rPr lang="en-IN" sz="1200" dirty="0"/>
              <a:t>                }</a:t>
            </a:r>
          </a:p>
          <a:p>
            <a:pPr marL="0" indent="0">
              <a:buNone/>
            </a:pPr>
            <a:r>
              <a:rPr lang="en-IN" sz="1200" dirty="0"/>
              <a:t>                else</a:t>
            </a:r>
          </a:p>
          <a:p>
            <a:pPr marL="0" indent="0">
              <a:buNone/>
            </a:pPr>
            <a:r>
              <a:rPr lang="en-IN" sz="1200" dirty="0"/>
              <a:t>                {                    return </a:t>
            </a:r>
            <a:r>
              <a:rPr lang="en-IN" sz="1200" dirty="0" err="1"/>
              <a:t>BadRequest</a:t>
            </a:r>
            <a:r>
              <a:rPr lang="en-IN" sz="1200" dirty="0"/>
              <a:t>("Invalid credentials");                 }</a:t>
            </a:r>
          </a:p>
          <a:p>
            <a:pPr marL="0" indent="0">
              <a:buNone/>
            </a:pPr>
            <a:r>
              <a:rPr lang="en-IN" sz="1200" dirty="0"/>
              <a:t>            }</a:t>
            </a:r>
          </a:p>
          <a:p>
            <a:pPr marL="0" indent="0">
              <a:buNone/>
            </a:pPr>
            <a:r>
              <a:rPr lang="en-IN" sz="1200" dirty="0"/>
              <a:t>            else</a:t>
            </a:r>
          </a:p>
          <a:p>
            <a:pPr marL="0" indent="0">
              <a:buNone/>
            </a:pPr>
            <a:r>
              <a:rPr lang="en-IN" sz="1200" dirty="0"/>
              <a:t>            {        return </a:t>
            </a:r>
            <a:r>
              <a:rPr lang="en-IN" sz="1200" dirty="0" err="1"/>
              <a:t>BadRequest</a:t>
            </a:r>
            <a:r>
              <a:rPr lang="en-IN" sz="1200" dirty="0"/>
              <a:t>();            }</a:t>
            </a:r>
          </a:p>
          <a:p>
            <a:pPr marL="0" indent="0">
              <a:buNone/>
            </a:pPr>
            <a:r>
              <a:rPr lang="en-IN" sz="1200" dirty="0"/>
              <a:t>        }</a:t>
            </a:r>
          </a:p>
          <a:p>
            <a:pPr marL="0" indent="0">
              <a:buNone/>
            </a:pPr>
            <a:r>
              <a:rPr lang="en-IN" sz="1200" dirty="0"/>
              <a:t> </a:t>
            </a:r>
          </a:p>
        </p:txBody>
      </p:sp>
      <p:sp>
        <p:nvSpPr>
          <p:cNvPr id="5" name="TextBox 4">
            <a:extLst>
              <a:ext uri="{FF2B5EF4-FFF2-40B4-BE49-F238E27FC236}">
                <a16:creationId xmlns:a16="http://schemas.microsoft.com/office/drawing/2014/main" xmlns="" id="{C0189129-A498-435C-9822-E04C00E30151}"/>
              </a:ext>
            </a:extLst>
          </p:cNvPr>
          <p:cNvSpPr txBox="1"/>
          <p:nvPr/>
        </p:nvSpPr>
        <p:spPr>
          <a:xfrm>
            <a:off x="5257800" y="152400"/>
            <a:ext cx="3886200" cy="3139321"/>
          </a:xfrm>
          <a:prstGeom prst="rect">
            <a:avLst/>
          </a:prstGeom>
          <a:noFill/>
        </p:spPr>
        <p:txBody>
          <a:bodyPr wrap="square">
            <a:spAutoFit/>
          </a:bodyPr>
          <a:lstStyle/>
          <a:p>
            <a:endParaRPr lang="en-IN" dirty="0"/>
          </a:p>
          <a:p>
            <a:r>
              <a:rPr lang="en-IN" dirty="0"/>
              <a:t>        private async Task&lt;</a:t>
            </a:r>
            <a:r>
              <a:rPr lang="en-IN" dirty="0" err="1"/>
              <a:t>UserInfo</a:t>
            </a:r>
            <a:r>
              <a:rPr lang="en-IN" dirty="0"/>
              <a:t>&gt; </a:t>
            </a:r>
            <a:r>
              <a:rPr lang="en-IN" dirty="0" err="1"/>
              <a:t>GetUser</a:t>
            </a:r>
            <a:r>
              <a:rPr lang="en-IN" dirty="0"/>
              <a:t>(string email, string password)</a:t>
            </a:r>
          </a:p>
          <a:p>
            <a:r>
              <a:rPr lang="en-IN" dirty="0"/>
              <a:t>        {</a:t>
            </a:r>
          </a:p>
          <a:p>
            <a:r>
              <a:rPr lang="en-IN" dirty="0"/>
              <a:t>            return await _</a:t>
            </a:r>
            <a:r>
              <a:rPr lang="en-IN" dirty="0" err="1"/>
              <a:t>context.UserInfo.FirstOrDefaultAsync</a:t>
            </a:r>
            <a:r>
              <a:rPr lang="en-IN" dirty="0"/>
              <a:t>(u =&gt; </a:t>
            </a:r>
            <a:r>
              <a:rPr lang="en-IN" dirty="0" err="1"/>
              <a:t>u.Email</a:t>
            </a:r>
            <a:r>
              <a:rPr lang="en-IN" dirty="0"/>
              <a:t> == email &amp;&amp; </a:t>
            </a:r>
            <a:r>
              <a:rPr lang="en-IN" dirty="0" err="1"/>
              <a:t>u.Password</a:t>
            </a:r>
            <a:r>
              <a:rPr lang="en-IN" dirty="0"/>
              <a:t> == password);</a:t>
            </a:r>
          </a:p>
          <a:p>
            <a:r>
              <a:rPr lang="en-IN" dirty="0"/>
              <a:t>        }</a:t>
            </a:r>
          </a:p>
          <a:p>
            <a:r>
              <a:rPr lang="en-IN" dirty="0"/>
              <a:t>    }</a:t>
            </a:r>
          </a:p>
          <a:p>
            <a:r>
              <a:rPr lang="en-IN" dirty="0"/>
              <a:t>}</a:t>
            </a:r>
          </a:p>
        </p:txBody>
      </p:sp>
    </p:spTree>
    <p:extLst>
      <p:ext uri="{BB962C8B-B14F-4D97-AF65-F5344CB8AC3E}">
        <p14:creationId xmlns:p14="http://schemas.microsoft.com/office/powerpoint/2010/main" val="22418062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71600" y="381001"/>
            <a:ext cx="7162800" cy="46166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2400" dirty="0"/>
              <a:t>https://datatracker.ietf.org/doc/html/rfc7519#section-4</a:t>
            </a:r>
          </a:p>
        </p:txBody>
      </p:sp>
      <p:sp>
        <p:nvSpPr>
          <p:cNvPr id="6" name="Rectangle 5"/>
          <p:cNvSpPr/>
          <p:nvPr/>
        </p:nvSpPr>
        <p:spPr>
          <a:xfrm>
            <a:off x="152400" y="1295400"/>
            <a:ext cx="8686800" cy="4801314"/>
          </a:xfrm>
          <a:prstGeom prst="rect">
            <a:avLst/>
          </a:prstGeom>
        </p:spPr>
        <p:txBody>
          <a:bodyPr wrap="square">
            <a:spAutoFit/>
          </a:bodyPr>
          <a:lstStyle/>
          <a:p>
            <a:r>
              <a:rPr lang="en-US" dirty="0"/>
              <a:t>4.1.6.  "</a:t>
            </a:r>
            <a:r>
              <a:rPr lang="en-US" dirty="0" err="1"/>
              <a:t>iat</a:t>
            </a:r>
            <a:r>
              <a:rPr lang="en-US" dirty="0"/>
              <a:t>" (Issued At) Claim</a:t>
            </a:r>
          </a:p>
          <a:p>
            <a:endParaRPr lang="en-US" dirty="0"/>
          </a:p>
          <a:p>
            <a:r>
              <a:rPr lang="en-US" dirty="0"/>
              <a:t>   The "</a:t>
            </a:r>
            <a:r>
              <a:rPr lang="en-US" dirty="0" err="1"/>
              <a:t>iat</a:t>
            </a:r>
            <a:r>
              <a:rPr lang="en-US" dirty="0"/>
              <a:t>" (issued at) claim identifies the time at which the JWT was</a:t>
            </a:r>
          </a:p>
          <a:p>
            <a:r>
              <a:rPr lang="en-US" dirty="0"/>
              <a:t>   issued.  This claim can be used to determine the age of the JWT.  Its</a:t>
            </a:r>
          </a:p>
          <a:p>
            <a:r>
              <a:rPr lang="en-US" dirty="0"/>
              <a:t>   value MUST be a number containing a </a:t>
            </a:r>
            <a:r>
              <a:rPr lang="en-US" dirty="0" err="1"/>
              <a:t>NumericDate</a:t>
            </a:r>
            <a:r>
              <a:rPr lang="en-US" dirty="0"/>
              <a:t> value.  Use of this</a:t>
            </a:r>
          </a:p>
          <a:p>
            <a:r>
              <a:rPr lang="en-US" dirty="0"/>
              <a:t>   claim is OPTIONAL.</a:t>
            </a:r>
          </a:p>
          <a:p>
            <a:endParaRPr lang="en-US" dirty="0"/>
          </a:p>
          <a:p>
            <a:r>
              <a:rPr lang="en-US" dirty="0"/>
              <a:t>4.1.7.  "</a:t>
            </a:r>
            <a:r>
              <a:rPr lang="en-US" dirty="0" err="1"/>
              <a:t>jti</a:t>
            </a:r>
            <a:r>
              <a:rPr lang="en-US" dirty="0"/>
              <a:t>" (JWT ID) Claim</a:t>
            </a:r>
          </a:p>
          <a:p>
            <a:endParaRPr lang="en-US" dirty="0"/>
          </a:p>
          <a:p>
            <a:r>
              <a:rPr lang="en-US" dirty="0"/>
              <a:t>   The "</a:t>
            </a:r>
            <a:r>
              <a:rPr lang="en-US" dirty="0" err="1"/>
              <a:t>jti</a:t>
            </a:r>
            <a:r>
              <a:rPr lang="en-US" dirty="0"/>
              <a:t>" (JWT ID) claim provides a unique identifier for the JWT.</a:t>
            </a:r>
          </a:p>
          <a:p>
            <a:r>
              <a:rPr lang="en-US" dirty="0"/>
              <a:t>   The identifier value MUST be assigned in a manner that ensures that</a:t>
            </a:r>
          </a:p>
          <a:p>
            <a:r>
              <a:rPr lang="en-US" dirty="0"/>
              <a:t>   there is a negligible probability that the same value will be</a:t>
            </a:r>
          </a:p>
          <a:p>
            <a:r>
              <a:rPr lang="en-US" dirty="0"/>
              <a:t>   accidentally assigned to a different data object; if the application</a:t>
            </a:r>
          </a:p>
          <a:p>
            <a:r>
              <a:rPr lang="en-US" dirty="0"/>
              <a:t>   uses multiple issuers, collisions MUST be prevented among values</a:t>
            </a:r>
          </a:p>
          <a:p>
            <a:r>
              <a:rPr lang="en-US" dirty="0"/>
              <a:t>   produced by different issuers as well.  The "</a:t>
            </a:r>
            <a:r>
              <a:rPr lang="en-US" dirty="0" err="1"/>
              <a:t>jti</a:t>
            </a:r>
            <a:r>
              <a:rPr lang="en-US" dirty="0"/>
              <a:t>" claim can be used</a:t>
            </a:r>
          </a:p>
          <a:p>
            <a:r>
              <a:rPr lang="en-US" dirty="0"/>
              <a:t>   to prevent the JWT from being replayed.  The "</a:t>
            </a:r>
            <a:r>
              <a:rPr lang="en-US" dirty="0" err="1"/>
              <a:t>jti</a:t>
            </a:r>
            <a:r>
              <a:rPr lang="en-US" dirty="0"/>
              <a:t>" value is a case-</a:t>
            </a:r>
          </a:p>
          <a:p>
            <a:r>
              <a:rPr lang="en-US" dirty="0"/>
              <a:t>   sensitive string.  Use of this claim is OPTIONAL.</a:t>
            </a:r>
            <a:endParaRPr lang="en-IN" dirty="0"/>
          </a:p>
        </p:txBody>
      </p:sp>
    </p:spTree>
    <p:extLst>
      <p:ext uri="{BB962C8B-B14F-4D97-AF65-F5344CB8AC3E}">
        <p14:creationId xmlns:p14="http://schemas.microsoft.com/office/powerpoint/2010/main" val="31330408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EA270C7-2B06-456A-B196-B1F9E04FE12C}"/>
              </a:ext>
            </a:extLst>
          </p:cNvPr>
          <p:cNvSpPr>
            <a:spLocks noGrp="1"/>
          </p:cNvSpPr>
          <p:nvPr>
            <p:ph idx="1"/>
          </p:nvPr>
        </p:nvSpPr>
        <p:spPr>
          <a:xfrm>
            <a:off x="76200" y="685800"/>
            <a:ext cx="9067800" cy="1981200"/>
          </a:xfrm>
        </p:spPr>
        <p:txBody>
          <a:bodyPr>
            <a:normAutofit lnSpcReduction="10000"/>
          </a:bodyPr>
          <a:lstStyle/>
          <a:p>
            <a:pPr marL="0" indent="0">
              <a:buNone/>
            </a:pPr>
            <a:r>
              <a:rPr lang="en-US" dirty="0"/>
              <a:t>Follow these steps to check the token endpoint using Postman:</a:t>
            </a:r>
          </a:p>
          <a:p>
            <a:pPr marL="0" indent="0">
              <a:buNone/>
            </a:pPr>
            <a:r>
              <a:rPr lang="en-US" dirty="0"/>
              <a:t>Step 1: Enter this endpoint https://localhost:44305/api/token.</a:t>
            </a:r>
          </a:p>
          <a:p>
            <a:pPr marL="0" indent="0">
              <a:buNone/>
            </a:pPr>
            <a:r>
              <a:rPr lang="en-US" dirty="0"/>
              <a:t>Step 2: Choose the POST method and set the header to ‘Content-Type’: ‘application/json’.</a:t>
            </a:r>
          </a:p>
          <a:p>
            <a:pPr marL="0" indent="0">
              <a:buNone/>
            </a:pPr>
            <a:r>
              <a:rPr lang="en-US" dirty="0"/>
              <a:t>Step 3: Under Body &gt; Raw, choose type JSON (application/</a:t>
            </a:r>
            <a:r>
              <a:rPr lang="en-US" dirty="0" err="1"/>
              <a:t>javascript</a:t>
            </a:r>
            <a:r>
              <a:rPr lang="en-US" dirty="0"/>
              <a:t>) and paste the product details.</a:t>
            </a:r>
          </a:p>
          <a:p>
            <a:pPr marL="0" indent="0">
              <a:buNone/>
            </a:pPr>
            <a:endParaRPr lang="en-US" dirty="0"/>
          </a:p>
          <a:p>
            <a:pPr marL="0" indent="0">
              <a:buNone/>
            </a:pPr>
            <a:endParaRPr lang="en-IN" dirty="0"/>
          </a:p>
        </p:txBody>
      </p:sp>
      <p:pic>
        <p:nvPicPr>
          <p:cNvPr id="4" name="Picture 3">
            <a:extLst>
              <a:ext uri="{FF2B5EF4-FFF2-40B4-BE49-F238E27FC236}">
                <a16:creationId xmlns:a16="http://schemas.microsoft.com/office/drawing/2014/main" xmlns="" id="{49024D04-A446-4784-A69A-CC1B91E75068}"/>
              </a:ext>
            </a:extLst>
          </p:cNvPr>
          <p:cNvPicPr>
            <a:picLocks noChangeAspect="1"/>
          </p:cNvPicPr>
          <p:nvPr/>
        </p:nvPicPr>
        <p:blipFill>
          <a:blip r:embed="rId2"/>
          <a:stretch>
            <a:fillRect/>
          </a:stretch>
        </p:blipFill>
        <p:spPr>
          <a:xfrm>
            <a:off x="152400" y="2590800"/>
            <a:ext cx="4972050" cy="2171700"/>
          </a:xfrm>
          <a:prstGeom prst="rect">
            <a:avLst/>
          </a:prstGeom>
        </p:spPr>
      </p:pic>
      <p:sp>
        <p:nvSpPr>
          <p:cNvPr id="6" name="TextBox 5">
            <a:extLst>
              <a:ext uri="{FF2B5EF4-FFF2-40B4-BE49-F238E27FC236}">
                <a16:creationId xmlns:a16="http://schemas.microsoft.com/office/drawing/2014/main" xmlns="" id="{4C424856-67DB-4679-A7ED-19EC5D50A735}"/>
              </a:ext>
            </a:extLst>
          </p:cNvPr>
          <p:cNvSpPr txBox="1"/>
          <p:nvPr/>
        </p:nvSpPr>
        <p:spPr>
          <a:xfrm>
            <a:off x="78658" y="4876800"/>
            <a:ext cx="5179142" cy="923330"/>
          </a:xfrm>
          <a:prstGeom prst="rect">
            <a:avLst/>
          </a:prstGeom>
          <a:noFill/>
        </p:spPr>
        <p:txBody>
          <a:bodyPr wrap="square">
            <a:spAutoFit/>
          </a:bodyPr>
          <a:lstStyle/>
          <a:p>
            <a:r>
              <a:rPr lang="en-US" dirty="0"/>
              <a:t>By clicking Send, user credentials will be checked, and a token will be generated and returned. See the highlighted body section.</a:t>
            </a:r>
            <a:endParaRPr lang="en-IN" dirty="0"/>
          </a:p>
        </p:txBody>
      </p:sp>
    </p:spTree>
    <p:extLst>
      <p:ext uri="{BB962C8B-B14F-4D97-AF65-F5344CB8AC3E}">
        <p14:creationId xmlns:p14="http://schemas.microsoft.com/office/powerpoint/2010/main" val="35894974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xmlns="" id="{1C32F825-E232-4459-96CD-54ED310FD582}"/>
              </a:ext>
            </a:extLst>
          </p:cNvPr>
          <p:cNvPicPr>
            <a:picLocks noGrp="1" noChangeAspect="1"/>
          </p:cNvPicPr>
          <p:nvPr>
            <p:ph idx="1"/>
          </p:nvPr>
        </p:nvPicPr>
        <p:blipFill>
          <a:blip r:embed="rId2"/>
          <a:stretch>
            <a:fillRect/>
          </a:stretch>
        </p:blipFill>
        <p:spPr>
          <a:xfrm>
            <a:off x="1143000" y="-4916"/>
            <a:ext cx="7474344" cy="3700593"/>
          </a:xfrm>
          <a:prstGeom prst="rect">
            <a:avLst/>
          </a:prstGeom>
        </p:spPr>
      </p:pic>
      <p:sp>
        <p:nvSpPr>
          <p:cNvPr id="6" name="TextBox 5">
            <a:extLst>
              <a:ext uri="{FF2B5EF4-FFF2-40B4-BE49-F238E27FC236}">
                <a16:creationId xmlns:a16="http://schemas.microsoft.com/office/drawing/2014/main" xmlns="" id="{3C583E4E-2EC9-4ADF-ADFD-8D6353368290}"/>
              </a:ext>
            </a:extLst>
          </p:cNvPr>
          <p:cNvSpPr txBox="1"/>
          <p:nvPr/>
        </p:nvSpPr>
        <p:spPr>
          <a:xfrm>
            <a:off x="268844" y="3707967"/>
            <a:ext cx="8570356" cy="2585323"/>
          </a:xfrm>
          <a:prstGeom prst="rect">
            <a:avLst/>
          </a:prstGeom>
          <a:noFill/>
        </p:spPr>
        <p:txBody>
          <a:bodyPr wrap="square">
            <a:spAutoFit/>
          </a:bodyPr>
          <a:lstStyle/>
          <a:p>
            <a:r>
              <a:rPr lang="en-IN" dirty="0"/>
              <a:t>Secure API endpoint</a:t>
            </a:r>
          </a:p>
          <a:p>
            <a:r>
              <a:rPr lang="en-IN" dirty="0"/>
              <a:t>Now, we have a JWT token and will see how to secure our API.</a:t>
            </a:r>
          </a:p>
          <a:p>
            <a:endParaRPr lang="en-IN" dirty="0"/>
          </a:p>
          <a:p>
            <a:r>
              <a:rPr lang="en-IN" dirty="0"/>
              <a:t>Step 1: Add the following namespaces to the </a:t>
            </a:r>
            <a:r>
              <a:rPr lang="en-IN" dirty="0" err="1"/>
              <a:t>startup</a:t>
            </a:r>
            <a:r>
              <a:rPr lang="en-IN" dirty="0"/>
              <a:t> file:</a:t>
            </a:r>
          </a:p>
          <a:p>
            <a:endParaRPr lang="en-IN" dirty="0"/>
          </a:p>
          <a:p>
            <a:r>
              <a:rPr lang="en-IN" dirty="0"/>
              <a:t>using </a:t>
            </a:r>
            <a:r>
              <a:rPr lang="en-IN" dirty="0" err="1"/>
              <a:t>Microsoft.AspNetCore.Authentication.JwtBearer</a:t>
            </a:r>
            <a:r>
              <a:rPr lang="en-IN" dirty="0"/>
              <a:t>;</a:t>
            </a:r>
          </a:p>
          <a:p>
            <a:r>
              <a:rPr lang="en-IN" dirty="0"/>
              <a:t>using </a:t>
            </a:r>
            <a:r>
              <a:rPr lang="en-IN" dirty="0" err="1"/>
              <a:t>Microsoft.IdentityModel.Tokens</a:t>
            </a:r>
            <a:r>
              <a:rPr lang="en-IN" dirty="0"/>
              <a:t>;</a:t>
            </a:r>
          </a:p>
          <a:p>
            <a:r>
              <a:rPr lang="en-IN" dirty="0"/>
              <a:t>using </a:t>
            </a:r>
            <a:r>
              <a:rPr lang="en-IN" dirty="0" err="1"/>
              <a:t>System.Text</a:t>
            </a:r>
            <a:r>
              <a:rPr lang="en-IN" dirty="0"/>
              <a:t>;</a:t>
            </a:r>
          </a:p>
          <a:p>
            <a:r>
              <a:rPr lang="en-IN" dirty="0"/>
              <a:t>Step 2: Configure authorization middleware in the </a:t>
            </a:r>
            <a:r>
              <a:rPr lang="en-IN" dirty="0" err="1"/>
              <a:t>startup</a:t>
            </a:r>
            <a:r>
              <a:rPr lang="en-IN" dirty="0"/>
              <a:t> </a:t>
            </a:r>
            <a:r>
              <a:rPr lang="en-IN" dirty="0" err="1"/>
              <a:t>configureService</a:t>
            </a:r>
            <a:r>
              <a:rPr lang="en-IN" dirty="0"/>
              <a:t> method.</a:t>
            </a:r>
          </a:p>
        </p:txBody>
      </p:sp>
    </p:spTree>
    <p:extLst>
      <p:ext uri="{BB962C8B-B14F-4D97-AF65-F5344CB8AC3E}">
        <p14:creationId xmlns:p14="http://schemas.microsoft.com/office/powerpoint/2010/main" val="28113222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B950E68-AAE5-4B13-9008-67F4FBD0D571}"/>
              </a:ext>
            </a:extLst>
          </p:cNvPr>
          <p:cNvSpPr>
            <a:spLocks noGrp="1"/>
          </p:cNvSpPr>
          <p:nvPr>
            <p:ph idx="1"/>
          </p:nvPr>
        </p:nvSpPr>
        <p:spPr>
          <a:xfrm>
            <a:off x="152400" y="4191000"/>
            <a:ext cx="8534400" cy="1828800"/>
          </a:xfrm>
        </p:spPr>
        <p:txBody>
          <a:bodyPr>
            <a:normAutofit/>
          </a:bodyPr>
          <a:lstStyle/>
          <a:p>
            <a:r>
              <a:rPr lang="en-US" dirty="0"/>
              <a:t>We have passed the security key used when creating the token, and we have also enabled validation of Issuer and Audience.</a:t>
            </a:r>
          </a:p>
          <a:p>
            <a:endParaRPr lang="en-US" dirty="0"/>
          </a:p>
          <a:p>
            <a:r>
              <a:rPr lang="en-US" dirty="0"/>
              <a:t>Also, we have set </a:t>
            </a:r>
            <a:r>
              <a:rPr lang="en-US" dirty="0" err="1"/>
              <a:t>SaveToken</a:t>
            </a:r>
            <a:r>
              <a:rPr lang="en-US" dirty="0"/>
              <a:t> to true, which stores the bearer token in HTTP Context. So we can access the token in the controller when needed.</a:t>
            </a:r>
            <a:endParaRPr lang="en-IN" dirty="0"/>
          </a:p>
        </p:txBody>
      </p:sp>
      <p:pic>
        <p:nvPicPr>
          <p:cNvPr id="5" name="Picture 4">
            <a:extLst>
              <a:ext uri="{FF2B5EF4-FFF2-40B4-BE49-F238E27FC236}">
                <a16:creationId xmlns:a16="http://schemas.microsoft.com/office/drawing/2014/main" xmlns="" id="{C13DE2B9-B64C-4344-9D43-0072264AA3FA}"/>
              </a:ext>
            </a:extLst>
          </p:cNvPr>
          <p:cNvPicPr>
            <a:picLocks noChangeAspect="1"/>
          </p:cNvPicPr>
          <p:nvPr/>
        </p:nvPicPr>
        <p:blipFill>
          <a:blip r:embed="rId2"/>
          <a:stretch>
            <a:fillRect/>
          </a:stretch>
        </p:blipFill>
        <p:spPr>
          <a:xfrm>
            <a:off x="381000" y="31955"/>
            <a:ext cx="9144000" cy="3868969"/>
          </a:xfrm>
          <a:prstGeom prst="rect">
            <a:avLst/>
          </a:prstGeom>
        </p:spPr>
      </p:pic>
      <p:sp>
        <p:nvSpPr>
          <p:cNvPr id="2" name="Rectangle 1">
            <a:extLst>
              <a:ext uri="{FF2B5EF4-FFF2-40B4-BE49-F238E27FC236}">
                <a16:creationId xmlns:a16="http://schemas.microsoft.com/office/drawing/2014/main" xmlns="" id="{3D645B60-9185-7E57-0AB5-2C35611BF0EF}"/>
              </a:ext>
            </a:extLst>
          </p:cNvPr>
          <p:cNvSpPr/>
          <p:nvPr/>
        </p:nvSpPr>
        <p:spPr>
          <a:xfrm>
            <a:off x="6781800" y="3900924"/>
            <a:ext cx="2133600" cy="29007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err="1"/>
              <a:t>builder.Configuration</a:t>
            </a:r>
            <a:endParaRPr lang="en-IN" dirty="0"/>
          </a:p>
        </p:txBody>
      </p:sp>
      <p:cxnSp>
        <p:nvCxnSpPr>
          <p:cNvPr id="6" name="Straight Arrow Connector 5">
            <a:extLst>
              <a:ext uri="{FF2B5EF4-FFF2-40B4-BE49-F238E27FC236}">
                <a16:creationId xmlns:a16="http://schemas.microsoft.com/office/drawing/2014/main" xmlns="" id="{A00A5286-7D32-65FE-8179-2693137A9B44}"/>
              </a:ext>
            </a:extLst>
          </p:cNvPr>
          <p:cNvCxnSpPr/>
          <p:nvPr/>
        </p:nvCxnSpPr>
        <p:spPr>
          <a:xfrm flipV="1">
            <a:off x="7315200" y="3352800"/>
            <a:ext cx="152400" cy="548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xmlns="" id="{749F4349-CB9C-D4B0-56DB-2868B8AB066F}"/>
              </a:ext>
            </a:extLst>
          </p:cNvPr>
          <p:cNvSpPr/>
          <p:nvPr/>
        </p:nvSpPr>
        <p:spPr>
          <a:xfrm>
            <a:off x="1905000" y="228600"/>
            <a:ext cx="1981200" cy="152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err="1"/>
              <a:t>builder.Configuration</a:t>
            </a:r>
            <a:endParaRPr lang="en-IN" sz="1400" dirty="0"/>
          </a:p>
        </p:txBody>
      </p:sp>
    </p:spTree>
    <p:extLst>
      <p:ext uri="{BB962C8B-B14F-4D97-AF65-F5344CB8AC3E}">
        <p14:creationId xmlns:p14="http://schemas.microsoft.com/office/powerpoint/2010/main" val="34166584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152400"/>
            <a:ext cx="6991350" cy="320673"/>
          </a:xfrm>
        </p:spPr>
        <p:txBody>
          <a:bodyPr>
            <a:normAutofit fontScale="90000"/>
          </a:bodyPr>
          <a:lstStyle/>
          <a:p>
            <a:r>
              <a:rPr lang="en-IN" dirty="0" err="1"/>
              <a:t>Program.cs</a:t>
            </a:r>
            <a:endParaRPr lang="en-IN" dirty="0"/>
          </a:p>
        </p:txBody>
      </p:sp>
      <p:sp>
        <p:nvSpPr>
          <p:cNvPr id="4" name="Rectangle 3"/>
          <p:cNvSpPr/>
          <p:nvPr/>
        </p:nvSpPr>
        <p:spPr>
          <a:xfrm>
            <a:off x="228600" y="475250"/>
            <a:ext cx="8305800" cy="7017306"/>
          </a:xfrm>
          <a:prstGeom prst="rect">
            <a:avLst/>
          </a:prstGeom>
        </p:spPr>
        <p:txBody>
          <a:bodyPr wrap="square">
            <a:spAutoFit/>
          </a:bodyPr>
          <a:lstStyle/>
          <a:p>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API_JWT.Models</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Microsoft.AspNetCore.Authentication.JwtBearer</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Microsoft.EntityFrameworkCore</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Microsoft.IdentityModel.Tokens</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System.Text</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namespace</a:t>
            </a:r>
            <a:r>
              <a:rPr lang="en-IN" sz="900" dirty="0">
                <a:solidFill>
                  <a:srgbClr val="000000"/>
                </a:solidFill>
                <a:latin typeface="Cascadia Mono" panose="020B0609020000020004" pitchFamily="49" charset="0"/>
              </a:rPr>
              <a:t> API_JWT</a:t>
            </a: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Program</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static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void</a:t>
            </a:r>
            <a:r>
              <a:rPr lang="en-US" sz="900" dirty="0">
                <a:solidFill>
                  <a:srgbClr val="000000"/>
                </a:solidFill>
                <a:latin typeface="Cascadia Mono" panose="020B0609020000020004" pitchFamily="49" charset="0"/>
              </a:rPr>
              <a:t> Main(</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args</a:t>
            </a:r>
            <a:r>
              <a:rPr lang="en-US" sz="900" dirty="0">
                <a:solidFill>
                  <a:srgbClr val="000000"/>
                </a:solidFill>
                <a:latin typeface="Cascadia Mono" panose="020B0609020000020004" pitchFamily="49" charset="0"/>
              </a:rPr>
              <a:t>)</a:t>
            </a:r>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builder = </a:t>
            </a:r>
            <a:r>
              <a:rPr lang="en-IN" sz="900" dirty="0" err="1">
                <a:solidFill>
                  <a:srgbClr val="000000"/>
                </a:solidFill>
                <a:latin typeface="Cascadia Mono" panose="020B0609020000020004" pitchFamily="49" charset="0"/>
              </a:rPr>
              <a:t>WebApplication.CreateBuilder</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args</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Add services to the container.</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builder.Services.AddControllers</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b = </a:t>
            </a:r>
            <a:r>
              <a:rPr lang="en-IN" sz="900" dirty="0" err="1">
                <a:solidFill>
                  <a:srgbClr val="000000"/>
                </a:solidFill>
                <a:latin typeface="Cascadia Mono" panose="020B0609020000020004" pitchFamily="49" charset="0"/>
              </a:rPr>
              <a:t>builder.Configuration.GetConnectionString</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InventoryDatabase</a:t>
            </a:r>
            <a:r>
              <a:rPr lang="en-IN" sz="900" dirty="0">
                <a:solidFill>
                  <a:srgbClr val="A31515"/>
                </a:solidFill>
                <a:latin typeface="Cascadia Mono" panose="020B0609020000020004" pitchFamily="49" charset="0"/>
              </a:rPr>
              <a: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builder.Services.AddDbContext</a:t>
            </a:r>
            <a:r>
              <a:rPr lang="en-IN" sz="900" dirty="0">
                <a:solidFill>
                  <a:srgbClr val="000000"/>
                </a:solidFill>
                <a:latin typeface="Cascadia Mono" panose="020B0609020000020004" pitchFamily="49" charset="0"/>
              </a:rPr>
              <a:t>&lt;</a:t>
            </a:r>
            <a:r>
              <a:rPr lang="en-IN" sz="900" dirty="0" err="1">
                <a:solidFill>
                  <a:srgbClr val="000000"/>
                </a:solidFill>
                <a:latin typeface="Cascadia Mono" panose="020B0609020000020004" pitchFamily="49" charset="0"/>
              </a:rPr>
              <a:t>ProductContext</a:t>
            </a:r>
            <a:r>
              <a:rPr lang="en-IN" sz="900" dirty="0">
                <a:solidFill>
                  <a:srgbClr val="000000"/>
                </a:solidFill>
                <a:latin typeface="Cascadia Mono" panose="020B0609020000020004" pitchFamily="49" charset="0"/>
              </a:rPr>
              <a:t>&gt;((op) =&gt; </a:t>
            </a:r>
            <a:r>
              <a:rPr lang="en-IN" sz="900" dirty="0" err="1">
                <a:solidFill>
                  <a:srgbClr val="000000"/>
                </a:solidFill>
                <a:latin typeface="Cascadia Mono" panose="020B0609020000020004" pitchFamily="49" charset="0"/>
              </a:rPr>
              <a:t>op.UseSqlServer</a:t>
            </a:r>
            <a:r>
              <a:rPr lang="en-IN" sz="900" dirty="0">
                <a:solidFill>
                  <a:srgbClr val="000000"/>
                </a:solidFill>
                <a:latin typeface="Cascadia Mono" panose="020B0609020000020004" pitchFamily="49" charset="0"/>
              </a:rPr>
              <a:t>(b));</a:t>
            </a:r>
          </a:p>
          <a:p>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config</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builder.Configuration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builder.Services.AddAuthentication</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JwtBearerDefaults.AuthenticationScheme</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AddJwtBearer</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option =&gt;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option.RequireHttpsMetadata</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false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option.SaveToken</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true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option.TokenValidationParameters</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TokenValidationParameters</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ValidateIssuer</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true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ValidateAudience</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true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ValidAudience</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config</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Jwt:Audiance</a:t>
            </a:r>
            <a:r>
              <a:rPr lang="en-IN" sz="900" dirty="0">
                <a:solidFill>
                  <a:srgbClr val="A31515"/>
                </a:solidFill>
                <a:latin typeface="Cascadia Mono" panose="020B0609020000020004" pitchFamily="49" charset="0"/>
              </a:rPr>
              <a: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ValidIssuer</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config</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Jwt:Issuer</a:t>
            </a:r>
            <a:r>
              <a:rPr lang="en-IN" sz="900" dirty="0">
                <a:solidFill>
                  <a:srgbClr val="A31515"/>
                </a:solidFill>
                <a:latin typeface="Cascadia Mono" panose="020B0609020000020004" pitchFamily="49" charset="0"/>
              </a:rPr>
              <a: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IssuerSigningKey</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SymmetricSecurityKey</a:t>
            </a:r>
            <a:r>
              <a:rPr lang="en-IN" sz="900" dirty="0">
                <a:solidFill>
                  <a:srgbClr val="000000"/>
                </a:solidFill>
                <a:latin typeface="Cascadia Mono" panose="020B0609020000020004" pitchFamily="49" charset="0"/>
              </a:rPr>
              <a:t>(Encoding.UTF8.GetBytes(</a:t>
            </a:r>
            <a:r>
              <a:rPr lang="en-IN" sz="900" dirty="0" err="1">
                <a:solidFill>
                  <a:srgbClr val="000000"/>
                </a:solidFill>
                <a:latin typeface="Cascadia Mono" panose="020B0609020000020004" pitchFamily="49" charset="0"/>
              </a:rPr>
              <a:t>config</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Jwt:Key</a:t>
            </a:r>
            <a:r>
              <a:rPr lang="en-IN" sz="900" dirty="0">
                <a:solidFill>
                  <a:srgbClr val="A31515"/>
                </a:solidFill>
                <a:latin typeface="Cascadia Mono" panose="020B0609020000020004" pitchFamily="49" charset="0"/>
              </a:rPr>
              <a:t>"</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                );    </a:t>
            </a: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Learn more about configuring Swagger/</a:t>
            </a:r>
            <a:r>
              <a:rPr lang="en-US" sz="900" dirty="0" err="1">
                <a:solidFill>
                  <a:srgbClr val="008000"/>
                </a:solidFill>
                <a:latin typeface="Cascadia Mono" panose="020B0609020000020004" pitchFamily="49" charset="0"/>
              </a:rPr>
              <a:t>OpenAPI</a:t>
            </a:r>
            <a:r>
              <a:rPr lang="en-US" sz="900" dirty="0">
                <a:solidFill>
                  <a:srgbClr val="008000"/>
                </a:solidFill>
                <a:latin typeface="Cascadia Mono" panose="020B0609020000020004" pitchFamily="49" charset="0"/>
              </a:rPr>
              <a:t> at https://aka.ms/aspnetcore/swashbuckle</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builder.Services.AddEndpointsApiExplorer</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builder.Services.AddSwaggerGen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app = </a:t>
            </a:r>
            <a:r>
              <a:rPr lang="en-IN" sz="900" dirty="0" err="1">
                <a:solidFill>
                  <a:srgbClr val="000000"/>
                </a:solidFill>
                <a:latin typeface="Cascadia Mono" panose="020B0609020000020004" pitchFamily="49" charset="0"/>
              </a:rPr>
              <a:t>builder.Build</a:t>
            </a:r>
            <a:r>
              <a:rPr lang="en-IN" sz="900" dirty="0">
                <a:solidFill>
                  <a:srgbClr val="000000"/>
                </a:solidFill>
                <a:latin typeface="Cascadia Mono" panose="020B0609020000020004" pitchFamily="49" charset="0"/>
              </a:rPr>
              <a:t>();</a:t>
            </a:r>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Configure the HTTP request pipeline.</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if</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app.Environment.IsDevelopment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app.UseSwagger</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app.UseSwaggerUI</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app.UseHttpsRedirection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app.UseAuthentication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app.UseAuthorization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app.MapControllers</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app.Run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endParaRPr lang="en-IN" dirty="0"/>
          </a:p>
        </p:txBody>
      </p:sp>
    </p:spTree>
    <p:extLst>
      <p:ext uri="{BB962C8B-B14F-4D97-AF65-F5344CB8AC3E}">
        <p14:creationId xmlns:p14="http://schemas.microsoft.com/office/powerpoint/2010/main" val="12090597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68BE7EC-1C6A-418D-8BCA-53B6D95BCFEB}"/>
              </a:ext>
            </a:extLst>
          </p:cNvPr>
          <p:cNvSpPr>
            <a:spLocks noGrp="1"/>
          </p:cNvSpPr>
          <p:nvPr>
            <p:ph idx="1"/>
          </p:nvPr>
        </p:nvSpPr>
        <p:spPr>
          <a:xfrm>
            <a:off x="152400" y="607219"/>
            <a:ext cx="8610600" cy="535782"/>
          </a:xfrm>
        </p:spPr>
        <p:txBody>
          <a:bodyPr/>
          <a:lstStyle/>
          <a:p>
            <a:pPr marL="0" indent="0">
              <a:buNone/>
            </a:pPr>
            <a:r>
              <a:rPr lang="en-US" dirty="0"/>
              <a:t>Step 3: Inject the authorization middleware into the Request pipeline.</a:t>
            </a:r>
          </a:p>
          <a:p>
            <a:pPr marL="0" indent="0">
              <a:buNone/>
            </a:pPr>
            <a:endParaRPr lang="en-US" dirty="0"/>
          </a:p>
          <a:p>
            <a:pPr marL="0" indent="0">
              <a:buNone/>
            </a:pPr>
            <a:endParaRPr lang="en-IN" dirty="0"/>
          </a:p>
        </p:txBody>
      </p:sp>
      <p:pic>
        <p:nvPicPr>
          <p:cNvPr id="4" name="Picture 3">
            <a:extLst>
              <a:ext uri="{FF2B5EF4-FFF2-40B4-BE49-F238E27FC236}">
                <a16:creationId xmlns:a16="http://schemas.microsoft.com/office/drawing/2014/main" xmlns="" id="{3732A3C3-09EC-4E68-BF3B-0182A6602DBA}"/>
              </a:ext>
            </a:extLst>
          </p:cNvPr>
          <p:cNvPicPr>
            <a:picLocks noChangeAspect="1"/>
          </p:cNvPicPr>
          <p:nvPr/>
        </p:nvPicPr>
        <p:blipFill>
          <a:blip r:embed="rId2"/>
          <a:stretch>
            <a:fillRect/>
          </a:stretch>
        </p:blipFill>
        <p:spPr>
          <a:xfrm>
            <a:off x="125361" y="1140543"/>
            <a:ext cx="5057775" cy="3105150"/>
          </a:xfrm>
          <a:prstGeom prst="rect">
            <a:avLst/>
          </a:prstGeom>
        </p:spPr>
      </p:pic>
      <p:sp>
        <p:nvSpPr>
          <p:cNvPr id="6" name="TextBox 5">
            <a:extLst>
              <a:ext uri="{FF2B5EF4-FFF2-40B4-BE49-F238E27FC236}">
                <a16:creationId xmlns:a16="http://schemas.microsoft.com/office/drawing/2014/main" xmlns="" id="{7B211FFA-0037-4051-B4FC-60E0B7567167}"/>
              </a:ext>
            </a:extLst>
          </p:cNvPr>
          <p:cNvSpPr txBox="1"/>
          <p:nvPr/>
        </p:nvSpPr>
        <p:spPr>
          <a:xfrm>
            <a:off x="19204" y="4375197"/>
            <a:ext cx="4611328" cy="369332"/>
          </a:xfrm>
          <a:prstGeom prst="rect">
            <a:avLst/>
          </a:prstGeom>
          <a:noFill/>
        </p:spPr>
        <p:txBody>
          <a:bodyPr wrap="square">
            <a:spAutoFit/>
          </a:bodyPr>
          <a:lstStyle/>
          <a:p>
            <a:r>
              <a:rPr lang="en-US" dirty="0"/>
              <a:t> Add authorization attribute to the controller.</a:t>
            </a:r>
            <a:endParaRPr lang="en-IN" dirty="0"/>
          </a:p>
        </p:txBody>
      </p:sp>
      <p:sp>
        <p:nvSpPr>
          <p:cNvPr id="10" name="TextBox 9">
            <a:extLst>
              <a:ext uri="{FF2B5EF4-FFF2-40B4-BE49-F238E27FC236}">
                <a16:creationId xmlns:a16="http://schemas.microsoft.com/office/drawing/2014/main" xmlns="" id="{CBE9F279-536E-4188-812A-D85D3673B331}"/>
              </a:ext>
            </a:extLst>
          </p:cNvPr>
          <p:cNvSpPr txBox="1"/>
          <p:nvPr/>
        </p:nvSpPr>
        <p:spPr>
          <a:xfrm>
            <a:off x="4588746" y="1205099"/>
            <a:ext cx="4536050" cy="3539430"/>
          </a:xfrm>
          <a:prstGeom prst="rect">
            <a:avLst/>
          </a:prstGeom>
          <a:noFill/>
        </p:spPr>
        <p:txBody>
          <a:bodyPr wrap="square">
            <a:spAutoFit/>
          </a:bodyPr>
          <a:lstStyle/>
          <a:p>
            <a:endParaRPr lang="en-IN" sz="1400" dirty="0">
              <a:solidFill>
                <a:srgbClr val="000000"/>
              </a:solidFill>
              <a:latin typeface="Consolas" panose="020B0609020204030204" pitchFamily="49" charset="0"/>
            </a:endParaRPr>
          </a:p>
          <a:p>
            <a:r>
              <a:rPr lang="en-IN" sz="1400" dirty="0">
                <a:solidFill>
                  <a:srgbClr val="0000FF"/>
                </a:solidFill>
                <a:latin typeface="Consolas" panose="020B0609020204030204" pitchFamily="49" charset="0"/>
              </a:rPr>
              <a:t>namespace</a:t>
            </a:r>
            <a:r>
              <a:rPr lang="en-IN" sz="1400" dirty="0">
                <a:solidFill>
                  <a:srgbClr val="000000"/>
                </a:solidFill>
                <a:latin typeface="Consolas" panose="020B0609020204030204" pitchFamily="49" charset="0"/>
              </a:rPr>
              <a:t> WebApplication1.Controllers</a:t>
            </a:r>
          </a:p>
          <a:p>
            <a:r>
              <a:rPr lang="en-IN" sz="1400" dirty="0">
                <a:solidFill>
                  <a:srgbClr val="000000"/>
                </a:solidFill>
                <a:latin typeface="Consolas" panose="020B0609020204030204" pitchFamily="49" charset="0"/>
              </a:rPr>
              <a:t>{   [</a:t>
            </a:r>
            <a:r>
              <a:rPr lang="en-IN" sz="1400" dirty="0">
                <a:solidFill>
                  <a:srgbClr val="000000"/>
                </a:solidFill>
                <a:highlight>
                  <a:srgbClr val="FFFF00"/>
                </a:highlight>
                <a:latin typeface="Consolas" panose="020B0609020204030204" pitchFamily="49" charset="0"/>
              </a:rPr>
              <a:t>Authorize</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[Route(</a:t>
            </a:r>
            <a:r>
              <a:rPr lang="en-IN" sz="1400" dirty="0">
                <a:solidFill>
                  <a:srgbClr val="A31515"/>
                </a:solidFill>
                <a:latin typeface="Consolas" panose="020B0609020204030204" pitchFamily="49" charset="0"/>
              </a:rPr>
              <a:t>"</a:t>
            </a:r>
            <a:r>
              <a:rPr lang="en-IN" sz="1400" dirty="0" err="1">
                <a:solidFill>
                  <a:srgbClr val="A31515"/>
                </a:solidFill>
                <a:latin typeface="Consolas" panose="020B0609020204030204" pitchFamily="49" charset="0"/>
              </a:rPr>
              <a:t>api</a:t>
            </a:r>
            <a:r>
              <a:rPr lang="en-IN" sz="1400" dirty="0">
                <a:solidFill>
                  <a:srgbClr val="A31515"/>
                </a:solidFill>
                <a:latin typeface="Consolas" panose="020B0609020204030204" pitchFamily="49" charset="0"/>
              </a:rPr>
              <a:t>/[controller]"</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ApiController</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public</a:t>
            </a: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class</a:t>
            </a:r>
            <a:r>
              <a:rPr lang="en-IN" sz="1400" dirty="0">
                <a:solidFill>
                  <a:srgbClr val="000000"/>
                </a:solidFill>
                <a:latin typeface="Consolas" panose="020B0609020204030204" pitchFamily="49" charset="0"/>
              </a:rPr>
              <a:t> </a:t>
            </a:r>
            <a:r>
              <a:rPr lang="en-IN" sz="1400" dirty="0" err="1">
                <a:solidFill>
                  <a:srgbClr val="2B91AF"/>
                </a:solidFill>
                <a:latin typeface="Consolas" panose="020B0609020204030204" pitchFamily="49" charset="0"/>
              </a:rPr>
              <a:t>ProductsController</a:t>
            </a:r>
            <a:r>
              <a:rPr lang="en-IN" sz="1400" dirty="0">
                <a:solidFill>
                  <a:srgbClr val="000000"/>
                </a:solidFill>
                <a:latin typeface="Consolas" panose="020B0609020204030204" pitchFamily="49" charset="0"/>
              </a:rPr>
              <a:t> : </a:t>
            </a:r>
            <a:r>
              <a:rPr lang="en-IN" sz="1400" dirty="0" err="1">
                <a:solidFill>
                  <a:srgbClr val="000000"/>
                </a:solidFill>
                <a:latin typeface="Consolas" panose="020B0609020204030204" pitchFamily="49" charset="0"/>
              </a:rPr>
              <a:t>ControllerBase</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private</a:t>
            </a:r>
            <a:r>
              <a:rPr lang="en-IN" sz="1400" dirty="0">
                <a:solidFill>
                  <a:srgbClr val="000000"/>
                </a:solidFill>
                <a:latin typeface="Consolas" panose="020B0609020204030204" pitchFamily="49" charset="0"/>
              </a:rPr>
              <a:t> </a:t>
            </a:r>
            <a:r>
              <a:rPr lang="en-IN" sz="1400" dirty="0" err="1">
                <a:solidFill>
                  <a:srgbClr val="0000FF"/>
                </a:solidFill>
                <a:latin typeface="Consolas" panose="020B0609020204030204" pitchFamily="49" charset="0"/>
              </a:rPr>
              <a:t>readonly</a:t>
            </a:r>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InventoryContext</a:t>
            </a:r>
            <a:r>
              <a:rPr lang="en-IN" sz="1400" dirty="0">
                <a:solidFill>
                  <a:srgbClr val="000000"/>
                </a:solidFill>
                <a:latin typeface="Consolas" panose="020B0609020204030204" pitchFamily="49" charset="0"/>
              </a:rPr>
              <a:t> _context;</a:t>
            </a:r>
          </a:p>
          <a:p>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public</a:t>
            </a:r>
            <a:r>
              <a:rPr lang="en-IN" sz="1400" dirty="0">
                <a:solidFill>
                  <a:srgbClr val="000000"/>
                </a:solidFill>
                <a:latin typeface="Consolas" panose="020B0609020204030204" pitchFamily="49" charset="0"/>
              </a:rPr>
              <a:t> </a:t>
            </a:r>
            <a:r>
              <a:rPr lang="en-IN" sz="1400" dirty="0" err="1">
                <a:solidFill>
                  <a:srgbClr val="2B91AF"/>
                </a:solidFill>
                <a:latin typeface="Consolas" panose="020B0609020204030204" pitchFamily="49" charset="0"/>
              </a:rPr>
              <a:t>ProductsController</a:t>
            </a:r>
            <a:r>
              <a:rPr lang="en-IN" sz="1400" dirty="0">
                <a:solidFill>
                  <a:srgbClr val="000000"/>
                </a:solidFill>
                <a:latin typeface="Consolas" panose="020B0609020204030204" pitchFamily="49" charset="0"/>
              </a:rPr>
              <a:t>(</a:t>
            </a:r>
            <a:r>
              <a:rPr lang="en-IN" sz="1400" dirty="0" err="1">
                <a:solidFill>
                  <a:srgbClr val="000000"/>
                </a:solidFill>
                <a:latin typeface="Consolas" panose="020B0609020204030204" pitchFamily="49" charset="0"/>
              </a:rPr>
              <a:t>InventoryContext</a:t>
            </a:r>
            <a:r>
              <a:rPr lang="en-IN" sz="1400" dirty="0">
                <a:solidFill>
                  <a:srgbClr val="000000"/>
                </a:solidFill>
                <a:latin typeface="Consolas" panose="020B0609020204030204" pitchFamily="49" charset="0"/>
              </a:rPr>
              <a:t> context)</a:t>
            </a: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_context = context;</a:t>
            </a:r>
          </a:p>
          <a:p>
            <a:r>
              <a:rPr lang="en-IN" sz="1400" dirty="0">
                <a:solidFill>
                  <a:srgbClr val="000000"/>
                </a:solidFill>
                <a:latin typeface="Consolas" panose="020B0609020204030204" pitchFamily="49" charset="0"/>
              </a:rPr>
              <a:t>        }</a:t>
            </a:r>
          </a:p>
        </p:txBody>
      </p:sp>
      <p:sp>
        <p:nvSpPr>
          <p:cNvPr id="12" name="TextBox 11">
            <a:extLst>
              <a:ext uri="{FF2B5EF4-FFF2-40B4-BE49-F238E27FC236}">
                <a16:creationId xmlns:a16="http://schemas.microsoft.com/office/drawing/2014/main" xmlns="" id="{6AF79209-5D0A-4DE5-A8E7-9A0E59CA79A4}"/>
              </a:ext>
            </a:extLst>
          </p:cNvPr>
          <p:cNvSpPr txBox="1"/>
          <p:nvPr/>
        </p:nvSpPr>
        <p:spPr>
          <a:xfrm>
            <a:off x="34212" y="4701794"/>
            <a:ext cx="8923696" cy="2031325"/>
          </a:xfrm>
          <a:prstGeom prst="rect">
            <a:avLst/>
          </a:prstGeom>
          <a:noFill/>
        </p:spPr>
        <p:txBody>
          <a:bodyPr wrap="square">
            <a:spAutoFit/>
          </a:bodyPr>
          <a:lstStyle/>
          <a:p>
            <a:r>
              <a:rPr lang="en-US" dirty="0"/>
              <a:t>Here I have added authorization to the whole controller, so all the APIs under this controller will be secured with the token. You can also add authorization to a particular API method.</a:t>
            </a:r>
          </a:p>
          <a:p>
            <a:endParaRPr lang="en-US" dirty="0"/>
          </a:p>
          <a:p>
            <a:r>
              <a:rPr lang="en-US" dirty="0"/>
              <a:t>Follow these steps to test whether the APIs are secured by the JWT:</a:t>
            </a:r>
          </a:p>
          <a:p>
            <a:r>
              <a:rPr lang="en-US" dirty="0"/>
              <a:t>Step 1: In Postman, enter this endpoint: https://localhost:44305/api/products.</a:t>
            </a:r>
          </a:p>
          <a:p>
            <a:r>
              <a:rPr lang="en-US" dirty="0"/>
              <a:t>Step 2: Choose the GET method and then click Send. Now, you can see the </a:t>
            </a:r>
            <a:r>
              <a:rPr lang="en-US" b="1" dirty="0"/>
              <a:t>Status code is </a:t>
            </a:r>
            <a:r>
              <a:rPr lang="en-US" b="1" dirty="0">
                <a:solidFill>
                  <a:srgbClr val="FF0000"/>
                </a:solidFill>
              </a:rPr>
              <a:t>401 Unauthorized</a:t>
            </a:r>
            <a:r>
              <a:rPr lang="en-US" b="1" dirty="0"/>
              <a:t>.</a:t>
            </a:r>
          </a:p>
        </p:txBody>
      </p:sp>
    </p:spTree>
    <p:extLst>
      <p:ext uri="{BB962C8B-B14F-4D97-AF65-F5344CB8AC3E}">
        <p14:creationId xmlns:p14="http://schemas.microsoft.com/office/powerpoint/2010/main" val="32155549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C3141A8C-BE2C-493F-8F3B-85B2C699743C}"/>
              </a:ext>
            </a:extLst>
          </p:cNvPr>
          <p:cNvPicPr>
            <a:picLocks noGrp="1" noChangeAspect="1"/>
          </p:cNvPicPr>
          <p:nvPr>
            <p:ph idx="1"/>
          </p:nvPr>
        </p:nvPicPr>
        <p:blipFill>
          <a:blip r:embed="rId2"/>
          <a:stretch>
            <a:fillRect/>
          </a:stretch>
        </p:blipFill>
        <p:spPr>
          <a:xfrm>
            <a:off x="0" y="1001316"/>
            <a:ext cx="8515350" cy="4789884"/>
          </a:xfrm>
        </p:spPr>
      </p:pic>
    </p:spTree>
    <p:extLst>
      <p:ext uri="{BB962C8B-B14F-4D97-AF65-F5344CB8AC3E}">
        <p14:creationId xmlns:p14="http://schemas.microsoft.com/office/powerpoint/2010/main" val="22195024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365127"/>
            <a:ext cx="7524750" cy="549274"/>
          </a:xfrm>
        </p:spPr>
        <p:txBody>
          <a:bodyPr/>
          <a:lstStyle/>
          <a:p>
            <a:r>
              <a:rPr lang="en-IN" dirty="0"/>
              <a:t>How to set token </a:t>
            </a:r>
            <a:r>
              <a:rPr lang="en-IN"/>
              <a:t>in swagger</a:t>
            </a:r>
            <a:endParaRPr lang="en-IN" dirty="0"/>
          </a:p>
        </p:txBody>
      </p:sp>
      <p:sp>
        <p:nvSpPr>
          <p:cNvPr id="4" name="Rectangle 3"/>
          <p:cNvSpPr/>
          <p:nvPr/>
        </p:nvSpPr>
        <p:spPr>
          <a:xfrm>
            <a:off x="381000" y="990600"/>
            <a:ext cx="4800600" cy="461664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050" dirty="0"/>
              <a:t> </a:t>
            </a:r>
            <a:r>
              <a:rPr lang="en-IN" sz="1050" dirty="0" err="1"/>
              <a:t>builder.Services.AddSwaggerGen</a:t>
            </a:r>
            <a:r>
              <a:rPr lang="en-IN" sz="1050" dirty="0"/>
              <a:t>(c =&gt;</a:t>
            </a:r>
          </a:p>
          <a:p>
            <a:r>
              <a:rPr lang="en-IN" sz="1050" dirty="0"/>
              <a:t>            {   </a:t>
            </a:r>
            <a:r>
              <a:rPr lang="en-IN" sz="1050" dirty="0" err="1"/>
              <a:t>c.SwaggerDoc</a:t>
            </a:r>
            <a:r>
              <a:rPr lang="en-IN" sz="1050" dirty="0"/>
              <a:t>("v1", new </a:t>
            </a:r>
            <a:r>
              <a:rPr lang="en-IN" sz="1050" dirty="0" err="1"/>
              <a:t>OpenApiInfo</a:t>
            </a:r>
            <a:r>
              <a:rPr lang="en-IN" sz="1050" dirty="0"/>
              <a:t> { Title = "Test01", Version = "v1" });</a:t>
            </a:r>
          </a:p>
          <a:p>
            <a:r>
              <a:rPr lang="en-IN" sz="1050" dirty="0"/>
              <a:t>                </a:t>
            </a:r>
            <a:r>
              <a:rPr lang="en-IN" sz="1050" dirty="0" err="1"/>
              <a:t>c.AddSecurityDefinition</a:t>
            </a:r>
            <a:r>
              <a:rPr lang="en-IN" sz="1050" dirty="0"/>
              <a:t>("Bearer", new </a:t>
            </a:r>
            <a:r>
              <a:rPr lang="en-IN" sz="1050" dirty="0" err="1"/>
              <a:t>OpenApiSecurityScheme</a:t>
            </a:r>
            <a:r>
              <a:rPr lang="en-IN" sz="1050" dirty="0"/>
              <a:t>()</a:t>
            </a:r>
          </a:p>
          <a:p>
            <a:r>
              <a:rPr lang="en-IN" sz="1050" dirty="0"/>
              <a:t>                {</a:t>
            </a:r>
          </a:p>
          <a:p>
            <a:r>
              <a:rPr lang="en-IN" sz="1050" dirty="0"/>
              <a:t>                    Name = "Authorization",</a:t>
            </a:r>
          </a:p>
          <a:p>
            <a:r>
              <a:rPr lang="en-IN" sz="1050" dirty="0"/>
              <a:t>                    Type = </a:t>
            </a:r>
            <a:r>
              <a:rPr lang="en-IN" sz="1050" dirty="0" err="1"/>
              <a:t>SecuritySchemeType.ApiKey</a:t>
            </a:r>
            <a:r>
              <a:rPr lang="en-IN" sz="1050" dirty="0"/>
              <a:t>,</a:t>
            </a:r>
          </a:p>
          <a:p>
            <a:r>
              <a:rPr lang="en-IN" sz="1050" dirty="0"/>
              <a:t>                    Scheme = "Bearer",</a:t>
            </a:r>
          </a:p>
          <a:p>
            <a:r>
              <a:rPr lang="en-IN" sz="1050" dirty="0"/>
              <a:t>                    </a:t>
            </a:r>
            <a:r>
              <a:rPr lang="en-IN" sz="1050" dirty="0" err="1"/>
              <a:t>BearerFormat</a:t>
            </a:r>
            <a:r>
              <a:rPr lang="en-IN" sz="1050" dirty="0"/>
              <a:t> = "JWT",</a:t>
            </a:r>
          </a:p>
          <a:p>
            <a:r>
              <a:rPr lang="en-IN" sz="1050" dirty="0"/>
              <a:t>                    In = </a:t>
            </a:r>
            <a:r>
              <a:rPr lang="en-IN" sz="1050" dirty="0" err="1"/>
              <a:t>ParameterLocation.Header</a:t>
            </a:r>
            <a:r>
              <a:rPr lang="en-IN" sz="1050" dirty="0"/>
              <a:t>,</a:t>
            </a:r>
          </a:p>
          <a:p>
            <a:r>
              <a:rPr lang="en-US" sz="1050" dirty="0"/>
              <a:t>                    Description = "JWT Authorization header using the Bearer scheme."</a:t>
            </a:r>
          </a:p>
          <a:p>
            <a:endParaRPr lang="en-IN" sz="1050" dirty="0"/>
          </a:p>
          <a:p>
            <a:r>
              <a:rPr lang="en-IN" sz="1050" dirty="0"/>
              <a:t>                });</a:t>
            </a:r>
          </a:p>
          <a:p>
            <a:r>
              <a:rPr lang="en-IN" sz="1050" dirty="0"/>
              <a:t>                </a:t>
            </a:r>
            <a:r>
              <a:rPr lang="en-IN" sz="1050" dirty="0" err="1"/>
              <a:t>c.AddSecurityRequirement</a:t>
            </a:r>
            <a:r>
              <a:rPr lang="en-IN" sz="1050" dirty="0"/>
              <a:t>(new </a:t>
            </a:r>
            <a:r>
              <a:rPr lang="en-IN" sz="1050" dirty="0" err="1"/>
              <a:t>OpenApiSecurityRequirement</a:t>
            </a:r>
            <a:endParaRPr lang="en-IN" sz="1050" dirty="0"/>
          </a:p>
          <a:p>
            <a:r>
              <a:rPr lang="en-IN" sz="1050" dirty="0"/>
              <a:t>                {</a:t>
            </a:r>
          </a:p>
          <a:p>
            <a:r>
              <a:rPr lang="en-IN" sz="1050" dirty="0"/>
              <a:t>                    {</a:t>
            </a:r>
          </a:p>
          <a:p>
            <a:r>
              <a:rPr lang="en-IN" sz="1050" dirty="0"/>
              <a:t>                          new </a:t>
            </a:r>
            <a:r>
              <a:rPr lang="en-IN" sz="1050" dirty="0" err="1"/>
              <a:t>OpenApiSecurityScheme</a:t>
            </a:r>
            <a:endParaRPr lang="en-IN" sz="1050" dirty="0"/>
          </a:p>
          <a:p>
            <a:r>
              <a:rPr lang="en-IN" sz="1050" dirty="0"/>
              <a:t>                          {</a:t>
            </a:r>
          </a:p>
          <a:p>
            <a:r>
              <a:rPr lang="en-IN" sz="1050" dirty="0"/>
              <a:t>                              Reference = new </a:t>
            </a:r>
            <a:r>
              <a:rPr lang="en-IN" sz="1050" dirty="0" err="1"/>
              <a:t>OpenApiReference</a:t>
            </a:r>
            <a:endParaRPr lang="en-IN" sz="1050" dirty="0"/>
          </a:p>
          <a:p>
            <a:r>
              <a:rPr lang="en-IN" sz="1050" dirty="0"/>
              <a:t>                              {</a:t>
            </a:r>
          </a:p>
          <a:p>
            <a:r>
              <a:rPr lang="en-IN" sz="1050" dirty="0"/>
              <a:t>                                  Type = </a:t>
            </a:r>
            <a:r>
              <a:rPr lang="en-IN" sz="1050" dirty="0" err="1"/>
              <a:t>ReferenceType.SecurityScheme</a:t>
            </a:r>
            <a:r>
              <a:rPr lang="en-IN" sz="1050" dirty="0"/>
              <a:t>,</a:t>
            </a:r>
          </a:p>
          <a:p>
            <a:r>
              <a:rPr lang="en-IN" sz="1050" dirty="0"/>
              <a:t>                                  Id = "Bearer"</a:t>
            </a:r>
          </a:p>
          <a:p>
            <a:r>
              <a:rPr lang="en-IN" sz="1050" dirty="0"/>
              <a:t>                              }</a:t>
            </a:r>
          </a:p>
          <a:p>
            <a:r>
              <a:rPr lang="en-IN" sz="1050" dirty="0"/>
              <a:t>                          },</a:t>
            </a:r>
          </a:p>
          <a:p>
            <a:r>
              <a:rPr lang="en-IN" sz="1050" dirty="0"/>
              <a:t>                         new string[] {}</a:t>
            </a:r>
          </a:p>
          <a:p>
            <a:r>
              <a:rPr lang="en-IN" sz="1050" dirty="0"/>
              <a:t>                    }</a:t>
            </a:r>
          </a:p>
          <a:p>
            <a:r>
              <a:rPr lang="en-IN" sz="1050" dirty="0"/>
              <a:t>                });</a:t>
            </a:r>
          </a:p>
          <a:p>
            <a:r>
              <a:rPr lang="en-IN" sz="1050" dirty="0"/>
              <a:t>            });</a:t>
            </a:r>
          </a:p>
          <a:p>
            <a:endParaRPr lang="en-IN" sz="1050" dirty="0"/>
          </a:p>
        </p:txBody>
      </p:sp>
      <p:sp>
        <p:nvSpPr>
          <p:cNvPr id="3" name="Rectangle 2"/>
          <p:cNvSpPr/>
          <p:nvPr/>
        </p:nvSpPr>
        <p:spPr>
          <a:xfrm>
            <a:off x="3276600" y="4419600"/>
            <a:ext cx="5336721" cy="1754326"/>
          </a:xfrm>
          <a:prstGeom prst="rect">
            <a:avLst/>
          </a:prstGeom>
        </p:spPr>
        <p:txBody>
          <a:bodyPr wrap="square">
            <a:spAutoFit/>
          </a:bodyPr>
          <a:lstStyle/>
          <a:p>
            <a:r>
              <a:rPr lang="en-IN" sz="1200" dirty="0">
                <a:solidFill>
                  <a:srgbClr val="0053B8"/>
                </a:solidFill>
                <a:latin typeface="IBMPlexMono"/>
              </a:rPr>
              <a:t>Bearer eyJhbGciOiJIUzI1NiIsInR5cCI6IkpXVCJ9.eyJzdWIiOiJQcm9kdWN0U2VydmljZUFjY2Vzc1NlcnZpY2UiLCJqdGkiOiIzZTM3NjYwZS1lNTgyLTQ2ZGYtOWMzYi1lOGUzZWM4NmMxYzkiLCJpYXQiOiIxOS0wNy0yMDIzIDEyOjU3OjQ3IiwiSWQiOiIxIiwiRmlyc3ROYW1lIjoiSW52ZW50b3J5IiwiTGFzdE5hbWUiOiJBZG1pbiIsIlVzZXJOYW1lIjoiSW52ZW50b3J5QWRtaW4iLCJFbWFpbCI6IkludmVudG9yeUFkbWluQGFiYy5jb20iLCJleHAiOjE2ODk4NTc4NjcsImlzcyI6InZpdGEiLCJhdWQiOiJwcm9kdWN0c3Bvc3RtZW50Y2xpZW50In0.kSVfPYFh-RnqR-kGGiJ5kvRiz6njJ1YwHnpKdBOM0mk</a:t>
            </a:r>
            <a:endParaRPr lang="en-IN" sz="1200" dirty="0"/>
          </a:p>
        </p:txBody>
      </p:sp>
    </p:spTree>
    <p:extLst>
      <p:ext uri="{BB962C8B-B14F-4D97-AF65-F5344CB8AC3E}">
        <p14:creationId xmlns:p14="http://schemas.microsoft.com/office/powerpoint/2010/main" val="10543977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6EB32D9-EB6F-4888-96B3-EFBCF3A5E91E}"/>
              </a:ext>
            </a:extLst>
          </p:cNvPr>
          <p:cNvSpPr>
            <a:spLocks noGrp="1"/>
          </p:cNvSpPr>
          <p:nvPr>
            <p:ph type="title"/>
          </p:nvPr>
        </p:nvSpPr>
        <p:spPr>
          <a:xfrm>
            <a:off x="1143000" y="27039"/>
            <a:ext cx="7143750" cy="549274"/>
          </a:xfrm>
        </p:spPr>
        <p:txBody>
          <a:bodyPr/>
          <a:lstStyle/>
          <a:p>
            <a:r>
              <a:rPr lang="en-IN" dirty="0">
                <a:hlinkClick r:id="rId2"/>
              </a:rPr>
              <a:t>https://jwt.io</a:t>
            </a:r>
            <a:r>
              <a:rPr lang="en-IN" dirty="0"/>
              <a:t> to check encoded key</a:t>
            </a:r>
          </a:p>
        </p:txBody>
      </p:sp>
      <p:pic>
        <p:nvPicPr>
          <p:cNvPr id="5" name="Content Placeholder 4">
            <a:extLst>
              <a:ext uri="{FF2B5EF4-FFF2-40B4-BE49-F238E27FC236}">
                <a16:creationId xmlns:a16="http://schemas.microsoft.com/office/drawing/2014/main" xmlns="" id="{2409F8FF-9257-4650-8911-27A876A6A211}"/>
              </a:ext>
            </a:extLst>
          </p:cNvPr>
          <p:cNvPicPr>
            <a:picLocks noGrp="1" noChangeAspect="1"/>
          </p:cNvPicPr>
          <p:nvPr>
            <p:ph idx="1"/>
          </p:nvPr>
        </p:nvPicPr>
        <p:blipFill>
          <a:blip r:embed="rId3"/>
          <a:stretch>
            <a:fillRect/>
          </a:stretch>
        </p:blipFill>
        <p:spPr>
          <a:xfrm>
            <a:off x="304800" y="1160264"/>
            <a:ext cx="8210550" cy="4618434"/>
          </a:xfrm>
        </p:spPr>
      </p:pic>
    </p:spTree>
    <p:extLst>
      <p:ext uri="{BB962C8B-B14F-4D97-AF65-F5344CB8AC3E}">
        <p14:creationId xmlns:p14="http://schemas.microsoft.com/office/powerpoint/2010/main" val="3118595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59CDB89-C8E1-4BFC-8CB6-195E4F95B72E}"/>
              </a:ext>
            </a:extLst>
          </p:cNvPr>
          <p:cNvSpPr>
            <a:spLocks noGrp="1"/>
          </p:cNvSpPr>
          <p:nvPr>
            <p:ph idx="1"/>
          </p:nvPr>
        </p:nvSpPr>
        <p:spPr>
          <a:xfrm>
            <a:off x="151646" y="189271"/>
            <a:ext cx="8230354" cy="5982929"/>
          </a:xfrm>
        </p:spPr>
        <p:txBody>
          <a:bodyPr/>
          <a:lstStyle/>
          <a:p>
            <a:pPr marL="0" indent="0" algn="ctr">
              <a:buNone/>
            </a:pPr>
            <a:r>
              <a:rPr lang="en-US" b="0" i="0" u="none" strike="noStrike" dirty="0">
                <a:solidFill>
                  <a:srgbClr val="171717"/>
                </a:solidFill>
                <a:effectLst/>
                <a:latin typeface="Segoe UI" panose="020B0502040204020203" pitchFamily="34" charset="0"/>
                <a:hlinkClick r:id="rId2"/>
              </a:rPr>
              <a:t>Cross Origin Resource Sharing</a:t>
            </a:r>
            <a:r>
              <a:rPr lang="en-US" b="0" i="0" dirty="0">
                <a:solidFill>
                  <a:srgbClr val="171717"/>
                </a:solidFill>
                <a:effectLst/>
                <a:latin typeface="Segoe UI" panose="020B0502040204020203" pitchFamily="34" charset="0"/>
              </a:rPr>
              <a:t> (CORS):</a:t>
            </a:r>
          </a:p>
          <a:p>
            <a:pPr marL="0" indent="0" algn="ctr">
              <a:buNone/>
            </a:pPr>
            <a:endParaRPr lang="en-US" b="0" i="0" dirty="0">
              <a:solidFill>
                <a:srgbClr val="171717"/>
              </a:solidFill>
              <a:effectLst/>
              <a:latin typeface="Segoe UI" panose="020B0502040204020203" pitchFamily="34" charset="0"/>
            </a:endParaRPr>
          </a:p>
          <a:p>
            <a:pPr algn="l">
              <a:buFont typeface="Arial" panose="020B0604020202020204" pitchFamily="34" charset="0"/>
              <a:buChar char="•"/>
            </a:pPr>
            <a:r>
              <a:rPr lang="en-US" b="0" i="0" dirty="0">
                <a:solidFill>
                  <a:srgbClr val="171717"/>
                </a:solidFill>
                <a:effectLst/>
                <a:latin typeface="Segoe UI" panose="020B0502040204020203" pitchFamily="34" charset="0"/>
              </a:rPr>
              <a:t>Is a W3C standard that allows a server to relax the same-origin policy.</a:t>
            </a:r>
          </a:p>
          <a:p>
            <a:pPr algn="l">
              <a:buFont typeface="Arial" panose="020B0604020202020204" pitchFamily="34" charset="0"/>
              <a:buChar char="•"/>
            </a:pPr>
            <a:r>
              <a:rPr lang="en-US" b="0" i="0" dirty="0">
                <a:solidFill>
                  <a:srgbClr val="171717"/>
                </a:solidFill>
                <a:effectLst/>
                <a:latin typeface="Segoe UI" panose="020B0502040204020203" pitchFamily="34" charset="0"/>
              </a:rPr>
              <a:t>Is </a:t>
            </a:r>
            <a:r>
              <a:rPr lang="en-US" b="1" i="0" dirty="0">
                <a:solidFill>
                  <a:srgbClr val="171717"/>
                </a:solidFill>
                <a:effectLst/>
                <a:latin typeface="Segoe UI" panose="020B0502040204020203" pitchFamily="34" charset="0"/>
              </a:rPr>
              <a:t>not</a:t>
            </a:r>
            <a:r>
              <a:rPr lang="en-US" b="0" i="0" dirty="0">
                <a:solidFill>
                  <a:srgbClr val="171717"/>
                </a:solidFill>
                <a:effectLst/>
                <a:latin typeface="Segoe UI" panose="020B0502040204020203" pitchFamily="34" charset="0"/>
              </a:rPr>
              <a:t> a security feature, CORS relaxes security. An API is not safer by allowing CORS. For more information, see </a:t>
            </a:r>
            <a:r>
              <a:rPr lang="en-US" b="0" i="0" u="none" strike="noStrike" dirty="0">
                <a:solidFill>
                  <a:srgbClr val="171717"/>
                </a:solidFill>
                <a:effectLst/>
                <a:latin typeface="Segoe UI" panose="020B0502040204020203" pitchFamily="34" charset="0"/>
                <a:hlinkClick r:id="rId3"/>
              </a:rPr>
              <a:t>How CORS works</a:t>
            </a:r>
            <a:r>
              <a:rPr lang="en-US" b="0" i="0" dirty="0">
                <a:solidFill>
                  <a:srgbClr val="171717"/>
                </a:solidFill>
                <a:effectLst/>
                <a:latin typeface="Segoe UI" panose="020B0502040204020203" pitchFamily="34" charset="0"/>
              </a:rPr>
              <a:t>.</a:t>
            </a:r>
          </a:p>
          <a:p>
            <a:pPr algn="l">
              <a:buFont typeface="Arial" panose="020B0604020202020204" pitchFamily="34" charset="0"/>
              <a:buChar char="•"/>
            </a:pPr>
            <a:r>
              <a:rPr lang="en-US" b="0" i="0" dirty="0">
                <a:solidFill>
                  <a:srgbClr val="171717"/>
                </a:solidFill>
                <a:effectLst/>
                <a:latin typeface="Segoe UI" panose="020B0502040204020203" pitchFamily="34" charset="0"/>
              </a:rPr>
              <a:t>Allows a server to explicitly allow some cross-origin requests while rejecting others.</a:t>
            </a:r>
          </a:p>
          <a:p>
            <a:pPr algn="l">
              <a:buFont typeface="Arial" panose="020B0604020202020204" pitchFamily="34" charset="0"/>
              <a:buChar char="•"/>
            </a:pPr>
            <a:r>
              <a:rPr lang="en-US" b="0" i="0" dirty="0">
                <a:solidFill>
                  <a:srgbClr val="171717"/>
                </a:solidFill>
                <a:effectLst/>
                <a:latin typeface="Segoe UI" panose="020B0502040204020203" pitchFamily="34" charset="0"/>
              </a:rPr>
              <a:t>Is safer and more flexible than earlier techniques, such as </a:t>
            </a:r>
            <a:r>
              <a:rPr lang="en-US" b="0" i="0" u="none" strike="noStrike" dirty="0">
                <a:solidFill>
                  <a:srgbClr val="171717"/>
                </a:solidFill>
                <a:effectLst/>
                <a:latin typeface="Segoe UI" panose="020B0502040204020203" pitchFamily="34" charset="0"/>
                <a:hlinkClick r:id="rId4"/>
              </a:rPr>
              <a:t>JSONP</a:t>
            </a:r>
            <a:r>
              <a:rPr lang="en-US" b="0" i="0" dirty="0">
                <a:solidFill>
                  <a:srgbClr val="171717"/>
                </a:solidFill>
                <a:effectLst/>
                <a:latin typeface="Segoe UI" panose="020B0502040204020203" pitchFamily="34" charset="0"/>
              </a:rPr>
              <a:t>.</a:t>
            </a:r>
          </a:p>
          <a:p>
            <a:pPr marL="0" indent="0">
              <a:buNone/>
            </a:pPr>
            <a:r>
              <a:rPr lang="en-US" b="1" dirty="0"/>
              <a:t>Enable CORS</a:t>
            </a:r>
          </a:p>
          <a:p>
            <a:pPr marL="0" indent="0">
              <a:buNone/>
            </a:pPr>
            <a:r>
              <a:rPr lang="en-US" dirty="0"/>
              <a:t>There are three ways to enable CORS:</a:t>
            </a:r>
          </a:p>
          <a:p>
            <a:r>
              <a:rPr lang="en-US" dirty="0"/>
              <a:t>In middleware using a named policy or default policy.</a:t>
            </a:r>
          </a:p>
          <a:p>
            <a:r>
              <a:rPr lang="en-US" dirty="0"/>
              <a:t>Using endpoint routing.</a:t>
            </a:r>
          </a:p>
          <a:p>
            <a:r>
              <a:rPr lang="en-US" dirty="0"/>
              <a:t>With the [</a:t>
            </a:r>
            <a:r>
              <a:rPr lang="en-US" dirty="0" err="1"/>
              <a:t>EnableCors</a:t>
            </a:r>
            <a:r>
              <a:rPr lang="en-US" dirty="0"/>
              <a:t>] attribute.</a:t>
            </a:r>
          </a:p>
          <a:p>
            <a:endParaRPr lang="en-IN" dirty="0"/>
          </a:p>
        </p:txBody>
      </p:sp>
      <p:sp>
        <p:nvSpPr>
          <p:cNvPr id="4" name="Rectangle 1">
            <a:extLst>
              <a:ext uri="{FF2B5EF4-FFF2-40B4-BE49-F238E27FC236}">
                <a16:creationId xmlns:a16="http://schemas.microsoft.com/office/drawing/2014/main" xmlns="" id="{7B353501-770C-46E5-8709-95C3AF69C9AF}"/>
              </a:ext>
            </a:extLst>
          </p:cNvPr>
          <p:cNvSpPr>
            <a:spLocks noChangeArrowheads="1"/>
          </p:cNvSpPr>
          <p:nvPr/>
        </p:nvSpPr>
        <p:spPr bwMode="auto">
          <a:xfrm>
            <a:off x="176227" y="5464072"/>
            <a:ext cx="8739173" cy="838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Using the </a:t>
            </a:r>
            <a:r>
              <a:rPr kumimoji="0" lang="en-US" altLang="en-US" sz="12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hlinkClick r:id="rId5"/>
              </a:rPr>
              <a:t>[</a:t>
            </a:r>
            <a:r>
              <a:rPr kumimoji="0" lang="en-US" altLang="en-US" sz="1200" b="0" i="0" u="none" strike="noStrike" cap="none" normalizeH="0" baseline="0" dirty="0" err="1">
                <a:ln>
                  <a:noFill/>
                </a:ln>
                <a:solidFill>
                  <a:srgbClr val="171717"/>
                </a:solidFill>
                <a:effectLst/>
                <a:latin typeface="Segoe UI" panose="020B0502040204020203" pitchFamily="34" charset="0"/>
                <a:cs typeface="Segoe UI" panose="020B0502040204020203" pitchFamily="34" charset="0"/>
                <a:hlinkClick r:id="rId5"/>
              </a:rPr>
              <a:t>EnableCors</a:t>
            </a:r>
            <a:r>
              <a:rPr kumimoji="0" lang="en-US" altLang="en-US" sz="12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hlinkClick r:id="rId5"/>
              </a:rPr>
              <a:t>]</a:t>
            </a:r>
            <a:r>
              <a:rPr kumimoji="0" lang="en-US" altLang="en-US" sz="12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attribute with a named policy provides the finest control in limiting endpoints that support CORS.</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Warning</a:t>
            </a:r>
            <a:endParaRPr kumimoji="0" lang="en-US" altLang="en-US" sz="12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err="1">
                <a:ln>
                  <a:noFill/>
                </a:ln>
                <a:solidFill>
                  <a:srgbClr val="171717"/>
                </a:solidFill>
                <a:effectLst/>
                <a:latin typeface="Segoe UI" panose="020B0502040204020203" pitchFamily="34" charset="0"/>
                <a:cs typeface="Segoe UI" panose="020B0502040204020203" pitchFamily="34" charset="0"/>
                <a:hlinkClick r:id="rId6"/>
              </a:rPr>
              <a:t>UseCors</a:t>
            </a:r>
            <a:r>
              <a:rPr kumimoji="0" lang="en-US" altLang="en-US" sz="12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must be called in the correct order. For more information, see </a:t>
            </a:r>
            <a:r>
              <a:rPr kumimoji="0" lang="en-US" altLang="en-US" sz="1200" b="1" i="0" u="sng" strike="noStrike" cap="none" normalizeH="0" baseline="0" dirty="0">
                <a:ln>
                  <a:noFill/>
                </a:ln>
                <a:solidFill>
                  <a:srgbClr val="171717"/>
                </a:solidFill>
                <a:effectLst/>
                <a:latin typeface="Segoe UI" panose="020B0502040204020203" pitchFamily="34" charset="0"/>
                <a:cs typeface="Segoe UI" panose="020B0502040204020203" pitchFamily="34" charset="0"/>
                <a:hlinkClick r:id="rId7"/>
              </a:rPr>
              <a:t>Middleware order</a:t>
            </a:r>
            <a:r>
              <a:rPr kumimoji="0" lang="en-US" altLang="en-US" sz="12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For example, </a:t>
            </a:r>
            <a:r>
              <a:rPr kumimoji="0" lang="en-US" altLang="en-US" sz="900" b="0" i="0" u="none" strike="noStrike" cap="none" normalizeH="0" baseline="0" dirty="0" err="1">
                <a:ln>
                  <a:noFill/>
                </a:ln>
                <a:solidFill>
                  <a:srgbClr val="171717"/>
                </a:solidFill>
                <a:effectLst/>
                <a:latin typeface="SFMono-Regular"/>
                <a:cs typeface="Segoe UI" panose="020B0502040204020203" pitchFamily="34" charset="0"/>
              </a:rPr>
              <a:t>UseCors</a:t>
            </a:r>
            <a:r>
              <a:rPr kumimoji="0" lang="en-US" altLang="en-US" sz="12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must be called before </a:t>
            </a:r>
            <a:r>
              <a:rPr kumimoji="0" lang="en-US" altLang="en-US" sz="1200" b="1" i="0" u="none" strike="noStrike" cap="none" normalizeH="0" baseline="0" dirty="0" err="1">
                <a:ln>
                  <a:noFill/>
                </a:ln>
                <a:solidFill>
                  <a:srgbClr val="171717"/>
                </a:solidFill>
                <a:effectLst/>
                <a:latin typeface="Segoe UI" panose="020B0502040204020203" pitchFamily="34" charset="0"/>
                <a:cs typeface="Segoe UI" panose="020B0502040204020203" pitchFamily="34" charset="0"/>
                <a:hlinkClick r:id="rId8"/>
              </a:rPr>
              <a:t>UseResponseCaching</a:t>
            </a:r>
            <a:r>
              <a:rPr kumimoji="0" lang="en-US" altLang="en-US" sz="12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when using </a:t>
            </a:r>
            <a:r>
              <a:rPr kumimoji="0" lang="en-US" altLang="en-US" sz="900" b="0" i="0" u="none" strike="noStrike" cap="none" normalizeH="0" baseline="0" dirty="0" err="1">
                <a:ln>
                  <a:noFill/>
                </a:ln>
                <a:solidFill>
                  <a:srgbClr val="171717"/>
                </a:solidFill>
                <a:effectLst/>
                <a:latin typeface="SFMono-Regular"/>
                <a:cs typeface="Segoe UI" panose="020B0502040204020203" pitchFamily="34" charset="0"/>
              </a:rPr>
              <a:t>UseResponseCaching</a:t>
            </a:r>
            <a:r>
              <a:rPr kumimoji="0" lang="en-US" altLang="en-US" sz="12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990174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66513D5-B917-4FF2-ADA3-5F418A136227}"/>
              </a:ext>
            </a:extLst>
          </p:cNvPr>
          <p:cNvSpPr>
            <a:spLocks noGrp="1"/>
          </p:cNvSpPr>
          <p:nvPr>
            <p:ph type="title"/>
          </p:nvPr>
        </p:nvSpPr>
        <p:spPr>
          <a:xfrm>
            <a:off x="1143000" y="27039"/>
            <a:ext cx="7296150" cy="473074"/>
          </a:xfrm>
        </p:spPr>
        <p:txBody>
          <a:bodyPr>
            <a:normAutofit fontScale="90000"/>
          </a:bodyPr>
          <a:lstStyle/>
          <a:p>
            <a:r>
              <a:rPr lang="en-US" dirty="0"/>
              <a:t>CORS with named policy and middleware</a:t>
            </a:r>
            <a:endParaRPr lang="en-IN" dirty="0"/>
          </a:p>
        </p:txBody>
      </p:sp>
      <p:sp>
        <p:nvSpPr>
          <p:cNvPr id="3" name="Content Placeholder 2">
            <a:extLst>
              <a:ext uri="{FF2B5EF4-FFF2-40B4-BE49-F238E27FC236}">
                <a16:creationId xmlns:a16="http://schemas.microsoft.com/office/drawing/2014/main" xmlns="" id="{0B0D5DAB-7BA8-4039-85AC-0C3E53385954}"/>
              </a:ext>
            </a:extLst>
          </p:cNvPr>
          <p:cNvSpPr>
            <a:spLocks noGrp="1"/>
          </p:cNvSpPr>
          <p:nvPr>
            <p:ph idx="1"/>
          </p:nvPr>
        </p:nvSpPr>
        <p:spPr>
          <a:xfrm>
            <a:off x="1048364" y="421507"/>
            <a:ext cx="8173064" cy="685800"/>
          </a:xfrm>
        </p:spPr>
        <p:txBody>
          <a:bodyPr/>
          <a:lstStyle/>
          <a:p>
            <a:r>
              <a:rPr lang="en-US" dirty="0"/>
              <a:t>CORS Middleware handles cross-origin requests. The following code applies a CORS policy to all the app's endpoints with the specified origins:</a:t>
            </a:r>
            <a:endParaRPr lang="en-IN" dirty="0"/>
          </a:p>
        </p:txBody>
      </p:sp>
      <p:sp>
        <p:nvSpPr>
          <p:cNvPr id="13" name="TextBox 12">
            <a:extLst>
              <a:ext uri="{FF2B5EF4-FFF2-40B4-BE49-F238E27FC236}">
                <a16:creationId xmlns:a16="http://schemas.microsoft.com/office/drawing/2014/main" xmlns="" id="{E2A4CEBE-4590-42B0-ADD4-F3EEC05F6B1D}"/>
              </a:ext>
            </a:extLst>
          </p:cNvPr>
          <p:cNvSpPr txBox="1"/>
          <p:nvPr/>
        </p:nvSpPr>
        <p:spPr>
          <a:xfrm>
            <a:off x="-152400" y="1028701"/>
            <a:ext cx="5422490" cy="5632311"/>
          </a:xfrm>
          <a:prstGeom prst="rect">
            <a:avLst/>
          </a:prstGeom>
          <a:noFill/>
        </p:spPr>
        <p:txBody>
          <a:bodyPr wrap="square">
            <a:spAutoFit/>
          </a:bodyPr>
          <a:lstStyle/>
          <a:p>
            <a:r>
              <a:rPr lang="en-IN" dirty="0"/>
              <a:t>public class </a:t>
            </a:r>
            <a:r>
              <a:rPr lang="en-IN" dirty="0" err="1"/>
              <a:t>Startup</a:t>
            </a:r>
            <a:endParaRPr lang="en-IN" dirty="0"/>
          </a:p>
          <a:p>
            <a:r>
              <a:rPr lang="en-IN" dirty="0"/>
              <a:t>{</a:t>
            </a:r>
          </a:p>
          <a:p>
            <a:r>
              <a:rPr lang="en-IN" dirty="0"/>
              <a:t>    </a:t>
            </a:r>
            <a:r>
              <a:rPr lang="en-IN" dirty="0" err="1"/>
              <a:t>readonly</a:t>
            </a:r>
            <a:r>
              <a:rPr lang="en-IN" dirty="0"/>
              <a:t> string </a:t>
            </a:r>
            <a:r>
              <a:rPr lang="en-IN" dirty="0" err="1"/>
              <a:t>MyAllowSpecificOrigins</a:t>
            </a:r>
            <a:r>
              <a:rPr lang="en-IN" dirty="0"/>
              <a:t> = "_</a:t>
            </a:r>
            <a:r>
              <a:rPr lang="en-IN" dirty="0" err="1"/>
              <a:t>myAllowSpecificOrigins</a:t>
            </a:r>
            <a:r>
              <a:rPr lang="en-IN" dirty="0"/>
              <a:t>";</a:t>
            </a:r>
          </a:p>
          <a:p>
            <a:endParaRPr lang="en-IN" dirty="0"/>
          </a:p>
          <a:p>
            <a:r>
              <a:rPr lang="en-IN" dirty="0"/>
              <a:t>    public void </a:t>
            </a:r>
            <a:r>
              <a:rPr lang="en-IN" dirty="0" err="1"/>
              <a:t>ConfigureServices</a:t>
            </a:r>
            <a:r>
              <a:rPr lang="en-IN" dirty="0"/>
              <a:t>(</a:t>
            </a:r>
            <a:r>
              <a:rPr lang="en-IN" dirty="0" err="1"/>
              <a:t>IServiceCollection</a:t>
            </a:r>
            <a:r>
              <a:rPr lang="en-IN" dirty="0"/>
              <a:t> services)</a:t>
            </a:r>
          </a:p>
          <a:p>
            <a:r>
              <a:rPr lang="en-IN" dirty="0"/>
              <a:t>    {</a:t>
            </a:r>
          </a:p>
          <a:p>
            <a:r>
              <a:rPr lang="en-IN" dirty="0"/>
              <a:t>        </a:t>
            </a:r>
            <a:r>
              <a:rPr lang="en-IN" dirty="0" err="1"/>
              <a:t>services.AddCors</a:t>
            </a:r>
            <a:r>
              <a:rPr lang="en-IN" dirty="0"/>
              <a:t>(options =&gt;</a:t>
            </a:r>
          </a:p>
          <a:p>
            <a:r>
              <a:rPr lang="en-IN" dirty="0"/>
              <a:t>        {</a:t>
            </a:r>
          </a:p>
          <a:p>
            <a:r>
              <a:rPr lang="en-IN" dirty="0"/>
              <a:t>            </a:t>
            </a:r>
            <a:r>
              <a:rPr lang="en-IN" dirty="0" err="1"/>
              <a:t>options.AddPolicy</a:t>
            </a:r>
            <a:r>
              <a:rPr lang="en-IN" dirty="0"/>
              <a:t>(name: </a:t>
            </a:r>
            <a:r>
              <a:rPr lang="en-IN" dirty="0" err="1"/>
              <a:t>MyAllowSpecificOrigins</a:t>
            </a:r>
            <a:r>
              <a:rPr lang="en-IN" dirty="0"/>
              <a:t>,</a:t>
            </a:r>
          </a:p>
          <a:p>
            <a:r>
              <a:rPr lang="en-IN" dirty="0"/>
              <a:t>                              builder =&gt;</a:t>
            </a:r>
          </a:p>
          <a:p>
            <a:r>
              <a:rPr lang="en-IN" dirty="0"/>
              <a:t>                              {             </a:t>
            </a:r>
            <a:r>
              <a:rPr lang="en-IN" dirty="0" err="1"/>
              <a:t>builder.WithOrigins</a:t>
            </a:r>
            <a:r>
              <a:rPr lang="en-IN" dirty="0"/>
              <a:t>("http://example.com",</a:t>
            </a:r>
          </a:p>
          <a:p>
            <a:r>
              <a:rPr lang="en-IN" dirty="0"/>
              <a:t>                                                      "http://www.contoso.com");</a:t>
            </a:r>
          </a:p>
          <a:p>
            <a:r>
              <a:rPr lang="en-IN" dirty="0"/>
              <a:t>                              });</a:t>
            </a:r>
          </a:p>
          <a:p>
            <a:r>
              <a:rPr lang="en-IN" dirty="0"/>
              <a:t>        });         // </a:t>
            </a:r>
            <a:r>
              <a:rPr lang="en-IN" dirty="0" err="1"/>
              <a:t>services.AddResponseCaching</a:t>
            </a:r>
            <a:r>
              <a:rPr lang="en-IN" dirty="0"/>
              <a:t>();</a:t>
            </a:r>
          </a:p>
          <a:p>
            <a:r>
              <a:rPr lang="en-IN" dirty="0"/>
              <a:t>        </a:t>
            </a:r>
            <a:r>
              <a:rPr lang="en-IN" dirty="0" err="1"/>
              <a:t>services.AddControllers</a:t>
            </a:r>
            <a:r>
              <a:rPr lang="en-IN" dirty="0"/>
              <a:t>();</a:t>
            </a:r>
          </a:p>
          <a:p>
            <a:r>
              <a:rPr lang="en-IN" dirty="0"/>
              <a:t>    }</a:t>
            </a:r>
          </a:p>
        </p:txBody>
      </p:sp>
      <p:sp>
        <p:nvSpPr>
          <p:cNvPr id="15" name="TextBox 14">
            <a:extLst>
              <a:ext uri="{FF2B5EF4-FFF2-40B4-BE49-F238E27FC236}">
                <a16:creationId xmlns:a16="http://schemas.microsoft.com/office/drawing/2014/main" xmlns="" id="{42D7554A-9369-4E2C-8F5B-47275405D9A0}"/>
              </a:ext>
            </a:extLst>
          </p:cNvPr>
          <p:cNvSpPr txBox="1"/>
          <p:nvPr/>
        </p:nvSpPr>
        <p:spPr>
          <a:xfrm>
            <a:off x="4634681" y="894581"/>
            <a:ext cx="4611328" cy="6186309"/>
          </a:xfrm>
          <a:prstGeom prst="rect">
            <a:avLst/>
          </a:prstGeom>
          <a:noFill/>
        </p:spPr>
        <p:txBody>
          <a:bodyPr wrap="square">
            <a:spAutoFit/>
          </a:bodyPr>
          <a:lstStyle/>
          <a:p>
            <a:endParaRPr lang="en-IN" dirty="0"/>
          </a:p>
          <a:p>
            <a:r>
              <a:rPr lang="en-IN" dirty="0"/>
              <a:t>    public void Configure(</a:t>
            </a:r>
            <a:r>
              <a:rPr lang="en-IN" dirty="0" err="1"/>
              <a:t>IApplicationBuilder</a:t>
            </a:r>
            <a:r>
              <a:rPr lang="en-IN" dirty="0"/>
              <a:t> app, </a:t>
            </a:r>
            <a:r>
              <a:rPr lang="en-IN" dirty="0" err="1"/>
              <a:t>IWebHostEnvironment</a:t>
            </a:r>
            <a:r>
              <a:rPr lang="en-IN" dirty="0"/>
              <a:t> env)</a:t>
            </a:r>
          </a:p>
          <a:p>
            <a:r>
              <a:rPr lang="en-IN" dirty="0"/>
              <a:t>    {</a:t>
            </a:r>
          </a:p>
          <a:p>
            <a:r>
              <a:rPr lang="en-IN" dirty="0"/>
              <a:t>        if (</a:t>
            </a:r>
            <a:r>
              <a:rPr lang="en-IN" dirty="0" err="1"/>
              <a:t>env.IsDevelopment</a:t>
            </a:r>
            <a:r>
              <a:rPr lang="en-IN" dirty="0"/>
              <a:t>())</a:t>
            </a:r>
          </a:p>
          <a:p>
            <a:r>
              <a:rPr lang="en-IN" dirty="0"/>
              <a:t>        {</a:t>
            </a:r>
          </a:p>
          <a:p>
            <a:r>
              <a:rPr lang="en-IN" dirty="0"/>
              <a:t>            </a:t>
            </a:r>
            <a:r>
              <a:rPr lang="en-IN" dirty="0" err="1"/>
              <a:t>app.UseDeveloperExceptionPage</a:t>
            </a:r>
            <a:r>
              <a:rPr lang="en-IN" dirty="0"/>
              <a:t>();</a:t>
            </a:r>
          </a:p>
          <a:p>
            <a:r>
              <a:rPr lang="en-IN" dirty="0"/>
              <a:t>        }</a:t>
            </a:r>
          </a:p>
          <a:p>
            <a:r>
              <a:rPr lang="en-IN" dirty="0"/>
              <a:t>        </a:t>
            </a:r>
            <a:r>
              <a:rPr lang="en-IN" dirty="0" err="1"/>
              <a:t>app.UseHttpsRedirection</a:t>
            </a:r>
            <a:r>
              <a:rPr lang="en-IN" dirty="0"/>
              <a:t>();</a:t>
            </a:r>
          </a:p>
          <a:p>
            <a:r>
              <a:rPr lang="en-IN" dirty="0"/>
              <a:t>        </a:t>
            </a:r>
            <a:r>
              <a:rPr lang="en-IN" dirty="0" err="1"/>
              <a:t>app.UseStaticFiles</a:t>
            </a:r>
            <a:r>
              <a:rPr lang="en-IN" dirty="0"/>
              <a:t>();</a:t>
            </a:r>
          </a:p>
          <a:p>
            <a:r>
              <a:rPr lang="en-IN" dirty="0"/>
              <a:t>        </a:t>
            </a:r>
            <a:r>
              <a:rPr lang="en-IN" dirty="0" err="1"/>
              <a:t>app.UseRouting</a:t>
            </a:r>
            <a:r>
              <a:rPr lang="en-IN" dirty="0"/>
              <a:t>();</a:t>
            </a:r>
          </a:p>
          <a:p>
            <a:endParaRPr lang="en-IN" dirty="0"/>
          </a:p>
          <a:p>
            <a:r>
              <a:rPr lang="en-IN" dirty="0"/>
              <a:t>        </a:t>
            </a:r>
            <a:r>
              <a:rPr lang="en-IN" dirty="0" err="1"/>
              <a:t>app.UseCors</a:t>
            </a:r>
            <a:r>
              <a:rPr lang="en-IN" dirty="0"/>
              <a:t>(</a:t>
            </a:r>
            <a:r>
              <a:rPr lang="en-IN" dirty="0" err="1"/>
              <a:t>MyAllowSpecificOrigins</a:t>
            </a:r>
            <a:r>
              <a:rPr lang="en-IN" dirty="0"/>
              <a:t>);</a:t>
            </a:r>
          </a:p>
          <a:p>
            <a:r>
              <a:rPr lang="en-IN" dirty="0"/>
              <a:t>        // </a:t>
            </a:r>
            <a:r>
              <a:rPr lang="en-IN" dirty="0" err="1"/>
              <a:t>app.UseResponseCaching</a:t>
            </a:r>
            <a:r>
              <a:rPr lang="en-IN" dirty="0"/>
              <a:t>();</a:t>
            </a:r>
          </a:p>
          <a:p>
            <a:r>
              <a:rPr lang="en-IN" dirty="0"/>
              <a:t>        </a:t>
            </a:r>
            <a:r>
              <a:rPr lang="en-IN" dirty="0" err="1"/>
              <a:t>app.UseAuthorization</a:t>
            </a:r>
            <a:r>
              <a:rPr lang="en-IN" dirty="0"/>
              <a:t>();</a:t>
            </a:r>
          </a:p>
          <a:p>
            <a:endParaRPr lang="en-IN" dirty="0"/>
          </a:p>
          <a:p>
            <a:r>
              <a:rPr lang="en-IN" dirty="0"/>
              <a:t>        </a:t>
            </a:r>
            <a:r>
              <a:rPr lang="en-IN" dirty="0" err="1"/>
              <a:t>app.UseEndpoints</a:t>
            </a:r>
            <a:r>
              <a:rPr lang="en-IN" dirty="0"/>
              <a:t>(endpoints =&gt;</a:t>
            </a:r>
          </a:p>
          <a:p>
            <a:r>
              <a:rPr lang="en-IN" dirty="0"/>
              <a:t>        {</a:t>
            </a:r>
          </a:p>
          <a:p>
            <a:r>
              <a:rPr lang="en-IN" dirty="0"/>
              <a:t>            </a:t>
            </a:r>
            <a:r>
              <a:rPr lang="en-IN" dirty="0" err="1"/>
              <a:t>endpoints.MapControllers</a:t>
            </a:r>
            <a:r>
              <a:rPr lang="en-IN" dirty="0"/>
              <a:t>();</a:t>
            </a:r>
          </a:p>
          <a:p>
            <a:r>
              <a:rPr lang="en-IN" dirty="0"/>
              <a:t>        });</a:t>
            </a:r>
          </a:p>
          <a:p>
            <a:r>
              <a:rPr lang="en-IN" dirty="0"/>
              <a:t>    }</a:t>
            </a:r>
          </a:p>
          <a:p>
            <a:r>
              <a:rPr lang="en-IN" dirty="0"/>
              <a:t>}</a:t>
            </a:r>
          </a:p>
        </p:txBody>
      </p:sp>
    </p:spTree>
    <p:extLst>
      <p:ext uri="{BB962C8B-B14F-4D97-AF65-F5344CB8AC3E}">
        <p14:creationId xmlns:p14="http://schemas.microsoft.com/office/powerpoint/2010/main" val="9460970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CCE95EF-253B-4ED5-8C98-18E68FA07929}"/>
              </a:ext>
            </a:extLst>
          </p:cNvPr>
          <p:cNvSpPr>
            <a:spLocks noGrp="1"/>
          </p:cNvSpPr>
          <p:nvPr>
            <p:ph idx="1"/>
          </p:nvPr>
        </p:nvSpPr>
        <p:spPr>
          <a:xfrm>
            <a:off x="4916" y="838200"/>
            <a:ext cx="8986684" cy="6176963"/>
          </a:xfrm>
        </p:spPr>
        <p:txBody>
          <a:bodyPr/>
          <a:lstStyle/>
          <a:p>
            <a:pPr marL="0" indent="0">
              <a:buNone/>
            </a:pPr>
            <a:r>
              <a:rPr lang="en-US" dirty="0"/>
              <a:t>The preceding code:</a:t>
            </a:r>
          </a:p>
          <a:p>
            <a:pPr marL="0" indent="0">
              <a:buNone/>
            </a:pPr>
            <a:r>
              <a:rPr lang="en-US" dirty="0"/>
              <a:t>Sets the policy name to _</a:t>
            </a:r>
            <a:r>
              <a:rPr lang="en-US" dirty="0" err="1"/>
              <a:t>myAllowSpecificOrigins</a:t>
            </a:r>
            <a:r>
              <a:rPr lang="en-US" dirty="0"/>
              <a:t>. </a:t>
            </a:r>
          </a:p>
          <a:p>
            <a:pPr marL="0" indent="0">
              <a:buNone/>
            </a:pPr>
            <a:r>
              <a:rPr lang="en-US" dirty="0"/>
              <a:t>The policy name is arbitrary.</a:t>
            </a:r>
          </a:p>
          <a:p>
            <a:pPr marL="0" indent="0">
              <a:buNone/>
            </a:pPr>
            <a:r>
              <a:rPr lang="en-US" dirty="0"/>
              <a:t>Calls the </a:t>
            </a:r>
            <a:r>
              <a:rPr lang="en-US" dirty="0" err="1"/>
              <a:t>UseCors</a:t>
            </a:r>
            <a:r>
              <a:rPr lang="en-US" dirty="0"/>
              <a:t> extension method and specifies the _</a:t>
            </a:r>
            <a:r>
              <a:rPr lang="en-US" dirty="0" err="1"/>
              <a:t>myAllowSpecificOrigins</a:t>
            </a:r>
            <a:r>
              <a:rPr lang="en-US" dirty="0"/>
              <a:t> CORS policy. </a:t>
            </a:r>
          </a:p>
          <a:p>
            <a:pPr marL="0" indent="0">
              <a:buNone/>
            </a:pPr>
            <a:r>
              <a:rPr lang="en-US" dirty="0" err="1"/>
              <a:t>UseCors</a:t>
            </a:r>
            <a:r>
              <a:rPr lang="en-US" dirty="0"/>
              <a:t> adds the CORS middleware. </a:t>
            </a:r>
          </a:p>
          <a:p>
            <a:pPr marL="0" indent="0">
              <a:buNone/>
            </a:pPr>
            <a:r>
              <a:rPr lang="en-US" dirty="0"/>
              <a:t>The call to </a:t>
            </a:r>
            <a:r>
              <a:rPr lang="en-US" dirty="0" err="1"/>
              <a:t>UseCors</a:t>
            </a:r>
            <a:r>
              <a:rPr lang="en-US" dirty="0"/>
              <a:t> must be placed </a:t>
            </a:r>
            <a:r>
              <a:rPr lang="en-US" dirty="0">
                <a:highlight>
                  <a:srgbClr val="FFFF00"/>
                </a:highlight>
              </a:rPr>
              <a:t>after</a:t>
            </a:r>
            <a:r>
              <a:rPr lang="en-US" dirty="0"/>
              <a:t> </a:t>
            </a:r>
            <a:r>
              <a:rPr lang="en-US" dirty="0" err="1"/>
              <a:t>UseRouting</a:t>
            </a:r>
            <a:r>
              <a:rPr lang="en-US" dirty="0"/>
              <a:t>, but before </a:t>
            </a:r>
            <a:r>
              <a:rPr lang="en-US" dirty="0" err="1"/>
              <a:t>UseAuthorization</a:t>
            </a:r>
            <a:r>
              <a:rPr lang="en-US" dirty="0"/>
              <a:t>. </a:t>
            </a:r>
          </a:p>
          <a:p>
            <a:pPr marL="0" indent="0">
              <a:buNone/>
            </a:pPr>
            <a:r>
              <a:rPr lang="en-US" dirty="0"/>
              <a:t>For more information, see Middleware order.</a:t>
            </a:r>
          </a:p>
          <a:p>
            <a:pPr marL="0" indent="0">
              <a:buNone/>
            </a:pPr>
            <a:r>
              <a:rPr lang="en-US" dirty="0"/>
              <a:t>Calls </a:t>
            </a:r>
            <a:r>
              <a:rPr lang="en-US" dirty="0" err="1"/>
              <a:t>AddCors</a:t>
            </a:r>
            <a:r>
              <a:rPr lang="en-US" dirty="0"/>
              <a:t> with a lambda expression. </a:t>
            </a:r>
          </a:p>
          <a:p>
            <a:pPr marL="0" indent="0">
              <a:buNone/>
            </a:pPr>
            <a:r>
              <a:rPr lang="en-US" dirty="0"/>
              <a:t>The lambda takes a </a:t>
            </a:r>
            <a:r>
              <a:rPr lang="en-US" dirty="0" err="1"/>
              <a:t>CorsPolicyBuilder</a:t>
            </a:r>
            <a:r>
              <a:rPr lang="en-US" dirty="0"/>
              <a:t> object. </a:t>
            </a:r>
          </a:p>
          <a:p>
            <a:pPr marL="0" indent="0">
              <a:buNone/>
            </a:pPr>
            <a:r>
              <a:rPr lang="en-US" dirty="0"/>
              <a:t>Enables the _</a:t>
            </a:r>
            <a:r>
              <a:rPr lang="en-US" dirty="0" err="1"/>
              <a:t>myAllowSpecificOrigins</a:t>
            </a:r>
            <a:r>
              <a:rPr lang="en-US" dirty="0"/>
              <a:t> CORS policy for all controller endpoints.</a:t>
            </a:r>
          </a:p>
          <a:p>
            <a:pPr marL="0" indent="0">
              <a:buNone/>
            </a:pPr>
            <a:r>
              <a:rPr lang="en-US" dirty="0"/>
              <a:t> See endpoint routing to apply a CORS policy to specific endpoints.</a:t>
            </a:r>
          </a:p>
          <a:p>
            <a:pPr marL="0" indent="0">
              <a:buNone/>
            </a:pPr>
            <a:r>
              <a:rPr lang="en-US" dirty="0"/>
              <a:t>When using Response Caching Middleware, call </a:t>
            </a:r>
            <a:r>
              <a:rPr lang="en-US" dirty="0" err="1"/>
              <a:t>UseCors</a:t>
            </a:r>
            <a:r>
              <a:rPr lang="en-US" dirty="0"/>
              <a:t> before </a:t>
            </a:r>
            <a:r>
              <a:rPr lang="en-US" dirty="0" err="1"/>
              <a:t>UseResponseCaching</a:t>
            </a:r>
            <a:r>
              <a:rPr lang="en-US" dirty="0"/>
              <a:t>.</a:t>
            </a:r>
            <a:endParaRPr lang="en-IN" dirty="0"/>
          </a:p>
        </p:txBody>
      </p:sp>
    </p:spTree>
    <p:extLst>
      <p:ext uri="{BB962C8B-B14F-4D97-AF65-F5344CB8AC3E}">
        <p14:creationId xmlns:p14="http://schemas.microsoft.com/office/powerpoint/2010/main" val="11245792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CB6190A9-3B6B-4927-996C-0DB20272FCAD}"/>
              </a:ext>
            </a:extLst>
          </p:cNvPr>
          <p:cNvSpPr txBox="1"/>
          <p:nvPr/>
        </p:nvSpPr>
        <p:spPr>
          <a:xfrm>
            <a:off x="76200" y="685800"/>
            <a:ext cx="8458200" cy="5632311"/>
          </a:xfrm>
          <a:prstGeom prst="rect">
            <a:avLst/>
          </a:prstGeom>
          <a:noFill/>
        </p:spPr>
        <p:txBody>
          <a:bodyPr wrap="square">
            <a:spAutoFit/>
          </a:bodyPr>
          <a:lstStyle/>
          <a:p>
            <a:r>
              <a:rPr lang="en-US" dirty="0"/>
              <a:t>The </a:t>
            </a:r>
            <a:r>
              <a:rPr lang="en-US" dirty="0" err="1"/>
              <a:t>CorsPolicyBuilder</a:t>
            </a:r>
            <a:r>
              <a:rPr lang="en-US" dirty="0"/>
              <a:t> methods can be chained, as shown in the following code:</a:t>
            </a:r>
          </a:p>
          <a:p>
            <a:r>
              <a:rPr lang="en-US" dirty="0"/>
              <a:t>C#</a:t>
            </a:r>
          </a:p>
          <a:p>
            <a:r>
              <a:rPr lang="en-US" dirty="0"/>
              <a:t>public void </a:t>
            </a:r>
            <a:r>
              <a:rPr lang="en-US" dirty="0" err="1"/>
              <a:t>ConfigureServices</a:t>
            </a:r>
            <a:r>
              <a:rPr lang="en-US" dirty="0"/>
              <a:t>(</a:t>
            </a:r>
            <a:r>
              <a:rPr lang="en-US" dirty="0" err="1"/>
              <a:t>IServiceCollection</a:t>
            </a:r>
            <a:r>
              <a:rPr lang="en-US" dirty="0"/>
              <a:t> services)</a:t>
            </a:r>
          </a:p>
          <a:p>
            <a:r>
              <a:rPr lang="en-US" dirty="0"/>
              <a:t>{</a:t>
            </a:r>
          </a:p>
          <a:p>
            <a:r>
              <a:rPr lang="en-US" dirty="0"/>
              <a:t>    </a:t>
            </a:r>
            <a:r>
              <a:rPr lang="en-US" dirty="0" err="1"/>
              <a:t>services.AddCors</a:t>
            </a:r>
            <a:r>
              <a:rPr lang="en-US" dirty="0"/>
              <a:t>(options =&gt;</a:t>
            </a:r>
          </a:p>
          <a:p>
            <a:r>
              <a:rPr lang="en-US" dirty="0"/>
              <a:t>    {</a:t>
            </a:r>
          </a:p>
          <a:p>
            <a:r>
              <a:rPr lang="en-US" dirty="0"/>
              <a:t>        </a:t>
            </a:r>
            <a:r>
              <a:rPr lang="en-US" dirty="0" err="1"/>
              <a:t>options.AddPolicy</a:t>
            </a:r>
            <a:r>
              <a:rPr lang="en-US" dirty="0"/>
              <a:t>(</a:t>
            </a:r>
            <a:r>
              <a:rPr lang="en-US" dirty="0" err="1"/>
              <a:t>MyAllowSpecificOrigins</a:t>
            </a:r>
            <a:r>
              <a:rPr lang="en-US" dirty="0"/>
              <a:t>,</a:t>
            </a:r>
          </a:p>
          <a:p>
            <a:r>
              <a:rPr lang="en-US" dirty="0"/>
              <a:t>                          builder =&gt;</a:t>
            </a:r>
          </a:p>
          <a:p>
            <a:r>
              <a:rPr lang="en-US" dirty="0"/>
              <a:t>                          {</a:t>
            </a:r>
          </a:p>
          <a:p>
            <a:r>
              <a:rPr lang="en-US" dirty="0"/>
              <a:t>                              </a:t>
            </a:r>
            <a:r>
              <a:rPr lang="en-US" dirty="0" err="1"/>
              <a:t>builder.WithOrigins</a:t>
            </a:r>
            <a:r>
              <a:rPr lang="en-US" dirty="0"/>
              <a:t>("http://example.com",</a:t>
            </a:r>
          </a:p>
          <a:p>
            <a:r>
              <a:rPr lang="en-US" dirty="0"/>
              <a:t>                                                  "http://www.contoso.com")</a:t>
            </a:r>
          </a:p>
          <a:p>
            <a:r>
              <a:rPr lang="en-US" dirty="0"/>
              <a:t>                                                  .</a:t>
            </a:r>
            <a:r>
              <a:rPr lang="en-US" dirty="0" err="1">
                <a:highlight>
                  <a:srgbClr val="FFFF00"/>
                </a:highlight>
              </a:rPr>
              <a:t>AllowAnyHeader</a:t>
            </a:r>
            <a:r>
              <a:rPr lang="en-US" dirty="0">
                <a:highlight>
                  <a:srgbClr val="FFFF00"/>
                </a:highlight>
              </a:rPr>
              <a:t>()</a:t>
            </a:r>
          </a:p>
          <a:p>
            <a:r>
              <a:rPr lang="en-US" dirty="0"/>
              <a:t>                                                  </a:t>
            </a:r>
            <a:r>
              <a:rPr lang="en-US" dirty="0">
                <a:highlight>
                  <a:srgbClr val="FFFF00"/>
                </a:highlight>
              </a:rPr>
              <a:t>.</a:t>
            </a:r>
            <a:r>
              <a:rPr lang="en-US" dirty="0" err="1">
                <a:highlight>
                  <a:srgbClr val="FFFF00"/>
                </a:highlight>
              </a:rPr>
              <a:t>AllowAnyMethod</a:t>
            </a:r>
            <a:r>
              <a:rPr lang="en-US" dirty="0">
                <a:highlight>
                  <a:srgbClr val="FFFF00"/>
                </a:highlight>
              </a:rPr>
              <a:t>();</a:t>
            </a:r>
          </a:p>
          <a:p>
            <a:r>
              <a:rPr lang="en-US" dirty="0"/>
              <a:t>                          });</a:t>
            </a:r>
          </a:p>
          <a:p>
            <a:r>
              <a:rPr lang="en-US" dirty="0"/>
              <a:t>    });</a:t>
            </a:r>
          </a:p>
          <a:p>
            <a:endParaRPr lang="en-US" dirty="0"/>
          </a:p>
          <a:p>
            <a:r>
              <a:rPr lang="en-US" dirty="0"/>
              <a:t>    </a:t>
            </a:r>
            <a:r>
              <a:rPr lang="en-US" dirty="0" err="1"/>
              <a:t>services.AddControllers</a:t>
            </a:r>
            <a:r>
              <a:rPr lang="en-US" dirty="0"/>
              <a:t>();</a:t>
            </a:r>
          </a:p>
          <a:p>
            <a:r>
              <a:rPr lang="en-US" dirty="0"/>
              <a:t>}</a:t>
            </a:r>
          </a:p>
          <a:p>
            <a:r>
              <a:rPr lang="en-US" dirty="0"/>
              <a:t>Note: The specified URL must not contain a trailing slash (/). If the URL terminates with /, the comparison returns false and no header is returned</a:t>
            </a:r>
            <a:endParaRPr lang="en-IN" dirty="0"/>
          </a:p>
        </p:txBody>
      </p:sp>
    </p:spTree>
    <p:extLst>
      <p:ext uri="{BB962C8B-B14F-4D97-AF65-F5344CB8AC3E}">
        <p14:creationId xmlns:p14="http://schemas.microsoft.com/office/powerpoint/2010/main" val="39394152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A98D94-D26B-4074-A385-FD3DC1BFBD84}"/>
              </a:ext>
            </a:extLst>
          </p:cNvPr>
          <p:cNvSpPr>
            <a:spLocks noGrp="1"/>
          </p:cNvSpPr>
          <p:nvPr>
            <p:ph type="title"/>
          </p:nvPr>
        </p:nvSpPr>
        <p:spPr>
          <a:xfrm>
            <a:off x="1038225" y="43273"/>
            <a:ext cx="7067550" cy="625474"/>
          </a:xfrm>
        </p:spPr>
        <p:txBody>
          <a:bodyPr/>
          <a:lstStyle/>
          <a:p>
            <a:r>
              <a:rPr lang="en-IN" dirty="0"/>
              <a:t>Enable CORS with attributes</a:t>
            </a:r>
          </a:p>
        </p:txBody>
      </p:sp>
      <p:sp>
        <p:nvSpPr>
          <p:cNvPr id="4" name="Rectangle 1">
            <a:extLst>
              <a:ext uri="{FF2B5EF4-FFF2-40B4-BE49-F238E27FC236}">
                <a16:creationId xmlns:a16="http://schemas.microsoft.com/office/drawing/2014/main" xmlns="" id="{C42ABE37-C178-490F-A1B9-8A1D2B3F724A}"/>
              </a:ext>
            </a:extLst>
          </p:cNvPr>
          <p:cNvSpPr>
            <a:spLocks noGrp="1" noChangeArrowheads="1"/>
          </p:cNvSpPr>
          <p:nvPr>
            <p:ph idx="1"/>
          </p:nvPr>
        </p:nvSpPr>
        <p:spPr bwMode="auto">
          <a:xfrm>
            <a:off x="152400" y="741118"/>
            <a:ext cx="8077200" cy="537576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918" tIns="101568" rIns="0" bIns="10156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Enabling CORS with the </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hlinkClick r:id="rId2"/>
              </a:rPr>
              <a:t>[</a:t>
            </a:r>
            <a:r>
              <a:rPr kumimoji="0" lang="en-US" altLang="en-US" sz="1600" b="0" i="0" u="none" strike="noStrike" cap="none" normalizeH="0" baseline="0" dirty="0" err="1">
                <a:ln>
                  <a:noFill/>
                </a:ln>
                <a:solidFill>
                  <a:srgbClr val="171717"/>
                </a:solidFill>
                <a:effectLst/>
                <a:latin typeface="Segoe UI" panose="020B0502040204020203" pitchFamily="34" charset="0"/>
                <a:cs typeface="Segoe UI" panose="020B0502040204020203" pitchFamily="34" charset="0"/>
                <a:hlinkClick r:id="rId2"/>
              </a:rPr>
              <a:t>EnableCors</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hlinkClick r:id="rId2"/>
              </a:rPr>
              <a:t>]</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attribute and applying a named policy to only those endpoints that require CORS provides the finest control.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The </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hlinkClick r:id="rId2"/>
              </a:rPr>
              <a:t>[</a:t>
            </a:r>
            <a:r>
              <a:rPr kumimoji="0" lang="en-US" altLang="en-US" sz="1600" b="0" i="0" u="none" strike="noStrike" cap="none" normalizeH="0" baseline="0" dirty="0" err="1">
                <a:ln>
                  <a:noFill/>
                </a:ln>
                <a:solidFill>
                  <a:srgbClr val="171717"/>
                </a:solidFill>
                <a:effectLst/>
                <a:latin typeface="Segoe UI" panose="020B0502040204020203" pitchFamily="34" charset="0"/>
                <a:cs typeface="Segoe UI" panose="020B0502040204020203" pitchFamily="34" charset="0"/>
                <a:hlinkClick r:id="rId2"/>
              </a:rPr>
              <a:t>EnableCors</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hlinkClick r:id="rId2"/>
              </a:rPr>
              <a:t>]</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attribute provides an alternative to applying CORS globally. The </a:t>
            </a:r>
            <a:r>
              <a:rPr kumimoji="0" lang="en-US" altLang="en-US" sz="1600" b="0" i="0" u="none" strike="noStrike" cap="none" normalizeH="0" baseline="0" dirty="0">
                <a:ln>
                  <a:noFill/>
                </a:ln>
                <a:solidFill>
                  <a:srgbClr val="171717"/>
                </a:solidFill>
                <a:effectLst/>
                <a:latin typeface="SFMono-Regular"/>
                <a:cs typeface="Segoe UI" panose="020B0502040204020203" pitchFamily="34" charset="0"/>
              </a:rPr>
              <a:t>[</a:t>
            </a:r>
            <a:r>
              <a:rPr kumimoji="0" lang="en-US" altLang="en-US" sz="1600" b="0" i="0" u="none" strike="noStrike" cap="none" normalizeH="0" baseline="0" dirty="0" err="1">
                <a:ln>
                  <a:noFill/>
                </a:ln>
                <a:solidFill>
                  <a:srgbClr val="171717"/>
                </a:solidFill>
                <a:effectLst/>
                <a:latin typeface="SFMono-Regular"/>
                <a:cs typeface="Segoe UI" panose="020B0502040204020203" pitchFamily="34" charset="0"/>
              </a:rPr>
              <a:t>EnableCors</a:t>
            </a:r>
            <a:r>
              <a:rPr kumimoji="0" lang="en-US" altLang="en-US" sz="1600" b="0" i="0" u="none" strike="noStrike" cap="none" normalizeH="0" baseline="0" dirty="0">
                <a:ln>
                  <a:noFill/>
                </a:ln>
                <a:solidFill>
                  <a:srgbClr val="171717"/>
                </a:solidFill>
                <a:effectLst/>
                <a:latin typeface="SFMono-Regular"/>
                <a:cs typeface="Segoe UI" panose="020B0502040204020203" pitchFamily="34" charset="0"/>
              </a:rPr>
              <a:t>]</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attribute enables CORS for selected endpoints, rather than all endpoints:</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171717"/>
                </a:solidFill>
                <a:effectLst/>
                <a:latin typeface="SFMono-Regular"/>
                <a:cs typeface="Segoe UI" panose="020B0502040204020203" pitchFamily="34" charset="0"/>
              </a:rPr>
              <a:t>[</a:t>
            </a:r>
            <a:r>
              <a:rPr kumimoji="0" lang="en-US" altLang="en-US" sz="1600" b="0" i="0" u="none" strike="noStrike" cap="none" normalizeH="0" baseline="0" dirty="0" err="1">
                <a:ln>
                  <a:noFill/>
                </a:ln>
                <a:solidFill>
                  <a:srgbClr val="171717"/>
                </a:solidFill>
                <a:effectLst/>
                <a:latin typeface="SFMono-Regular"/>
                <a:cs typeface="Segoe UI" panose="020B0502040204020203" pitchFamily="34" charset="0"/>
              </a:rPr>
              <a:t>EnableCors</a:t>
            </a:r>
            <a:r>
              <a:rPr kumimoji="0" lang="en-US" altLang="en-US" sz="1600" b="0" i="0" u="none" strike="noStrike" cap="none" normalizeH="0" baseline="0" dirty="0">
                <a:ln>
                  <a:noFill/>
                </a:ln>
                <a:solidFill>
                  <a:srgbClr val="171717"/>
                </a:solidFill>
                <a:effectLst/>
                <a:latin typeface="SFMono-Regular"/>
                <a:cs typeface="Segoe UI" panose="020B0502040204020203" pitchFamily="34" charset="0"/>
              </a:rPr>
              <a:t>]</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specifies the default policy.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171717"/>
                </a:solidFill>
                <a:effectLst/>
                <a:latin typeface="SFMono-Regular"/>
                <a:cs typeface="Segoe UI" panose="020B0502040204020203" pitchFamily="34" charset="0"/>
              </a:rPr>
              <a:t>[</a:t>
            </a:r>
            <a:r>
              <a:rPr kumimoji="0" lang="en-US" altLang="en-US" sz="1600" b="0" i="0" u="none" strike="noStrike" cap="none" normalizeH="0" baseline="0" dirty="0" err="1">
                <a:ln>
                  <a:noFill/>
                </a:ln>
                <a:solidFill>
                  <a:srgbClr val="171717"/>
                </a:solidFill>
                <a:effectLst/>
                <a:latin typeface="SFMono-Regular"/>
                <a:cs typeface="Segoe UI" panose="020B0502040204020203" pitchFamily="34" charset="0"/>
              </a:rPr>
              <a:t>EnableCors</a:t>
            </a:r>
            <a:r>
              <a:rPr kumimoji="0" lang="en-US" altLang="en-US" sz="1600" b="0" i="0" u="none" strike="noStrike" cap="none" normalizeH="0" baseline="0" dirty="0">
                <a:ln>
                  <a:noFill/>
                </a:ln>
                <a:solidFill>
                  <a:srgbClr val="171717"/>
                </a:solidFill>
                <a:effectLst/>
                <a:latin typeface="SFMono-Regular"/>
                <a:cs typeface="Segoe UI" panose="020B0502040204020203" pitchFamily="34" charset="0"/>
              </a:rPr>
              <a:t>("{Policy String}")]</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specifies a named policy.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The </a:t>
            </a:r>
            <a:r>
              <a:rPr kumimoji="0" lang="en-US" altLang="en-US" sz="1600" b="0" i="0" u="none" strike="noStrike" cap="none" normalizeH="0" baseline="0" dirty="0">
                <a:ln>
                  <a:noFill/>
                </a:ln>
                <a:solidFill>
                  <a:srgbClr val="171717"/>
                </a:solidFill>
                <a:effectLst/>
                <a:latin typeface="SFMono-Regular"/>
                <a:cs typeface="Segoe UI" panose="020B0502040204020203" pitchFamily="34" charset="0"/>
              </a:rPr>
              <a:t>[</a:t>
            </a:r>
            <a:r>
              <a:rPr kumimoji="0" lang="en-US" altLang="en-US" sz="1600" b="0" i="0" u="none" strike="noStrike" cap="none" normalizeH="0" baseline="0" dirty="0" err="1">
                <a:ln>
                  <a:noFill/>
                </a:ln>
                <a:solidFill>
                  <a:srgbClr val="171717"/>
                </a:solidFill>
                <a:effectLst/>
                <a:latin typeface="SFMono-Regular"/>
                <a:cs typeface="Segoe UI" panose="020B0502040204020203" pitchFamily="34" charset="0"/>
              </a:rPr>
              <a:t>EnableCors</a:t>
            </a:r>
            <a:r>
              <a:rPr kumimoji="0" lang="en-US" altLang="en-US" sz="1600" b="0" i="0" u="none" strike="noStrike" cap="none" normalizeH="0" baseline="0" dirty="0">
                <a:ln>
                  <a:noFill/>
                </a:ln>
                <a:solidFill>
                  <a:srgbClr val="171717"/>
                </a:solidFill>
                <a:effectLst/>
                <a:latin typeface="SFMono-Regular"/>
                <a:cs typeface="Segoe UI" panose="020B0502040204020203" pitchFamily="34" charset="0"/>
              </a:rPr>
              <a:t>]</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attribute can be applied to:</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Razor Page </a:t>
            </a:r>
            <a:r>
              <a:rPr kumimoji="0" lang="en-US" altLang="en-US" sz="1600" b="0" i="0" u="none" strike="noStrike" cap="none" normalizeH="0" baseline="0" dirty="0" err="1">
                <a:ln>
                  <a:noFill/>
                </a:ln>
                <a:solidFill>
                  <a:srgbClr val="171717"/>
                </a:solidFill>
                <a:effectLst/>
                <a:latin typeface="SFMono-Regular"/>
                <a:cs typeface="Segoe UI" panose="020B0502040204020203" pitchFamily="34" charset="0"/>
              </a:rPr>
              <a:t>PageModel</a:t>
            </a:r>
            <a:endPar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Controller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Controller action method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Different policies can be applied to controllers, page models, or action methods with the </a:t>
            </a:r>
            <a:r>
              <a:rPr kumimoji="0" lang="en-US" altLang="en-US" sz="1600" b="0" i="0" u="none" strike="noStrike" cap="none" normalizeH="0" baseline="0" dirty="0">
                <a:ln>
                  <a:noFill/>
                </a:ln>
                <a:solidFill>
                  <a:srgbClr val="171717"/>
                </a:solidFill>
                <a:effectLst/>
                <a:latin typeface="SFMono-Regular"/>
                <a:cs typeface="Segoe UI" panose="020B0502040204020203" pitchFamily="34" charset="0"/>
              </a:rPr>
              <a:t>[</a:t>
            </a:r>
            <a:r>
              <a:rPr kumimoji="0" lang="en-US" altLang="en-US" sz="1600" b="0" i="0" u="none" strike="noStrike" cap="none" normalizeH="0" baseline="0" dirty="0" err="1">
                <a:ln>
                  <a:noFill/>
                </a:ln>
                <a:solidFill>
                  <a:srgbClr val="171717"/>
                </a:solidFill>
                <a:effectLst/>
                <a:latin typeface="SFMono-Regular"/>
                <a:cs typeface="Segoe UI" panose="020B0502040204020203" pitchFamily="34" charset="0"/>
              </a:rPr>
              <a:t>EnableCors</a:t>
            </a:r>
            <a:r>
              <a:rPr kumimoji="0" lang="en-US" altLang="en-US" sz="1600" b="0" i="0" u="none" strike="noStrike" cap="none" normalizeH="0" baseline="0" dirty="0">
                <a:ln>
                  <a:noFill/>
                </a:ln>
                <a:solidFill>
                  <a:srgbClr val="171717"/>
                </a:solidFill>
                <a:effectLst/>
                <a:latin typeface="SFMono-Regular"/>
                <a:cs typeface="Segoe UI" panose="020B0502040204020203" pitchFamily="34" charset="0"/>
              </a:rPr>
              <a:t>]</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attribute.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When the </a:t>
            </a:r>
            <a:r>
              <a:rPr kumimoji="0" lang="en-US" altLang="en-US" sz="1600" b="0" i="0" u="none" strike="noStrike" cap="none" normalizeH="0" baseline="0" dirty="0">
                <a:ln>
                  <a:noFill/>
                </a:ln>
                <a:solidFill>
                  <a:srgbClr val="171717"/>
                </a:solidFill>
                <a:effectLst/>
                <a:latin typeface="SFMono-Regular"/>
                <a:cs typeface="Segoe UI" panose="020B0502040204020203" pitchFamily="34" charset="0"/>
              </a:rPr>
              <a:t>[</a:t>
            </a:r>
            <a:r>
              <a:rPr kumimoji="0" lang="en-US" altLang="en-US" sz="1600" b="0" i="0" u="none" strike="noStrike" cap="none" normalizeH="0" baseline="0" dirty="0" err="1">
                <a:ln>
                  <a:noFill/>
                </a:ln>
                <a:solidFill>
                  <a:srgbClr val="171717"/>
                </a:solidFill>
                <a:effectLst/>
                <a:latin typeface="SFMono-Regular"/>
                <a:cs typeface="Segoe UI" panose="020B0502040204020203" pitchFamily="34" charset="0"/>
              </a:rPr>
              <a:t>EnableCors</a:t>
            </a:r>
            <a:r>
              <a:rPr kumimoji="0" lang="en-US" altLang="en-US" sz="1600" b="0" i="0" u="none" strike="noStrike" cap="none" normalizeH="0" baseline="0" dirty="0">
                <a:ln>
                  <a:noFill/>
                </a:ln>
                <a:solidFill>
                  <a:srgbClr val="171717"/>
                </a:solidFill>
                <a:effectLst/>
                <a:latin typeface="SFMono-Regular"/>
                <a:cs typeface="Segoe UI" panose="020B0502040204020203" pitchFamily="34" charset="0"/>
              </a:rPr>
              <a:t>]</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attribute is applied to a controller, page model, or action method, and CORS is enabled in middleware, </a:t>
            </a:r>
            <a:r>
              <a:rPr kumimoji="0" lang="en-US" altLang="en-US" sz="1600" b="1"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both</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policies are applied.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We recommend against combining policies. Use the</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a:t>
            </a:r>
            <a:r>
              <a:rPr kumimoji="0" lang="en-US" altLang="en-US" sz="1600" b="0" i="0" u="none" strike="noStrike" cap="none" normalizeH="0" baseline="0" dirty="0">
                <a:ln>
                  <a:noFill/>
                </a:ln>
                <a:solidFill>
                  <a:srgbClr val="171717"/>
                </a:solidFill>
                <a:effectLst/>
                <a:latin typeface="SFMono-Regular"/>
                <a:cs typeface="Segoe UI" panose="020B0502040204020203" pitchFamily="34" charset="0"/>
              </a:rPr>
              <a:t>[</a:t>
            </a:r>
            <a:r>
              <a:rPr kumimoji="0" lang="en-US" altLang="en-US" sz="1600" b="0" i="0" u="none" strike="noStrike" cap="none" normalizeH="0" baseline="0" dirty="0" err="1">
                <a:ln>
                  <a:noFill/>
                </a:ln>
                <a:solidFill>
                  <a:srgbClr val="171717"/>
                </a:solidFill>
                <a:effectLst/>
                <a:latin typeface="SFMono-Regular"/>
                <a:cs typeface="Segoe UI" panose="020B0502040204020203" pitchFamily="34" charset="0"/>
              </a:rPr>
              <a:t>EnableCors</a:t>
            </a:r>
            <a:r>
              <a:rPr kumimoji="0" lang="en-US" altLang="en-US" sz="1600" b="0" i="0" u="none" strike="noStrike" cap="none" normalizeH="0" baseline="0" dirty="0">
                <a:ln>
                  <a:noFill/>
                </a:ln>
                <a:solidFill>
                  <a:srgbClr val="171717"/>
                </a:solidFill>
                <a:effectLst/>
                <a:latin typeface="SFMono-Regular"/>
                <a:cs typeface="Segoe UI" panose="020B0502040204020203" pitchFamily="34" charset="0"/>
              </a:rPr>
              <a:t>]</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a:t>
            </a:r>
            <a:r>
              <a:rPr kumimoji="0" lang="en-US" altLang="en-US" sz="1600" b="1"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attribute or middleware, not both in the same app.</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415576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BF5F292-CC28-4694-9824-48ED584F847E}"/>
              </a:ext>
            </a:extLst>
          </p:cNvPr>
          <p:cNvSpPr>
            <a:spLocks noGrp="1"/>
          </p:cNvSpPr>
          <p:nvPr>
            <p:ph idx="1"/>
          </p:nvPr>
        </p:nvSpPr>
        <p:spPr>
          <a:xfrm>
            <a:off x="4267200" y="0"/>
            <a:ext cx="4876800" cy="6705600"/>
          </a:xfrm>
        </p:spPr>
        <p:txBody>
          <a:bodyPr>
            <a:noAutofit/>
          </a:bodyPr>
          <a:lstStyle/>
          <a:p>
            <a:pPr marL="0" indent="0">
              <a:buNone/>
            </a:pPr>
            <a:r>
              <a:rPr lang="en-IN" sz="1400" b="1" dirty="0"/>
              <a:t>The following code creates two CORS policies:</a:t>
            </a:r>
          </a:p>
          <a:p>
            <a:pPr marL="0" indent="0">
              <a:buNone/>
            </a:pPr>
            <a:r>
              <a:rPr lang="en-IN" sz="1200" dirty="0"/>
              <a:t>public class </a:t>
            </a:r>
            <a:r>
              <a:rPr lang="en-IN" sz="1200" dirty="0" err="1"/>
              <a:t>Startup</a:t>
            </a:r>
            <a:endParaRPr lang="en-IN" sz="1200" dirty="0"/>
          </a:p>
          <a:p>
            <a:pPr marL="0" indent="0">
              <a:buNone/>
            </a:pPr>
            <a:r>
              <a:rPr lang="en-IN" sz="1200" dirty="0"/>
              <a:t>{</a:t>
            </a:r>
          </a:p>
          <a:p>
            <a:pPr marL="0" indent="0">
              <a:buNone/>
            </a:pPr>
            <a:r>
              <a:rPr lang="en-IN" sz="1200" dirty="0"/>
              <a:t>    public </a:t>
            </a:r>
            <a:r>
              <a:rPr lang="en-IN" sz="1200" dirty="0" err="1"/>
              <a:t>Startup</a:t>
            </a:r>
            <a:r>
              <a:rPr lang="en-IN" sz="1200" dirty="0"/>
              <a:t>(</a:t>
            </a:r>
            <a:r>
              <a:rPr lang="en-IN" sz="1200" dirty="0" err="1"/>
              <a:t>IConfiguration</a:t>
            </a:r>
            <a:r>
              <a:rPr lang="en-IN" sz="1200" dirty="0"/>
              <a:t> configuration)</a:t>
            </a:r>
          </a:p>
          <a:p>
            <a:pPr marL="0" indent="0">
              <a:buNone/>
            </a:pPr>
            <a:r>
              <a:rPr lang="en-IN" sz="1200" dirty="0"/>
              <a:t>    {        Configuration = configuration;</a:t>
            </a:r>
          </a:p>
          <a:p>
            <a:pPr marL="0" indent="0">
              <a:buNone/>
            </a:pPr>
            <a:r>
              <a:rPr lang="en-IN" sz="1200" dirty="0"/>
              <a:t>    }</a:t>
            </a:r>
          </a:p>
          <a:p>
            <a:pPr marL="0" indent="0">
              <a:buNone/>
            </a:pPr>
            <a:r>
              <a:rPr lang="en-IN" sz="1200" dirty="0"/>
              <a:t>    public </a:t>
            </a:r>
            <a:r>
              <a:rPr lang="en-IN" sz="1200" dirty="0" err="1"/>
              <a:t>IConfiguration</a:t>
            </a:r>
            <a:r>
              <a:rPr lang="en-IN" sz="1200" dirty="0"/>
              <a:t> Configuration { get; }</a:t>
            </a:r>
          </a:p>
          <a:p>
            <a:pPr marL="0" indent="0">
              <a:buNone/>
            </a:pPr>
            <a:r>
              <a:rPr lang="en-IN" sz="1200" dirty="0"/>
              <a:t>    public void </a:t>
            </a:r>
            <a:r>
              <a:rPr lang="en-IN" sz="1200" dirty="0" err="1"/>
              <a:t>ConfigureServices</a:t>
            </a:r>
            <a:r>
              <a:rPr lang="en-IN" sz="1200" dirty="0"/>
              <a:t>(</a:t>
            </a:r>
            <a:r>
              <a:rPr lang="en-IN" sz="1200" dirty="0" err="1"/>
              <a:t>IServiceCollection</a:t>
            </a:r>
            <a:r>
              <a:rPr lang="en-IN" sz="1200" dirty="0"/>
              <a:t> services)</a:t>
            </a:r>
          </a:p>
          <a:p>
            <a:pPr marL="0" indent="0">
              <a:buNone/>
            </a:pPr>
            <a:r>
              <a:rPr lang="en-IN" sz="1200" dirty="0"/>
              <a:t>    {    </a:t>
            </a:r>
            <a:r>
              <a:rPr lang="en-IN" sz="1200" dirty="0" err="1"/>
              <a:t>services.AddCors</a:t>
            </a:r>
            <a:r>
              <a:rPr lang="en-IN" sz="1200" dirty="0"/>
              <a:t>(options =&gt;</a:t>
            </a:r>
          </a:p>
          <a:p>
            <a:pPr marL="0" indent="0">
              <a:buNone/>
            </a:pPr>
            <a:r>
              <a:rPr lang="en-IN" sz="1200" dirty="0"/>
              <a:t>        {            </a:t>
            </a:r>
            <a:r>
              <a:rPr lang="en-IN" sz="1200" dirty="0" err="1"/>
              <a:t>options.AddPolicy</a:t>
            </a:r>
            <a:r>
              <a:rPr lang="en-IN" sz="1200" dirty="0"/>
              <a:t>("Policy1",</a:t>
            </a:r>
          </a:p>
          <a:p>
            <a:pPr marL="0" indent="0">
              <a:buNone/>
            </a:pPr>
            <a:r>
              <a:rPr lang="en-IN" sz="1200" dirty="0"/>
              <a:t>                builder =&gt;</a:t>
            </a:r>
          </a:p>
          <a:p>
            <a:pPr marL="0" indent="0">
              <a:buNone/>
            </a:pPr>
            <a:r>
              <a:rPr lang="en-IN" sz="1200" dirty="0"/>
              <a:t>                {</a:t>
            </a:r>
          </a:p>
          <a:p>
            <a:pPr marL="0" indent="0">
              <a:buNone/>
            </a:pPr>
            <a:r>
              <a:rPr lang="en-IN" sz="1200" dirty="0"/>
              <a:t>                    </a:t>
            </a:r>
            <a:r>
              <a:rPr lang="en-IN" sz="1200" dirty="0" err="1"/>
              <a:t>builder.WithOrigins</a:t>
            </a:r>
            <a:r>
              <a:rPr lang="en-IN" sz="1200" dirty="0"/>
              <a:t>("http://example.com",</a:t>
            </a:r>
          </a:p>
          <a:p>
            <a:pPr marL="0" indent="0">
              <a:buNone/>
            </a:pPr>
            <a:r>
              <a:rPr lang="en-IN" sz="1200" dirty="0"/>
              <a:t>                                        "http://www.contoso.com");</a:t>
            </a:r>
          </a:p>
          <a:p>
            <a:pPr marL="0" indent="0">
              <a:buNone/>
            </a:pPr>
            <a:r>
              <a:rPr lang="en-IN" sz="1200" dirty="0"/>
              <a:t>                });</a:t>
            </a:r>
          </a:p>
          <a:p>
            <a:pPr marL="0" indent="0">
              <a:buNone/>
            </a:pPr>
            <a:r>
              <a:rPr lang="en-IN" sz="1200" dirty="0"/>
              <a:t>            </a:t>
            </a:r>
            <a:r>
              <a:rPr lang="en-IN" sz="1200" dirty="0" err="1"/>
              <a:t>options.AddPolicy</a:t>
            </a:r>
            <a:r>
              <a:rPr lang="en-IN" sz="1200" dirty="0"/>
              <a:t>("</a:t>
            </a:r>
            <a:r>
              <a:rPr lang="en-IN" sz="1200" dirty="0" err="1"/>
              <a:t>AnotherPolicy</a:t>
            </a:r>
            <a:r>
              <a:rPr lang="en-IN" sz="1200" dirty="0"/>
              <a:t>",</a:t>
            </a:r>
          </a:p>
          <a:p>
            <a:pPr marL="0" indent="0">
              <a:buNone/>
            </a:pPr>
            <a:r>
              <a:rPr lang="en-IN" sz="1200" dirty="0"/>
              <a:t>                builder =&gt;                {</a:t>
            </a:r>
          </a:p>
          <a:p>
            <a:pPr marL="0" indent="0">
              <a:buNone/>
            </a:pPr>
            <a:r>
              <a:rPr lang="en-IN" sz="1200" dirty="0"/>
              <a:t>                    </a:t>
            </a:r>
            <a:r>
              <a:rPr lang="en-IN" sz="1200" dirty="0" err="1"/>
              <a:t>builder.WithOrigins</a:t>
            </a:r>
            <a:r>
              <a:rPr lang="en-IN" sz="1200" dirty="0"/>
              <a:t>("http://www.contoso.com")</a:t>
            </a:r>
          </a:p>
          <a:p>
            <a:pPr marL="0" indent="0">
              <a:buNone/>
            </a:pPr>
            <a:r>
              <a:rPr lang="en-IN" sz="1200" dirty="0"/>
              <a:t>                                        .</a:t>
            </a:r>
            <a:r>
              <a:rPr lang="en-IN" sz="1200" dirty="0" err="1"/>
              <a:t>AllowAnyHeader</a:t>
            </a:r>
            <a:r>
              <a:rPr lang="en-IN" sz="1200" dirty="0"/>
              <a:t>()</a:t>
            </a:r>
          </a:p>
          <a:p>
            <a:pPr marL="0" indent="0">
              <a:buNone/>
            </a:pPr>
            <a:r>
              <a:rPr lang="en-IN" sz="1200" dirty="0"/>
              <a:t>                                        .</a:t>
            </a:r>
            <a:r>
              <a:rPr lang="en-IN" sz="1200" dirty="0" err="1"/>
              <a:t>AllowAnyMethod</a:t>
            </a:r>
            <a:r>
              <a:rPr lang="en-IN" sz="1200" dirty="0"/>
              <a:t>();</a:t>
            </a:r>
          </a:p>
          <a:p>
            <a:pPr marL="0" indent="0">
              <a:buNone/>
            </a:pPr>
            <a:r>
              <a:rPr lang="en-IN" sz="1200" dirty="0"/>
              <a:t>                });</a:t>
            </a:r>
          </a:p>
          <a:p>
            <a:pPr marL="0" indent="0">
              <a:buNone/>
            </a:pPr>
            <a:r>
              <a:rPr lang="en-IN" sz="1200" dirty="0"/>
              <a:t>        });</a:t>
            </a:r>
          </a:p>
          <a:p>
            <a:pPr marL="0" indent="0">
              <a:buNone/>
            </a:pPr>
            <a:r>
              <a:rPr lang="en-IN" sz="1200" dirty="0"/>
              <a:t>        </a:t>
            </a:r>
            <a:r>
              <a:rPr lang="en-IN" sz="1200" dirty="0" err="1"/>
              <a:t>services.AddControllers</a:t>
            </a:r>
            <a:r>
              <a:rPr lang="en-IN" sz="1200" dirty="0"/>
              <a:t>();</a:t>
            </a:r>
          </a:p>
          <a:p>
            <a:pPr marL="0" indent="0">
              <a:buNone/>
            </a:pPr>
            <a:r>
              <a:rPr lang="en-IN" sz="1200" dirty="0"/>
              <a:t>    }</a:t>
            </a:r>
          </a:p>
          <a:p>
            <a:pPr marL="0" indent="0">
              <a:buNone/>
            </a:pPr>
            <a:endParaRPr lang="en-IN" sz="1200" dirty="0"/>
          </a:p>
          <a:p>
            <a:pPr marL="0" indent="0">
              <a:buNone/>
            </a:pPr>
            <a:r>
              <a:rPr lang="en-IN" sz="1200" dirty="0"/>
              <a:t>    </a:t>
            </a:r>
          </a:p>
        </p:txBody>
      </p:sp>
      <p:sp>
        <p:nvSpPr>
          <p:cNvPr id="5" name="TextBox 4">
            <a:extLst>
              <a:ext uri="{FF2B5EF4-FFF2-40B4-BE49-F238E27FC236}">
                <a16:creationId xmlns:a16="http://schemas.microsoft.com/office/drawing/2014/main" xmlns="" id="{178E476E-EA77-4F84-9B65-949260D4CCE5}"/>
              </a:ext>
            </a:extLst>
          </p:cNvPr>
          <p:cNvSpPr txBox="1"/>
          <p:nvPr/>
        </p:nvSpPr>
        <p:spPr>
          <a:xfrm>
            <a:off x="-39328" y="671691"/>
            <a:ext cx="4611328" cy="5909310"/>
          </a:xfrm>
          <a:prstGeom prst="rect">
            <a:avLst/>
          </a:prstGeom>
          <a:noFill/>
        </p:spPr>
        <p:txBody>
          <a:bodyPr wrap="square">
            <a:spAutoFit/>
          </a:bodyPr>
          <a:lstStyle/>
          <a:p>
            <a:r>
              <a:rPr lang="en-IN" dirty="0"/>
              <a:t>public void Configure(</a:t>
            </a:r>
            <a:r>
              <a:rPr lang="en-IN" dirty="0" err="1"/>
              <a:t>IApplicationBuilder</a:t>
            </a:r>
            <a:r>
              <a:rPr lang="en-IN" dirty="0"/>
              <a:t> app, </a:t>
            </a:r>
            <a:r>
              <a:rPr lang="en-IN" dirty="0" err="1"/>
              <a:t>IWebHostEnvironment</a:t>
            </a:r>
            <a:r>
              <a:rPr lang="en-IN" dirty="0"/>
              <a:t> env)</a:t>
            </a:r>
          </a:p>
          <a:p>
            <a:r>
              <a:rPr lang="en-IN" dirty="0"/>
              <a:t>    {</a:t>
            </a:r>
          </a:p>
          <a:p>
            <a:r>
              <a:rPr lang="en-IN" dirty="0"/>
              <a:t>        if (</a:t>
            </a:r>
            <a:r>
              <a:rPr lang="en-IN" dirty="0" err="1"/>
              <a:t>env.IsDevelopment</a:t>
            </a:r>
            <a:r>
              <a:rPr lang="en-IN" dirty="0"/>
              <a:t>())</a:t>
            </a:r>
          </a:p>
          <a:p>
            <a:r>
              <a:rPr lang="en-IN" dirty="0"/>
              <a:t>        {</a:t>
            </a:r>
          </a:p>
          <a:p>
            <a:r>
              <a:rPr lang="en-IN" dirty="0"/>
              <a:t>            </a:t>
            </a:r>
            <a:r>
              <a:rPr lang="en-IN" dirty="0" err="1"/>
              <a:t>app.UseDeveloperExceptionPage</a:t>
            </a:r>
            <a:r>
              <a:rPr lang="en-IN" dirty="0"/>
              <a:t>();</a:t>
            </a:r>
          </a:p>
          <a:p>
            <a:r>
              <a:rPr lang="en-IN" dirty="0"/>
              <a:t>        }</a:t>
            </a:r>
          </a:p>
          <a:p>
            <a:r>
              <a:rPr lang="en-IN" dirty="0"/>
              <a:t>        </a:t>
            </a:r>
            <a:r>
              <a:rPr lang="en-IN" dirty="0" err="1"/>
              <a:t>app.UseHttpsRedirection</a:t>
            </a:r>
            <a:r>
              <a:rPr lang="en-IN" dirty="0"/>
              <a:t>();</a:t>
            </a:r>
          </a:p>
          <a:p>
            <a:endParaRPr lang="en-IN" dirty="0"/>
          </a:p>
          <a:p>
            <a:r>
              <a:rPr lang="en-IN" dirty="0"/>
              <a:t>        </a:t>
            </a:r>
            <a:r>
              <a:rPr lang="en-IN" dirty="0" err="1"/>
              <a:t>app.UseRouting</a:t>
            </a:r>
            <a:r>
              <a:rPr lang="en-IN" dirty="0"/>
              <a:t>();</a:t>
            </a:r>
          </a:p>
          <a:p>
            <a:endParaRPr lang="en-IN" dirty="0"/>
          </a:p>
          <a:p>
            <a:r>
              <a:rPr lang="en-IN" dirty="0"/>
              <a:t>        </a:t>
            </a:r>
            <a:r>
              <a:rPr lang="en-IN" dirty="0" err="1"/>
              <a:t>app.UseCors</a:t>
            </a:r>
            <a:r>
              <a:rPr lang="en-IN" dirty="0"/>
              <a:t>();</a:t>
            </a:r>
          </a:p>
          <a:p>
            <a:endParaRPr lang="en-IN" dirty="0"/>
          </a:p>
          <a:p>
            <a:r>
              <a:rPr lang="en-IN" dirty="0"/>
              <a:t>        </a:t>
            </a:r>
            <a:r>
              <a:rPr lang="en-IN" dirty="0" err="1"/>
              <a:t>app.UseAuthorization</a:t>
            </a:r>
            <a:r>
              <a:rPr lang="en-IN" dirty="0"/>
              <a:t>();</a:t>
            </a:r>
          </a:p>
          <a:p>
            <a:endParaRPr lang="en-IN" dirty="0"/>
          </a:p>
          <a:p>
            <a:r>
              <a:rPr lang="en-IN" dirty="0"/>
              <a:t>        </a:t>
            </a:r>
            <a:r>
              <a:rPr lang="en-IN" dirty="0" err="1"/>
              <a:t>app.UseEndpoints</a:t>
            </a:r>
            <a:r>
              <a:rPr lang="en-IN" dirty="0"/>
              <a:t>(endpoints =&gt;</a:t>
            </a:r>
          </a:p>
          <a:p>
            <a:r>
              <a:rPr lang="en-IN" dirty="0"/>
              <a:t>        {</a:t>
            </a:r>
          </a:p>
          <a:p>
            <a:r>
              <a:rPr lang="en-IN" dirty="0"/>
              <a:t>            </a:t>
            </a:r>
            <a:r>
              <a:rPr lang="en-IN" dirty="0" err="1"/>
              <a:t>endpoints.MapControllers</a:t>
            </a:r>
            <a:r>
              <a:rPr lang="en-IN" dirty="0"/>
              <a:t>();</a:t>
            </a:r>
          </a:p>
          <a:p>
            <a:r>
              <a:rPr lang="en-IN" dirty="0"/>
              <a:t>        });</a:t>
            </a:r>
          </a:p>
          <a:p>
            <a:r>
              <a:rPr lang="en-IN" dirty="0"/>
              <a:t>    }</a:t>
            </a:r>
          </a:p>
          <a:p>
            <a:r>
              <a:rPr lang="en-IN" dirty="0"/>
              <a:t>}</a:t>
            </a:r>
          </a:p>
        </p:txBody>
      </p:sp>
    </p:spTree>
    <p:extLst>
      <p:ext uri="{BB962C8B-B14F-4D97-AF65-F5344CB8AC3E}">
        <p14:creationId xmlns:p14="http://schemas.microsoft.com/office/powerpoint/2010/main" val="10529395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1D77A46-12B5-4946-934C-C6D13615A992}"/>
              </a:ext>
            </a:extLst>
          </p:cNvPr>
          <p:cNvSpPr>
            <a:spLocks noGrp="1"/>
          </p:cNvSpPr>
          <p:nvPr>
            <p:ph idx="1"/>
          </p:nvPr>
        </p:nvSpPr>
        <p:spPr>
          <a:xfrm>
            <a:off x="381000" y="762000"/>
            <a:ext cx="8229600" cy="2286000"/>
          </a:xfrm>
        </p:spPr>
        <p:txBody>
          <a:bodyPr/>
          <a:lstStyle/>
          <a:p>
            <a:pPr marL="0" indent="0">
              <a:buNone/>
            </a:pPr>
            <a:r>
              <a:rPr lang="en-US" dirty="0"/>
              <a:t>For the finest control of limiting CORS requests:</a:t>
            </a:r>
          </a:p>
          <a:p>
            <a:pPr marL="0" indent="0">
              <a:buNone/>
            </a:pPr>
            <a:r>
              <a:rPr lang="en-US" dirty="0"/>
              <a:t>Use [</a:t>
            </a:r>
            <a:r>
              <a:rPr lang="en-US" dirty="0" err="1"/>
              <a:t>EnableCors</a:t>
            </a:r>
            <a:r>
              <a:rPr lang="en-US" dirty="0"/>
              <a:t>("</a:t>
            </a:r>
            <a:r>
              <a:rPr lang="en-US" dirty="0" err="1"/>
              <a:t>MyPolicy</a:t>
            </a:r>
            <a:r>
              <a:rPr lang="en-US" dirty="0"/>
              <a:t>")] with a named policy.</a:t>
            </a:r>
          </a:p>
          <a:p>
            <a:pPr marL="0" indent="0">
              <a:buNone/>
            </a:pPr>
            <a:r>
              <a:rPr lang="en-US" dirty="0"/>
              <a:t>Don't define a default policy.</a:t>
            </a:r>
          </a:p>
          <a:p>
            <a:pPr marL="0" indent="0">
              <a:buNone/>
            </a:pPr>
            <a:r>
              <a:rPr lang="en-US" dirty="0"/>
              <a:t>Don't use endpoint routing.</a:t>
            </a:r>
            <a:endParaRPr lang="en-IN" dirty="0"/>
          </a:p>
        </p:txBody>
      </p:sp>
      <p:sp>
        <p:nvSpPr>
          <p:cNvPr id="4" name="TextBox 3">
            <a:extLst>
              <a:ext uri="{FF2B5EF4-FFF2-40B4-BE49-F238E27FC236}">
                <a16:creationId xmlns:a16="http://schemas.microsoft.com/office/drawing/2014/main" xmlns="" id="{E661C5B8-6BCF-4A56-1491-E124310114C3}"/>
              </a:ext>
            </a:extLst>
          </p:cNvPr>
          <p:cNvSpPr txBox="1"/>
          <p:nvPr/>
        </p:nvSpPr>
        <p:spPr>
          <a:xfrm>
            <a:off x="838200" y="3200400"/>
            <a:ext cx="8077200" cy="1569660"/>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IN" sz="1600" dirty="0" err="1">
                <a:solidFill>
                  <a:srgbClr val="000000"/>
                </a:solidFill>
                <a:latin typeface="Cascadia Mono" panose="020B0609020000020004" pitchFamily="49" charset="0"/>
              </a:rPr>
              <a:t>builder.Services.AddCors</a:t>
            </a:r>
            <a:r>
              <a:rPr lang="en-IN" sz="1600" dirty="0">
                <a:solidFill>
                  <a:srgbClr val="000000"/>
                </a:solidFill>
                <a:latin typeface="Cascadia Mono" panose="020B0609020000020004" pitchFamily="49" charset="0"/>
              </a:rPr>
              <a:t>((p)=&gt;</a:t>
            </a:r>
            <a:r>
              <a:rPr lang="en-IN" sz="1600" dirty="0" err="1">
                <a:solidFill>
                  <a:srgbClr val="000000"/>
                </a:solidFill>
                <a:latin typeface="Cascadia Mono" panose="020B0609020000020004" pitchFamily="49" charset="0"/>
              </a:rPr>
              <a:t>p.AddDefaultPolicy</a:t>
            </a:r>
            <a:r>
              <a:rPr lang="en-IN" sz="1600" dirty="0">
                <a:solidFill>
                  <a:srgbClr val="000000"/>
                </a:solidFill>
                <a:latin typeface="Cascadia Mono" panose="020B0609020000020004" pitchFamily="49" charset="0"/>
              </a:rPr>
              <a:t>(                                   policy =&gt; </a:t>
            </a:r>
            <a:r>
              <a:rPr lang="en-IN" sz="1600" dirty="0" err="1">
                <a:solidFill>
                  <a:srgbClr val="000000"/>
                </a:solidFill>
                <a:latin typeface="Cascadia Mono" panose="020B0609020000020004" pitchFamily="49" charset="0"/>
              </a:rPr>
              <a:t>policy.WithOrigins</a:t>
            </a:r>
            <a:r>
              <a:rPr lang="en-IN" sz="1600" dirty="0">
                <a:solidFill>
                  <a:srgbClr val="000000"/>
                </a:solidFill>
                <a:latin typeface="Cascadia Mono" panose="020B0609020000020004" pitchFamily="49" charset="0"/>
              </a:rPr>
              <a:t>(</a:t>
            </a:r>
            <a:r>
              <a:rPr lang="en-IN" sz="1600" dirty="0">
                <a:solidFill>
                  <a:srgbClr val="A31515"/>
                </a:solidFill>
                <a:latin typeface="Cascadia Mono" panose="020B0609020000020004" pitchFamily="49" charset="0"/>
              </a:rPr>
              <a:t>"*"</a:t>
            </a:r>
            <a:r>
              <a:rPr lang="en-IN" sz="1600" dirty="0">
                <a:solidFill>
                  <a:srgbClr val="000000"/>
                </a:solidFill>
                <a:latin typeface="Cascadia Mono" panose="020B0609020000020004" pitchFamily="49" charset="0"/>
              </a:rPr>
              <a:t>)</a:t>
            </a:r>
          </a:p>
          <a:p>
            <a:r>
              <a:rPr lang="en-IN" sz="1600" dirty="0">
                <a:solidFill>
                  <a:srgbClr val="000000"/>
                </a:solidFill>
                <a:latin typeface="Cascadia Mono" panose="020B0609020000020004" pitchFamily="49" charset="0"/>
              </a:rPr>
              <a:t>	.</a:t>
            </a:r>
            <a:r>
              <a:rPr lang="en-IN" sz="1600" dirty="0" err="1">
                <a:solidFill>
                  <a:srgbClr val="000000"/>
                </a:solidFill>
                <a:latin typeface="Cascadia Mono" panose="020B0609020000020004" pitchFamily="49" charset="0"/>
              </a:rPr>
              <a:t>AllowAnyHeader</a:t>
            </a:r>
            <a:r>
              <a:rPr lang="en-IN" sz="1600" dirty="0">
                <a:solidFill>
                  <a:srgbClr val="000000"/>
                </a:solidFill>
                <a:latin typeface="Cascadia Mono" panose="020B0609020000020004" pitchFamily="49" charset="0"/>
              </a:rPr>
              <a:t>()</a:t>
            </a:r>
          </a:p>
          <a:p>
            <a:r>
              <a:rPr lang="en-IN" sz="1600">
                <a:solidFill>
                  <a:srgbClr val="000000"/>
                </a:solidFill>
                <a:latin typeface="Cascadia Mono" panose="020B0609020000020004" pitchFamily="49" charset="0"/>
              </a:rPr>
              <a:t>        .</a:t>
            </a:r>
            <a:r>
              <a:rPr lang="en-IN" sz="1600" dirty="0" err="1">
                <a:solidFill>
                  <a:srgbClr val="000000"/>
                </a:solidFill>
                <a:latin typeface="Cascadia Mono" panose="020B0609020000020004" pitchFamily="49" charset="0"/>
              </a:rPr>
              <a:t>AllowAnyMethod</a:t>
            </a:r>
            <a:r>
              <a:rPr lang="en-IN" sz="1600" dirty="0">
                <a:solidFill>
                  <a:srgbClr val="000000"/>
                </a:solidFill>
                <a:latin typeface="Cascadia Mono" panose="020B0609020000020004" pitchFamily="49" charset="0"/>
              </a:rPr>
              <a:t>()</a:t>
            </a:r>
          </a:p>
          <a:p>
            <a:r>
              <a:rPr lang="en-IN" sz="1600" dirty="0">
                <a:solidFill>
                  <a:srgbClr val="000000"/>
                </a:solidFill>
                <a:latin typeface="Cascadia Mono" panose="020B0609020000020004" pitchFamily="49" charset="0"/>
              </a:rPr>
              <a:t>                                                </a:t>
            </a:r>
          </a:p>
          <a:p>
            <a:r>
              <a:rPr lang="en-IN" sz="1600" dirty="0">
                <a:solidFill>
                  <a:srgbClr val="000000"/>
                </a:solidFill>
                <a:latin typeface="Cascadia Mono" panose="020B0609020000020004" pitchFamily="49" charset="0"/>
              </a:rPr>
              <a:t>  )        );</a:t>
            </a:r>
            <a:endParaRPr lang="en-IN" sz="4000" dirty="0"/>
          </a:p>
        </p:txBody>
      </p:sp>
      <p:sp>
        <p:nvSpPr>
          <p:cNvPr id="6" name="TextBox 5">
            <a:extLst>
              <a:ext uri="{FF2B5EF4-FFF2-40B4-BE49-F238E27FC236}">
                <a16:creationId xmlns:a16="http://schemas.microsoft.com/office/drawing/2014/main" xmlns="" id="{6D825543-B6CA-43CC-70EE-F098D6B6AE3B}"/>
              </a:ext>
            </a:extLst>
          </p:cNvPr>
          <p:cNvSpPr txBox="1"/>
          <p:nvPr/>
        </p:nvSpPr>
        <p:spPr>
          <a:xfrm>
            <a:off x="1524000" y="5638800"/>
            <a:ext cx="4612340"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IN" dirty="0" err="1"/>
              <a:t>app.UseCors</a:t>
            </a:r>
            <a:r>
              <a:rPr lang="en-IN" dirty="0"/>
              <a:t>();</a:t>
            </a:r>
          </a:p>
        </p:txBody>
      </p:sp>
    </p:spTree>
    <p:extLst>
      <p:ext uri="{BB962C8B-B14F-4D97-AF65-F5344CB8AC3E}">
        <p14:creationId xmlns:p14="http://schemas.microsoft.com/office/powerpoint/2010/main" val="22605917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059E3F02-AB2E-435E-9DCF-A6548C81174A}"/>
              </a:ext>
            </a:extLst>
          </p:cNvPr>
          <p:cNvSpPr txBox="1"/>
          <p:nvPr/>
        </p:nvSpPr>
        <p:spPr>
          <a:xfrm>
            <a:off x="1752600" y="457200"/>
            <a:ext cx="5943600"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Use XML Format With ASP.NET Core Web APIs</a:t>
            </a:r>
            <a:endParaRPr lang="en-IN" dirty="0"/>
          </a:p>
        </p:txBody>
      </p:sp>
      <p:sp>
        <p:nvSpPr>
          <p:cNvPr id="7" name="TextBox 6">
            <a:extLst>
              <a:ext uri="{FF2B5EF4-FFF2-40B4-BE49-F238E27FC236}">
                <a16:creationId xmlns:a16="http://schemas.microsoft.com/office/drawing/2014/main" xmlns="" id="{9970679C-7C0B-4202-8154-D27BE8BACB3F}"/>
              </a:ext>
            </a:extLst>
          </p:cNvPr>
          <p:cNvSpPr txBox="1"/>
          <p:nvPr/>
        </p:nvSpPr>
        <p:spPr>
          <a:xfrm>
            <a:off x="113072" y="1563469"/>
            <a:ext cx="4611328" cy="64633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err="1">
                <a:solidFill>
                  <a:srgbClr val="000000"/>
                </a:solidFill>
                <a:latin typeface="Cascadia Mono" panose="020B0609020000020004" pitchFamily="49" charset="0"/>
              </a:rPr>
              <a:t>builder.Services.AddControllers</a:t>
            </a:r>
            <a:r>
              <a:rPr lang="en-IN" dirty="0">
                <a:solidFill>
                  <a:srgbClr val="000000"/>
                </a:solidFill>
                <a:latin typeface="Cascadia Mono" panose="020B0609020000020004" pitchFamily="49" charset="0"/>
              </a:rPr>
              <a:t>().</a:t>
            </a:r>
            <a:r>
              <a:rPr lang="en-IN" dirty="0" err="1">
                <a:solidFill>
                  <a:schemeClr val="accent2">
                    <a:lumMod val="75000"/>
                  </a:schemeClr>
                </a:solidFill>
                <a:latin typeface="Cascadia Mono" panose="020B0609020000020004" pitchFamily="49" charset="0"/>
              </a:rPr>
              <a:t>AddXmlSerializerFormatters</a:t>
            </a:r>
            <a:r>
              <a:rPr lang="en-IN" dirty="0">
                <a:solidFill>
                  <a:srgbClr val="000000"/>
                </a:solidFill>
                <a:latin typeface="Cascadia Mono" panose="020B0609020000020004" pitchFamily="49" charset="0"/>
              </a:rPr>
              <a:t>(); </a:t>
            </a:r>
            <a:endParaRPr lang="en-IN" dirty="0"/>
          </a:p>
        </p:txBody>
      </p:sp>
      <p:sp>
        <p:nvSpPr>
          <p:cNvPr id="9" name="TextBox 8">
            <a:extLst>
              <a:ext uri="{FF2B5EF4-FFF2-40B4-BE49-F238E27FC236}">
                <a16:creationId xmlns:a16="http://schemas.microsoft.com/office/drawing/2014/main" xmlns="" id="{2C99C7C6-93E7-4FE9-B883-214E862DDEA0}"/>
              </a:ext>
            </a:extLst>
          </p:cNvPr>
          <p:cNvSpPr txBox="1"/>
          <p:nvPr/>
        </p:nvSpPr>
        <p:spPr>
          <a:xfrm>
            <a:off x="228600" y="2667000"/>
            <a:ext cx="4611328" cy="1477328"/>
          </a:xfrm>
          <a:prstGeom prst="rect">
            <a:avLst/>
          </a:prstGeom>
          <a:noFill/>
        </p:spPr>
        <p:txBody>
          <a:bodyPr wrap="square">
            <a:spAutoFit/>
          </a:bodyPr>
          <a:lstStyle/>
          <a:p>
            <a:r>
              <a:rPr lang="en-US" dirty="0"/>
              <a:t>if you want  to make XML as the default response format for an API action? That way you don't need to specify Accept header. You can accomplish this using [Produces] attribute. This is how you use [Produces] attribute on an action.</a:t>
            </a:r>
            <a:endParaRPr lang="en-IN" dirty="0"/>
          </a:p>
        </p:txBody>
      </p:sp>
      <p:sp>
        <p:nvSpPr>
          <p:cNvPr id="10" name="TextBox 9">
            <a:extLst>
              <a:ext uri="{FF2B5EF4-FFF2-40B4-BE49-F238E27FC236}">
                <a16:creationId xmlns:a16="http://schemas.microsoft.com/office/drawing/2014/main" xmlns="" id="{52A43FF5-740C-4B80-8331-446E4AF00629}"/>
              </a:ext>
            </a:extLst>
          </p:cNvPr>
          <p:cNvSpPr txBox="1"/>
          <p:nvPr/>
        </p:nvSpPr>
        <p:spPr>
          <a:xfrm>
            <a:off x="224246" y="4495800"/>
            <a:ext cx="4500154" cy="1754326"/>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IN" sz="900" dirty="0">
                <a:solidFill>
                  <a:srgbClr val="000000"/>
                </a:solidFill>
                <a:latin typeface="Cascadia Mono" panose="020B0609020000020004" pitchFamily="49" charset="0"/>
              </a:rPr>
              <a:t>[Produces(</a:t>
            </a:r>
            <a:r>
              <a:rPr lang="en-IN" sz="900" dirty="0">
                <a:solidFill>
                  <a:srgbClr val="A31515"/>
                </a:solidFill>
                <a:latin typeface="Cascadia Mono" panose="020B0609020000020004" pitchFamily="49" charset="0"/>
              </a:rPr>
              <a:t>"application/xml"</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HttpGet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async</a:t>
            </a:r>
            <a:r>
              <a:rPr lang="en-IN" sz="900" dirty="0">
                <a:solidFill>
                  <a:srgbClr val="000000"/>
                </a:solidFill>
                <a:latin typeface="Cascadia Mono" panose="020B0609020000020004" pitchFamily="49" charset="0"/>
              </a:rPr>
              <a:t> Task&lt;</a:t>
            </a:r>
            <a:r>
              <a:rPr lang="en-IN" sz="900" dirty="0" err="1">
                <a:solidFill>
                  <a:srgbClr val="000000"/>
                </a:solidFill>
                <a:latin typeface="Cascadia Mono" panose="020B0609020000020004" pitchFamily="49" charset="0"/>
              </a:rPr>
              <a:t>ActionResult</a:t>
            </a:r>
            <a:r>
              <a:rPr lang="en-IN" sz="900" dirty="0">
                <a:solidFill>
                  <a:srgbClr val="000000"/>
                </a:solidFill>
                <a:latin typeface="Cascadia Mono" panose="020B0609020000020004" pitchFamily="49" charset="0"/>
              </a:rPr>
              <a:t>&lt;</a:t>
            </a:r>
            <a:r>
              <a:rPr lang="en-IN" sz="900" dirty="0" err="1">
                <a:solidFill>
                  <a:srgbClr val="000000"/>
                </a:solidFill>
                <a:latin typeface="Cascadia Mono" panose="020B0609020000020004" pitchFamily="49" charset="0"/>
              </a:rPr>
              <a:t>IEnumerable</a:t>
            </a:r>
            <a:r>
              <a:rPr lang="en-IN" sz="900" dirty="0">
                <a:solidFill>
                  <a:srgbClr val="000000"/>
                </a:solidFill>
                <a:latin typeface="Cascadia Mono" panose="020B0609020000020004" pitchFamily="49" charset="0"/>
              </a:rPr>
              <a:t>&lt;Book&gt;&gt;&gt; </a:t>
            </a:r>
            <a:r>
              <a:rPr lang="en-IN" sz="900" dirty="0" err="1">
                <a:solidFill>
                  <a:srgbClr val="000000"/>
                </a:solidFill>
                <a:latin typeface="Cascadia Mono" panose="020B0609020000020004" pitchFamily="49" charset="0"/>
              </a:rPr>
              <a:t>GetBooks</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if</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await</a:t>
            </a:r>
            <a:r>
              <a:rPr lang="en-IN" sz="900" dirty="0">
                <a:solidFill>
                  <a:srgbClr val="000000"/>
                </a:solidFill>
                <a:latin typeface="Cascadia Mono" panose="020B0609020000020004" pitchFamily="49" charset="0"/>
              </a:rPr>
              <a:t> _</a:t>
            </a:r>
            <a:r>
              <a:rPr lang="en-IN" sz="900" dirty="0" err="1">
                <a:solidFill>
                  <a:srgbClr val="000000"/>
                </a:solidFill>
                <a:latin typeface="Cascadia Mono" panose="020B0609020000020004" pitchFamily="49" charset="0"/>
              </a:rPr>
              <a:t>repository.GetAllBook</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null</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NotFound</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await</a:t>
            </a:r>
            <a:r>
              <a:rPr lang="en-IN" sz="900" dirty="0">
                <a:solidFill>
                  <a:srgbClr val="000000"/>
                </a:solidFill>
                <a:latin typeface="Cascadia Mono" panose="020B0609020000020004" pitchFamily="49" charset="0"/>
              </a:rPr>
              <a:t> _</a:t>
            </a:r>
            <a:r>
              <a:rPr lang="en-IN" sz="900" dirty="0" err="1">
                <a:solidFill>
                  <a:srgbClr val="000000"/>
                </a:solidFill>
                <a:latin typeface="Cascadia Mono" panose="020B0609020000020004" pitchFamily="49" charset="0"/>
              </a:rPr>
              <a:t>repository.GetAllBook</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endParaRPr lang="en-IN" sz="900" dirty="0"/>
          </a:p>
        </p:txBody>
      </p:sp>
      <p:sp>
        <p:nvSpPr>
          <p:cNvPr id="12" name="TextBox 11">
            <a:extLst>
              <a:ext uri="{FF2B5EF4-FFF2-40B4-BE49-F238E27FC236}">
                <a16:creationId xmlns:a16="http://schemas.microsoft.com/office/drawing/2014/main" xmlns="" id="{186056F2-11A1-401F-98B0-D2C9A089D75C}"/>
              </a:ext>
            </a:extLst>
          </p:cNvPr>
          <p:cNvSpPr txBox="1"/>
          <p:nvPr/>
        </p:nvSpPr>
        <p:spPr>
          <a:xfrm>
            <a:off x="5105400" y="1397675"/>
            <a:ext cx="4611328" cy="523220"/>
          </a:xfrm>
          <a:prstGeom prst="rect">
            <a:avLst/>
          </a:prstGeom>
          <a:noFill/>
        </p:spPr>
        <p:txBody>
          <a:bodyPr wrap="square">
            <a:spAutoFit/>
          </a:bodyPr>
          <a:lstStyle/>
          <a:p>
            <a:r>
              <a:rPr lang="en-US" sz="1400" b="0" i="0" dirty="0">
                <a:solidFill>
                  <a:srgbClr val="191970"/>
                </a:solidFill>
                <a:effectLst/>
                <a:latin typeface="Hind" panose="02000000000000000000" pitchFamily="2" charset="0"/>
              </a:rPr>
              <a:t>What if you want to make XML as the default response format for the entire application. This is how you can do it:</a:t>
            </a:r>
            <a:endParaRPr lang="en-IN" sz="1400" dirty="0"/>
          </a:p>
        </p:txBody>
      </p:sp>
      <p:sp>
        <p:nvSpPr>
          <p:cNvPr id="14" name="TextBox 13">
            <a:extLst>
              <a:ext uri="{FF2B5EF4-FFF2-40B4-BE49-F238E27FC236}">
                <a16:creationId xmlns:a16="http://schemas.microsoft.com/office/drawing/2014/main" xmlns="" id="{F5F29DA0-60D9-404D-9AB4-AD008693D39F}"/>
              </a:ext>
            </a:extLst>
          </p:cNvPr>
          <p:cNvSpPr txBox="1"/>
          <p:nvPr/>
        </p:nvSpPr>
        <p:spPr>
          <a:xfrm>
            <a:off x="5329084" y="2209800"/>
            <a:ext cx="3738716" cy="1754326"/>
          </a:xfrm>
          <a:prstGeom prst="rect">
            <a:avLst/>
          </a:prstGeom>
          <a:noFill/>
        </p:spPr>
        <p:txBody>
          <a:bodyPr wrap="square">
            <a:spAutoFit/>
          </a:bodyPr>
          <a:lstStyle/>
          <a:p>
            <a:r>
              <a:rPr lang="en-IN" dirty="0" err="1"/>
              <a:t>services.AddMvc</a:t>
            </a:r>
            <a:r>
              <a:rPr lang="en-IN" dirty="0"/>
              <a:t>(option=&gt;{</a:t>
            </a:r>
          </a:p>
          <a:p>
            <a:r>
              <a:rPr lang="en-IN" dirty="0" err="1"/>
              <a:t>option.</a:t>
            </a:r>
            <a:r>
              <a:rPr lang="en-IN" b="1" dirty="0" err="1"/>
              <a:t>Filter</a:t>
            </a:r>
            <a:r>
              <a:rPr lang="en-IN" dirty="0" err="1"/>
              <a:t>.Add</a:t>
            </a:r>
            <a:r>
              <a:rPr lang="en-IN" dirty="0"/>
              <a:t>(new </a:t>
            </a:r>
            <a:r>
              <a:rPr lang="en-IN" dirty="0" err="1"/>
              <a:t>ProducesAttribute</a:t>
            </a:r>
            <a:r>
              <a:rPr lang="en-IN" dirty="0"/>
              <a:t>(application/xml))</a:t>
            </a:r>
          </a:p>
          <a:p>
            <a:r>
              <a:rPr lang="en-IN" dirty="0"/>
              <a:t>})</a:t>
            </a:r>
          </a:p>
          <a:p>
            <a:r>
              <a:rPr lang="en-IN" dirty="0"/>
              <a:t>        .</a:t>
            </a:r>
            <a:r>
              <a:rPr lang="en-IN" dirty="0" err="1"/>
              <a:t>AddNewtonsoftJson</a:t>
            </a:r>
            <a:r>
              <a:rPr lang="en-IN" dirty="0"/>
              <a:t>()</a:t>
            </a:r>
          </a:p>
          <a:p>
            <a:r>
              <a:rPr lang="en-IN" dirty="0"/>
              <a:t>        </a:t>
            </a:r>
            <a:r>
              <a:rPr lang="en-IN" dirty="0">
                <a:highlight>
                  <a:srgbClr val="FFFF00"/>
                </a:highlight>
              </a:rPr>
              <a:t>.</a:t>
            </a:r>
            <a:r>
              <a:rPr lang="en-IN" dirty="0" err="1">
                <a:highlight>
                  <a:srgbClr val="FFFF00"/>
                </a:highlight>
              </a:rPr>
              <a:t>AddXmlSerializerFormatters</a:t>
            </a:r>
            <a:r>
              <a:rPr lang="en-IN" dirty="0">
                <a:highlight>
                  <a:srgbClr val="FFFF00"/>
                </a:highlight>
              </a:rPr>
              <a:t>();</a:t>
            </a:r>
          </a:p>
        </p:txBody>
      </p:sp>
    </p:spTree>
    <p:extLst>
      <p:ext uri="{BB962C8B-B14F-4D97-AF65-F5344CB8AC3E}">
        <p14:creationId xmlns:p14="http://schemas.microsoft.com/office/powerpoint/2010/main" val="2814942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7340</TotalTime>
  <Words>4011</Words>
  <Application>Microsoft Office PowerPoint</Application>
  <PresentationFormat>On-screen Show (4:3)</PresentationFormat>
  <Paragraphs>732</Paragraphs>
  <Slides>48</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48</vt:i4>
      </vt:variant>
    </vt:vector>
  </HeadingPairs>
  <TitlesOfParts>
    <vt:vector size="60" baseType="lpstr">
      <vt:lpstr>Arial</vt:lpstr>
      <vt:lpstr>Cambria</vt:lpstr>
      <vt:lpstr>Cascadia Mono</vt:lpstr>
      <vt:lpstr>Consolas</vt:lpstr>
      <vt:lpstr>Garamond</vt:lpstr>
      <vt:lpstr>Hind</vt:lpstr>
      <vt:lpstr>IBMPlexMono</vt:lpstr>
      <vt:lpstr>Monaco</vt:lpstr>
      <vt:lpstr>Open Sans</vt:lpstr>
      <vt:lpstr>Segoe UI</vt:lpstr>
      <vt:lpstr>SFMono-Regular</vt:lpstr>
      <vt:lpstr>Office Theme</vt:lpstr>
      <vt:lpstr>PowerPoint Presentation</vt:lpstr>
      <vt:lpstr>What is a REST API?</vt:lpstr>
      <vt:lpstr>PowerPoint Presentation</vt:lpstr>
      <vt:lpstr>PowerPoint Presentation</vt:lpstr>
      <vt:lpstr>PowerPoint Presentation</vt:lpstr>
      <vt:lpstr>PowerPoint Presentation</vt:lpstr>
      <vt:lpstr>PowerPoint Presentation</vt:lpstr>
      <vt:lpstr>If scaffold-DbContext command does not work use following tool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a JWT Token?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Program.cs</vt:lpstr>
      <vt:lpstr>PowerPoint Presentation</vt:lpstr>
      <vt:lpstr>PowerPoint Presentation</vt:lpstr>
      <vt:lpstr>How to set token in swagger</vt:lpstr>
      <vt:lpstr>https://jwt.io to check encoded key</vt:lpstr>
      <vt:lpstr>PowerPoint Presentation</vt:lpstr>
      <vt:lpstr>CORS with named policy and middleware</vt:lpstr>
      <vt:lpstr>PowerPoint Presentation</vt:lpstr>
      <vt:lpstr>PowerPoint Presentation</vt:lpstr>
      <vt:lpstr>Enable CORS with attributes</vt:lpstr>
      <vt:lpstr>PowerPoint Presentation</vt:lpstr>
      <vt:lpstr>PowerPoint Presentation</vt:lpstr>
      <vt:lpstr>PowerPoint Presentation</vt:lpstr>
    </vt:vector>
  </TitlesOfParts>
  <Company>University at Buffalo</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.NET</dc:title>
  <dc:creator>Theory</dc:creator>
  <cp:lastModifiedBy>User</cp:lastModifiedBy>
  <cp:revision>127</cp:revision>
  <dcterms:created xsi:type="dcterms:W3CDTF">2012-07-28T05:50:39Z</dcterms:created>
  <dcterms:modified xsi:type="dcterms:W3CDTF">2024-05-28T10:39:08Z</dcterms:modified>
</cp:coreProperties>
</file>