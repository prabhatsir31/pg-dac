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3" r:id="rId2"/>
    <p:sldId id="256" r:id="rId3"/>
    <p:sldId id="265" r:id="rId4"/>
    <p:sldId id="257" r:id="rId5"/>
    <p:sldId id="258" r:id="rId6"/>
    <p:sldId id="259" r:id="rId7"/>
    <p:sldId id="260" r:id="rId8"/>
    <p:sldId id="272" r:id="rId9"/>
    <p:sldId id="262" r:id="rId10"/>
    <p:sldId id="263" r:id="rId11"/>
    <p:sldId id="266" r:id="rId12"/>
    <p:sldId id="267" r:id="rId13"/>
    <p:sldId id="269" r:id="rId14"/>
    <p:sldId id="268" r:id="rId15"/>
    <p:sldId id="270" r:id="rId16"/>
    <p:sldId id="271" r:id="rId17"/>
    <p:sldId id="264" r:id="rId18"/>
    <p:sldId id="26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21BF8B-8980-4967-BEB1-E20481D073A2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86DD7-487E-42A9-869F-0D4CE6D33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89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86DD7-487E-42A9-869F-0D4CE6D3384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428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86DD7-487E-42A9-869F-0D4CE6D3384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048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E0D51-AECC-4D4B-A19B-E83371EB25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967538-80F8-4376-A7B4-F41E7183F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82C4E-853A-4D6B-9641-E9237C892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48D69-E08A-4E14-B50B-3E43E2DB5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F03CA-0F4F-4FC1-A8C1-5BE03C4B0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5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29D2F-061D-4DB5-B855-0DD5EA3B0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A5609-1969-4EE2-AFD6-D45A814EE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E271A-8EB7-4A16-9A0E-9E111162E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9172A-60EC-4BC8-B40B-F976054C1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4F632-8F3E-4FFB-891D-75CC24523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632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301AB-0CC5-48F4-AEFB-6B662A96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49317-A05A-4B0B-8B94-A7F6E20E9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C02CF-A2AC-4E35-A1F3-B8AC03FB8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9D978-910D-4448-A5C5-4EEC881DA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AE98D-6737-4627-ADA7-79291C58B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531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0FE15-8A34-48F0-AE29-D54961768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4F716-A40B-4FD6-ADEC-F52D6DE8B1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2D015E-30E4-4453-A3F8-B84A83962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77DA1-83BC-47A9-8ADE-9F10B5E63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E375CC-D4C6-4F98-9AD9-7959C74AA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829D2-D810-4118-8A2F-A75739162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16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C97AE-6C23-4A5C-BCF1-C4C7A883A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AFDC0-A2F0-4E8C-9972-F8F88FAE5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877576-BF99-4336-B54A-029B13DEB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B3DD2B-059F-4514-BF47-70F2B1EDB5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066D59-2FE3-49B7-9DC8-495A63F42E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DDF9E3-1183-4A49-A565-F80F05C5A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9CFA74-42EB-4D53-A9BC-815220D5A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559145-3BE2-4B34-B4B0-04111A313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47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7AA55-2581-43C1-9F2C-5BF65DCA2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2565E9-43CC-4E27-BECB-78508B009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E576A-9D75-4CA0-A663-7DC3C6788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F5C7A1-BD2F-4C7B-A76E-78681FC03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922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259EC9-531D-4BAD-945D-46ED98152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E0A7E-9071-4B75-A47E-A6FEDCA90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84C19-77DD-4C39-B325-1D17D4E99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134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3F89C-5917-43A1-8F3C-E523437F2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B8747-DFE4-463B-87D1-B4797379F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F603E7-70F6-4F14-9776-749790DB6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9D7A3-EFBE-4A84-B4E3-6BD21BC9C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17A6E0-D739-490A-ABD5-2EAFABFBD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BA078-F286-41FE-A084-F5A5B0F7D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652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6B47-940B-4037-A575-922CFEE5A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A50D19-69D9-43BB-B18C-3622DB7AAF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EE0C8A-4C9A-4A9F-AD1D-7BB60E6496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5B2F99-840E-4199-920A-1DADA6A73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EFFA4-880A-4E97-B181-46162D7E3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F2E95-B297-4CC0-A1C2-D5D27B711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61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34E42-BD31-48A4-9545-9752AA5E7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0B432B-35CA-437D-A88A-C9557041FB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8136C-FF3C-4DC8-9D76-ED43D26BD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575FE-CBDF-402F-8CC0-B1BACB1CC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9C4B7-6FDF-4654-94F7-88014E1B7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15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B34E0A-E6C1-495E-AC57-46691AD4AD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121757-82CA-45F6-89DB-803E541F3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678ED-06FD-4148-99A2-187049784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A18F1-E330-46FC-A453-3E17455D1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772C4-D100-4012-9B91-9FBF4EB75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969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6683CD-3909-4B7B-AC15-9D14B231C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BA1A15-D952-407B-8895-CFAFD977D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BB085-00C3-4FE6-BA20-46D06D3AB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F85FC-0678-4968-80E4-813675CCD3C0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345F7-C782-4C0B-A14D-05D9FA7DF9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4B5AE-0BB1-4702-BE87-40DE91636F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969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questions/30987806/dbset-attachentity-vs-dbcontext-entryentity-state-entitystate-modified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C51F0-F25A-4754-F08D-39754418A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164" y="854764"/>
            <a:ext cx="10853531" cy="5835063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dirty="0"/>
              <a:t>Create Poco Class</a:t>
            </a:r>
          </a:p>
          <a:p>
            <a:pPr marL="514350" indent="-514350">
              <a:buAutoNum type="arabicPeriod"/>
            </a:pPr>
            <a:r>
              <a:rPr lang="en-US" dirty="0"/>
              <a:t>Create </a:t>
            </a:r>
            <a:r>
              <a:rPr lang="en-US" dirty="0" err="1"/>
              <a:t>AppDbcontext</a:t>
            </a:r>
            <a:r>
              <a:rPr lang="en-US" dirty="0"/>
              <a:t> class which is child of  </a:t>
            </a:r>
            <a:r>
              <a:rPr lang="en-US" dirty="0" err="1"/>
              <a:t>DbContext</a:t>
            </a:r>
            <a:r>
              <a:rPr lang="en-US" dirty="0"/>
              <a:t> class</a:t>
            </a:r>
          </a:p>
          <a:p>
            <a:pPr marL="514350" indent="-514350">
              <a:buAutoNum type="arabicPeriod"/>
            </a:pPr>
            <a:r>
              <a:rPr lang="en-US" dirty="0"/>
              <a:t>Create interface with CRUD method</a:t>
            </a:r>
          </a:p>
          <a:p>
            <a:pPr marL="514350" indent="-514350">
              <a:buAutoNum type="arabicPeriod"/>
            </a:pPr>
            <a:r>
              <a:rPr lang="en-US" dirty="0"/>
              <a:t>Create Service class which will implement interface. In this class inject child of </a:t>
            </a:r>
            <a:r>
              <a:rPr lang="en-US" dirty="0" err="1"/>
              <a:t>DbContext</a:t>
            </a:r>
            <a:r>
              <a:rPr lang="en-US" dirty="0"/>
              <a:t> class reference</a:t>
            </a:r>
          </a:p>
          <a:p>
            <a:pPr marL="514350" indent="-514350">
              <a:buAutoNum type="arabicPeriod"/>
            </a:pPr>
            <a:r>
              <a:rPr lang="en-US" dirty="0"/>
              <a:t>Implement CRUD methods</a:t>
            </a:r>
          </a:p>
          <a:p>
            <a:pPr marL="514350" indent="-514350">
              <a:buAutoNum type="arabicPeriod"/>
            </a:pPr>
            <a:r>
              <a:rPr lang="en-US" dirty="0"/>
              <a:t>Put connection string  in </a:t>
            </a:r>
            <a:r>
              <a:rPr lang="en-US" dirty="0" err="1"/>
              <a:t>Appsetting.json</a:t>
            </a:r>
            <a:r>
              <a:rPr lang="en-US" dirty="0"/>
              <a:t> file</a:t>
            </a:r>
          </a:p>
          <a:p>
            <a:pPr marL="514350" indent="-514350">
              <a:buAutoNum type="arabicPeriod"/>
            </a:pPr>
            <a:r>
              <a:rPr lang="en-US" dirty="0"/>
              <a:t>Configure services in </a:t>
            </a:r>
            <a:r>
              <a:rPr lang="en-US" dirty="0" err="1"/>
              <a:t>program.cs</a:t>
            </a:r>
            <a:r>
              <a:rPr lang="en-US" dirty="0"/>
              <a:t> file</a:t>
            </a:r>
          </a:p>
          <a:p>
            <a:pPr marL="514350" indent="-514350">
              <a:buAutoNum type="arabicPeriod"/>
            </a:pPr>
            <a:r>
              <a:rPr lang="en-US" dirty="0"/>
              <a:t>Add-</a:t>
            </a:r>
            <a:r>
              <a:rPr lang="en-US" dirty="0" err="1"/>
              <a:t>Migeration</a:t>
            </a:r>
            <a:r>
              <a:rPr lang="en-US" dirty="0"/>
              <a:t> and update-Database</a:t>
            </a:r>
          </a:p>
          <a:p>
            <a:pPr marL="514350" indent="-514350">
              <a:buAutoNum type="arabicPeriod"/>
            </a:pPr>
            <a:r>
              <a:rPr lang="en-US" dirty="0"/>
              <a:t>Add controller with read write action and modify code. Call method of service class</a:t>
            </a:r>
          </a:p>
          <a:p>
            <a:pPr marL="514350" indent="-514350">
              <a:buAutoNum type="arabicPeriod"/>
            </a:pPr>
            <a:r>
              <a:rPr lang="en-US" dirty="0"/>
              <a:t>Write click on Action method and generate views.[</a:t>
            </a:r>
            <a:r>
              <a:rPr lang="en-US" dirty="0" err="1"/>
              <a:t>list,details,delete,edit</a:t>
            </a:r>
            <a:r>
              <a:rPr lang="en-US" dirty="0"/>
              <a:t>]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A0F0E-EBB5-D958-C29B-075925B55CB3}"/>
              </a:ext>
            </a:extLst>
          </p:cNvPr>
          <p:cNvSpPr txBox="1"/>
          <p:nvPr/>
        </p:nvSpPr>
        <p:spPr>
          <a:xfrm>
            <a:off x="2638011" y="168172"/>
            <a:ext cx="4180232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/>
              <a:t>Steps to do the MVC CRUD with Entity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6164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174178-5E34-4D39-A300-1A86150730F1}"/>
              </a:ext>
            </a:extLst>
          </p:cNvPr>
          <p:cNvSpPr txBox="1"/>
          <p:nvPr/>
        </p:nvSpPr>
        <p:spPr>
          <a:xfrm>
            <a:off x="1946787" y="1397675"/>
            <a:ext cx="4670322" cy="2031325"/>
          </a:xfrm>
          <a:prstGeom prst="rect">
            <a:avLst/>
          </a:prstGeom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 err="1"/>
              <a:t>Microsoft.EntityFrameworkCore</a:t>
            </a:r>
            <a:endParaRPr lang="en-IN" dirty="0"/>
          </a:p>
          <a:p>
            <a:r>
              <a:rPr lang="en-IN" dirty="0" err="1"/>
              <a:t>Microsoft.EntityFrameworkCore.SqlServer</a:t>
            </a:r>
            <a:endParaRPr lang="en-IN" dirty="0"/>
          </a:p>
          <a:p>
            <a:r>
              <a:rPr lang="en-IN" dirty="0" err="1"/>
              <a:t>Microsoft.EntityFrameworkCore.Tools</a:t>
            </a:r>
            <a:endParaRPr lang="en-IN" dirty="0"/>
          </a:p>
          <a:p>
            <a:r>
              <a:rPr lang="en-IN" dirty="0" err="1"/>
              <a:t>Microsoft.EntityFrameworkCore.Design</a:t>
            </a:r>
            <a:endParaRPr lang="en-IN" dirty="0"/>
          </a:p>
          <a:p>
            <a:r>
              <a:rPr lang="en-IN" dirty="0" err="1"/>
              <a:t>Microsoft.Extensions.Configuration.Json</a:t>
            </a:r>
            <a:endParaRPr lang="en-IN" dirty="0"/>
          </a:p>
          <a:p>
            <a:r>
              <a:rPr lang="en-IN" dirty="0"/>
              <a:t>dotnet tool install --global dotnet-</a:t>
            </a:r>
            <a:r>
              <a:rPr lang="en-IN" dirty="0" err="1"/>
              <a:t>ef</a:t>
            </a:r>
            <a:endParaRPr lang="en-IN" dirty="0"/>
          </a:p>
          <a:p>
            <a:r>
              <a:rPr lang="en-IN" dirty="0"/>
              <a:t>Dotnet </a:t>
            </a:r>
            <a:r>
              <a:rPr lang="en-IN" dirty="0" err="1"/>
              <a:t>ef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FE819B-1286-4333-B1EF-0E70992F3682}"/>
              </a:ext>
            </a:extLst>
          </p:cNvPr>
          <p:cNvSpPr txBox="1"/>
          <p:nvPr/>
        </p:nvSpPr>
        <p:spPr>
          <a:xfrm>
            <a:off x="1838632" y="275303"/>
            <a:ext cx="6666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Dependancy</a:t>
            </a:r>
            <a:r>
              <a:rPr lang="en-IN" dirty="0"/>
              <a:t> Required for this 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A31D6E-6492-BDF1-5BFA-DDDB5EB1B0AE}"/>
              </a:ext>
            </a:extLst>
          </p:cNvPr>
          <p:cNvSpPr txBox="1"/>
          <p:nvPr/>
        </p:nvSpPr>
        <p:spPr>
          <a:xfrm>
            <a:off x="2535461" y="4182040"/>
            <a:ext cx="60944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Install-Package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Microsoft.EntityFrameworkCore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>
              <a:defRPr/>
            </a:pPr>
            <a:r>
              <a:rPr lang="en-IN" dirty="0">
                <a:solidFill>
                  <a:prstClr val="black"/>
                </a:solidFill>
              </a:rPr>
              <a:t>Install-Package </a:t>
            </a:r>
            <a:r>
              <a:rPr lang="en-IN" dirty="0" err="1">
                <a:solidFill>
                  <a:prstClr val="black"/>
                </a:solidFill>
              </a:rPr>
              <a:t>Microsoft.EntityFrameworkCore.SqlServer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>
              <a:defRPr/>
            </a:pPr>
            <a:r>
              <a:rPr lang="en-IN" dirty="0">
                <a:solidFill>
                  <a:prstClr val="black"/>
                </a:solidFill>
              </a:rPr>
              <a:t>Install-Package  </a:t>
            </a:r>
            <a:r>
              <a:rPr lang="en-IN" dirty="0" err="1">
                <a:solidFill>
                  <a:prstClr val="black"/>
                </a:solidFill>
              </a:rPr>
              <a:t>Microsoft.EntityFrameworkCore.Tools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>
              <a:defRPr/>
            </a:pPr>
            <a:r>
              <a:rPr lang="en-IN" dirty="0">
                <a:solidFill>
                  <a:prstClr val="black"/>
                </a:solidFill>
              </a:rPr>
              <a:t>Install-Package  </a:t>
            </a:r>
            <a:r>
              <a:rPr lang="en-IN" dirty="0" err="1">
                <a:solidFill>
                  <a:prstClr val="black"/>
                </a:solidFill>
              </a:rPr>
              <a:t>Microsoft.EntityFrameworkCore.Design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>
              <a:defRPr/>
            </a:pPr>
            <a:endParaRPr lang="en-IN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IN" dirty="0">
                <a:solidFill>
                  <a:prstClr val="black"/>
                </a:solidFill>
              </a:rPr>
              <a:t>Install-Package  </a:t>
            </a:r>
            <a:r>
              <a:rPr lang="en-IN" dirty="0" err="1">
                <a:solidFill>
                  <a:prstClr val="black"/>
                </a:solidFill>
              </a:rPr>
              <a:t>Microsoft.Extensions.Configuration.Json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Microsoft.VisualStudio.Web.CodeGeneration.Design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6C3F82-3F47-F023-9F71-3379EEDFB388}"/>
              </a:ext>
            </a:extLst>
          </p:cNvPr>
          <p:cNvSpPr txBox="1"/>
          <p:nvPr/>
        </p:nvSpPr>
        <p:spPr>
          <a:xfrm>
            <a:off x="8026400" y="645803"/>
            <a:ext cx="3463413" cy="34163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07070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.NET Core for developing web applications and APIs.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707070"/>
              </a:solidFill>
              <a:highlight>
                <a:srgbClr val="FFFFFF"/>
              </a:highlight>
              <a:latin typeface="Open Sans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07070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.NET Core provides the foundation and runtime for running any .NET Core application,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707070"/>
              </a:solidFill>
              <a:highlight>
                <a:srgbClr val="FFFFFF"/>
              </a:highlight>
              <a:latin typeface="Open Sans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707070"/>
              </a:solidFill>
              <a:effectLst/>
              <a:highlight>
                <a:srgbClr val="FFFFFF"/>
              </a:highlight>
              <a:latin typeface="Open Sans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07070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while ASP.NET Core extends .NET Core with web-specific features and tools.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1093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ACA47C-1223-0104-0B0D-75B202085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310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1001F2-246C-4F14-9E1A-7FDA633FBB18}"/>
              </a:ext>
            </a:extLst>
          </p:cNvPr>
          <p:cNvSpPr txBox="1"/>
          <p:nvPr/>
        </p:nvSpPr>
        <p:spPr>
          <a:xfrm>
            <a:off x="78658" y="0"/>
            <a:ext cx="4591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Models Folder has following classes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096362-B364-4522-8BC5-1A4392EFF304}"/>
              </a:ext>
            </a:extLst>
          </p:cNvPr>
          <p:cNvSpPr txBox="1"/>
          <p:nvPr/>
        </p:nvSpPr>
        <p:spPr>
          <a:xfrm>
            <a:off x="481781" y="756688"/>
            <a:ext cx="45031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interface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50" dirty="0" err="1">
                <a:solidFill>
                  <a:srgbClr val="2B91AF"/>
                </a:solidFill>
                <a:latin typeface="Consolas" panose="020B0609020204030204" pitchFamily="49" charset="0"/>
              </a:rPr>
              <a:t>IEmployeeRepository</a:t>
            </a:r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Employee </a:t>
            </a:r>
            <a:r>
              <a:rPr lang="en-IN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GetEmployee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Id);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IEnumerable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&lt;Employee&gt; </a:t>
            </a:r>
            <a:r>
              <a:rPr lang="en-IN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GetAllEmployee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05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Employee Add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(Employee employee);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Employee Update(Employee </a:t>
            </a:r>
            <a:r>
              <a:rPr lang="en-IN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employeeChanges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Employee Delete(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Id);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en-IN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040DC4-8E7D-4559-B0AA-55B61DDE5778}"/>
              </a:ext>
            </a:extLst>
          </p:cNvPr>
          <p:cNvSpPr txBox="1"/>
          <p:nvPr/>
        </p:nvSpPr>
        <p:spPr>
          <a:xfrm>
            <a:off x="5604387" y="184666"/>
            <a:ext cx="5919019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System.Collections.Generic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IN" sz="1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SQLEmployeeRepository</a:t>
            </a:r>
            <a:r>
              <a:rPr lang="en-IN" sz="1000" dirty="0">
                <a:solidFill>
                  <a:srgbClr val="2B91AF"/>
                </a:solidFill>
                <a:latin typeface="Consolas" panose="020B0609020204030204" pitchFamily="49" charset="0"/>
              </a:rPr>
              <a:t>: </a:t>
            </a:r>
            <a:r>
              <a:rPr lang="en-IN" sz="1000" dirty="0" err="1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IEmployeeRepository</a:t>
            </a:r>
            <a:endParaRPr lang="en-IN" sz="10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FF"/>
                </a:solidFill>
                <a:latin typeface="Consolas" panose="020B0609020204030204" pitchFamily="49" charset="0"/>
              </a:rPr>
              <a:t>readonly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Appdbcontaxcts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context;</a:t>
            </a:r>
          </a:p>
          <a:p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SQLEmployeeRepository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Appdbcontaxcts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context)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0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.context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= context;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Employee Add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(Employee employee)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000" dirty="0" err="1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context.Employees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IN" sz="1000" dirty="0" err="1">
                <a:solidFill>
                  <a:srgbClr val="FF0000"/>
                </a:solidFill>
                <a:latin typeface="Consolas" panose="020B0609020204030204" pitchFamily="49" charset="0"/>
              </a:rPr>
              <a:t>Add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(employee);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000" dirty="0" err="1">
                <a:solidFill>
                  <a:srgbClr val="FF0000"/>
                </a:solidFill>
                <a:latin typeface="Consolas" panose="020B0609020204030204" pitchFamily="49" charset="0"/>
              </a:rPr>
              <a:t>context.SaveChanges</a:t>
            </a:r>
            <a:r>
              <a:rPr lang="en-IN" sz="1000" dirty="0">
                <a:solidFill>
                  <a:srgbClr val="FF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employee;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Employee Delete(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Id)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Employee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context.Employees.Find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(Id);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(employee !=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context.Employees.Remove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(employee);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context.SaveChanges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employee;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IEnumerable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&lt;Employee&gt;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GetAllEmployee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context.Employees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Employee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GetEmployee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Id)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context.Employees.SingleOrDefault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(data=&gt;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data.Id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==Id)</a:t>
            </a:r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context.Employees.Find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(Id);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Employee Update(Employee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employeeChanges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context.Entry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employeeChanges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).State =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EntityState.Modified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context.Update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employeeChanges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context.SaveChanges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employeeChanges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en-IN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DA5212-24AB-49E2-B940-6E6AC1FE1991}"/>
              </a:ext>
            </a:extLst>
          </p:cNvPr>
          <p:cNvSpPr txBox="1"/>
          <p:nvPr/>
        </p:nvSpPr>
        <p:spPr>
          <a:xfrm>
            <a:off x="334297" y="2367171"/>
            <a:ext cx="4841018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latin typeface="Consolas" panose="020B0609020204030204" pitchFamily="49" charset="0"/>
              </a:rPr>
              <a:t>Employee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Id {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Name {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Email {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Department {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E59152-2A89-4A7E-ACF2-EEA72A0C809A}"/>
              </a:ext>
            </a:extLst>
          </p:cNvPr>
          <p:cNvSpPr txBox="1"/>
          <p:nvPr/>
        </p:nvSpPr>
        <p:spPr>
          <a:xfrm>
            <a:off x="477411" y="4246715"/>
            <a:ext cx="55254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Microsoft.EntityFrameworkCore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IN" sz="9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latin typeface="Consolas" panose="020B0609020204030204" pitchFamily="49" charset="0"/>
              </a:rPr>
              <a:t>Appdbcontaxcts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IN" sz="900" dirty="0" err="1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DbContext</a:t>
            </a:r>
            <a:endParaRPr lang="en-IN" sz="900" dirty="0">
              <a:solidFill>
                <a:srgbClr val="000000"/>
              </a:solidFill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latin typeface="Consolas" panose="020B0609020204030204" pitchFamily="49" charset="0"/>
              </a:rPr>
              <a:t>Appdbcontaxcts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DbContextOptions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Appdbcontaxcts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&gt; options)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: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base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(options)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DbSet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&lt;Employee&gt; </a:t>
            </a:r>
            <a:r>
              <a:rPr lang="en-US" sz="90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Employees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en-IN" dirty="0"/>
          </a:p>
        </p:txBody>
      </p:sp>
      <p:sp>
        <p:nvSpPr>
          <p:cNvPr id="2" name="Rectangle 1"/>
          <p:cNvSpPr/>
          <p:nvPr/>
        </p:nvSpPr>
        <p:spPr>
          <a:xfrm>
            <a:off x="78658" y="631250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https://itnext.io/how-to-use-enums-when-using-entity-framework-core-with-c-bb634692a4b0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78806F5-14EB-96A1-7CD8-DA06BAD316D4}"/>
              </a:ext>
            </a:extLst>
          </p:cNvPr>
          <p:cNvCxnSpPr/>
          <p:nvPr/>
        </p:nvCxnSpPr>
        <p:spPr>
          <a:xfrm>
            <a:off x="8003357" y="2073897"/>
            <a:ext cx="1291472" cy="179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FE4A1EF-BB0C-90D0-F57C-55AE7A006ADD}"/>
              </a:ext>
            </a:extLst>
          </p:cNvPr>
          <p:cNvSpPr txBox="1"/>
          <p:nvPr/>
        </p:nvSpPr>
        <p:spPr>
          <a:xfrm>
            <a:off x="9347538" y="2024951"/>
            <a:ext cx="2123159" cy="2769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Method of </a:t>
            </a:r>
            <a:r>
              <a:rPr lang="en-US" sz="1200" dirty="0" err="1"/>
              <a:t>DbContext</a:t>
            </a:r>
            <a:r>
              <a:rPr lang="en-US" sz="1200" dirty="0"/>
              <a:t> class</a:t>
            </a:r>
            <a:endParaRPr lang="en-IN" sz="12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4FFA119-B42C-A39B-9528-159145A87E7D}"/>
              </a:ext>
            </a:extLst>
          </p:cNvPr>
          <p:cNvCxnSpPr/>
          <p:nvPr/>
        </p:nvCxnSpPr>
        <p:spPr>
          <a:xfrm>
            <a:off x="7909089" y="2141683"/>
            <a:ext cx="1677971" cy="225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B69EEEB-27D1-178A-2D1E-954C7D2CAE51}"/>
              </a:ext>
            </a:extLst>
          </p:cNvPr>
          <p:cNvSpPr/>
          <p:nvPr/>
        </p:nvSpPr>
        <p:spPr>
          <a:xfrm>
            <a:off x="9457010" y="2447408"/>
            <a:ext cx="2307642" cy="45067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Query get fire </a:t>
            </a:r>
            <a:r>
              <a:rPr lang="en-US" sz="1400" dirty="0"/>
              <a:t>when you call this method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091FC7-4DAC-7E94-B853-B676E4481D6F}"/>
              </a:ext>
            </a:extLst>
          </p:cNvPr>
          <p:cNvSpPr txBox="1"/>
          <p:nvPr/>
        </p:nvSpPr>
        <p:spPr>
          <a:xfrm>
            <a:off x="285136" y="360702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 a Microsoft.EntityFrameworkCore.DbContextOptionsBuilder`1 to create instances</a:t>
            </a:r>
            <a:endParaRPr lang="en-IN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    of this class and it is not designed to be directly constructed in your application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    code.</a:t>
            </a:r>
            <a:endParaRPr lang="en-IN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898D47-5B30-229C-EAE1-826447E042ED}"/>
              </a:ext>
            </a:extLst>
          </p:cNvPr>
          <p:cNvSpPr txBox="1"/>
          <p:nvPr/>
        </p:nvSpPr>
        <p:spPr>
          <a:xfrm>
            <a:off x="138744" y="5850843"/>
            <a:ext cx="6096000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333333"/>
                </a:solidFill>
                <a:effectLst/>
                <a:latin typeface="PT Serif" panose="020A0603040505020204" pitchFamily="18" charset="0"/>
              </a:rPr>
              <a:t>The </a:t>
            </a:r>
            <a:r>
              <a:rPr lang="en-US" sz="1200" b="0" i="0" dirty="0" err="1">
                <a:solidFill>
                  <a:srgbClr val="1F00FF"/>
                </a:solidFill>
                <a:effectLst/>
                <a:latin typeface="PT Serif" panose="020A0603040505020204" pitchFamily="18" charset="0"/>
              </a:rPr>
              <a:t>DbContextOptions</a:t>
            </a:r>
            <a:r>
              <a:rPr lang="en-US" sz="1200" b="0" i="0" dirty="0">
                <a:solidFill>
                  <a:srgbClr val="1F00FF"/>
                </a:solidFill>
                <a:effectLst/>
                <a:latin typeface="PT Serif" panose="020A0603040505020204" pitchFamily="18" charset="0"/>
              </a:rPr>
              <a:t> </a:t>
            </a:r>
            <a:r>
              <a:rPr lang="en-US" sz="1200" b="0" i="0" dirty="0">
                <a:solidFill>
                  <a:srgbClr val="333333"/>
                </a:solidFill>
                <a:effectLst/>
                <a:latin typeface="PT Serif" panose="020A0603040505020204" pitchFamily="18" charset="0"/>
              </a:rPr>
              <a:t>instance carries configuration information such as the connection string, database provider to use etc.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719353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D4C911-B2E3-DE50-B9E0-EC4F0BC0D230}"/>
              </a:ext>
            </a:extLst>
          </p:cNvPr>
          <p:cNvSpPr txBox="1"/>
          <p:nvPr/>
        </p:nvSpPr>
        <p:spPr>
          <a:xfrm>
            <a:off x="0" y="0"/>
            <a:ext cx="11841018" cy="80021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02124"/>
                </a:solidFill>
                <a:effectLst/>
                <a:latin typeface="Google Sans"/>
              </a:rPr>
              <a:t>What is attach in Entity Framework?</a:t>
            </a:r>
            <a:endParaRPr lang="en-US" b="1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sz="1400" b="0" i="0" dirty="0">
                <a:solidFill>
                  <a:srgbClr val="4D5156"/>
                </a:solidFill>
                <a:effectLst/>
                <a:latin typeface="Google Sans"/>
              </a:rPr>
              <a:t>Attach is </a:t>
            </a:r>
            <a:r>
              <a:rPr lang="en-US" sz="1400" b="0" i="0" dirty="0">
                <a:solidFill>
                  <a:srgbClr val="040C28"/>
                </a:solidFill>
                <a:effectLst/>
                <a:latin typeface="Google Sans"/>
              </a:rPr>
              <a:t>used to </a:t>
            </a:r>
            <a:r>
              <a:rPr lang="en-US" sz="1400" b="1" i="0" dirty="0">
                <a:solidFill>
                  <a:srgbClr val="040C28"/>
                </a:solidFill>
                <a:effectLst/>
                <a:latin typeface="Google Sans"/>
              </a:rPr>
              <a:t>repopulate a context with an entity </a:t>
            </a:r>
            <a:r>
              <a:rPr lang="en-US" sz="1400" b="0" i="0" dirty="0">
                <a:solidFill>
                  <a:srgbClr val="040C28"/>
                </a:solidFill>
                <a:effectLst/>
                <a:latin typeface="Google Sans"/>
              </a:rPr>
              <a:t>that is known to </a:t>
            </a:r>
            <a:r>
              <a:rPr lang="en-US" sz="1400" b="1" i="0" dirty="0">
                <a:solidFill>
                  <a:srgbClr val="040C28"/>
                </a:solidFill>
                <a:effectLst/>
                <a:latin typeface="Google Sans"/>
              </a:rPr>
              <a:t>already exist in </a:t>
            </a:r>
            <a:r>
              <a:rPr lang="en-US" sz="1400" b="0" i="0" dirty="0">
                <a:solidFill>
                  <a:srgbClr val="040C28"/>
                </a:solidFill>
                <a:effectLst/>
                <a:latin typeface="Google Sans"/>
              </a:rPr>
              <a:t>the database</a:t>
            </a:r>
            <a:r>
              <a:rPr lang="en-US" sz="1400" b="0" i="0" dirty="0">
                <a:solidFill>
                  <a:srgbClr val="4D5156"/>
                </a:solidFill>
                <a:effectLst/>
                <a:latin typeface="Google Sans"/>
              </a:rPr>
              <a:t>. </a:t>
            </a:r>
            <a:r>
              <a:rPr lang="en-US" sz="1400" b="0" i="0" dirty="0" err="1">
                <a:solidFill>
                  <a:srgbClr val="4D5156"/>
                </a:solidFill>
                <a:effectLst/>
                <a:latin typeface="Google Sans"/>
              </a:rPr>
              <a:t>SaveChanges</a:t>
            </a:r>
            <a:r>
              <a:rPr lang="en-US" sz="1400" b="0" i="0" dirty="0">
                <a:solidFill>
                  <a:srgbClr val="4D5156"/>
                </a:solidFill>
                <a:effectLst/>
                <a:latin typeface="Google Sans"/>
              </a:rPr>
              <a:t> will therefore </a:t>
            </a:r>
            <a:r>
              <a:rPr lang="en-US" sz="1400" b="1" i="0" dirty="0">
                <a:solidFill>
                  <a:srgbClr val="4D5156"/>
                </a:solidFill>
                <a:effectLst/>
                <a:latin typeface="Google Sans"/>
              </a:rPr>
              <a:t>not attempt to insert an attached entity into the database because it is assumed to already be there.</a:t>
            </a:r>
            <a:endParaRPr lang="en-US" sz="1400" b="1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955667"/>
            <a:ext cx="118410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What is the difference between attach and add in </a:t>
            </a:r>
            <a:r>
              <a:rPr lang="en-US" b="1" dirty="0" err="1"/>
              <a:t>DbContext</a:t>
            </a:r>
            <a:r>
              <a:rPr lang="en-US" dirty="0"/>
              <a:t>?</a:t>
            </a:r>
          </a:p>
          <a:p>
            <a:r>
              <a:rPr lang="en-US" b="1" dirty="0"/>
              <a:t>Add is to indicate to the Entity Framework that we are going to insert a new record in the database</a:t>
            </a:r>
            <a:r>
              <a:rPr lang="en-US" dirty="0"/>
              <a:t>. In contrast, Entry and Attach are used in scenarios where the record already exists in the database, and we simply want to make some kind of modification on it. </a:t>
            </a:r>
            <a:endParaRPr lang="en-US" dirty="0">
              <a:effectLst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8554" y="2155996"/>
            <a:ext cx="866177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 err="1">
                <a:hlinkClick r:id="rId2"/>
              </a:rPr>
              <a:t>DbSet.Attach</a:t>
            </a:r>
            <a:r>
              <a:rPr lang="en-IN" sz="2000" b="1" dirty="0">
                <a:hlinkClick r:id="rId2"/>
              </a:rPr>
              <a:t>(entity) vs </a:t>
            </a:r>
            <a:r>
              <a:rPr lang="en-IN" sz="2000" b="1" dirty="0" err="1">
                <a:hlinkClick r:id="rId2"/>
              </a:rPr>
              <a:t>DbContext.Entry</a:t>
            </a:r>
            <a:r>
              <a:rPr lang="en-IN" sz="2000" b="1" dirty="0">
                <a:hlinkClick r:id="rId2"/>
              </a:rPr>
              <a:t>(entity).State = </a:t>
            </a:r>
            <a:r>
              <a:rPr lang="en-IN" sz="2000" b="1" dirty="0" err="1">
                <a:hlinkClick r:id="rId2"/>
              </a:rPr>
              <a:t>EntityState.Modified</a:t>
            </a:r>
            <a:endParaRPr lang="en-IN" sz="2000" b="1" dirty="0"/>
          </a:p>
        </p:txBody>
      </p:sp>
      <p:sp>
        <p:nvSpPr>
          <p:cNvPr id="8" name="Rectangle 7"/>
          <p:cNvSpPr/>
          <p:nvPr/>
        </p:nvSpPr>
        <p:spPr>
          <a:xfrm>
            <a:off x="184728" y="2155996"/>
            <a:ext cx="11656290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sz="1600" dirty="0"/>
          </a:p>
          <a:p>
            <a:r>
              <a:rPr lang="en-US" sz="1600" dirty="0"/>
              <a:t>When you do </a:t>
            </a:r>
            <a:r>
              <a:rPr lang="en-US" sz="1600" dirty="0" err="1"/>
              <a:t>context.Entry</a:t>
            </a:r>
            <a:r>
              <a:rPr lang="en-US" sz="1600" dirty="0"/>
              <a:t>(entity).State = </a:t>
            </a:r>
            <a:r>
              <a:rPr lang="en-US" sz="1600" dirty="0" err="1"/>
              <a:t>EntityState.Modified</a:t>
            </a:r>
            <a:r>
              <a:rPr lang="en-US" sz="1600" dirty="0"/>
              <a:t>;, you are not only attaching the entity to the </a:t>
            </a:r>
            <a:r>
              <a:rPr lang="en-US" sz="1600" dirty="0" err="1"/>
              <a:t>DbContext</a:t>
            </a:r>
            <a:r>
              <a:rPr lang="en-US" sz="1600" dirty="0"/>
              <a:t>, you are also marking the whole entity as dirty. This means that when you do </a:t>
            </a:r>
            <a:r>
              <a:rPr lang="en-US" sz="1600" dirty="0" err="1"/>
              <a:t>context.SaveChanges</a:t>
            </a:r>
            <a:r>
              <a:rPr lang="en-US" sz="1600" dirty="0"/>
              <a:t>(), EF will generate </a:t>
            </a:r>
            <a:r>
              <a:rPr lang="en-US" sz="1600" b="1" dirty="0"/>
              <a:t>an update statement </a:t>
            </a:r>
            <a:r>
              <a:rPr lang="en-US" sz="1600" dirty="0"/>
              <a:t>that will update </a:t>
            </a:r>
            <a:r>
              <a:rPr lang="en-US" sz="1600" b="1" dirty="0"/>
              <a:t>all the fields of the entity.</a:t>
            </a:r>
          </a:p>
          <a:p>
            <a:endParaRPr lang="en-US" sz="1600" dirty="0"/>
          </a:p>
          <a:p>
            <a:r>
              <a:rPr lang="en-US" sz="1600" dirty="0"/>
              <a:t>This is not always desired.</a:t>
            </a:r>
          </a:p>
          <a:p>
            <a:endParaRPr lang="en-US" sz="1600" dirty="0"/>
          </a:p>
          <a:p>
            <a:r>
              <a:rPr lang="en-US" sz="1600" dirty="0"/>
              <a:t>On the other hand, </a:t>
            </a:r>
            <a:r>
              <a:rPr lang="en-US" sz="1600" dirty="0" err="1"/>
              <a:t>DbSet.Attach</a:t>
            </a:r>
            <a:r>
              <a:rPr lang="en-US" sz="1600" dirty="0"/>
              <a:t>(entity) attaches the entity to the context without marking it dirty. It is equivalent to doing </a:t>
            </a:r>
            <a:r>
              <a:rPr lang="en-US" sz="1600" dirty="0" err="1"/>
              <a:t>context.Entry</a:t>
            </a:r>
            <a:r>
              <a:rPr lang="en-US" sz="1600" dirty="0"/>
              <a:t>(entity).State = </a:t>
            </a:r>
            <a:r>
              <a:rPr lang="en-US" sz="1600" dirty="0" err="1"/>
              <a:t>EntityState.Unchanged</a:t>
            </a:r>
            <a:r>
              <a:rPr lang="en-US" sz="1600" dirty="0"/>
              <a:t>;</a:t>
            </a:r>
          </a:p>
          <a:p>
            <a:endParaRPr lang="en-US" sz="1600" dirty="0"/>
          </a:p>
          <a:p>
            <a:r>
              <a:rPr lang="en-US" sz="1600" dirty="0"/>
              <a:t>When attaching this way, unless you then proceed to update a property on the entity, the next time you call </a:t>
            </a:r>
            <a:r>
              <a:rPr lang="en-US" sz="1600" dirty="0" err="1"/>
              <a:t>context.SaveChanges</a:t>
            </a:r>
            <a:r>
              <a:rPr lang="en-US" sz="1600" dirty="0"/>
              <a:t>(), EF will not generate a database update for this entity.</a:t>
            </a:r>
          </a:p>
          <a:p>
            <a:endParaRPr lang="en-US" sz="1600" dirty="0"/>
          </a:p>
          <a:p>
            <a:r>
              <a:rPr lang="en-US" sz="1600" dirty="0"/>
              <a:t>Even if you are planning on making an update to an entity, if the entity has a lot of properties (</a:t>
            </a:r>
            <a:r>
              <a:rPr lang="en-US" sz="1600" dirty="0" err="1"/>
              <a:t>db</a:t>
            </a:r>
            <a:r>
              <a:rPr lang="en-US" sz="1600" dirty="0"/>
              <a:t> columns) but you only want to </a:t>
            </a:r>
            <a:r>
              <a:rPr lang="en-US" sz="1600" b="1" dirty="0"/>
              <a:t>update a few, </a:t>
            </a:r>
            <a:r>
              <a:rPr lang="en-US" sz="1600" dirty="0"/>
              <a:t>you may find it advantageous to do a </a:t>
            </a:r>
            <a:r>
              <a:rPr lang="en-US" sz="1600" dirty="0" err="1"/>
              <a:t>DbSet.Attach</a:t>
            </a:r>
            <a:r>
              <a:rPr lang="en-US" sz="1600" dirty="0"/>
              <a:t>(entity), and then only update the few properties that need updating. Doing it this way will generate a more efficient update statement from EF. EF will only update the properties you modified (in contrast to </a:t>
            </a:r>
            <a:r>
              <a:rPr lang="en-US" sz="1600" dirty="0" err="1"/>
              <a:t>context.Entry</a:t>
            </a:r>
            <a:r>
              <a:rPr lang="en-US" sz="1600" dirty="0"/>
              <a:t>(entity).State = </a:t>
            </a:r>
            <a:r>
              <a:rPr lang="en-US" sz="1600" dirty="0" err="1"/>
              <a:t>EntityState.Modified</a:t>
            </a:r>
            <a:r>
              <a:rPr lang="en-US" sz="1600" dirty="0"/>
              <a:t>; which will cause all properties/columns to be updated)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935368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B73FEE-D959-6AB6-725D-4C443CA0491B}"/>
              </a:ext>
            </a:extLst>
          </p:cNvPr>
          <p:cNvSpPr txBox="1"/>
          <p:nvPr/>
        </p:nvSpPr>
        <p:spPr>
          <a:xfrm>
            <a:off x="6096000" y="85117"/>
            <a:ext cx="575623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builder =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WebApplication.CreateBuilder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// Add services to the container.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builder.Services.AddControllersWithViews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builder.Services.AddDbContextPool</a:t>
            </a:r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&lt;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Appdbcontexts</a:t>
            </a:r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&gt;(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   options =&gt;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options.UseSqlServer</a:t>
            </a:r>
            <a:r>
              <a:rPr lang="en-US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builder.Configuration.GetConnectionString</a:t>
            </a:r>
            <a:r>
              <a:rPr lang="en-US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EmployeeDBConnection</a:t>
            </a:r>
            <a:r>
              <a:rPr lang="en-US" sz="1200" dirty="0">
                <a:solidFill>
                  <a:srgbClr val="A31515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)));</a:t>
            </a:r>
          </a:p>
          <a:p>
            <a:r>
              <a:rPr lang="en-US" sz="1400" dirty="0" err="1">
                <a:solidFill>
                  <a:srgbClr val="FF0000"/>
                </a:solidFill>
                <a:highlight>
                  <a:srgbClr val="00FFFF"/>
                </a:highlight>
                <a:latin typeface="Cascadia Mono" panose="020B0609020000020004" pitchFamily="49" charset="0"/>
              </a:rPr>
              <a:t>builder.Services.AddScoped</a:t>
            </a:r>
            <a:r>
              <a:rPr lang="en-US" sz="1400" dirty="0">
                <a:solidFill>
                  <a:srgbClr val="FF0000"/>
                </a:solidFill>
                <a:highlight>
                  <a:srgbClr val="00FFFF"/>
                </a:highlight>
                <a:latin typeface="Cascadia Mono" panose="020B0609020000020004" pitchFamily="49" charset="0"/>
              </a:rPr>
              <a:t>&lt;</a:t>
            </a:r>
            <a:r>
              <a:rPr lang="en-US" sz="1400" dirty="0" err="1">
                <a:solidFill>
                  <a:srgbClr val="FF0000"/>
                </a:solidFill>
                <a:highlight>
                  <a:srgbClr val="00FFFF"/>
                </a:highlight>
                <a:latin typeface="Cascadia Mono" panose="020B0609020000020004" pitchFamily="49" charset="0"/>
              </a:rPr>
              <a:t>IEmployeeRepository</a:t>
            </a:r>
            <a:r>
              <a:rPr lang="en-US" sz="1400" dirty="0">
                <a:solidFill>
                  <a:srgbClr val="FF0000"/>
                </a:solidFill>
                <a:highlight>
                  <a:srgbClr val="00FFFF"/>
                </a:highlight>
                <a:latin typeface="Cascadia Mono" panose="020B0609020000020004" pitchFamily="49" charset="0"/>
              </a:rPr>
              <a:t>, </a:t>
            </a:r>
            <a:r>
              <a:rPr lang="en-US" sz="1400" dirty="0" err="1">
                <a:solidFill>
                  <a:srgbClr val="FF0000"/>
                </a:solidFill>
                <a:highlight>
                  <a:srgbClr val="00FFFF"/>
                </a:highlight>
                <a:latin typeface="Cascadia Mono" panose="020B0609020000020004" pitchFamily="49" charset="0"/>
              </a:rPr>
              <a:t>SqlemployeeRepository</a:t>
            </a:r>
            <a:r>
              <a:rPr lang="en-US" sz="1400" dirty="0">
                <a:solidFill>
                  <a:srgbClr val="FF0000"/>
                </a:solidFill>
                <a:highlight>
                  <a:srgbClr val="00FFFF"/>
                </a:highlight>
                <a:latin typeface="Cascadia Mono" panose="020B0609020000020004" pitchFamily="49" charset="0"/>
              </a:rPr>
              <a:t>&gt;();</a:t>
            </a:r>
            <a:endParaRPr lang="en-IN" sz="1050" dirty="0">
              <a:solidFill>
                <a:srgbClr val="FF0000"/>
              </a:solidFill>
              <a:highlight>
                <a:srgbClr val="00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app =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builder.Build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// Configure the HTTP request pipeline.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(!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app.Environment.IsDevelopment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())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app.UseExceptionHandler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"/Home/Error"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// The default HSTS value is 30 days. You may want to change this for production scenarios, see https://aka.ms/aspnetcore-hsts.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app.UseHsts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app.UseHttpsRedirection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app.UseStaticFiles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app.UseRouting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app.UseAuthorization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app.MapControllerRoute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name: </a:t>
            </a:r>
            <a:r>
              <a:rPr lang="en-IN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"default"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pattern: </a:t>
            </a:r>
            <a:r>
              <a:rPr lang="en-IN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"{controller=Home}/{action=Index}/{id?}"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app.Run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en-IN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AB60E5-508D-AEED-604F-9E45C66ED5F8}"/>
              </a:ext>
            </a:extLst>
          </p:cNvPr>
          <p:cNvSpPr/>
          <p:nvPr/>
        </p:nvSpPr>
        <p:spPr>
          <a:xfrm>
            <a:off x="4543720" y="160256"/>
            <a:ext cx="1159496" cy="6504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6.0.0</a:t>
            </a:r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1B4D729-DE85-EB0A-509E-B9ED5AFF83D3}"/>
              </a:ext>
            </a:extLst>
          </p:cNvPr>
          <p:cNvCxnSpPr/>
          <p:nvPr/>
        </p:nvCxnSpPr>
        <p:spPr>
          <a:xfrm>
            <a:off x="5316718" y="575035"/>
            <a:ext cx="1536569" cy="320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AB09E0F-F44F-4A6F-B518-78F9B4D33AF4}"/>
              </a:ext>
            </a:extLst>
          </p:cNvPr>
          <p:cNvSpPr txBox="1"/>
          <p:nvPr/>
        </p:nvSpPr>
        <p:spPr>
          <a:xfrm>
            <a:off x="0" y="2505613"/>
            <a:ext cx="6641841" cy="254006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IN" sz="1050" dirty="0">
                <a:solidFill>
                  <a:srgbClr val="2E75B6"/>
                </a:solidFill>
                <a:latin typeface="Consolas" panose="020B0609020204030204" pitchFamily="49" charset="0"/>
              </a:rPr>
              <a:t>"Logging"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: {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050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en-IN" sz="1050" dirty="0" err="1">
                <a:solidFill>
                  <a:srgbClr val="2E75B6"/>
                </a:solidFill>
                <a:latin typeface="Consolas" panose="020B0609020204030204" pitchFamily="49" charset="0"/>
              </a:rPr>
              <a:t>LogLevel</a:t>
            </a:r>
            <a:r>
              <a:rPr lang="en-IN" sz="1050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: {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IN" sz="1050" dirty="0">
                <a:solidFill>
                  <a:srgbClr val="2E75B6"/>
                </a:solidFill>
                <a:latin typeface="Consolas" panose="020B0609020204030204" pitchFamily="49" charset="0"/>
              </a:rPr>
              <a:t>"Default"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IN" sz="1050" dirty="0">
                <a:solidFill>
                  <a:srgbClr val="A31515"/>
                </a:solidFill>
                <a:latin typeface="Consolas" panose="020B0609020204030204" pitchFamily="49" charset="0"/>
              </a:rPr>
              <a:t>"Information"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IN" sz="1050" dirty="0">
                <a:solidFill>
                  <a:srgbClr val="2E75B6"/>
                </a:solidFill>
                <a:latin typeface="Consolas" panose="020B0609020204030204" pitchFamily="49" charset="0"/>
              </a:rPr>
              <a:t>"Microsoft"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IN" sz="1050" dirty="0">
                <a:solidFill>
                  <a:srgbClr val="A31515"/>
                </a:solidFill>
                <a:latin typeface="Consolas" panose="020B0609020204030204" pitchFamily="49" charset="0"/>
              </a:rPr>
              <a:t>"Warning"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IN" sz="1050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en-IN" sz="1050" dirty="0" err="1">
                <a:solidFill>
                  <a:srgbClr val="2E75B6"/>
                </a:solidFill>
                <a:latin typeface="Consolas" panose="020B0609020204030204" pitchFamily="49" charset="0"/>
              </a:rPr>
              <a:t>Microsoft.Hosting.Lifetime</a:t>
            </a:r>
            <a:r>
              <a:rPr lang="en-IN" sz="1050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IN" sz="1050" dirty="0">
                <a:solidFill>
                  <a:srgbClr val="A31515"/>
                </a:solidFill>
                <a:latin typeface="Consolas" panose="020B0609020204030204" pitchFamily="49" charset="0"/>
              </a:rPr>
              <a:t>"Information"</a:t>
            </a:r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},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IN" sz="1050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en-IN" sz="1050" dirty="0" err="1">
                <a:solidFill>
                  <a:srgbClr val="2E75B6"/>
                </a:solidFill>
                <a:latin typeface="Consolas" panose="020B0609020204030204" pitchFamily="49" charset="0"/>
              </a:rPr>
              <a:t>ConnectionStrings</a:t>
            </a:r>
            <a:r>
              <a:rPr lang="en-IN" sz="1050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: {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50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 err="1">
                <a:solidFill>
                  <a:srgbClr val="2E75B6"/>
                </a:solidFill>
                <a:latin typeface="Consolas" panose="020B0609020204030204" pitchFamily="49" charset="0"/>
              </a:rPr>
              <a:t>EmployeeDBConnection</a:t>
            </a:r>
            <a:r>
              <a:rPr lang="en-US" sz="1050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"Data Source=(</a:t>
            </a:r>
            <a:r>
              <a:rPr lang="en-US" sz="1050" dirty="0" err="1">
                <a:solidFill>
                  <a:srgbClr val="A31515"/>
                </a:solidFill>
                <a:latin typeface="Consolas" panose="020B0609020204030204" pitchFamily="49" charset="0"/>
              </a:rPr>
              <a:t>localdb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)\\</a:t>
            </a:r>
            <a:r>
              <a:rPr lang="en-US" sz="1050" dirty="0" err="1">
                <a:solidFill>
                  <a:srgbClr val="A31515"/>
                </a:solidFill>
                <a:latin typeface="Consolas" panose="020B0609020204030204" pitchFamily="49" charset="0"/>
              </a:rPr>
              <a:t>Projects;Initial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 Catalog=</a:t>
            </a:r>
            <a:r>
              <a:rPr lang="en-US" sz="1050" dirty="0" err="1">
                <a:solidFill>
                  <a:srgbClr val="A31515"/>
                </a:solidFill>
                <a:latin typeface="Consolas" panose="020B0609020204030204" pitchFamily="49" charset="0"/>
              </a:rPr>
              <a:t>demodb;Integrated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 Security=True"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},</a:t>
            </a:r>
          </a:p>
          <a:p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IN" sz="1050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en-IN" sz="1050" dirty="0" err="1">
                <a:solidFill>
                  <a:srgbClr val="2E75B6"/>
                </a:solidFill>
                <a:latin typeface="Consolas" panose="020B0609020204030204" pitchFamily="49" charset="0"/>
              </a:rPr>
              <a:t>AllowedHosts</a:t>
            </a:r>
            <a:r>
              <a:rPr lang="en-IN" sz="1050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IN" sz="1050" dirty="0">
                <a:solidFill>
                  <a:srgbClr val="A31515"/>
                </a:solidFill>
                <a:latin typeface="Consolas" panose="020B0609020204030204" pitchFamily="49" charset="0"/>
              </a:rPr>
              <a:t>"*"</a:t>
            </a:r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7B060A-596B-4FA3-B4A5-872F14EA0038}"/>
              </a:ext>
            </a:extLst>
          </p:cNvPr>
          <p:cNvSpPr txBox="1"/>
          <p:nvPr/>
        </p:nvSpPr>
        <p:spPr>
          <a:xfrm>
            <a:off x="335716" y="955839"/>
            <a:ext cx="374609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 err="1"/>
              <a:t>Appsettings.json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7848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4A0134-911B-49F2-9A01-B38815E06A95}"/>
              </a:ext>
            </a:extLst>
          </p:cNvPr>
          <p:cNvSpPr txBox="1"/>
          <p:nvPr/>
        </p:nvSpPr>
        <p:spPr>
          <a:xfrm>
            <a:off x="1209368" y="206607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add-migration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CreateDemodb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update-database –verbose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0E6F16-0EDC-47A2-B023-BA29C4145490}"/>
              </a:ext>
            </a:extLst>
          </p:cNvPr>
          <p:cNvSpPr txBox="1"/>
          <p:nvPr/>
        </p:nvSpPr>
        <p:spPr>
          <a:xfrm>
            <a:off x="914400" y="216310"/>
            <a:ext cx="4896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Add-Migration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EE5421A-23C2-87F6-4012-AFCA0314FF2D}"/>
              </a:ext>
            </a:extLst>
          </p:cNvPr>
          <p:cNvCxnSpPr/>
          <p:nvPr/>
        </p:nvCxnSpPr>
        <p:spPr>
          <a:xfrm>
            <a:off x="3987538" y="2535810"/>
            <a:ext cx="1989056" cy="65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27F7BA6-C192-5E7F-E1A3-E4526C59DBF3}"/>
              </a:ext>
            </a:extLst>
          </p:cNvPr>
          <p:cNvSpPr txBox="1"/>
          <p:nvPr/>
        </p:nvSpPr>
        <p:spPr>
          <a:xfrm>
            <a:off x="6702458" y="1951348"/>
            <a:ext cx="4383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will show all </a:t>
            </a:r>
            <a:r>
              <a:rPr lang="en-US" dirty="0" err="1"/>
              <a:t>ADO.Net</a:t>
            </a:r>
            <a:r>
              <a:rPr lang="en-US" dirty="0"/>
              <a:t> command</a:t>
            </a:r>
          </a:p>
          <a:p>
            <a:r>
              <a:rPr lang="en-US" dirty="0"/>
              <a:t>It is use full for checking error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8270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E39006-DC7F-037B-D025-0B22AF3A88A4}"/>
              </a:ext>
            </a:extLst>
          </p:cNvPr>
          <p:cNvSpPr txBox="1"/>
          <p:nvPr/>
        </p:nvSpPr>
        <p:spPr>
          <a:xfrm>
            <a:off x="218661" y="208722"/>
            <a:ext cx="1659835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Interface</a:t>
            </a:r>
            <a:endParaRPr lang="en-IN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C48575D-A58D-5B45-AB69-41480BAFA2B3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1878496" y="393388"/>
            <a:ext cx="1689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F52964F-0C25-9FA4-0178-EFA38E11D471}"/>
              </a:ext>
            </a:extLst>
          </p:cNvPr>
          <p:cNvSpPr txBox="1"/>
          <p:nvPr/>
        </p:nvSpPr>
        <p:spPr>
          <a:xfrm>
            <a:off x="2176670" y="208722"/>
            <a:ext cx="3488634" cy="203132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Service_Class</a:t>
            </a:r>
            <a:r>
              <a:rPr lang="en-US" dirty="0"/>
              <a:t> Implement Interface</a:t>
            </a:r>
          </a:p>
          <a:p>
            <a:endParaRPr lang="en-US" dirty="0"/>
          </a:p>
          <a:p>
            <a:r>
              <a:rPr lang="en-US" dirty="0"/>
              <a:t>Inject </a:t>
            </a:r>
            <a:r>
              <a:rPr lang="en-US" dirty="0" err="1"/>
              <a:t>contextclass</a:t>
            </a:r>
            <a:endParaRPr lang="en-US" dirty="0"/>
          </a:p>
          <a:p>
            <a:endParaRPr lang="en-US" dirty="0"/>
          </a:p>
          <a:p>
            <a:r>
              <a:rPr lang="en-US" dirty="0"/>
              <a:t>Communicate to  Context class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90165D-DF0D-9C90-04E4-6D54AA483657}"/>
              </a:ext>
            </a:extLst>
          </p:cNvPr>
          <p:cNvSpPr txBox="1"/>
          <p:nvPr/>
        </p:nvSpPr>
        <p:spPr>
          <a:xfrm>
            <a:off x="6261652" y="214484"/>
            <a:ext cx="2206487" cy="341632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Class </a:t>
            </a:r>
            <a:r>
              <a:rPr lang="en-US" dirty="0" err="1"/>
              <a:t>Contoller</a:t>
            </a:r>
            <a:endParaRPr lang="en-US" dirty="0"/>
          </a:p>
          <a:p>
            <a:endParaRPr lang="en-US" dirty="0"/>
          </a:p>
          <a:p>
            <a:r>
              <a:rPr lang="en-US" dirty="0"/>
              <a:t>Inject interface reference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class communicate to Service class</a:t>
            </a:r>
          </a:p>
          <a:p>
            <a:endParaRPr lang="en-US" dirty="0"/>
          </a:p>
          <a:p>
            <a:r>
              <a:rPr lang="en-US" dirty="0"/>
              <a:t>Get the result and return view 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07C4AAA-FAF4-FB10-72E5-128B944EB850}"/>
              </a:ext>
            </a:extLst>
          </p:cNvPr>
          <p:cNvCxnSpPr/>
          <p:nvPr/>
        </p:nvCxnSpPr>
        <p:spPr>
          <a:xfrm flipH="1">
            <a:off x="5178287" y="1292087"/>
            <a:ext cx="10833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E3E1119-B193-6C6B-68D3-C2337DC74A96}"/>
              </a:ext>
            </a:extLst>
          </p:cNvPr>
          <p:cNvSpPr txBox="1"/>
          <p:nvPr/>
        </p:nvSpPr>
        <p:spPr>
          <a:xfrm>
            <a:off x="1878496" y="3031435"/>
            <a:ext cx="3697356" cy="147732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Class </a:t>
            </a:r>
            <a:r>
              <a:rPr lang="en-US" dirty="0" err="1"/>
              <a:t>appDbContext:DbContext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This class will communicate to database</a:t>
            </a:r>
          </a:p>
          <a:p>
            <a:endParaRPr lang="en-IN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C284873-0B6A-3145-985B-81DB3E72A9CE}"/>
              </a:ext>
            </a:extLst>
          </p:cNvPr>
          <p:cNvCxnSpPr/>
          <p:nvPr/>
        </p:nvCxnSpPr>
        <p:spPr>
          <a:xfrm flipH="1">
            <a:off x="3319670" y="2146852"/>
            <a:ext cx="288234" cy="652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Magnetic Disk 15">
            <a:extLst>
              <a:ext uri="{FF2B5EF4-FFF2-40B4-BE49-F238E27FC236}">
                <a16:creationId xmlns:a16="http://schemas.microsoft.com/office/drawing/2014/main" id="{9B2EF799-4536-B426-801B-81D81AB9817D}"/>
              </a:ext>
            </a:extLst>
          </p:cNvPr>
          <p:cNvSpPr/>
          <p:nvPr/>
        </p:nvSpPr>
        <p:spPr>
          <a:xfrm>
            <a:off x="1480930" y="5168348"/>
            <a:ext cx="2126974" cy="1296264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D228EA1-CA07-E43E-5899-47BC855696CD}"/>
              </a:ext>
            </a:extLst>
          </p:cNvPr>
          <p:cNvCxnSpPr/>
          <p:nvPr/>
        </p:nvCxnSpPr>
        <p:spPr>
          <a:xfrm flipH="1">
            <a:off x="2951922" y="4508763"/>
            <a:ext cx="516835" cy="474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B897C3A-D4AE-A02B-6511-3943DB16759F}"/>
              </a:ext>
            </a:extLst>
          </p:cNvPr>
          <p:cNvSpPr txBox="1"/>
          <p:nvPr/>
        </p:nvSpPr>
        <p:spPr>
          <a:xfrm>
            <a:off x="9342782" y="442004"/>
            <a:ext cx="2206487" cy="313932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View</a:t>
            </a:r>
          </a:p>
          <a:p>
            <a:r>
              <a:rPr lang="en-US" dirty="0"/>
              <a:t>Display strongly type data in browser.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FB7B1BF-2198-F352-AE18-B906F42B1208}"/>
              </a:ext>
            </a:extLst>
          </p:cNvPr>
          <p:cNvCxnSpPr/>
          <p:nvPr/>
        </p:nvCxnSpPr>
        <p:spPr>
          <a:xfrm>
            <a:off x="8319052" y="2473329"/>
            <a:ext cx="8348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68BD05F-52F1-DAEA-ADD6-BD5E30E66E72}"/>
              </a:ext>
            </a:extLst>
          </p:cNvPr>
          <p:cNvSpPr txBox="1"/>
          <p:nvPr/>
        </p:nvSpPr>
        <p:spPr>
          <a:xfrm>
            <a:off x="6897757" y="4508763"/>
            <a:ext cx="46515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Program.cs</a:t>
            </a:r>
            <a:r>
              <a:rPr lang="en-US" dirty="0"/>
              <a:t> file</a:t>
            </a:r>
          </a:p>
          <a:p>
            <a:endParaRPr lang="en-US" dirty="0"/>
          </a:p>
          <a:p>
            <a:r>
              <a:rPr lang="en-US" dirty="0"/>
              <a:t>Configure all services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295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AE176B-0EFC-4756-8AC7-472E7E9A83C4}"/>
              </a:ext>
            </a:extLst>
          </p:cNvPr>
          <p:cNvSpPr txBox="1"/>
          <p:nvPr/>
        </p:nvSpPr>
        <p:spPr>
          <a:xfrm>
            <a:off x="0" y="69360"/>
            <a:ext cx="5171768" cy="7171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Microsoft.AspNetCore.Http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Microsoft.AspNetCore.Mvc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WebAppSqlRepo.Models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WebAppSqlRepo.Controllers</a:t>
            </a:r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EmployeeController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: Controller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IEmployeeRepository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employeeRepository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EmployeeController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IEmployeeRepository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employeeRepository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_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employeeRepository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employeeRepository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000" dirty="0">
                <a:solidFill>
                  <a:srgbClr val="008000"/>
                </a:solidFill>
                <a:latin typeface="Consolas" panose="020B0609020204030204" pitchFamily="49" charset="0"/>
              </a:rPr>
              <a:t>// GET: </a:t>
            </a:r>
            <a:r>
              <a:rPr lang="en-IN" sz="1000" dirty="0" err="1">
                <a:solidFill>
                  <a:srgbClr val="008000"/>
                </a:solidFill>
                <a:latin typeface="Consolas" panose="020B0609020204030204" pitchFamily="49" charset="0"/>
              </a:rPr>
              <a:t>EmployeeController</a:t>
            </a:r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ActionResult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Index()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model = _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employeeRepository.GetAllEmployee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View(model);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000" dirty="0">
                <a:solidFill>
                  <a:srgbClr val="008000"/>
                </a:solidFill>
                <a:latin typeface="Consolas" panose="020B0609020204030204" pitchFamily="49" charset="0"/>
              </a:rPr>
              <a:t>// GET: </a:t>
            </a:r>
            <a:r>
              <a:rPr lang="en-IN" sz="1000" dirty="0" err="1">
                <a:solidFill>
                  <a:srgbClr val="008000"/>
                </a:solidFill>
                <a:latin typeface="Consolas" panose="020B0609020204030204" pitchFamily="49" charset="0"/>
              </a:rPr>
              <a:t>EmployeeController</a:t>
            </a:r>
            <a:r>
              <a:rPr lang="en-IN" sz="1000" dirty="0">
                <a:solidFill>
                  <a:srgbClr val="008000"/>
                </a:solidFill>
                <a:latin typeface="Consolas" panose="020B0609020204030204" pitchFamily="49" charset="0"/>
              </a:rPr>
              <a:t>/Details/5</a:t>
            </a:r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ActionResult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Details(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id)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model = _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employeeRepository.GetEmployee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(id);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View(model);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IN" sz="1000" dirty="0">
                <a:solidFill>
                  <a:srgbClr val="008000"/>
                </a:solidFill>
                <a:latin typeface="Consolas" panose="020B0609020204030204" pitchFamily="49" charset="0"/>
              </a:rPr>
              <a:t>// GET: </a:t>
            </a:r>
            <a:r>
              <a:rPr lang="en-IN" sz="1000" dirty="0" err="1">
                <a:solidFill>
                  <a:srgbClr val="008000"/>
                </a:solidFill>
                <a:latin typeface="Consolas" panose="020B0609020204030204" pitchFamily="49" charset="0"/>
              </a:rPr>
              <a:t>EmployeeController</a:t>
            </a:r>
            <a:r>
              <a:rPr lang="en-IN" sz="1000" dirty="0">
                <a:solidFill>
                  <a:srgbClr val="008000"/>
                </a:solidFill>
                <a:latin typeface="Consolas" panose="020B0609020204030204" pitchFamily="49" charset="0"/>
              </a:rPr>
              <a:t>/Create</a:t>
            </a:r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ActionResult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Create()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View();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000" dirty="0">
                <a:solidFill>
                  <a:srgbClr val="008000"/>
                </a:solidFill>
                <a:latin typeface="Consolas" panose="020B0609020204030204" pitchFamily="49" charset="0"/>
              </a:rPr>
              <a:t>// POST: </a:t>
            </a:r>
            <a:r>
              <a:rPr lang="en-IN" sz="1000" dirty="0" err="1">
                <a:solidFill>
                  <a:srgbClr val="008000"/>
                </a:solidFill>
                <a:latin typeface="Consolas" panose="020B0609020204030204" pitchFamily="49" charset="0"/>
              </a:rPr>
              <a:t>EmployeeController</a:t>
            </a:r>
            <a:r>
              <a:rPr lang="en-IN" sz="1000" dirty="0">
                <a:solidFill>
                  <a:srgbClr val="008000"/>
                </a:solidFill>
                <a:latin typeface="Consolas" panose="020B0609020204030204" pitchFamily="49" charset="0"/>
              </a:rPr>
              <a:t>/Create</a:t>
            </a:r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[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HttpPost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[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ValidateAntiForgeryToken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ActionResult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Create(Employee employee)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{  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try</a:t>
            </a:r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model = _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employeeRepository.Add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(employee);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RedirectToAction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nameof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(Index));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catch</a:t>
            </a:r>
            <a:endParaRPr lang="en-IN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IN" sz="1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View();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IN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en-IN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90BCA6-8575-464A-9353-0EF675F5F64A}"/>
              </a:ext>
            </a:extLst>
          </p:cNvPr>
          <p:cNvSpPr txBox="1"/>
          <p:nvPr/>
        </p:nvSpPr>
        <p:spPr>
          <a:xfrm>
            <a:off x="4925961" y="69360"/>
            <a:ext cx="6096000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>
                <a:solidFill>
                  <a:srgbClr val="008000"/>
                </a:solidFill>
                <a:latin typeface="Consolas" panose="020B0609020204030204" pitchFamily="49" charset="0"/>
              </a:rPr>
              <a:t>// GET: </a:t>
            </a:r>
            <a:r>
              <a:rPr lang="en-IN" sz="900" dirty="0" err="1">
                <a:solidFill>
                  <a:srgbClr val="008000"/>
                </a:solidFill>
                <a:latin typeface="Consolas" panose="020B0609020204030204" pitchFamily="49" charset="0"/>
              </a:rPr>
              <a:t>EmployeeController</a:t>
            </a:r>
            <a:r>
              <a:rPr lang="en-IN" sz="900" dirty="0">
                <a:solidFill>
                  <a:srgbClr val="008000"/>
                </a:solidFill>
                <a:latin typeface="Consolas" panose="020B0609020204030204" pitchFamily="49" charset="0"/>
              </a:rPr>
              <a:t>/Edit/5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ActionResult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Edit(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id)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model =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employeeRepository.GetEmployee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(id);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View(model);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900" dirty="0">
                <a:solidFill>
                  <a:srgbClr val="008000"/>
                </a:solidFill>
                <a:latin typeface="Consolas" panose="020B0609020204030204" pitchFamily="49" charset="0"/>
              </a:rPr>
              <a:t>// POST: </a:t>
            </a:r>
            <a:r>
              <a:rPr lang="en-IN" sz="900" dirty="0" err="1">
                <a:solidFill>
                  <a:srgbClr val="008000"/>
                </a:solidFill>
                <a:latin typeface="Consolas" panose="020B0609020204030204" pitchFamily="49" charset="0"/>
              </a:rPr>
              <a:t>EmployeeController</a:t>
            </a:r>
            <a:r>
              <a:rPr lang="en-IN" sz="900" dirty="0">
                <a:solidFill>
                  <a:srgbClr val="008000"/>
                </a:solidFill>
                <a:latin typeface="Consolas" panose="020B0609020204030204" pitchFamily="49" charset="0"/>
              </a:rPr>
              <a:t>/Edit/5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[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HttpPost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[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ValidateAntiForgeryToken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ActionResult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Edit(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id, Employee emp)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try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model = _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employeeRepository.Update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(emp);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RedirectToAction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nameof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(Index));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catch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View();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900" dirty="0">
                <a:solidFill>
                  <a:srgbClr val="008000"/>
                </a:solidFill>
                <a:latin typeface="Consolas" panose="020B0609020204030204" pitchFamily="49" charset="0"/>
              </a:rPr>
              <a:t>// GET: </a:t>
            </a:r>
            <a:r>
              <a:rPr lang="en-IN" sz="900" dirty="0" err="1">
                <a:solidFill>
                  <a:srgbClr val="008000"/>
                </a:solidFill>
                <a:latin typeface="Consolas" panose="020B0609020204030204" pitchFamily="49" charset="0"/>
              </a:rPr>
              <a:t>EmployeeController</a:t>
            </a:r>
            <a:r>
              <a:rPr lang="en-IN" sz="900" dirty="0">
                <a:solidFill>
                  <a:srgbClr val="008000"/>
                </a:solidFill>
                <a:latin typeface="Consolas" panose="020B0609020204030204" pitchFamily="49" charset="0"/>
              </a:rPr>
              <a:t>/Delete/5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ActionResult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Delete(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id)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model =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employeeRepository.GetEmployee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(id);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View(model);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900" dirty="0">
                <a:solidFill>
                  <a:srgbClr val="008000"/>
                </a:solidFill>
                <a:latin typeface="Consolas" panose="020B0609020204030204" pitchFamily="49" charset="0"/>
              </a:rPr>
              <a:t>// POST: </a:t>
            </a:r>
            <a:r>
              <a:rPr lang="en-IN" sz="900" dirty="0" err="1">
                <a:solidFill>
                  <a:srgbClr val="008000"/>
                </a:solidFill>
                <a:latin typeface="Consolas" panose="020B0609020204030204" pitchFamily="49" charset="0"/>
              </a:rPr>
              <a:t>EmployeeController</a:t>
            </a:r>
            <a:r>
              <a:rPr lang="en-IN" sz="900" dirty="0">
                <a:solidFill>
                  <a:srgbClr val="008000"/>
                </a:solidFill>
                <a:latin typeface="Consolas" panose="020B0609020204030204" pitchFamily="49" charset="0"/>
              </a:rPr>
              <a:t>/Delete/5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[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HttpPost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[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ValidateAntiForgeryToken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ActionResult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Delete(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id,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IFormCollection</a:t>
            </a:r>
            <a:r>
              <a:rPr lang="en-IN" sz="9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collection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try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model =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employeeRepository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. .Delete(id);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RedirectToAction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nameof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(Index));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catch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View();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9A884B2-1F15-696A-31EC-8DA06A68A6AC}"/>
              </a:ext>
            </a:extLst>
          </p:cNvPr>
          <p:cNvCxnSpPr/>
          <p:nvPr/>
        </p:nvCxnSpPr>
        <p:spPr>
          <a:xfrm flipV="1">
            <a:off x="8835887" y="4611757"/>
            <a:ext cx="1023730" cy="347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9665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88485-3D36-4F68-98AE-97B21EF66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If Read write with entity framework does not 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1DCAC3-522C-4D86-8AA5-2382C7A59E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146" t="12043" r="8790" b="12401"/>
          <a:stretch/>
        </p:blipFill>
        <p:spPr>
          <a:xfrm>
            <a:off x="658761" y="1553497"/>
            <a:ext cx="10127226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739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2E68C-EF5E-34EF-50FE-B030EC5E5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7195" y="0"/>
            <a:ext cx="9553280" cy="45500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View</a:t>
            </a:r>
            <a:r>
              <a:rPr lang="en-US" dirty="0" err="1">
                <a:sym typeface="Wingdings" panose="05000000000000000000" pitchFamily="2" charset="2"/>
              </a:rPr>
              <a:t>Index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D8A46A-AE2C-5315-1AC5-9A341DF3008E}"/>
              </a:ext>
            </a:extLst>
          </p:cNvPr>
          <p:cNvSpPr txBox="1"/>
          <p:nvPr/>
        </p:nvSpPr>
        <p:spPr>
          <a:xfrm>
            <a:off x="407709" y="619125"/>
            <a:ext cx="9174441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@model </a:t>
            </a:r>
            <a:r>
              <a:rPr lang="en-US" sz="9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IEnumerable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MVC_Core.Models.</a:t>
            </a:r>
            <a:r>
              <a:rPr lang="en-US" sz="9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Employee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@{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ViewData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sz="900" dirty="0">
                <a:solidFill>
                  <a:srgbClr val="A31515"/>
                </a:solidFill>
                <a:latin typeface="Cascadia Mono" panose="020B0609020000020004" pitchFamily="49" charset="0"/>
              </a:rPr>
              <a:t>"Title"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] = </a:t>
            </a:r>
            <a:r>
              <a:rPr lang="en-IN" sz="900" dirty="0">
                <a:solidFill>
                  <a:srgbClr val="A31515"/>
                </a:solidFill>
                <a:latin typeface="Cascadia Mono" panose="020B0609020000020004" pitchFamily="49" charset="0"/>
              </a:rPr>
              <a:t>"Index"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h1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Index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h1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p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a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asp-action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="Create"&gt;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Create New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a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p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table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="table"&gt;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 err="1">
                <a:solidFill>
                  <a:srgbClr val="800000"/>
                </a:solidFill>
                <a:latin typeface="Cascadia Mono" panose="020B0609020000020004" pitchFamily="49" charset="0"/>
              </a:rPr>
              <a:t>thead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tr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 err="1">
                <a:solidFill>
                  <a:srgbClr val="800000"/>
                </a:solidFill>
                <a:latin typeface="Cascadia Mono" panose="020B0609020000020004" pitchFamily="49" charset="0"/>
              </a:rPr>
              <a:t>th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it-IT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@Html.DisplayNameFor(model =&gt; model.Name)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dirty="0" err="1">
                <a:solidFill>
                  <a:srgbClr val="800000"/>
                </a:solidFill>
                <a:latin typeface="Cascadia Mono" panose="020B0609020000020004" pitchFamily="49" charset="0"/>
              </a:rPr>
              <a:t>th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 err="1">
                <a:solidFill>
                  <a:srgbClr val="800000"/>
                </a:solidFill>
                <a:latin typeface="Cascadia Mono" panose="020B0609020000020004" pitchFamily="49" charset="0"/>
              </a:rPr>
              <a:t>th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@Html.DisplayNameFor(model =&gt; </a:t>
            </a:r>
            <a:r>
              <a:rPr lang="fr-FR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model.Email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dirty="0" err="1">
                <a:solidFill>
                  <a:srgbClr val="800000"/>
                </a:solidFill>
                <a:latin typeface="Cascadia Mono" panose="020B0609020000020004" pitchFamily="49" charset="0"/>
              </a:rPr>
              <a:t>th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 err="1">
                <a:solidFill>
                  <a:srgbClr val="800000"/>
                </a:solidFill>
                <a:latin typeface="Cascadia Mono" panose="020B0609020000020004" pitchFamily="49" charset="0"/>
              </a:rPr>
              <a:t>th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@Html.DisplayNameFor(model =&gt;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model.Department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dirty="0" err="1">
                <a:solidFill>
                  <a:srgbClr val="800000"/>
                </a:solidFill>
                <a:latin typeface="Cascadia Mono" panose="020B0609020000020004" pitchFamily="49" charset="0"/>
              </a:rPr>
              <a:t>th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 err="1">
                <a:solidFill>
                  <a:srgbClr val="800000"/>
                </a:solidFill>
                <a:latin typeface="Cascadia Mono" panose="020B0609020000020004" pitchFamily="49" charset="0"/>
              </a:rPr>
              <a:t>th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&gt;&lt;/</a:t>
            </a:r>
            <a:r>
              <a:rPr lang="en-IN" sz="900" dirty="0" err="1">
                <a:solidFill>
                  <a:srgbClr val="800000"/>
                </a:solidFill>
                <a:latin typeface="Cascadia Mono" panose="020B0609020000020004" pitchFamily="49" charset="0"/>
              </a:rPr>
              <a:t>th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tr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dirty="0" err="1">
                <a:solidFill>
                  <a:srgbClr val="800000"/>
                </a:solidFill>
                <a:latin typeface="Cascadia Mono" panose="020B0609020000020004" pitchFamily="49" charset="0"/>
              </a:rPr>
              <a:t>thead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 err="1">
                <a:solidFill>
                  <a:srgbClr val="800000"/>
                </a:solidFill>
                <a:latin typeface="Cascadia Mono" panose="020B0609020000020004" pitchFamily="49" charset="0"/>
              </a:rPr>
              <a:t>tbody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sv-SE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@</a:t>
            </a:r>
            <a:r>
              <a:rPr lang="sv-SE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sv-SE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sv-SE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sv-SE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item </a:t>
            </a:r>
            <a:r>
              <a:rPr lang="sv-SE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sv-SE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Model) {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tr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td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@Html.DisplayFor(modelItem =&gt;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item.Name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td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td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@Html.DisplayFor(modelItem =&gt;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item.Email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td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td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@Html.DisplayFor(modelItem =&gt;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item.Department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td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td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a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asp-action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="Edit"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asp-route-id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@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item.Id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"&gt;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Edit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a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|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a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asp-action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="Details"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asp-route-id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@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item.Id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"&gt;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Details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a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|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a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asp-action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="Delete"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asp-route-id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@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item.Id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"&gt;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Delete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a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td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tr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dirty="0" err="1">
                <a:solidFill>
                  <a:srgbClr val="800000"/>
                </a:solidFill>
                <a:latin typeface="Cascadia Mono" panose="020B0609020000020004" pitchFamily="49" charset="0"/>
              </a:rPr>
              <a:t>tbody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table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009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2E68C-EF5E-34EF-50FE-B030EC5E5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520" y="0"/>
            <a:ext cx="9553280" cy="45500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View</a:t>
            </a:r>
            <a:r>
              <a:rPr lang="en-US" dirty="0" err="1">
                <a:sym typeface="Wingdings" panose="05000000000000000000" pitchFamily="2" charset="2"/>
              </a:rPr>
              <a:t>Detail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D8A46A-AE2C-5315-1AC5-9A341DF3008E}"/>
              </a:ext>
            </a:extLst>
          </p:cNvPr>
          <p:cNvSpPr txBox="1"/>
          <p:nvPr/>
        </p:nvSpPr>
        <p:spPr>
          <a:xfrm>
            <a:off x="407709" y="455007"/>
            <a:ext cx="9075655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@model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MVC_Core.Models.</a:t>
            </a:r>
            <a:r>
              <a:rPr lang="en-US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Employee</a:t>
            </a:r>
            <a:endParaRPr lang="en-US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@{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ViewData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"Title"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] = </a:t>
            </a:r>
            <a:r>
              <a:rPr lang="en-IN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"Details"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h1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Details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h1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h4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Employee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h4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hr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/&gt;</a:t>
            </a:r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dl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="row"&gt;</a:t>
            </a:r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dt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 "col-sm-2"&gt;</a:t>
            </a:r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it-IT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@Html.DisplayNameFor(model =&gt; model.Name)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dt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dd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 "col-sm-10"&gt;</a:t>
            </a:r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it-IT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@Html.DisplayFor(model =&gt; model.Name)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dd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dt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 "col-sm-2"&gt;</a:t>
            </a:r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@Html.DisplayNameFor(model =&gt; </a:t>
            </a:r>
            <a:r>
              <a:rPr lang="fr-FR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model.Email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dt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dd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 "col-sm-10"&gt;</a:t>
            </a:r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@Html.DisplayFor(model =&gt; </a:t>
            </a:r>
            <a:r>
              <a:rPr lang="fr-FR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model.Email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dd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dt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 "col-sm-2"&gt;</a:t>
            </a:r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@Html.DisplayNameFor(model =&gt;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model.Department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dt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dd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 "col-sm-10"&gt;</a:t>
            </a:r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@Html.DisplayFor(model =&gt;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model.Department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dd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dl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asp-action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="Edit"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asp-route-id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@</a:t>
            </a:r>
            <a:r>
              <a:rPr lang="en-US" sz="1100" b="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Model?.Id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"&gt;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Edit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|</a:t>
            </a:r>
          </a:p>
          <a:p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asp-action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="Index"&gt;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Back to List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1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100" b="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1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IN" sz="5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383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2E68C-EF5E-34EF-50FE-B030EC5E5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9724" y="103695"/>
            <a:ext cx="3540728" cy="43707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View</a:t>
            </a:r>
            <a:r>
              <a:rPr lang="en-US" dirty="0" err="1">
                <a:sym typeface="Wingdings" panose="05000000000000000000" pitchFamily="2" charset="2"/>
              </a:rPr>
              <a:t>Create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D8A46A-AE2C-5315-1AC5-9A341DF3008E}"/>
              </a:ext>
            </a:extLst>
          </p:cNvPr>
          <p:cNvSpPr txBox="1"/>
          <p:nvPr/>
        </p:nvSpPr>
        <p:spPr>
          <a:xfrm>
            <a:off x="0" y="0"/>
            <a:ext cx="9075655" cy="7048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@model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MVC_Core.Models.</a:t>
            </a:r>
            <a:r>
              <a:rPr lang="en-US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Employee</a:t>
            </a:r>
            <a:endParaRPr lang="en-US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@{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ViewData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"Title"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] = </a:t>
            </a:r>
            <a:r>
              <a:rPr lang="en-IN" sz="1100" dirty="0">
                <a:solidFill>
                  <a:srgbClr val="A31515"/>
                </a:solidFill>
                <a:latin typeface="Cascadia Mono" panose="020B0609020000020004" pitchFamily="49" charset="0"/>
              </a:rPr>
              <a:t>"Create"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h1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Create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h1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h4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Employee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h4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hr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/&gt;</a:t>
            </a:r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="row"&gt;</a:t>
            </a:r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1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="col-md-4"&gt;</a:t>
            </a:r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form</a:t>
            </a:r>
            <a:r>
              <a:rPr lang="en-IN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asp-action</a:t>
            </a:r>
            <a:r>
              <a:rPr lang="en-IN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="Create"&gt;</a:t>
            </a:r>
            <a:endParaRPr lang="en-IN" sz="11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div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asp-validation-summary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100" b="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ModelOnly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="text-danger"&gt;&lt;/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div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1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100" b="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b="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="form-group"&gt;</a:t>
            </a:r>
            <a:endParaRPr lang="en-IN" sz="11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label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asp-for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Name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="control-label"&gt;&lt;/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label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1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input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asp-for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Name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="form-control"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/&gt;</a:t>
            </a:r>
            <a:endParaRPr lang="en-US" sz="11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span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asp-validation-for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Name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="text-danger"&gt;&lt;/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span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1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100" b="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1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100" b="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b="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="form-group"&gt;</a:t>
            </a:r>
            <a:endParaRPr lang="en-IN" sz="11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label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asp-for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Email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="control-label"&gt;&lt;/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label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1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input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asp-for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Email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="form-control"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/&gt;</a:t>
            </a:r>
            <a:endParaRPr lang="en-US" sz="11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span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asp-validation-for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Email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="text-danger"&gt;&lt;/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span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1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100" b="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1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100" b="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b="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="form-group"&gt;</a:t>
            </a:r>
            <a:endParaRPr lang="en-IN" sz="11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label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asp-for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Department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="control-label"&gt;&lt;/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label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1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input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asp-for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Department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="form-control"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/&gt;</a:t>
            </a:r>
            <a:endParaRPr lang="en-US" sz="11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span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asp-validation-for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Department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="text-danger"&gt;&lt;/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span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1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100" b="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1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100" b="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b="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="form-group"&gt;</a:t>
            </a:r>
            <a:endParaRPr lang="en-IN" sz="11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100" b="0" dirty="0">
                <a:solidFill>
                  <a:srgbClr val="800000"/>
                </a:solidFill>
                <a:latin typeface="Cascadia Mono" panose="020B0609020000020004" pitchFamily="49" charset="0"/>
              </a:rPr>
              <a:t>input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0" dirty="0">
                <a:solidFill>
                  <a:srgbClr val="FF0000"/>
                </a:solidFill>
                <a:latin typeface="Cascadia Mono" panose="020B0609020000020004" pitchFamily="49" charset="0"/>
              </a:rPr>
              <a:t>type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="submit"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0" dirty="0">
                <a:solidFill>
                  <a:srgbClr val="FF0000"/>
                </a:solidFill>
                <a:latin typeface="Cascadia Mono" panose="020B0609020000020004" pitchFamily="49" charset="0"/>
              </a:rPr>
              <a:t>value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="Create"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100" b="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btn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btn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-primary"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/&gt;</a:t>
            </a:r>
            <a:endParaRPr lang="en-US" sz="11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100" b="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1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form</a:t>
            </a:r>
            <a:r>
              <a:rPr lang="en-IN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1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100" b="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1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100" b="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1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b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1100" b="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1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asp-action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="Index"&gt;</a:t>
            </a:r>
            <a:r>
              <a:rPr lang="en-US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Back to List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1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</a:t>
            </a:r>
            <a:r>
              <a:rPr lang="en-US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1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1100" b="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11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@section Scripts {</a:t>
            </a:r>
          </a:p>
          <a:p>
            <a:r>
              <a:rPr lang="en-IN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@{</a:t>
            </a:r>
            <a:r>
              <a:rPr lang="en-IN" sz="1100" b="0" dirty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en-IN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b="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Html.RenderPartialAsync</a:t>
            </a:r>
            <a:r>
              <a:rPr lang="en-IN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latin typeface="Cascadia Mono" panose="020B0609020000020004" pitchFamily="49" charset="0"/>
              </a:rPr>
              <a:t>"_</a:t>
            </a:r>
            <a:r>
              <a:rPr lang="en-IN" sz="1100" b="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ValidationScriptsPartial</a:t>
            </a:r>
            <a:r>
              <a:rPr lang="en-IN" sz="1100" b="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);}</a:t>
            </a:r>
          </a:p>
          <a:p>
            <a:r>
              <a:rPr lang="en-IN" sz="1100" b="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en-IN" sz="1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348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74938D-7D6A-8304-C332-BDD74D4401C9}"/>
              </a:ext>
            </a:extLst>
          </p:cNvPr>
          <p:cNvSpPr txBox="1"/>
          <p:nvPr/>
        </p:nvSpPr>
        <p:spPr>
          <a:xfrm>
            <a:off x="407710" y="140239"/>
            <a:ext cx="662468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@model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MVC_Core.Models.</a:t>
            </a:r>
            <a:r>
              <a:rPr lang="en-US" sz="9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Employee</a:t>
            </a:r>
            <a:endParaRPr lang="en-US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@{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ViewData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sz="900" dirty="0">
                <a:solidFill>
                  <a:srgbClr val="A31515"/>
                </a:solidFill>
                <a:latin typeface="Cascadia Mono" panose="020B0609020000020004" pitchFamily="49" charset="0"/>
              </a:rPr>
              <a:t>"Title"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] = </a:t>
            </a:r>
            <a:r>
              <a:rPr lang="en-IN" sz="900" dirty="0">
                <a:solidFill>
                  <a:srgbClr val="A31515"/>
                </a:solidFill>
                <a:latin typeface="Cascadia Mono" panose="020B0609020000020004" pitchFamily="49" charset="0"/>
              </a:rPr>
              <a:t>"Edit"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h1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Edit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h1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h4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Employee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h4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hr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/&gt;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="row"&gt;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="col-md-4"&gt;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form</a:t>
            </a:r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asp-action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="Edit"&gt;</a:t>
            </a:r>
            <a:endParaRPr lang="en-IN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div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asp-validation-summary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900" b="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ModelOnly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b="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="text-danger"&gt;&lt;/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div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input</a:t>
            </a:r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type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="hidden"</a:t>
            </a:r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asp-for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Id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/&gt;</a:t>
            </a:r>
            <a:endParaRPr lang="en-IN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b="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b="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="form-group"&gt;</a:t>
            </a:r>
            <a:endParaRPr lang="en-IN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label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asp-for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Name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b="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="control-label"&gt;&lt;/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label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input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asp-for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Name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b="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="form-control"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/&gt;</a:t>
            </a:r>
            <a:endParaRPr lang="en-US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span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asp-validation-for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Name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b="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="text-danger"&gt;&lt;/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span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b="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b="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b="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="form-group"&gt;</a:t>
            </a:r>
            <a:endParaRPr lang="en-IN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label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asp-for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Email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b="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="control-label"&gt;&lt;/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label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input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asp-for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Email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b="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="form-control"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/&gt;</a:t>
            </a:r>
            <a:endParaRPr lang="en-US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span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asp-validation-for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Email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b="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="text-danger"&gt;&lt;/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span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b="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b="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b="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="form-group"&gt;</a:t>
            </a:r>
            <a:endParaRPr lang="en-IN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label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asp-for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Department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b="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="control-label"&gt;&lt;/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label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input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asp-for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Department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b="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="form-control"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/&gt;</a:t>
            </a:r>
            <a:endParaRPr lang="en-US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span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asp-validation-for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Department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b="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="text-danger"&gt;&lt;/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span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b="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b="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b="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="form-group"&gt;</a:t>
            </a:r>
            <a:endParaRPr lang="en-IN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b="0" dirty="0">
                <a:solidFill>
                  <a:srgbClr val="800000"/>
                </a:solidFill>
                <a:latin typeface="Cascadia Mono" panose="020B0609020000020004" pitchFamily="49" charset="0"/>
              </a:rPr>
              <a:t>input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b="0" dirty="0">
                <a:solidFill>
                  <a:srgbClr val="FF0000"/>
                </a:solidFill>
                <a:latin typeface="Cascadia Mono" panose="020B0609020000020004" pitchFamily="49" charset="0"/>
              </a:rPr>
              <a:t>type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="submit"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b="0" dirty="0">
                <a:solidFill>
                  <a:srgbClr val="FF0000"/>
                </a:solidFill>
                <a:latin typeface="Cascadia Mono" panose="020B0609020000020004" pitchFamily="49" charset="0"/>
              </a:rPr>
              <a:t>value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="Save"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b="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900" b="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btn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 </a:t>
            </a:r>
            <a:r>
              <a:rPr lang="en-US" sz="900" b="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btn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-primary"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/&gt;</a:t>
            </a:r>
            <a:endParaRPr lang="en-US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b="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form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b="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b="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IN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b="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asp-action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="Index"&gt;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Back to List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b="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IN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@section Scripts {</a:t>
            </a:r>
          </a:p>
          <a:p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@{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b="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Html.RenderPartialAsync</a:t>
            </a:r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900" b="0" dirty="0">
                <a:solidFill>
                  <a:srgbClr val="A31515"/>
                </a:solidFill>
                <a:latin typeface="Cascadia Mono" panose="020B0609020000020004" pitchFamily="49" charset="0"/>
              </a:rPr>
              <a:t>"_</a:t>
            </a:r>
            <a:r>
              <a:rPr lang="en-IN" sz="900" b="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ValidationScriptsPartial</a:t>
            </a:r>
            <a:r>
              <a:rPr lang="en-IN" sz="900" b="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);}</a:t>
            </a:r>
          </a:p>
          <a:p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A046CF0-24C9-098C-17F4-C40597C21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9724" y="103695"/>
            <a:ext cx="3540728" cy="43707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View</a:t>
            </a:r>
            <a:r>
              <a:rPr lang="en-US" dirty="0" err="1">
                <a:sym typeface="Wingdings" panose="05000000000000000000" pitchFamily="2" charset="2"/>
              </a:rPr>
              <a:t>Edit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1051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79B6E9-02EE-E93B-6DFD-5ACA1B2695B4}"/>
              </a:ext>
            </a:extLst>
          </p:cNvPr>
          <p:cNvSpPr txBox="1"/>
          <p:nvPr/>
        </p:nvSpPr>
        <p:spPr>
          <a:xfrm>
            <a:off x="916757" y="335658"/>
            <a:ext cx="6094428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@model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MVC_Core.Models.</a:t>
            </a:r>
            <a:r>
              <a:rPr lang="en-US" sz="9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Employee</a:t>
            </a:r>
            <a:endParaRPr lang="en-US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@{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ViewData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sz="900" dirty="0">
                <a:solidFill>
                  <a:srgbClr val="A31515"/>
                </a:solidFill>
                <a:latin typeface="Cascadia Mono" panose="020B0609020000020004" pitchFamily="49" charset="0"/>
              </a:rPr>
              <a:t>"Title"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] = </a:t>
            </a:r>
            <a:r>
              <a:rPr lang="en-IN" sz="900" dirty="0">
                <a:solidFill>
                  <a:srgbClr val="A31515"/>
                </a:solidFill>
                <a:latin typeface="Cascadia Mono" panose="020B0609020000020004" pitchFamily="49" charset="0"/>
              </a:rPr>
              <a:t>"Delete"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h1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Delete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h1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h3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Are you sure you want to delete this?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h3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h4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Employee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h4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hr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/&gt;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dl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="row"&gt;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dt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= "col-sm-2"&gt;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it-IT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@Html.DisplayNameFor(model =&gt; model.Name)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dt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dd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= "col-sm-10"&gt;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it-IT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@Html.DisplayFor(model =&gt; model.Name)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dd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dt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= "col-sm-2"&gt;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@Html.DisplayNameFor(model =&gt; </a:t>
            </a:r>
            <a:r>
              <a:rPr lang="fr-FR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model.Email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dt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dd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= "col-sm-10"&gt;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@Html.DisplayFor(model =&gt; </a:t>
            </a:r>
            <a:r>
              <a:rPr lang="fr-FR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model.Email</a:t>
            </a:r>
            <a:r>
              <a:rPr lang="fr-FR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dd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dt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= "col-sm-2"&gt;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@Html.DisplayNameFor(model =&gt;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model.Department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dt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dd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= "col-sm-10"&gt;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@Html.DisplayFor(model =&gt;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model.Department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dd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dirty="0">
                <a:solidFill>
                  <a:srgbClr val="800000"/>
                </a:solidFill>
                <a:latin typeface="Cascadia Mono" panose="020B0609020000020004" pitchFamily="49" charset="0"/>
              </a:rPr>
              <a:t>dl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form</a:t>
            </a:r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asp-action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="Delete"&gt;</a:t>
            </a:r>
            <a:endParaRPr lang="en-IN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input</a:t>
            </a:r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type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="hidden"</a:t>
            </a:r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asp-for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Id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/&gt;</a:t>
            </a:r>
            <a:endParaRPr lang="en-IN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IN" sz="900" b="0" dirty="0">
                <a:solidFill>
                  <a:srgbClr val="800000"/>
                </a:solidFill>
                <a:latin typeface="Cascadia Mono" panose="020B0609020000020004" pitchFamily="49" charset="0"/>
              </a:rPr>
              <a:t>input</a:t>
            </a:r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b="0" dirty="0">
                <a:solidFill>
                  <a:srgbClr val="FF0000"/>
                </a:solidFill>
                <a:latin typeface="Cascadia Mono" panose="020B0609020000020004" pitchFamily="49" charset="0"/>
              </a:rPr>
              <a:t>type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="submit"</a:t>
            </a:r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b="0" dirty="0">
                <a:solidFill>
                  <a:srgbClr val="FF0000"/>
                </a:solidFill>
                <a:latin typeface="Cascadia Mono" panose="020B0609020000020004" pitchFamily="49" charset="0"/>
              </a:rPr>
              <a:t>value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="Delete"</a:t>
            </a:r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b="0" dirty="0">
                <a:solidFill>
                  <a:srgbClr val="FF0000"/>
                </a:solidFill>
                <a:latin typeface="Cascadia Mono" panose="020B0609020000020004" pitchFamily="49" charset="0"/>
              </a:rPr>
              <a:t>class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IN" sz="900" b="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btn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 </a:t>
            </a:r>
            <a:r>
              <a:rPr lang="en-IN" sz="900" b="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btn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-danger"</a:t>
            </a:r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/&gt;</a:t>
            </a:r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|</a:t>
            </a:r>
          </a:p>
          <a:p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asp-action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="Index"&gt;</a:t>
            </a:r>
            <a:r>
              <a:rPr lang="en-US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Back to List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a</a:t>
            </a:r>
            <a:r>
              <a:rPr lang="en-US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b="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b="1" dirty="0">
                <a:solidFill>
                  <a:srgbClr val="800080"/>
                </a:solidFill>
                <a:latin typeface="Cascadia Mono" panose="020B0609020000020004" pitchFamily="49" charset="0"/>
              </a:rPr>
              <a:t>form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IN" sz="900" b="0" dirty="0">
                <a:solidFill>
                  <a:srgbClr val="800000"/>
                </a:solidFill>
                <a:latin typeface="Cascadia Mono" panose="020B0609020000020004" pitchFamily="49" charset="0"/>
              </a:rPr>
              <a:t>div</a:t>
            </a:r>
            <a:r>
              <a:rPr lang="en-IN" sz="900" b="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IN" sz="900" b="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205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A9044B-9A7C-D7DD-A95D-C0056B48A600}"/>
              </a:ext>
            </a:extLst>
          </p:cNvPr>
          <p:cNvSpPr txBox="1"/>
          <p:nvPr/>
        </p:nvSpPr>
        <p:spPr>
          <a:xfrm>
            <a:off x="275735" y="0"/>
            <a:ext cx="5012702" cy="521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Microsoft.AspNetCore.Http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Microsoft.AspNetCore.Mvc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MVC_Core.Models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MVC_Core.Controllers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EmployeeController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: Controller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readonly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IEmployeeRepository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rpcontext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EmployeeController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IEmployeeRepository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rpcontext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.rpcontext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rpcontext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8000"/>
                </a:solidFill>
                <a:latin typeface="Cascadia Mono" panose="020B0609020000020004" pitchFamily="49" charset="0"/>
              </a:rPr>
              <a:t>// GET: </a:t>
            </a:r>
            <a:r>
              <a:rPr lang="en-IN" sz="9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EmployeeController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ActionResult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Index()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IEnumerable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&lt;Employee&gt; emps=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rpcontext.GetAllEmployee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View(emps);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8000"/>
                </a:solidFill>
                <a:latin typeface="Cascadia Mono" panose="020B0609020000020004" pitchFamily="49" charset="0"/>
              </a:rPr>
              <a:t>// GET: </a:t>
            </a:r>
            <a:r>
              <a:rPr lang="en-IN" sz="9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EmployeeController</a:t>
            </a:r>
            <a:r>
              <a:rPr lang="en-IN" sz="900" dirty="0">
                <a:solidFill>
                  <a:srgbClr val="008000"/>
                </a:solidFill>
                <a:latin typeface="Cascadia Mono" panose="020B0609020000020004" pitchFamily="49" charset="0"/>
              </a:rPr>
              <a:t>/Details/5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ActionResult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Details(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id)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Employee e1=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rpcontext.GetEmployee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(id);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View(e1);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8000"/>
                </a:solidFill>
                <a:latin typeface="Cascadia Mono" panose="020B0609020000020004" pitchFamily="49" charset="0"/>
              </a:rPr>
              <a:t>// GET: </a:t>
            </a:r>
            <a:r>
              <a:rPr lang="en-IN" sz="9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EmployeeController</a:t>
            </a:r>
            <a:r>
              <a:rPr lang="en-IN" sz="900" dirty="0">
                <a:solidFill>
                  <a:srgbClr val="008000"/>
                </a:solidFill>
                <a:latin typeface="Cascadia Mono" panose="020B0609020000020004" pitchFamily="49" charset="0"/>
              </a:rPr>
              <a:t>/Create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ActionResult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Create()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View();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8000"/>
                </a:solidFill>
                <a:latin typeface="Cascadia Mono" panose="020B0609020000020004" pitchFamily="49" charset="0"/>
              </a:rPr>
              <a:t>// POST: </a:t>
            </a:r>
            <a:r>
              <a:rPr lang="en-IN" sz="9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EmployeeController</a:t>
            </a:r>
            <a:r>
              <a:rPr lang="en-IN" sz="900" dirty="0">
                <a:solidFill>
                  <a:srgbClr val="008000"/>
                </a:solidFill>
                <a:latin typeface="Cascadia Mono" panose="020B0609020000020004" pitchFamily="49" charset="0"/>
              </a:rPr>
              <a:t>/Create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741CD8-FD8B-4045-22BC-38A813660556}"/>
              </a:ext>
            </a:extLst>
          </p:cNvPr>
          <p:cNvSpPr txBox="1"/>
          <p:nvPr/>
        </p:nvSpPr>
        <p:spPr>
          <a:xfrm>
            <a:off x="4489516" y="0"/>
            <a:ext cx="4550789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[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HttpPost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[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ValidateAntiForgeryToken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ActionResult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Create(Employee emp)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try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if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(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ModelState.IsValid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   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rpcontext.Add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(emp);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RedirectToAction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nameof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(Index));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else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{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View();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catch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View();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// GET: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EmployeeController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/Edit/5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ActionResult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Edit(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int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Employee e1 =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rpcontext.GetEmployee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(id);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View(e1);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// POST: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EmployeeController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/Edit/5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[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HttpPost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[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ValidateAntiForgeryToken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ActionResult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Edit(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int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id, Employee emp)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try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if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(id ==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emp.Id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if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(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ModelState.IsValid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       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rpcontext.Update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(emp);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RedirectToAction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nameof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(Index));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catch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View();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View();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97B6B3-5459-5EDF-AABD-7E7437EF0433}"/>
              </a:ext>
            </a:extLst>
          </p:cNvPr>
          <p:cNvSpPr txBox="1"/>
          <p:nvPr/>
        </p:nvSpPr>
        <p:spPr>
          <a:xfrm>
            <a:off x="8439347" y="1684398"/>
            <a:ext cx="4173717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// GET: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EmployeeController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/Delete/5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ActionResult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Delete(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int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Employee e1 =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rpcontext.GetEmployee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(id);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View(e1);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// POST: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EmployeeController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/Delete/5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[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HttpPost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[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ValidateAntiForgeryToken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ActionResult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Delete(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int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id, Employee emp)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       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rpcontext.Delete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(id);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RedirectToAction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nameof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(Index));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7398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72FC7-4FC4-47DC-A282-F51CD8245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754DD-8AE3-497E-AF6D-6513EE8CE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PM&gt; Install-Package </a:t>
            </a:r>
            <a:r>
              <a:rPr lang="en-IN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Microsoft.VisualStudio.Web.CodeGeneration.Design</a:t>
            </a:r>
            <a:r>
              <a:rPr lang="en-IN" sz="1800">
                <a:solidFill>
                  <a:srgbClr val="000000"/>
                </a:solidFill>
                <a:latin typeface="Cascadia Mono" panose="020B0609020000020004" pitchFamily="49" charset="0"/>
              </a:rPr>
              <a:t> -Version 5.0.0</a:t>
            </a:r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D45F42-63CB-2E36-C61C-AE289EA8DB17}"/>
              </a:ext>
            </a:extLst>
          </p:cNvPr>
          <p:cNvSpPr txBox="1"/>
          <p:nvPr/>
        </p:nvSpPr>
        <p:spPr>
          <a:xfrm>
            <a:off x="1414021" y="2901099"/>
            <a:ext cx="691927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Down load all DLL file</a:t>
            </a:r>
          </a:p>
          <a:p>
            <a:pPr marL="342900" indent="-342900">
              <a:buAutoNum type="arabicPeriod"/>
            </a:pPr>
            <a:r>
              <a:rPr lang="en-US" dirty="0"/>
              <a:t>Create poco class</a:t>
            </a:r>
          </a:p>
          <a:p>
            <a:pPr marL="342900" indent="-342900">
              <a:buAutoNum type="arabicPeriod"/>
            </a:pPr>
            <a:r>
              <a:rPr lang="en-US" dirty="0"/>
              <a:t>Create </a:t>
            </a:r>
            <a:r>
              <a:rPr lang="en-US" dirty="0" err="1"/>
              <a:t>Appdbcontextclass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Put connection string </a:t>
            </a:r>
            <a:r>
              <a:rPr lang="en-US" dirty="0" err="1"/>
              <a:t>Appsetting.json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Write </a:t>
            </a:r>
            <a:r>
              <a:rPr lang="en-US" dirty="0" err="1"/>
              <a:t>SqlServerRepository</a:t>
            </a:r>
            <a:r>
              <a:rPr lang="en-US" dirty="0">
                <a:sym typeface="Wingdings" panose="05000000000000000000" pitchFamily="2" charset="2"/>
              </a:rPr>
              <a:t> implementation class</a:t>
            </a:r>
          </a:p>
          <a:p>
            <a:pPr marL="342900" indent="-342900"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Create controller</a:t>
            </a:r>
          </a:p>
          <a:p>
            <a:pPr marL="342900" indent="-342900"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Inject Interface reference </a:t>
            </a:r>
          </a:p>
          <a:p>
            <a:pPr marL="342900" indent="-342900"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Following command to be written at Package Manager Console</a:t>
            </a:r>
          </a:p>
          <a:p>
            <a:r>
              <a:rPr lang="en-US" dirty="0">
                <a:sym typeface="Wingdings" panose="05000000000000000000" pitchFamily="2" charset="2"/>
              </a:rPr>
              <a:t>9</a:t>
            </a:r>
            <a:r>
              <a:rPr lang="en-US" dirty="0">
                <a:highlight>
                  <a:srgbClr val="FFFF00"/>
                </a:highlight>
                <a:sym typeface="Wingdings" panose="05000000000000000000" pitchFamily="2" charset="2"/>
              </a:rPr>
              <a:t>.  Add-Migration</a:t>
            </a:r>
          </a:p>
          <a:p>
            <a:r>
              <a:rPr lang="en-US" dirty="0">
                <a:highlight>
                  <a:srgbClr val="FFFF00"/>
                </a:highlight>
                <a:sym typeface="Wingdings" panose="05000000000000000000" pitchFamily="2" charset="2"/>
              </a:rPr>
              <a:t>10. Update-Database –verbose</a:t>
            </a:r>
          </a:p>
          <a:p>
            <a:r>
              <a:rPr lang="en-US" dirty="0">
                <a:sym typeface="Wingdings" panose="05000000000000000000" pitchFamily="2" charset="2"/>
              </a:rPr>
              <a:t>11. Add data in database</a:t>
            </a:r>
          </a:p>
          <a:p>
            <a:r>
              <a:rPr lang="en-US" dirty="0">
                <a:sym typeface="Wingdings" panose="05000000000000000000" pitchFamily="2" charset="2"/>
              </a:rPr>
              <a:t>12. Generate all view</a:t>
            </a:r>
          </a:p>
          <a:p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22680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C82D86-D23D-4D86-8A84-2BDC9FC286FE}"/>
              </a:ext>
            </a:extLst>
          </p:cNvPr>
          <p:cNvSpPr txBox="1"/>
          <p:nvPr/>
        </p:nvSpPr>
        <p:spPr>
          <a:xfrm>
            <a:off x="0" y="0"/>
            <a:ext cx="4876800" cy="6324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latin typeface="Consolas" panose="020B0609020204030204" pitchFamily="49" charset="0"/>
              </a:rPr>
              <a:t>EmployeesController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: Controller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FF"/>
                </a:solidFill>
                <a:latin typeface="Consolas" panose="020B0609020204030204" pitchFamily="49" charset="0"/>
              </a:rPr>
              <a:t>readonly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Appdbcontaxcts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_context;</a:t>
            </a:r>
          </a:p>
          <a:p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latin typeface="Consolas" panose="020B0609020204030204" pitchFamily="49" charset="0"/>
              </a:rPr>
              <a:t>EmployeesController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Appdbcontaxcts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context)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_context = context;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900" dirty="0">
                <a:solidFill>
                  <a:srgbClr val="008000"/>
                </a:solidFill>
                <a:latin typeface="Consolas" panose="020B0609020204030204" pitchFamily="49" charset="0"/>
              </a:rPr>
              <a:t>// GET: Employees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async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Task&lt;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IActionResult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&gt; Index()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View(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context.Employees.ToListAsync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900" dirty="0">
                <a:solidFill>
                  <a:srgbClr val="008000"/>
                </a:solidFill>
                <a:latin typeface="Consolas" panose="020B0609020204030204" pitchFamily="49" charset="0"/>
              </a:rPr>
              <a:t>// GET: Employees/Details/5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async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Task&lt;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IActionResult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&gt; Details(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? id)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(id ==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NotFound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employee =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context.Employees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.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FirstOrDefaultAsync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(m =&gt;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m.Id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== id);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(employee ==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NotFound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View(employee);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900" dirty="0">
                <a:solidFill>
                  <a:srgbClr val="008000"/>
                </a:solidFill>
                <a:latin typeface="Consolas" panose="020B0609020204030204" pitchFamily="49" charset="0"/>
              </a:rPr>
              <a:t>// GET: Employees/Create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IActionResult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Create()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View();</a:t>
            </a: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900" dirty="0">
                <a:solidFill>
                  <a:srgbClr val="008000"/>
                </a:solidFill>
                <a:latin typeface="Consolas" panose="020B0609020204030204" pitchFamily="49" charset="0"/>
              </a:rPr>
              <a:t>// POST: Employees/Create</a:t>
            </a:r>
            <a:endParaRPr lang="en-IN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// To protect from </a:t>
            </a:r>
            <a:r>
              <a:rPr lang="en-US" sz="900" dirty="0" err="1">
                <a:solidFill>
                  <a:srgbClr val="008000"/>
                </a:solidFill>
                <a:latin typeface="Consolas" panose="020B0609020204030204" pitchFamily="49" charset="0"/>
              </a:rPr>
              <a:t>overposting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 attacks, enable the specific properties you want to bind to, for 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// more details, see http://go.microsoft.com/fwlink/?LinkId=317598.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0F343F-B5BC-47F5-BA9B-0370C3514053}"/>
              </a:ext>
            </a:extLst>
          </p:cNvPr>
          <p:cNvSpPr txBox="1"/>
          <p:nvPr/>
        </p:nvSpPr>
        <p:spPr>
          <a:xfrm>
            <a:off x="3765755" y="0"/>
            <a:ext cx="447367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HttpPost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[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ValidateAntiForgeryToken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async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Task&lt;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IActionResult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 Create([Bind(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Id,Name,Email,Department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)] Employee employee)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ModelState.IsValid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_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context.Add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(employee);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await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_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context.SaveChangesAsync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RedirectToAction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nameof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(Index));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View(employee);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GET: Employees/Edit/5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async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Task&lt;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IActionResult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 Edit(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? 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(id ==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NotFound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employee =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await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_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context.Employees.FindAsync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(id);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(employee ==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NotFound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View(employee);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POST: Employees/Edit/5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To protect from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overposting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attacks, enable the specific properties you want to bind to, for 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more details, see http://go.microsoft.com/fwlink/?LinkId=317598.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F38EAA-A44D-4D29-83BB-3C6406627E54}"/>
              </a:ext>
            </a:extLst>
          </p:cNvPr>
          <p:cNvSpPr txBox="1"/>
          <p:nvPr/>
        </p:nvSpPr>
        <p:spPr>
          <a:xfrm>
            <a:off x="7757654" y="-19665"/>
            <a:ext cx="5142269" cy="7432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HttpPost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[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ValidateAntiForgeryToken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async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Task&lt;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IActionResult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 Edit(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id, [Bind(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Id,Name,Email,Department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)] Employee employee)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(id !=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employee.Id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   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NotFound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ModelState.IsValid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   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try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 _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context.Update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(employee);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await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_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context.SaveChangesAsync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catch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DbUpdateConcurrencyException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       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(!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EmployeeExists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employee.Id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))            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NotFound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throw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RedirectToAction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nameof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(Index));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View(employee);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GET: Employees/Delete/5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async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Task&lt;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IActionResult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 Delete(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? 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(id ==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NotFound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employee =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await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_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context.Employees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.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FirstOrDefaultAsync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(m =&gt;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m.Id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== id);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(employee ==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   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NotFound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View(employee);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POST: Employees/Delete/5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[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HttpPost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ActionName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"Delete"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[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ValidateAntiForgeryToken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async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Task&lt;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IActionResult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DeleteConfirmed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id)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employee =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await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_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context.Employees.FindAsync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(id);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_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context.Employees.Remove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(employee);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await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_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context.SaveChangesAsync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RedirectToAction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nameof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(Index));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private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bool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EmployeeExists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id)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_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context.Employees.Any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(e =&gt;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e.Id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== id);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3767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13425</TotalTime>
  <Words>4418</Words>
  <Application>Microsoft Office PowerPoint</Application>
  <PresentationFormat>Widescreen</PresentationFormat>
  <Paragraphs>757</Paragraphs>
  <Slides>18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arial</vt:lpstr>
      <vt:lpstr>arial</vt:lpstr>
      <vt:lpstr>Calibri</vt:lpstr>
      <vt:lpstr>Calibri Light</vt:lpstr>
      <vt:lpstr>Cascadia Mono</vt:lpstr>
      <vt:lpstr>Consolas</vt:lpstr>
      <vt:lpstr>Google Sans</vt:lpstr>
      <vt:lpstr>Open Sans</vt:lpstr>
      <vt:lpstr>PT Serif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If Read write with entity framework does not work</vt:lpstr>
      <vt:lpstr>ViewIndex</vt:lpstr>
      <vt:lpstr>ViewDetail</vt:lpstr>
      <vt:lpstr>ViewCreate</vt:lpstr>
      <vt:lpstr>ViewEdit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Ketki Acharya</dc:creator>
  <cp:lastModifiedBy>sriram mantri vidyanidhi infotech academy</cp:lastModifiedBy>
  <cp:revision>58</cp:revision>
  <dcterms:created xsi:type="dcterms:W3CDTF">2021-10-13T08:04:35Z</dcterms:created>
  <dcterms:modified xsi:type="dcterms:W3CDTF">2024-10-22T14:32:30Z</dcterms:modified>
</cp:coreProperties>
</file>