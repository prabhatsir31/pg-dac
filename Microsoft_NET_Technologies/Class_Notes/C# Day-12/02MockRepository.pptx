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73" r:id="rId3"/>
    <p:sldId id="301" r:id="rId4"/>
    <p:sldId id="256" r:id="rId5"/>
    <p:sldId id="257" r:id="rId6"/>
    <p:sldId id="258" r:id="rId7"/>
    <p:sldId id="261" r:id="rId8"/>
    <p:sldId id="300" r:id="rId9"/>
    <p:sldId id="298" r:id="rId10"/>
    <p:sldId id="259" r:id="rId11"/>
    <p:sldId id="29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29"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8343C4-2D87-4902-B58A-C216EE8CC8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719AD9E4-94F1-4A01-B2E7-E05EE7F436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0A5B14F1-56DA-4483-AD8A-BE71560B48BC}"/>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xmlns="" id="{F1512939-99C6-4EDD-A580-8F39B1C942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F079BC4-89A0-4A16-8CD4-53A6383E1BD6}"/>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811093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947C57-C239-46C2-8255-4FAD87E575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03F7508-7A94-416A-BEFF-E42094CD8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832309C-9B98-4D49-B1F3-C9B3D504249F}"/>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xmlns="" id="{E474320F-1380-4A25-835F-766C3335EB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E9C3052-A46E-4DE1-9BB1-703667F6A69B}"/>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409112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F6B4EB-EE2E-4D3B-9F0C-C2AB3B8E18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1C28DBC-6BF9-48E3-9D73-4B8F1560DE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4D296BF-672D-4596-9829-DF8068CB432B}"/>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xmlns="" id="{0B876B0F-2AA6-4FC4-8295-4E52DA3A6B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C6CBEC4-3880-465F-8C0C-EFAD027C0028}"/>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228389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186C7A-1427-4176-97F0-E3765B7D44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9F1B660-2A4D-47C7-8AA4-22FCA496AE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DEDCEB8-9600-4DC9-B7E2-8B9B7D0CF6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794FE274-68AA-46B4-8D99-84660A169580}"/>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6" name="Footer Placeholder 5">
            <a:extLst>
              <a:ext uri="{FF2B5EF4-FFF2-40B4-BE49-F238E27FC236}">
                <a16:creationId xmlns:a16="http://schemas.microsoft.com/office/drawing/2014/main" xmlns="" id="{7192C49A-950C-4717-A5A6-DE9AA49D02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349E34F-7262-467F-B4ED-4A40835789E1}"/>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4165953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2C617F-D2F8-4971-B447-E1CF970625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E86BFA3-F051-4539-992A-DB7ED4C288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0DEFFD42-8FEE-4E2C-906F-A80F8457D1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5558370D-96C0-4C47-9255-8DE7282151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1CC66D1F-4758-40E7-9529-54266A4645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4357DEAE-973E-4457-A451-F4233F141066}"/>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8" name="Footer Placeholder 7">
            <a:extLst>
              <a:ext uri="{FF2B5EF4-FFF2-40B4-BE49-F238E27FC236}">
                <a16:creationId xmlns:a16="http://schemas.microsoft.com/office/drawing/2014/main" xmlns="" id="{392689FA-ABE5-47B6-893C-5E7B15EB87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67D0708D-4C9B-42E0-AA5E-75A024CE40A3}"/>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647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EA30B6-68AA-4CB8-BE5D-8F1AE70431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B579072A-9DB1-48E3-BECC-8B9B0B111153}"/>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4" name="Footer Placeholder 3">
            <a:extLst>
              <a:ext uri="{FF2B5EF4-FFF2-40B4-BE49-F238E27FC236}">
                <a16:creationId xmlns:a16="http://schemas.microsoft.com/office/drawing/2014/main" xmlns="" id="{C346D3E6-FE97-49CB-808B-ED8E1E1690B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E6312A37-17FD-4EF8-84DD-3715A499E1E9}"/>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1198948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0CBF81F-F9AC-49E8-9892-851C0423581B}"/>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3" name="Footer Placeholder 2">
            <a:extLst>
              <a:ext uri="{FF2B5EF4-FFF2-40B4-BE49-F238E27FC236}">
                <a16:creationId xmlns:a16="http://schemas.microsoft.com/office/drawing/2014/main" xmlns="" id="{A7937D76-E228-462C-AB2A-79D9AC3725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44F6E96E-BE0A-485C-8928-19AD83A034C2}"/>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1308311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3BC6C5-75B8-4116-9BDA-F0B7D2B10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3524633-D504-4EF5-AC7C-2FFDADDE90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68B80AA7-C46C-4B96-8129-CB5427802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05AAAD3-D3EE-4F05-B69D-9036F913AF66}"/>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6" name="Footer Placeholder 5">
            <a:extLst>
              <a:ext uri="{FF2B5EF4-FFF2-40B4-BE49-F238E27FC236}">
                <a16:creationId xmlns:a16="http://schemas.microsoft.com/office/drawing/2014/main" xmlns="" id="{8FC89F1A-70F7-4690-B71F-1C5621D7CD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6AC6DF7-29A7-4CD4-BA5F-A0FD9AD92F6B}"/>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797919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BD19BC-123E-4160-A431-4B1A7901D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D7CE23B7-CA64-4080-9CBE-FDD8E74A9E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3772E996-25AB-4614-B162-855A14191F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985F67B-39A8-4B94-B376-33573F47A0F5}"/>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6" name="Footer Placeholder 5">
            <a:extLst>
              <a:ext uri="{FF2B5EF4-FFF2-40B4-BE49-F238E27FC236}">
                <a16:creationId xmlns:a16="http://schemas.microsoft.com/office/drawing/2014/main" xmlns="" id="{B788EBCE-8BAF-452A-A3EA-3E537876C9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6BED63E-9B53-4D42-B172-0D29F60CD21B}"/>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527565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2FB4C3-CE17-4497-91BF-EA039A5E64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63684EC-8DE3-4E50-B90C-BD942E7731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A496A70-A1C1-44B4-ABFA-8C181962EA24}"/>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xmlns="" id="{4F57AC30-D6CD-475B-8469-639FFF1783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33A0A83-1B12-4104-9DAB-8681AD72DC6A}"/>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125943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30927D41-2FCF-4E2A-8D3A-7DD813F384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9B1FFFB-22CE-4A49-85EB-DBFEB2588C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31C3294-38B7-4C2D-8EA9-AFB083EFB3D5}"/>
              </a:ext>
            </a:extLst>
          </p:cNvPr>
          <p:cNvSpPr>
            <a:spLocks noGrp="1"/>
          </p:cNvSpPr>
          <p:nvPr>
            <p:ph type="dt" sz="half" idx="10"/>
          </p:nvPr>
        </p:nvSpPr>
        <p:spPr/>
        <p:txBody>
          <a:body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xmlns="" id="{8C20EFE6-113D-4FD4-9592-B357D7683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F598D1E-68B5-4A17-A9E3-A1818B18E6E4}"/>
              </a:ext>
            </a:extLst>
          </p:cNvPr>
          <p:cNvSpPr>
            <a:spLocks noGrp="1"/>
          </p:cNvSpPr>
          <p:nvPr>
            <p:ph type="sldNum" sz="quarter" idx="12"/>
          </p:nvPr>
        </p:nvSpPr>
        <p:spPr/>
        <p:txBody>
          <a:bodyPr/>
          <a:lstStyle/>
          <a:p>
            <a:fld id="{75D1D877-0D5B-4CB8-BDE4-007D1273E1A7}" type="slidenum">
              <a:rPr lang="en-IN" smtClean="0"/>
              <a:t>‹#›</a:t>
            </a:fld>
            <a:endParaRPr lang="en-IN"/>
          </a:p>
        </p:txBody>
      </p:sp>
    </p:spTree>
    <p:extLst>
      <p:ext uri="{BB962C8B-B14F-4D97-AF65-F5344CB8AC3E}">
        <p14:creationId xmlns:p14="http://schemas.microsoft.com/office/powerpoint/2010/main" val="301323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D35303DB-4D92-4847-B413-77128A539D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378D4C0-348C-4690-9757-30535D95D8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8ACF1B3-ABCC-4715-AC40-7B14AB7175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0C1E7-9DA0-4F94-938D-8A0F14E8B324}" type="datetimeFigureOut">
              <a:rPr lang="en-IN" smtClean="0"/>
              <a:t>21-04-2025</a:t>
            </a:fld>
            <a:endParaRPr lang="en-IN"/>
          </a:p>
        </p:txBody>
      </p:sp>
      <p:sp>
        <p:nvSpPr>
          <p:cNvPr id="5" name="Footer Placeholder 4">
            <a:extLst>
              <a:ext uri="{FF2B5EF4-FFF2-40B4-BE49-F238E27FC236}">
                <a16:creationId xmlns:a16="http://schemas.microsoft.com/office/drawing/2014/main" xmlns="" id="{A5C40F33-2CDE-40CF-9B47-B4C45292FA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CECB38C2-2797-4B6A-99F3-0AD33B430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D1D877-0D5B-4CB8-BDE4-007D1273E1A7}" type="slidenum">
              <a:rPr lang="en-IN" smtClean="0"/>
              <a:t>‹#›</a:t>
            </a:fld>
            <a:endParaRPr lang="en-IN"/>
          </a:p>
        </p:txBody>
      </p:sp>
    </p:spTree>
    <p:extLst>
      <p:ext uri="{BB962C8B-B14F-4D97-AF65-F5344CB8AC3E}">
        <p14:creationId xmlns:p14="http://schemas.microsoft.com/office/powerpoint/2010/main" val="2927439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9ED4F48-F052-6D4F-4CE9-361ADBAA386C}"/>
              </a:ext>
            </a:extLst>
          </p:cNvPr>
          <p:cNvSpPr txBox="1"/>
          <p:nvPr/>
        </p:nvSpPr>
        <p:spPr>
          <a:xfrm>
            <a:off x="235670" y="735291"/>
            <a:ext cx="11321591" cy="2031325"/>
          </a:xfrm>
          <a:prstGeom prst="rect">
            <a:avLst/>
          </a:prstGeom>
          <a:noFill/>
        </p:spPr>
        <p:txBody>
          <a:bodyPr wrap="square">
            <a:spAutoFit/>
          </a:bodyPr>
          <a:lstStyle/>
          <a:p>
            <a:r>
              <a:rPr lang="en-US" dirty="0"/>
              <a:t>The @addTagHelper directive makes Tag Helpers available to the view. In this case, the view file is Pages/_</a:t>
            </a:r>
            <a:r>
              <a:rPr lang="en-US" dirty="0" err="1"/>
              <a:t>ViewImports.cshtml</a:t>
            </a:r>
            <a:r>
              <a:rPr lang="en-US" dirty="0"/>
              <a:t>, which by default is inherited by all files in the Pages folder and subfolders; making Tag Helpers available. The code above uses the wildcard syntax ("*") to specify that all Tag Helpers in the specified assembly (</a:t>
            </a:r>
            <a:r>
              <a:rPr lang="en-US" dirty="0" err="1"/>
              <a:t>Microsoft.AspNetCore.Mvc.TagHelpers</a:t>
            </a:r>
            <a:r>
              <a:rPr lang="en-US" dirty="0"/>
              <a:t>) will be available to every view file in the Views directory or subdirectory. The first parameter after @addTagHelper specifies the Tag Helpers to load (we are using "*" for all Tag Helpers), and the second parameter "</a:t>
            </a:r>
            <a:r>
              <a:rPr lang="en-US" dirty="0" err="1"/>
              <a:t>Microsoft.AspNetCore.Mvc.TagHelpers</a:t>
            </a:r>
            <a:r>
              <a:rPr lang="en-US" dirty="0"/>
              <a:t>" specifies the assembly containing the Tag Helpers. </a:t>
            </a:r>
            <a:r>
              <a:rPr lang="en-US" dirty="0" err="1"/>
              <a:t>Microsoft.AspNetCore.Mvc.TagHelpers</a:t>
            </a:r>
            <a:r>
              <a:rPr lang="en-US" dirty="0"/>
              <a:t> is the assembly for the built-in ASP.NET Core Tag Helpers.</a:t>
            </a:r>
            <a:endParaRPr lang="en-IN" dirty="0"/>
          </a:p>
        </p:txBody>
      </p:sp>
      <p:sp>
        <p:nvSpPr>
          <p:cNvPr id="7" name="TextBox 6">
            <a:extLst>
              <a:ext uri="{FF2B5EF4-FFF2-40B4-BE49-F238E27FC236}">
                <a16:creationId xmlns:a16="http://schemas.microsoft.com/office/drawing/2014/main" xmlns="" id="{93FC024E-922A-399E-7660-AB9F472195EA}"/>
              </a:ext>
            </a:extLst>
          </p:cNvPr>
          <p:cNvSpPr txBox="1"/>
          <p:nvPr/>
        </p:nvSpPr>
        <p:spPr>
          <a:xfrm>
            <a:off x="3499702" y="145271"/>
            <a:ext cx="3297024"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800" dirty="0"/>
              <a:t>@addTagHelper </a:t>
            </a:r>
            <a:endParaRPr lang="en-IN" sz="2800" dirty="0"/>
          </a:p>
        </p:txBody>
      </p:sp>
    </p:spTree>
    <p:extLst>
      <p:ext uri="{BB962C8B-B14F-4D97-AF65-F5344CB8AC3E}">
        <p14:creationId xmlns:p14="http://schemas.microsoft.com/office/powerpoint/2010/main" val="330156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37C51F0-F25A-4754-F08D-39754418A2E1}"/>
              </a:ext>
            </a:extLst>
          </p:cNvPr>
          <p:cNvSpPr>
            <a:spLocks noGrp="1"/>
          </p:cNvSpPr>
          <p:nvPr>
            <p:ph idx="1"/>
          </p:nvPr>
        </p:nvSpPr>
        <p:spPr>
          <a:xfrm>
            <a:off x="669234" y="854765"/>
            <a:ext cx="10853531" cy="5835063"/>
          </a:xfrm>
        </p:spPr>
        <p:txBody>
          <a:bodyPr>
            <a:normAutofit lnSpcReduction="10000"/>
          </a:bodyPr>
          <a:lstStyle/>
          <a:p>
            <a:pPr marL="514350" indent="-514350">
              <a:buAutoNum type="arabicPeriod"/>
            </a:pPr>
            <a:r>
              <a:rPr lang="en-US" dirty="0"/>
              <a:t>Create Poco Class</a:t>
            </a:r>
          </a:p>
          <a:p>
            <a:pPr marL="514350" indent="-514350">
              <a:buAutoNum type="arabicPeriod"/>
            </a:pPr>
            <a:r>
              <a:rPr lang="en-US" dirty="0"/>
              <a:t>Create </a:t>
            </a:r>
            <a:r>
              <a:rPr lang="en-US" dirty="0" err="1"/>
              <a:t>AppDbcontext</a:t>
            </a:r>
            <a:r>
              <a:rPr lang="en-US" dirty="0"/>
              <a:t> class which is child of  </a:t>
            </a:r>
            <a:r>
              <a:rPr lang="en-US" dirty="0" err="1"/>
              <a:t>DbContext</a:t>
            </a:r>
            <a:r>
              <a:rPr lang="en-US" dirty="0"/>
              <a:t> class</a:t>
            </a:r>
          </a:p>
          <a:p>
            <a:pPr marL="514350" indent="-514350">
              <a:buAutoNum type="arabicPeriod"/>
            </a:pPr>
            <a:r>
              <a:rPr lang="en-US" dirty="0"/>
              <a:t>Create interface with CRUD method</a:t>
            </a:r>
          </a:p>
          <a:p>
            <a:pPr marL="514350" indent="-514350">
              <a:buAutoNum type="arabicPeriod"/>
            </a:pPr>
            <a:r>
              <a:rPr lang="en-US" dirty="0"/>
              <a:t>Create Service class which will implement interface. In this class inject child of </a:t>
            </a:r>
            <a:r>
              <a:rPr lang="en-US" dirty="0" err="1"/>
              <a:t>DbContext</a:t>
            </a:r>
            <a:r>
              <a:rPr lang="en-US" dirty="0"/>
              <a:t> class reference</a:t>
            </a:r>
          </a:p>
          <a:p>
            <a:pPr marL="514350" indent="-514350">
              <a:buAutoNum type="arabicPeriod"/>
            </a:pPr>
            <a:r>
              <a:rPr lang="en-US" dirty="0"/>
              <a:t>Implement CRUD </a:t>
            </a:r>
            <a:r>
              <a:rPr lang="en-US" dirty="0" smtClean="0"/>
              <a:t>methods</a:t>
            </a:r>
          </a:p>
          <a:p>
            <a:pPr marL="514350" indent="-514350">
              <a:buAutoNum type="arabicPeriod"/>
            </a:pPr>
            <a:r>
              <a:rPr lang="en-US" dirty="0" smtClean="0"/>
              <a:t>Put </a:t>
            </a:r>
            <a:r>
              <a:rPr lang="en-US" smtClean="0"/>
              <a:t>connection string in </a:t>
            </a:r>
            <a:r>
              <a:rPr lang="en-US" dirty="0" smtClean="0"/>
              <a:t>the </a:t>
            </a:r>
            <a:r>
              <a:rPr lang="en-US" dirty="0" err="1" smtClean="0"/>
              <a:t>appsettings.json</a:t>
            </a:r>
            <a:r>
              <a:rPr lang="en-US" dirty="0" smtClean="0"/>
              <a:t> file</a:t>
            </a:r>
            <a:endParaRPr lang="en-US" dirty="0"/>
          </a:p>
          <a:p>
            <a:pPr marL="514350" indent="-514350">
              <a:buAutoNum type="arabicPeriod"/>
            </a:pPr>
            <a:r>
              <a:rPr lang="en-US" dirty="0"/>
              <a:t>Configure services in </a:t>
            </a:r>
            <a:r>
              <a:rPr lang="en-US" dirty="0" err="1"/>
              <a:t>program.cs</a:t>
            </a:r>
            <a:r>
              <a:rPr lang="en-US" dirty="0"/>
              <a:t> file</a:t>
            </a:r>
          </a:p>
          <a:p>
            <a:pPr marL="514350" indent="-514350">
              <a:buAutoNum type="arabicPeriod"/>
            </a:pPr>
            <a:r>
              <a:rPr lang="en-US" dirty="0"/>
              <a:t>Add-</a:t>
            </a:r>
            <a:r>
              <a:rPr lang="en-US" dirty="0" err="1"/>
              <a:t>Migeration</a:t>
            </a:r>
            <a:r>
              <a:rPr lang="en-US" dirty="0"/>
              <a:t> and update-Database</a:t>
            </a:r>
          </a:p>
          <a:p>
            <a:pPr marL="514350" indent="-514350">
              <a:buAutoNum type="arabicPeriod"/>
            </a:pPr>
            <a:r>
              <a:rPr lang="en-US" dirty="0"/>
              <a:t>Add controller with read write action and modify code. Call method of service class</a:t>
            </a:r>
          </a:p>
          <a:p>
            <a:pPr marL="514350" indent="-514350">
              <a:buAutoNum type="arabicPeriod"/>
            </a:pPr>
            <a:r>
              <a:rPr lang="en-US" dirty="0"/>
              <a:t>Write click on Action method and generate views.[</a:t>
            </a:r>
            <a:r>
              <a:rPr lang="en-US" dirty="0" err="1"/>
              <a:t>list,details,delete,edit</a:t>
            </a:r>
            <a:r>
              <a:rPr lang="en-US" dirty="0"/>
              <a:t>]</a:t>
            </a:r>
          </a:p>
          <a:p>
            <a:pPr marL="514350" indent="-514350">
              <a:buAutoNum type="arabicPeriod"/>
            </a:pPr>
            <a:endParaRPr lang="en-US" dirty="0"/>
          </a:p>
          <a:p>
            <a:pPr marL="514350" indent="-514350">
              <a:buAutoNum type="arabicPeriod"/>
            </a:pPr>
            <a:endParaRPr lang="en-IN" dirty="0"/>
          </a:p>
        </p:txBody>
      </p:sp>
      <p:sp>
        <p:nvSpPr>
          <p:cNvPr id="5" name="TextBox 4">
            <a:extLst>
              <a:ext uri="{FF2B5EF4-FFF2-40B4-BE49-F238E27FC236}">
                <a16:creationId xmlns:a16="http://schemas.microsoft.com/office/drawing/2014/main" xmlns="" id="{63DA0F0E-EBB5-D958-C29B-075925B55CB3}"/>
              </a:ext>
            </a:extLst>
          </p:cNvPr>
          <p:cNvSpPr txBox="1"/>
          <p:nvPr/>
        </p:nvSpPr>
        <p:spPr>
          <a:xfrm>
            <a:off x="2638011" y="168172"/>
            <a:ext cx="4180232"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a:t>Steps to do the MVC CRUD with Entity</a:t>
            </a:r>
            <a:endParaRPr lang="en-IN" dirty="0"/>
          </a:p>
        </p:txBody>
      </p:sp>
    </p:spTree>
    <p:extLst>
      <p:ext uri="{BB962C8B-B14F-4D97-AF65-F5344CB8AC3E}">
        <p14:creationId xmlns:p14="http://schemas.microsoft.com/office/powerpoint/2010/main" val="2316164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9466856A-DBBB-2CDD-5F09-4EA69DDDBD3E}"/>
              </a:ext>
            </a:extLst>
          </p:cNvPr>
          <p:cNvSpPr txBox="1"/>
          <p:nvPr/>
        </p:nvSpPr>
        <p:spPr>
          <a:xfrm>
            <a:off x="94268" y="179110"/>
            <a:ext cx="5222449" cy="369332"/>
          </a:xfrm>
          <a:prstGeom prst="rect">
            <a:avLst/>
          </a:prstGeom>
          <a:noFill/>
        </p:spPr>
        <p:txBody>
          <a:bodyPr wrap="square" rtlCol="0">
            <a:spAutoFit/>
          </a:bodyPr>
          <a:lstStyle/>
          <a:p>
            <a:pPr algn="ctr"/>
            <a:r>
              <a:rPr lang="en-US" b="1" dirty="0"/>
              <a:t>What is repository design pattern</a:t>
            </a:r>
            <a:endParaRPr lang="en-IN" b="1" dirty="0"/>
          </a:p>
        </p:txBody>
      </p:sp>
      <p:sp>
        <p:nvSpPr>
          <p:cNvPr id="5" name="Rectangle 1">
            <a:extLst>
              <a:ext uri="{FF2B5EF4-FFF2-40B4-BE49-F238E27FC236}">
                <a16:creationId xmlns:a16="http://schemas.microsoft.com/office/drawing/2014/main" xmlns="" id="{1D1B4654-0905-5A6F-E469-6A351B37AFAD}"/>
              </a:ext>
            </a:extLst>
          </p:cNvPr>
          <p:cNvSpPr>
            <a:spLocks noChangeArrowheads="1"/>
          </p:cNvSpPr>
          <p:nvPr/>
        </p:nvSpPr>
        <p:spPr bwMode="auto">
          <a:xfrm>
            <a:off x="186178" y="702990"/>
            <a:ext cx="11349873" cy="7078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6176"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02124"/>
                </a:solidFill>
                <a:effectLst/>
                <a:cs typeface="Arial" panose="020B0604020202020204" pitchFamily="34" charset="0"/>
              </a:rPr>
              <a:t>   </a:t>
            </a:r>
            <a:r>
              <a:rPr kumimoji="0" lang="en-US" altLang="en-US" b="0" i="0" u="none" strike="noStrike" cap="none" normalizeH="0" baseline="0" dirty="0">
                <a:ln>
                  <a:noFill/>
                </a:ln>
                <a:solidFill>
                  <a:srgbClr val="4D5156"/>
                </a:solidFill>
                <a:effectLst/>
                <a:latin typeface="Google Sans"/>
                <a:cs typeface="Arial" panose="020B0604020202020204" pitchFamily="34" charset="0"/>
              </a:rPr>
              <a:t>The Repository pattern is </a:t>
            </a:r>
            <a:r>
              <a:rPr kumimoji="0" lang="en-US" altLang="en-US" b="0" i="0" u="none" strike="noStrike" cap="none" normalizeH="0" baseline="0" dirty="0">
                <a:ln>
                  <a:noFill/>
                </a:ln>
                <a:solidFill>
                  <a:srgbClr val="040C28"/>
                </a:solidFill>
                <a:effectLst/>
                <a:latin typeface="Google Sans"/>
                <a:cs typeface="Arial" panose="020B0604020202020204" pitchFamily="34" charset="0"/>
              </a:rPr>
              <a:t>a Domain-Driven Design pattern intended to keep  persistence concerns outside of the system's domain mode</a:t>
            </a:r>
            <a:endParaRPr kumimoji="0" lang="en-US" altLang="en-US" sz="1400" b="0" i="0" u="none" strike="noStrike" cap="none" normalizeH="0" baseline="0" dirty="0">
              <a:ln>
                <a:noFill/>
              </a:ln>
              <a:solidFill>
                <a:schemeClr val="tx1"/>
              </a:solidFill>
              <a:effectLst/>
            </a:endParaRPr>
          </a:p>
        </p:txBody>
      </p:sp>
      <p:sp>
        <p:nvSpPr>
          <p:cNvPr id="6" name="TextBox 5">
            <a:extLst>
              <a:ext uri="{FF2B5EF4-FFF2-40B4-BE49-F238E27FC236}">
                <a16:creationId xmlns:a16="http://schemas.microsoft.com/office/drawing/2014/main" xmlns="" id="{0265D263-B272-3C6E-2FC7-7796BEC0C9C0}"/>
              </a:ext>
            </a:extLst>
          </p:cNvPr>
          <p:cNvSpPr txBox="1"/>
          <p:nvPr/>
        </p:nvSpPr>
        <p:spPr>
          <a:xfrm>
            <a:off x="94268" y="1565376"/>
            <a:ext cx="4798243" cy="2862322"/>
          </a:xfrm>
          <a:prstGeom prst="rect">
            <a:avLst/>
          </a:prstGeom>
          <a:noFill/>
        </p:spPr>
        <p:txBody>
          <a:bodyPr wrap="square">
            <a:spAutoFit/>
          </a:bodyPr>
          <a:lstStyle/>
          <a:p>
            <a:pPr algn="l"/>
            <a:r>
              <a:rPr lang="en-US" b="1" i="0" dirty="0">
                <a:solidFill>
                  <a:srgbClr val="202124"/>
                </a:solidFill>
                <a:effectLst/>
                <a:latin typeface="Google Sans"/>
              </a:rPr>
              <a:t>What is the function of repository pattern?</a:t>
            </a:r>
          </a:p>
          <a:p>
            <a:pPr algn="l"/>
            <a:endParaRPr lang="en-US" b="1" i="0" dirty="0">
              <a:solidFill>
                <a:srgbClr val="202124"/>
              </a:solidFill>
              <a:effectLst/>
              <a:latin typeface="arial" panose="020B0604020202020204" pitchFamily="34" charset="0"/>
            </a:endParaRPr>
          </a:p>
          <a:p>
            <a:pPr algn="l"/>
            <a:r>
              <a:rPr lang="en-US" b="0" i="0" dirty="0">
                <a:solidFill>
                  <a:srgbClr val="4D5156"/>
                </a:solidFill>
                <a:effectLst/>
                <a:latin typeface="Google Sans"/>
              </a:rPr>
              <a:t>The repository pattern is a design pattern that </a:t>
            </a:r>
            <a:r>
              <a:rPr lang="en-US" b="0" i="0" dirty="0">
                <a:solidFill>
                  <a:srgbClr val="040C28"/>
                </a:solidFill>
                <a:effectLst/>
                <a:latin typeface="Google Sans"/>
              </a:rPr>
              <a:t>isolates the data layer from the rest of the app</a:t>
            </a:r>
            <a:r>
              <a:rPr lang="en-US" b="0" i="0" dirty="0">
                <a:solidFill>
                  <a:srgbClr val="4D5156"/>
                </a:solidFill>
                <a:effectLst/>
                <a:latin typeface="Google Sans"/>
              </a:rPr>
              <a:t>. </a:t>
            </a:r>
          </a:p>
          <a:p>
            <a:pPr algn="l"/>
            <a:endParaRPr lang="en-US" dirty="0">
              <a:solidFill>
                <a:srgbClr val="4D5156"/>
              </a:solidFill>
              <a:latin typeface="Google Sans"/>
            </a:endParaRPr>
          </a:p>
          <a:p>
            <a:pPr algn="l"/>
            <a:r>
              <a:rPr lang="en-US" b="0" i="0" dirty="0">
                <a:solidFill>
                  <a:srgbClr val="4D5156"/>
                </a:solidFill>
                <a:effectLst/>
                <a:latin typeface="Google Sans"/>
              </a:rPr>
              <a:t>The data layer refers to the part of your app, separate from the UI, that handles the app's data and business logic, exposing consistent APIs for the rest of your app to access this data.</a:t>
            </a:r>
            <a:endParaRPr lang="en-US" b="0" i="0" dirty="0">
              <a:solidFill>
                <a:srgbClr val="202124"/>
              </a:solidFill>
              <a:effectLst/>
              <a:latin typeface="arial" panose="020B0604020202020204" pitchFamily="34" charset="0"/>
            </a:endParaRPr>
          </a:p>
        </p:txBody>
      </p:sp>
      <p:pic>
        <p:nvPicPr>
          <p:cNvPr id="7" name="Picture 6">
            <a:extLst>
              <a:ext uri="{FF2B5EF4-FFF2-40B4-BE49-F238E27FC236}">
                <a16:creationId xmlns:a16="http://schemas.microsoft.com/office/drawing/2014/main" xmlns="" id="{374B0198-B835-BA39-EC6C-34AF2279F094}"/>
              </a:ext>
            </a:extLst>
          </p:cNvPr>
          <p:cNvPicPr>
            <a:picLocks noChangeAspect="1"/>
          </p:cNvPicPr>
          <p:nvPr/>
        </p:nvPicPr>
        <p:blipFill>
          <a:blip r:embed="rId2"/>
          <a:stretch>
            <a:fillRect/>
          </a:stretch>
        </p:blipFill>
        <p:spPr>
          <a:xfrm>
            <a:off x="4979384" y="1565376"/>
            <a:ext cx="6041660" cy="4639458"/>
          </a:xfrm>
          <a:prstGeom prst="rect">
            <a:avLst/>
          </a:prstGeom>
        </p:spPr>
      </p:pic>
    </p:spTree>
    <p:extLst>
      <p:ext uri="{BB962C8B-B14F-4D97-AF65-F5344CB8AC3E}">
        <p14:creationId xmlns:p14="http://schemas.microsoft.com/office/powerpoint/2010/main" val="1345310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C3A6FC7-40EA-4227-BFB3-47B0A069E7E7}"/>
              </a:ext>
            </a:extLst>
          </p:cNvPr>
          <p:cNvSpPr txBox="1"/>
          <p:nvPr/>
        </p:nvSpPr>
        <p:spPr>
          <a:xfrm>
            <a:off x="383458" y="481549"/>
            <a:ext cx="10294374" cy="5016758"/>
          </a:xfrm>
          <a:prstGeom prst="rect">
            <a:avLst/>
          </a:prstGeom>
          <a:noFill/>
        </p:spPr>
        <p:txBody>
          <a:bodyPr wrap="square">
            <a:spAutoFit/>
          </a:bodyPr>
          <a:lstStyle/>
          <a:p>
            <a:r>
              <a:rPr lang="en-IN" sz="1600" dirty="0">
                <a:solidFill>
                  <a:srgbClr val="0000FF"/>
                </a:solidFill>
                <a:latin typeface="Consolas" panose="020B0609020204030204" pitchFamily="49" charset="0"/>
              </a:rPr>
              <a:t>using</a:t>
            </a:r>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System.ComponentModel.DataAnnotations</a:t>
            </a:r>
            <a:r>
              <a:rPr lang="en-IN" sz="1600" dirty="0">
                <a:solidFill>
                  <a:srgbClr val="000000"/>
                </a:solidFill>
                <a:latin typeface="Consolas" panose="020B0609020204030204" pitchFamily="49" charset="0"/>
              </a:rPr>
              <a:t>; </a:t>
            </a:r>
          </a:p>
          <a:p>
            <a:r>
              <a:rPr lang="en-IN" sz="1600" dirty="0">
                <a:solidFill>
                  <a:srgbClr val="0000FF"/>
                </a:solidFill>
                <a:latin typeface="Consolas" panose="020B0609020204030204" pitchFamily="49" charset="0"/>
              </a:rPr>
              <a:t>public</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class</a:t>
            </a:r>
            <a:r>
              <a:rPr lang="en-IN" sz="1600" dirty="0">
                <a:solidFill>
                  <a:srgbClr val="000000"/>
                </a:solidFill>
                <a:latin typeface="Consolas" panose="020B0609020204030204" pitchFamily="49" charset="0"/>
              </a:rPr>
              <a:t> </a:t>
            </a:r>
            <a:r>
              <a:rPr lang="en-IN" sz="1600" dirty="0">
                <a:solidFill>
                  <a:srgbClr val="2B91AF"/>
                </a:solidFill>
                <a:latin typeface="Consolas" panose="020B0609020204030204" pitchFamily="49" charset="0"/>
              </a:rPr>
              <a:t>Employee</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Id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IN"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MaxLength</a:t>
            </a:r>
            <a:r>
              <a:rPr lang="en-US" sz="1600" dirty="0">
                <a:solidFill>
                  <a:srgbClr val="000000"/>
                </a:solidFill>
                <a:latin typeface="Consolas" panose="020B0609020204030204" pitchFamily="49" charset="0"/>
              </a:rPr>
              <a:t>(50, </a:t>
            </a:r>
            <a:r>
              <a:rPr lang="en-US" sz="1600" dirty="0" err="1">
                <a:solidFill>
                  <a:srgbClr val="000000"/>
                </a:solidFill>
                <a:latin typeface="Consolas" panose="020B0609020204030204" pitchFamily="49" charset="0"/>
              </a:rPr>
              <a:t>ErrorMessage</a:t>
            </a:r>
            <a:r>
              <a:rPr lang="en-US" sz="1600" dirty="0">
                <a:solidFill>
                  <a:srgbClr val="000000"/>
                </a:solidFill>
                <a:latin typeface="Consolas" panose="020B0609020204030204" pitchFamily="49" charset="0"/>
              </a:rPr>
              <a:t> = </a:t>
            </a:r>
            <a:r>
              <a:rPr lang="en-US" sz="1600" dirty="0">
                <a:solidFill>
                  <a:srgbClr val="A31515"/>
                </a:solidFill>
                <a:latin typeface="Consolas" panose="020B0609020204030204" pitchFamily="49" charset="0"/>
              </a:rPr>
              <a:t>"Name cannot exceed 50 characters"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Name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[Display(Name = </a:t>
            </a:r>
            <a:r>
              <a:rPr lang="en-IN" sz="1600" dirty="0">
                <a:solidFill>
                  <a:srgbClr val="A31515"/>
                </a:solidFill>
                <a:latin typeface="Consolas" panose="020B0609020204030204" pitchFamily="49" charset="0"/>
              </a:rPr>
              <a:t>"Office Email"</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RegularExpression</a:t>
            </a:r>
            <a:r>
              <a:rPr lang="en-IN" sz="1600" dirty="0">
                <a:solidFill>
                  <a:srgbClr val="000000"/>
                </a:solidFill>
                <a:latin typeface="Consolas" panose="020B0609020204030204" pitchFamily="49" charset="0"/>
              </a:rPr>
              <a:t>(</a:t>
            </a:r>
            <a:r>
              <a:rPr lang="en-IN" sz="1600" dirty="0">
                <a:solidFill>
                  <a:srgbClr val="800000"/>
                </a:solidFill>
                <a:latin typeface="Consolas" panose="020B0609020204030204" pitchFamily="49" charset="0"/>
              </a:rPr>
              <a:t>@"^[a-zA-Z0-9_.+-]+@[a-zA-Z0-9-]+\.[a-zA-Z0-9-.]+$"</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ErrorMessage</a:t>
            </a:r>
            <a:r>
              <a:rPr lang="en-IN" sz="1600" dirty="0">
                <a:solidFill>
                  <a:srgbClr val="000000"/>
                </a:solidFill>
                <a:latin typeface="Consolas" panose="020B0609020204030204" pitchFamily="49" charset="0"/>
              </a:rPr>
              <a:t> = </a:t>
            </a:r>
            <a:r>
              <a:rPr lang="en-IN" sz="1600" dirty="0">
                <a:solidFill>
                  <a:srgbClr val="A31515"/>
                </a:solidFill>
                <a:latin typeface="Consolas" panose="020B0609020204030204" pitchFamily="49" charset="0"/>
              </a:rPr>
              <a:t>"Invalid email format"</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Email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en-US" sz="1600" dirty="0">
                <a:solidFill>
                  <a:srgbClr val="0000FF"/>
                </a:solidFill>
                <a:latin typeface="Consolas" panose="020B0609020204030204" pitchFamily="49" charset="0"/>
              </a:rPr>
              <a:t>	public</a:t>
            </a:r>
            <a:r>
              <a:rPr lang="en-US" sz="1600" dirty="0">
                <a:solidFill>
                  <a:srgbClr val="000000"/>
                </a:solidFill>
                <a:latin typeface="Consolas" panose="020B0609020204030204" pitchFamily="49" charset="0"/>
              </a:rPr>
              <a:t> Dept? Department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public</a:t>
            </a:r>
            <a:r>
              <a:rPr lang="en-IN" sz="1600" dirty="0">
                <a:solidFill>
                  <a:srgbClr val="000000"/>
                </a:solidFill>
                <a:latin typeface="Consolas" panose="020B0609020204030204" pitchFamily="49" charset="0"/>
              </a:rPr>
              <a:t> </a:t>
            </a:r>
            <a:r>
              <a:rPr lang="en-IN" sz="1600" dirty="0" err="1">
                <a:solidFill>
                  <a:srgbClr val="0000FF"/>
                </a:solidFill>
                <a:latin typeface="Consolas" panose="020B0609020204030204" pitchFamily="49" charset="0"/>
              </a:rPr>
              <a:t>enum</a:t>
            </a:r>
            <a:r>
              <a:rPr lang="en-IN" sz="1600" dirty="0">
                <a:solidFill>
                  <a:srgbClr val="000000"/>
                </a:solidFill>
                <a:latin typeface="Consolas" panose="020B0609020204030204" pitchFamily="49" charset="0"/>
              </a:rPr>
              <a:t> </a:t>
            </a:r>
            <a:r>
              <a:rPr lang="en-IN" sz="1600" dirty="0">
                <a:solidFill>
                  <a:srgbClr val="2B91AF"/>
                </a:solidFill>
                <a:latin typeface="Consolas" panose="020B0609020204030204" pitchFamily="49" charset="0"/>
              </a:rPr>
              <a:t>Dept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   HR,</a:t>
            </a:r>
          </a:p>
          <a:p>
            <a:r>
              <a:rPr lang="en-IN" sz="1600" dirty="0">
                <a:solidFill>
                  <a:srgbClr val="000000"/>
                </a:solidFill>
                <a:latin typeface="Consolas" panose="020B0609020204030204" pitchFamily="49" charset="0"/>
              </a:rPr>
              <a:t>        Payroll,</a:t>
            </a:r>
          </a:p>
          <a:p>
            <a:r>
              <a:rPr lang="en-IN" sz="1600" dirty="0">
                <a:solidFill>
                  <a:srgbClr val="000000"/>
                </a:solidFill>
                <a:latin typeface="Consolas" panose="020B0609020204030204" pitchFamily="49" charset="0"/>
              </a:rPr>
              <a:t>        IT</a:t>
            </a:r>
          </a:p>
          <a:p>
            <a:r>
              <a:rPr lang="en-IN" sz="1600" dirty="0">
                <a:solidFill>
                  <a:srgbClr val="000000"/>
                </a:solidFill>
                <a:latin typeface="Consolas" panose="020B0609020204030204" pitchFamily="49" charset="0"/>
              </a:rPr>
              <a:t>    }</a:t>
            </a:r>
            <a:endParaRPr lang="en-IN" sz="1600" dirty="0"/>
          </a:p>
        </p:txBody>
      </p:sp>
      <p:sp>
        <p:nvSpPr>
          <p:cNvPr id="6" name="TextBox 5">
            <a:extLst>
              <a:ext uri="{FF2B5EF4-FFF2-40B4-BE49-F238E27FC236}">
                <a16:creationId xmlns:a16="http://schemas.microsoft.com/office/drawing/2014/main" xmlns="" id="{D390601F-1AAA-4019-A474-7DF7843D56F1}"/>
              </a:ext>
            </a:extLst>
          </p:cNvPr>
          <p:cNvSpPr txBox="1"/>
          <p:nvPr/>
        </p:nvSpPr>
        <p:spPr>
          <a:xfrm>
            <a:off x="1632155" y="137652"/>
            <a:ext cx="7600335" cy="369332"/>
          </a:xfrm>
          <a:prstGeom prst="rect">
            <a:avLst/>
          </a:prstGeom>
          <a:noFill/>
        </p:spPr>
        <p:txBody>
          <a:bodyPr wrap="square" rtlCol="0">
            <a:spAutoFit/>
          </a:bodyPr>
          <a:lstStyle/>
          <a:p>
            <a:r>
              <a:rPr lang="en-IN" dirty="0"/>
              <a:t>In Models Folder Create Poco class</a:t>
            </a:r>
          </a:p>
        </p:txBody>
      </p:sp>
      <p:cxnSp>
        <p:nvCxnSpPr>
          <p:cNvPr id="3" name="Straight Arrow Connector 2">
            <a:extLst>
              <a:ext uri="{FF2B5EF4-FFF2-40B4-BE49-F238E27FC236}">
                <a16:creationId xmlns:a16="http://schemas.microsoft.com/office/drawing/2014/main" xmlns="" id="{0CD730B2-6FC3-A5A8-D72B-BC923C383C0C}"/>
              </a:ext>
            </a:extLst>
          </p:cNvPr>
          <p:cNvCxnSpPr/>
          <p:nvPr/>
        </p:nvCxnSpPr>
        <p:spPr>
          <a:xfrm flipV="1">
            <a:off x="5590095" y="886120"/>
            <a:ext cx="2997724" cy="725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C75F5DFD-A13E-2179-E34A-DCD953936DE6}"/>
              </a:ext>
            </a:extLst>
          </p:cNvPr>
          <p:cNvSpPr txBox="1"/>
          <p:nvPr/>
        </p:nvSpPr>
        <p:spPr>
          <a:xfrm>
            <a:off x="9115720" y="481549"/>
            <a:ext cx="2810809"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Server Side Validation</a:t>
            </a:r>
            <a:endParaRPr lang="en-IN" dirty="0"/>
          </a:p>
        </p:txBody>
      </p:sp>
    </p:spTree>
    <p:extLst>
      <p:ext uri="{BB962C8B-B14F-4D97-AF65-F5344CB8AC3E}">
        <p14:creationId xmlns:p14="http://schemas.microsoft.com/office/powerpoint/2010/main" val="1037497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3D518713-A0D8-4769-986C-74855B518E51}"/>
              </a:ext>
            </a:extLst>
          </p:cNvPr>
          <p:cNvSpPr txBox="1"/>
          <p:nvPr/>
        </p:nvSpPr>
        <p:spPr>
          <a:xfrm>
            <a:off x="452285" y="952486"/>
            <a:ext cx="4630992" cy="2292935"/>
          </a:xfrm>
          <a:prstGeom prst="rect">
            <a:avLst/>
          </a:prstGeom>
          <a:noFill/>
        </p:spPr>
        <p:txBody>
          <a:bodyPr wrap="square">
            <a:spAutoFit/>
          </a:bodyPr>
          <a:lstStyle/>
          <a:p>
            <a:r>
              <a:rPr lang="en-IN" sz="1100" dirty="0">
                <a:solidFill>
                  <a:srgbClr val="000000"/>
                </a:solidFill>
                <a:latin typeface="Consolas" panose="020B0609020204030204" pitchFamily="49" charset="0"/>
              </a:rPr>
              <a:t> </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System.Collections.Generic</a:t>
            </a:r>
            <a:r>
              <a:rPr lang="en-IN" sz="1100" dirty="0">
                <a:solidFill>
                  <a:srgbClr val="000000"/>
                </a:solidFill>
                <a:latin typeface="Consolas" panose="020B0609020204030204" pitchFamily="49" charset="0"/>
              </a:rPr>
              <a:t>;</a:t>
            </a:r>
          </a:p>
          <a:p>
            <a:endParaRPr lang="en-IN" sz="1100" dirty="0">
              <a:solidFill>
                <a:srgbClr val="000000"/>
              </a:solidFill>
              <a:latin typeface="Consolas" panose="020B0609020204030204" pitchFamily="49" charset="0"/>
            </a:endParaRPr>
          </a:p>
          <a:p>
            <a:r>
              <a:rPr lang="en-IN" sz="1100" dirty="0">
                <a:solidFill>
                  <a:srgbClr val="0000FF"/>
                </a:solidFill>
                <a:latin typeface="Consolas" panose="020B0609020204030204" pitchFamily="49" charset="0"/>
              </a:rPr>
              <a:t>public</a:t>
            </a:r>
            <a:r>
              <a:rPr lang="en-IN" sz="1100" dirty="0">
                <a:solidFill>
                  <a:srgbClr val="000000"/>
                </a:solidFill>
                <a:latin typeface="Consolas" panose="020B0609020204030204" pitchFamily="49" charset="0"/>
              </a:rPr>
              <a:t> </a:t>
            </a:r>
            <a:r>
              <a:rPr lang="en-IN" sz="1100" dirty="0">
                <a:solidFill>
                  <a:srgbClr val="0000FF"/>
                </a:solidFill>
                <a:latin typeface="Consolas" panose="020B0609020204030204" pitchFamily="49" charset="0"/>
              </a:rPr>
              <a:t>interface</a:t>
            </a:r>
            <a:r>
              <a:rPr lang="en-IN" sz="1100" dirty="0">
                <a:solidFill>
                  <a:srgbClr val="000000"/>
                </a:solidFill>
                <a:latin typeface="Consolas" panose="020B0609020204030204" pitchFamily="49" charset="0"/>
              </a:rPr>
              <a:t> </a:t>
            </a:r>
            <a:r>
              <a:rPr lang="en-IN" sz="1100" dirty="0" err="1">
                <a:solidFill>
                  <a:srgbClr val="2B91AF"/>
                </a:solidFill>
                <a:latin typeface="Consolas" panose="020B0609020204030204" pitchFamily="49" charset="0"/>
              </a:rPr>
              <a:t>IEmployeeRepository</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Employee </a:t>
            </a:r>
            <a:r>
              <a:rPr lang="en-IN" sz="1100" dirty="0" err="1">
                <a:solidFill>
                  <a:srgbClr val="000000"/>
                </a:solidFill>
                <a:latin typeface="Consolas" panose="020B0609020204030204" pitchFamily="49" charset="0"/>
              </a:rPr>
              <a:t>GetEmployee</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int</a:t>
            </a:r>
            <a:r>
              <a:rPr lang="en-IN" sz="1100" dirty="0">
                <a:solidFill>
                  <a:srgbClr val="000000"/>
                </a:solidFill>
                <a:latin typeface="Consolas" panose="020B0609020204030204" pitchFamily="49" charset="0"/>
              </a:rPr>
              <a:t> Id);</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IEnumerable</a:t>
            </a:r>
            <a:r>
              <a:rPr lang="en-IN" sz="1100" dirty="0">
                <a:solidFill>
                  <a:srgbClr val="000000"/>
                </a:solidFill>
                <a:latin typeface="Consolas" panose="020B0609020204030204" pitchFamily="49" charset="0"/>
              </a:rPr>
              <a:t>&lt;Employee&gt; </a:t>
            </a:r>
            <a:r>
              <a:rPr lang="en-IN" sz="1100" dirty="0" err="1">
                <a:solidFill>
                  <a:srgbClr val="000000"/>
                </a:solidFill>
                <a:latin typeface="Consolas" panose="020B0609020204030204" pitchFamily="49" charset="0"/>
              </a:rPr>
              <a:t>GetAllEmployee</a:t>
            </a:r>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Employee Add(Employee employee);</a:t>
            </a:r>
          </a:p>
          <a:p>
            <a:r>
              <a:rPr lang="en-IN" sz="1100" dirty="0">
                <a:solidFill>
                  <a:srgbClr val="000000"/>
                </a:solidFill>
                <a:latin typeface="Consolas" panose="020B0609020204030204" pitchFamily="49" charset="0"/>
              </a:rPr>
              <a:t>        Employee Update(Employee </a:t>
            </a:r>
            <a:r>
              <a:rPr lang="en-IN" sz="1100" dirty="0" err="1">
                <a:solidFill>
                  <a:srgbClr val="000000"/>
                </a:solidFill>
                <a:latin typeface="Consolas" panose="020B0609020204030204" pitchFamily="49" charset="0"/>
              </a:rPr>
              <a:t>employeeChanges</a:t>
            </a:r>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Employee Delete(</a:t>
            </a:r>
            <a:r>
              <a:rPr lang="en-IN" sz="1100" dirty="0">
                <a:solidFill>
                  <a:srgbClr val="0000FF"/>
                </a:solidFill>
                <a:latin typeface="Consolas" panose="020B0609020204030204" pitchFamily="49" charset="0"/>
              </a:rPr>
              <a:t>int</a:t>
            </a:r>
            <a:r>
              <a:rPr lang="en-IN" sz="1100" dirty="0">
                <a:solidFill>
                  <a:srgbClr val="000000"/>
                </a:solidFill>
                <a:latin typeface="Consolas" panose="020B0609020204030204" pitchFamily="49" charset="0"/>
              </a:rPr>
              <a:t> Id);</a:t>
            </a:r>
          </a:p>
          <a:p>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endParaRPr lang="en-IN" sz="2800" dirty="0"/>
          </a:p>
        </p:txBody>
      </p:sp>
      <p:sp>
        <p:nvSpPr>
          <p:cNvPr id="6" name="TextBox 5">
            <a:extLst>
              <a:ext uri="{FF2B5EF4-FFF2-40B4-BE49-F238E27FC236}">
                <a16:creationId xmlns:a16="http://schemas.microsoft.com/office/drawing/2014/main" xmlns="" id="{377CB88D-071F-48CD-BEEB-E4C832D8251B}"/>
              </a:ext>
            </a:extLst>
          </p:cNvPr>
          <p:cNvSpPr txBox="1"/>
          <p:nvPr/>
        </p:nvSpPr>
        <p:spPr>
          <a:xfrm>
            <a:off x="1632155" y="137652"/>
            <a:ext cx="7600335" cy="369332"/>
          </a:xfrm>
          <a:prstGeom prst="rect">
            <a:avLst/>
          </a:prstGeom>
          <a:noFill/>
        </p:spPr>
        <p:txBody>
          <a:bodyPr wrap="square" rtlCol="0">
            <a:spAutoFit/>
          </a:bodyPr>
          <a:lstStyle/>
          <a:p>
            <a:r>
              <a:rPr lang="en-IN" dirty="0"/>
              <a:t>In Models Folder Create Interface and Repository class</a:t>
            </a:r>
          </a:p>
        </p:txBody>
      </p:sp>
      <p:sp>
        <p:nvSpPr>
          <p:cNvPr id="8" name="TextBox 7">
            <a:extLst>
              <a:ext uri="{FF2B5EF4-FFF2-40B4-BE49-F238E27FC236}">
                <a16:creationId xmlns:a16="http://schemas.microsoft.com/office/drawing/2014/main" xmlns="" id="{56775F2D-9ABC-4013-9A61-29A064DF68E5}"/>
              </a:ext>
            </a:extLst>
          </p:cNvPr>
          <p:cNvSpPr txBox="1"/>
          <p:nvPr/>
        </p:nvSpPr>
        <p:spPr>
          <a:xfrm>
            <a:off x="4837471" y="506984"/>
            <a:ext cx="7354529" cy="6463308"/>
          </a:xfrm>
          <a:prstGeom prst="rect">
            <a:avLst/>
          </a:prstGeom>
          <a:noFill/>
        </p:spPr>
        <p:txBody>
          <a:bodyPr wrap="square">
            <a:spAutoFit/>
          </a:bodyPr>
          <a:lstStyle/>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err="1">
                <a:solidFill>
                  <a:srgbClr val="2B91AF"/>
                </a:solidFill>
                <a:latin typeface="Consolas" panose="020B0609020204030204" pitchFamily="49" charset="0"/>
              </a:rPr>
              <a:t>MockEmployeeRepository</a:t>
            </a:r>
            <a:r>
              <a:rPr lang="en-IN" sz="900" dirty="0" err="1">
                <a:solidFill>
                  <a:srgbClr val="000000"/>
                </a:solidFill>
                <a:latin typeface="Consolas" panose="020B0609020204030204" pitchFamily="49" charset="0"/>
              </a:rPr>
              <a:t>:IEmployeeRepository</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private</a:t>
            </a:r>
            <a:r>
              <a:rPr lang="en-IN" sz="900" dirty="0">
                <a:solidFill>
                  <a:srgbClr val="000000"/>
                </a:solidFill>
                <a:latin typeface="Consolas" panose="020B0609020204030204" pitchFamily="49" charset="0"/>
              </a:rPr>
              <a:t> static List&lt;Employee&gt; _</a:t>
            </a:r>
            <a:r>
              <a:rPr lang="en-IN" sz="900" dirty="0" err="1">
                <a:solidFill>
                  <a:srgbClr val="000000"/>
                </a:solidFill>
                <a:latin typeface="Consolas" panose="020B0609020204030204" pitchFamily="49" charset="0"/>
              </a:rPr>
              <a:t>employeeList</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err="1">
                <a:solidFill>
                  <a:srgbClr val="2B91AF"/>
                </a:solidFill>
                <a:latin typeface="Consolas" panose="020B0609020204030204" pitchFamily="49" charset="0"/>
              </a:rPr>
              <a:t>MockEmployeeRepository</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employeeList</a:t>
            </a:r>
            <a:r>
              <a:rPr lang="en-IN" sz="900" dirty="0">
                <a:solidFill>
                  <a:srgbClr val="000000"/>
                </a:solidFill>
                <a:latin typeface="Consolas" panose="020B0609020204030204" pitchFamily="49" charset="0"/>
              </a:rPr>
              <a:t>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List&lt;Employee&gt;(){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Id = 1, Name = </a:t>
            </a:r>
            <a:r>
              <a:rPr lang="en-US" sz="900" dirty="0">
                <a:solidFill>
                  <a:srgbClr val="A31515"/>
                </a:solidFill>
                <a:latin typeface="Consolas" panose="020B0609020204030204" pitchFamily="49" charset="0"/>
              </a:rPr>
              <a:t>"Mary"</a:t>
            </a:r>
            <a:r>
              <a:rPr lang="en-US" sz="900" dirty="0">
                <a:solidFill>
                  <a:srgbClr val="000000"/>
                </a:solidFill>
                <a:latin typeface="Consolas" panose="020B0609020204030204" pitchFamily="49" charset="0"/>
              </a:rPr>
              <a:t>, Department = Dept.HR, Email = </a:t>
            </a:r>
            <a:r>
              <a:rPr lang="en-US" sz="900" dirty="0">
                <a:solidFill>
                  <a:srgbClr val="A31515"/>
                </a:solidFill>
                <a:latin typeface="Consolas" panose="020B0609020204030204" pitchFamily="49" charset="0"/>
              </a:rPr>
              <a:t>"mary@CDACtech.com"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Id = 2, Name = </a:t>
            </a:r>
            <a:r>
              <a:rPr lang="en-US" sz="900" dirty="0">
                <a:solidFill>
                  <a:srgbClr val="A31515"/>
                </a:solidFill>
                <a:latin typeface="Consolas" panose="020B0609020204030204" pitchFamily="49" charset="0"/>
              </a:rPr>
              <a:t>"John"</a:t>
            </a:r>
            <a:r>
              <a:rPr lang="en-US" sz="900" dirty="0">
                <a:solidFill>
                  <a:srgbClr val="000000"/>
                </a:solidFill>
                <a:latin typeface="Consolas" panose="020B0609020204030204" pitchFamily="49" charset="0"/>
              </a:rPr>
              <a:t>, Department = Dept.IT, Email = </a:t>
            </a:r>
            <a:r>
              <a:rPr lang="en-US" sz="900" dirty="0">
                <a:solidFill>
                  <a:srgbClr val="A31515"/>
                </a:solidFill>
                <a:latin typeface="Consolas" panose="020B0609020204030204" pitchFamily="49" charset="0"/>
              </a:rPr>
              <a:t>"john@CDACtech.com"</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Id = 3, Name = </a:t>
            </a:r>
            <a:r>
              <a:rPr lang="en-US" sz="900" dirty="0">
                <a:solidFill>
                  <a:srgbClr val="A31515"/>
                </a:solidFill>
                <a:latin typeface="Consolas" panose="020B0609020204030204" pitchFamily="49" charset="0"/>
              </a:rPr>
              <a:t>"Sam"</a:t>
            </a:r>
            <a:r>
              <a:rPr lang="en-US" sz="900" dirty="0">
                <a:solidFill>
                  <a:srgbClr val="000000"/>
                </a:solidFill>
                <a:latin typeface="Consolas" panose="020B0609020204030204" pitchFamily="49" charset="0"/>
              </a:rPr>
              <a:t>, Department = Dept.IT, Email = </a:t>
            </a:r>
            <a:r>
              <a:rPr lang="en-US" sz="900" dirty="0">
                <a:solidFill>
                  <a:srgbClr val="A31515"/>
                </a:solidFill>
                <a:latin typeface="Consolas" panose="020B0609020204030204" pitchFamily="49" charset="0"/>
              </a:rPr>
              <a:t>"sam@CDACtech.com"</a:t>
            </a:r>
            <a:r>
              <a:rPr lang="en-US"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Add(Employee employee)</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employee.Id</a:t>
            </a:r>
            <a:r>
              <a:rPr lang="en-US" sz="900" dirty="0">
                <a:solidFill>
                  <a:srgbClr val="000000"/>
                </a:solidFill>
                <a:latin typeface="Consolas" panose="020B0609020204030204" pitchFamily="49" charset="0"/>
              </a:rPr>
              <a:t> = _</a:t>
            </a:r>
            <a:r>
              <a:rPr lang="en-US" sz="900" dirty="0" err="1">
                <a:solidFill>
                  <a:srgbClr val="000000"/>
                </a:solidFill>
                <a:latin typeface="Consolas" panose="020B0609020204030204" pitchFamily="49" charset="0"/>
              </a:rPr>
              <a:t>employeeList.Max</a:t>
            </a:r>
            <a:r>
              <a:rPr lang="en-US" sz="900" dirty="0">
                <a:solidFill>
                  <a:srgbClr val="000000"/>
                </a:solidFill>
                <a:latin typeface="Consolas" panose="020B0609020204030204" pitchFamily="49" charset="0"/>
              </a:rPr>
              <a:t>(e =&gt; </a:t>
            </a:r>
            <a:r>
              <a:rPr lang="en-US" sz="900" dirty="0" err="1">
                <a:solidFill>
                  <a:srgbClr val="000000"/>
                </a:solidFill>
                <a:latin typeface="Consolas" panose="020B0609020204030204" pitchFamily="49" charset="0"/>
              </a:rPr>
              <a:t>e.Id</a:t>
            </a:r>
            <a:r>
              <a:rPr lang="en-US" sz="900" dirty="0">
                <a:solidFill>
                  <a:srgbClr val="000000"/>
                </a:solidFill>
                <a:latin typeface="Consolas" panose="020B0609020204030204" pitchFamily="49" charset="0"/>
              </a:rPr>
              <a:t>) + 1;</a:t>
            </a:r>
          </a:p>
          <a:p>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employeeList.Add</a:t>
            </a:r>
            <a:r>
              <a:rPr lang="en-IN" sz="900" dirty="0">
                <a:solidFill>
                  <a:srgbClr val="000000"/>
                </a:solidFill>
                <a:latin typeface="Consolas" panose="020B0609020204030204" pitchFamily="49" charset="0"/>
              </a:rPr>
              <a:t>(employee);</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employee;</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a:t>
            </a:r>
            <a:r>
              <a:rPr lang="en-US" sz="900" dirty="0">
                <a:solidFill>
                  <a:srgbClr val="000000"/>
                </a:solidFill>
                <a:highlight>
                  <a:srgbClr val="00FFFF"/>
                </a:highlight>
                <a:latin typeface="Consolas" panose="020B0609020204030204" pitchFamily="49" charset="0"/>
              </a:rPr>
              <a:t>Delete</a:t>
            </a:r>
            <a:r>
              <a:rPr lang="en-US" sz="900" dirty="0">
                <a:solidFill>
                  <a:srgbClr val="000000"/>
                </a:solidFill>
                <a:latin typeface="Consolas" panose="020B0609020204030204" pitchFamily="49" charset="0"/>
              </a:rPr>
              <a:t>(</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Id)</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Employee </a:t>
            </a:r>
            <a:r>
              <a:rPr lang="en-US" sz="900" dirty="0" err="1">
                <a:solidFill>
                  <a:srgbClr val="000000"/>
                </a:solidFill>
                <a:latin typeface="Consolas" panose="020B0609020204030204" pitchFamily="49" charset="0"/>
              </a:rPr>
              <a:t>employee</a:t>
            </a:r>
            <a:r>
              <a:rPr lang="en-US" sz="900" dirty="0">
                <a:solidFill>
                  <a:srgbClr val="000000"/>
                </a:solidFill>
                <a:latin typeface="Consolas" panose="020B0609020204030204" pitchFamily="49" charset="0"/>
              </a:rPr>
              <a:t> = _</a:t>
            </a:r>
            <a:r>
              <a:rPr lang="en-US" sz="900" dirty="0" err="1">
                <a:solidFill>
                  <a:srgbClr val="000000"/>
                </a:solidFill>
                <a:latin typeface="Consolas" panose="020B0609020204030204" pitchFamily="49" charset="0"/>
              </a:rPr>
              <a:t>employeeList.FirstOrDefault</a:t>
            </a:r>
            <a:r>
              <a:rPr lang="en-US" sz="900" dirty="0">
                <a:solidFill>
                  <a:srgbClr val="000000"/>
                </a:solidFill>
                <a:latin typeface="Consolas" panose="020B0609020204030204" pitchFamily="49" charset="0"/>
              </a:rPr>
              <a:t>(e =&gt; </a:t>
            </a:r>
            <a:r>
              <a:rPr lang="en-US" sz="900" dirty="0" err="1">
                <a:solidFill>
                  <a:srgbClr val="000000"/>
                </a:solidFill>
                <a:latin typeface="Consolas" panose="020B0609020204030204" pitchFamily="49" charset="0"/>
              </a:rPr>
              <a:t>e.Id</a:t>
            </a:r>
            <a:r>
              <a:rPr lang="en-US" sz="900" dirty="0">
                <a:solidFill>
                  <a:srgbClr val="000000"/>
                </a:solidFill>
                <a:latin typeface="Consolas" panose="020B0609020204030204" pitchFamily="49" charset="0"/>
              </a:rPr>
              <a:t> == Id);</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if</a:t>
            </a:r>
            <a:r>
              <a:rPr lang="en-IN" sz="900" dirty="0">
                <a:solidFill>
                  <a:srgbClr val="000000"/>
                </a:solidFill>
                <a:latin typeface="Consolas" panose="020B0609020204030204" pitchFamily="49" charset="0"/>
              </a:rPr>
              <a:t> (employee != </a:t>
            </a:r>
            <a:r>
              <a:rPr lang="en-IN" sz="900" dirty="0">
                <a:solidFill>
                  <a:srgbClr val="0000FF"/>
                </a:solidFill>
                <a:latin typeface="Consolas" panose="020B0609020204030204" pitchFamily="49" charset="0"/>
              </a:rPr>
              <a:t>null</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employeeList.Remove</a:t>
            </a:r>
            <a:r>
              <a:rPr lang="en-IN" sz="900" dirty="0">
                <a:solidFill>
                  <a:srgbClr val="000000"/>
                </a:solidFill>
                <a:latin typeface="Consolas" panose="020B0609020204030204" pitchFamily="49" charset="0"/>
              </a:rPr>
              <a:t>(employee);</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employee;</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IEnumerable</a:t>
            </a:r>
            <a:r>
              <a:rPr lang="en-IN" sz="900" dirty="0">
                <a:solidFill>
                  <a:srgbClr val="000000"/>
                </a:solidFill>
                <a:latin typeface="Consolas" panose="020B0609020204030204" pitchFamily="49" charset="0"/>
              </a:rPr>
              <a:t>&lt;Employee&gt; </a:t>
            </a:r>
            <a:r>
              <a:rPr lang="en-IN" sz="900" dirty="0" err="1">
                <a:solidFill>
                  <a:srgbClr val="000000"/>
                </a:solidFill>
                <a:latin typeface="Consolas" panose="020B0609020204030204" pitchFamily="49" charset="0"/>
              </a:rPr>
              <a:t>GetAllEmployee</a:t>
            </a:r>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_</a:t>
            </a:r>
            <a:r>
              <a:rPr lang="en-IN" sz="900" dirty="0" err="1">
                <a:solidFill>
                  <a:srgbClr val="000000"/>
                </a:solidFill>
                <a:latin typeface="Consolas" panose="020B0609020204030204" pitchFamily="49" charset="0"/>
              </a:rPr>
              <a:t>employeeList</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a:t>
            </a:r>
            <a:r>
              <a:rPr lang="en-US" sz="900" dirty="0" err="1">
                <a:solidFill>
                  <a:srgbClr val="000000"/>
                </a:solidFill>
                <a:latin typeface="Consolas" panose="020B0609020204030204" pitchFamily="49" charset="0"/>
              </a:rPr>
              <a:t>GetEmployee</a:t>
            </a:r>
            <a:r>
              <a:rPr lang="en-US" sz="900" dirty="0">
                <a:solidFill>
                  <a:srgbClr val="000000"/>
                </a:solidFill>
                <a:latin typeface="Consolas" panose="020B0609020204030204" pitchFamily="49" charset="0"/>
              </a:rPr>
              <a:t>(</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Id)</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return</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this</a:t>
            </a:r>
            <a:r>
              <a:rPr lang="en-US" sz="900" dirty="0">
                <a:solidFill>
                  <a:srgbClr val="000000"/>
                </a:solidFill>
                <a:latin typeface="Consolas" panose="020B0609020204030204" pitchFamily="49" charset="0"/>
              </a:rPr>
              <a:t>._</a:t>
            </a:r>
            <a:r>
              <a:rPr lang="en-US" sz="900" dirty="0" err="1">
                <a:solidFill>
                  <a:srgbClr val="000000"/>
                </a:solidFill>
                <a:latin typeface="Consolas" panose="020B0609020204030204" pitchFamily="49" charset="0"/>
              </a:rPr>
              <a:t>employeeList.FirstOrDefault</a:t>
            </a:r>
            <a:r>
              <a:rPr lang="en-US" sz="900" dirty="0">
                <a:solidFill>
                  <a:srgbClr val="000000"/>
                </a:solidFill>
                <a:latin typeface="Consolas" panose="020B0609020204030204" pitchFamily="49" charset="0"/>
              </a:rPr>
              <a:t>(e =&gt; </a:t>
            </a:r>
            <a:r>
              <a:rPr lang="en-US" sz="900" dirty="0" err="1">
                <a:solidFill>
                  <a:srgbClr val="000000"/>
                </a:solidFill>
                <a:latin typeface="Consolas" panose="020B0609020204030204" pitchFamily="49" charset="0"/>
              </a:rPr>
              <a:t>e.Id</a:t>
            </a:r>
            <a:r>
              <a:rPr lang="en-US" sz="900" dirty="0">
                <a:solidFill>
                  <a:srgbClr val="000000"/>
                </a:solidFill>
                <a:latin typeface="Consolas" panose="020B0609020204030204" pitchFamily="49" charset="0"/>
              </a:rPr>
              <a:t> == Id);</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Update(Employee </a:t>
            </a:r>
            <a:r>
              <a:rPr lang="en-US" sz="900" dirty="0" err="1">
                <a:solidFill>
                  <a:srgbClr val="000000"/>
                </a:solidFill>
                <a:latin typeface="Consolas" panose="020B0609020204030204" pitchFamily="49" charset="0"/>
              </a:rPr>
              <a:t>employeeChanges</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Employee </a:t>
            </a:r>
            <a:r>
              <a:rPr lang="en-US" sz="900" dirty="0" err="1">
                <a:solidFill>
                  <a:srgbClr val="000000"/>
                </a:solidFill>
                <a:latin typeface="Consolas" panose="020B0609020204030204" pitchFamily="49" charset="0"/>
              </a:rPr>
              <a:t>employee</a:t>
            </a:r>
            <a:r>
              <a:rPr lang="en-US" sz="900" dirty="0">
                <a:solidFill>
                  <a:srgbClr val="000000"/>
                </a:solidFill>
                <a:latin typeface="Consolas" panose="020B0609020204030204" pitchFamily="49" charset="0"/>
              </a:rPr>
              <a:t> = _</a:t>
            </a:r>
            <a:r>
              <a:rPr lang="en-US" sz="900" dirty="0" err="1">
                <a:solidFill>
                  <a:srgbClr val="000000"/>
                </a:solidFill>
                <a:latin typeface="Consolas" panose="020B0609020204030204" pitchFamily="49" charset="0"/>
              </a:rPr>
              <a:t>employeeList.FirstOrDefault</a:t>
            </a:r>
            <a:r>
              <a:rPr lang="en-US" sz="900" dirty="0">
                <a:solidFill>
                  <a:srgbClr val="000000"/>
                </a:solidFill>
                <a:latin typeface="Consolas" panose="020B0609020204030204" pitchFamily="49" charset="0"/>
              </a:rPr>
              <a:t>(e =&gt; </a:t>
            </a:r>
            <a:r>
              <a:rPr lang="en-US" sz="900" dirty="0" err="1">
                <a:solidFill>
                  <a:srgbClr val="000000"/>
                </a:solidFill>
                <a:latin typeface="Consolas" panose="020B0609020204030204" pitchFamily="49" charset="0"/>
              </a:rPr>
              <a:t>e.Id</a:t>
            </a:r>
            <a:r>
              <a:rPr lang="en-US" sz="900" dirty="0">
                <a:solidFill>
                  <a:srgbClr val="000000"/>
                </a:solidFill>
                <a:latin typeface="Consolas" panose="020B0609020204030204" pitchFamily="49" charset="0"/>
              </a:rPr>
              <a:t> == </a:t>
            </a:r>
            <a:r>
              <a:rPr lang="en-US" sz="900" dirty="0" err="1">
                <a:solidFill>
                  <a:srgbClr val="000000"/>
                </a:solidFill>
                <a:latin typeface="Consolas" panose="020B0609020204030204" pitchFamily="49" charset="0"/>
              </a:rPr>
              <a:t>employeeChanges.Id</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if</a:t>
            </a:r>
            <a:r>
              <a:rPr lang="en-IN" sz="900" dirty="0">
                <a:solidFill>
                  <a:srgbClr val="000000"/>
                </a:solidFill>
                <a:latin typeface="Consolas" panose="020B0609020204030204" pitchFamily="49" charset="0"/>
              </a:rPr>
              <a:t> (employee != </a:t>
            </a:r>
            <a:r>
              <a:rPr lang="en-IN" sz="900" dirty="0">
                <a:solidFill>
                  <a:srgbClr val="0000FF"/>
                </a:solidFill>
                <a:latin typeface="Consolas" panose="020B0609020204030204" pitchFamily="49" charset="0"/>
              </a:rPr>
              <a:t>null</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employee.Name</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employeeChanges.Name</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employee.Email</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employeeChanges.Email</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employee.Department</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employeeChanges.Department</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employee;</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endParaRPr lang="en-IN" dirty="0"/>
          </a:p>
        </p:txBody>
      </p:sp>
      <p:cxnSp>
        <p:nvCxnSpPr>
          <p:cNvPr id="3" name="Straight Arrow Connector 2">
            <a:extLst>
              <a:ext uri="{FF2B5EF4-FFF2-40B4-BE49-F238E27FC236}">
                <a16:creationId xmlns:a16="http://schemas.microsoft.com/office/drawing/2014/main" xmlns="" id="{3D52097C-5F89-BEA2-FC25-F8EACBA5CCA5}"/>
              </a:ext>
            </a:extLst>
          </p:cNvPr>
          <p:cNvCxnSpPr/>
          <p:nvPr/>
        </p:nvCxnSpPr>
        <p:spPr>
          <a:xfrm flipH="1">
            <a:off x="2780907" y="2639505"/>
            <a:ext cx="3987538" cy="1234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xmlns="" id="{2790FB01-C730-1EF3-06C8-7DF985CD46FD}"/>
              </a:ext>
            </a:extLst>
          </p:cNvPr>
          <p:cNvCxnSpPr/>
          <p:nvPr/>
        </p:nvCxnSpPr>
        <p:spPr>
          <a:xfrm flipH="1">
            <a:off x="2837468" y="3827282"/>
            <a:ext cx="4185501" cy="65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0B03C009-6927-F998-00D1-6FE0CE499AA2}"/>
              </a:ext>
            </a:extLst>
          </p:cNvPr>
          <p:cNvSpPr txBox="1"/>
          <p:nvPr/>
        </p:nvSpPr>
        <p:spPr>
          <a:xfrm>
            <a:off x="1093509" y="3612580"/>
            <a:ext cx="1357460" cy="646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Methods of List Class</a:t>
            </a:r>
            <a:endParaRPr lang="en-IN" dirty="0"/>
          </a:p>
        </p:txBody>
      </p:sp>
      <p:cxnSp>
        <p:nvCxnSpPr>
          <p:cNvPr id="11" name="Straight Arrow Connector 10">
            <a:extLst>
              <a:ext uri="{FF2B5EF4-FFF2-40B4-BE49-F238E27FC236}">
                <a16:creationId xmlns:a16="http://schemas.microsoft.com/office/drawing/2014/main" xmlns="" id="{1672B655-F33C-79BE-8693-22254B2EC1DD}"/>
              </a:ext>
            </a:extLst>
          </p:cNvPr>
          <p:cNvCxnSpPr>
            <a:cxnSpLocks/>
          </p:cNvCxnSpPr>
          <p:nvPr/>
        </p:nvCxnSpPr>
        <p:spPr>
          <a:xfrm flipH="1">
            <a:off x="2978870" y="5081047"/>
            <a:ext cx="3895069" cy="345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644996FD-3196-F882-C5B6-5DB2D3DFF483}"/>
              </a:ext>
            </a:extLst>
          </p:cNvPr>
          <p:cNvSpPr txBox="1"/>
          <p:nvPr/>
        </p:nvSpPr>
        <p:spPr>
          <a:xfrm>
            <a:off x="169683" y="4626070"/>
            <a:ext cx="2469822" cy="1600438"/>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err="1"/>
              <a:t>LinQ</a:t>
            </a:r>
            <a:r>
              <a:rPr lang="en-US" dirty="0"/>
              <a:t> </a:t>
            </a:r>
          </a:p>
          <a:p>
            <a:r>
              <a:rPr lang="en-US" sz="1600" b="0" i="0" dirty="0">
                <a:solidFill>
                  <a:srgbClr val="161616"/>
                </a:solidFill>
                <a:effectLst/>
                <a:latin typeface="Segoe UI" panose="020B0502040204020203" pitchFamily="34" charset="0"/>
              </a:rPr>
              <a:t>Returns the first element of a sequence, or a specified default value if the sequence contains no elements.</a:t>
            </a:r>
            <a:endParaRPr lang="en-IN" sz="1600" dirty="0"/>
          </a:p>
        </p:txBody>
      </p:sp>
      <p:sp>
        <p:nvSpPr>
          <p:cNvPr id="15" name="TextBox 14">
            <a:extLst>
              <a:ext uri="{FF2B5EF4-FFF2-40B4-BE49-F238E27FC236}">
                <a16:creationId xmlns:a16="http://schemas.microsoft.com/office/drawing/2014/main" xmlns="" id="{D9BAFF02-4028-AC8D-73C9-5825E6BFB214}"/>
              </a:ext>
            </a:extLst>
          </p:cNvPr>
          <p:cNvSpPr txBox="1"/>
          <p:nvPr/>
        </p:nvSpPr>
        <p:spPr>
          <a:xfrm>
            <a:off x="2639506" y="5674936"/>
            <a:ext cx="2443772" cy="646331"/>
          </a:xfrm>
          <a:prstGeom prst="rect">
            <a:avLst/>
          </a:prstGeom>
          <a:noFill/>
        </p:spPr>
        <p:txBody>
          <a:bodyPr wrap="square" rtlCol="0">
            <a:spAutoFit/>
          </a:bodyPr>
          <a:lstStyle/>
          <a:p>
            <a:r>
              <a:rPr lang="en-US" dirty="0"/>
              <a:t>Default value for reference type is Null</a:t>
            </a:r>
            <a:endParaRPr lang="en-IN" dirty="0"/>
          </a:p>
        </p:txBody>
      </p:sp>
    </p:spTree>
    <p:extLst>
      <p:ext uri="{BB962C8B-B14F-4D97-AF65-F5344CB8AC3E}">
        <p14:creationId xmlns:p14="http://schemas.microsoft.com/office/powerpoint/2010/main" val="23407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1963" y="0"/>
            <a:ext cx="6096000" cy="7017306"/>
          </a:xfrm>
          <a:prstGeom prst="rect">
            <a:avLst/>
          </a:prstGeom>
        </p:spPr>
        <p:txBody>
          <a:bodyPr>
            <a:spAutoFit/>
          </a:bodyPr>
          <a:lstStyle/>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WebMVC01.Models;</a:t>
            </a:r>
          </a:p>
          <a:p>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WebMVC01</a:t>
            </a: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a:solidFill>
                  <a:srgbClr val="2B91AF"/>
                </a:solidFill>
                <a:latin typeface="Cascadia Mono" panose="020B0609020000020004" pitchFamily="49" charset="0"/>
              </a:rPr>
              <a:t>Program</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static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Main(</a:t>
            </a:r>
            <a:r>
              <a:rPr lang="en-US" sz="1000" dirty="0">
                <a:solidFill>
                  <a:srgbClr val="0000FF"/>
                </a:solidFill>
                <a:latin typeface="Cascadia Mono" panose="020B0609020000020004" pitchFamily="49" charset="0"/>
              </a:rPr>
              <a:t>string</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var</a:t>
            </a:r>
            <a:r>
              <a:rPr lang="en-IN" sz="1000" dirty="0">
                <a:solidFill>
                  <a:srgbClr val="000000"/>
                </a:solidFill>
                <a:latin typeface="Cascadia Mono" panose="020B0609020000020004" pitchFamily="49" charset="0"/>
              </a:rPr>
              <a:t> builder = </a:t>
            </a:r>
            <a:r>
              <a:rPr lang="en-IN" sz="1000" dirty="0" err="1">
                <a:solidFill>
                  <a:srgbClr val="000000"/>
                </a:solidFill>
                <a:latin typeface="Cascadia Mono" panose="020B0609020000020004" pitchFamily="49" charset="0"/>
              </a:rPr>
              <a:t>WebApplication.CreateBuilder</a:t>
            </a:r>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args</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Add services to the container.</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builder.Services.AddControllersWithViews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var</a:t>
            </a:r>
            <a:r>
              <a:rPr lang="en-IN" sz="1000" dirty="0">
                <a:solidFill>
                  <a:srgbClr val="000000"/>
                </a:solidFill>
                <a:latin typeface="Cascadia Mono" panose="020B0609020000020004" pitchFamily="49" charset="0"/>
              </a:rPr>
              <a:t> services = </a:t>
            </a:r>
            <a:r>
              <a:rPr lang="en-IN" sz="1000" dirty="0" err="1">
                <a:solidFill>
                  <a:srgbClr val="000000"/>
                </a:solidFill>
                <a:latin typeface="Cascadia Mono" panose="020B0609020000020004" pitchFamily="49" charset="0"/>
              </a:rPr>
              <a:t>builder.Services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highlight>
                  <a:srgbClr val="FFFF00"/>
                </a:highlight>
                <a:latin typeface="Cascadia Mono" panose="020B0609020000020004" pitchFamily="49" charset="0"/>
              </a:rPr>
              <a:t>         </a:t>
            </a:r>
            <a:r>
              <a:rPr lang="en-IN" sz="1000" dirty="0" err="1">
                <a:solidFill>
                  <a:srgbClr val="000000"/>
                </a:solidFill>
                <a:highlight>
                  <a:srgbClr val="FFFF00"/>
                </a:highlight>
                <a:latin typeface="Cascadia Mono" panose="020B0609020000020004" pitchFamily="49" charset="0"/>
              </a:rPr>
              <a:t>services.AddSingleton</a:t>
            </a:r>
            <a:r>
              <a:rPr lang="en-IN" sz="1000" dirty="0">
                <a:solidFill>
                  <a:srgbClr val="000000"/>
                </a:solidFill>
                <a:highlight>
                  <a:srgbClr val="FFFF00"/>
                </a:highlight>
                <a:latin typeface="Cascadia Mono" panose="020B0609020000020004" pitchFamily="49" charset="0"/>
              </a:rPr>
              <a:t>&lt;</a:t>
            </a:r>
            <a:r>
              <a:rPr lang="en-IN" sz="1000" dirty="0">
                <a:solidFill>
                  <a:srgbClr val="2B91AF"/>
                </a:solidFill>
                <a:latin typeface="Consolas" panose="020B0609020204030204" pitchFamily="49" charset="0"/>
              </a:rPr>
              <a:t> </a:t>
            </a:r>
            <a:r>
              <a:rPr lang="en-IN" sz="1000" dirty="0" err="1">
                <a:solidFill>
                  <a:srgbClr val="2B91AF"/>
                </a:solidFill>
                <a:latin typeface="Consolas" panose="020B0609020204030204" pitchFamily="49" charset="0"/>
              </a:rPr>
              <a:t>IEmployeeRepository</a:t>
            </a:r>
            <a:r>
              <a:rPr lang="en-IN" sz="1000" dirty="0">
                <a:solidFill>
                  <a:srgbClr val="000000"/>
                </a:solidFill>
                <a:highlight>
                  <a:srgbClr val="FFFF00"/>
                </a:highlight>
                <a:latin typeface="Cascadia Mono" panose="020B0609020000020004" pitchFamily="49" charset="0"/>
              </a:rPr>
              <a:t>, </a:t>
            </a:r>
            <a:r>
              <a:rPr lang="en-IN" sz="1000" dirty="0" err="1">
                <a:solidFill>
                  <a:srgbClr val="2B91AF"/>
                </a:solidFill>
                <a:latin typeface="Consolas" panose="020B0609020204030204" pitchFamily="49" charset="0"/>
              </a:rPr>
              <a:t>MockEmployeeRepository</a:t>
            </a:r>
            <a:r>
              <a:rPr lang="en-IN" sz="1000" dirty="0">
                <a:solidFill>
                  <a:srgbClr val="2B91AF"/>
                </a:solidFill>
                <a:latin typeface="Consolas" panose="020B0609020204030204" pitchFamily="49" charset="0"/>
              </a:rPr>
              <a:t> </a:t>
            </a:r>
            <a:r>
              <a:rPr lang="en-IN" sz="1000" dirty="0">
                <a:solidFill>
                  <a:srgbClr val="000000"/>
                </a:solidFill>
                <a:highlight>
                  <a:srgbClr val="FFFF00"/>
                </a:highlight>
                <a:latin typeface="Cascadia Mono" panose="020B0609020000020004" pitchFamily="49" charset="0"/>
              </a:rPr>
              <a:t>&gt;();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a:t>
            </a:r>
            <a:r>
              <a:rPr lang="en-IN" sz="1000" dirty="0" err="1">
                <a:solidFill>
                  <a:srgbClr val="008000"/>
                </a:solidFill>
                <a:latin typeface="Cascadia Mono" panose="020B0609020000020004" pitchFamily="49" charset="0"/>
              </a:rPr>
              <a:t>services.AddSingleton</a:t>
            </a:r>
            <a:r>
              <a:rPr lang="en-IN" sz="1000" dirty="0">
                <a:solidFill>
                  <a:srgbClr val="008000"/>
                </a:solidFill>
                <a:latin typeface="Cascadia Mono" panose="020B0609020000020004" pitchFamily="49" charset="0"/>
              </a:rPr>
              <a:t>&lt;</a:t>
            </a:r>
            <a:r>
              <a:rPr lang="en-IN" sz="1000" dirty="0" err="1">
                <a:solidFill>
                  <a:srgbClr val="008000"/>
                </a:solidFill>
                <a:latin typeface="Cascadia Mono" panose="020B0609020000020004" pitchFamily="49" charset="0"/>
              </a:rPr>
              <a:t>IStudentRepository</a:t>
            </a:r>
            <a:r>
              <a:rPr lang="en-IN" sz="1000" dirty="0">
                <a:solidFill>
                  <a:srgbClr val="008000"/>
                </a:solidFill>
                <a:latin typeface="Cascadia Mono" panose="020B0609020000020004" pitchFamily="49" charset="0"/>
              </a:rPr>
              <a:t>, </a:t>
            </a:r>
            <a:r>
              <a:rPr lang="en-IN" sz="1000" dirty="0" err="1">
                <a:solidFill>
                  <a:srgbClr val="008000"/>
                </a:solidFill>
                <a:latin typeface="Cascadia Mono" panose="020B0609020000020004" pitchFamily="49" charset="0"/>
              </a:rPr>
              <a:t>TestStudentRepository</a:t>
            </a:r>
            <a:r>
              <a:rPr lang="en-IN" sz="1000" dirty="0">
                <a:solidFill>
                  <a:srgbClr val="008000"/>
                </a:solidFill>
                <a:latin typeface="Cascadia Mono" panose="020B0609020000020004" pitchFamily="49" charset="0"/>
              </a:rPr>
              <a:t>&gt;();</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var</a:t>
            </a:r>
            <a:r>
              <a:rPr lang="en-IN" sz="1000" dirty="0">
                <a:solidFill>
                  <a:srgbClr val="000000"/>
                </a:solidFill>
                <a:latin typeface="Cascadia Mono" panose="020B0609020000020004" pitchFamily="49" charset="0"/>
              </a:rPr>
              <a:t> app = </a:t>
            </a:r>
            <a:r>
              <a:rPr lang="en-IN" sz="1000" dirty="0" err="1">
                <a:solidFill>
                  <a:srgbClr val="000000"/>
                </a:solidFill>
                <a:latin typeface="Cascadia Mono" panose="020B0609020000020004" pitchFamily="49" charset="0"/>
              </a:rPr>
              <a:t>builder.Build</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Configure the HTTP request pipeline.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if</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app.Environment.IsDevelopment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app.UseExceptionHandler</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"/Home/Error"</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app.UseHsts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app.UseHttpsRedirection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app.UseStaticFiles</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app.UseRouting</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app.UseAuthorization</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app.MapControllerRoute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name: </a:t>
            </a:r>
            <a:r>
              <a:rPr lang="en-IN" sz="1000" dirty="0">
                <a:solidFill>
                  <a:srgbClr val="A31515"/>
                </a:solidFill>
                <a:latin typeface="Cascadia Mono" panose="020B0609020000020004" pitchFamily="49" charset="0"/>
              </a:rPr>
              <a:t>"default"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pattern: </a:t>
            </a:r>
            <a:r>
              <a:rPr lang="en-IN" sz="1000" dirty="0">
                <a:solidFill>
                  <a:srgbClr val="A31515"/>
                </a:solidFill>
                <a:latin typeface="Cascadia Mono" panose="020B0609020000020004" pitchFamily="49" charset="0"/>
              </a:rPr>
              <a:t>"{controller=Home}/{action=Index}/{id?}"</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app.Run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a:t>
            </a:r>
            <a:endParaRPr lang="en-IN" sz="2000" dirty="0"/>
          </a:p>
        </p:txBody>
      </p:sp>
      <p:cxnSp>
        <p:nvCxnSpPr>
          <p:cNvPr id="4" name="Straight Arrow Connector 3">
            <a:extLst>
              <a:ext uri="{FF2B5EF4-FFF2-40B4-BE49-F238E27FC236}">
                <a16:creationId xmlns:a16="http://schemas.microsoft.com/office/drawing/2014/main" xmlns="" id="{F163305F-0989-6762-402F-2EA113054CFF}"/>
              </a:ext>
            </a:extLst>
          </p:cNvPr>
          <p:cNvCxnSpPr/>
          <p:nvPr/>
        </p:nvCxnSpPr>
        <p:spPr>
          <a:xfrm flipV="1">
            <a:off x="4044099" y="1461155"/>
            <a:ext cx="4279769" cy="867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BBC6FD62-0A5F-DDF4-E817-8C1DEA705FA6}"/>
              </a:ext>
            </a:extLst>
          </p:cNvPr>
          <p:cNvSpPr txBox="1"/>
          <p:nvPr/>
        </p:nvSpPr>
        <p:spPr>
          <a:xfrm>
            <a:off x="7156097" y="1480001"/>
            <a:ext cx="4893348" cy="2308324"/>
          </a:xfrm>
          <a:prstGeom prst="rect">
            <a:avLst/>
          </a:prstGeom>
          <a:noFill/>
        </p:spPr>
        <p:txBody>
          <a:bodyPr wrap="square">
            <a:spAutoFit/>
          </a:bodyPr>
          <a:lstStyle/>
          <a:p>
            <a:pPr algn="l"/>
            <a:r>
              <a:rPr lang="en-US" b="1" i="0" dirty="0">
                <a:effectLst/>
                <a:latin typeface="Arial" panose="020B0604020202020204" pitchFamily="34" charset="0"/>
              </a:rPr>
              <a:t>Configuring service</a:t>
            </a:r>
          </a:p>
          <a:p>
            <a:pPr algn="l"/>
            <a:r>
              <a:rPr lang="en-US" b="1" i="0" dirty="0">
                <a:effectLst/>
                <a:latin typeface="Arial" panose="020B0604020202020204" pitchFamily="34" charset="0"/>
              </a:rPr>
              <a:t>Add Scoped :</a:t>
            </a:r>
          </a:p>
          <a:p>
            <a:pPr algn="just"/>
            <a:r>
              <a:rPr lang="en-US" b="0" i="0" dirty="0">
                <a:solidFill>
                  <a:srgbClr val="000000"/>
                </a:solidFill>
                <a:effectLst/>
                <a:latin typeface="Arial" panose="020B0604020202020204" pitchFamily="34" charset="0"/>
              </a:rPr>
              <a:t>When we register a type as Scoped, </a:t>
            </a:r>
            <a:r>
              <a:rPr lang="en-US" b="0" i="0" dirty="0">
                <a:solidFill>
                  <a:srgbClr val="FF0000"/>
                </a:solidFill>
                <a:effectLst/>
                <a:latin typeface="Arial" panose="020B0604020202020204" pitchFamily="34" charset="0"/>
              </a:rPr>
              <a:t>one instance </a:t>
            </a:r>
            <a:r>
              <a:rPr lang="en-US" b="0" i="0" dirty="0">
                <a:solidFill>
                  <a:srgbClr val="000000"/>
                </a:solidFill>
                <a:effectLst/>
                <a:latin typeface="Arial" panose="020B0604020202020204" pitchFamily="34" charset="0"/>
              </a:rPr>
              <a:t>is available throughout the application </a:t>
            </a:r>
            <a:r>
              <a:rPr lang="en-US" b="0" i="0" dirty="0">
                <a:solidFill>
                  <a:srgbClr val="FF0000"/>
                </a:solidFill>
                <a:effectLst/>
                <a:latin typeface="Arial" panose="020B0604020202020204" pitchFamily="34" charset="0"/>
              </a:rPr>
              <a:t>per request</a:t>
            </a:r>
            <a:r>
              <a:rPr lang="en-US" b="0" i="0" dirty="0">
                <a:solidFill>
                  <a:srgbClr val="000000"/>
                </a:solidFill>
                <a:effectLst/>
                <a:latin typeface="Arial" panose="020B0604020202020204" pitchFamily="34" charset="0"/>
              </a:rPr>
              <a:t>. When a new request comes in, the new instance is created. Add scoped specifies that a </a:t>
            </a:r>
            <a:r>
              <a:rPr lang="en-US" b="0" i="0" dirty="0">
                <a:solidFill>
                  <a:srgbClr val="FF0000"/>
                </a:solidFill>
                <a:effectLst/>
                <a:latin typeface="Arial" panose="020B0604020202020204" pitchFamily="34" charset="0"/>
              </a:rPr>
              <a:t>single object </a:t>
            </a:r>
            <a:r>
              <a:rPr lang="en-US" b="0" i="0" dirty="0">
                <a:solidFill>
                  <a:srgbClr val="000000"/>
                </a:solidFill>
                <a:effectLst/>
                <a:latin typeface="Arial" panose="020B0604020202020204" pitchFamily="34" charset="0"/>
              </a:rPr>
              <a:t>is available </a:t>
            </a:r>
            <a:r>
              <a:rPr lang="en-US" b="0" i="0" dirty="0">
                <a:solidFill>
                  <a:srgbClr val="FF0000"/>
                </a:solidFill>
                <a:effectLst/>
                <a:latin typeface="Arial" panose="020B0604020202020204" pitchFamily="34" charset="0"/>
              </a:rPr>
              <a:t>per request</a:t>
            </a:r>
            <a:r>
              <a:rPr lang="en-US" b="0" i="0" dirty="0">
                <a:solidFill>
                  <a:srgbClr val="000000"/>
                </a:solidFill>
                <a:effectLst/>
                <a:latin typeface="Arial" panose="020B0604020202020204" pitchFamily="34" charset="0"/>
              </a:rPr>
              <a:t>.</a:t>
            </a:r>
          </a:p>
        </p:txBody>
      </p:sp>
    </p:spTree>
    <p:extLst>
      <p:ext uri="{BB962C8B-B14F-4D97-AF65-F5344CB8AC3E}">
        <p14:creationId xmlns:p14="http://schemas.microsoft.com/office/powerpoint/2010/main" val="328559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536271B5-3AE0-F169-1EF4-6A81792700C6}"/>
              </a:ext>
            </a:extLst>
          </p:cNvPr>
          <p:cNvSpPr txBox="1"/>
          <p:nvPr/>
        </p:nvSpPr>
        <p:spPr>
          <a:xfrm>
            <a:off x="360576" y="127962"/>
            <a:ext cx="4343399" cy="6601807"/>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Microsoft.AspNetCore.Http</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Microsoft.AspNetCore.Mvc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Microsoft.VisualBasic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WebAppRepository.Models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WebAppRepository.Controllers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MyEmployee</a:t>
            </a:r>
            <a:r>
              <a:rPr lang="en-IN" sz="900" dirty="0" err="1">
                <a:solidFill>
                  <a:srgbClr val="000000"/>
                </a:solidFill>
                <a:latin typeface="Cascadia Mono" panose="020B0609020000020004" pitchFamily="49" charset="0"/>
              </a:rPr>
              <a:t>Controller</a:t>
            </a:r>
            <a:r>
              <a:rPr lang="en-IN" sz="900" dirty="0">
                <a:solidFill>
                  <a:srgbClr val="000000"/>
                </a:solidFill>
                <a:latin typeface="Cascadia Mono" panose="020B0609020000020004" pitchFamily="49" charset="0"/>
              </a:rPr>
              <a:t> : Controller</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GET: Employee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IEmployeeRepository</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emprp</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MyEmployee</a:t>
            </a:r>
            <a:r>
              <a:rPr lang="en-IN" sz="900" dirty="0">
                <a:solidFill>
                  <a:srgbClr val="000000"/>
                </a:solidFill>
                <a:highlight>
                  <a:srgbClr val="FFFF00"/>
                </a:highlight>
                <a:latin typeface="Cascadia Mono" panose="020B0609020000020004" pitchFamily="49" charset="0"/>
              </a:rPr>
              <a:t>(</a:t>
            </a:r>
            <a:r>
              <a:rPr lang="en-IN" sz="900" dirty="0" err="1">
                <a:solidFill>
                  <a:srgbClr val="000000"/>
                </a:solidFill>
                <a:highlight>
                  <a:srgbClr val="FFFF00"/>
                </a:highlight>
                <a:latin typeface="Cascadia Mono" panose="020B0609020000020004" pitchFamily="49" charset="0"/>
              </a:rPr>
              <a:t>IEmployeeRepository</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emprp</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emprp</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emprp</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 Index()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View(_</a:t>
            </a:r>
            <a:r>
              <a:rPr lang="en-IN" sz="900" dirty="0" err="1">
                <a:solidFill>
                  <a:srgbClr val="000000"/>
                </a:solidFill>
                <a:latin typeface="Cascadia Mono" panose="020B0609020000020004" pitchFamily="49" charset="0"/>
              </a:rPr>
              <a:t>emprp.GetAllEmployee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GET: Employee/Details/5</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 Details(</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View(_</a:t>
            </a:r>
            <a:r>
              <a:rPr lang="en-US" sz="900" dirty="0" err="1">
                <a:solidFill>
                  <a:srgbClr val="000000"/>
                </a:solidFill>
                <a:latin typeface="Cascadia Mono" panose="020B0609020000020004" pitchFamily="49" charset="0"/>
              </a:rPr>
              <a:t>emprp.GetEmployee</a:t>
            </a:r>
            <a:r>
              <a:rPr lang="en-US" sz="900" dirty="0">
                <a:solidFill>
                  <a:srgbClr val="000000"/>
                </a:solidFill>
                <a:latin typeface="Cascadia Mono" panose="020B0609020000020004" pitchFamily="49" charset="0"/>
              </a:rPr>
              <a:t>(id));</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GET: Employee/Create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 Create()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POST: Employee/Create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ValidateAntiForgeryToken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 Create(Employee </a:t>
            </a:r>
            <a:r>
              <a:rPr lang="en-US" sz="900" dirty="0" err="1">
                <a:solidFill>
                  <a:srgbClr val="000000"/>
                </a:solidFill>
                <a:latin typeface="Cascadia Mono" panose="020B0609020000020004" pitchFamily="49" charset="0"/>
              </a:rPr>
              <a:t>empobj</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emprp.Add</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empobj</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RedirectToAction</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nameof</a:t>
            </a:r>
            <a:r>
              <a:rPr lang="en-IN" sz="900" dirty="0">
                <a:solidFill>
                  <a:srgbClr val="000000"/>
                </a:solidFill>
                <a:latin typeface="Cascadia Mono" panose="020B0609020000020004" pitchFamily="49" charset="0"/>
              </a:rPr>
              <a:t>(Index));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p:txBody>
      </p:sp>
      <p:sp>
        <p:nvSpPr>
          <p:cNvPr id="7" name="TextBox 6">
            <a:extLst>
              <a:ext uri="{FF2B5EF4-FFF2-40B4-BE49-F238E27FC236}">
                <a16:creationId xmlns:a16="http://schemas.microsoft.com/office/drawing/2014/main" xmlns="" id="{4D0C519F-BBEB-03C6-C78A-779C59DD7BE6}"/>
              </a:ext>
            </a:extLst>
          </p:cNvPr>
          <p:cNvSpPr txBox="1"/>
          <p:nvPr/>
        </p:nvSpPr>
        <p:spPr>
          <a:xfrm>
            <a:off x="5356782" y="5414"/>
            <a:ext cx="6094428" cy="66018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GET: Employee/Edit/5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Edit(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View(_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emprp.GetEmployee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POST: Employee/Edit/5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HttpPost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ValidateAntiForgeryToken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Edit(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Employee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empobj</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try</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emprp.Update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empobj</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RedirectToAction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nameof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(Index));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catch</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GET: Employee/Delete/5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Delete(</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View(_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emprp.GetEmployee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POST: Employee/Delete/5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HttpPost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ValidateAntiForgeryToken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Delete(</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Employee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empobj</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try</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emprp.</a:t>
            </a:r>
            <a:r>
              <a:rPr kumimoji="0" lang="en-IN" sz="900" b="0" i="0" u="none" strike="noStrike" kern="1200" cap="none" spc="0" normalizeH="0" baseline="0" noProof="0" dirty="0" err="1">
                <a:ln>
                  <a:noFill/>
                </a:ln>
                <a:solidFill>
                  <a:srgbClr val="000000"/>
                </a:solidFill>
                <a:effectLst/>
                <a:highlight>
                  <a:srgbClr val="00FFFF"/>
                </a:highlight>
                <a:uLnTx/>
                <a:uFillTx/>
                <a:latin typeface="Cascadia Mono" panose="020B0609020000020004" pitchFamily="49" charset="0"/>
                <a:ea typeface="+mn-ea"/>
                <a:cs typeface="+mn-cs"/>
              </a:rPr>
              <a:t>Delete</a:t>
            </a:r>
            <a:r>
              <a:rPr kumimoji="0" lang="en-IN" sz="900" b="0" i="0" u="none" strike="noStrike" kern="1200" cap="none" spc="0" normalizeH="0" baseline="0" noProof="0" dirty="0">
                <a:ln>
                  <a:noFill/>
                </a:ln>
                <a:solidFill>
                  <a:srgbClr val="000000"/>
                </a:solidFill>
                <a:effectLst/>
                <a:highlight>
                  <a:srgbClr val="00FFFF"/>
                </a:highligh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RedirectToAction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nameof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(Index));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catch</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p:txBody>
      </p:sp>
      <p:cxnSp>
        <p:nvCxnSpPr>
          <p:cNvPr id="3" name="Straight Arrow Connector 2">
            <a:extLst>
              <a:ext uri="{FF2B5EF4-FFF2-40B4-BE49-F238E27FC236}">
                <a16:creationId xmlns:a16="http://schemas.microsoft.com/office/drawing/2014/main" xmlns="" id="{E8C3AB70-33EB-577C-800E-97EEFBE496E4}"/>
              </a:ext>
            </a:extLst>
          </p:cNvPr>
          <p:cNvCxnSpPr>
            <a:cxnSpLocks/>
          </p:cNvCxnSpPr>
          <p:nvPr/>
        </p:nvCxnSpPr>
        <p:spPr>
          <a:xfrm flipH="1">
            <a:off x="3139126" y="1150070"/>
            <a:ext cx="678730" cy="52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xmlns="" id="{B63547BB-6C9C-4FE6-7656-BDE1BFDE9FA5}"/>
              </a:ext>
            </a:extLst>
          </p:cNvPr>
          <p:cNvSpPr txBox="1"/>
          <p:nvPr/>
        </p:nvSpPr>
        <p:spPr>
          <a:xfrm>
            <a:off x="3657600" y="631596"/>
            <a:ext cx="1809946" cy="646331"/>
          </a:xfrm>
          <a:prstGeom prst="rect">
            <a:avLst/>
          </a:prstGeom>
          <a:noFill/>
        </p:spPr>
        <p:txBody>
          <a:bodyPr wrap="square" rtlCol="0">
            <a:spAutoFit/>
          </a:bodyPr>
          <a:lstStyle/>
          <a:p>
            <a:r>
              <a:rPr lang="en-US" dirty="0"/>
              <a:t>Constructor Injection</a:t>
            </a:r>
            <a:endParaRPr lang="en-IN" dirty="0"/>
          </a:p>
        </p:txBody>
      </p:sp>
      <p:sp>
        <p:nvSpPr>
          <p:cNvPr id="2" name="TextBox 1">
            <a:extLst>
              <a:ext uri="{FF2B5EF4-FFF2-40B4-BE49-F238E27FC236}">
                <a16:creationId xmlns:a16="http://schemas.microsoft.com/office/drawing/2014/main" xmlns="" id="{E3AE3F72-2814-0262-300A-7F2D5510AEF0}"/>
              </a:ext>
            </a:extLst>
          </p:cNvPr>
          <p:cNvSpPr txBox="1"/>
          <p:nvPr/>
        </p:nvSpPr>
        <p:spPr>
          <a:xfrm>
            <a:off x="8455843" y="2390787"/>
            <a:ext cx="3879130" cy="1384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Using Interface reference we are calling method of a class</a:t>
            </a:r>
          </a:p>
          <a:p>
            <a:r>
              <a:rPr lang="en-US" dirty="0"/>
              <a:t> </a:t>
            </a:r>
            <a:r>
              <a:rPr lang="en-IN" sz="1200" dirty="0">
                <a:solidFill>
                  <a:srgbClr val="0000FF"/>
                </a:solidFill>
                <a:highlight>
                  <a:srgbClr val="FFFF00"/>
                </a:highlight>
                <a:latin typeface="Consolas" panose="020B0609020204030204" pitchFamily="49" charset="0"/>
              </a:rPr>
              <a:t>public</a:t>
            </a:r>
            <a:r>
              <a:rPr lang="en-IN" sz="1200" dirty="0">
                <a:solidFill>
                  <a:srgbClr val="000000"/>
                </a:solidFill>
                <a:highlight>
                  <a:srgbClr val="FFFF00"/>
                </a:highlight>
                <a:latin typeface="Consolas" panose="020B0609020204030204" pitchFamily="49" charset="0"/>
              </a:rPr>
              <a:t> </a:t>
            </a:r>
            <a:r>
              <a:rPr lang="en-IN" sz="1200" dirty="0">
                <a:solidFill>
                  <a:srgbClr val="0000FF"/>
                </a:solidFill>
                <a:highlight>
                  <a:srgbClr val="FFFF00"/>
                </a:highlight>
                <a:latin typeface="Consolas" panose="020B0609020204030204" pitchFamily="49" charset="0"/>
              </a:rPr>
              <a:t>class </a:t>
            </a:r>
            <a:r>
              <a:rPr lang="en-IN" sz="1200" dirty="0" err="1">
                <a:solidFill>
                  <a:srgbClr val="2B91AF"/>
                </a:solidFill>
                <a:highlight>
                  <a:srgbClr val="FFFF00"/>
                </a:highlight>
                <a:latin typeface="Consolas" panose="020B0609020204030204" pitchFamily="49" charset="0"/>
              </a:rPr>
              <a:t>MockEmployeeRepository</a:t>
            </a:r>
            <a:r>
              <a:rPr lang="en-IN" sz="1200" dirty="0" err="1">
                <a:solidFill>
                  <a:srgbClr val="000000"/>
                </a:solidFill>
                <a:highlight>
                  <a:srgbClr val="FFFF00"/>
                </a:highlight>
                <a:latin typeface="Consolas" panose="020B0609020204030204" pitchFamily="49" charset="0"/>
              </a:rPr>
              <a:t>:IEmployeeRepository</a:t>
            </a:r>
            <a:endParaRPr lang="en-IN" sz="1200" dirty="0">
              <a:solidFill>
                <a:srgbClr val="000000"/>
              </a:solidFill>
              <a:highlight>
                <a:srgbClr val="FFFF00"/>
              </a:highlight>
              <a:latin typeface="Consolas" panose="020B0609020204030204" pitchFamily="49" charset="0"/>
            </a:endParaRPr>
          </a:p>
          <a:p>
            <a:endParaRPr lang="en-IN" dirty="0"/>
          </a:p>
        </p:txBody>
      </p:sp>
    </p:spTree>
    <p:extLst>
      <p:ext uri="{BB962C8B-B14F-4D97-AF65-F5344CB8AC3E}">
        <p14:creationId xmlns:p14="http://schemas.microsoft.com/office/powerpoint/2010/main" val="3206421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A68E862F-5D87-8EE9-58D5-6F5CA7C8D403}"/>
              </a:ext>
            </a:extLst>
          </p:cNvPr>
          <p:cNvSpPr txBox="1"/>
          <p:nvPr/>
        </p:nvSpPr>
        <p:spPr>
          <a:xfrm>
            <a:off x="348792" y="386499"/>
            <a:ext cx="8512404" cy="1200329"/>
          </a:xfrm>
          <a:prstGeom prst="rect">
            <a:avLst/>
          </a:prstGeom>
          <a:noFill/>
        </p:spPr>
        <p:txBody>
          <a:bodyPr wrap="square" rtlCol="0">
            <a:spAutoFit/>
          </a:bodyPr>
          <a:lstStyle/>
          <a:p>
            <a:r>
              <a:rPr lang="en-US" dirty="0"/>
              <a:t>To generate view  </a:t>
            </a:r>
          </a:p>
          <a:p>
            <a:pPr marL="285750" indent="-285750">
              <a:buFont typeface="Arial" panose="020B0604020202020204" pitchFamily="34" charset="0"/>
              <a:buChar char="•"/>
            </a:pPr>
            <a:r>
              <a:rPr lang="en-US" dirty="0"/>
              <a:t>right click on index Action method</a:t>
            </a:r>
          </a:p>
          <a:p>
            <a:pPr marL="285750" indent="-285750">
              <a:buFont typeface="Arial" panose="020B0604020202020204" pitchFamily="34" charset="0"/>
              <a:buChar char="•"/>
            </a:pPr>
            <a:r>
              <a:rPr lang="en-US" dirty="0"/>
              <a:t>Click on add View[window will get open with View name Index]</a:t>
            </a:r>
          </a:p>
          <a:p>
            <a:pPr marL="285750" indent="-285750">
              <a:buFont typeface="Arial" panose="020B0604020202020204" pitchFamily="34" charset="0"/>
              <a:buChar char="•"/>
            </a:pPr>
            <a:r>
              <a:rPr lang="en-US" dirty="0"/>
              <a:t>In template dropdown list select List</a:t>
            </a:r>
            <a:endParaRPr lang="en-IN" dirty="0"/>
          </a:p>
        </p:txBody>
      </p:sp>
    </p:spTree>
    <p:extLst>
      <p:ext uri="{BB962C8B-B14F-4D97-AF65-F5344CB8AC3E}">
        <p14:creationId xmlns:p14="http://schemas.microsoft.com/office/powerpoint/2010/main" val="343465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57DB33-E601-4274-8F2E-9E3B04F581E7}"/>
              </a:ext>
            </a:extLst>
          </p:cNvPr>
          <p:cNvSpPr>
            <a:spLocks noGrp="1"/>
          </p:cNvSpPr>
          <p:nvPr>
            <p:ph type="title"/>
          </p:nvPr>
        </p:nvSpPr>
        <p:spPr>
          <a:xfrm>
            <a:off x="1248696" y="168480"/>
            <a:ext cx="9957619" cy="637765"/>
          </a:xfrm>
        </p:spPr>
        <p:txBody>
          <a:bodyPr>
            <a:normAutofit fontScale="90000"/>
          </a:bodyPr>
          <a:lstStyle/>
          <a:p>
            <a:r>
              <a:rPr lang="en-IN" dirty="0"/>
              <a:t>Drop Down</a:t>
            </a:r>
          </a:p>
        </p:txBody>
      </p:sp>
      <p:sp>
        <p:nvSpPr>
          <p:cNvPr id="5" name="TextBox 4">
            <a:extLst>
              <a:ext uri="{FF2B5EF4-FFF2-40B4-BE49-F238E27FC236}">
                <a16:creationId xmlns:a16="http://schemas.microsoft.com/office/drawing/2014/main" xmlns="" id="{58EDB65E-CD0F-42FE-A19B-F336BB32DEEA}"/>
              </a:ext>
            </a:extLst>
          </p:cNvPr>
          <p:cNvSpPr txBox="1"/>
          <p:nvPr/>
        </p:nvSpPr>
        <p:spPr>
          <a:xfrm>
            <a:off x="258097" y="6051755"/>
            <a:ext cx="6135328" cy="369332"/>
          </a:xfrm>
          <a:prstGeom prst="rect">
            <a:avLst/>
          </a:prstGeom>
          <a:noFill/>
        </p:spPr>
        <p:txBody>
          <a:bodyPr wrap="square">
            <a:spAutoFit/>
          </a:bodyPr>
          <a:lstStyle/>
          <a:p>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&lt;</a:t>
            </a:r>
            <a:r>
              <a:rPr lang="en-IN" sz="1800" dirty="0" err="1">
                <a:solidFill>
                  <a:srgbClr val="800000"/>
                </a:solidFill>
                <a:latin typeface="Consolas" panose="020B0609020204030204" pitchFamily="49" charset="0"/>
              </a:rPr>
              <a:t>img</a:t>
            </a:r>
            <a:r>
              <a:rPr lang="en-IN" sz="1800" dirty="0">
                <a:solidFill>
                  <a:srgbClr val="000000"/>
                </a:solidFill>
                <a:latin typeface="Consolas" panose="020B0609020204030204" pitchFamily="49" charset="0"/>
              </a:rPr>
              <a:t> </a:t>
            </a:r>
            <a:r>
              <a:rPr lang="en-IN" sz="1800" dirty="0" err="1">
                <a:solidFill>
                  <a:srgbClr val="FF0000"/>
                </a:solidFill>
                <a:latin typeface="Consolas" panose="020B0609020204030204" pitchFamily="49" charset="0"/>
              </a:rPr>
              <a:t>src</a:t>
            </a:r>
            <a:r>
              <a:rPr lang="en-IN" sz="1800" dirty="0">
                <a:solidFill>
                  <a:srgbClr val="0000FF"/>
                </a:solidFill>
                <a:latin typeface="Consolas" panose="020B0609020204030204" pitchFamily="49" charset="0"/>
              </a:rPr>
              <a:t>="</a:t>
            </a:r>
            <a:r>
              <a:rPr lang="en-IN" sz="1800" dirty="0">
                <a:solidFill>
                  <a:srgbClr val="000000"/>
                </a:solidFill>
                <a:highlight>
                  <a:srgbClr val="FFFF00"/>
                </a:highlight>
                <a:latin typeface="Consolas" panose="020B0609020204030204" pitchFamily="49" charset="0"/>
              </a:rPr>
              <a:t>@</a:t>
            </a:r>
            <a:r>
              <a:rPr lang="en-IN" sz="1800" dirty="0" err="1">
                <a:solidFill>
                  <a:srgbClr val="000000"/>
                </a:solidFill>
                <a:highlight>
                  <a:srgbClr val="FFFF00"/>
                </a:highlight>
                <a:latin typeface="Consolas" panose="020B0609020204030204" pitchFamily="49" charset="0"/>
              </a:rPr>
              <a:t>Url.Content</a:t>
            </a:r>
            <a:r>
              <a:rPr lang="en-IN" sz="1800" dirty="0">
                <a:solidFill>
                  <a:srgbClr val="000000"/>
                </a:solidFill>
                <a:highlight>
                  <a:srgbClr val="FFFF00"/>
                </a:highlight>
                <a:latin typeface="Consolas" panose="020B0609020204030204" pitchFamily="49" charset="0"/>
              </a:rPr>
              <a:t>(</a:t>
            </a:r>
            <a:r>
              <a:rPr lang="en-IN" sz="1800" dirty="0" err="1">
                <a:solidFill>
                  <a:srgbClr val="000000"/>
                </a:solidFill>
                <a:highlight>
                  <a:srgbClr val="FFFF00"/>
                </a:highlight>
                <a:latin typeface="Consolas" panose="020B0609020204030204" pitchFamily="49" charset="0"/>
              </a:rPr>
              <a:t>item.Photo</a:t>
            </a:r>
            <a:r>
              <a:rPr lang="en-IN" sz="1800" dirty="0">
                <a:solidFill>
                  <a:srgbClr val="000000"/>
                </a:solidFill>
                <a:highlight>
                  <a:srgbClr val="FFFF00"/>
                </a:highlight>
                <a:latin typeface="Consolas" panose="020B0609020204030204" pitchFamily="49" charset="0"/>
              </a:rPr>
              <a:t>)</a:t>
            </a:r>
            <a:r>
              <a:rPr lang="en-IN" sz="1800" dirty="0">
                <a:solidFill>
                  <a:srgbClr val="0000FF"/>
                </a:solidFill>
                <a:highlight>
                  <a:srgbClr val="FFFF00"/>
                </a:highlight>
                <a:latin typeface="Consolas" panose="020B0609020204030204" pitchFamily="49" charset="0"/>
              </a:rPr>
              <a:t>"</a:t>
            </a:r>
            <a:r>
              <a:rPr lang="en-IN" sz="1800" dirty="0">
                <a:solidFill>
                  <a:srgbClr val="000000"/>
                </a:solidFill>
                <a:highlight>
                  <a:srgbClr val="FFFF00"/>
                </a:highlight>
                <a:latin typeface="Consolas" panose="020B0609020204030204" pitchFamily="49" charset="0"/>
              </a:rPr>
              <a:t> </a:t>
            </a:r>
            <a:r>
              <a:rPr lang="en-IN" sz="1800" dirty="0">
                <a:solidFill>
                  <a:srgbClr val="0000FF"/>
                </a:solidFill>
                <a:highlight>
                  <a:srgbClr val="FFFF00"/>
                </a:highlight>
                <a:latin typeface="Consolas" panose="020B0609020204030204" pitchFamily="49" charset="0"/>
              </a:rPr>
              <a:t>/&gt;</a:t>
            </a:r>
            <a:endParaRPr lang="en-IN" dirty="0"/>
          </a:p>
        </p:txBody>
      </p:sp>
      <p:sp>
        <p:nvSpPr>
          <p:cNvPr id="6" name="TextBox 5">
            <a:extLst>
              <a:ext uri="{FF2B5EF4-FFF2-40B4-BE49-F238E27FC236}">
                <a16:creationId xmlns:a16="http://schemas.microsoft.com/office/drawing/2014/main" xmlns="" id="{941E676B-6816-455B-995B-7DCCDAC1EEF8}"/>
              </a:ext>
            </a:extLst>
          </p:cNvPr>
          <p:cNvSpPr txBox="1"/>
          <p:nvPr/>
        </p:nvSpPr>
        <p:spPr>
          <a:xfrm>
            <a:off x="589935" y="5157583"/>
            <a:ext cx="3824749" cy="369332"/>
          </a:xfrm>
          <a:prstGeom prst="rect">
            <a:avLst/>
          </a:prstGeom>
          <a:noFill/>
        </p:spPr>
        <p:txBody>
          <a:bodyPr wrap="square" rtlCol="0">
            <a:spAutoFit/>
          </a:bodyPr>
          <a:lstStyle/>
          <a:p>
            <a:r>
              <a:rPr lang="en-IN" dirty="0"/>
              <a:t>To Display Image</a:t>
            </a:r>
          </a:p>
        </p:txBody>
      </p:sp>
      <p:sp>
        <p:nvSpPr>
          <p:cNvPr id="7" name="TextBox 6">
            <a:extLst>
              <a:ext uri="{FF2B5EF4-FFF2-40B4-BE49-F238E27FC236}">
                <a16:creationId xmlns:a16="http://schemas.microsoft.com/office/drawing/2014/main" xmlns="" id="{B714212B-F072-6D78-37FA-9ABEB724E266}"/>
              </a:ext>
            </a:extLst>
          </p:cNvPr>
          <p:cNvSpPr txBox="1"/>
          <p:nvPr/>
        </p:nvSpPr>
        <p:spPr>
          <a:xfrm>
            <a:off x="426720" y="664855"/>
            <a:ext cx="11460480" cy="2308324"/>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&lt;</a:t>
            </a:r>
            <a:r>
              <a:rPr lang="en-IN" sz="1800" dirty="0">
                <a:solidFill>
                  <a:srgbClr val="800000"/>
                </a:solidFill>
                <a:latin typeface="Cascadia Mono" panose="020B0609020000020004" pitchFamily="49" charset="0"/>
              </a:rPr>
              <a:t>div</a:t>
            </a:r>
            <a:r>
              <a:rPr lang="en-IN" sz="1800" dirty="0">
                <a:solidFill>
                  <a:srgbClr val="000000"/>
                </a:solidFill>
                <a:latin typeface="Cascadia Mono" panose="020B0609020000020004" pitchFamily="49" charset="0"/>
              </a:rPr>
              <a:t> </a:t>
            </a:r>
            <a:r>
              <a:rPr lang="en-IN" sz="1800" dirty="0">
                <a:solidFill>
                  <a:srgbClr val="FF0000"/>
                </a:solidFill>
                <a:latin typeface="Cascadia Mono" panose="020B0609020000020004" pitchFamily="49" charset="0"/>
              </a:rPr>
              <a:t>class</a:t>
            </a:r>
            <a:r>
              <a:rPr lang="en-IN" sz="1800" dirty="0">
                <a:solidFill>
                  <a:srgbClr val="0000FF"/>
                </a:solidFill>
                <a:latin typeface="Cascadia Mono" panose="020B0609020000020004" pitchFamily="49" charset="0"/>
              </a:rPr>
              <a:t>="form-group"&gt;</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&lt;</a:t>
            </a:r>
            <a:r>
              <a:rPr lang="en-IN" sz="1800" b="1" dirty="0">
                <a:solidFill>
                  <a:srgbClr val="800080"/>
                </a:solidFill>
                <a:latin typeface="Cascadia Mono" panose="020B0609020000020004" pitchFamily="49" charset="0"/>
              </a:rPr>
              <a:t>select</a:t>
            </a:r>
            <a:r>
              <a:rPr lang="en-IN" sz="1800" b="0" dirty="0">
                <a:solidFill>
                  <a:srgbClr val="000000"/>
                </a:solidFill>
                <a:latin typeface="Cascadia Mono" panose="020B0609020000020004" pitchFamily="49" charset="0"/>
              </a:rPr>
              <a:t> </a:t>
            </a:r>
            <a:r>
              <a:rPr lang="en-IN" sz="1800" b="1" dirty="0">
                <a:solidFill>
                  <a:srgbClr val="800080"/>
                </a:solidFill>
                <a:latin typeface="Cascadia Mono" panose="020B0609020000020004" pitchFamily="49" charset="0"/>
              </a:rPr>
              <a:t>asp-for</a:t>
            </a:r>
            <a:r>
              <a:rPr lang="en-IN" sz="1800" b="0" dirty="0">
                <a:solidFill>
                  <a:srgbClr val="0000FF"/>
                </a:solidFill>
                <a:latin typeface="Cascadia Mono" panose="020B0609020000020004" pitchFamily="49" charset="0"/>
              </a:rPr>
              <a:t>="</a:t>
            </a:r>
            <a:r>
              <a:rPr lang="en-IN" sz="1800" b="0" dirty="0">
                <a:solidFill>
                  <a:srgbClr val="000000"/>
                </a:solidFill>
                <a:latin typeface="Cascadia Mono" panose="020B0609020000020004" pitchFamily="49" charset="0"/>
              </a:rPr>
              <a:t>Department</a:t>
            </a:r>
            <a:r>
              <a:rPr lang="en-IN" sz="1800" b="0" dirty="0">
                <a:solidFill>
                  <a:srgbClr val="0000FF"/>
                </a:solidFill>
                <a:latin typeface="Cascadia Mono" panose="020B0609020000020004" pitchFamily="49" charset="0"/>
              </a:rPr>
              <a:t>"</a:t>
            </a:r>
            <a:endParaRPr lang="en-IN"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1" dirty="0">
                <a:solidFill>
                  <a:srgbClr val="800080"/>
                </a:solidFill>
                <a:latin typeface="Cascadia Mono" panose="020B0609020000020004" pitchFamily="49" charset="0"/>
              </a:rPr>
              <a:t>asp-items</a:t>
            </a:r>
            <a:r>
              <a:rPr lang="en-IN" sz="1800" b="0" dirty="0">
                <a:solidFill>
                  <a:srgbClr val="0000FF"/>
                </a:solidFill>
                <a:latin typeface="Cascadia Mono" panose="020B0609020000020004" pitchFamily="49" charset="0"/>
              </a:rPr>
              <a:t>="</a:t>
            </a:r>
            <a:r>
              <a:rPr lang="en-IN" sz="1800" b="0" dirty="0" err="1">
                <a:solidFill>
                  <a:srgbClr val="000000"/>
                </a:solidFill>
                <a:latin typeface="Cascadia Mono" panose="020B0609020000020004" pitchFamily="49" charset="0"/>
              </a:rPr>
              <a:t>Html.GetEnumSelectList</a:t>
            </a:r>
            <a:r>
              <a:rPr lang="en-IN" sz="1800" b="0" dirty="0">
                <a:solidFill>
                  <a:srgbClr val="000000"/>
                </a:solidFill>
                <a:latin typeface="Cascadia Mono" panose="020B0609020000020004" pitchFamily="49" charset="0"/>
              </a:rPr>
              <a:t>&lt;</a:t>
            </a:r>
            <a:r>
              <a:rPr lang="en-IN" sz="1800" b="0" dirty="0">
                <a:solidFill>
                  <a:srgbClr val="2B91AF"/>
                </a:solidFill>
                <a:latin typeface="Cascadia Mono" panose="020B0609020000020004" pitchFamily="49" charset="0"/>
              </a:rPr>
              <a:t>Dept</a:t>
            </a:r>
            <a:r>
              <a:rPr lang="en-IN" sz="1800" b="0" dirty="0">
                <a:solidFill>
                  <a:srgbClr val="000000"/>
                </a:solidFill>
                <a:latin typeface="Cascadia Mono" panose="020B0609020000020004" pitchFamily="49" charset="0"/>
              </a:rPr>
              <a:t>&gt;()</a:t>
            </a:r>
            <a:r>
              <a:rPr lang="en-IN" sz="1800" b="0" dirty="0">
                <a:solidFill>
                  <a:srgbClr val="0000FF"/>
                </a:solidFill>
                <a:latin typeface="Cascadia Mono" panose="020B0609020000020004" pitchFamily="49" charset="0"/>
              </a:rPr>
              <a:t>"&gt;</a:t>
            </a:r>
            <a:endParaRPr lang="en-IN"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0" dirty="0">
                <a:solidFill>
                  <a:srgbClr val="0000FF"/>
                </a:solidFill>
                <a:latin typeface="Cascadia Mono" panose="020B0609020000020004" pitchFamily="49" charset="0"/>
              </a:rPr>
              <a:t>&lt;/</a:t>
            </a:r>
            <a:r>
              <a:rPr lang="en-IN" sz="1800" b="1" dirty="0">
                <a:solidFill>
                  <a:srgbClr val="800080"/>
                </a:solidFill>
                <a:latin typeface="Cascadia Mono" panose="020B0609020000020004" pitchFamily="49" charset="0"/>
              </a:rPr>
              <a:t>select</a:t>
            </a:r>
            <a:r>
              <a:rPr lang="en-IN" sz="1800" b="0" dirty="0">
                <a:solidFill>
                  <a:srgbClr val="0000FF"/>
                </a:solidFill>
                <a:latin typeface="Cascadia Mono" panose="020B0609020000020004" pitchFamily="49" charset="0"/>
              </a:rPr>
              <a:t>&gt;</a:t>
            </a:r>
            <a:endParaRPr lang="en-IN"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label</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="control-label"&gt;&lt;/</a:t>
            </a:r>
            <a:r>
              <a:rPr lang="en-US" sz="1800" b="1" dirty="0">
                <a:solidFill>
                  <a:srgbClr val="800080"/>
                </a:solidFill>
                <a:latin typeface="Cascadia Mono" panose="020B0609020000020004" pitchFamily="49" charset="0"/>
              </a:rPr>
              <a:t>label</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input</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="form-control"</a:t>
            </a:r>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US" sz="1800" b="0" dirty="0">
                <a:solidFill>
                  <a:srgbClr val="000000"/>
                </a:solidFill>
                <a:latin typeface="Cascadia Mono" panose="020B0609020000020004" pitchFamily="49" charset="0"/>
              </a:rPr>
              <a:t>                </a:t>
            </a:r>
            <a:r>
              <a:rPr lang="en-US" sz="1800" b="0" dirty="0">
                <a:solidFill>
                  <a:srgbClr val="0000FF"/>
                </a:solidFill>
                <a:latin typeface="Cascadia Mono" panose="020B0609020000020004" pitchFamily="49" charset="0"/>
              </a:rPr>
              <a:t>&lt;</a:t>
            </a:r>
            <a:r>
              <a:rPr lang="en-US" sz="1800" b="1" dirty="0">
                <a:solidFill>
                  <a:srgbClr val="800080"/>
                </a:solidFill>
                <a:latin typeface="Cascadia Mono" panose="020B0609020000020004" pitchFamily="49" charset="0"/>
              </a:rPr>
              <a:t>span</a:t>
            </a:r>
            <a:r>
              <a:rPr lang="en-US" sz="1800" b="0" dirty="0">
                <a:solidFill>
                  <a:srgbClr val="000000"/>
                </a:solidFill>
                <a:latin typeface="Cascadia Mono" panose="020B0609020000020004" pitchFamily="49" charset="0"/>
              </a:rPr>
              <a:t> </a:t>
            </a:r>
            <a:r>
              <a:rPr lang="en-US" sz="1800" b="1" dirty="0">
                <a:solidFill>
                  <a:srgbClr val="800080"/>
                </a:solidFill>
                <a:latin typeface="Cascadia Mono" panose="020B0609020000020004" pitchFamily="49" charset="0"/>
              </a:rPr>
              <a:t>asp-validation-for</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Department</a:t>
            </a:r>
            <a:r>
              <a:rPr lang="en-US" sz="1800" b="0" dirty="0">
                <a:solidFill>
                  <a:srgbClr val="0000FF"/>
                </a:solidFill>
                <a:latin typeface="Cascadia Mono" panose="020B0609020000020004" pitchFamily="49" charset="0"/>
              </a:rPr>
              <a:t>"</a:t>
            </a:r>
            <a:r>
              <a:rPr lang="en-US" sz="1800" b="0" dirty="0">
                <a:solidFill>
                  <a:srgbClr val="000000"/>
                </a:solidFill>
                <a:latin typeface="Cascadia Mono" panose="020B0609020000020004" pitchFamily="49" charset="0"/>
              </a:rPr>
              <a:t> </a:t>
            </a:r>
            <a:r>
              <a:rPr lang="en-US" sz="1800" b="0" dirty="0">
                <a:solidFill>
                  <a:srgbClr val="FF0000"/>
                </a:solidFill>
                <a:latin typeface="Cascadia Mono" panose="020B0609020000020004" pitchFamily="49" charset="0"/>
              </a:rPr>
              <a:t>class</a:t>
            </a:r>
            <a:r>
              <a:rPr lang="en-US" sz="1800" b="0" dirty="0">
                <a:solidFill>
                  <a:srgbClr val="0000FF"/>
                </a:solidFill>
                <a:latin typeface="Cascadia Mono" panose="020B0609020000020004" pitchFamily="49" charset="0"/>
              </a:rPr>
              <a:t>="text-danger"&gt;&lt;/</a:t>
            </a:r>
            <a:r>
              <a:rPr lang="en-US" sz="1800" b="1" dirty="0">
                <a:solidFill>
                  <a:srgbClr val="800080"/>
                </a:solidFill>
                <a:latin typeface="Cascadia Mono" panose="020B0609020000020004" pitchFamily="49" charset="0"/>
              </a:rPr>
              <a:t>span</a:t>
            </a:r>
            <a:r>
              <a:rPr lang="en-US" sz="1800" b="0" dirty="0">
                <a:solidFill>
                  <a:srgbClr val="0000FF"/>
                </a:solidFill>
                <a:latin typeface="Cascadia Mono" panose="020B0609020000020004" pitchFamily="49" charset="0"/>
              </a:rPr>
              <a:t>&gt;</a:t>
            </a:r>
            <a:endParaRPr lang="en-US" sz="1800" b="0" dirty="0">
              <a:solidFill>
                <a:srgbClr val="000000"/>
              </a:solidFill>
              <a:latin typeface="Cascadia Mono" panose="020B0609020000020004" pitchFamily="49" charset="0"/>
            </a:endParaRPr>
          </a:p>
          <a:p>
            <a:r>
              <a:rPr lang="en-IN" sz="1800" b="0" dirty="0">
                <a:solidFill>
                  <a:srgbClr val="000000"/>
                </a:solidFill>
                <a:latin typeface="Cascadia Mono" panose="020B0609020000020004" pitchFamily="49" charset="0"/>
              </a:rPr>
              <a:t>            </a:t>
            </a:r>
            <a:r>
              <a:rPr lang="en-IN" sz="1800" b="0" dirty="0">
                <a:solidFill>
                  <a:srgbClr val="0000FF"/>
                </a:solidFill>
                <a:latin typeface="Cascadia Mono" panose="020B0609020000020004" pitchFamily="49" charset="0"/>
              </a:rPr>
              <a:t>&lt;/</a:t>
            </a:r>
            <a:r>
              <a:rPr lang="en-IN" sz="1800" b="0" dirty="0">
                <a:solidFill>
                  <a:srgbClr val="800000"/>
                </a:solidFill>
                <a:latin typeface="Cascadia Mono" panose="020B0609020000020004" pitchFamily="49" charset="0"/>
              </a:rPr>
              <a:t>div</a:t>
            </a:r>
            <a:r>
              <a:rPr lang="en-IN" sz="1800" b="0" dirty="0">
                <a:solidFill>
                  <a:srgbClr val="0000FF"/>
                </a:solidFill>
                <a:latin typeface="Cascadia Mono" panose="020B0609020000020004" pitchFamily="49" charset="0"/>
              </a:rPr>
              <a:t>&gt;</a:t>
            </a:r>
            <a:endParaRPr lang="en-IN" dirty="0"/>
          </a:p>
        </p:txBody>
      </p:sp>
      <p:cxnSp>
        <p:nvCxnSpPr>
          <p:cNvPr id="9" name="Straight Connector 8">
            <a:extLst>
              <a:ext uri="{FF2B5EF4-FFF2-40B4-BE49-F238E27FC236}">
                <a16:creationId xmlns:a16="http://schemas.microsoft.com/office/drawing/2014/main" xmlns="" id="{1D74C34F-3B51-ACEC-C922-E0668421FA60}"/>
              </a:ext>
            </a:extLst>
          </p:cNvPr>
          <p:cNvCxnSpPr/>
          <p:nvPr/>
        </p:nvCxnSpPr>
        <p:spPr>
          <a:xfrm>
            <a:off x="4414684" y="1645920"/>
            <a:ext cx="4363556" cy="1524000"/>
          </a:xfrm>
          <a:prstGeom prst="line">
            <a:avLst/>
          </a:prstGeom>
        </p:spPr>
        <p:style>
          <a:lnRef idx="3">
            <a:schemeClr val="accent2"/>
          </a:lnRef>
          <a:fillRef idx="0">
            <a:schemeClr val="accent2"/>
          </a:fillRef>
          <a:effectRef idx="2">
            <a:schemeClr val="accent2"/>
          </a:effectRef>
          <a:fontRef idx="minor">
            <a:schemeClr val="tx1"/>
          </a:fontRef>
        </p:style>
      </p:cxnSp>
      <p:sp>
        <p:nvSpPr>
          <p:cNvPr id="11" name="TextBox 10">
            <a:extLst>
              <a:ext uri="{FF2B5EF4-FFF2-40B4-BE49-F238E27FC236}">
                <a16:creationId xmlns:a16="http://schemas.microsoft.com/office/drawing/2014/main" xmlns="" id="{ED06C0FD-CF0E-348F-F70B-2F74C26373AD}"/>
              </a:ext>
            </a:extLst>
          </p:cNvPr>
          <p:cNvSpPr txBox="1"/>
          <p:nvPr/>
        </p:nvSpPr>
        <p:spPr>
          <a:xfrm>
            <a:off x="5069675" y="3374099"/>
            <a:ext cx="6136640" cy="2862322"/>
          </a:xfrm>
          <a:prstGeom prst="rect">
            <a:avLst/>
          </a:prstGeom>
          <a:noFill/>
        </p:spPr>
        <p:txBody>
          <a:bodyPr wrap="square">
            <a:spAutoFit/>
          </a:bodyPr>
          <a:lstStyle/>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Employee</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[Required, </a:t>
            </a:r>
            <a:r>
              <a:rPr lang="en-US" sz="900" dirty="0" err="1">
                <a:solidFill>
                  <a:srgbClr val="000000"/>
                </a:solidFill>
                <a:latin typeface="Cascadia Mono" panose="020B0609020000020004" pitchFamily="49" charset="0"/>
              </a:rPr>
              <a:t>MaxLength</a:t>
            </a:r>
            <a:r>
              <a:rPr lang="en-US" sz="900" dirty="0">
                <a:solidFill>
                  <a:srgbClr val="000000"/>
                </a:solidFill>
                <a:latin typeface="Cascadia Mono" panose="020B0609020000020004" pitchFamily="49" charset="0"/>
              </a:rPr>
              <a:t>(50, </a:t>
            </a:r>
            <a:r>
              <a:rPr lang="en-US" sz="900" dirty="0" err="1">
                <a:solidFill>
                  <a:srgbClr val="000000"/>
                </a:solidFill>
                <a:latin typeface="Cascadia Mono" panose="020B0609020000020004" pitchFamily="49" charset="0"/>
              </a:rPr>
              <a:t>ErrorMessage</a:t>
            </a:r>
            <a:r>
              <a:rPr lang="en-US" sz="900" dirty="0">
                <a:solidFill>
                  <a:srgbClr val="000000"/>
                </a:solidFill>
                <a:latin typeface="Cascadia Mono" panose="020B0609020000020004" pitchFamily="49" charset="0"/>
              </a:rPr>
              <a:t> = </a:t>
            </a:r>
            <a:r>
              <a:rPr lang="en-US" sz="900" dirty="0">
                <a:solidFill>
                  <a:srgbClr val="A31515"/>
                </a:solidFill>
                <a:latin typeface="Cascadia Mono" panose="020B0609020000020004" pitchFamily="49" charset="0"/>
              </a:rPr>
              <a:t>"Name cannot exceed 50 characters"</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[Display(Name = </a:t>
            </a:r>
            <a:r>
              <a:rPr lang="en-IN" sz="900" dirty="0">
                <a:solidFill>
                  <a:srgbClr val="A31515"/>
                </a:solidFill>
                <a:latin typeface="Cascadia Mono" panose="020B0609020000020004" pitchFamily="49" charset="0"/>
              </a:rPr>
              <a:t>"Office Email"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RegularExpression</a:t>
            </a:r>
            <a:r>
              <a:rPr lang="en-IN" sz="900" dirty="0">
                <a:solidFill>
                  <a:srgbClr val="000000"/>
                </a:solidFill>
                <a:latin typeface="Cascadia Mono" panose="020B0609020000020004" pitchFamily="49" charset="0"/>
              </a:rPr>
              <a:t>(</a:t>
            </a:r>
            <a:r>
              <a:rPr lang="en-IN" sz="900" dirty="0">
                <a:solidFill>
                  <a:srgbClr val="800000"/>
                </a:solidFill>
                <a:latin typeface="Cascadia Mono" panose="020B0609020000020004" pitchFamily="49" charset="0"/>
              </a:rPr>
              <a:t>@"^[a-zA-Z0-9_.+-]+@[a-zA-Z0-9-]+\.[a-zA-Z0-9-.]+$"</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ErrorMessage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"Invalid email format"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[Required]</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Email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[Required]</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Dept? Department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enum</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Dept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HR,</a:t>
            </a:r>
          </a:p>
          <a:p>
            <a:r>
              <a:rPr lang="en-IN" sz="900" dirty="0">
                <a:solidFill>
                  <a:srgbClr val="000000"/>
                </a:solidFill>
                <a:latin typeface="Cascadia Mono" panose="020B0609020000020004" pitchFamily="49" charset="0"/>
              </a:rPr>
              <a:t>        Payroll,</a:t>
            </a:r>
          </a:p>
          <a:p>
            <a:r>
              <a:rPr lang="en-IN" sz="900" dirty="0">
                <a:solidFill>
                  <a:srgbClr val="000000"/>
                </a:solidFill>
                <a:latin typeface="Cascadia Mono" panose="020B0609020000020004" pitchFamily="49" charset="0"/>
              </a:rPr>
              <a:t>        IT</a:t>
            </a:r>
          </a:p>
          <a:p>
            <a:r>
              <a:rPr lang="en-IN" sz="900" dirty="0">
                <a:solidFill>
                  <a:srgbClr val="000000"/>
                </a:solidFill>
                <a:latin typeface="Cascadia Mono" panose="020B0609020000020004" pitchFamily="49" charset="0"/>
              </a:rPr>
              <a:t>    }</a:t>
            </a:r>
            <a:endParaRPr lang="en-IN" dirty="0"/>
          </a:p>
        </p:txBody>
      </p:sp>
      <p:sp>
        <p:nvSpPr>
          <p:cNvPr id="4" name="TextBox 3">
            <a:extLst>
              <a:ext uri="{FF2B5EF4-FFF2-40B4-BE49-F238E27FC236}">
                <a16:creationId xmlns:a16="http://schemas.microsoft.com/office/drawing/2014/main" xmlns="" id="{4412A3DD-62F9-9ADC-E583-107040D01271}"/>
              </a:ext>
            </a:extLst>
          </p:cNvPr>
          <p:cNvSpPr txBox="1"/>
          <p:nvPr/>
        </p:nvSpPr>
        <p:spPr>
          <a:xfrm>
            <a:off x="258097" y="3295129"/>
            <a:ext cx="3456064" cy="646331"/>
          </a:xfrm>
          <a:prstGeom prst="rect">
            <a:avLst/>
          </a:prstGeom>
          <a:noFill/>
        </p:spPr>
        <p:txBody>
          <a:bodyPr wrap="square" rtlCol="0">
            <a:spAutoFit/>
          </a:bodyPr>
          <a:lstStyle/>
          <a:p>
            <a:r>
              <a:rPr lang="en-US" dirty="0"/>
              <a:t>Open Index View </a:t>
            </a:r>
          </a:p>
          <a:p>
            <a:r>
              <a:rPr lang="en-US" dirty="0"/>
              <a:t>And modify the code</a:t>
            </a:r>
            <a:endParaRPr lang="en-IN" dirty="0"/>
          </a:p>
        </p:txBody>
      </p:sp>
    </p:spTree>
    <p:extLst>
      <p:ext uri="{BB962C8B-B14F-4D97-AF65-F5344CB8AC3E}">
        <p14:creationId xmlns:p14="http://schemas.microsoft.com/office/powerpoint/2010/main" val="1185752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0B2B98DA-DD2C-4FF0-85C2-CF0C6C0BB112}"/>
              </a:ext>
            </a:extLst>
          </p:cNvPr>
          <p:cNvSpPr txBox="1"/>
          <p:nvPr/>
        </p:nvSpPr>
        <p:spPr>
          <a:xfrm>
            <a:off x="393291" y="976443"/>
            <a:ext cx="4819732" cy="1015663"/>
          </a:xfrm>
          <a:prstGeom prst="rect">
            <a:avLst/>
          </a:prstGeom>
          <a:noFill/>
        </p:spPr>
        <p:txBody>
          <a:bodyPr wrap="square">
            <a:spAutoFit/>
          </a:bodyPr>
          <a:lstStyle/>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srgbClr val="000000"/>
                </a:solidFill>
                <a:latin typeface="Consolas" panose="020B0609020204030204" pitchFamily="49" charset="0"/>
              </a:rPr>
              <a:t> </a:t>
            </a:r>
            <a:r>
              <a:rPr lang="en-IN" sz="1200" dirty="0" err="1">
                <a:solidFill>
                  <a:srgbClr val="2B91AF"/>
                </a:solidFill>
                <a:latin typeface="Consolas" panose="020B0609020204030204" pitchFamily="49" charset="0"/>
              </a:rPr>
              <a:t>HomeDetailslViewModel</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Employee </a:t>
            </a:r>
            <a:r>
              <a:rPr lang="en-US" sz="1200" dirty="0" err="1">
                <a:solidFill>
                  <a:srgbClr val="000000"/>
                </a:solidFill>
                <a:latin typeface="Consolas" panose="020B0609020204030204" pitchFamily="49" charset="0"/>
              </a:rPr>
              <a:t>Employee</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PageTitle</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get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set</a:t>
            </a:r>
            <a:r>
              <a:rPr lang="en-US"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endParaRPr lang="en-IN" sz="3200" dirty="0"/>
          </a:p>
        </p:txBody>
      </p:sp>
      <p:sp>
        <p:nvSpPr>
          <p:cNvPr id="10" name="TextBox 9">
            <a:extLst>
              <a:ext uri="{FF2B5EF4-FFF2-40B4-BE49-F238E27FC236}">
                <a16:creationId xmlns:a16="http://schemas.microsoft.com/office/drawing/2014/main" xmlns="" id="{C20CD0C1-8D91-462D-9223-EFEB0671F2F0}"/>
              </a:ext>
            </a:extLst>
          </p:cNvPr>
          <p:cNvSpPr txBox="1"/>
          <p:nvPr/>
        </p:nvSpPr>
        <p:spPr>
          <a:xfrm>
            <a:off x="1514168" y="167148"/>
            <a:ext cx="4975122" cy="369332"/>
          </a:xfrm>
          <a:prstGeom prst="rect">
            <a:avLst/>
          </a:prstGeom>
          <a:noFill/>
        </p:spPr>
        <p:txBody>
          <a:bodyPr wrap="square" rtlCol="0">
            <a:spAutoFit/>
          </a:bodyPr>
          <a:lstStyle/>
          <a:p>
            <a:r>
              <a:rPr lang="en-IN" dirty="0"/>
              <a:t>Add functionality to a view </a:t>
            </a:r>
          </a:p>
        </p:txBody>
      </p:sp>
      <p:sp>
        <p:nvSpPr>
          <p:cNvPr id="12" name="TextBox 11">
            <a:extLst>
              <a:ext uri="{FF2B5EF4-FFF2-40B4-BE49-F238E27FC236}">
                <a16:creationId xmlns:a16="http://schemas.microsoft.com/office/drawing/2014/main" xmlns="" id="{095E36B5-4576-4988-BE79-FBE49ABE1802}"/>
              </a:ext>
            </a:extLst>
          </p:cNvPr>
          <p:cNvSpPr txBox="1"/>
          <p:nvPr/>
        </p:nvSpPr>
        <p:spPr>
          <a:xfrm>
            <a:off x="393291" y="2467591"/>
            <a:ext cx="9576619" cy="3108543"/>
          </a:xfrm>
          <a:prstGeom prst="rect">
            <a:avLst/>
          </a:prstGeom>
          <a:noFill/>
        </p:spPr>
        <p:txBody>
          <a:bodyPr wrap="square">
            <a:spAutoFit/>
          </a:bodyPr>
          <a:lstStyle/>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ActionResult</a:t>
            </a:r>
            <a:r>
              <a:rPr lang="en-US" sz="1400" dirty="0">
                <a:solidFill>
                  <a:srgbClr val="000000"/>
                </a:solidFill>
                <a:latin typeface="Consolas" panose="020B0609020204030204" pitchFamily="49" charset="0"/>
              </a:rPr>
              <a:t> Details(</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id)</a:t>
            </a:r>
          </a:p>
          <a:p>
            <a:r>
              <a:rPr lang="en-IN"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Instantiate </a:t>
            </a:r>
            <a:r>
              <a:rPr lang="en-US" sz="1400" dirty="0" err="1">
                <a:solidFill>
                  <a:srgbClr val="008000"/>
                </a:solidFill>
                <a:latin typeface="Consolas" panose="020B0609020204030204" pitchFamily="49" charset="0"/>
              </a:rPr>
              <a:t>HomeDetailsViewModel</a:t>
            </a:r>
            <a:r>
              <a:rPr lang="en-US" sz="1400" dirty="0">
                <a:solidFill>
                  <a:srgbClr val="008000"/>
                </a:solidFill>
                <a:latin typeface="Consolas" panose="020B0609020204030204" pitchFamily="49" charset="0"/>
              </a:rPr>
              <a:t> and store Employee details and </a:t>
            </a:r>
            <a:r>
              <a:rPr lang="en-US" sz="1400" dirty="0" err="1">
                <a:solidFill>
                  <a:srgbClr val="008000"/>
                </a:solidFill>
                <a:latin typeface="Consolas" panose="020B0609020204030204" pitchFamily="49" charset="0"/>
              </a:rPr>
              <a:t>PageTitle</a:t>
            </a:r>
            <a:endParaRPr lang="en-US"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HomeDetailslViewModel</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homeDetailsViewModel</a:t>
            </a:r>
            <a:r>
              <a:rPr lang="en-IN" sz="1400" dirty="0">
                <a:solidFill>
                  <a:srgbClr val="000000"/>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HomeDetailslViewModel</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       Employee = _</a:t>
            </a:r>
            <a:r>
              <a:rPr lang="en-IN" sz="1400" dirty="0" err="1">
                <a:solidFill>
                  <a:srgbClr val="000000"/>
                </a:solidFill>
                <a:latin typeface="Consolas" panose="020B0609020204030204" pitchFamily="49" charset="0"/>
              </a:rPr>
              <a:t>employeeRepository.GetEmployee</a:t>
            </a:r>
            <a:r>
              <a:rPr lang="en-IN" sz="1400" dirty="0">
                <a:solidFill>
                  <a:srgbClr val="000000"/>
                </a:solidFill>
                <a:latin typeface="Consolas" panose="020B0609020204030204" pitchFamily="49" charset="0"/>
              </a:rPr>
              <a:t>(id),</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PageTitle</a:t>
            </a:r>
            <a:r>
              <a:rPr lang="en-IN" sz="1400" dirty="0">
                <a:solidFill>
                  <a:srgbClr val="000000"/>
                </a:solidFill>
                <a:latin typeface="Consolas" panose="020B0609020204030204" pitchFamily="49" charset="0"/>
              </a:rPr>
              <a:t> = </a:t>
            </a:r>
            <a:r>
              <a:rPr lang="en-IN" sz="1400" dirty="0">
                <a:solidFill>
                  <a:srgbClr val="A31515"/>
                </a:solidFill>
                <a:latin typeface="Consolas" panose="020B0609020204030204" pitchFamily="49" charset="0"/>
              </a:rPr>
              <a:t>"Employee Details"</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if</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homeDetailsViewModel</a:t>
            </a:r>
            <a:r>
              <a:rPr lang="en-IN" sz="1400" dirty="0">
                <a:solidFill>
                  <a:srgbClr val="000000"/>
                </a:solidFill>
                <a:latin typeface="Consolas" panose="020B0609020204030204" pitchFamily="49" charset="0"/>
              </a:rPr>
              <a:t> == </a:t>
            </a:r>
            <a:r>
              <a:rPr lang="en-IN" sz="1400" dirty="0">
                <a:solidFill>
                  <a:srgbClr val="0000FF"/>
                </a:solidFill>
                <a:latin typeface="Consolas" panose="020B0609020204030204" pitchFamily="49" charset="0"/>
              </a:rPr>
              <a:t>null</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 </a:t>
            </a:r>
            <a:r>
              <a:rPr lang="en-IN" sz="1400" dirty="0" err="1">
                <a:solidFill>
                  <a:srgbClr val="000000"/>
                </a:solidFill>
                <a:latin typeface="Consolas" panose="020B0609020204030204" pitchFamily="49" charset="0"/>
              </a:rPr>
              <a:t>Response.StatusCode</a:t>
            </a:r>
            <a:r>
              <a:rPr lang="en-IN" sz="1400" dirty="0">
                <a:solidFill>
                  <a:srgbClr val="000000"/>
                </a:solidFill>
                <a:latin typeface="Consolas" panose="020B0609020204030204" pitchFamily="49" charset="0"/>
              </a:rPr>
              <a:t> = 404;</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return</a:t>
            </a:r>
            <a:r>
              <a:rPr lang="en-IN" sz="1400" dirty="0">
                <a:solidFill>
                  <a:srgbClr val="000000"/>
                </a:solidFill>
                <a:latin typeface="Consolas" panose="020B0609020204030204" pitchFamily="49" charset="0"/>
              </a:rPr>
              <a:t> View(</a:t>
            </a:r>
            <a:r>
              <a:rPr lang="en-IN" sz="1400" dirty="0">
                <a:solidFill>
                  <a:srgbClr val="A31515"/>
                </a:solidFill>
                <a:latin typeface="Consolas" panose="020B0609020204030204" pitchFamily="49" charset="0"/>
              </a:rPr>
              <a:t>"</a:t>
            </a:r>
            <a:r>
              <a:rPr lang="en-IN" sz="1400" dirty="0" err="1">
                <a:solidFill>
                  <a:srgbClr val="A31515"/>
                </a:solidFill>
                <a:latin typeface="Consolas" panose="020B0609020204030204" pitchFamily="49" charset="0"/>
              </a:rPr>
              <a:t>EmployeeNotFound</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 id);</a:t>
            </a:r>
          </a:p>
          <a:p>
            <a:r>
              <a:rPr lang="en-IN"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Pass the </a:t>
            </a:r>
            <a:r>
              <a:rPr lang="en-US" sz="1400" dirty="0" err="1">
                <a:solidFill>
                  <a:srgbClr val="008000"/>
                </a:solidFill>
                <a:latin typeface="Consolas" panose="020B0609020204030204" pitchFamily="49" charset="0"/>
              </a:rPr>
              <a:t>ViewModel</a:t>
            </a:r>
            <a:r>
              <a:rPr lang="en-US" sz="1400" dirty="0">
                <a:solidFill>
                  <a:srgbClr val="008000"/>
                </a:solidFill>
                <a:latin typeface="Consolas" panose="020B0609020204030204" pitchFamily="49" charset="0"/>
              </a:rPr>
              <a:t> object to the View() helper method</a:t>
            </a:r>
            <a:endParaRPr lang="en-US"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return</a:t>
            </a:r>
            <a:r>
              <a:rPr lang="en-IN" sz="1400" dirty="0">
                <a:solidFill>
                  <a:srgbClr val="000000"/>
                </a:solidFill>
                <a:latin typeface="Consolas" panose="020B0609020204030204" pitchFamily="49" charset="0"/>
              </a:rPr>
              <a:t> View(</a:t>
            </a:r>
            <a:r>
              <a:rPr lang="en-IN" sz="1400" dirty="0" err="1">
                <a:solidFill>
                  <a:srgbClr val="000000"/>
                </a:solidFill>
                <a:latin typeface="Consolas" panose="020B0609020204030204" pitchFamily="49" charset="0"/>
              </a:rPr>
              <a:t>homeDetailsViewModel</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endParaRPr lang="en-IN" sz="3600" dirty="0"/>
          </a:p>
        </p:txBody>
      </p:sp>
    </p:spTree>
    <p:extLst>
      <p:ext uri="{BB962C8B-B14F-4D97-AF65-F5344CB8AC3E}">
        <p14:creationId xmlns:p14="http://schemas.microsoft.com/office/powerpoint/2010/main" val="3145147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4F9C713E-231F-F314-5683-F696A6FA9E42}"/>
              </a:ext>
            </a:extLst>
          </p:cNvPr>
          <p:cNvSpPr txBox="1"/>
          <p:nvPr/>
        </p:nvSpPr>
        <p:spPr>
          <a:xfrm>
            <a:off x="765928" y="716684"/>
            <a:ext cx="10018336" cy="369332"/>
          </a:xfrm>
          <a:prstGeom prst="rect">
            <a:avLst/>
          </a:prstGeom>
          <a:noFill/>
        </p:spPr>
        <p:txBody>
          <a:bodyPr wrap="square">
            <a:spAutoFit/>
          </a:bodyPr>
          <a:lstStyle/>
          <a:p>
            <a:r>
              <a:rPr lang="en-IN" dirty="0"/>
              <a:t>https://learn.microsoft.com/en-us/aspnet/core/mvc/views/tag-helpers/intro?view=aspnetcore-7.0</a:t>
            </a:r>
          </a:p>
        </p:txBody>
      </p:sp>
    </p:spTree>
    <p:extLst>
      <p:ext uri="{BB962C8B-B14F-4D97-AF65-F5344CB8AC3E}">
        <p14:creationId xmlns:p14="http://schemas.microsoft.com/office/powerpoint/2010/main" val="1181134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2358</TotalTime>
  <Words>1294</Words>
  <Application>Microsoft Office PowerPoint</Application>
  <PresentationFormat>Custom</PresentationFormat>
  <Paragraphs>307</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Drop Down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DELL</cp:lastModifiedBy>
  <cp:revision>31</cp:revision>
  <dcterms:created xsi:type="dcterms:W3CDTF">2021-10-13T08:26:47Z</dcterms:created>
  <dcterms:modified xsi:type="dcterms:W3CDTF">2025-04-21T07:05:05Z</dcterms:modified>
</cp:coreProperties>
</file>