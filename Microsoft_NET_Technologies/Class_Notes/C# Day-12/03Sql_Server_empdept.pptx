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73" r:id="rId2"/>
    <p:sldId id="256" r:id="rId3"/>
    <p:sldId id="274" r:id="rId4"/>
    <p:sldId id="275" r:id="rId5"/>
    <p:sldId id="276" r:id="rId6"/>
    <p:sldId id="277" r:id="rId7"/>
    <p:sldId id="278" r:id="rId8"/>
    <p:sldId id="279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21BF8B-8980-4967-BEB1-E20481D073A2}" type="datetimeFigureOut">
              <a:rPr lang="en-IN" smtClean="0"/>
              <a:t>23-10-2024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286DD7-487E-42A9-869F-0D4CE6D338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3891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6E0D51-AECC-4D4B-A19B-E83371EB25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967538-80F8-4376-A7B4-F41E7183FA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182C4E-853A-4D6B-9641-E9237C8924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F85FC-0678-4968-80E4-813675CCD3C0}" type="datetimeFigureOut">
              <a:rPr lang="en-IN" smtClean="0"/>
              <a:t>23-10-2024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48D69-E08A-4E14-B50B-3E43E2DB51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BF03CA-0F4F-4FC1-A8C1-5BE03C4B00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D1888-13A7-46B6-8EC2-971A9400BA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351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529D2F-061D-4DB5-B855-0DD5EA3B04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4A5609-1969-4EE2-AFD6-D45A814EE7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DE271A-8EB7-4A16-9A0E-9E111162E7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F85FC-0678-4968-80E4-813675CCD3C0}" type="datetimeFigureOut">
              <a:rPr lang="en-IN" smtClean="0"/>
              <a:t>23-10-2024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89172A-60EC-4BC8-B40B-F976054C10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14F632-8F3E-4FFB-891D-75CC24523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D1888-13A7-46B6-8EC2-971A9400BA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26325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7301AB-0CC5-48F4-AEFB-6B662A9630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C49317-A05A-4B0B-8B94-A7F6E20E93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6C02CF-A2AC-4E35-A1F3-B8AC03FB8A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F85FC-0678-4968-80E4-813675CCD3C0}" type="datetimeFigureOut">
              <a:rPr lang="en-IN" smtClean="0"/>
              <a:t>23-10-2024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89D978-910D-4448-A5C5-4EEC881DAA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7AE98D-6737-4627-ADA7-79291C58BD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D1888-13A7-46B6-8EC2-971A9400BA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35316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0FE15-8A34-48F0-AE29-D549617686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24F716-A40B-4FD6-ADEC-F52D6DE8B1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2D015E-30E4-4453-A3F8-B84A839625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077DA1-83BC-47A9-8ADE-9F10B5E639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F85FC-0678-4968-80E4-813675CCD3C0}" type="datetimeFigureOut">
              <a:rPr lang="en-IN" smtClean="0"/>
              <a:t>23-10-2024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E375CC-D4C6-4F98-9AD9-7959C74AAC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E829D2-D810-4118-8A2F-A75739162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D1888-13A7-46B6-8EC2-971A9400BA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11623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7C97AE-6C23-4A5C-BCF1-C4C7A883A5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DAFDC0-A2F0-4E8C-9972-F8F88FAE56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877576-BF99-4336-B54A-029B13DEB6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EB3DD2B-059F-4514-BF47-70F2B1EDB5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6066D59-2FE3-49B7-9DC8-495A63F42EA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0DDF9E3-1183-4A49-A565-F80F05C5AD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F85FC-0678-4968-80E4-813675CCD3C0}" type="datetimeFigureOut">
              <a:rPr lang="en-IN" smtClean="0"/>
              <a:t>23-10-2024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D9CFA74-42EB-4D53-A9BC-815220D5AF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3559145-3BE2-4B34-B4B0-04111A313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D1888-13A7-46B6-8EC2-971A9400BA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34710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F7AA55-2581-43C1-9F2C-5BF65DCA22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22565E9-43CC-4E27-BECB-78508B0091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F85FC-0678-4968-80E4-813675CCD3C0}" type="datetimeFigureOut">
              <a:rPr lang="en-IN" smtClean="0"/>
              <a:t>23-10-2024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4E576A-9D75-4CA0-A663-7DC3C67889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BF5C7A1-BD2F-4C7B-A76E-78681FC03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D1888-13A7-46B6-8EC2-971A9400BA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19223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E259EC9-531D-4BAD-945D-46ED98152E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F85FC-0678-4968-80E4-813675CCD3C0}" type="datetimeFigureOut">
              <a:rPr lang="en-IN" smtClean="0"/>
              <a:t>23-10-2024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72E0A7E-9071-4B75-A47E-A6FEDCA903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C84C19-77DD-4C39-B325-1D17D4E990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D1888-13A7-46B6-8EC2-971A9400BA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71341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C3F89C-5917-43A1-8F3C-E523437F26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2B8747-DFE4-463B-87D1-B4797379FA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F603E7-70F6-4F14-9776-749790DB6E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F9D7A3-EFBE-4A84-B4E3-6BD21BC9CB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F85FC-0678-4968-80E4-813675CCD3C0}" type="datetimeFigureOut">
              <a:rPr lang="en-IN" smtClean="0"/>
              <a:t>23-10-2024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17A6E0-D739-490A-ABD5-2EAFABFBD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CBA078-F286-41FE-A084-F5A5B0F7D5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D1888-13A7-46B6-8EC2-971A9400BA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26526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26B47-940B-4037-A575-922CFEE5A0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4A50D19-69D9-43BB-B18C-3622DB7AAFA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EE0C8A-4C9A-4A9F-AD1D-7BB60E6496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5B2F99-840E-4199-920A-1DADA6A73A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F85FC-0678-4968-80E4-813675CCD3C0}" type="datetimeFigureOut">
              <a:rPr lang="en-IN" smtClean="0"/>
              <a:t>23-10-2024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8EFFA4-880A-4E97-B181-46162D7E3A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2F2E95-B297-4CC0-A1C2-D5D27B7115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D1888-13A7-46B6-8EC2-971A9400BA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0615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734E42-BD31-48A4-9545-9752AA5E7B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0B432B-35CA-437D-A88A-C9557041FB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98136C-FF3C-4DC8-9D76-ED43D26BDB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F85FC-0678-4968-80E4-813675CCD3C0}" type="datetimeFigureOut">
              <a:rPr lang="en-IN" smtClean="0"/>
              <a:t>23-10-2024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B575FE-CBDF-402F-8CC0-B1BACB1CC4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E9C4B7-6FDF-4654-94F7-88014E1B7A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D1888-13A7-46B6-8EC2-971A9400BA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615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EB34E0A-E6C1-495E-AC57-46691AD4AD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121757-82CA-45F6-89DB-803E541F3A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1678ED-06FD-4148-99A2-1870497844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F85FC-0678-4968-80E4-813675CCD3C0}" type="datetimeFigureOut">
              <a:rPr lang="en-IN" smtClean="0"/>
              <a:t>23-10-2024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CA18F1-E330-46FC-A453-3E17455D17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3772C4-D100-4012-9B91-9FBF4EB755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D1888-13A7-46B6-8EC2-971A9400BA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79692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6683CD-3909-4B7B-AC15-9D14B231C9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BA1A15-D952-407B-8895-CFAFD977D2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1BB085-00C3-4FE6-BA20-46D06D3AB4B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BF85FC-0678-4968-80E4-813675CCD3C0}" type="datetimeFigureOut">
              <a:rPr lang="en-IN" smtClean="0"/>
              <a:t>23-10-2024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6345F7-C782-4C0B-A14D-05D9FA7DF9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B4B5AE-0BB1-4702-BE87-40DE91636F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DD1888-13A7-46B6-8EC2-971A9400BA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79693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7C51F0-F25A-4754-F08D-39754418A2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6164" y="854764"/>
            <a:ext cx="10853531" cy="5835063"/>
          </a:xfrm>
        </p:spPr>
        <p:txBody>
          <a:bodyPr>
            <a:normAutofit lnSpcReduction="10000"/>
          </a:bodyPr>
          <a:lstStyle/>
          <a:p>
            <a:pPr marL="514350" indent="-514350">
              <a:buAutoNum type="arabicPeriod"/>
            </a:pPr>
            <a:r>
              <a:rPr lang="en-US" dirty="0"/>
              <a:t>Create Poco Class</a:t>
            </a:r>
          </a:p>
          <a:p>
            <a:pPr marL="514350" indent="-514350">
              <a:buAutoNum type="arabicPeriod"/>
            </a:pPr>
            <a:r>
              <a:rPr lang="en-US" dirty="0"/>
              <a:t>Create </a:t>
            </a:r>
            <a:r>
              <a:rPr lang="en-US" dirty="0" err="1"/>
              <a:t>AppDbcontext</a:t>
            </a:r>
            <a:r>
              <a:rPr lang="en-US" dirty="0"/>
              <a:t> class which is child of  </a:t>
            </a:r>
            <a:r>
              <a:rPr lang="en-US" dirty="0" err="1"/>
              <a:t>DbContext</a:t>
            </a:r>
            <a:r>
              <a:rPr lang="en-US" dirty="0"/>
              <a:t> class</a:t>
            </a:r>
          </a:p>
          <a:p>
            <a:pPr marL="514350" indent="-514350">
              <a:buAutoNum type="arabicPeriod"/>
            </a:pPr>
            <a:r>
              <a:rPr lang="en-US" dirty="0"/>
              <a:t>Create interface with CRUD method</a:t>
            </a:r>
          </a:p>
          <a:p>
            <a:pPr marL="514350" indent="-514350">
              <a:buAutoNum type="arabicPeriod"/>
            </a:pPr>
            <a:r>
              <a:rPr lang="en-US" dirty="0"/>
              <a:t>Create Service class which will implement interface. In this class inject child of </a:t>
            </a:r>
            <a:r>
              <a:rPr lang="en-US" dirty="0" err="1"/>
              <a:t>DbContext</a:t>
            </a:r>
            <a:r>
              <a:rPr lang="en-US" dirty="0"/>
              <a:t> class reference</a:t>
            </a:r>
          </a:p>
          <a:p>
            <a:pPr marL="514350" indent="-514350">
              <a:buAutoNum type="arabicPeriod"/>
            </a:pPr>
            <a:r>
              <a:rPr lang="en-US" dirty="0"/>
              <a:t>Implement CRUD methods</a:t>
            </a:r>
          </a:p>
          <a:p>
            <a:pPr marL="514350" indent="-514350">
              <a:buAutoNum type="arabicPeriod"/>
            </a:pPr>
            <a:r>
              <a:rPr lang="en-US" dirty="0"/>
              <a:t>Put connection string  in </a:t>
            </a:r>
            <a:r>
              <a:rPr lang="en-US" dirty="0" err="1"/>
              <a:t>Appsetting.json</a:t>
            </a:r>
            <a:r>
              <a:rPr lang="en-US" dirty="0"/>
              <a:t> file</a:t>
            </a:r>
          </a:p>
          <a:p>
            <a:pPr marL="514350" indent="-514350">
              <a:buAutoNum type="arabicPeriod"/>
            </a:pPr>
            <a:r>
              <a:rPr lang="en-US" dirty="0"/>
              <a:t>Configure services in </a:t>
            </a:r>
            <a:r>
              <a:rPr lang="en-US" dirty="0" err="1"/>
              <a:t>program.cs</a:t>
            </a:r>
            <a:r>
              <a:rPr lang="en-US" dirty="0"/>
              <a:t> file</a:t>
            </a:r>
          </a:p>
          <a:p>
            <a:pPr marL="514350" indent="-514350">
              <a:buAutoNum type="arabicPeriod"/>
            </a:pPr>
            <a:r>
              <a:rPr lang="en-US" dirty="0"/>
              <a:t>Add-</a:t>
            </a:r>
            <a:r>
              <a:rPr lang="en-US" dirty="0" err="1"/>
              <a:t>Migeration</a:t>
            </a:r>
            <a:r>
              <a:rPr lang="en-US" dirty="0"/>
              <a:t> and update-Database</a:t>
            </a:r>
          </a:p>
          <a:p>
            <a:pPr marL="514350" indent="-514350">
              <a:buAutoNum type="arabicPeriod"/>
            </a:pPr>
            <a:r>
              <a:rPr lang="en-US" dirty="0"/>
              <a:t>Add controller with read write action and modify code. Call method of service class</a:t>
            </a:r>
          </a:p>
          <a:p>
            <a:pPr marL="514350" indent="-514350">
              <a:buAutoNum type="arabicPeriod"/>
            </a:pPr>
            <a:r>
              <a:rPr lang="en-US" dirty="0"/>
              <a:t>Write click on Action method and generate views.[</a:t>
            </a:r>
            <a:r>
              <a:rPr lang="en-US" dirty="0" err="1"/>
              <a:t>list,details,delete,edit</a:t>
            </a:r>
            <a:r>
              <a:rPr lang="en-US" dirty="0"/>
              <a:t>]</a:t>
            </a:r>
          </a:p>
          <a:p>
            <a:pPr marL="514350" indent="-514350">
              <a:buAutoNum type="arabicPeriod"/>
            </a:pPr>
            <a:endParaRPr lang="en-US" dirty="0"/>
          </a:p>
          <a:p>
            <a:pPr marL="514350" indent="-514350">
              <a:buAutoNum type="arabicPeriod"/>
            </a:pP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3DA0F0E-EBB5-D958-C29B-075925B55CB3}"/>
              </a:ext>
            </a:extLst>
          </p:cNvPr>
          <p:cNvSpPr txBox="1"/>
          <p:nvPr/>
        </p:nvSpPr>
        <p:spPr>
          <a:xfrm>
            <a:off x="2638011" y="168172"/>
            <a:ext cx="4180232" cy="369332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/>
              <a:t>Steps to do the MVC CRUD with Entity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161641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2174178-5E34-4D39-A300-1A86150730F1}"/>
              </a:ext>
            </a:extLst>
          </p:cNvPr>
          <p:cNvSpPr txBox="1"/>
          <p:nvPr/>
        </p:nvSpPr>
        <p:spPr>
          <a:xfrm>
            <a:off x="1946787" y="1397675"/>
            <a:ext cx="4670322" cy="2031325"/>
          </a:xfrm>
          <a:prstGeom prst="rect">
            <a:avLst/>
          </a:prstGeom>
          <a:ln w="5715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dirty="0" err="1"/>
              <a:t>Microsoft.EntityFrameworkCore</a:t>
            </a:r>
            <a:endParaRPr lang="en-IN" dirty="0"/>
          </a:p>
          <a:p>
            <a:r>
              <a:rPr lang="en-IN" dirty="0" err="1"/>
              <a:t>Microsoft.EntityFrameworkCore.SqlServer</a:t>
            </a:r>
            <a:endParaRPr lang="en-IN" dirty="0"/>
          </a:p>
          <a:p>
            <a:r>
              <a:rPr lang="en-IN" dirty="0" err="1"/>
              <a:t>Microsoft.EntityFrameworkCore.Tools</a:t>
            </a:r>
            <a:endParaRPr lang="en-IN" dirty="0"/>
          </a:p>
          <a:p>
            <a:r>
              <a:rPr lang="en-IN" dirty="0" err="1"/>
              <a:t>Microsoft.EntityFrameworkCore.Design</a:t>
            </a:r>
            <a:endParaRPr lang="en-IN" dirty="0"/>
          </a:p>
          <a:p>
            <a:r>
              <a:rPr lang="en-IN" dirty="0" err="1"/>
              <a:t>Microsoft.Extensions.Configuration.Json</a:t>
            </a:r>
            <a:endParaRPr lang="en-IN" dirty="0"/>
          </a:p>
          <a:p>
            <a:r>
              <a:rPr lang="en-IN" dirty="0"/>
              <a:t>dotnet tool install --global dotnet-</a:t>
            </a:r>
            <a:r>
              <a:rPr lang="en-IN" dirty="0" err="1"/>
              <a:t>ef</a:t>
            </a:r>
            <a:endParaRPr lang="en-IN" dirty="0"/>
          </a:p>
          <a:p>
            <a:r>
              <a:rPr lang="en-IN" dirty="0"/>
              <a:t>Dotnet </a:t>
            </a:r>
            <a:r>
              <a:rPr lang="en-IN" dirty="0" err="1"/>
              <a:t>ef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FE819B-1286-4333-B1EF-0E70992F3682}"/>
              </a:ext>
            </a:extLst>
          </p:cNvPr>
          <p:cNvSpPr txBox="1"/>
          <p:nvPr/>
        </p:nvSpPr>
        <p:spPr>
          <a:xfrm>
            <a:off x="1838632" y="275303"/>
            <a:ext cx="66662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/>
              <a:t>Dependancy</a:t>
            </a:r>
            <a:r>
              <a:rPr lang="en-IN" dirty="0"/>
              <a:t> Required for this project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4A31D6E-6492-BDF1-5BFA-DDDB5EB1B0AE}"/>
              </a:ext>
            </a:extLst>
          </p:cNvPr>
          <p:cNvSpPr txBox="1"/>
          <p:nvPr/>
        </p:nvSpPr>
        <p:spPr>
          <a:xfrm>
            <a:off x="2535461" y="4182040"/>
            <a:ext cx="6094428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Install-Package </a:t>
            </a:r>
            <a:r>
              <a:rPr kumimoji="0" lang="en-IN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Microsoft.EntityFrameworkCore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lvl="0">
              <a:defRPr/>
            </a:pPr>
            <a:r>
              <a:rPr lang="en-IN" dirty="0">
                <a:solidFill>
                  <a:prstClr val="black"/>
                </a:solidFill>
              </a:rPr>
              <a:t>Install-Package </a:t>
            </a:r>
            <a:r>
              <a:rPr lang="en-IN" dirty="0" err="1">
                <a:solidFill>
                  <a:prstClr val="black"/>
                </a:solidFill>
              </a:rPr>
              <a:t>Microsoft.EntityFrameworkCore.SqlServer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lvl="0">
              <a:defRPr/>
            </a:pPr>
            <a:r>
              <a:rPr lang="en-IN" dirty="0">
                <a:solidFill>
                  <a:prstClr val="black"/>
                </a:solidFill>
              </a:rPr>
              <a:t>Install-Package  </a:t>
            </a:r>
            <a:r>
              <a:rPr lang="en-IN" dirty="0" err="1">
                <a:solidFill>
                  <a:prstClr val="black"/>
                </a:solidFill>
              </a:rPr>
              <a:t>Microsoft.EntityFrameworkCore.Tools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lvl="0">
              <a:defRPr/>
            </a:pPr>
            <a:r>
              <a:rPr lang="en-IN" dirty="0">
                <a:solidFill>
                  <a:prstClr val="black"/>
                </a:solidFill>
              </a:rPr>
              <a:t>Install-Package  </a:t>
            </a:r>
            <a:r>
              <a:rPr lang="en-IN" dirty="0" err="1">
                <a:solidFill>
                  <a:prstClr val="black"/>
                </a:solidFill>
              </a:rPr>
              <a:t>Microsoft.EntityFrameworkCore.Design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>
              <a:defRPr/>
            </a:pPr>
            <a:endParaRPr lang="en-IN" dirty="0">
              <a:solidFill>
                <a:prstClr val="black"/>
              </a:solidFill>
            </a:endParaRPr>
          </a:p>
          <a:p>
            <a:pPr>
              <a:defRPr/>
            </a:pPr>
            <a:r>
              <a:rPr lang="en-IN" dirty="0">
                <a:solidFill>
                  <a:prstClr val="black"/>
                </a:solidFill>
              </a:rPr>
              <a:t>Install-Package  </a:t>
            </a:r>
            <a:r>
              <a:rPr lang="en-IN" dirty="0" err="1">
                <a:solidFill>
                  <a:prstClr val="black"/>
                </a:solidFill>
              </a:rPr>
              <a:t>Microsoft.Extensions.Configuration.Json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Microsoft.VisualStudio.Web.CodeGeneration.Design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D6C3F82-3F47-F023-9F71-3379EEDFB388}"/>
              </a:ext>
            </a:extLst>
          </p:cNvPr>
          <p:cNvSpPr txBox="1"/>
          <p:nvPr/>
        </p:nvSpPr>
        <p:spPr>
          <a:xfrm>
            <a:off x="8026400" y="645803"/>
            <a:ext cx="3463413" cy="341632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707070"/>
                </a:solidFill>
                <a:effectLst/>
                <a:highlight>
                  <a:srgbClr val="FFFFFF"/>
                </a:highlight>
                <a:latin typeface="Open Sans" panose="020F0502020204030204" pitchFamily="34" charset="0"/>
              </a:rPr>
              <a:t>.NET Core for developing web applications and APIs.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707070"/>
              </a:solidFill>
              <a:highlight>
                <a:srgbClr val="FFFFFF"/>
              </a:highlight>
              <a:latin typeface="Open Sans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707070"/>
                </a:solidFill>
                <a:effectLst/>
                <a:highlight>
                  <a:srgbClr val="FFFFFF"/>
                </a:highlight>
                <a:latin typeface="Open Sans" panose="020F0502020204030204" pitchFamily="34" charset="0"/>
              </a:rPr>
              <a:t>.NET Core provides the foundation and runtime for running any .NET Core application,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707070"/>
              </a:solidFill>
              <a:highlight>
                <a:srgbClr val="FFFFFF"/>
              </a:highlight>
              <a:latin typeface="Open Sans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0" i="0" dirty="0">
              <a:solidFill>
                <a:srgbClr val="707070"/>
              </a:solidFill>
              <a:effectLst/>
              <a:highlight>
                <a:srgbClr val="FFFFFF"/>
              </a:highlight>
              <a:latin typeface="Open Sans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707070"/>
                </a:solidFill>
                <a:effectLst/>
                <a:highlight>
                  <a:srgbClr val="FFFFFF"/>
                </a:highlight>
                <a:latin typeface="Open Sans" panose="020F0502020204030204" pitchFamily="34" charset="0"/>
              </a:rPr>
              <a:t>while ASP.NET Core extends .NET Core with web-specific features and tools.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110938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540317B-7CC3-57B4-4603-59131E1A1DC6}"/>
              </a:ext>
            </a:extLst>
          </p:cNvPr>
          <p:cNvSpPr txBox="1"/>
          <p:nvPr/>
        </p:nvSpPr>
        <p:spPr>
          <a:xfrm>
            <a:off x="93133" y="84666"/>
            <a:ext cx="5875867" cy="1754326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namespace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MVCEmpDept.Models</a:t>
            </a:r>
            <a:endParaRPr lang="en-IN" sz="12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2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Department</a:t>
            </a:r>
            <a:endParaRPr lang="en-IN" sz="12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{</a:t>
            </a:r>
          </a:p>
          <a:p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Id {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get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 }</a:t>
            </a:r>
          </a:p>
          <a:p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string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? Name {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get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 }</a:t>
            </a:r>
          </a:p>
          <a:p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2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ICollection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12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Employee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&gt;? Employees {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get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 }</a:t>
            </a: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</a:t>
            </a: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en-IN" sz="3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C5C33CE-DA40-08A9-3D26-9C0374EBC4D2}"/>
              </a:ext>
            </a:extLst>
          </p:cNvPr>
          <p:cNvSpPr txBox="1"/>
          <p:nvPr/>
        </p:nvSpPr>
        <p:spPr>
          <a:xfrm>
            <a:off x="93133" y="2110939"/>
            <a:ext cx="4605867" cy="300082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sz="105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using</a:t>
            </a:r>
            <a:r>
              <a:rPr lang="en-IN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05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System.ComponentModel</a:t>
            </a:r>
            <a:r>
              <a:rPr lang="en-IN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en-IN" sz="105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using</a:t>
            </a:r>
            <a:r>
              <a:rPr lang="en-IN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05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System.ComponentModel.DataAnnotations</a:t>
            </a:r>
            <a:r>
              <a:rPr lang="en-IN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endParaRPr lang="en-IN" sz="105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IN" sz="105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namespace</a:t>
            </a:r>
            <a:r>
              <a:rPr lang="en-IN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05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MVCEmpDept.Models</a:t>
            </a:r>
            <a:endParaRPr lang="en-IN" sz="105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IN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</a:p>
          <a:p>
            <a:r>
              <a:rPr lang="en-IN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IN" sz="105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IN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05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</a:t>
            </a:r>
            <a:r>
              <a:rPr lang="en-IN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05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Employee</a:t>
            </a:r>
            <a:endParaRPr lang="en-IN" sz="105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IN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{</a:t>
            </a:r>
          </a:p>
          <a:p>
            <a:r>
              <a:rPr lang="en-US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105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05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Id { </a:t>
            </a:r>
            <a:r>
              <a:rPr lang="en-US" sz="105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get</a:t>
            </a:r>
            <a:r>
              <a:rPr lang="en-US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 </a:t>
            </a:r>
            <a:r>
              <a:rPr lang="en-US" sz="105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</a:t>
            </a:r>
            <a:r>
              <a:rPr lang="en-US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 }</a:t>
            </a:r>
          </a:p>
          <a:p>
            <a:r>
              <a:rPr lang="en-IN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[</a:t>
            </a:r>
            <a:r>
              <a:rPr lang="en-IN" sz="105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Required</a:t>
            </a:r>
            <a:r>
              <a:rPr lang="en-IN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]</a:t>
            </a:r>
          </a:p>
          <a:p>
            <a:r>
              <a:rPr lang="en-IN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[</a:t>
            </a:r>
            <a:r>
              <a:rPr lang="en-IN" sz="105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DisplayName</a:t>
            </a:r>
            <a:r>
              <a:rPr lang="en-IN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IN" sz="105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"Employee Name"</a:t>
            </a:r>
            <a:r>
              <a:rPr lang="en-IN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)]</a:t>
            </a:r>
          </a:p>
          <a:p>
            <a:r>
              <a:rPr lang="en-US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</a:t>
            </a:r>
            <a:r>
              <a:rPr lang="en-US" sz="105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05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string</a:t>
            </a:r>
            <a:r>
              <a:rPr lang="en-US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? Name { </a:t>
            </a:r>
            <a:r>
              <a:rPr lang="en-US" sz="105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get</a:t>
            </a:r>
            <a:r>
              <a:rPr lang="en-US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 </a:t>
            </a:r>
            <a:r>
              <a:rPr lang="en-US" sz="105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</a:t>
            </a:r>
            <a:r>
              <a:rPr lang="en-US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 }</a:t>
            </a:r>
          </a:p>
          <a:p>
            <a:r>
              <a:rPr lang="en-IN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[</a:t>
            </a:r>
            <a:r>
              <a:rPr lang="en-IN" sz="105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Required</a:t>
            </a:r>
            <a:r>
              <a:rPr lang="en-IN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]</a:t>
            </a:r>
          </a:p>
          <a:p>
            <a:r>
              <a:rPr lang="en-IN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[</a:t>
            </a:r>
            <a:r>
              <a:rPr lang="en-IN" sz="105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DataType</a:t>
            </a:r>
            <a:r>
              <a:rPr lang="en-IN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IN" sz="105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DataType</a:t>
            </a:r>
            <a:r>
              <a:rPr lang="en-IN" sz="105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.EmailAddress</a:t>
            </a:r>
            <a:r>
              <a:rPr lang="en-IN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)]</a:t>
            </a:r>
          </a:p>
          <a:p>
            <a:r>
              <a:rPr lang="en-US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105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05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string</a:t>
            </a:r>
            <a:r>
              <a:rPr lang="en-US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? Email { </a:t>
            </a:r>
            <a:r>
              <a:rPr lang="en-US" sz="105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get</a:t>
            </a:r>
            <a:r>
              <a:rPr lang="en-US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 </a:t>
            </a:r>
            <a:r>
              <a:rPr lang="en-US" sz="105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</a:t>
            </a:r>
            <a:r>
              <a:rPr lang="en-US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 }              </a:t>
            </a:r>
          </a:p>
          <a:p>
            <a:r>
              <a:rPr lang="en-US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105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05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05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DepartmentId</a:t>
            </a:r>
            <a:r>
              <a:rPr lang="en-US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 </a:t>
            </a:r>
            <a:r>
              <a:rPr lang="en-US" sz="105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get</a:t>
            </a:r>
            <a:r>
              <a:rPr lang="en-US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 </a:t>
            </a:r>
            <a:r>
              <a:rPr lang="en-US" sz="105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</a:t>
            </a:r>
            <a:r>
              <a:rPr lang="en-US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 }</a:t>
            </a:r>
          </a:p>
          <a:p>
            <a:r>
              <a:rPr lang="en-US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105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05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Department</a:t>
            </a:r>
            <a:r>
              <a:rPr lang="en-US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? Department { </a:t>
            </a:r>
            <a:r>
              <a:rPr lang="en-US" sz="105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get</a:t>
            </a:r>
            <a:r>
              <a:rPr lang="en-US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 </a:t>
            </a:r>
            <a:r>
              <a:rPr lang="en-US" sz="105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</a:t>
            </a:r>
            <a:r>
              <a:rPr lang="en-US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 }</a:t>
            </a:r>
          </a:p>
          <a:p>
            <a:r>
              <a:rPr lang="en-IN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</a:t>
            </a:r>
          </a:p>
          <a:p>
            <a:r>
              <a:rPr lang="en-IN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63C11A57-5F7E-43C5-E517-FFE4C23DE96F}"/>
              </a:ext>
            </a:extLst>
          </p:cNvPr>
          <p:cNvSpPr/>
          <p:nvPr/>
        </p:nvSpPr>
        <p:spPr>
          <a:xfrm>
            <a:off x="59267" y="2226733"/>
            <a:ext cx="668866" cy="1430867"/>
          </a:xfrm>
          <a:custGeom>
            <a:avLst/>
            <a:gdLst>
              <a:gd name="connsiteX0" fmla="*/ 821266 w 821266"/>
              <a:gd name="connsiteY0" fmla="*/ 1414953 h 1414953"/>
              <a:gd name="connsiteX1" fmla="*/ 778933 w 821266"/>
              <a:gd name="connsiteY1" fmla="*/ 1406486 h 1414953"/>
              <a:gd name="connsiteX2" fmla="*/ 702733 w 821266"/>
              <a:gd name="connsiteY2" fmla="*/ 1364153 h 1414953"/>
              <a:gd name="connsiteX3" fmla="*/ 558800 w 821266"/>
              <a:gd name="connsiteY3" fmla="*/ 1254086 h 1414953"/>
              <a:gd name="connsiteX4" fmla="*/ 457200 w 821266"/>
              <a:gd name="connsiteY4" fmla="*/ 1160953 h 1414953"/>
              <a:gd name="connsiteX5" fmla="*/ 330200 w 821266"/>
              <a:gd name="connsiteY5" fmla="*/ 1042420 h 1414953"/>
              <a:gd name="connsiteX6" fmla="*/ 279400 w 821266"/>
              <a:gd name="connsiteY6" fmla="*/ 974686 h 1414953"/>
              <a:gd name="connsiteX7" fmla="*/ 237066 w 821266"/>
              <a:gd name="connsiteY7" fmla="*/ 923886 h 1414953"/>
              <a:gd name="connsiteX8" fmla="*/ 169333 w 821266"/>
              <a:gd name="connsiteY8" fmla="*/ 813820 h 1414953"/>
              <a:gd name="connsiteX9" fmla="*/ 135466 w 821266"/>
              <a:gd name="connsiteY9" fmla="*/ 771486 h 1414953"/>
              <a:gd name="connsiteX10" fmla="*/ 93133 w 821266"/>
              <a:gd name="connsiteY10" fmla="*/ 661420 h 1414953"/>
              <a:gd name="connsiteX11" fmla="*/ 67733 w 821266"/>
              <a:gd name="connsiteY11" fmla="*/ 627553 h 1414953"/>
              <a:gd name="connsiteX12" fmla="*/ 59266 w 821266"/>
              <a:gd name="connsiteY12" fmla="*/ 585220 h 1414953"/>
              <a:gd name="connsiteX13" fmla="*/ 33866 w 821266"/>
              <a:gd name="connsiteY13" fmla="*/ 534420 h 1414953"/>
              <a:gd name="connsiteX14" fmla="*/ 16933 w 821266"/>
              <a:gd name="connsiteY14" fmla="*/ 432820 h 1414953"/>
              <a:gd name="connsiteX15" fmla="*/ 0 w 821266"/>
              <a:gd name="connsiteY15" fmla="*/ 314286 h 1414953"/>
              <a:gd name="connsiteX16" fmla="*/ 16933 w 821266"/>
              <a:gd name="connsiteY16" fmla="*/ 102620 h 1414953"/>
              <a:gd name="connsiteX17" fmla="*/ 42333 w 821266"/>
              <a:gd name="connsiteY17" fmla="*/ 43353 h 1414953"/>
              <a:gd name="connsiteX18" fmla="*/ 67733 w 821266"/>
              <a:gd name="connsiteY18" fmla="*/ 34886 h 1414953"/>
              <a:gd name="connsiteX19" fmla="*/ 101600 w 821266"/>
              <a:gd name="connsiteY19" fmla="*/ 9486 h 1414953"/>
              <a:gd name="connsiteX20" fmla="*/ 177800 w 821266"/>
              <a:gd name="connsiteY20" fmla="*/ 1020 h 14149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821266" h="1414953">
                <a:moveTo>
                  <a:pt x="821266" y="1414953"/>
                </a:moveTo>
                <a:cubicBezTo>
                  <a:pt x="807155" y="1412131"/>
                  <a:pt x="792585" y="1411037"/>
                  <a:pt x="778933" y="1406486"/>
                </a:cubicBezTo>
                <a:cubicBezTo>
                  <a:pt x="761959" y="1400828"/>
                  <a:pt x="714673" y="1371751"/>
                  <a:pt x="702733" y="1364153"/>
                </a:cubicBezTo>
                <a:cubicBezTo>
                  <a:pt x="577617" y="1284533"/>
                  <a:pt x="748377" y="1389497"/>
                  <a:pt x="558800" y="1254086"/>
                </a:cubicBezTo>
                <a:cubicBezTo>
                  <a:pt x="436974" y="1167069"/>
                  <a:pt x="555588" y="1259341"/>
                  <a:pt x="457200" y="1160953"/>
                </a:cubicBezTo>
                <a:cubicBezTo>
                  <a:pt x="337133" y="1040886"/>
                  <a:pt x="489896" y="1223410"/>
                  <a:pt x="330200" y="1042420"/>
                </a:cubicBezTo>
                <a:cubicBezTo>
                  <a:pt x="311527" y="1021258"/>
                  <a:pt x="296836" y="996878"/>
                  <a:pt x="279400" y="974686"/>
                </a:cubicBezTo>
                <a:cubicBezTo>
                  <a:pt x="265782" y="957354"/>
                  <a:pt x="250506" y="941357"/>
                  <a:pt x="237066" y="923886"/>
                </a:cubicBezTo>
                <a:cubicBezTo>
                  <a:pt x="129973" y="784666"/>
                  <a:pt x="247511" y="936671"/>
                  <a:pt x="169333" y="813820"/>
                </a:cubicBezTo>
                <a:cubicBezTo>
                  <a:pt x="159631" y="798574"/>
                  <a:pt x="146755" y="785597"/>
                  <a:pt x="135466" y="771486"/>
                </a:cubicBezTo>
                <a:cubicBezTo>
                  <a:pt x="123278" y="734921"/>
                  <a:pt x="111666" y="695398"/>
                  <a:pt x="93133" y="661420"/>
                </a:cubicBezTo>
                <a:cubicBezTo>
                  <a:pt x="86376" y="649032"/>
                  <a:pt x="76200" y="638842"/>
                  <a:pt x="67733" y="627553"/>
                </a:cubicBezTo>
                <a:cubicBezTo>
                  <a:pt x="64911" y="613442"/>
                  <a:pt x="64184" y="598744"/>
                  <a:pt x="59266" y="585220"/>
                </a:cubicBezTo>
                <a:cubicBezTo>
                  <a:pt x="52796" y="567428"/>
                  <a:pt x="38933" y="552661"/>
                  <a:pt x="33866" y="534420"/>
                </a:cubicBezTo>
                <a:cubicBezTo>
                  <a:pt x="24677" y="501339"/>
                  <a:pt x="23667" y="466487"/>
                  <a:pt x="16933" y="432820"/>
                </a:cubicBezTo>
                <a:cubicBezTo>
                  <a:pt x="3454" y="365426"/>
                  <a:pt x="10055" y="404789"/>
                  <a:pt x="0" y="314286"/>
                </a:cubicBezTo>
                <a:cubicBezTo>
                  <a:pt x="5644" y="243731"/>
                  <a:pt x="9392" y="172998"/>
                  <a:pt x="16933" y="102620"/>
                </a:cubicBezTo>
                <a:cubicBezTo>
                  <a:pt x="18147" y="91287"/>
                  <a:pt x="37310" y="48376"/>
                  <a:pt x="42333" y="43353"/>
                </a:cubicBezTo>
                <a:cubicBezTo>
                  <a:pt x="48644" y="37042"/>
                  <a:pt x="59266" y="37708"/>
                  <a:pt x="67733" y="34886"/>
                </a:cubicBezTo>
                <a:cubicBezTo>
                  <a:pt x="79022" y="26419"/>
                  <a:pt x="89348" y="16487"/>
                  <a:pt x="101600" y="9486"/>
                </a:cubicBezTo>
                <a:cubicBezTo>
                  <a:pt x="125786" y="-4334"/>
                  <a:pt x="150859" y="1020"/>
                  <a:pt x="177800" y="1020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Isosceles Triangle 8">
            <a:extLst>
              <a:ext uri="{FF2B5EF4-FFF2-40B4-BE49-F238E27FC236}">
                <a16:creationId xmlns:a16="http://schemas.microsoft.com/office/drawing/2014/main" id="{A14935DE-8A1B-F987-3EBB-DED0F3D81390}"/>
              </a:ext>
            </a:extLst>
          </p:cNvPr>
          <p:cNvSpPr/>
          <p:nvPr/>
        </p:nvSpPr>
        <p:spPr>
          <a:xfrm rot="3053193">
            <a:off x="-46567" y="2114344"/>
            <a:ext cx="279400" cy="293594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22C80BB-EBB8-5D6F-25FF-77998BBDFF27}"/>
              </a:ext>
            </a:extLst>
          </p:cNvPr>
          <p:cNvSpPr txBox="1"/>
          <p:nvPr/>
        </p:nvSpPr>
        <p:spPr>
          <a:xfrm>
            <a:off x="4901031" y="2226733"/>
            <a:ext cx="7197836" cy="283923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sz="105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using</a:t>
            </a:r>
            <a:r>
              <a:rPr lang="en-IN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05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Microsoft.EntityFrameworkCore</a:t>
            </a:r>
            <a:r>
              <a:rPr lang="en-IN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en-IN" sz="105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using</a:t>
            </a:r>
            <a:r>
              <a:rPr lang="en-IN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05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MVCEmpDept.Models</a:t>
            </a:r>
            <a:r>
              <a:rPr lang="en-IN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endParaRPr lang="en-IN" sz="105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IN" sz="105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namespace</a:t>
            </a:r>
            <a:r>
              <a:rPr lang="en-IN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05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MVCEmpDept.Repository</a:t>
            </a:r>
            <a:endParaRPr lang="en-IN" sz="105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IN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</a:p>
          <a:p>
            <a:r>
              <a:rPr lang="en-IN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IN" sz="105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IN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05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</a:t>
            </a:r>
            <a:r>
              <a:rPr lang="en-IN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05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AppdbContextRepository</a:t>
            </a:r>
            <a:r>
              <a:rPr lang="en-IN" sz="105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</a:t>
            </a:r>
            <a:r>
              <a:rPr lang="en-IN" sz="105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DbContext</a:t>
            </a:r>
            <a:endParaRPr lang="en-IN" sz="105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IN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{</a:t>
            </a:r>
          </a:p>
          <a:p>
            <a:r>
              <a:rPr lang="en-IN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IN" sz="105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IN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05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AppdbContextRepository</a:t>
            </a:r>
            <a:r>
              <a:rPr lang="en-IN" sz="105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IN" sz="105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DbContextOptions</a:t>
            </a:r>
            <a:r>
              <a:rPr lang="en-IN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IN" sz="105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AppdbContextRepository</a:t>
            </a:r>
            <a:r>
              <a:rPr lang="en-IN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 options)</a:t>
            </a:r>
          </a:p>
          <a:p>
            <a:r>
              <a:rPr lang="en-IN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: </a:t>
            </a:r>
            <a:r>
              <a:rPr lang="en-IN" sz="105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base</a:t>
            </a:r>
            <a:r>
              <a:rPr lang="en-IN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(options)</a:t>
            </a:r>
          </a:p>
          <a:p>
            <a:r>
              <a:rPr lang="en-IN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{</a:t>
            </a:r>
          </a:p>
          <a:p>
            <a:r>
              <a:rPr lang="en-IN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}</a:t>
            </a:r>
          </a:p>
          <a:p>
            <a:endParaRPr lang="en-IN" sz="105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105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05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DbSet</a:t>
            </a:r>
            <a:r>
              <a:rPr lang="en-US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105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Employee</a:t>
            </a:r>
            <a:r>
              <a:rPr lang="en-US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 Employee { </a:t>
            </a:r>
            <a:r>
              <a:rPr lang="en-US" sz="105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get</a:t>
            </a:r>
            <a:r>
              <a:rPr lang="en-US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 </a:t>
            </a:r>
            <a:r>
              <a:rPr lang="en-US" sz="105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</a:t>
            </a:r>
            <a:r>
              <a:rPr lang="en-US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 }</a:t>
            </a:r>
          </a:p>
          <a:p>
            <a:r>
              <a:rPr lang="en-US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105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05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DbSet</a:t>
            </a:r>
            <a:r>
              <a:rPr lang="en-US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105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Department</a:t>
            </a:r>
            <a:r>
              <a:rPr lang="en-US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 Department { </a:t>
            </a:r>
            <a:r>
              <a:rPr lang="en-US" sz="105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get</a:t>
            </a:r>
            <a:r>
              <a:rPr lang="en-US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 </a:t>
            </a:r>
            <a:r>
              <a:rPr lang="en-US" sz="105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</a:t>
            </a:r>
            <a:r>
              <a:rPr lang="en-US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 }</a:t>
            </a:r>
          </a:p>
          <a:p>
            <a:endParaRPr lang="en-IN" sz="105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IN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</a:t>
            </a:r>
          </a:p>
          <a:p>
            <a:r>
              <a:rPr lang="en-IN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6907954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FC11762-E1C7-1D6B-5BED-36FA000FC2B4}"/>
              </a:ext>
            </a:extLst>
          </p:cNvPr>
          <p:cNvSpPr txBox="1"/>
          <p:nvPr/>
        </p:nvSpPr>
        <p:spPr>
          <a:xfrm>
            <a:off x="186266" y="142755"/>
            <a:ext cx="3776134" cy="216982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using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MVCEmpDept.Models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endParaRPr lang="en-IN" sz="9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IN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namespace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MVCEmpDept.Service</a:t>
            </a:r>
            <a:endParaRPr lang="en-IN" sz="9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IN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interface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9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IEmployeeService</a:t>
            </a:r>
            <a:endParaRPr lang="en-IN" sz="9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{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IN" sz="9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Employee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? </a:t>
            </a:r>
            <a:r>
              <a:rPr lang="en-IN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GetEmployee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IN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Id);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IN" sz="9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IEnumerable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IN" sz="9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Employee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 </a:t>
            </a:r>
            <a:r>
              <a:rPr lang="en-IN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GetAllEmployee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();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IN" sz="9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Employee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Add(</a:t>
            </a:r>
            <a:r>
              <a:rPr lang="en-IN" sz="9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Employee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employee);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IN" sz="9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Employee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Update(</a:t>
            </a:r>
            <a:r>
              <a:rPr lang="en-IN" sz="9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Employee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employeeChanges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IN" sz="9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Employee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? Delete(</a:t>
            </a:r>
            <a:r>
              <a:rPr lang="en-IN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Id);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IN" sz="9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IEnumerable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IN" sz="9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Department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 </a:t>
            </a:r>
            <a:r>
              <a:rPr lang="en-IN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GetAllDepartment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();</a:t>
            </a:r>
          </a:p>
          <a:p>
            <a:endParaRPr lang="en-IN" sz="9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8430080-2FD7-0640-E3C0-B795FA8F4449}"/>
              </a:ext>
            </a:extLst>
          </p:cNvPr>
          <p:cNvSpPr txBox="1"/>
          <p:nvPr/>
        </p:nvSpPr>
        <p:spPr>
          <a:xfrm>
            <a:off x="6002866" y="0"/>
            <a:ext cx="7213600" cy="6370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using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Microsoft.EntityFrameworkCore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using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MVCEmpDept.Models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using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MVCEmpDept.Repository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endParaRPr lang="en-IN" sz="12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namespace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MVCEmpDept.Service</a:t>
            </a:r>
            <a:endParaRPr lang="en-IN" sz="12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2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SqlEmployeeService</a:t>
            </a:r>
            <a:r>
              <a:rPr lang="en-IN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</a:t>
            </a:r>
            <a:r>
              <a:rPr lang="en-IN" sz="12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IEmployeeService</a:t>
            </a:r>
            <a:endParaRPr lang="en-IN" sz="12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{</a:t>
            </a: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</a:t>
            </a: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private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2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readonly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2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AppdbContextRepository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context;</a:t>
            </a: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2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SqlEmployeeService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IN" sz="12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AppdbContextRepository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context)</a:t>
            </a: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{</a:t>
            </a: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en-IN" sz="12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this</a:t>
            </a:r>
            <a:r>
              <a:rPr lang="en-IN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.context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context;</a:t>
            </a: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}</a:t>
            </a:r>
          </a:p>
          <a:p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2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Employee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Add(</a:t>
            </a:r>
            <a:r>
              <a:rPr lang="en-US" sz="12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Employee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employee)</a:t>
            </a: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{</a:t>
            </a: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en-IN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context.Employee.Add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(employee);</a:t>
            </a: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en-IN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context.SaveChanges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();</a:t>
            </a: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employee;</a:t>
            </a: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}</a:t>
            </a:r>
          </a:p>
          <a:p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2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Employee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? Delete(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Id)</a:t>
            </a: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{</a:t>
            </a:r>
          </a:p>
          <a:p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en-US" sz="12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Employee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? employee = 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context.Employee.Find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(Id);</a:t>
            </a: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if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(employee != </a:t>
            </a: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null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{</a:t>
            </a: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en-IN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context.Employee.Remove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(employee);</a:t>
            </a: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</a:t>
            </a:r>
            <a:r>
              <a:rPr lang="en-IN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context.SaveChanges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();</a:t>
            </a: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}</a:t>
            </a: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employee;</a:t>
            </a: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}</a:t>
            </a: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2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IEnumerable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IN" sz="12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Department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 </a:t>
            </a:r>
            <a:r>
              <a:rPr lang="en-IN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GetAllDepartment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</a:t>
            </a: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{</a:t>
            </a: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context.Department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}</a:t>
            </a: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5369543-A85F-C392-B6D5-BFA7CEBEEB59}"/>
              </a:ext>
            </a:extLst>
          </p:cNvPr>
          <p:cNvSpPr txBox="1"/>
          <p:nvPr/>
        </p:nvSpPr>
        <p:spPr>
          <a:xfrm>
            <a:off x="-101600" y="2749307"/>
            <a:ext cx="10160000" cy="43165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public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2B91A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IEnumerable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&lt;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2B91A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Employee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&gt; 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GetAllEmployee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()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        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           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return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context.Employee.Include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&lt;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B91A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Employee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&gt;(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"Department"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        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public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B91A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Employee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?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GetEmployee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(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int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Id)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        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sz="12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//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8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context.Employee.Find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(Id);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FFFF"/>
              </a:highlight>
              <a:uLnTx/>
              <a:uFillTx/>
              <a:latin typeface="Cascadia Mono" panose="020B06090200000200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2B91A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Employee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e= 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context.Employee.Include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(e =&gt; 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e.Department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).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FirstOrDefault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(m =&gt; 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m.Id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== Id);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FFFF"/>
              </a:highlight>
              <a:uLnTx/>
              <a:uFillTx/>
              <a:latin typeface="Cascadia Mono" panose="020B06090200000200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        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return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e;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        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   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public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B91A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Employee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Update(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B91A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Employee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employeeChanges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        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     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context.Entry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(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employeeChanges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).State =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2B91A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EntityState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.Modified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             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context.Update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(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employeeChanges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            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context.SaveChanges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();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            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return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employeeChanges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        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 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}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838344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70E657E-2063-41E2-82C1-AE92EE1ED66A}"/>
              </a:ext>
            </a:extLst>
          </p:cNvPr>
          <p:cNvSpPr txBox="1"/>
          <p:nvPr/>
        </p:nvSpPr>
        <p:spPr>
          <a:xfrm>
            <a:off x="0" y="135467"/>
            <a:ext cx="9525000" cy="74328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9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EmployeeController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: </a:t>
            </a:r>
            <a:r>
              <a:rPr lang="en-IN" sz="9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Controller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IN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private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9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IEmployeeService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_</a:t>
            </a:r>
            <a:r>
              <a:rPr lang="en-IN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employeeRepository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private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9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readonly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9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ILogger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9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EmployeeController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 _logger;</a:t>
            </a:r>
          </a:p>
          <a:p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9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EmployeeController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9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IEmployeeService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employeeRepository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9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ILogger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9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EmployeeController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 _logger)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{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_</a:t>
            </a:r>
            <a:r>
              <a:rPr lang="en-IN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employeeRepository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en-IN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employeeRepository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IN" sz="9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this</a:t>
            </a:r>
            <a:r>
              <a:rPr lang="en-IN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._logger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_logger;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IN" sz="9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//DI in Method</a:t>
            </a:r>
          </a:p>
          <a:p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9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//you will get serialization error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IN" sz="9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//add code in </a:t>
            </a:r>
            <a:r>
              <a:rPr lang="en-IN" sz="900" dirty="0" err="1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program.cs</a:t>
            </a:r>
            <a:endParaRPr lang="en-IN" sz="900" dirty="0">
              <a:solidFill>
                <a:srgbClr val="008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</a:t>
            </a:r>
            <a:r>
              <a:rPr lang="en-US" sz="9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IActionResult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Display([</a:t>
            </a:r>
            <a:r>
              <a:rPr lang="en-US" sz="9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FromServices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] </a:t>
            </a:r>
            <a:r>
              <a:rPr lang="en-US" sz="9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IEmployeeService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es)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{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IN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var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model = </a:t>
            </a:r>
            <a:r>
              <a:rPr lang="en-IN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es.GetAllEmployee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();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IN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900" dirty="0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Json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(model);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IN" sz="9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//DI in View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IN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9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ActionResult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Dispview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{ 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IN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View();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IN" sz="9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GET: </a:t>
            </a:r>
            <a:r>
              <a:rPr lang="en-IN" sz="900" dirty="0" err="1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EmployeeController</a:t>
            </a:r>
            <a:endParaRPr lang="en-IN" sz="900" dirty="0">
              <a:solidFill>
                <a:srgbClr val="008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IN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9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ActionResult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Index()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{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_</a:t>
            </a:r>
            <a:r>
              <a:rPr lang="en-IN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logger.LogInformation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IN" sz="9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"Getting emp details"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endParaRPr lang="en-IN" sz="9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IN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var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model = _</a:t>
            </a:r>
            <a:r>
              <a:rPr lang="en-IN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employeeRepository.GetAllEmployee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();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IN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View(model);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IN" sz="9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GET: </a:t>
            </a:r>
            <a:r>
              <a:rPr lang="en-IN" sz="900" dirty="0" err="1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EmployeeController</a:t>
            </a:r>
            <a:r>
              <a:rPr lang="en-IN" sz="9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/Details/5</a:t>
            </a:r>
          </a:p>
          <a:p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9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ActionResult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Details(</a:t>
            </a:r>
            <a:r>
              <a:rPr lang="en-US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id)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{</a:t>
            </a:r>
          </a:p>
          <a:p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var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model = _</a:t>
            </a:r>
            <a:r>
              <a:rPr lang="en-US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employeeRepository.GetEmployee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(id);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IN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if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(model == </a:t>
            </a:r>
            <a:r>
              <a:rPr lang="en-IN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null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{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IN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Response.StatusCode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404;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IN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View(</a:t>
            </a:r>
            <a:r>
              <a:rPr lang="en-IN" sz="9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"Error"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IN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new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9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ErrorViewModel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 </a:t>
            </a:r>
            <a:r>
              <a:rPr lang="en-IN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RequestId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en-IN" sz="9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Activity</a:t>
            </a:r>
            <a:r>
              <a:rPr lang="en-IN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.Current?.Id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?? </a:t>
            </a:r>
            <a:r>
              <a:rPr lang="en-IN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HttpContext.TraceIdentifier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});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}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IN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View(model);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IN" sz="9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GET: </a:t>
            </a:r>
            <a:r>
              <a:rPr lang="en-IN" sz="900" dirty="0" err="1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EmployeeController</a:t>
            </a:r>
            <a:r>
              <a:rPr lang="en-IN" sz="9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/Create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IN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9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ActionResult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Create()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{</a:t>
            </a:r>
          </a:p>
          <a:p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9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IEnumerable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9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Department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 </a:t>
            </a:r>
            <a:r>
              <a:rPr lang="en-US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DepartmentName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 _</a:t>
            </a:r>
            <a:r>
              <a:rPr lang="en-US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employeeRepository.GetAllDepartment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();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</a:t>
            </a:r>
          </a:p>
          <a:p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ViewData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[</a:t>
            </a:r>
            <a:r>
              <a:rPr lang="en-US" sz="9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en-US" sz="9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DepartmentId</a:t>
            </a:r>
            <a:r>
              <a:rPr lang="en-US" sz="9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] = </a:t>
            </a:r>
            <a:r>
              <a:rPr lang="en-US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new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9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SelectList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DepartmentName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US" sz="9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"Id"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US" sz="9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"Name"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IN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View();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B23DFE6-A097-72A2-8D7B-C1CD5D604C5D}"/>
              </a:ext>
            </a:extLst>
          </p:cNvPr>
          <p:cNvSpPr txBox="1"/>
          <p:nvPr/>
        </p:nvSpPr>
        <p:spPr>
          <a:xfrm>
            <a:off x="5884333" y="135467"/>
            <a:ext cx="6248399" cy="62324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// POST: </a:t>
            </a:r>
            <a:r>
              <a:rPr kumimoji="0" lang="en-IN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8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EmployeeController</a:t>
            </a:r>
            <a:r>
              <a:rPr kumimoji="0" lang="en-IN" sz="10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/Create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[</a:t>
            </a:r>
            <a:r>
              <a:rPr kumimoji="0" lang="en-IN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2B91A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HttpPost</a:t>
            </a:r>
            <a:r>
              <a:rPr kumimoji="0" lang="en-I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[</a:t>
            </a:r>
            <a:r>
              <a:rPr kumimoji="0" lang="en-IN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2B91A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ValidateAntiForgeryToken</a:t>
            </a:r>
            <a:r>
              <a:rPr kumimoji="0" lang="en-I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public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</a:t>
            </a:r>
            <a:r>
              <a:rPr kumimoji="0" 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2B91A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ActionResult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Create(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B91A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Employee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employee)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    </a:t>
            </a:r>
            <a:r>
              <a:rPr kumimoji="0" 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2B91A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IEnumerable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&lt;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B91A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Department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&gt; </a:t>
            </a:r>
            <a:r>
              <a:rPr kumimoji="0" 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DepartmentName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= _</a:t>
            </a:r>
            <a:r>
              <a:rPr kumimoji="0" 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employeeRepository.GetAllDepartment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();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    </a:t>
            </a:r>
            <a:r>
              <a:rPr kumimoji="0" lang="en-IN" sz="1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try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    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        </a:t>
            </a:r>
            <a:r>
              <a:rPr kumimoji="0" lang="en-IN" sz="1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if</a:t>
            </a:r>
            <a:r>
              <a:rPr kumimoji="0" lang="en-I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(!</a:t>
            </a:r>
            <a:r>
              <a:rPr kumimoji="0" lang="en-IN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ModelState.IsValid</a:t>
            </a:r>
            <a:r>
              <a:rPr kumimoji="0" lang="en-I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        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           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var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model = _</a:t>
            </a:r>
            <a:r>
              <a:rPr kumimoji="0" 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employeeRepository.Add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(employee);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            </a:t>
            </a:r>
            <a:r>
              <a:rPr kumimoji="0" lang="en-IN" sz="1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return</a:t>
            </a:r>
            <a:r>
              <a:rPr kumimoji="0" lang="en-I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</a:t>
            </a:r>
            <a:r>
              <a:rPr kumimoji="0" lang="en-IN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RedirectToAction</a:t>
            </a:r>
            <a:r>
              <a:rPr kumimoji="0" lang="en-I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(</a:t>
            </a:r>
            <a:r>
              <a:rPr kumimoji="0" lang="en-IN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nameof</a:t>
            </a:r>
            <a:r>
              <a:rPr kumimoji="0" lang="en-I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(Index));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        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       </a:t>
            </a:r>
            <a:r>
              <a:rPr kumimoji="0" 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ViewData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[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"</a:t>
            </a:r>
            <a:r>
              <a:rPr kumimoji="0" 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A31515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DepartmentId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"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] =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new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</a:t>
            </a:r>
            <a:r>
              <a:rPr kumimoji="0" 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2B91A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SelectList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(</a:t>
            </a:r>
            <a:r>
              <a:rPr kumimoji="0" 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DepartmentName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,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"Id"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,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"Name"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, </a:t>
            </a:r>
            <a:r>
              <a:rPr kumimoji="0" 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employee.DepartmentId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        </a:t>
            </a:r>
            <a:r>
              <a:rPr kumimoji="0" lang="en-IN" sz="1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return</a:t>
            </a:r>
            <a:r>
              <a:rPr kumimoji="0" lang="en-I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View(employee);            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    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    </a:t>
            </a:r>
            <a:r>
              <a:rPr kumimoji="0" lang="en-IN" sz="1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catch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    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        </a:t>
            </a:r>
            <a:r>
              <a:rPr kumimoji="0" lang="en-IN" sz="1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return</a:t>
            </a:r>
            <a:r>
              <a:rPr kumimoji="0" lang="en-I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View(employee);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    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public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</a:t>
            </a:r>
            <a:r>
              <a:rPr kumimoji="0" 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2B91A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ActionResult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Edit(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int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id)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   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var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model = _</a:t>
            </a:r>
            <a:r>
              <a:rPr kumimoji="0" 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employeeRepository.GetEmployee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(id);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FFFF"/>
              </a:highlight>
              <a:uLnTx/>
              <a:uFillTx/>
              <a:latin typeface="Cascadia Mono" panose="020B06090200000200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    </a:t>
            </a:r>
            <a:r>
              <a:rPr kumimoji="0" lang="en-IN" sz="1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if</a:t>
            </a:r>
            <a:r>
              <a:rPr kumimoji="0" lang="en-I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(model == </a:t>
            </a:r>
            <a:r>
              <a:rPr kumimoji="0" lang="en-IN" sz="1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null</a:t>
            </a:r>
            <a:r>
              <a:rPr kumimoji="0" lang="en-I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        </a:t>
            </a:r>
            <a:r>
              <a:rPr kumimoji="0" lang="en-IN" sz="1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throw</a:t>
            </a:r>
            <a:r>
              <a:rPr kumimoji="0" lang="en-I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</a:t>
            </a:r>
            <a:r>
              <a:rPr kumimoji="0" lang="en-IN" sz="1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new</a:t>
            </a:r>
            <a:r>
              <a:rPr kumimoji="0" lang="en-I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</a:t>
            </a:r>
            <a:r>
              <a:rPr kumimoji="0" lang="en-IN" sz="1000" b="0" i="0" u="none" strike="noStrike" kern="1200" cap="none" spc="0" normalizeH="0" baseline="0" noProof="0" dirty="0">
                <a:ln>
                  <a:noFill/>
                </a:ln>
                <a:solidFill>
                  <a:srgbClr val="2B91A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Exception</a:t>
            </a:r>
            <a:r>
              <a:rPr kumimoji="0" lang="en-I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();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FFFF"/>
              </a:highlight>
              <a:uLnTx/>
              <a:uFillTx/>
              <a:latin typeface="Cascadia Mono" panose="020B06090200000200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    </a:t>
            </a:r>
            <a:r>
              <a:rPr kumimoji="0" 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2B91A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IEnumerable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&lt;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B91A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Department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&gt; </a:t>
            </a:r>
            <a:r>
              <a:rPr kumimoji="0" 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DepartmentName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= _</a:t>
            </a:r>
            <a:r>
              <a:rPr kumimoji="0" 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employeeRepository.GetAllDepartment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();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FFFF"/>
              </a:highlight>
              <a:uLnTx/>
              <a:uFillTx/>
              <a:latin typeface="Cascadia Mono" panose="020B06090200000200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    </a:t>
            </a:r>
            <a:r>
              <a:rPr kumimoji="0" 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ViewData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[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"</a:t>
            </a:r>
            <a:r>
              <a:rPr kumimoji="0" 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A31515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DepartmentId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"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] =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new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</a:t>
            </a:r>
            <a:r>
              <a:rPr kumimoji="0" 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2B91A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SelectList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(</a:t>
            </a:r>
            <a:r>
              <a:rPr kumimoji="0" 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DepartmentName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,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"Id"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,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"Name"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, </a:t>
            </a:r>
            <a:r>
              <a:rPr kumimoji="0" 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model.DepartmentId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FFFF"/>
              </a:highlight>
              <a:uLnTx/>
              <a:uFillTx/>
              <a:latin typeface="Cascadia Mono" panose="020B06090200000200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    </a:t>
            </a:r>
            <a:r>
              <a:rPr kumimoji="0" lang="en-IN" sz="1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return</a:t>
            </a:r>
            <a:r>
              <a:rPr kumimoji="0" lang="en-I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View(model);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FFFF"/>
              </a:highlight>
              <a:uLnTx/>
              <a:uFillTx/>
              <a:latin typeface="Cascadia Mono" panose="020B06090200000200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FFFF"/>
              </a:highlight>
              <a:uLnTx/>
              <a:uFillTx/>
              <a:latin typeface="Cascadia Mono" panose="020B0609020000020004" pitchFamily="49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966055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0ABB310-19BD-C0AA-F097-70F87584BCBA}"/>
              </a:ext>
            </a:extLst>
          </p:cNvPr>
          <p:cNvSpPr txBox="1"/>
          <p:nvPr/>
        </p:nvSpPr>
        <p:spPr>
          <a:xfrm>
            <a:off x="465666" y="-20806"/>
            <a:ext cx="6096000" cy="68788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FFFF"/>
              </a:highlight>
              <a:uLnTx/>
              <a:uFillTx/>
              <a:latin typeface="Cascadia Mono" panose="020B06090200000200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// POST: </a:t>
            </a:r>
            <a:r>
              <a:rPr kumimoji="0" lang="en-IN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8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EmployeeController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/Edit/5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[</a:t>
            </a:r>
            <a:r>
              <a:rPr kumimoji="0" lang="en-IN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2B91A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HttpPost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[</a:t>
            </a:r>
            <a:r>
              <a:rPr kumimoji="0" lang="en-IN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2B91A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ValidateAntiForgeryToken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public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</a:t>
            </a:r>
            <a:r>
              <a:rPr kumimoji="0" lang="en-US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2B91A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ActionResult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Edit(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2B91A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Employee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emp)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    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if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(</a:t>
            </a:r>
            <a:r>
              <a:rPr kumimoji="0" lang="en-IN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ModelState.IsValid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    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        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try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        { 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var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model = _</a:t>
            </a:r>
            <a:r>
              <a:rPr kumimoji="0" lang="en-IN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employeeRepository.Update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(emp);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            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return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</a:t>
            </a:r>
            <a:r>
              <a:rPr kumimoji="0" lang="en-IN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RedirectToAction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(</a:t>
            </a:r>
            <a:r>
              <a:rPr kumimoji="0" lang="en-IN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nameof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(Index));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        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        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catch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        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            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return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View(emp);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        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    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    </a:t>
            </a:r>
            <a:r>
              <a:rPr kumimoji="0" lang="en-US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2B91A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IEnumerable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&lt;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2B91A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Department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&gt; </a:t>
            </a:r>
            <a:r>
              <a:rPr kumimoji="0" lang="en-US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DepartmentName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= _</a:t>
            </a:r>
            <a:r>
              <a:rPr kumimoji="0" lang="en-US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employeeRepository.GetAllDepartment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();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    </a:t>
            </a:r>
            <a:r>
              <a:rPr kumimoji="0" lang="en-US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ViewData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[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"</a:t>
            </a:r>
            <a:r>
              <a:rPr kumimoji="0" lang="en-US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A31515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DepartmentId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"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] = 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new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</a:t>
            </a:r>
            <a:r>
              <a:rPr kumimoji="0" lang="en-US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2B91A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SelectList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(</a:t>
            </a:r>
            <a:r>
              <a:rPr kumimoji="0" lang="en-US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DepartmentName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, 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"Id"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, 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"Name"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, </a:t>
            </a:r>
            <a:r>
              <a:rPr kumimoji="0" lang="en-US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emp.DepartmentId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    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return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View(emp);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FFFF"/>
              </a:highlight>
              <a:uLnTx/>
              <a:uFillTx/>
              <a:latin typeface="Cascadia Mono" panose="020B06090200000200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// GET: </a:t>
            </a:r>
            <a:r>
              <a:rPr kumimoji="0" lang="en-IN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8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EmployeeController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/Delete/5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public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</a:t>
            </a:r>
            <a:r>
              <a:rPr kumimoji="0" lang="en-US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2B91A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ActionResult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Delete(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int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id)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    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var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model = _</a:t>
            </a:r>
            <a:r>
              <a:rPr kumimoji="0" lang="en-US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employeeRepository.GetEmployee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(id);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    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if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(model==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null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        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return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</a:t>
            </a:r>
            <a:r>
              <a:rPr kumimoji="0" lang="en-IN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NotFound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();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    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return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View(model);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FFFF"/>
              </a:highlight>
              <a:uLnTx/>
              <a:uFillTx/>
              <a:latin typeface="Cascadia Mono" panose="020B06090200000200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FFFF"/>
              </a:highlight>
              <a:uLnTx/>
              <a:uFillTx/>
              <a:latin typeface="Cascadia Mono" panose="020B06090200000200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// POST: </a:t>
            </a:r>
            <a:r>
              <a:rPr kumimoji="0" lang="en-IN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8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EmployeeController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/Delete/5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[</a:t>
            </a:r>
            <a:r>
              <a:rPr kumimoji="0" lang="en-IN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2B91A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HttpPost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[</a:t>
            </a:r>
            <a:r>
              <a:rPr kumimoji="0" lang="en-IN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2B91A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ActionName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(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"Delete"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)]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[</a:t>
            </a:r>
            <a:r>
              <a:rPr kumimoji="0" lang="en-IN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2B91A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ValidateAntiForgeryToken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public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</a:t>
            </a:r>
            <a:r>
              <a:rPr kumimoji="0" lang="en-US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2B91A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ActionResult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</a:t>
            </a:r>
            <a:r>
              <a:rPr kumimoji="0" lang="en-US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DeleteData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(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int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id)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    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try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    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        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var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model = _</a:t>
            </a:r>
            <a:r>
              <a:rPr kumimoji="0" lang="en-IN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employeeRepository.Delete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(id);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        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return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</a:t>
            </a:r>
            <a:r>
              <a:rPr kumimoji="0" lang="en-IN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RedirectToAction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(</a:t>
            </a:r>
            <a:r>
              <a:rPr kumimoji="0" lang="en-IN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nameof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(Index));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    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    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catch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    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        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return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View();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    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}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7F12417-5A00-E993-AB7F-ADE7D08C3D08}"/>
              </a:ext>
            </a:extLst>
          </p:cNvPr>
          <p:cNvSpPr txBox="1"/>
          <p:nvPr/>
        </p:nvSpPr>
        <p:spPr>
          <a:xfrm>
            <a:off x="6248400" y="0"/>
            <a:ext cx="6096000" cy="729430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9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Program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</a:p>
          <a:p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static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void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Main(</a:t>
            </a:r>
            <a:r>
              <a:rPr lang="en-US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string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[] </a:t>
            </a:r>
            <a:r>
              <a:rPr lang="en-US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args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{</a:t>
            </a:r>
          </a:p>
          <a:p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var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builder = </a:t>
            </a:r>
            <a:r>
              <a:rPr lang="en-US" sz="9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WebApplication</a:t>
            </a:r>
            <a:r>
              <a:rPr lang="en-US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.CreateBuilder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args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endParaRPr lang="en-IN" sz="9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9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Add services to the container.</a:t>
            </a:r>
          </a:p>
          <a:p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</a:t>
            </a:r>
            <a:r>
              <a:rPr lang="en-US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builder.Services.AddControllersWithViews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().</a:t>
            </a:r>
            <a:r>
              <a:rPr lang="en-US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AddJsonOptions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(options =&gt; 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IN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options.JsonSerializerOptions.ReferenceHandler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en-IN" sz="9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ReferenceHandler</a:t>
            </a:r>
            <a:r>
              <a:rPr lang="en-IN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.IgnoreCycles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endParaRPr lang="en-IN" sz="9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IN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builder.Services.AddDbContextPool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IN" sz="9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AppdbContextRepository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&gt;(</a:t>
            </a:r>
          </a:p>
          <a:p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options =&gt; </a:t>
            </a:r>
            <a:r>
              <a:rPr lang="en-US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options.UseSqlServer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builder.Configuration.GetConnectionString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9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en-US" sz="9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EmployeeDBConnection</a:t>
            </a:r>
            <a:r>
              <a:rPr lang="en-US" sz="9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))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);           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</a:t>
            </a:r>
          </a:p>
          <a:p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builder.Services.AddScoped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9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IEmployeeService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US" sz="9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SqlEmployeeService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&gt;();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</a:t>
            </a:r>
          </a:p>
          <a:p>
            <a:endParaRPr lang="en-IN" sz="9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IN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var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app = </a:t>
            </a:r>
            <a:r>
              <a:rPr lang="en-IN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builder.Build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();</a:t>
            </a:r>
          </a:p>
          <a:p>
            <a:endParaRPr lang="en-IN" sz="9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9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Configure the HTTP request pipeline.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IN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if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(!</a:t>
            </a:r>
            <a:r>
              <a:rPr lang="en-IN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app.Environment.IsDevelopment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())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{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IN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app.UseExceptionHandler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IN" sz="9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"/Home/Error"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US" sz="9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The default HSTS value is 30 days. You may want to change this for production scenarios, see https://aka.ms/aspnetcore-hsts.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IN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app.UseHsts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();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}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IN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else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{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</a:t>
            </a:r>
            <a:r>
              <a:rPr lang="en-IN" sz="9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  </a:t>
            </a:r>
            <a:r>
              <a:rPr lang="en-IN" sz="900" dirty="0" err="1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app.UseStatusCodePages</a:t>
            </a:r>
            <a:r>
              <a:rPr lang="en-IN" sz="9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();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</a:t>
            </a:r>
            <a:r>
              <a:rPr lang="en-IN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app.UseStatusCodePagesWithRedirects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IN" sz="9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"/Home/Error/{0}"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endParaRPr lang="en-IN" sz="9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}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IN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app.UseMiddleware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IN" sz="9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ExceptionHandlingMiddleware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&gt;();</a:t>
            </a:r>
          </a:p>
          <a:p>
            <a:endParaRPr lang="en-IN" sz="9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IN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app.UseHttpsRedirection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();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IN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app.UseStaticFiles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();</a:t>
            </a:r>
          </a:p>
          <a:p>
            <a:endParaRPr lang="en-IN" sz="9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IN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app.UseRouting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();</a:t>
            </a:r>
          </a:p>
          <a:p>
            <a:endParaRPr lang="en-IN" sz="9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IN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app.UseAuthorization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();</a:t>
            </a:r>
          </a:p>
          <a:p>
            <a:endParaRPr lang="en-IN" sz="9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IN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app.MapControllerRoute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name: </a:t>
            </a:r>
            <a:r>
              <a:rPr lang="en-IN" sz="9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"default"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pattern: </a:t>
            </a:r>
            <a:r>
              <a:rPr lang="en-IN" sz="9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en-IN" sz="900" dirty="0">
                <a:solidFill>
                  <a:srgbClr val="0073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controller</a:t>
            </a:r>
            <a:r>
              <a:rPr lang="en-IN" sz="900" dirty="0">
                <a:solidFill>
                  <a:srgbClr val="0073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IN" sz="9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Employee</a:t>
            </a:r>
            <a:r>
              <a:rPr lang="en-IN" sz="900" dirty="0">
                <a:solidFill>
                  <a:srgbClr val="0073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r>
              <a:rPr lang="en-IN" sz="9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</a:t>
            </a:r>
            <a:r>
              <a:rPr lang="en-IN" sz="900" dirty="0">
                <a:solidFill>
                  <a:srgbClr val="0073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action</a:t>
            </a:r>
            <a:r>
              <a:rPr lang="en-IN" sz="900" dirty="0">
                <a:solidFill>
                  <a:srgbClr val="0073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IN" sz="9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Index</a:t>
            </a:r>
            <a:r>
              <a:rPr lang="en-IN" sz="900" dirty="0">
                <a:solidFill>
                  <a:srgbClr val="0073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r>
              <a:rPr lang="en-IN" sz="9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</a:t>
            </a:r>
            <a:r>
              <a:rPr lang="en-IN" sz="900" dirty="0">
                <a:solidFill>
                  <a:srgbClr val="0073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</a:t>
            </a:r>
            <a:r>
              <a:rPr lang="en-IN" sz="900" dirty="0">
                <a:solidFill>
                  <a:srgbClr val="FF00C1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?</a:t>
            </a:r>
            <a:r>
              <a:rPr lang="en-IN" sz="900" dirty="0">
                <a:solidFill>
                  <a:srgbClr val="0073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r>
              <a:rPr lang="en-IN" sz="9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IN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app.Run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();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887111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53F5CF8-84B1-0E87-FDAF-6928C4AB2177}"/>
              </a:ext>
            </a:extLst>
          </p:cNvPr>
          <p:cNvSpPr txBox="1"/>
          <p:nvPr/>
        </p:nvSpPr>
        <p:spPr>
          <a:xfrm>
            <a:off x="169333" y="661876"/>
            <a:ext cx="6096000" cy="4247317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@</a:t>
            </a:r>
            <a:r>
              <a:rPr lang="en-IN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using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MVCEmpDept.Service</a:t>
            </a:r>
            <a:endParaRPr lang="en-IN" sz="1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@</a:t>
            </a:r>
            <a:r>
              <a:rPr lang="en-IN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using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System.Collections</a:t>
            </a:r>
            <a:endParaRPr lang="en-IN" sz="1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en-IN" sz="1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@model </a:t>
            </a:r>
            <a:r>
              <a:rPr lang="en-IN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MVCEmpDept.Service.</a:t>
            </a:r>
            <a:r>
              <a:rPr lang="en-IN" sz="18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SqlEmployeeService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endParaRPr lang="en-IN" sz="1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@inject </a:t>
            </a:r>
            <a:r>
              <a:rPr lang="en-IN" sz="18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IEmployeeService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context</a:t>
            </a:r>
          </a:p>
          <a:p>
            <a:endParaRPr lang="en-IN" sz="1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IN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IN" sz="18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ol</a:t>
            </a:r>
            <a:r>
              <a:rPr lang="en-IN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en-IN" sz="1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@</a:t>
            </a:r>
            <a:r>
              <a:rPr lang="en-IN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foreach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IN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var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empobj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context.GetAllEmployee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())</a:t>
            </a:r>
          </a:p>
          <a:p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{        </a:t>
            </a:r>
          </a:p>
          <a:p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IN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IN" sz="18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</a:t>
            </a:r>
            <a:r>
              <a:rPr lang="en-IN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@empobj.Name </a:t>
            </a:r>
            <a:r>
              <a:rPr lang="en-IN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en-IN" sz="18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</a:t>
            </a:r>
            <a:r>
              <a:rPr lang="en-IN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en-IN" sz="1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IN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IN" sz="18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</a:t>
            </a:r>
            <a:r>
              <a:rPr lang="en-IN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@empobj.Email </a:t>
            </a:r>
            <a:r>
              <a:rPr lang="en-IN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en-IN" sz="18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</a:t>
            </a:r>
            <a:r>
              <a:rPr lang="en-IN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en-IN" sz="1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</a:t>
            </a:r>
          </a:p>
          <a:p>
            <a:r>
              <a:rPr lang="en-IN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en-IN" sz="18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ol</a:t>
            </a:r>
            <a:r>
              <a:rPr lang="en-IN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en-IN" sz="1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C96EE94-421B-6D1D-EB67-0DF3AB3ADFA7}"/>
              </a:ext>
            </a:extLst>
          </p:cNvPr>
          <p:cNvSpPr txBox="1"/>
          <p:nvPr/>
        </p:nvSpPr>
        <p:spPr>
          <a:xfrm>
            <a:off x="4013200" y="169332"/>
            <a:ext cx="3894666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dirty="0"/>
              <a:t>DI In View</a:t>
            </a:r>
          </a:p>
        </p:txBody>
      </p:sp>
    </p:spTree>
    <p:extLst>
      <p:ext uri="{BB962C8B-B14F-4D97-AF65-F5344CB8AC3E}">
        <p14:creationId xmlns:p14="http://schemas.microsoft.com/office/powerpoint/2010/main" val="20905928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8FD2739-C7BA-C9E5-E0B5-B87659412002}"/>
              </a:ext>
            </a:extLst>
          </p:cNvPr>
          <p:cNvSpPr txBox="1"/>
          <p:nvPr/>
        </p:nvSpPr>
        <p:spPr>
          <a:xfrm>
            <a:off x="101600" y="381970"/>
            <a:ext cx="6096000" cy="120032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//DI in Method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//you will get serialization error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//add code in </a:t>
            </a:r>
            <a:r>
              <a:rPr kumimoji="0" lang="en-IN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8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program.cs</a:t>
            </a:r>
            <a:endParaRPr kumimoji="0" lang="en-IN" sz="900" b="0" i="0" u="none" strike="noStrike" kern="1200" cap="none" spc="0" normalizeH="0" baseline="0" noProof="0" dirty="0">
              <a:ln>
                <a:noFill/>
              </a:ln>
              <a:solidFill>
                <a:srgbClr val="008000"/>
              </a:solidFill>
              <a:effectLst/>
              <a:highlight>
                <a:srgbClr val="FFFFFF"/>
              </a:highlight>
              <a:uLnTx/>
              <a:uFillTx/>
              <a:latin typeface="Cascadia Mono" panose="020B06090200000200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public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</a:t>
            </a:r>
            <a:r>
              <a:rPr kumimoji="0" lang="en-US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2B91A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IActionResult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Display([</a:t>
            </a:r>
            <a:r>
              <a:rPr kumimoji="0" lang="en-US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2B91A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FromServices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] </a:t>
            </a:r>
            <a:r>
              <a:rPr kumimoji="0" lang="en-US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2B91A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IEmployeeService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es)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    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var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model = </a:t>
            </a:r>
            <a:r>
              <a:rPr kumimoji="0" lang="en-IN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es.GetAllEmployee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();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    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return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Json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(model);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}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DB9DE5C-EF05-7738-4B4F-6ACACEADB067}"/>
              </a:ext>
            </a:extLst>
          </p:cNvPr>
          <p:cNvSpPr txBox="1"/>
          <p:nvPr/>
        </p:nvSpPr>
        <p:spPr>
          <a:xfrm>
            <a:off x="262467" y="3213556"/>
            <a:ext cx="11980333" cy="60016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100" dirty="0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in Program cs file add this to avoid above  error</a:t>
            </a:r>
          </a:p>
          <a:p>
            <a:r>
              <a:rPr lang="en-US" sz="11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builder.Services.AddControllersWithViews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().</a:t>
            </a:r>
            <a:r>
              <a:rPr lang="en-US" sz="11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AddJsonOptions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 options =&gt; </a:t>
            </a:r>
          </a:p>
          <a:p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</a:t>
            </a:r>
            <a:r>
              <a:rPr lang="en-IN" sz="11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options.JsonSerializerOptions.ReferenceHandler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en-IN" sz="11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ReferenceHandler</a:t>
            </a:r>
            <a:r>
              <a:rPr lang="en-IN" sz="11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.IgnoreCycles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);</a:t>
            </a:r>
            <a:endParaRPr lang="en-IN" sz="11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289C815-5EB6-3357-8884-CB74FD5FA027}"/>
              </a:ext>
            </a:extLst>
          </p:cNvPr>
          <p:cNvSpPr txBox="1"/>
          <p:nvPr/>
        </p:nvSpPr>
        <p:spPr>
          <a:xfrm>
            <a:off x="262467" y="1886002"/>
            <a:ext cx="11277599" cy="92333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b="0" i="0" dirty="0" err="1">
                <a:solidFill>
                  <a:srgbClr val="FF0000"/>
                </a:solidFill>
                <a:effectLst/>
                <a:latin typeface="-apple-system"/>
              </a:rPr>
              <a:t>JsonException</a:t>
            </a:r>
            <a:r>
              <a:rPr lang="en-US" b="0" i="0" dirty="0">
                <a:solidFill>
                  <a:srgbClr val="FF0000"/>
                </a:solidFill>
                <a:effectLst/>
                <a:latin typeface="-apple-system"/>
              </a:rPr>
              <a:t>:</a:t>
            </a:r>
            <a:r>
              <a:rPr lang="en-US" b="0" i="0" dirty="0">
                <a:solidFill>
                  <a:srgbClr val="3B4045"/>
                </a:solidFill>
                <a:effectLst/>
                <a:latin typeface="-apple-system"/>
              </a:rPr>
              <a:t> A possible object cycle was detected. This can either be due to a cycle or if the object depth is larger than the maximum allowed depth of 32. Consider using </a:t>
            </a:r>
            <a:r>
              <a:rPr lang="en-US" b="0" i="0" dirty="0" err="1">
                <a:solidFill>
                  <a:srgbClr val="3B4045"/>
                </a:solidFill>
                <a:effectLst/>
                <a:latin typeface="-apple-system"/>
              </a:rPr>
              <a:t>ReferenceHandler.Preserve</a:t>
            </a:r>
            <a:r>
              <a:rPr lang="en-US" b="0" i="0" dirty="0">
                <a:solidFill>
                  <a:srgbClr val="3B4045"/>
                </a:solidFill>
                <a:effectLst/>
                <a:latin typeface="-apple-system"/>
              </a:rPr>
              <a:t> on </a:t>
            </a:r>
            <a:r>
              <a:rPr lang="en-US" b="0" i="0" dirty="0" err="1">
                <a:solidFill>
                  <a:srgbClr val="3B4045"/>
                </a:solidFill>
                <a:effectLst/>
                <a:latin typeface="-apple-system"/>
              </a:rPr>
              <a:t>JsonSerializerOptions</a:t>
            </a:r>
            <a:r>
              <a:rPr lang="en-US" b="0" i="0" dirty="0">
                <a:solidFill>
                  <a:srgbClr val="3B4045"/>
                </a:solidFill>
                <a:effectLst/>
                <a:latin typeface="-apple-system"/>
              </a:rPr>
              <a:t> to support cycles.</a:t>
            </a: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A0295CA-ADD7-D012-886F-5BC17BB06347}"/>
              </a:ext>
            </a:extLst>
          </p:cNvPr>
          <p:cNvSpPr txBox="1"/>
          <p:nvPr/>
        </p:nvSpPr>
        <p:spPr>
          <a:xfrm>
            <a:off x="4851400" y="4643103"/>
            <a:ext cx="6096000" cy="18928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9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Employee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</a:p>
          <a:p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Id { </a:t>
            </a:r>
            <a:r>
              <a:rPr lang="en-US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get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 </a:t>
            </a:r>
            <a:r>
              <a:rPr lang="en-US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 }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[</a:t>
            </a:r>
            <a:r>
              <a:rPr lang="en-IN" sz="9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Required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]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[</a:t>
            </a:r>
            <a:r>
              <a:rPr lang="en-IN" sz="9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DisplayName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IN" sz="9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"Employee Name"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)]</a:t>
            </a:r>
          </a:p>
          <a:p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</a:t>
            </a:r>
            <a:r>
              <a:rPr lang="en-US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string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? Name { </a:t>
            </a:r>
            <a:r>
              <a:rPr lang="en-US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get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 </a:t>
            </a:r>
            <a:r>
              <a:rPr lang="en-US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 }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[</a:t>
            </a:r>
            <a:r>
              <a:rPr lang="en-IN" sz="9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Required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]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[</a:t>
            </a:r>
            <a:r>
              <a:rPr lang="en-IN" sz="9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DataType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IN" sz="9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DataType</a:t>
            </a:r>
            <a:r>
              <a:rPr lang="en-IN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.EmailAddress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)]</a:t>
            </a:r>
          </a:p>
          <a:p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string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? Email { </a:t>
            </a:r>
            <a:r>
              <a:rPr lang="en-US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get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 </a:t>
            </a:r>
            <a:r>
              <a:rPr lang="en-US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 }              </a:t>
            </a:r>
          </a:p>
          <a:p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DepartmentId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 </a:t>
            </a:r>
            <a:r>
              <a:rPr lang="en-US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get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 </a:t>
            </a:r>
            <a:r>
              <a:rPr lang="en-US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 }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[</a:t>
            </a:r>
            <a:r>
              <a:rPr lang="en-IN" sz="9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JsonIgnore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]</a:t>
            </a:r>
          </a:p>
          <a:p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9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Department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? Department { </a:t>
            </a:r>
            <a:r>
              <a:rPr lang="en-US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get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 </a:t>
            </a:r>
            <a:r>
              <a:rPr lang="en-US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 }</a:t>
            </a:r>
          </a:p>
          <a:p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en-IN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2E7C7E5-944D-E433-079F-743344B66687}"/>
              </a:ext>
            </a:extLst>
          </p:cNvPr>
          <p:cNvCxnSpPr/>
          <p:nvPr/>
        </p:nvCxnSpPr>
        <p:spPr>
          <a:xfrm flipV="1">
            <a:off x="4563534" y="2576844"/>
            <a:ext cx="0" cy="7420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A404AE85-491B-8183-84E9-1EDF6F63091B}"/>
              </a:ext>
            </a:extLst>
          </p:cNvPr>
          <p:cNvCxnSpPr>
            <a:cxnSpLocks/>
          </p:cNvCxnSpPr>
          <p:nvPr/>
        </p:nvCxnSpPr>
        <p:spPr>
          <a:xfrm>
            <a:off x="2116667" y="5494867"/>
            <a:ext cx="2794000" cy="6011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B92D2E73-7C9D-C8E1-D10F-5947257DD2B9}"/>
              </a:ext>
            </a:extLst>
          </p:cNvPr>
          <p:cNvSpPr txBox="1"/>
          <p:nvPr/>
        </p:nvSpPr>
        <p:spPr>
          <a:xfrm>
            <a:off x="1693333" y="5063067"/>
            <a:ext cx="287020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OR write </a:t>
            </a:r>
          </a:p>
          <a:p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[</a:t>
            </a:r>
            <a:r>
              <a:rPr lang="en-IN" sz="18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JsonIgnore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]</a:t>
            </a:r>
          </a:p>
          <a:p>
            <a:endParaRPr lang="en-IN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Above property </a:t>
            </a:r>
            <a:r>
              <a:rPr lang="en-IN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of field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091256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13545</TotalTime>
  <Words>2013</Words>
  <Application>Microsoft Office PowerPoint</Application>
  <PresentationFormat>Widescreen</PresentationFormat>
  <Paragraphs>373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-apple-system</vt:lpstr>
      <vt:lpstr>Arial</vt:lpstr>
      <vt:lpstr>Calibri</vt:lpstr>
      <vt:lpstr>Calibri Light</vt:lpstr>
      <vt:lpstr>Cascadia Mono</vt:lpstr>
      <vt:lpstr>Open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Ketki Acharya</dc:creator>
  <cp:lastModifiedBy>sriram mantri vidyanidhi infotech academy</cp:lastModifiedBy>
  <cp:revision>74</cp:revision>
  <dcterms:created xsi:type="dcterms:W3CDTF">2021-10-13T08:04:35Z</dcterms:created>
  <dcterms:modified xsi:type="dcterms:W3CDTF">2024-10-23T14:12:55Z</dcterms:modified>
</cp:coreProperties>
</file>