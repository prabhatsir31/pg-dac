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7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1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2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7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11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45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7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6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E1203-F1AE-4F09-8ED2-7CFDEE86BB88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13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6888"/>
            <a:ext cx="9144000" cy="18745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JWT (JSON Web Token)?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21407"/>
            <a:ext cx="9144000" cy="3136393"/>
          </a:xfrm>
        </p:spPr>
        <p:txBody>
          <a:bodyPr/>
          <a:lstStyle/>
          <a:p>
            <a:r>
              <a:rPr lang="en-IN" sz="4000" b="1" dirty="0"/>
              <a:t>JWT (JSON Web Token)</a:t>
            </a:r>
            <a:r>
              <a:rPr lang="en-IN" sz="4000" dirty="0"/>
              <a:t> is a compact, URL-safe, digitally signed token format used for </a:t>
            </a:r>
            <a:r>
              <a:rPr lang="en-IN" sz="4000" b="1" dirty="0"/>
              <a:t>securely transmitting information</a:t>
            </a:r>
            <a:r>
              <a:rPr lang="en-IN" sz="4000" dirty="0"/>
              <a:t> between parties — especially in </a:t>
            </a:r>
            <a:r>
              <a:rPr lang="en-IN" sz="4000" b="1" dirty="0"/>
              <a:t>authentication and authorization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32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2" y="262827"/>
            <a:ext cx="9144000" cy="1163637"/>
          </a:xfrm>
        </p:spPr>
        <p:txBody>
          <a:bodyPr/>
          <a:lstStyle/>
          <a:p>
            <a:r>
              <a:rPr lang="en-US" u="sng" dirty="0"/>
              <a:t>JWT Structure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591056"/>
            <a:ext cx="11247120" cy="4937760"/>
          </a:xfrm>
        </p:spPr>
        <p:txBody>
          <a:bodyPr>
            <a:noAutofit/>
          </a:bodyPr>
          <a:lstStyle/>
          <a:p>
            <a:r>
              <a:rPr lang="en-IN" sz="4000" dirty="0"/>
              <a:t>It consists of </a:t>
            </a:r>
            <a:r>
              <a:rPr lang="en-IN" sz="4000" b="1" dirty="0"/>
              <a:t>three parts</a:t>
            </a:r>
            <a:r>
              <a:rPr lang="en-IN" sz="4000" dirty="0"/>
              <a:t>:</a:t>
            </a:r>
          </a:p>
          <a:p>
            <a:pPr lvl="0"/>
            <a:r>
              <a:rPr lang="en-IN" sz="4000" b="1" dirty="0"/>
              <a:t>Header</a:t>
            </a:r>
            <a:r>
              <a:rPr lang="en-IN" sz="4000" dirty="0"/>
              <a:t> – Algorithm and token type</a:t>
            </a:r>
          </a:p>
          <a:p>
            <a:pPr lvl="0"/>
            <a:r>
              <a:rPr lang="en-IN" sz="4000" b="1" dirty="0"/>
              <a:t>Payload</a:t>
            </a:r>
            <a:r>
              <a:rPr lang="en-IN" sz="4000" dirty="0"/>
              <a:t> – Data (e.g., user ID, roles)</a:t>
            </a:r>
          </a:p>
          <a:p>
            <a:pPr lvl="0"/>
            <a:r>
              <a:rPr lang="en-IN" sz="4000" b="1" dirty="0"/>
              <a:t>Signature</a:t>
            </a:r>
            <a:r>
              <a:rPr lang="en-IN" sz="4000" dirty="0"/>
              <a:t> – Ensures integrity and authenticity</a:t>
            </a:r>
          </a:p>
          <a:p>
            <a:r>
              <a:rPr lang="en-US" sz="4000" dirty="0" err="1"/>
              <a:t>e.g</a:t>
            </a:r>
            <a:endParaRPr lang="en-US" sz="4000" dirty="0"/>
          </a:p>
          <a:p>
            <a:r>
              <a:rPr lang="en-IN" sz="4000" dirty="0">
                <a:solidFill>
                  <a:srgbClr val="FF0000"/>
                </a:solidFill>
              </a:rPr>
              <a:t>eyJhbGciOiJIUzI1NiIsInR5cCI6IkpXVCJ9</a:t>
            </a:r>
            <a:r>
              <a:rPr lang="en-IN" sz="4000" dirty="0"/>
              <a:t>.</a:t>
            </a:r>
            <a:r>
              <a:rPr lang="en-IN" sz="4000" dirty="0">
                <a:solidFill>
                  <a:srgbClr val="00B0F0"/>
                </a:solidFill>
              </a:rPr>
              <a:t>eyJ1c2VySWQiOiIxMjMiLCJyb2xlIjoiYWRtaW4ifQ</a:t>
            </a:r>
            <a:r>
              <a:rPr lang="en-IN" sz="4000" dirty="0"/>
              <a:t>.</a:t>
            </a:r>
            <a:r>
              <a:rPr lang="en-IN" sz="4000" dirty="0">
                <a:solidFill>
                  <a:srgbClr val="002060"/>
                </a:solidFill>
              </a:rPr>
              <a:t>XYZ123</a:t>
            </a:r>
            <a:endParaRPr lang="en-US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62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1971"/>
            <a:ext cx="9144000" cy="2114613"/>
          </a:xfrm>
        </p:spPr>
        <p:txBody>
          <a:bodyPr/>
          <a:lstStyle/>
          <a:p>
            <a:r>
              <a:rPr lang="en-IN" b="1" dirty="0"/>
              <a:t>Why Do We Need JWT?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20824"/>
            <a:ext cx="9144000" cy="4645152"/>
          </a:xfrm>
        </p:spPr>
        <p:txBody>
          <a:bodyPr>
            <a:normAutofit/>
          </a:bodyPr>
          <a:lstStyle/>
          <a:p>
            <a:r>
              <a:rPr lang="en-IN" sz="4000" dirty="0"/>
              <a:t>JWT is used for:</a:t>
            </a:r>
          </a:p>
          <a:p>
            <a:pPr lvl="0"/>
            <a:r>
              <a:rPr lang="en-IN" sz="4000" b="1" dirty="0"/>
              <a:t>Authentication</a:t>
            </a:r>
            <a:r>
              <a:rPr lang="en-IN" sz="4000" dirty="0"/>
              <a:t>: User logs in → gets JWT → includes JWT in future requests.</a:t>
            </a:r>
          </a:p>
          <a:p>
            <a:pPr lvl="0"/>
            <a:r>
              <a:rPr lang="en-IN" sz="4000" dirty="0"/>
              <a:t> </a:t>
            </a:r>
            <a:r>
              <a:rPr lang="en-IN" sz="4000" b="1" dirty="0"/>
              <a:t>Authorization</a:t>
            </a:r>
            <a:r>
              <a:rPr lang="en-IN" sz="4000" dirty="0"/>
              <a:t>: Server reads JWT → grants or denies access.</a:t>
            </a:r>
          </a:p>
          <a:p>
            <a:pPr lvl="0"/>
            <a:r>
              <a:rPr lang="en-IN" sz="4000" dirty="0"/>
              <a:t> </a:t>
            </a:r>
            <a:r>
              <a:rPr lang="en-IN" sz="4000" b="1" dirty="0"/>
              <a:t>Stateless communication</a:t>
            </a:r>
            <a:r>
              <a:rPr lang="en-IN" sz="4000" dirty="0"/>
              <a:t>: No server memory needed to track sessions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92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1704" y="180531"/>
            <a:ext cx="9144000" cy="1337373"/>
          </a:xfrm>
        </p:spPr>
        <p:txBody>
          <a:bodyPr/>
          <a:lstStyle/>
          <a:p>
            <a:r>
              <a:rPr lang="en-IN" b="1" dirty="0"/>
              <a:t>How JWT Works (Flow):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904" y="1856232"/>
            <a:ext cx="11585448" cy="4773168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17600" b="1" dirty="0"/>
              <a:t>User logs in</a:t>
            </a:r>
            <a:r>
              <a:rPr lang="en-IN" sz="17600" dirty="0"/>
              <a:t> with credentials.</a:t>
            </a:r>
          </a:p>
          <a:p>
            <a:pPr lvl="0"/>
            <a:r>
              <a:rPr lang="en-IN" sz="17600" dirty="0"/>
              <a:t>Server </a:t>
            </a:r>
            <a:r>
              <a:rPr lang="en-IN" sz="17600" b="1" dirty="0"/>
              <a:t>validates</a:t>
            </a:r>
            <a:r>
              <a:rPr lang="en-IN" sz="17600" dirty="0"/>
              <a:t> → creates a JWT → sends it back.</a:t>
            </a:r>
          </a:p>
          <a:p>
            <a:pPr lvl="0"/>
            <a:r>
              <a:rPr lang="en-IN" sz="17600" dirty="0"/>
              <a:t>Client </a:t>
            </a:r>
            <a:r>
              <a:rPr lang="en-IN" sz="17600" b="1" dirty="0"/>
              <a:t>stores</a:t>
            </a:r>
            <a:r>
              <a:rPr lang="en-IN" sz="17600" dirty="0"/>
              <a:t> the token (e.g., in browser memory or local storage).</a:t>
            </a:r>
          </a:p>
          <a:p>
            <a:pPr lvl="0"/>
            <a:r>
              <a:rPr lang="en-IN" sz="17600" dirty="0"/>
              <a:t>For every API request, client sends:</a:t>
            </a:r>
          </a:p>
          <a:p>
            <a:pPr lvl="0"/>
            <a:r>
              <a:rPr lang="en-IN" sz="17600" dirty="0"/>
              <a:t>Authorization: Bearer &lt;token&gt;</a:t>
            </a:r>
          </a:p>
          <a:p>
            <a:pPr lvl="0"/>
            <a:r>
              <a:rPr lang="en-IN" sz="17600" dirty="0"/>
              <a:t>Server </a:t>
            </a:r>
            <a:r>
              <a:rPr lang="en-IN" sz="17600" b="1" dirty="0"/>
              <a:t>verifies JWT signature</a:t>
            </a:r>
            <a:r>
              <a:rPr lang="en-IN" sz="17600" dirty="0"/>
              <a:t> → reads user data → allows or denies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88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9F52-FFBF-5D49-6340-CFA1C09AA8E9}"/>
              </a:ext>
            </a:extLst>
          </p:cNvPr>
          <p:cNvSpPr txBox="1">
            <a:spLocks/>
          </p:cNvSpPr>
          <p:nvPr/>
        </p:nvSpPr>
        <p:spPr>
          <a:xfrm>
            <a:off x="1580225" y="213850"/>
            <a:ext cx="9460638" cy="93725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			First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E9167-C592-827F-7038-9C7EFAB8C22F}"/>
              </a:ext>
            </a:extLst>
          </p:cNvPr>
          <p:cNvSpPr/>
          <p:nvPr/>
        </p:nvSpPr>
        <p:spPr>
          <a:xfrm>
            <a:off x="656948" y="1873188"/>
            <a:ext cx="2148396" cy="3231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F95ACB-A033-07AE-4D96-54CC694C260B}"/>
              </a:ext>
            </a:extLst>
          </p:cNvPr>
          <p:cNvSpPr/>
          <p:nvPr/>
        </p:nvSpPr>
        <p:spPr>
          <a:xfrm>
            <a:off x="8868792" y="1899821"/>
            <a:ext cx="3124940" cy="3311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502AB-FE28-C9DA-8C96-6340A7E6AD62}"/>
              </a:ext>
            </a:extLst>
          </p:cNvPr>
          <p:cNvSpPr txBox="1"/>
          <p:nvPr/>
        </p:nvSpPr>
        <p:spPr>
          <a:xfrm>
            <a:off x="1171852" y="1402672"/>
            <a:ext cx="11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B87E6-D176-9505-236B-32AAD6008DBA}"/>
              </a:ext>
            </a:extLst>
          </p:cNvPr>
          <p:cNvSpPr txBox="1"/>
          <p:nvPr/>
        </p:nvSpPr>
        <p:spPr>
          <a:xfrm>
            <a:off x="9994776" y="1462142"/>
            <a:ext cx="87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Server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A6F2AE2-4E80-6BFF-4471-0B85C2FFEC36}"/>
              </a:ext>
            </a:extLst>
          </p:cNvPr>
          <p:cNvSpPr/>
          <p:nvPr/>
        </p:nvSpPr>
        <p:spPr>
          <a:xfrm>
            <a:off x="2902998" y="2405849"/>
            <a:ext cx="5308847" cy="497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087C2-8A99-8F46-5B7E-44075B6813D4}"/>
              </a:ext>
            </a:extLst>
          </p:cNvPr>
          <p:cNvSpPr txBox="1"/>
          <p:nvPr/>
        </p:nvSpPr>
        <p:spPr>
          <a:xfrm>
            <a:off x="3932808" y="1899821"/>
            <a:ext cx="337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First request for token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540E2-0395-5FE9-8EAB-C9BFD2F281FA}"/>
              </a:ext>
            </a:extLst>
          </p:cNvPr>
          <p:cNvSpPr txBox="1"/>
          <p:nvPr/>
        </p:nvSpPr>
        <p:spPr>
          <a:xfrm>
            <a:off x="3693111" y="3107184"/>
            <a:ext cx="361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Credentials e.g. username,role etc.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389C0D-D948-2B85-D1EE-921E22806B7A}"/>
              </a:ext>
            </a:extLst>
          </p:cNvPr>
          <p:cNvSpPr/>
          <p:nvPr/>
        </p:nvSpPr>
        <p:spPr>
          <a:xfrm rot="5400000">
            <a:off x="5730535" y="1517420"/>
            <a:ext cx="301841" cy="5779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B19280-4050-604E-047A-DCBAC46F69A4}"/>
              </a:ext>
            </a:extLst>
          </p:cNvPr>
          <p:cNvSpPr txBox="1"/>
          <p:nvPr/>
        </p:nvSpPr>
        <p:spPr>
          <a:xfrm>
            <a:off x="2765395" y="5206091"/>
            <a:ext cx="6054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Return token e.g.</a:t>
            </a:r>
          </a:p>
          <a:p>
            <a:r>
              <a:rPr lang="en-IN" b="1"/>
              <a:t>eyJhbGciOiJIUzI1NiJ9.eyJzdWIiOiJzY290dCIsImV4cCI6MTY3NjkyNzgyOSwiaWF0IjoxNjc2ODkxODI5fQ.jlPd0hUqvguWlaHWqBItDWxYVM7ygujDpUaZWLpVq9o</a:t>
            </a:r>
          </a:p>
        </p:txBody>
      </p:sp>
    </p:spTree>
    <p:extLst>
      <p:ext uri="{BB962C8B-B14F-4D97-AF65-F5344CB8AC3E}">
        <p14:creationId xmlns:p14="http://schemas.microsoft.com/office/powerpoint/2010/main" val="366244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9" grpId="0" animBg="1"/>
      <p:bldP spid="10" grpId="0"/>
      <p:bldP spid="11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9F52-FFBF-5D49-6340-CFA1C09AA8E9}"/>
              </a:ext>
            </a:extLst>
          </p:cNvPr>
          <p:cNvSpPr txBox="1">
            <a:spLocks/>
          </p:cNvSpPr>
          <p:nvPr/>
        </p:nvSpPr>
        <p:spPr>
          <a:xfrm>
            <a:off x="1580225" y="213850"/>
            <a:ext cx="9460638" cy="93725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			Subsequent Requests</a:t>
            </a:r>
          </a:p>
          <a:p>
            <a:r>
              <a:rPr lang="en-IN"/>
              <a:t>           [ till the token does not get expired ]</a:t>
            </a:r>
          </a:p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E9167-C592-827F-7038-9C7EFAB8C22F}"/>
              </a:ext>
            </a:extLst>
          </p:cNvPr>
          <p:cNvSpPr/>
          <p:nvPr/>
        </p:nvSpPr>
        <p:spPr>
          <a:xfrm>
            <a:off x="656948" y="1873188"/>
            <a:ext cx="2148396" cy="3231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F95ACB-A033-07AE-4D96-54CC694C260B}"/>
              </a:ext>
            </a:extLst>
          </p:cNvPr>
          <p:cNvSpPr/>
          <p:nvPr/>
        </p:nvSpPr>
        <p:spPr>
          <a:xfrm>
            <a:off x="8868792" y="1899821"/>
            <a:ext cx="3124940" cy="3311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502AB-FE28-C9DA-8C96-6340A7E6AD62}"/>
              </a:ext>
            </a:extLst>
          </p:cNvPr>
          <p:cNvSpPr txBox="1"/>
          <p:nvPr/>
        </p:nvSpPr>
        <p:spPr>
          <a:xfrm>
            <a:off x="1171852" y="1402672"/>
            <a:ext cx="11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B87E6-D176-9505-236B-32AAD6008DBA}"/>
              </a:ext>
            </a:extLst>
          </p:cNvPr>
          <p:cNvSpPr txBox="1"/>
          <p:nvPr/>
        </p:nvSpPr>
        <p:spPr>
          <a:xfrm>
            <a:off x="9994776" y="1462142"/>
            <a:ext cx="87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Server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A6F2AE2-4E80-6BFF-4471-0B85C2FFEC36}"/>
              </a:ext>
            </a:extLst>
          </p:cNvPr>
          <p:cNvSpPr/>
          <p:nvPr/>
        </p:nvSpPr>
        <p:spPr>
          <a:xfrm>
            <a:off x="2902998" y="2405849"/>
            <a:ext cx="5308847" cy="497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540E2-0395-5FE9-8EAB-C9BFD2F281FA}"/>
              </a:ext>
            </a:extLst>
          </p:cNvPr>
          <p:cNvSpPr txBox="1"/>
          <p:nvPr/>
        </p:nvSpPr>
        <p:spPr>
          <a:xfrm>
            <a:off x="4478785" y="2919968"/>
            <a:ext cx="214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Request with </a:t>
            </a:r>
            <a:r>
              <a:rPr lang="en-IN" b="1"/>
              <a:t>token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389C0D-D948-2B85-D1EE-921E22806B7A}"/>
              </a:ext>
            </a:extLst>
          </p:cNvPr>
          <p:cNvSpPr/>
          <p:nvPr/>
        </p:nvSpPr>
        <p:spPr>
          <a:xfrm rot="5400000">
            <a:off x="5730535" y="1517420"/>
            <a:ext cx="301841" cy="5779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B7E39-FE53-BF8C-53FA-0B9D02038894}"/>
              </a:ext>
            </a:extLst>
          </p:cNvPr>
          <p:cNvSpPr txBox="1"/>
          <p:nvPr/>
        </p:nvSpPr>
        <p:spPr>
          <a:xfrm>
            <a:off x="2991774" y="1219453"/>
            <a:ext cx="6054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Bearer </a:t>
            </a:r>
          </a:p>
          <a:p>
            <a:r>
              <a:rPr lang="en-IN" b="1"/>
              <a:t>eyJhbGciOiJIUzI1NiJ9.eyJzdWIiOiJzY290dCIsImV4cCI6MTY3NjkyNzgyOSwiaWF0IjoxNjc2ODkxODI5fQ.jlPd0hUqvguWlaHWqBItDWxYVM7ygujDpUaZWLpVq9o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A341C-18DC-3961-BFF6-D26E79376C33}"/>
              </a:ext>
            </a:extLst>
          </p:cNvPr>
          <p:cNvSpPr txBox="1"/>
          <p:nvPr/>
        </p:nvSpPr>
        <p:spPr>
          <a:xfrm>
            <a:off x="9587883" y="3027285"/>
            <a:ext cx="1947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Validate the token using “</a:t>
            </a:r>
            <a:r>
              <a:rPr lang="en-IN" b="1"/>
              <a:t>secret key</a:t>
            </a:r>
            <a:r>
              <a:rPr lang="en-IN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325B5-D9FB-B683-1F8A-DCED1DD57C8C}"/>
              </a:ext>
            </a:extLst>
          </p:cNvPr>
          <p:cNvSpPr txBox="1"/>
          <p:nvPr/>
        </p:nvSpPr>
        <p:spPr>
          <a:xfrm>
            <a:off x="9491708" y="3924345"/>
            <a:ext cx="213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If it is valid and not got expired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42C500-6E8D-15CD-3318-B5DBF8B67DE6}"/>
              </a:ext>
            </a:extLst>
          </p:cNvPr>
          <p:cNvSpPr txBox="1"/>
          <p:nvPr/>
        </p:nvSpPr>
        <p:spPr>
          <a:xfrm>
            <a:off x="3426780" y="4642482"/>
            <a:ext cx="2920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Allow to access the resource/s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667268-C773-9942-5BFB-3328F4CF73BD}"/>
              </a:ext>
            </a:extLst>
          </p:cNvPr>
          <p:cNvSpPr txBox="1"/>
          <p:nvPr/>
        </p:nvSpPr>
        <p:spPr>
          <a:xfrm>
            <a:off x="9188388" y="4675714"/>
            <a:ext cx="260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If not valid or got expired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D1689-6769-6796-D75D-499893113B78}"/>
              </a:ext>
            </a:extLst>
          </p:cNvPr>
          <p:cNvSpPr txBox="1"/>
          <p:nvPr/>
        </p:nvSpPr>
        <p:spPr>
          <a:xfrm>
            <a:off x="6729273" y="4739396"/>
            <a:ext cx="1597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Error message</a:t>
            </a:r>
          </a:p>
        </p:txBody>
      </p:sp>
    </p:spTree>
    <p:extLst>
      <p:ext uri="{BB962C8B-B14F-4D97-AF65-F5344CB8AC3E}">
        <p14:creationId xmlns:p14="http://schemas.microsoft.com/office/powerpoint/2010/main" val="172644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9" grpId="0" animBg="1"/>
      <p:bldP spid="11" grpId="0"/>
      <p:bldP spid="13" grpId="0" animBg="1"/>
      <p:bldP spid="7" grpId="0"/>
      <p:bldP spid="8" grpId="0"/>
      <p:bldP spid="12" grpId="0"/>
      <p:bldP spid="12" grpId="1"/>
      <p:bldP spid="15" grpId="0"/>
      <p:bldP spid="15" grpId="1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2609"/>
            <a:ext cx="9144000" cy="1929384"/>
          </a:xfrm>
        </p:spPr>
        <p:txBody>
          <a:bodyPr>
            <a:normAutofit/>
          </a:bodyPr>
          <a:lstStyle/>
          <a:p>
            <a:r>
              <a:rPr lang="en-IN" b="1" dirty="0"/>
              <a:t>Real-Life Analogy: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956816"/>
            <a:ext cx="11585448" cy="4608576"/>
          </a:xfrm>
        </p:spPr>
        <p:txBody>
          <a:bodyPr>
            <a:normAutofit fontScale="92500" lnSpcReduction="20000"/>
          </a:bodyPr>
          <a:lstStyle/>
          <a:p>
            <a:r>
              <a:rPr lang="en-IN" sz="4400" dirty="0"/>
              <a:t>Imagine JWT as a </a:t>
            </a:r>
            <a:r>
              <a:rPr lang="en-IN" sz="4400" b="1" dirty="0"/>
              <a:t>movie ticket</a:t>
            </a:r>
            <a:r>
              <a:rPr lang="en-IN" sz="4400" dirty="0"/>
              <a:t>:</a:t>
            </a:r>
          </a:p>
          <a:p>
            <a:pPr lvl="0"/>
            <a:r>
              <a:rPr lang="en-IN" sz="4400" dirty="0"/>
              <a:t>You buy one (login).</a:t>
            </a:r>
          </a:p>
          <a:p>
            <a:pPr lvl="0"/>
            <a:r>
              <a:rPr lang="en-IN" sz="4400" dirty="0"/>
              <a:t>It has your info printed (user ID, role).</a:t>
            </a:r>
          </a:p>
          <a:p>
            <a:pPr lvl="0"/>
            <a:r>
              <a:rPr lang="en-IN" sz="4400" dirty="0"/>
              <a:t>You show it to get access (authorization).</a:t>
            </a:r>
          </a:p>
          <a:p>
            <a:pPr lvl="0"/>
            <a:r>
              <a:rPr lang="en-IN" sz="4400" dirty="0"/>
              <a:t>The theatre (server) doesn’t keep a list of all ticket holders (stateless).</a:t>
            </a:r>
          </a:p>
          <a:p>
            <a:pPr lvl="0"/>
            <a:r>
              <a:rPr lang="en-IN" sz="4400" dirty="0"/>
              <a:t>But it can check if the ticket is </a:t>
            </a:r>
            <a:r>
              <a:rPr lang="en-IN" sz="4400" b="1" dirty="0"/>
              <a:t>genuine</a:t>
            </a:r>
            <a:r>
              <a:rPr lang="en-IN" sz="4400" dirty="0"/>
              <a:t> (signature) and </a:t>
            </a:r>
            <a:r>
              <a:rPr lang="en-IN" sz="4400" b="1" dirty="0"/>
              <a:t>not expired</a:t>
            </a:r>
            <a:r>
              <a:rPr lang="en-IN" sz="4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59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0848" y="180531"/>
            <a:ext cx="9144000" cy="1867725"/>
          </a:xfrm>
        </p:spPr>
        <p:txBody>
          <a:bodyPr/>
          <a:lstStyle/>
          <a:p>
            <a:r>
              <a:rPr lang="en-IN" b="1" dirty="0"/>
              <a:t>Advantages of JWT: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12" y="1371600"/>
            <a:ext cx="11777472" cy="5312664"/>
          </a:xfrm>
        </p:spPr>
        <p:txBody>
          <a:bodyPr>
            <a:noAutofit/>
          </a:bodyPr>
          <a:lstStyle/>
          <a:p>
            <a:pPr lvl="0"/>
            <a:r>
              <a:rPr lang="en-IN" sz="4800" b="1" dirty="0"/>
              <a:t>Stateless &amp; scalable</a:t>
            </a:r>
            <a:endParaRPr lang="en-IN" sz="4800" dirty="0"/>
          </a:p>
          <a:p>
            <a:pPr lvl="0"/>
            <a:r>
              <a:rPr lang="en-IN" sz="4800" b="1" dirty="0"/>
              <a:t>Tamper-proof</a:t>
            </a:r>
            <a:r>
              <a:rPr lang="en-IN" sz="4800" dirty="0"/>
              <a:t> (signed)</a:t>
            </a:r>
          </a:p>
          <a:p>
            <a:pPr lvl="0"/>
            <a:r>
              <a:rPr lang="en-IN" sz="4800" b="1" dirty="0"/>
              <a:t>Self-contained</a:t>
            </a:r>
            <a:r>
              <a:rPr lang="en-IN" sz="4800" dirty="0"/>
              <a:t> (no need to query DB on each request)</a:t>
            </a:r>
          </a:p>
          <a:p>
            <a:pPr lvl="0"/>
            <a:r>
              <a:rPr lang="en-IN" sz="4800" b="1" dirty="0"/>
              <a:t>Cross-platform</a:t>
            </a:r>
            <a:r>
              <a:rPr lang="en-IN" sz="4800" dirty="0"/>
              <a:t> (web, mobile, etc.)</a:t>
            </a:r>
          </a:p>
          <a:p>
            <a:pPr lvl="0"/>
            <a:r>
              <a:rPr lang="en-IN" sz="4800" dirty="0"/>
              <a:t>Can be stored anywhere (cookies, </a:t>
            </a:r>
            <a:r>
              <a:rPr lang="en-IN" sz="4800" dirty="0" err="1"/>
              <a:t>localStorage</a:t>
            </a:r>
            <a:r>
              <a:rPr lang="en-IN" sz="4800" dirty="0"/>
              <a:t>, headers)</a:t>
            </a:r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52363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408" y="235395"/>
            <a:ext cx="9144000" cy="153854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JWT vs Session-Based Authentication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1984248"/>
            <a:ext cx="11786616" cy="463600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Where Data is Stored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Session-based authentication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user data is stored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server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in memory or a database.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all user information is stored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itself, and the server doesn't store anything.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Scalability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scalable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they require a central place (like 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Redis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DB) to store session data.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highly scalable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it's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stateless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each server can validate the token without any shared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11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523659"/>
            <a:ext cx="11237976" cy="2602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Server Load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 server memory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 user, which increases with more users.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consume server memory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they are validated using a cryptographic signature.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4632" y="3442507"/>
            <a:ext cx="10908792" cy="2141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 Token Size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 IDs are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short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just a string like abc123.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longer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they contain encoded payloads like user ID, roles, expiration, etc.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3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936" y="338867"/>
            <a:ext cx="11109960" cy="2602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5) Logout or Session Expiry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sessions, logout is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just delete the session from server memory or database.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JWTs, logout is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harder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the token is valid until it expires unless you maintain a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denylist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(token blacklist).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0936" y="3253891"/>
            <a:ext cx="10433304" cy="3063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6) Security Considerations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vulnerable to CSRF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attacks if session ID is stored in cookies.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vulnerable to CSRF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stored in headers (e.g., Authorization header), but more vulnerable to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 theft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stored in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localStorage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0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7784" y="1675803"/>
            <a:ext cx="9692640" cy="2602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7) Suitability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better for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web apps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server-rendered pages like JSP,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Thymeleaf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ideal for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 APIs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apps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Page Applications (SPAs)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140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032" y="393193"/>
            <a:ext cx="11411712" cy="1380743"/>
          </a:xfrm>
        </p:spPr>
        <p:txBody>
          <a:bodyPr>
            <a:normAutofit/>
          </a:bodyPr>
          <a:lstStyle/>
          <a:p>
            <a:r>
              <a:rPr lang="en-IN" b="1" dirty="0"/>
              <a:t>What is the Security Key in JWT?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2121408"/>
            <a:ext cx="11137392" cy="4352544"/>
          </a:xfrm>
        </p:spPr>
        <p:txBody>
          <a:bodyPr>
            <a:noAutofit/>
          </a:bodyPr>
          <a:lstStyle/>
          <a:p>
            <a:r>
              <a:rPr lang="en-IN" sz="4800" dirty="0"/>
              <a:t>The </a:t>
            </a:r>
            <a:r>
              <a:rPr lang="en-IN" sz="4800" b="1" dirty="0"/>
              <a:t>security key</a:t>
            </a:r>
            <a:r>
              <a:rPr lang="en-IN" sz="4800" dirty="0"/>
              <a:t> (also called the </a:t>
            </a:r>
            <a:r>
              <a:rPr lang="en-IN" sz="4800" b="1" dirty="0"/>
              <a:t>secret key</a:t>
            </a:r>
            <a:r>
              <a:rPr lang="en-IN" sz="4800" dirty="0"/>
              <a:t> or </a:t>
            </a:r>
            <a:r>
              <a:rPr lang="en-IN" sz="4800" b="1" dirty="0"/>
              <a:t>signing key</a:t>
            </a:r>
            <a:r>
              <a:rPr lang="en-IN" sz="4800" dirty="0"/>
              <a:t>) is a </a:t>
            </a:r>
            <a:r>
              <a:rPr lang="en-IN" sz="4800" b="1" dirty="0"/>
              <a:t>private string</a:t>
            </a:r>
            <a:r>
              <a:rPr lang="en-IN" sz="4800" dirty="0"/>
              <a:t> used to </a:t>
            </a:r>
            <a:r>
              <a:rPr lang="en-IN" sz="4800" b="1" dirty="0"/>
              <a:t>digitally sign</a:t>
            </a:r>
            <a:r>
              <a:rPr lang="en-IN" sz="4800" dirty="0"/>
              <a:t> the JWT and </a:t>
            </a:r>
            <a:r>
              <a:rPr lang="en-IN" sz="4800" b="1" dirty="0"/>
              <a:t>verify</a:t>
            </a:r>
            <a:r>
              <a:rPr lang="en-IN" sz="4800" dirty="0"/>
              <a:t> that it has not been tampered with.</a:t>
            </a:r>
          </a:p>
          <a:p>
            <a:r>
              <a:rPr lang="en-IN" sz="4800" dirty="0"/>
              <a:t>It’s </a:t>
            </a:r>
            <a:r>
              <a:rPr lang="en-IN" sz="4800" b="1" dirty="0"/>
              <a:t>never shared with the client</a:t>
            </a:r>
            <a:r>
              <a:rPr lang="en-IN" sz="4800" dirty="0"/>
              <a:t> — it stays on the </a:t>
            </a:r>
            <a:r>
              <a:rPr lang="en-IN" sz="4800" b="1" dirty="0"/>
              <a:t>server only</a:t>
            </a:r>
            <a:r>
              <a:rPr lang="en-IN" sz="4800" dirty="0"/>
              <a:t>.</a:t>
            </a:r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82654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235395"/>
            <a:ext cx="11192256" cy="1181925"/>
          </a:xfrm>
        </p:spPr>
        <p:txBody>
          <a:bodyPr/>
          <a:lstStyle/>
          <a:p>
            <a:r>
              <a:rPr lang="en-IN" b="1" u="sng" dirty="0"/>
              <a:t>Where is the Security Key Stored?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896" y="1938528"/>
            <a:ext cx="11210544" cy="469087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security key is stored </a:t>
            </a:r>
            <a:r>
              <a:rPr lang="en-IN" sz="9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securely on the server</a:t>
            </a:r>
            <a:r>
              <a:rPr lang="en-IN" sz="9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in: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 variables (e.g., JWT_SECRET)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files (secured)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IN" sz="9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store it in frontend or send it to clients.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84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253683"/>
            <a:ext cx="9144000" cy="1767141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How is the Security Key Used?</a:t>
            </a:r>
            <a:br>
              <a:rPr lang="en-IN" u="sng" dirty="0"/>
            </a:b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1527048"/>
            <a:ext cx="11448288" cy="497433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signing and validation follow these steps: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b="1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➤</a:t>
            </a:r>
            <a:r>
              <a:rPr lang="en-IN" sz="5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1. When issuing a JWT (during login):</a:t>
            </a:r>
            <a:endParaRPr lang="en-IN" sz="5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takes the header and payload.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creates a signature using this formula: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 = HMACSHA256(base64Url(header) + "." + base64Url(payload), </a:t>
            </a:r>
            <a:r>
              <a:rPr lang="en-IN" sz="5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secretKey</a:t>
            </a: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final JWT becomes: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header.payload.signature</a:t>
            </a:r>
            <a:endParaRPr lang="en-IN" sz="5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222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448" y="139720"/>
            <a:ext cx="11832336" cy="5771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When receiving a JWT (on request):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extracts the header and payload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JWT.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IN" sz="4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recomputes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signature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the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secret key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recomputed signature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matches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one in the JWT →  </a:t>
            </a:r>
            <a:r>
              <a:rPr lang="en-IN" sz="40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it’s valid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 → </a:t>
            </a:r>
            <a:r>
              <a:rPr lang="en-IN" sz="40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rejected (someone must have tampered it).</a:t>
            </a:r>
          </a:p>
        </p:txBody>
      </p:sp>
    </p:spTree>
    <p:extLst>
      <p:ext uri="{BB962C8B-B14F-4D97-AF65-F5344CB8AC3E}">
        <p14:creationId xmlns:p14="http://schemas.microsoft.com/office/powerpoint/2010/main" val="811821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04" y="299403"/>
            <a:ext cx="10152888" cy="999045"/>
          </a:xfrm>
        </p:spPr>
        <p:txBody>
          <a:bodyPr>
            <a:normAutofit/>
          </a:bodyPr>
          <a:lstStyle/>
          <a:p>
            <a:r>
              <a:rPr lang="en-IN" sz="4000" b="1" dirty="0"/>
              <a:t>Real-Life Analogy: Movie Ticket with Invisible Ink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" y="1527048"/>
            <a:ext cx="11750040" cy="5330952"/>
          </a:xfrm>
        </p:spPr>
        <p:txBody>
          <a:bodyPr>
            <a:noAutofit/>
          </a:bodyPr>
          <a:lstStyle/>
          <a:p>
            <a:pPr lvl="0"/>
            <a:r>
              <a:rPr lang="en-IN" sz="2800" dirty="0"/>
              <a:t>You buy a </a:t>
            </a:r>
            <a:r>
              <a:rPr lang="en-IN" sz="2800" b="1" dirty="0"/>
              <a:t>movie ticket</a:t>
            </a:r>
            <a:r>
              <a:rPr lang="en-IN" sz="2800" dirty="0"/>
              <a:t> (JWT) from the </a:t>
            </a:r>
            <a:r>
              <a:rPr lang="en-IN" sz="2800" dirty="0" err="1"/>
              <a:t>theater</a:t>
            </a:r>
            <a:r>
              <a:rPr lang="en-IN" sz="2800" dirty="0"/>
              <a:t> (server).</a:t>
            </a:r>
          </a:p>
          <a:p>
            <a:pPr lvl="0"/>
            <a:r>
              <a:rPr lang="en-IN" sz="2800" dirty="0"/>
              <a:t>The ticket includes your </a:t>
            </a:r>
            <a:r>
              <a:rPr lang="en-IN" sz="2800" b="1" dirty="0"/>
              <a:t>seat </a:t>
            </a:r>
            <a:r>
              <a:rPr lang="en-IN" sz="2800" b="1" dirty="0" err="1"/>
              <a:t>number,date</a:t>
            </a:r>
            <a:r>
              <a:rPr lang="en-IN" sz="2800" b="1" dirty="0"/>
              <a:t> and time</a:t>
            </a:r>
            <a:r>
              <a:rPr lang="en-IN" sz="2800" dirty="0"/>
              <a:t> (payload).</a:t>
            </a:r>
          </a:p>
          <a:p>
            <a:pPr lvl="0"/>
            <a:r>
              <a:rPr lang="en-IN" sz="2800" dirty="0"/>
              <a:t>The theatre </a:t>
            </a:r>
            <a:r>
              <a:rPr lang="en-IN" sz="2800" b="1" dirty="0"/>
              <a:t>stamps it with invisible ink</a:t>
            </a:r>
            <a:r>
              <a:rPr lang="en-IN" sz="2800" dirty="0"/>
              <a:t> (signature) using a secret stamp pad (secret key).</a:t>
            </a:r>
          </a:p>
          <a:p>
            <a:pPr lvl="0"/>
            <a:r>
              <a:rPr lang="en-IN" sz="2800" dirty="0"/>
              <a:t>You </a:t>
            </a:r>
            <a:r>
              <a:rPr lang="en-IN" sz="2800" b="1" dirty="0"/>
              <a:t>can see your info</a:t>
            </a:r>
            <a:r>
              <a:rPr lang="en-IN" sz="2800" dirty="0"/>
              <a:t> on the ticket, but </a:t>
            </a:r>
            <a:r>
              <a:rPr lang="en-IN" sz="2800" b="1" dirty="0"/>
              <a:t>you can’t fake the stamp</a:t>
            </a:r>
            <a:r>
              <a:rPr lang="en-IN" sz="2800" dirty="0"/>
              <a:t>.</a:t>
            </a:r>
          </a:p>
          <a:p>
            <a:pPr lvl="0"/>
            <a:r>
              <a:rPr lang="en-IN" sz="2800" dirty="0"/>
              <a:t>When you show the ticket at the door, they check the </a:t>
            </a:r>
            <a:r>
              <a:rPr lang="en-IN" sz="2800" b="1" dirty="0"/>
              <a:t>invisible stamp</a:t>
            </a:r>
            <a:r>
              <a:rPr lang="en-IN" sz="2800" dirty="0"/>
              <a:t> using their hidden scanner (signature verification).</a:t>
            </a:r>
          </a:p>
          <a:p>
            <a:pPr lvl="0"/>
            <a:r>
              <a:rPr lang="en-IN" sz="2800" dirty="0"/>
              <a:t>If the stamp is </a:t>
            </a:r>
            <a:r>
              <a:rPr lang="en-IN" sz="2800" b="1" dirty="0"/>
              <a:t>valid</a:t>
            </a:r>
            <a:r>
              <a:rPr lang="en-IN" sz="2800" dirty="0"/>
              <a:t>, you go in. If not, </a:t>
            </a:r>
            <a:r>
              <a:rPr lang="en-IN" sz="2800" b="1" dirty="0"/>
              <a:t>you’re not allowed</a:t>
            </a:r>
            <a:r>
              <a:rPr lang="en-IN" sz="2800" dirty="0"/>
              <a:t>— even if the </a:t>
            </a:r>
            <a:r>
              <a:rPr lang="en-IN" sz="2800" b="1" dirty="0"/>
              <a:t>seat </a:t>
            </a:r>
            <a:r>
              <a:rPr lang="en-IN" sz="2800" b="1" dirty="0" err="1"/>
              <a:t>number,date</a:t>
            </a:r>
            <a:r>
              <a:rPr lang="en-IN" sz="2800" b="1" dirty="0"/>
              <a:t> and time</a:t>
            </a:r>
            <a:r>
              <a:rPr lang="en-IN" sz="2800" dirty="0"/>
              <a:t> look correct.</a:t>
            </a:r>
          </a:p>
          <a:p>
            <a:r>
              <a:rPr lang="en-IN" sz="2800" b="1" dirty="0"/>
              <a:t>→ The secret ink pad (secret key) is only with the </a:t>
            </a:r>
            <a:r>
              <a:rPr lang="en-IN" sz="2800" b="1" dirty="0" err="1"/>
              <a:t>theater</a:t>
            </a:r>
            <a:r>
              <a:rPr lang="en-IN" sz="2800" b="1" dirty="0"/>
              <a:t> (server), never given to you.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7605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312" y="226251"/>
            <a:ext cx="11365992" cy="165741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JWT is exactly for authentication or authorization ?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185416"/>
            <a:ext cx="11411712" cy="4187952"/>
          </a:xfrm>
        </p:spPr>
        <p:txBody>
          <a:bodyPr>
            <a:normAutofit fontScale="92500" lnSpcReduction="20000"/>
          </a:bodyPr>
          <a:lstStyle/>
          <a:p>
            <a:r>
              <a:rPr lang="en-IN" sz="4800" b="1" dirty="0"/>
              <a:t>JWT is used in both authentication and authorization</a:t>
            </a:r>
            <a:r>
              <a:rPr lang="en-IN" sz="4800" dirty="0"/>
              <a:t>, but in </a:t>
            </a:r>
            <a:r>
              <a:rPr lang="en-IN" sz="4800" b="1" dirty="0"/>
              <a:t>different ways</a:t>
            </a:r>
            <a:r>
              <a:rPr lang="en-IN" sz="4800" dirty="0"/>
              <a:t>.</a:t>
            </a:r>
          </a:p>
          <a:p>
            <a:endParaRPr lang="en-IN" sz="48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800" b="1" dirty="0"/>
              <a:t>JWT is created during Authentication</a:t>
            </a:r>
            <a:r>
              <a:rPr lang="en-IN" sz="4800" dirty="0"/>
              <a:t> (after login).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800" b="1" dirty="0"/>
              <a:t>JWT</a:t>
            </a:r>
            <a:r>
              <a:rPr lang="en-IN" sz="4800" dirty="0"/>
              <a:t> is </a:t>
            </a:r>
            <a:r>
              <a:rPr lang="en-IN" sz="4800" b="1" dirty="0"/>
              <a:t>used in every request for Authorization</a:t>
            </a:r>
            <a:r>
              <a:rPr lang="en-IN" sz="4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580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271971"/>
            <a:ext cx="11512296" cy="1044765"/>
          </a:xfrm>
        </p:spPr>
        <p:txBody>
          <a:bodyPr>
            <a:normAutofit/>
          </a:bodyPr>
          <a:lstStyle/>
          <a:p>
            <a:r>
              <a:rPr lang="en-US" sz="5400" u="sng" dirty="0"/>
              <a:t>What do you mean by JWT is stateless?</a:t>
            </a:r>
            <a:endParaRPr lang="en-IN" sz="5400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472" y="1956118"/>
            <a:ext cx="10646664" cy="4417250"/>
          </a:xfrm>
        </p:spPr>
        <p:txBody>
          <a:bodyPr>
            <a:noAutofit/>
          </a:bodyPr>
          <a:lstStyle/>
          <a:p>
            <a:r>
              <a:rPr lang="en-IN" sz="5400" dirty="0"/>
              <a:t>"</a:t>
            </a:r>
            <a:r>
              <a:rPr lang="en-IN" sz="5400" b="1" dirty="0"/>
              <a:t>Stateless</a:t>
            </a:r>
            <a:r>
              <a:rPr lang="en-IN" sz="5400" dirty="0"/>
              <a:t> means the server doesn't remember who you are — instead, every request carries all the info needed to identify and authorize you. That’s exactly what a JWT does."</a:t>
            </a:r>
          </a:p>
          <a:p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791477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4776" y="116523"/>
            <a:ext cx="9144000" cy="1108773"/>
          </a:xfrm>
        </p:spPr>
        <p:txBody>
          <a:bodyPr/>
          <a:lstStyle/>
          <a:p>
            <a:r>
              <a:rPr lang="en-US" dirty="0"/>
              <a:t>JWT- Stateless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2336" y="1380744"/>
            <a:ext cx="11274552" cy="49286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JWT-based authentication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does not store any session data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about the user after login.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Instead: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entire user identity and permissions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stored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(which is sent back to the client).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every request, the client sends back the same token.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simply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verifies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token using a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 key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without remembering anything about the user.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905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71971"/>
            <a:ext cx="9144000" cy="1145349"/>
          </a:xfrm>
        </p:spPr>
        <p:txBody>
          <a:bodyPr/>
          <a:lstStyle/>
          <a:p>
            <a:r>
              <a:rPr lang="en-US" u="sng" dirty="0"/>
              <a:t>JWT- Stateless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752" y="1563624"/>
            <a:ext cx="11326368" cy="5038344"/>
          </a:xfrm>
        </p:spPr>
        <p:txBody>
          <a:bodyPr>
            <a:normAutofit fontScale="92500" lnSpcReduction="10000"/>
          </a:bodyPr>
          <a:lstStyle/>
          <a:p>
            <a:r>
              <a:rPr lang="en-IN" sz="4000" b="1" dirty="0"/>
              <a:t>Traditional session-based (</a:t>
            </a:r>
            <a:r>
              <a:rPr lang="en-IN" sz="4000" b="1" dirty="0" err="1"/>
              <a:t>stateful</a:t>
            </a:r>
            <a:r>
              <a:rPr lang="en-IN" sz="4000" b="1" dirty="0"/>
              <a:t>):</a:t>
            </a:r>
            <a:endParaRPr lang="en-IN" sz="4000" dirty="0"/>
          </a:p>
          <a:p>
            <a:r>
              <a:rPr lang="en-IN" sz="4000" dirty="0"/>
              <a:t>In session-based </a:t>
            </a:r>
            <a:r>
              <a:rPr lang="en-IN" sz="4000" dirty="0" err="1"/>
              <a:t>auth</a:t>
            </a:r>
            <a:r>
              <a:rPr lang="en-IN" sz="4000" dirty="0"/>
              <a:t>:</a:t>
            </a:r>
          </a:p>
          <a:p>
            <a:pPr lvl="0"/>
            <a:r>
              <a:rPr lang="en-IN" sz="4000" dirty="0"/>
              <a:t>After login, the server creates a </a:t>
            </a:r>
            <a:r>
              <a:rPr lang="en-IN" sz="4000" b="1" dirty="0"/>
              <a:t>session object</a:t>
            </a:r>
            <a:r>
              <a:rPr lang="en-IN" sz="4000" dirty="0"/>
              <a:t> and stores it in memory or a database.</a:t>
            </a:r>
          </a:p>
          <a:p>
            <a:pPr lvl="0"/>
            <a:r>
              <a:rPr lang="en-IN" sz="4000" dirty="0"/>
              <a:t>It assigns a </a:t>
            </a:r>
            <a:r>
              <a:rPr lang="en-IN" sz="4000" b="1" dirty="0"/>
              <a:t>session ID</a:t>
            </a:r>
            <a:r>
              <a:rPr lang="en-IN" sz="4000" dirty="0"/>
              <a:t> to the client (e.g., via cookie).</a:t>
            </a:r>
          </a:p>
          <a:p>
            <a:pPr lvl="0"/>
            <a:r>
              <a:rPr lang="en-IN" sz="4000" dirty="0"/>
              <a:t>On each request, the server must </a:t>
            </a:r>
            <a:r>
              <a:rPr lang="en-IN" sz="4000" b="1" dirty="0"/>
              <a:t>look up that session ID</a:t>
            </a:r>
            <a:r>
              <a:rPr lang="en-IN" sz="4000" dirty="0"/>
              <a:t> to get user details.</a:t>
            </a:r>
          </a:p>
          <a:p>
            <a:r>
              <a:rPr lang="en-IN" sz="4000" u="sng" dirty="0"/>
              <a:t>This means: the </a:t>
            </a:r>
            <a:r>
              <a:rPr lang="en-IN" sz="4000" b="1" u="sng" dirty="0"/>
              <a:t>server holds the “state”</a:t>
            </a:r>
            <a:r>
              <a:rPr lang="en-IN" sz="4000" u="sng" dirty="0"/>
              <a:t> of the user session.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080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760" y="281115"/>
            <a:ext cx="9144000" cy="89846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JWT- Stateless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609344"/>
            <a:ext cx="11073384" cy="4736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stateless because: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</a:t>
            </a:r>
            <a:r>
              <a:rPr lang="en-IN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not store any session or login data</a:t>
            </a: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user information is </a:t>
            </a:r>
            <a:r>
              <a:rPr lang="en-IN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 itself</a:t>
            </a: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just verifies the </a:t>
            </a:r>
            <a:r>
              <a:rPr lang="en-IN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</a:t>
            </a: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trust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330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" y="253683"/>
            <a:ext cx="11795760" cy="1703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How JWT is validated in a distributed web application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" y="2350008"/>
            <a:ext cx="11338560" cy="3950208"/>
          </a:xfrm>
        </p:spPr>
        <p:txBody>
          <a:bodyPr>
            <a:noAutofit/>
          </a:bodyPr>
          <a:lstStyle/>
          <a:p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distributed system</a:t>
            </a: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</a:t>
            </a:r>
            <a:r>
              <a:rPr lang="en-IN" sz="4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microservices</a:t>
            </a: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multiple backend servers behind a load balancer), each server needs to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independently validate</a:t>
            </a: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JWT </a:t>
            </a: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calling a shared session store</a:t>
            </a: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557686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326835"/>
            <a:ext cx="11649456" cy="1008189"/>
          </a:xfrm>
        </p:spPr>
        <p:txBody>
          <a:bodyPr>
            <a:normAutofit/>
          </a:bodyPr>
          <a:lstStyle/>
          <a:p>
            <a:r>
              <a:rPr lang="en-IN" sz="4800" b="1" dirty="0"/>
              <a:t>Step-by-Step JWT Validation Flow: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504" y="1591056"/>
            <a:ext cx="10229088" cy="4992624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User logs in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(to any server/</a:t>
            </a:r>
            <a:r>
              <a:rPr lang="en-IN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generates a JWT with: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info (like </a:t>
            </a:r>
            <a:r>
              <a:rPr lang="en-IN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userId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role)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Expiry time (</a:t>
            </a:r>
            <a:r>
              <a:rPr lang="en-IN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digital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a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 key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(HS256) or </a:t>
            </a: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 key</a:t>
            </a: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(RS256)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sent to client.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21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912" y="153099"/>
            <a:ext cx="10991088" cy="1044765"/>
          </a:xfrm>
        </p:spPr>
        <p:txBody>
          <a:bodyPr/>
          <a:lstStyle/>
          <a:p>
            <a:r>
              <a:rPr lang="en-IN" b="1" dirty="0"/>
              <a:t>Step-by-Step JWT Validation Flow: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2" y="1645920"/>
            <a:ext cx="11439144" cy="4407408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User makes request to any server in the cluster.</a:t>
            </a:r>
            <a:endParaRPr lang="en-IN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request includes the JWT in the Authorization header: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Authorization: Bearer &lt;JWT&gt;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305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572" y="217107"/>
            <a:ext cx="11420856" cy="72472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Step-by-Step JWT Validation Flow: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1179576"/>
            <a:ext cx="11777472" cy="5303520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receives the request.</a:t>
            </a:r>
            <a:endParaRPr lang="en-IN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extracts the token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then: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Verifies the signature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using: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 secret key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(HS256), or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key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(RS256, when token was signed with a private key)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Decodes the payload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only if the signature is valid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Checks expiration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N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claim)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Optionally checks claims like role, scope, issuer, etc.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ts val="1000"/>
              <a:tabLst>
                <a:tab pos="1371600" algn="l"/>
              </a:tabLst>
            </a:pPr>
            <a:r>
              <a:rPr lang="en-IN" sz="2800" b="1" dirty="0"/>
              <a:t>4) If valid → Access granted.</a:t>
            </a:r>
            <a:br>
              <a:rPr lang="en-IN" sz="2800" dirty="0"/>
            </a:br>
            <a:r>
              <a:rPr lang="en-IN" sz="2800" dirty="0"/>
              <a:t>If invalid → Access denied (401 Unauthorized).</a:t>
            </a:r>
            <a:endParaRPr lang="en-IN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692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" y="283465"/>
            <a:ext cx="11868912" cy="868679"/>
          </a:xfrm>
        </p:spPr>
        <p:txBody>
          <a:bodyPr>
            <a:normAutofit/>
          </a:bodyPr>
          <a:lstStyle/>
          <a:p>
            <a:r>
              <a:rPr lang="en-IN" sz="4800" b="1" dirty="0"/>
              <a:t>How do multiple servers validate the token?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" y="1453896"/>
            <a:ext cx="11750040" cy="503834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3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1: Shared secret key (HS256)</a:t>
            </a:r>
            <a:endParaRPr lang="en-IN" sz="4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servers must use the </a:t>
            </a:r>
            <a:r>
              <a:rPr lang="en-IN" sz="43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JWT_SECRET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environment or </a:t>
            </a:r>
            <a:r>
              <a:rPr lang="en-IN" sz="4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then verify the JWT signature identically.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3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2: Public/Private key (RS256)</a:t>
            </a:r>
            <a:endParaRPr lang="en-IN" sz="4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43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 key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used by one service (e.g., </a:t>
            </a:r>
            <a:r>
              <a:rPr lang="en-IN" sz="4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server) to sign tokens.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servers hold the </a:t>
            </a:r>
            <a:r>
              <a:rPr lang="en-IN" sz="43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key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verify tokens.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secure, especially for </a:t>
            </a:r>
            <a:r>
              <a:rPr lang="en-IN" sz="4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</a:t>
            </a:r>
            <a:r>
              <a:rPr lang="en-IN" sz="4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-based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313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290259"/>
            <a:ext cx="11183112" cy="1081341"/>
          </a:xfrm>
        </p:spPr>
        <p:txBody>
          <a:bodyPr/>
          <a:lstStyle/>
          <a:p>
            <a:r>
              <a:rPr lang="en-IN" b="1" u="sng" dirty="0"/>
              <a:t>Common JWT Risks &amp; Fixes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1901952"/>
            <a:ext cx="11311128" cy="4782312"/>
          </a:xfrm>
        </p:spPr>
        <p:txBody>
          <a:bodyPr>
            <a:normAutofit/>
          </a:bodyPr>
          <a:lstStyle/>
          <a:p>
            <a:r>
              <a:rPr lang="en-US" sz="3200" dirty="0"/>
              <a:t>1) </a:t>
            </a:r>
            <a:r>
              <a:rPr lang="en-IN" sz="3200" b="1" dirty="0"/>
              <a:t>Token theft ( via XSS )</a:t>
            </a:r>
          </a:p>
          <a:p>
            <a:r>
              <a:rPr lang="en-US" sz="3200" b="1" dirty="0"/>
              <a:t>Solution:  </a:t>
            </a:r>
            <a:r>
              <a:rPr lang="en-IN" sz="3200" dirty="0"/>
              <a:t>Store JWT in </a:t>
            </a:r>
            <a:r>
              <a:rPr lang="en-IN" sz="3200" b="1" dirty="0" err="1"/>
              <a:t>HttpOnly</a:t>
            </a:r>
            <a:r>
              <a:rPr lang="en-IN" sz="3200" b="1" dirty="0"/>
              <a:t> cookies</a:t>
            </a:r>
            <a:r>
              <a:rPr lang="en-IN" sz="3200" dirty="0"/>
              <a:t>, not in JavaScript-accessible storage.</a:t>
            </a:r>
          </a:p>
          <a:p>
            <a:r>
              <a:rPr lang="en-US" sz="3200" dirty="0"/>
              <a:t>2) </a:t>
            </a:r>
            <a:r>
              <a:rPr lang="en-IN" sz="3200" b="1" dirty="0"/>
              <a:t>Token replay</a:t>
            </a:r>
          </a:p>
          <a:p>
            <a:r>
              <a:rPr lang="en-US" sz="3200" b="1" dirty="0" err="1"/>
              <a:t>e.g</a:t>
            </a:r>
            <a:endParaRPr lang="en-US" sz="3200" b="1" dirty="0"/>
          </a:p>
          <a:p>
            <a:r>
              <a:rPr lang="en-US" sz="3200" dirty="0"/>
              <a:t>An attacker steals a valid JWT (e.g., from </a:t>
            </a:r>
            <a:r>
              <a:rPr lang="en-US" sz="3200" dirty="0" err="1"/>
              <a:t>localStorage</a:t>
            </a:r>
            <a:r>
              <a:rPr lang="en-US" sz="3200" dirty="0"/>
              <a:t>, logs, or insecure network), and </a:t>
            </a:r>
            <a:r>
              <a:rPr lang="en-US" sz="3200" b="1" dirty="0"/>
              <a:t>reuses</a:t>
            </a:r>
            <a:r>
              <a:rPr lang="en-US" sz="3200" dirty="0"/>
              <a:t> it to impersonate the original user — even though they didn’t log in.</a:t>
            </a:r>
          </a:p>
          <a:p>
            <a:r>
              <a:rPr lang="en-US" sz="3200" b="1" dirty="0"/>
              <a:t>Solution</a:t>
            </a:r>
            <a:r>
              <a:rPr lang="en-US" sz="3200" dirty="0"/>
              <a:t>: Use </a:t>
            </a:r>
            <a:r>
              <a:rPr lang="en-US" sz="3200" b="1" dirty="0"/>
              <a:t>short expiry times</a:t>
            </a:r>
            <a:r>
              <a:rPr lang="en-US" sz="3200" dirty="0"/>
              <a:t> + </a:t>
            </a:r>
            <a:r>
              <a:rPr lang="en-US" sz="3200" b="1" dirty="0"/>
              <a:t>refresh tokens</a:t>
            </a:r>
            <a:r>
              <a:rPr lang="en-US" sz="3200" dirty="0"/>
              <a:t>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856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088" y="207963"/>
            <a:ext cx="9144000" cy="1090485"/>
          </a:xfrm>
        </p:spPr>
        <p:txBody>
          <a:bodyPr/>
          <a:lstStyle/>
          <a:p>
            <a:r>
              <a:rPr lang="en-IN" b="1" u="sng" dirty="0"/>
              <a:t>Common JWT Risks &amp; Fixes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93976"/>
            <a:ext cx="9144000" cy="4306824"/>
          </a:xfrm>
        </p:spPr>
        <p:txBody>
          <a:bodyPr>
            <a:noAutofit/>
          </a:bodyPr>
          <a:lstStyle/>
          <a:p>
            <a:r>
              <a:rPr lang="en-US" sz="4400" b="1" dirty="0"/>
              <a:t>Secret/key leakage</a:t>
            </a:r>
            <a:br>
              <a:rPr lang="en-US" sz="4400" dirty="0"/>
            </a:br>
            <a:r>
              <a:rPr lang="en-US" sz="4400" b="1" dirty="0"/>
              <a:t>Solution</a:t>
            </a:r>
            <a:r>
              <a:rPr lang="en-US" sz="4400" dirty="0"/>
              <a:t>:  Store secret keys in </a:t>
            </a:r>
            <a:r>
              <a:rPr lang="en-US" sz="4400" b="1" dirty="0" err="1"/>
              <a:t>env</a:t>
            </a:r>
            <a:r>
              <a:rPr lang="en-US" sz="4400" b="1" dirty="0"/>
              <a:t> variables</a:t>
            </a:r>
            <a:r>
              <a:rPr lang="en-US" sz="4400" dirty="0"/>
              <a:t>, not in code.</a:t>
            </a:r>
          </a:p>
          <a:p>
            <a:r>
              <a:rPr lang="en-US" sz="4400" b="1" dirty="0"/>
              <a:t>Weak signature algorithm</a:t>
            </a:r>
          </a:p>
          <a:p>
            <a:r>
              <a:rPr lang="en-US" sz="4400" b="1" dirty="0"/>
              <a:t>Solution</a:t>
            </a:r>
            <a:r>
              <a:rPr lang="en-US" sz="4400" dirty="0"/>
              <a:t>:  Always use HS256 or RS256 — </a:t>
            </a:r>
            <a:r>
              <a:rPr lang="en-US" sz="4400"/>
              <a:t>never use alg</a:t>
            </a:r>
            <a:r>
              <a:rPr lang="en-US" sz="4400" dirty="0"/>
              <a:t>: none.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63480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1761</Words>
  <Application>Microsoft Office PowerPoint</Application>
  <PresentationFormat>Widescreen</PresentationFormat>
  <Paragraphs>171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Segoe UI Symbol</vt:lpstr>
      <vt:lpstr>Symbol</vt:lpstr>
      <vt:lpstr>Wingdings</vt:lpstr>
      <vt:lpstr>Office Theme</vt:lpstr>
      <vt:lpstr>What is JWT (JSON Web Token)? </vt:lpstr>
      <vt:lpstr>JWT Structure</vt:lpstr>
      <vt:lpstr>Why Do We Need JWT? </vt:lpstr>
      <vt:lpstr>How JWT Works (Flow):</vt:lpstr>
      <vt:lpstr>PowerPoint Presentation</vt:lpstr>
      <vt:lpstr>PowerPoint Presentation</vt:lpstr>
      <vt:lpstr>Real-Life Analogy: </vt:lpstr>
      <vt:lpstr>Advantages of JWT: </vt:lpstr>
      <vt:lpstr>JWT vs Session-Based Authentication </vt:lpstr>
      <vt:lpstr>PowerPoint Presentation</vt:lpstr>
      <vt:lpstr>PowerPoint Presentation</vt:lpstr>
      <vt:lpstr>PowerPoint Presentation</vt:lpstr>
      <vt:lpstr>What is the Security Key in JWT?</vt:lpstr>
      <vt:lpstr>Where is the Security Key Stored?</vt:lpstr>
      <vt:lpstr>How is the Security Key Used? </vt:lpstr>
      <vt:lpstr>PowerPoint Presentation</vt:lpstr>
      <vt:lpstr>Real-Life Analogy: Movie Ticket with Invisible Ink</vt:lpstr>
      <vt:lpstr>JWT is exactly for authentication or authorization ?</vt:lpstr>
      <vt:lpstr>What do you mean by JWT is stateless?</vt:lpstr>
      <vt:lpstr>JWT- Stateless</vt:lpstr>
      <vt:lpstr>JWT- Stateless</vt:lpstr>
      <vt:lpstr>JWT- Stateless</vt:lpstr>
      <vt:lpstr>How JWT is validated in a distributed web application</vt:lpstr>
      <vt:lpstr>Step-by-Step JWT Validation Flow:</vt:lpstr>
      <vt:lpstr>Step-by-Step JWT Validation Flow:</vt:lpstr>
      <vt:lpstr>Step-by-Step JWT Validation Flow:</vt:lpstr>
      <vt:lpstr>How do multiple servers validate the token?</vt:lpstr>
      <vt:lpstr>Common JWT Risks &amp; Fixes</vt:lpstr>
      <vt:lpstr>Common JWT Risks &amp; Fixes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JWT (JSON Web Token)? </dc:title>
  <dc:creator>Microsoft account</dc:creator>
  <cp:lastModifiedBy>sriram mantri vidyanidhi infotech academy</cp:lastModifiedBy>
  <cp:revision>58</cp:revision>
  <dcterms:created xsi:type="dcterms:W3CDTF">2025-06-22T11:49:18Z</dcterms:created>
  <dcterms:modified xsi:type="dcterms:W3CDTF">2025-07-01T01:48:53Z</dcterms:modified>
</cp:coreProperties>
</file>