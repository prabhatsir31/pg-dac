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74" r:id="rId2"/>
    <p:sldId id="500" r:id="rId3"/>
    <p:sldId id="275" r:id="rId4"/>
    <p:sldId id="551" r:id="rId5"/>
    <p:sldId id="552" r:id="rId6"/>
    <p:sldId id="553" r:id="rId7"/>
    <p:sldId id="554" r:id="rId8"/>
    <p:sldId id="555" r:id="rId9"/>
    <p:sldId id="556" r:id="rId10"/>
    <p:sldId id="557" r:id="rId11"/>
    <p:sldId id="558" r:id="rId12"/>
    <p:sldId id="559" r:id="rId13"/>
    <p:sldId id="550" r:id="rId14"/>
    <p:sldId id="564" r:id="rId15"/>
    <p:sldId id="567" r:id="rId16"/>
    <p:sldId id="568" r:id="rId17"/>
    <p:sldId id="569" r:id="rId18"/>
    <p:sldId id="574" r:id="rId19"/>
    <p:sldId id="570" r:id="rId20"/>
    <p:sldId id="571" r:id="rId21"/>
    <p:sldId id="572" r:id="rId22"/>
    <p:sldId id="573" r:id="rId23"/>
    <p:sldId id="560" r:id="rId24"/>
    <p:sldId id="536" r:id="rId25"/>
    <p:sldId id="511" r:id="rId26"/>
    <p:sldId id="512" r:id="rId27"/>
    <p:sldId id="513" r:id="rId28"/>
    <p:sldId id="514" r:id="rId29"/>
    <p:sldId id="515" r:id="rId30"/>
    <p:sldId id="516" r:id="rId31"/>
    <p:sldId id="517" r:id="rId32"/>
    <p:sldId id="520" r:id="rId33"/>
    <p:sldId id="521" r:id="rId34"/>
    <p:sldId id="527" r:id="rId35"/>
    <p:sldId id="575" r:id="rId36"/>
    <p:sldId id="576" r:id="rId37"/>
    <p:sldId id="577" r:id="rId38"/>
    <p:sldId id="578" r:id="rId39"/>
    <p:sldId id="579" r:id="rId40"/>
    <p:sldId id="580" r:id="rId41"/>
    <p:sldId id="581" r:id="rId42"/>
    <p:sldId id="582" r:id="rId43"/>
    <p:sldId id="584" r:id="rId44"/>
    <p:sldId id="583" r:id="rId45"/>
    <p:sldId id="528" r:id="rId46"/>
    <p:sldId id="529" r:id="rId47"/>
    <p:sldId id="530" r:id="rId48"/>
    <p:sldId id="531" r:id="rId49"/>
    <p:sldId id="532" r:id="rId50"/>
    <p:sldId id="533" r:id="rId51"/>
    <p:sldId id="534" r:id="rId52"/>
    <p:sldId id="535" r:id="rId53"/>
    <p:sldId id="299" r:id="rId54"/>
    <p:sldId id="522" r:id="rId55"/>
    <p:sldId id="589" r:id="rId56"/>
    <p:sldId id="585" r:id="rId57"/>
    <p:sldId id="588" r:id="rId58"/>
    <p:sldId id="590" r:id="rId59"/>
    <p:sldId id="591" r:id="rId60"/>
    <p:sldId id="592" r:id="rId61"/>
    <p:sldId id="593" r:id="rId62"/>
    <p:sldId id="595" r:id="rId63"/>
    <p:sldId id="596" r:id="rId64"/>
    <p:sldId id="599" r:id="rId65"/>
    <p:sldId id="600" r:id="rId66"/>
    <p:sldId id="601" r:id="rId67"/>
    <p:sldId id="594" r:id="rId68"/>
    <p:sldId id="597" r:id="rId69"/>
    <p:sldId id="598" r:id="rId70"/>
    <p:sldId id="463" r:id="rId71"/>
    <p:sldId id="602"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9981" autoAdjust="0"/>
  </p:normalViewPr>
  <p:slideViewPr>
    <p:cSldViewPr snapToGrid="0">
      <p:cViewPr varScale="1">
        <p:scale>
          <a:sx n="62" d="100"/>
          <a:sy n="62" d="100"/>
        </p:scale>
        <p:origin x="105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508E4-EAAD-40C8-BAA4-BE4ADF8043BA}" type="datetimeFigureOut">
              <a:rPr lang="en-IN" smtClean="0"/>
              <a:t>20-11-2021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DE64D-A808-424E-BE80-43CF1A2FEB01}" type="slidenum">
              <a:rPr lang="en-IN" smtClean="0"/>
              <a:t>‹#›</a:t>
            </a:fld>
            <a:endParaRPr lang="en-IN"/>
          </a:p>
        </p:txBody>
      </p:sp>
    </p:spTree>
    <p:extLst>
      <p:ext uri="{BB962C8B-B14F-4D97-AF65-F5344CB8AC3E}">
        <p14:creationId xmlns:p14="http://schemas.microsoft.com/office/powerpoint/2010/main" val="3941606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1ebbc002c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g71ebbc002c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63" name="Google Shape;63;g71ebbc002c_0_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8781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1ebbc002c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g71ebbc002c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63" name="Google Shape;63;g71ebbc002c_0_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27060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1059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2892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5007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80230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538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92680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1207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3010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0718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8513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2078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84851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24548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908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47356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3331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00760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4368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95082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3420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3940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78669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78630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55025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29224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02623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67031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61646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357414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56937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144159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7037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331918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9954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96055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6044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828124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786303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38062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65811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349549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65408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447095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12940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53471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06253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27153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662061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42470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243974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890eacd672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890eacd672_0_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018372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575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72633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000407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54472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03481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16601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352393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135124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173523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41349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451503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28582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64750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97496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63748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71ebbc002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71ebbc002c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10124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6eb66d12f7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g6eb66d12f7_0_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05" name="Google Shape;705;g6eb66d12f7_0_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4196833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6eb66d12f7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g6eb66d12f7_0_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05" name="Google Shape;705;g6eb66d12f7_0_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83436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72F5C4B-CEA4-4350-87BC-3A1879D43278}" type="datetimeFigureOut">
              <a:rPr lang="en-IN" smtClean="0"/>
              <a:t>20-11-2021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2523532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2F5C4B-CEA4-4350-87BC-3A1879D43278}" type="datetimeFigureOut">
              <a:rPr lang="en-IN" smtClean="0"/>
              <a:t>20-11-2021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121714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2F5C4B-CEA4-4350-87BC-3A1879D43278}" type="datetimeFigureOut">
              <a:rPr lang="en-IN" smtClean="0"/>
              <a:t>20-11-2021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3531220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72F5C4B-CEA4-4350-87BC-3A1879D43278}" type="datetimeFigureOut">
              <a:rPr lang="en-IN" smtClean="0"/>
              <a:t>20-11-2021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77498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2F5C4B-CEA4-4350-87BC-3A1879D43278}" type="datetimeFigureOut">
              <a:rPr lang="en-IN" smtClean="0"/>
              <a:t>20-11-2021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107477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72F5C4B-CEA4-4350-87BC-3A1879D43278}" type="datetimeFigureOut">
              <a:rPr lang="en-IN" smtClean="0"/>
              <a:t>20-11-2021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97799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2F5C4B-CEA4-4350-87BC-3A1879D43278}" type="datetimeFigureOut">
              <a:rPr lang="en-IN" smtClean="0"/>
              <a:t>20-11-2021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279446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2F5C4B-CEA4-4350-87BC-3A1879D43278}" type="datetimeFigureOut">
              <a:rPr lang="en-IN" smtClean="0"/>
              <a:t>20-11-2021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3078648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2F5C4B-CEA4-4350-87BC-3A1879D43278}" type="datetimeFigureOut">
              <a:rPr lang="en-IN" smtClean="0"/>
              <a:t>20-11-2021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394031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2F5C4B-CEA4-4350-87BC-3A1879D43278}" type="datetimeFigureOut">
              <a:rPr lang="en-IN" smtClean="0"/>
              <a:t>20-11-2021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1563197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2F5C4B-CEA4-4350-87BC-3A1879D43278}" type="datetimeFigureOut">
              <a:rPr lang="en-IN" smtClean="0"/>
              <a:t>20-11-2021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06834-4B93-46E5-BBA4-482167FD0038}" type="slidenum">
              <a:rPr lang="en-IN" smtClean="0"/>
              <a:t>‹#›</a:t>
            </a:fld>
            <a:endParaRPr lang="en-IN"/>
          </a:p>
        </p:txBody>
      </p:sp>
    </p:spTree>
    <p:extLst>
      <p:ext uri="{BB962C8B-B14F-4D97-AF65-F5344CB8AC3E}">
        <p14:creationId xmlns:p14="http://schemas.microsoft.com/office/powerpoint/2010/main" val="3072572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Design">
  <p:cSld name="2_Design">
    <p:spTree>
      <p:nvGrpSpPr>
        <p:cNvPr id="1" name="Shape 50"/>
        <p:cNvGrpSpPr/>
        <p:nvPr/>
      </p:nvGrpSpPr>
      <p:grpSpPr>
        <a:xfrm>
          <a:off x="0" y="0"/>
          <a:ext cx="0" cy="0"/>
          <a:chOff x="0" y="0"/>
          <a:chExt cx="0" cy="0"/>
        </a:xfrm>
      </p:grpSpPr>
    </p:spTree>
    <p:extLst>
      <p:ext uri="{BB962C8B-B14F-4D97-AF65-F5344CB8AC3E}">
        <p14:creationId xmlns:p14="http://schemas.microsoft.com/office/powerpoint/2010/main" val="2966816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2F5C4B-CEA4-4350-87BC-3A1879D43278}" type="datetimeFigureOut">
              <a:rPr lang="en-IN" smtClean="0"/>
              <a:t>20-11-2021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F06834-4B93-46E5-BBA4-482167FD0038}" type="slidenum">
              <a:rPr lang="en-IN" smtClean="0"/>
              <a:t>‹#›</a:t>
            </a:fld>
            <a:endParaRPr lang="en-IN"/>
          </a:p>
        </p:txBody>
      </p:sp>
    </p:spTree>
    <p:extLst>
      <p:ext uri="{BB962C8B-B14F-4D97-AF65-F5344CB8AC3E}">
        <p14:creationId xmlns:p14="http://schemas.microsoft.com/office/powerpoint/2010/main" val="1655554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sv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1.png"/><Relationship Id="rId5" Type="http://schemas.openxmlformats.org/officeDocument/2006/relationships/image" Target="../media/image5.e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3" Type="http://schemas.openxmlformats.org/officeDocument/2006/relationships/hyperlink" Target="http://www.mongodb.com/document-database"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11.sv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6.xml.rels><?xml version="1.0" encoding="UTF-8" standalone="yes"?>
<Relationships xmlns="http://schemas.openxmlformats.org/package/2006/relationships"><Relationship Id="rId3" Type="http://schemas.openxmlformats.org/officeDocument/2006/relationships/hyperlink" Target="http://docs.mongodb.org/manual/reference/database-references/" TargetMode="External"/><Relationship Id="rId2" Type="http://schemas.openxmlformats.org/officeDocument/2006/relationships/notesSlide" Target="../notesSlides/notesSlide46.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1.xml.rels><?xml version="1.0" encoding="UTF-8" standalone="yes"?>
<Relationships xmlns="http://schemas.openxmlformats.org/package/2006/relationships"><Relationship Id="rId3" Type="http://schemas.openxmlformats.org/officeDocument/2006/relationships/hyperlink" Target="http://docs.mongodb.org/manual/reference/bson-types/#document-bson-type-date" TargetMode="External"/><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2.xml"/><Relationship Id="rId5" Type="http://schemas.openxmlformats.org/officeDocument/2006/relationships/image" Target="../media/image2.sv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70.xml.rels><?xml version="1.0" encoding="UTF-8" standalone="yes"?>
<Relationships xmlns="http://schemas.openxmlformats.org/package/2006/relationships"><Relationship Id="rId3" Type="http://schemas.openxmlformats.org/officeDocument/2006/relationships/hyperlink" Target="https://docs.mongodb.com/manual/tutorial/" TargetMode="External"/><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p:nvPr/>
        </p:nvSpPr>
        <p:spPr>
          <a:xfrm>
            <a:off x="919143" y="747366"/>
            <a:ext cx="10058400" cy="4267085"/>
          </a:xfrm>
          <a:prstGeom prst="rect">
            <a:avLst/>
          </a:prstGeom>
          <a:noFill/>
          <a:ln>
            <a:noFill/>
          </a:ln>
        </p:spPr>
        <p:txBody>
          <a:bodyPr spcFirstLastPara="1" wrap="square" lIns="45733" tIns="22867" rIns="45733" bIns="22867" anchor="t" anchorCtr="0">
            <a:noAutofit/>
          </a:bodyPr>
          <a:lstStyle/>
          <a:p>
            <a:pPr>
              <a:buClr>
                <a:srgbClr val="000000"/>
              </a:buClr>
              <a:buSzPts val="2400"/>
            </a:pPr>
            <a:endParaRPr lang="en-IN" sz="6667" dirty="0">
              <a:solidFill>
                <a:srgbClr val="7F7F7F"/>
              </a:solidFill>
              <a:latin typeface="Avenir"/>
              <a:sym typeface="Avenir"/>
            </a:endParaRPr>
          </a:p>
          <a:p>
            <a:pPr>
              <a:buClr>
                <a:srgbClr val="000000"/>
              </a:buClr>
              <a:buSzPts val="2400"/>
            </a:pPr>
            <a:r>
              <a:rPr lang="en-IN" sz="6667" dirty="0">
                <a:solidFill>
                  <a:srgbClr val="7F7F7F"/>
                </a:solidFill>
                <a:latin typeface="Avenir"/>
                <a:sym typeface="Avenir"/>
              </a:rPr>
              <a:t>NoSQL databases </a:t>
            </a:r>
          </a:p>
          <a:p>
            <a:pPr>
              <a:buClr>
                <a:srgbClr val="000000"/>
              </a:buClr>
              <a:buSzPts val="2400"/>
            </a:pPr>
            <a:r>
              <a:rPr lang="en-IN" sz="6667" dirty="0">
                <a:solidFill>
                  <a:srgbClr val="7F7F7F"/>
                </a:solidFill>
                <a:latin typeface="Avenir"/>
                <a:sym typeface="Avenir"/>
              </a:rPr>
              <a:t>and MongoDB</a:t>
            </a:r>
            <a:endParaRPr sz="6667" dirty="0">
              <a:solidFill>
                <a:srgbClr val="7F7F7F"/>
              </a:solidFill>
              <a:latin typeface="Avenir"/>
              <a:sym typeface="Avenir"/>
            </a:endParaRPr>
          </a:p>
        </p:txBody>
      </p:sp>
      <p:sp>
        <p:nvSpPr>
          <p:cNvPr id="66" name="Google Shape;66;p15"/>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67" name="Google Shape;67;p15"/>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6" name="Graphic 1">
            <a:extLst>
              <a:ext uri="{FF2B5EF4-FFF2-40B4-BE49-F238E27FC236}">
                <a16:creationId xmlns:a16="http://schemas.microsoft.com/office/drawing/2014/main" id="{84507148-27E0-41DB-B111-BC1AAA911675}"/>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414789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p:nvPr/>
        </p:nvSpPr>
        <p:spPr>
          <a:xfrm>
            <a:off x="711200" y="684167"/>
            <a:ext cx="10058400" cy="687433"/>
          </a:xfrm>
          <a:prstGeom prst="rect">
            <a:avLst/>
          </a:prstGeom>
          <a:noFill/>
          <a:ln>
            <a:noFill/>
          </a:ln>
        </p:spPr>
        <p:txBody>
          <a:bodyPr spcFirstLastPara="1" wrap="square" lIns="45733" tIns="22867" rIns="45733" bIns="22867" anchor="t" anchorCtr="0">
            <a:noAutofit/>
          </a:bodyPr>
          <a:lstStyle/>
          <a:p>
            <a:pPr>
              <a:buClr>
                <a:srgbClr val="000000"/>
              </a:buClr>
              <a:buSzPts val="2400"/>
            </a:pPr>
            <a:r>
              <a:rPr lang="en" sz="3600" b="1" dirty="0">
                <a:solidFill>
                  <a:schemeClr val="dk1"/>
                </a:solidFill>
                <a:latin typeface="Avenir"/>
                <a:sym typeface="Avenir"/>
              </a:rPr>
              <a:t>Agenda</a:t>
            </a:r>
            <a:endParaRPr sz="3600" b="1" dirty="0">
              <a:solidFill>
                <a:schemeClr val="dk1"/>
              </a:solidFill>
              <a:latin typeface="Avenir"/>
              <a:sym typeface="Avenir"/>
            </a:endParaRPr>
          </a:p>
        </p:txBody>
      </p:sp>
      <p:sp>
        <p:nvSpPr>
          <p:cNvPr id="66" name="Google Shape;66;p15"/>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67" name="Google Shape;67;p15"/>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6" name="Google Shape;74;p16">
            <a:extLst>
              <a:ext uri="{FF2B5EF4-FFF2-40B4-BE49-F238E27FC236}">
                <a16:creationId xmlns:a16="http://schemas.microsoft.com/office/drawing/2014/main" id="{B66A9537-CDCA-418B-A7B5-DE580C10667E}"/>
              </a:ext>
            </a:extLst>
          </p:cNvPr>
          <p:cNvSpPr txBox="1"/>
          <p:nvPr/>
        </p:nvSpPr>
        <p:spPr>
          <a:xfrm>
            <a:off x="711200" y="1415961"/>
            <a:ext cx="11031200" cy="5029084"/>
          </a:xfrm>
          <a:prstGeom prst="rect">
            <a:avLst/>
          </a:prstGeom>
          <a:noFill/>
          <a:ln>
            <a:noFill/>
          </a:ln>
        </p:spPr>
        <p:txBody>
          <a:bodyPr spcFirstLastPara="1" wrap="square" lIns="121900" tIns="121900" rIns="121900" bIns="121900" anchor="t" anchorCtr="0">
            <a:noAutofit/>
          </a:bodyPr>
          <a:lstStyle/>
          <a:p>
            <a:pPr marL="457200" indent="-330200" algn="just">
              <a:lnSpc>
                <a:spcPct val="150000"/>
              </a:lnSpc>
              <a:buClr>
                <a:schemeClr val="dk1"/>
              </a:buClr>
              <a:buSzPts val="1600"/>
              <a:buFont typeface="Avenir"/>
              <a:buChar char="●"/>
            </a:pPr>
            <a:r>
              <a:rPr lang="en-IN" sz="2400" dirty="0">
                <a:solidFill>
                  <a:schemeClr val="dk1"/>
                </a:solidFill>
                <a:latin typeface="Avenir"/>
                <a:sym typeface="Avenir"/>
              </a:rPr>
              <a:t>What is NoSQL databases</a:t>
            </a:r>
          </a:p>
          <a:p>
            <a:pPr marL="457200" indent="-330200" algn="just">
              <a:lnSpc>
                <a:spcPct val="150000"/>
              </a:lnSpc>
              <a:buClr>
                <a:schemeClr val="dk1"/>
              </a:buClr>
              <a:buSzPts val="1600"/>
              <a:buFont typeface="Avenir"/>
              <a:buChar char="●"/>
            </a:pPr>
            <a:r>
              <a:rPr lang="en-IN" sz="2400" dirty="0">
                <a:solidFill>
                  <a:schemeClr val="dk1"/>
                </a:solidFill>
                <a:latin typeface="Avenir"/>
                <a:sym typeface="Avenir"/>
              </a:rPr>
              <a:t>Different kinds of NoSQL databases </a:t>
            </a:r>
          </a:p>
          <a:p>
            <a:pPr marL="457200" indent="-330200" algn="just">
              <a:lnSpc>
                <a:spcPct val="150000"/>
              </a:lnSpc>
              <a:buClr>
                <a:schemeClr val="dk1"/>
              </a:buClr>
              <a:buSzPts val="1600"/>
              <a:buFont typeface="Avenir"/>
              <a:buChar char="●"/>
            </a:pPr>
            <a:r>
              <a:rPr lang="en-IN" sz="2400" dirty="0">
                <a:solidFill>
                  <a:schemeClr val="dk1"/>
                </a:solidFill>
                <a:latin typeface="Avenir"/>
              </a:rPr>
              <a:t>What is MongoDB</a:t>
            </a:r>
            <a:r>
              <a:rPr lang="en-US" sz="2400" dirty="0">
                <a:solidFill>
                  <a:schemeClr val="dk1"/>
                </a:solidFill>
                <a:latin typeface="Avenir"/>
              </a:rPr>
              <a:t>?</a:t>
            </a:r>
          </a:p>
          <a:p>
            <a:pPr marL="457200" indent="-330200" algn="just">
              <a:lnSpc>
                <a:spcPct val="150000"/>
              </a:lnSpc>
              <a:buClr>
                <a:schemeClr val="dk1"/>
              </a:buClr>
              <a:buSzPts val="1600"/>
              <a:buFont typeface="Avenir"/>
              <a:buChar char="●"/>
            </a:pPr>
            <a:r>
              <a:rPr lang="en-IN" sz="2400" dirty="0">
                <a:solidFill>
                  <a:schemeClr val="dk1"/>
                </a:solidFill>
                <a:latin typeface="Avenir"/>
              </a:rPr>
              <a:t>Overview of MongoDB</a:t>
            </a:r>
            <a:r>
              <a:rPr lang="en" sz="2400" dirty="0">
                <a:solidFill>
                  <a:schemeClr val="dk1"/>
                </a:solidFill>
                <a:latin typeface="Avenir"/>
              </a:rPr>
              <a:t>.</a:t>
            </a:r>
            <a:endParaRPr lang="en-US" sz="2400" dirty="0">
              <a:solidFill>
                <a:schemeClr val="dk1"/>
              </a:solidFill>
              <a:latin typeface="Avenir"/>
            </a:endParaRPr>
          </a:p>
          <a:p>
            <a:pPr marL="457200" indent="-330200" algn="just">
              <a:lnSpc>
                <a:spcPct val="150000"/>
              </a:lnSpc>
              <a:buClr>
                <a:schemeClr val="dk1"/>
              </a:buClr>
              <a:buSzPts val="1600"/>
              <a:buFont typeface="Avenir"/>
              <a:buChar char="●"/>
            </a:pPr>
            <a:r>
              <a:rPr lang="en-IN" sz="2400" dirty="0">
                <a:solidFill>
                  <a:schemeClr val="dk1"/>
                </a:solidFill>
                <a:latin typeface="Avenir"/>
              </a:rPr>
              <a:t>MongoDB’s key features</a:t>
            </a:r>
          </a:p>
          <a:p>
            <a:pPr marL="457200" indent="-330200" algn="just">
              <a:lnSpc>
                <a:spcPct val="150000"/>
              </a:lnSpc>
              <a:buClr>
                <a:schemeClr val="dk1"/>
              </a:buClr>
              <a:buSzPts val="1600"/>
              <a:buFont typeface="Avenir"/>
              <a:buChar char="●"/>
            </a:pPr>
            <a:r>
              <a:rPr lang="en-IN" sz="2400" dirty="0">
                <a:solidFill>
                  <a:schemeClr val="dk1"/>
                </a:solidFill>
                <a:latin typeface="Avenir"/>
              </a:rPr>
              <a:t>MongoDB’s core server and tools</a:t>
            </a:r>
            <a:r>
              <a:rPr lang="en-US" sz="2400" dirty="0">
                <a:solidFill>
                  <a:schemeClr val="dk1"/>
                </a:solidFill>
                <a:latin typeface="Avenir"/>
              </a:rPr>
              <a:t>.</a:t>
            </a:r>
          </a:p>
          <a:p>
            <a:pPr marL="457200" indent="-330200" algn="just">
              <a:lnSpc>
                <a:spcPct val="150000"/>
              </a:lnSpc>
              <a:buClr>
                <a:schemeClr val="dk1"/>
              </a:buClr>
              <a:buSzPts val="1600"/>
              <a:buFont typeface="Avenir"/>
              <a:buChar char="●"/>
            </a:pPr>
            <a:r>
              <a:rPr lang="en-IN" sz="2400" dirty="0">
                <a:solidFill>
                  <a:schemeClr val="dk1"/>
                </a:solidFill>
                <a:latin typeface="Avenir"/>
              </a:rPr>
              <a:t>Installing MongoDB</a:t>
            </a:r>
          </a:p>
          <a:p>
            <a:pPr marL="457200" indent="-330200" algn="just">
              <a:lnSpc>
                <a:spcPct val="150000"/>
              </a:lnSpc>
              <a:buClr>
                <a:schemeClr val="dk1"/>
              </a:buClr>
              <a:buSzPts val="1600"/>
              <a:buFont typeface="Avenir"/>
              <a:buChar char="●"/>
            </a:pPr>
            <a:r>
              <a:rPr lang="en-IN" sz="2400" dirty="0">
                <a:solidFill>
                  <a:schemeClr val="dk1"/>
                </a:solidFill>
                <a:latin typeface="Avenir"/>
              </a:rPr>
              <a:t>Use cases and production deployment </a:t>
            </a:r>
          </a:p>
          <a:p>
            <a:pPr marL="457200" indent="-330200" algn="just">
              <a:lnSpc>
                <a:spcPct val="150000"/>
              </a:lnSpc>
              <a:buClr>
                <a:schemeClr val="dk1"/>
              </a:buClr>
              <a:buSzPts val="1600"/>
              <a:buFont typeface="Avenir"/>
              <a:buChar char="●"/>
            </a:pPr>
            <a:r>
              <a:rPr lang="en-IN" sz="2400" dirty="0">
                <a:solidFill>
                  <a:schemeClr val="dk1"/>
                </a:solidFill>
                <a:latin typeface="Avenir"/>
              </a:rPr>
              <a:t>Data Types, Schema Design and Data Modelling</a:t>
            </a:r>
            <a:endParaRPr lang="en-US" sz="2400" dirty="0">
              <a:solidFill>
                <a:schemeClr val="dk1"/>
              </a:solidFill>
              <a:latin typeface="Avenir"/>
            </a:endParaRPr>
          </a:p>
          <a:p>
            <a:endParaRPr lang="en-US" sz="2400" dirty="0">
              <a:solidFill>
                <a:prstClr val="black"/>
              </a:solidFill>
              <a:latin typeface="Fontin Sans Bold"/>
            </a:endParaRPr>
          </a:p>
          <a:p>
            <a:pPr marL="457200" lvl="1" indent="0">
              <a:buFont typeface="Arial"/>
              <a:buNone/>
            </a:pPr>
            <a:endParaRPr lang="en-IN" sz="2400" dirty="0">
              <a:solidFill>
                <a:prstClr val="black"/>
              </a:solidFill>
              <a:latin typeface="Fontin Sans Bold"/>
            </a:endParaRPr>
          </a:p>
          <a:p>
            <a:pPr marL="1219170" algn="just"/>
            <a:endParaRPr sz="2400" dirty="0">
              <a:solidFill>
                <a:srgbClr val="666666"/>
              </a:solidFill>
              <a:latin typeface="Avenir"/>
              <a:ea typeface="Avenir"/>
              <a:cs typeface="Avenir"/>
              <a:sym typeface="Avenir"/>
            </a:endParaRPr>
          </a:p>
        </p:txBody>
      </p:sp>
      <p:pic>
        <p:nvPicPr>
          <p:cNvPr id="7" name="Graphic 1">
            <a:extLst>
              <a:ext uri="{FF2B5EF4-FFF2-40B4-BE49-F238E27FC236}">
                <a16:creationId xmlns:a16="http://schemas.microsoft.com/office/drawing/2014/main" id="{376718C6-2555-4BD1-94C9-1FBD80719C5B}"/>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613136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Why NoSQL?</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457200"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Relational databases </a:t>
            </a:r>
            <a:r>
              <a:rPr lang="en-US" altLang="en-US" sz="2400" dirty="0">
                <a:solidFill>
                  <a:schemeClr val="dk1"/>
                </a:solidFill>
                <a:latin typeface="Avenir"/>
                <a:sym typeface="Symbol" panose="05050102010706020507" pitchFamily="18" charset="2"/>
              </a:rPr>
              <a:t></a:t>
            </a:r>
            <a:r>
              <a:rPr lang="en-US" altLang="en-US" sz="2400" dirty="0">
                <a:solidFill>
                  <a:schemeClr val="dk1"/>
                </a:solidFill>
                <a:latin typeface="Avenir"/>
              </a:rPr>
              <a:t> mainstay of business</a:t>
            </a:r>
          </a:p>
          <a:p>
            <a:pPr marL="457200"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Web-based applications caused spikes</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explosion of social media sites (Facebook, Twitter) with large data needs</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Example of such data : Personal user information, geo location data, social graphs , user generated contents , machine-logging data, sensor generated data </a:t>
            </a:r>
            <a:r>
              <a:rPr lang="en-US" altLang="en-US" sz="2400" dirty="0" err="1">
                <a:solidFill>
                  <a:schemeClr val="dk1"/>
                </a:solidFill>
                <a:latin typeface="Avenir"/>
              </a:rPr>
              <a:t>etc</a:t>
            </a:r>
            <a:endParaRPr lang="en-US" altLang="en-US" sz="2400" dirty="0">
              <a:solidFill>
                <a:schemeClr val="dk1"/>
              </a:solidFill>
              <a:latin typeface="Avenir"/>
            </a:endParaRP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rise of cloud-based solutions such as Amazon S3 (simple storage solution)</a:t>
            </a:r>
          </a:p>
          <a:p>
            <a:pPr marL="1219170" algn="just"/>
            <a:endParaRPr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B43D078A-4760-4338-9323-AE73BF30900E}"/>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110739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Challenges with RDBMS</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457200"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Hooking RDBMS to web-based application becomes trouble</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Developers begin to front RDBMS with </a:t>
            </a:r>
            <a:r>
              <a:rPr lang="en-US" sz="2400" dirty="0" err="1">
                <a:solidFill>
                  <a:schemeClr val="dk1"/>
                </a:solidFill>
                <a:latin typeface="Avenir"/>
              </a:rPr>
              <a:t>memcache</a:t>
            </a:r>
            <a:r>
              <a:rPr lang="en-US" sz="2400" dirty="0">
                <a:solidFill>
                  <a:schemeClr val="dk1"/>
                </a:solidFill>
                <a:latin typeface="Avenir"/>
              </a:rPr>
              <a:t> or integrate other caching mechanisms within the application (</a:t>
            </a:r>
            <a:r>
              <a:rPr lang="en-US" sz="2400" dirty="0" err="1">
                <a:solidFill>
                  <a:schemeClr val="dk1"/>
                </a:solidFill>
                <a:latin typeface="Avenir"/>
              </a:rPr>
              <a:t>ie</a:t>
            </a:r>
            <a:r>
              <a:rPr lang="en-US" sz="2400" dirty="0">
                <a:solidFill>
                  <a:schemeClr val="dk1"/>
                </a:solidFill>
                <a:latin typeface="Avenir"/>
              </a:rPr>
              <a:t>. </a:t>
            </a:r>
            <a:r>
              <a:rPr lang="en-US" sz="2400" dirty="0" err="1">
                <a:solidFill>
                  <a:schemeClr val="dk1"/>
                </a:solidFill>
                <a:latin typeface="Avenir"/>
              </a:rPr>
              <a:t>Ehcache</a:t>
            </a:r>
            <a:r>
              <a:rPr lang="en-US" sz="2400" dirty="0">
                <a:solidFill>
                  <a:schemeClr val="dk1"/>
                </a:solidFill>
                <a:latin typeface="Avenir"/>
              </a:rPr>
              <a:t>)</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As datasets grew, the simple </a:t>
            </a:r>
            <a:r>
              <a:rPr lang="en-US" sz="2400" dirty="0" err="1">
                <a:solidFill>
                  <a:schemeClr val="dk1"/>
                </a:solidFill>
                <a:latin typeface="Avenir"/>
              </a:rPr>
              <a:t>memcache</a:t>
            </a:r>
            <a:r>
              <a:rPr lang="en-US" sz="2400" dirty="0">
                <a:solidFill>
                  <a:schemeClr val="dk1"/>
                </a:solidFill>
                <a:latin typeface="Avenir"/>
              </a:rPr>
              <a:t>/MySQL model (for lower-cost startups) started to become problematic</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Hence, developers look forward to improve existing applications and develop new applications which can meet the needs of Big Data</a:t>
            </a:r>
            <a:endParaRPr lang="en-US" altLang="en-US" sz="2400" dirty="0">
              <a:solidFill>
                <a:schemeClr val="dk1"/>
              </a:solidFill>
              <a:latin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F65367CE-CA2E-4DAB-A268-38EF6E372C6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84850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Issue with Scaling Up</a:t>
            </a:r>
            <a:endParaRPr sz="3600" b="1" dirty="0">
              <a:solidFill>
                <a:schemeClr val="dk1"/>
              </a:solidFill>
              <a:latin typeface="Avenir"/>
              <a:sym typeface="Avenir"/>
            </a:endParaRPr>
          </a:p>
        </p:txBody>
      </p:sp>
      <p:sp>
        <p:nvSpPr>
          <p:cNvPr id="74" name="Google Shape;74;p16"/>
          <p:cNvSpPr txBox="1"/>
          <p:nvPr/>
        </p:nvSpPr>
        <p:spPr>
          <a:xfrm>
            <a:off x="580400" y="1371599"/>
            <a:ext cx="11031200" cy="5348633"/>
          </a:xfrm>
          <a:prstGeom prst="rect">
            <a:avLst/>
          </a:prstGeom>
          <a:noFill/>
          <a:ln>
            <a:noFill/>
          </a:ln>
        </p:spPr>
        <p:txBody>
          <a:bodyPr spcFirstLastPara="1" wrap="square" lIns="121900" tIns="121900" rIns="121900" bIns="121900" anchor="t" anchorCtr="0">
            <a:noAutofit/>
          </a:bodyPr>
          <a:lstStyle/>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Not possible to store and query when the dataset is just too big</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RDBMS were not designed to be distributed</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Began to look at multi-node database solutions</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Known as ‘scaling out’ or ‘horizontal scaling’</a:t>
            </a:r>
          </a:p>
          <a:p>
            <a:pPr marL="457200"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Different approaches include:</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Master-slave</a:t>
            </a:r>
          </a:p>
          <a:p>
            <a:pPr lvl="1" indent="-330200" algn="just" fontAlgn="base">
              <a:lnSpc>
                <a:spcPct val="150000"/>
              </a:lnSpc>
              <a:spcBef>
                <a:spcPct val="20000"/>
              </a:spcBef>
              <a:spcAft>
                <a:spcPct val="0"/>
              </a:spcAft>
              <a:buClr>
                <a:schemeClr val="dk1"/>
              </a:buClr>
              <a:buSzPts val="1600"/>
              <a:buFont typeface="Avenir"/>
              <a:buChar char="●"/>
            </a:pPr>
            <a:r>
              <a:rPr lang="en-US" sz="2400" dirty="0" err="1">
                <a:solidFill>
                  <a:schemeClr val="dk1"/>
                </a:solidFill>
                <a:latin typeface="Avenir"/>
              </a:rPr>
              <a:t>Sharding</a:t>
            </a:r>
            <a:endParaRPr lang="en-US" sz="2400" dirty="0">
              <a:solidFill>
                <a:schemeClr val="dk1"/>
              </a:solidFill>
              <a:latin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2" name="Cylinder 1">
            <a:extLst>
              <a:ext uri="{FF2B5EF4-FFF2-40B4-BE49-F238E27FC236}">
                <a16:creationId xmlns:a16="http://schemas.microsoft.com/office/drawing/2014/main" id="{0EDDD7E9-5DFD-47B3-B932-8030E0A41B9A}"/>
              </a:ext>
            </a:extLst>
          </p:cNvPr>
          <p:cNvSpPr/>
          <p:nvPr/>
        </p:nvSpPr>
        <p:spPr>
          <a:xfrm>
            <a:off x="3180735" y="4531441"/>
            <a:ext cx="1504336" cy="1238865"/>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8" name="Cylinder 7">
            <a:extLst>
              <a:ext uri="{FF2B5EF4-FFF2-40B4-BE49-F238E27FC236}">
                <a16:creationId xmlns:a16="http://schemas.microsoft.com/office/drawing/2014/main" id="{804A3EDF-EA89-4AA3-90C7-FC5C1EAC7B62}"/>
              </a:ext>
            </a:extLst>
          </p:cNvPr>
          <p:cNvSpPr/>
          <p:nvPr/>
        </p:nvSpPr>
        <p:spPr>
          <a:xfrm>
            <a:off x="5658464" y="3781200"/>
            <a:ext cx="1504336" cy="2204883"/>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9" name="Cylinder 8">
            <a:extLst>
              <a:ext uri="{FF2B5EF4-FFF2-40B4-BE49-F238E27FC236}">
                <a16:creationId xmlns:a16="http://schemas.microsoft.com/office/drawing/2014/main" id="{5DF0BA1B-BB0C-4231-98F5-09DDCFECD704}"/>
              </a:ext>
            </a:extLst>
          </p:cNvPr>
          <p:cNvSpPr/>
          <p:nvPr/>
        </p:nvSpPr>
        <p:spPr>
          <a:xfrm>
            <a:off x="8938464" y="3056602"/>
            <a:ext cx="1504336" cy="2949677"/>
          </a:xfrm>
          <a:prstGeom prst="ca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10" name="Graphic 1">
            <a:extLst>
              <a:ext uri="{FF2B5EF4-FFF2-40B4-BE49-F238E27FC236}">
                <a16:creationId xmlns:a16="http://schemas.microsoft.com/office/drawing/2014/main" id="{A7BC7568-1DE8-4553-B04C-437EF8C1EB90}"/>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
        <p:nvSpPr>
          <p:cNvPr id="3" name="Arrow: Right 2">
            <a:extLst>
              <a:ext uri="{FF2B5EF4-FFF2-40B4-BE49-F238E27FC236}">
                <a16:creationId xmlns:a16="http://schemas.microsoft.com/office/drawing/2014/main" id="{23FD461E-3F13-4570-98AB-7065B14F6937}"/>
              </a:ext>
            </a:extLst>
          </p:cNvPr>
          <p:cNvSpPr/>
          <p:nvPr/>
        </p:nvSpPr>
        <p:spPr>
          <a:xfrm rot="20494442">
            <a:off x="3879068" y="4595595"/>
            <a:ext cx="6179574" cy="661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Scaling UP</a:t>
            </a:r>
          </a:p>
        </p:txBody>
      </p:sp>
    </p:spTree>
    <p:extLst>
      <p:ext uri="{BB962C8B-B14F-4D97-AF65-F5344CB8AC3E}">
        <p14:creationId xmlns:p14="http://schemas.microsoft.com/office/powerpoint/2010/main" val="3018303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GB" sz="3600" b="1" dirty="0">
                <a:solidFill>
                  <a:schemeClr val="dk1"/>
                </a:solidFill>
                <a:latin typeface="Avenir"/>
                <a:sym typeface="Avenir"/>
              </a:rPr>
              <a:t>Different RDBMS Cluster Approach</a:t>
            </a:r>
          </a:p>
        </p:txBody>
      </p:sp>
      <p:sp>
        <p:nvSpPr>
          <p:cNvPr id="74" name="Google Shape;74;p16"/>
          <p:cNvSpPr txBox="1"/>
          <p:nvPr/>
        </p:nvSpPr>
        <p:spPr>
          <a:xfrm>
            <a:off x="580399" y="842167"/>
            <a:ext cx="11208323" cy="5878066"/>
          </a:xfrm>
          <a:prstGeom prst="rect">
            <a:avLst/>
          </a:prstGeom>
          <a:noFill/>
          <a:ln>
            <a:noFill/>
          </a:ln>
        </p:spPr>
        <p:txBody>
          <a:bodyPr spcFirstLastPara="1" wrap="square" lIns="121900" tIns="121900" rIns="121900" bIns="121900" anchor="t" anchorCtr="0">
            <a:noAutofit/>
          </a:bodyPr>
          <a:lstStyle/>
          <a:p>
            <a:pPr algn="l"/>
            <a:r>
              <a:rPr lang="en-US" sz="2400" dirty="0">
                <a:solidFill>
                  <a:schemeClr val="accent1"/>
                </a:solidFill>
              </a:rPr>
              <a:t>Master-Slave</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Master handles all the write request because it must maintain the locks to guarantee roll back in case of failure. </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All reads goes to the replicated slave databases</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Reads from slave may be inconsistent as writes may not have been propagated down</a:t>
            </a:r>
          </a:p>
          <a:p>
            <a:pPr algn="l"/>
            <a:r>
              <a:rPr lang="en-US" sz="2400" dirty="0">
                <a:solidFill>
                  <a:schemeClr val="accent1"/>
                </a:solidFill>
              </a:rPr>
              <a:t>Partition or </a:t>
            </a:r>
            <a:r>
              <a:rPr lang="en-US" sz="2400" dirty="0" err="1">
                <a:solidFill>
                  <a:schemeClr val="accent1"/>
                </a:solidFill>
              </a:rPr>
              <a:t>sharding</a:t>
            </a:r>
            <a:endParaRPr lang="en-US" sz="2400" dirty="0">
              <a:solidFill>
                <a:schemeClr val="accent1"/>
              </a:solidFill>
            </a:endParaRP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Scales well for both reads and writes</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Not transparent, application needs to be partition-aware</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Can no longer have relationships/joins across partitions</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Loss of referential integrity across shards</a:t>
            </a:r>
          </a:p>
          <a:p>
            <a:pPr lvl="1"/>
            <a:endParaRPr lang="en-US" sz="22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352AEAC0-CA29-4578-8380-66CE035E1948}"/>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157423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GB" sz="3600" b="1" dirty="0">
                <a:solidFill>
                  <a:schemeClr val="dk1"/>
                </a:solidFill>
                <a:latin typeface="Avenir"/>
                <a:sym typeface="Avenir"/>
              </a:rPr>
              <a:t>Other ways to scale RDBMS</a:t>
            </a: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Multi-Master replication</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INSERT only, not UPDATES/DELETES</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No JOINs, thereby reducing query time</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This involves de-normalizing data</a:t>
            </a:r>
          </a:p>
          <a:p>
            <a:pPr lvl="1" indent="-330200" algn="just" fontAlgn="base">
              <a:lnSpc>
                <a:spcPct val="150000"/>
              </a:lnSpc>
              <a:spcBef>
                <a:spcPct val="20000"/>
              </a:spcBef>
              <a:spcAft>
                <a:spcPct val="0"/>
              </a:spcAft>
              <a:buClr>
                <a:schemeClr val="dk1"/>
              </a:buClr>
              <a:buSzPts val="1600"/>
              <a:buFont typeface="Avenir"/>
              <a:buChar char="●"/>
            </a:pPr>
            <a:r>
              <a:rPr lang="en-US" sz="2400" dirty="0">
                <a:solidFill>
                  <a:schemeClr val="dk1"/>
                </a:solidFill>
                <a:latin typeface="Avenir"/>
              </a:rPr>
              <a:t>In-memory databases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21CBA5C8-100A-4E66-BD2D-8F909C8F89C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894292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What is NoSQL?</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lvl="1"/>
            <a:r>
              <a:rPr lang="en-US" altLang="en-US" sz="3200" dirty="0">
                <a:solidFill>
                  <a:schemeClr val="accent1"/>
                </a:solidFill>
                <a:latin typeface="+mj-lt"/>
                <a:ea typeface="+mj-ea"/>
                <a:cs typeface="+mj-cs"/>
              </a:rPr>
              <a:t>Stands for Not Only SQL</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The term NOSQL was given by Carl </a:t>
            </a:r>
            <a:r>
              <a:rPr lang="en-US" altLang="en-US" sz="2400" dirty="0" err="1">
                <a:solidFill>
                  <a:schemeClr val="dk1"/>
                </a:solidFill>
                <a:latin typeface="Avenir"/>
              </a:rPr>
              <a:t>Strozzi</a:t>
            </a:r>
            <a:r>
              <a:rPr lang="en-US" altLang="en-US" sz="2400" dirty="0">
                <a:solidFill>
                  <a:schemeClr val="dk1"/>
                </a:solidFill>
                <a:latin typeface="Avenir"/>
              </a:rPr>
              <a:t> in 1998 to name his file-based database</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It was again re-introduced by Eric Evans when an event was organized to discuss open source distributed databases</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Eric clarified later that NoSQL does not mean “No to SQL” </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NoSQL means seeking alternatives for the relational databases specially for those use cases for which RDBMS are a bad fit.</a:t>
            </a:r>
          </a:p>
          <a:p>
            <a:pPr marL="1219170" algn="just"/>
            <a:endParaRPr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Picture 2">
            <a:extLst>
              <a:ext uri="{FF2B5EF4-FFF2-40B4-BE49-F238E27FC236}">
                <a16:creationId xmlns:a16="http://schemas.microsoft.com/office/drawing/2014/main" id="{AA2AF7FD-EF2D-42C1-B74B-CC5006082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857" t="24835" r="48772" b="50330"/>
          <a:stretch>
            <a:fillRect/>
          </a:stretch>
        </p:blipFill>
        <p:spPr bwMode="auto">
          <a:xfrm>
            <a:off x="6480400" y="5184058"/>
            <a:ext cx="3962400" cy="1343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Graphic 1">
            <a:extLst>
              <a:ext uri="{FF2B5EF4-FFF2-40B4-BE49-F238E27FC236}">
                <a16:creationId xmlns:a16="http://schemas.microsoft.com/office/drawing/2014/main" id="{08D314E7-FA26-4590-95DE-87F50C9F8FC6}"/>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642377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Features of NoSQL</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lvl="1" indent="-330200" algn="just" fontAlgn="base">
              <a:lnSpc>
                <a:spcPct val="150000"/>
              </a:lnSpc>
              <a:spcBef>
                <a:spcPct val="20000"/>
              </a:spcBef>
              <a:spcAft>
                <a:spcPct val="0"/>
              </a:spcAft>
              <a:buClr>
                <a:schemeClr val="dk1"/>
              </a:buClr>
              <a:buSzPts val="1600"/>
              <a:buFont typeface="Avenir"/>
              <a:buChar char="●"/>
            </a:pPr>
            <a:r>
              <a:rPr lang="en-GB" altLang="en-US" sz="2400" dirty="0">
                <a:solidFill>
                  <a:schemeClr val="dk1"/>
                </a:solidFill>
                <a:latin typeface="Avenir"/>
              </a:rPr>
              <a:t>non-relation based , no primary and foreign key relationship</a:t>
            </a:r>
          </a:p>
          <a:p>
            <a:pPr lvl="1" indent="-330200" algn="just" fontAlgn="base">
              <a:lnSpc>
                <a:spcPct val="150000"/>
              </a:lnSpc>
              <a:spcBef>
                <a:spcPct val="20000"/>
              </a:spcBef>
              <a:spcAft>
                <a:spcPct val="0"/>
              </a:spcAft>
              <a:buClr>
                <a:schemeClr val="dk1"/>
              </a:buClr>
              <a:buSzPts val="1600"/>
              <a:buFont typeface="Avenir"/>
              <a:buChar char="●"/>
            </a:pPr>
            <a:r>
              <a:rPr lang="en-GB" altLang="en-US" sz="2400" dirty="0">
                <a:solidFill>
                  <a:schemeClr val="dk1"/>
                </a:solidFill>
                <a:latin typeface="Avenir"/>
              </a:rPr>
              <a:t>Either don’t require schema or provide flexible schema</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data are replicated to multiple  nodes, data are partitioned too </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down nodes easily replaced</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no single point of failure</a:t>
            </a:r>
          </a:p>
          <a:p>
            <a:pPr lvl="1" indent="-330200" algn="just" fontAlgn="base">
              <a:lnSpc>
                <a:spcPct val="150000"/>
              </a:lnSpc>
              <a:spcBef>
                <a:spcPct val="20000"/>
              </a:spcBef>
              <a:spcAft>
                <a:spcPct val="0"/>
              </a:spcAft>
              <a:buClr>
                <a:schemeClr val="dk1"/>
              </a:buClr>
              <a:buSzPts val="1600"/>
              <a:buFont typeface="Avenir"/>
              <a:buChar char="●"/>
            </a:pPr>
            <a:r>
              <a:rPr lang="en-GB" altLang="en-US" sz="2400" dirty="0">
                <a:solidFill>
                  <a:schemeClr val="dk1"/>
                </a:solidFill>
                <a:latin typeface="Avenir"/>
              </a:rPr>
              <a:t>horizontal scalable </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open-source software</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massive write performance</a:t>
            </a:r>
          </a:p>
          <a:p>
            <a:pPr lvl="1" indent="-330200" algn="just" fontAlgn="base">
              <a:lnSpc>
                <a:spcPct val="150000"/>
              </a:lnSpc>
              <a:spcBef>
                <a:spcPct val="20000"/>
              </a:spcBef>
              <a:spcAft>
                <a:spcPct val="0"/>
              </a:spcAft>
              <a:buClr>
                <a:schemeClr val="dk1"/>
              </a:buClr>
              <a:buSzPts val="1600"/>
              <a:buFont typeface="Avenir"/>
              <a:buChar char="●"/>
            </a:pPr>
            <a:r>
              <a:rPr lang="en-US" altLang="en-US" sz="2400" dirty="0">
                <a:solidFill>
                  <a:schemeClr val="dk1"/>
                </a:solidFill>
                <a:latin typeface="Avenir"/>
              </a:rPr>
              <a:t>fast key-value access</a:t>
            </a:r>
          </a:p>
          <a:p>
            <a:pPr marL="1219170" algn="just"/>
            <a:endParaRPr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8" name="Picture 1">
            <a:extLst>
              <a:ext uri="{FF2B5EF4-FFF2-40B4-BE49-F238E27FC236}">
                <a16:creationId xmlns:a16="http://schemas.microsoft.com/office/drawing/2014/main" id="{6E2FD70F-9B9D-4FEA-9401-9C31406E15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345" y="3113474"/>
            <a:ext cx="435725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Graphic 1">
            <a:extLst>
              <a:ext uri="{FF2B5EF4-FFF2-40B4-BE49-F238E27FC236}">
                <a16:creationId xmlns:a16="http://schemas.microsoft.com/office/drawing/2014/main" id="{0F57B301-6A97-4F87-9AA5-DC25235B2792}"/>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077383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Types of NoSQL databases</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342900" indent="-342900" algn="l">
              <a:lnSpc>
                <a:spcPct val="90000"/>
              </a:lnSpc>
              <a:buFont typeface="+mj-lt"/>
              <a:buAutoNum type="arabicPeriod"/>
              <a:defRPr/>
            </a:pPr>
            <a:r>
              <a:rPr lang="en-US" altLang="en-US" sz="1900" dirty="0">
                <a:solidFill>
                  <a:schemeClr val="accent1"/>
                </a:solidFill>
                <a:latin typeface="+mn-lt"/>
                <a:ea typeface="+mn-ea"/>
                <a:cs typeface="+mn-cs"/>
              </a:rPr>
              <a:t>Key-value</a:t>
            </a:r>
          </a:p>
          <a:p>
            <a:pPr marL="127000" lvl="1" algn="just" fontAlgn="base">
              <a:lnSpc>
                <a:spcPct val="150000"/>
              </a:lnSpc>
              <a:spcBef>
                <a:spcPct val="20000"/>
              </a:spcBef>
              <a:spcAft>
                <a:spcPct val="0"/>
              </a:spcAft>
              <a:buClr>
                <a:schemeClr val="dk1"/>
              </a:buClr>
              <a:buSzPts val="1600"/>
              <a:defRPr/>
            </a:pPr>
            <a:r>
              <a:rPr lang="en-US" altLang="en-US" sz="2400" dirty="0">
                <a:solidFill>
                  <a:schemeClr val="dk1"/>
                </a:solidFill>
                <a:latin typeface="Avenir"/>
              </a:rPr>
              <a:t> Example: DynamoDB, </a:t>
            </a:r>
            <a:r>
              <a:rPr lang="en-US" altLang="en-US" sz="2400" dirty="0" err="1">
                <a:solidFill>
                  <a:schemeClr val="dk1"/>
                </a:solidFill>
                <a:latin typeface="Avenir"/>
              </a:rPr>
              <a:t>Voldermort</a:t>
            </a:r>
            <a:r>
              <a:rPr lang="en-US" altLang="en-US" sz="2400" dirty="0">
                <a:solidFill>
                  <a:schemeClr val="dk1"/>
                </a:solidFill>
                <a:latin typeface="Avenir"/>
              </a:rPr>
              <a:t>, </a:t>
            </a:r>
            <a:r>
              <a:rPr lang="en-US" altLang="en-US" sz="2400" dirty="0" err="1">
                <a:solidFill>
                  <a:schemeClr val="dk1"/>
                </a:solidFill>
                <a:latin typeface="Avenir"/>
              </a:rPr>
              <a:t>Scalaris</a:t>
            </a:r>
            <a:r>
              <a:rPr lang="en-US" altLang="en-US" sz="2400" dirty="0">
                <a:solidFill>
                  <a:schemeClr val="dk1"/>
                </a:solidFill>
                <a:latin typeface="Avenir"/>
              </a:rPr>
              <a:t> </a:t>
            </a:r>
          </a:p>
          <a:p>
            <a:pPr marL="615950" lvl="2" indent="-342900">
              <a:lnSpc>
                <a:spcPct val="90000"/>
              </a:lnSpc>
              <a:defRPr/>
            </a:pPr>
            <a:endParaRPr lang="en-US" altLang="en-US" sz="1900" dirty="0"/>
          </a:p>
          <a:p>
            <a:pPr marL="342900" indent="-342900" algn="l">
              <a:lnSpc>
                <a:spcPct val="90000"/>
              </a:lnSpc>
              <a:buFont typeface="+mj-lt"/>
              <a:buAutoNum type="arabicPeriod"/>
              <a:defRPr/>
            </a:pPr>
            <a:r>
              <a:rPr lang="en-US" altLang="en-US" sz="1900" dirty="0">
                <a:solidFill>
                  <a:schemeClr val="accent1"/>
                </a:solidFill>
                <a:latin typeface="+mn-lt"/>
                <a:ea typeface="+mn-ea"/>
                <a:cs typeface="+mn-cs"/>
              </a:rPr>
              <a:t>Document-based</a:t>
            </a:r>
          </a:p>
          <a:p>
            <a:pPr marL="127000" lvl="1" algn="just" fontAlgn="base">
              <a:lnSpc>
                <a:spcPct val="150000"/>
              </a:lnSpc>
              <a:spcBef>
                <a:spcPct val="20000"/>
              </a:spcBef>
              <a:spcAft>
                <a:spcPct val="0"/>
              </a:spcAft>
              <a:buClr>
                <a:schemeClr val="dk1"/>
              </a:buClr>
              <a:buSzPts val="1600"/>
              <a:defRPr/>
            </a:pPr>
            <a:r>
              <a:rPr lang="en-US" altLang="en-US" sz="2400" dirty="0">
                <a:solidFill>
                  <a:schemeClr val="dk1"/>
                </a:solidFill>
                <a:latin typeface="Avenir"/>
              </a:rPr>
              <a:t> Example: MongoDB, CouchDB</a:t>
            </a:r>
          </a:p>
          <a:p>
            <a:pPr marL="615950" lvl="2" indent="-342900">
              <a:lnSpc>
                <a:spcPct val="90000"/>
              </a:lnSpc>
              <a:defRPr/>
            </a:pPr>
            <a:endParaRPr lang="en-US" altLang="en-US" sz="1900" dirty="0"/>
          </a:p>
          <a:p>
            <a:pPr marL="342900" indent="-342900" algn="l">
              <a:lnSpc>
                <a:spcPct val="90000"/>
              </a:lnSpc>
              <a:buFont typeface="+mj-lt"/>
              <a:buAutoNum type="arabicPeriod"/>
              <a:defRPr/>
            </a:pPr>
            <a:r>
              <a:rPr lang="en-US" altLang="en-US" sz="1900" dirty="0">
                <a:solidFill>
                  <a:schemeClr val="accent1"/>
                </a:solidFill>
                <a:latin typeface="+mn-lt"/>
                <a:ea typeface="+mn-ea"/>
                <a:cs typeface="+mn-cs"/>
              </a:rPr>
              <a:t>Column-based</a:t>
            </a:r>
          </a:p>
          <a:p>
            <a:pPr marL="127000" lvl="1" algn="just" fontAlgn="base">
              <a:lnSpc>
                <a:spcPct val="150000"/>
              </a:lnSpc>
              <a:spcBef>
                <a:spcPct val="20000"/>
              </a:spcBef>
              <a:spcAft>
                <a:spcPct val="0"/>
              </a:spcAft>
              <a:buClr>
                <a:schemeClr val="dk1"/>
              </a:buClr>
              <a:buSzPts val="1600"/>
              <a:defRPr/>
            </a:pPr>
            <a:r>
              <a:rPr lang="en-US" altLang="en-US" sz="2400" dirty="0">
                <a:solidFill>
                  <a:schemeClr val="dk1"/>
                </a:solidFill>
                <a:latin typeface="Avenir"/>
              </a:rPr>
              <a:t>  Example: </a:t>
            </a:r>
            <a:r>
              <a:rPr lang="en-US" altLang="en-US" sz="2400" dirty="0" err="1">
                <a:solidFill>
                  <a:schemeClr val="dk1"/>
                </a:solidFill>
                <a:latin typeface="Avenir"/>
              </a:rPr>
              <a:t>BigTable</a:t>
            </a:r>
            <a:r>
              <a:rPr lang="en-US" altLang="en-US" sz="2400" dirty="0">
                <a:solidFill>
                  <a:schemeClr val="dk1"/>
                </a:solidFill>
                <a:latin typeface="Avenir"/>
              </a:rPr>
              <a:t>, Cassandra, </a:t>
            </a:r>
            <a:r>
              <a:rPr lang="en-US" altLang="en-US" sz="2400" dirty="0" err="1">
                <a:solidFill>
                  <a:schemeClr val="dk1"/>
                </a:solidFill>
                <a:latin typeface="Avenir"/>
              </a:rPr>
              <a:t>Hbase</a:t>
            </a:r>
            <a:r>
              <a:rPr lang="en-US" altLang="en-US" sz="2400" dirty="0">
                <a:solidFill>
                  <a:schemeClr val="dk1"/>
                </a:solidFill>
                <a:latin typeface="Avenir"/>
              </a:rPr>
              <a:t> </a:t>
            </a:r>
          </a:p>
          <a:p>
            <a:pPr marL="615950" lvl="2" indent="-342900">
              <a:lnSpc>
                <a:spcPct val="90000"/>
              </a:lnSpc>
              <a:defRPr/>
            </a:pPr>
            <a:endParaRPr lang="en-US" altLang="en-US" sz="1900" dirty="0"/>
          </a:p>
          <a:p>
            <a:pPr marL="342900" indent="-342900" algn="l">
              <a:lnSpc>
                <a:spcPct val="90000"/>
              </a:lnSpc>
              <a:buFont typeface="+mj-lt"/>
              <a:buAutoNum type="arabicPeriod"/>
              <a:defRPr/>
            </a:pPr>
            <a:r>
              <a:rPr lang="en-US" altLang="en-US" sz="1900" dirty="0">
                <a:solidFill>
                  <a:schemeClr val="accent1"/>
                </a:solidFill>
                <a:latin typeface="+mn-lt"/>
                <a:ea typeface="+mn-ea"/>
                <a:cs typeface="+mn-cs"/>
              </a:rPr>
              <a:t>Graph-based</a:t>
            </a:r>
          </a:p>
          <a:p>
            <a:pPr marL="127000" lvl="1" algn="just" fontAlgn="base">
              <a:lnSpc>
                <a:spcPct val="150000"/>
              </a:lnSpc>
              <a:spcBef>
                <a:spcPct val="20000"/>
              </a:spcBef>
              <a:spcAft>
                <a:spcPct val="0"/>
              </a:spcAft>
              <a:buClr>
                <a:schemeClr val="dk1"/>
              </a:buClr>
              <a:buSzPts val="1600"/>
              <a:defRPr/>
            </a:pPr>
            <a:r>
              <a:rPr lang="en-US" altLang="en-US" sz="2400" dirty="0">
                <a:solidFill>
                  <a:schemeClr val="dk1"/>
                </a:solidFill>
                <a:latin typeface="Avenir"/>
              </a:rPr>
              <a:t>  Example: Neo4J, </a:t>
            </a:r>
            <a:r>
              <a:rPr lang="en-US" altLang="en-US" sz="2400" dirty="0" err="1">
                <a:solidFill>
                  <a:schemeClr val="dk1"/>
                </a:solidFill>
                <a:latin typeface="Avenir"/>
              </a:rPr>
              <a:t>InfoGrid</a:t>
            </a:r>
            <a:endParaRPr lang="en-US" altLang="en-US" sz="2400" dirty="0">
              <a:solidFill>
                <a:schemeClr val="dk1"/>
              </a:solidFill>
              <a:latin typeface="Avenir"/>
            </a:endParaRPr>
          </a:p>
          <a:p>
            <a:pPr lvl="1" indent="-330200" algn="just" fontAlgn="base">
              <a:lnSpc>
                <a:spcPct val="150000"/>
              </a:lnSpc>
              <a:spcBef>
                <a:spcPct val="20000"/>
              </a:spcBef>
              <a:spcAft>
                <a:spcPct val="0"/>
              </a:spcAft>
              <a:buClr>
                <a:schemeClr val="dk1"/>
              </a:buClr>
              <a:buSzPts val="1600"/>
              <a:buFont typeface="Avenir"/>
              <a:buChar char="●"/>
              <a:defRPr/>
            </a:pPr>
            <a:r>
              <a:rPr lang="en-US" altLang="en-US" sz="2400" dirty="0">
                <a:solidFill>
                  <a:schemeClr val="dk1"/>
                </a:solidFill>
                <a:latin typeface="Avenir"/>
              </a:rPr>
              <a:t>“No-schema” is a common characteristics of most NOSQL storage systems</a:t>
            </a:r>
          </a:p>
          <a:p>
            <a:pPr lvl="1" indent="-330200" algn="just" fontAlgn="base">
              <a:lnSpc>
                <a:spcPct val="150000"/>
              </a:lnSpc>
              <a:spcBef>
                <a:spcPct val="20000"/>
              </a:spcBef>
              <a:spcAft>
                <a:spcPct val="0"/>
              </a:spcAft>
              <a:buClr>
                <a:schemeClr val="dk1"/>
              </a:buClr>
              <a:buSzPts val="1600"/>
              <a:buFont typeface="Avenir"/>
              <a:buChar char="●"/>
              <a:defRPr/>
            </a:pPr>
            <a:r>
              <a:rPr lang="en-US" altLang="en-US" sz="2400" dirty="0">
                <a:solidFill>
                  <a:schemeClr val="dk1"/>
                </a:solidFill>
                <a:latin typeface="Avenir"/>
              </a:rPr>
              <a:t>Provide “flexible” data types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B27C7976-321B-4A52-B846-C31029D82843}"/>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936633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GB" sz="3600" b="1" dirty="0">
                <a:solidFill>
                  <a:schemeClr val="dk1"/>
                </a:solidFill>
                <a:latin typeface="Avenir"/>
                <a:sym typeface="Avenir"/>
              </a:rPr>
              <a:t>Benefits of NoSQL databases</a:t>
            </a:r>
          </a:p>
        </p:txBody>
      </p:sp>
      <p:sp>
        <p:nvSpPr>
          <p:cNvPr id="74" name="Google Shape;74;p16"/>
          <p:cNvSpPr txBox="1"/>
          <p:nvPr/>
        </p:nvSpPr>
        <p:spPr>
          <a:xfrm>
            <a:off x="1253612" y="2110528"/>
            <a:ext cx="10357987" cy="4437756"/>
          </a:xfrm>
          <a:prstGeom prst="rect">
            <a:avLst/>
          </a:prstGeom>
          <a:noFill/>
          <a:ln>
            <a:noFill/>
          </a:ln>
        </p:spPr>
        <p:txBody>
          <a:bodyPr spcFirstLastPara="1" wrap="square" lIns="121900" tIns="121900" rIns="121900" bIns="121900" anchor="t" anchorCtr="0">
            <a:noAutofit/>
          </a:bodyPr>
          <a:lstStyle/>
          <a:p>
            <a:pPr lvl="1" indent="-330200" algn="just" fontAlgn="base">
              <a:lnSpc>
                <a:spcPct val="150000"/>
              </a:lnSpc>
              <a:spcBef>
                <a:spcPct val="20000"/>
              </a:spcBef>
              <a:spcAft>
                <a:spcPct val="0"/>
              </a:spcAft>
              <a:buClr>
                <a:schemeClr val="dk1"/>
              </a:buClr>
              <a:buSzPts val="1600"/>
              <a:buFont typeface="Avenir"/>
              <a:buChar char="●"/>
            </a:pPr>
            <a:r>
              <a:rPr lang="en-US" sz="2400" b="1" dirty="0">
                <a:solidFill>
                  <a:schemeClr val="dk1"/>
                </a:solidFill>
                <a:latin typeface="Avenir"/>
              </a:rPr>
              <a:t>High Scalability </a:t>
            </a:r>
            <a:r>
              <a:rPr lang="en-US" sz="2400" dirty="0">
                <a:solidFill>
                  <a:schemeClr val="dk1"/>
                </a:solidFill>
                <a:latin typeface="Avenir"/>
              </a:rPr>
              <a:t>: Ability to execute more and more queries and store more and more data without having any upper limit.</a:t>
            </a:r>
          </a:p>
          <a:p>
            <a:pPr lvl="1" indent="-330200" algn="just" fontAlgn="base">
              <a:lnSpc>
                <a:spcPct val="150000"/>
              </a:lnSpc>
              <a:spcBef>
                <a:spcPct val="20000"/>
              </a:spcBef>
              <a:spcAft>
                <a:spcPct val="0"/>
              </a:spcAft>
              <a:buClr>
                <a:schemeClr val="dk1"/>
              </a:buClr>
              <a:buSzPts val="1600"/>
              <a:buFont typeface="Avenir"/>
              <a:buChar char="●"/>
            </a:pPr>
            <a:r>
              <a:rPr lang="en-US" sz="2400" b="1" dirty="0">
                <a:solidFill>
                  <a:schemeClr val="dk1"/>
                </a:solidFill>
                <a:latin typeface="Avenir"/>
              </a:rPr>
              <a:t>High Availability : </a:t>
            </a:r>
            <a:r>
              <a:rPr lang="en-US" sz="2400" dirty="0">
                <a:solidFill>
                  <a:schemeClr val="dk1"/>
                </a:solidFill>
                <a:latin typeface="Avenir"/>
              </a:rPr>
              <a:t>Ability to run Read/Write queries even when some servers are down</a:t>
            </a:r>
          </a:p>
          <a:p>
            <a:pPr marL="800100" lvl="1" indent="-342900">
              <a:buFont typeface="Arial" panose="020B0604020202020204" pitchFamily="34" charset="0"/>
              <a:buChar char="•"/>
            </a:pPr>
            <a:endParaRPr lang="en-US" sz="22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6D65D027-83D8-421E-BFE3-DA50923D3A0C}"/>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404940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GB" sz="3600" b="1" dirty="0">
                <a:solidFill>
                  <a:schemeClr val="dk1"/>
                </a:solidFill>
                <a:latin typeface="Avenir"/>
                <a:sym typeface="Avenir"/>
              </a:rPr>
              <a:t>Disadvantage of NoSQL databases</a:t>
            </a:r>
          </a:p>
        </p:txBody>
      </p:sp>
      <p:sp>
        <p:nvSpPr>
          <p:cNvPr id="74" name="Google Shape;74;p16"/>
          <p:cNvSpPr txBox="1"/>
          <p:nvPr/>
        </p:nvSpPr>
        <p:spPr>
          <a:xfrm>
            <a:off x="508000" y="1052167"/>
            <a:ext cx="11031200" cy="5878066"/>
          </a:xfrm>
          <a:prstGeom prst="rect">
            <a:avLst/>
          </a:prstGeom>
          <a:noFill/>
          <a:ln>
            <a:noFill/>
          </a:ln>
        </p:spPr>
        <p:txBody>
          <a:bodyPr spcFirstLastPara="1" wrap="square" lIns="121900" tIns="121900" rIns="121900" bIns="121900" anchor="t" anchorCtr="0">
            <a:noAutofit/>
          </a:bodyPr>
          <a:lstStyle/>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Don’t fully support relational features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Normalization can’t be used, so No JOIN Queries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no referential integrity constraints</a:t>
            </a:r>
          </a:p>
          <a:p>
            <a:pPr lvl="2">
              <a:lnSpc>
                <a:spcPct val="80000"/>
              </a:lnSpc>
            </a:pPr>
            <a:endParaRPr lang="en-GB" altLang="en-US" dirty="0"/>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sym typeface="Wingdings" panose="05000000000000000000" pitchFamily="2" charset="2"/>
              </a:rPr>
              <a:t>Non-Availability of SQL </a:t>
            </a:r>
            <a:r>
              <a:rPr lang="en-US" altLang="en-US" sz="2400" dirty="0">
                <a:solidFill>
                  <a:schemeClr val="dk1"/>
                </a:solidFill>
                <a:latin typeface="Avenir"/>
                <a:sym typeface="Wingdings" panose="05000000000000000000" pitchFamily="2" charset="2"/>
              </a:rPr>
              <a:t>query language </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altLang="en-US" sz="2400" dirty="0">
                <a:solidFill>
                  <a:schemeClr val="dk1"/>
                </a:solidFill>
                <a:latin typeface="Avenir"/>
                <a:sym typeface="Wingdings" panose="05000000000000000000" pitchFamily="2" charset="2"/>
              </a:rPr>
              <a:t>More programing is needed to work with these DBs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altLang="en-US" sz="2400" dirty="0">
                <a:solidFill>
                  <a:schemeClr val="dk1"/>
                </a:solidFill>
                <a:latin typeface="Avenir"/>
                <a:sym typeface="Wingdings" panose="05000000000000000000" pitchFamily="2" charset="2"/>
              </a:rPr>
              <a:t>NoSQL don’t follow and provide ACID properties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altLang="en-US" sz="2400" dirty="0">
                <a:solidFill>
                  <a:schemeClr val="dk1"/>
                </a:solidFill>
                <a:latin typeface="Avenir"/>
                <a:sym typeface="Wingdings" panose="05000000000000000000" pitchFamily="2" charset="2"/>
              </a:rPr>
              <a:t> They provide fewer guarantees by following CAP theorem</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altLang="en-US" sz="2400" dirty="0">
                <a:solidFill>
                  <a:schemeClr val="dk1"/>
                </a:solidFill>
                <a:latin typeface="Avenir"/>
              </a:rPr>
              <a:t>No easy integration with applications that needs JDBC or ODBC drivers</a:t>
            </a:r>
          </a:p>
          <a:p>
            <a:pPr lvl="1"/>
            <a:endParaRPr lang="en-US" sz="22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A7AA5F9B-B6BB-47CF-84F6-AE9ACEC44CB7}"/>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140934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chemeClr val="dk1"/>
                </a:solidFill>
                <a:latin typeface="Avenir"/>
                <a:sym typeface="Avenir"/>
              </a:rPr>
              <a:t>Who are users of NoSQL</a:t>
            </a:r>
            <a:endParaRPr sz="3600" b="1" dirty="0">
              <a:solidFill>
                <a:schemeClr val="dk1"/>
              </a:solidFill>
              <a:latin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All the e-commerce companies such as Flipkart, Amazon, Walmart etc use</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NoSQL database for storing huge volume of data and large amount of request from user.</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All the Cab aggregator companies such as OLA and UBER </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The mobile app companies like Kobo and </a:t>
            </a:r>
            <a:r>
              <a:rPr lang="en-GB" sz="2400" dirty="0" err="1">
                <a:solidFill>
                  <a:schemeClr val="dk1"/>
                </a:solidFill>
                <a:latin typeface="Avenir"/>
              </a:rPr>
              <a:t>Playtika</a:t>
            </a:r>
            <a:endParaRPr lang="en-GB" sz="2400" dirty="0">
              <a:solidFill>
                <a:schemeClr val="dk1"/>
              </a:solidFill>
              <a:latin typeface="Avenir"/>
            </a:endParaRP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Consumer appliances companies such as LG, Samsung etc use NoSQL for IOT use cases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sz="2400" dirty="0">
                <a:solidFill>
                  <a:schemeClr val="dk1"/>
                </a:solidFill>
                <a:latin typeface="Avenir"/>
              </a:rPr>
              <a:t> NOSQL has been used by some of the mobile gaming companies like, electronic arts, </a:t>
            </a:r>
            <a:r>
              <a:rPr lang="en-GB" sz="2400" dirty="0" err="1">
                <a:solidFill>
                  <a:schemeClr val="dk1"/>
                </a:solidFill>
                <a:latin typeface="Avenir"/>
              </a:rPr>
              <a:t>zynga</a:t>
            </a:r>
            <a:r>
              <a:rPr lang="en-GB" sz="2400" dirty="0">
                <a:solidFill>
                  <a:schemeClr val="dk1"/>
                </a:solidFill>
                <a:latin typeface="Avenir"/>
              </a:rPr>
              <a:t> and </a:t>
            </a:r>
            <a:r>
              <a:rPr lang="en-GB" sz="2400" dirty="0" err="1">
                <a:solidFill>
                  <a:schemeClr val="dk1"/>
                </a:solidFill>
                <a:latin typeface="Avenir"/>
              </a:rPr>
              <a:t>tencent</a:t>
            </a:r>
            <a:r>
              <a:rPr lang="en-GB" sz="2400" dirty="0">
                <a:solidFill>
                  <a:schemeClr val="dk1"/>
                </a:solidFill>
                <a:latin typeface="Avenir"/>
              </a:rPr>
              <a:t> for Social Gaming use cases</a:t>
            </a:r>
          </a:p>
          <a:p>
            <a:pPr marL="285750" indent="-285750">
              <a:buFont typeface="Arial" panose="020B0604020202020204" pitchFamily="34" charset="0"/>
              <a:buChar char="•"/>
            </a:pPr>
            <a:endParaRPr lang="en-GB" sz="2400" b="0" i="0" dirty="0">
              <a:solidFill>
                <a:srgbClr val="40424E"/>
              </a:solidFill>
              <a:effectLst/>
              <a:latin typeface="urw-din"/>
            </a:endParaRPr>
          </a:p>
          <a:p>
            <a:pPr marL="285750" indent="-285750">
              <a:buFont typeface="Arial" panose="020B0604020202020204" pitchFamily="34" charset="0"/>
              <a:buChar char="•"/>
            </a:pPr>
            <a:endParaRPr lang="en-GB" sz="2400" b="0" i="0" dirty="0">
              <a:solidFill>
                <a:srgbClr val="40424E"/>
              </a:solidFill>
              <a:effectLst/>
              <a:latin typeface="urw-din"/>
            </a:endParaRPr>
          </a:p>
          <a:p>
            <a:pPr marL="285750" indent="-285750">
              <a:buFont typeface="Arial" panose="020B0604020202020204" pitchFamily="34" charset="0"/>
              <a:buChar char="•"/>
            </a:pPr>
            <a:endParaRPr lang="en-GB" sz="2400" dirty="0">
              <a:solidFill>
                <a:schemeClr val="dk1"/>
              </a:solidFill>
              <a:latin typeface="Avenir"/>
            </a:endParaRPr>
          </a:p>
          <a:p>
            <a:pPr marL="285750" indent="-285750">
              <a:buFont typeface="Arial" panose="020B0604020202020204" pitchFamily="34" charset="0"/>
              <a:buChar char="•"/>
            </a:pPr>
            <a:endParaRPr lang="en-GB" sz="2400" dirty="0">
              <a:solidFill>
                <a:schemeClr val="dk1"/>
              </a:solidFill>
              <a:latin typeface="Avenir"/>
            </a:endParaRPr>
          </a:p>
          <a:p>
            <a:pPr marL="285750" indent="-285750">
              <a:buFont typeface="Arial" panose="020B0604020202020204" pitchFamily="34" charset="0"/>
              <a:buChar char="•"/>
            </a:pPr>
            <a:endParaRPr lang="en-GB" sz="2400" dirty="0">
              <a:solidFill>
                <a:schemeClr val="dk1"/>
              </a:solidFill>
              <a:latin typeface="Avenir"/>
            </a:endParaRPr>
          </a:p>
          <a:p>
            <a:pPr marL="1219170" algn="just"/>
            <a:endParaRPr lang="en-GB"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2DA35A57-7CDA-404F-AA67-32270D4801C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05789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Tradeoff in Cluster Databases</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eaLnBrk="1" hangingPunct="1"/>
            <a:r>
              <a:rPr lang="en-US" altLang="en-US" sz="2400" b="1" dirty="0">
                <a:solidFill>
                  <a:schemeClr val="dk1"/>
                </a:solidFill>
                <a:latin typeface="Avenir"/>
              </a:rPr>
              <a:t>ACID</a:t>
            </a:r>
            <a:r>
              <a:rPr lang="en-US" altLang="en-US" b="1" dirty="0"/>
              <a:t> </a:t>
            </a:r>
          </a:p>
          <a:p>
            <a:pPr lvl="1" eaLnBrk="1" hangingPunct="1"/>
            <a:r>
              <a:rPr lang="en-US" altLang="en-US" sz="2400" dirty="0">
                <a:solidFill>
                  <a:schemeClr val="dk1"/>
                </a:solidFill>
                <a:latin typeface="Avenir"/>
              </a:rPr>
              <a:t>A DBMS is expected to support “ACID transactions,” processes that are:</a:t>
            </a:r>
          </a:p>
          <a:p>
            <a:pPr lvl="1" eaLnBrk="1" hangingPunct="1">
              <a:lnSpc>
                <a:spcPct val="90000"/>
              </a:lnSpc>
            </a:pPr>
            <a:r>
              <a:rPr lang="en-US" altLang="en-US" sz="2400" dirty="0">
                <a:solidFill>
                  <a:srgbClr val="FF0000"/>
                </a:solidFill>
                <a:latin typeface="Avenir"/>
              </a:rPr>
              <a:t>A</a:t>
            </a:r>
            <a:r>
              <a:rPr lang="en-US" altLang="en-US" sz="2400" dirty="0">
                <a:solidFill>
                  <a:schemeClr val="dk1"/>
                </a:solidFill>
                <a:latin typeface="Avenir"/>
              </a:rPr>
              <a:t>tomicity: either the whole operation is performed, or none is</a:t>
            </a:r>
          </a:p>
          <a:p>
            <a:pPr lvl="1" eaLnBrk="1" hangingPunct="1">
              <a:lnSpc>
                <a:spcPct val="90000"/>
              </a:lnSpc>
            </a:pPr>
            <a:r>
              <a:rPr lang="en-US" altLang="en-US" sz="2400" dirty="0">
                <a:solidFill>
                  <a:srgbClr val="FF0000"/>
                </a:solidFill>
                <a:latin typeface="Avenir"/>
              </a:rPr>
              <a:t>C</a:t>
            </a:r>
            <a:r>
              <a:rPr lang="en-US" altLang="en-US" sz="2400" dirty="0">
                <a:solidFill>
                  <a:schemeClr val="dk1"/>
                </a:solidFill>
                <a:latin typeface="Avenir"/>
              </a:rPr>
              <a:t>onsistency: Whenever clients reads the data it will be consistent</a:t>
            </a:r>
          </a:p>
          <a:p>
            <a:pPr lvl="1" eaLnBrk="1" hangingPunct="1">
              <a:lnSpc>
                <a:spcPct val="90000"/>
              </a:lnSpc>
            </a:pPr>
            <a:r>
              <a:rPr lang="en-US" altLang="en-US" sz="2400" dirty="0">
                <a:solidFill>
                  <a:srgbClr val="FF0000"/>
                </a:solidFill>
                <a:latin typeface="Avenir"/>
              </a:rPr>
              <a:t>I</a:t>
            </a:r>
            <a:r>
              <a:rPr lang="en-US" altLang="en-US" sz="2400" dirty="0">
                <a:solidFill>
                  <a:schemeClr val="dk1"/>
                </a:solidFill>
                <a:latin typeface="Avenir"/>
              </a:rPr>
              <a:t>solation: one operation or transaction at a time by holding locks</a:t>
            </a:r>
          </a:p>
          <a:p>
            <a:pPr lvl="1" eaLnBrk="1" hangingPunct="1">
              <a:lnSpc>
                <a:spcPct val="90000"/>
              </a:lnSpc>
            </a:pPr>
            <a:r>
              <a:rPr lang="en-US" altLang="en-US" sz="2400" dirty="0">
                <a:solidFill>
                  <a:srgbClr val="FF0000"/>
                </a:solidFill>
                <a:latin typeface="Avenir"/>
              </a:rPr>
              <a:t>D</a:t>
            </a:r>
            <a:r>
              <a:rPr lang="en-US" altLang="en-US" sz="2400" dirty="0">
                <a:solidFill>
                  <a:schemeClr val="dk1"/>
                </a:solidFill>
                <a:latin typeface="Avenir"/>
              </a:rPr>
              <a:t>urability: once data is committed, DBs will safely keep this data even in the case of process  crash</a:t>
            </a:r>
            <a:br>
              <a:rPr lang="en-US" altLang="en-US" dirty="0"/>
            </a:br>
            <a:endParaRPr lang="en-US" altLang="en-US" dirty="0"/>
          </a:p>
          <a:p>
            <a:pPr eaLnBrk="1" hangingPunct="1">
              <a:lnSpc>
                <a:spcPct val="90000"/>
              </a:lnSpc>
            </a:pPr>
            <a:r>
              <a:rPr lang="en-US" altLang="en-US" sz="2400" b="1" dirty="0">
                <a:solidFill>
                  <a:schemeClr val="dk1"/>
                </a:solidFill>
                <a:latin typeface="Avenir"/>
              </a:rPr>
              <a:t>CAP</a:t>
            </a:r>
          </a:p>
          <a:p>
            <a:pPr lvl="1">
              <a:lnSpc>
                <a:spcPct val="90000"/>
              </a:lnSpc>
            </a:pPr>
            <a:r>
              <a:rPr lang="en-US" altLang="en-US" sz="2400" dirty="0">
                <a:solidFill>
                  <a:srgbClr val="FF0000"/>
                </a:solidFill>
                <a:latin typeface="Avenir"/>
              </a:rPr>
              <a:t>C</a:t>
            </a:r>
            <a:r>
              <a:rPr lang="en-US" altLang="en-US" sz="2400" dirty="0">
                <a:solidFill>
                  <a:schemeClr val="dk1"/>
                </a:solidFill>
                <a:latin typeface="Avenir"/>
              </a:rPr>
              <a:t>onsistency: all the nodes on cluster has the same copies</a:t>
            </a:r>
          </a:p>
          <a:p>
            <a:pPr lvl="1">
              <a:lnSpc>
                <a:spcPct val="90000"/>
              </a:lnSpc>
            </a:pPr>
            <a:r>
              <a:rPr lang="en-US" altLang="en-US" sz="2400" dirty="0">
                <a:solidFill>
                  <a:srgbClr val="FF0000"/>
                </a:solidFill>
                <a:latin typeface="Avenir"/>
              </a:rPr>
              <a:t>A</a:t>
            </a:r>
            <a:r>
              <a:rPr lang="en-US" altLang="en-US" sz="2400" dirty="0">
                <a:solidFill>
                  <a:schemeClr val="dk1"/>
                </a:solidFill>
                <a:latin typeface="Avenir"/>
              </a:rPr>
              <a:t>vailability: cluster always accepts reads and writes even if some nodes are down </a:t>
            </a:r>
          </a:p>
          <a:p>
            <a:pPr lvl="1">
              <a:lnSpc>
                <a:spcPct val="90000"/>
              </a:lnSpc>
            </a:pPr>
            <a:r>
              <a:rPr lang="en-US" altLang="en-US" sz="2400" dirty="0">
                <a:solidFill>
                  <a:srgbClr val="FF0000"/>
                </a:solidFill>
                <a:latin typeface="Avenir"/>
              </a:rPr>
              <a:t>P</a:t>
            </a:r>
            <a:r>
              <a:rPr lang="en-US" altLang="en-US" sz="2400" dirty="0">
                <a:solidFill>
                  <a:schemeClr val="dk1"/>
                </a:solidFill>
                <a:latin typeface="Avenir"/>
              </a:rPr>
              <a:t>artition tolerance: guaranteed properties are maintained even if cluster gets divided into 2 or more partitions because of  network failures.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90F09549-FDBE-41AD-9115-FADFDE727E6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953286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sym typeface="Avenir"/>
              </a:rPr>
              <a:t>CAP Theorem</a:t>
            </a:r>
          </a:p>
        </p:txBody>
      </p:sp>
      <p:sp>
        <p:nvSpPr>
          <p:cNvPr id="74" name="Google Shape;74;p16"/>
          <p:cNvSpPr txBox="1"/>
          <p:nvPr/>
        </p:nvSpPr>
        <p:spPr>
          <a:xfrm>
            <a:off x="834800" y="1137134"/>
            <a:ext cx="11031200" cy="5878066"/>
          </a:xfrm>
          <a:prstGeom prst="rect">
            <a:avLst/>
          </a:prstGeom>
          <a:noFill/>
          <a:ln>
            <a:noFill/>
          </a:ln>
        </p:spPr>
        <p:txBody>
          <a:bodyPr spcFirstLastPara="1" wrap="square" lIns="121900" tIns="121900" rIns="121900" bIns="121900" anchor="t" anchorCtr="0">
            <a:noAutofit/>
          </a:bodyPr>
          <a:lstStyle/>
          <a:p>
            <a:r>
              <a:rPr lang="en-GB" altLang="en-US" sz="2400" b="1" dirty="0"/>
              <a:t>Brewer’s CAP Theorem: </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For any distributed cluster, it is “impossible” to guarantee simultaneously all of       these three properties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altLang="en-US" sz="2400" dirty="0">
                <a:solidFill>
                  <a:schemeClr val="dk1"/>
                </a:solidFill>
                <a:latin typeface="Avenir"/>
              </a:rPr>
              <a:t>You can have at most two of these three properties for any distributed  shared data system</a:t>
            </a:r>
            <a:endParaRPr lang="en-GB" altLang="en-US" sz="2400" dirty="0">
              <a:solidFill>
                <a:schemeClr val="dk1"/>
              </a:solidFill>
              <a:latin typeface="Avenir"/>
            </a:endParaRP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Large Cluster will “partition” at some point due to network failures	 :</a:t>
            </a:r>
          </a:p>
          <a:p>
            <a:pPr lvl="1"/>
            <a:r>
              <a:rPr lang="en-GB" altLang="en-US" sz="2400" dirty="0">
                <a:solidFill>
                  <a:schemeClr val="dk1"/>
                </a:solidFill>
                <a:latin typeface="Avenir"/>
              </a:rPr>
              <a:t>If database is designed to provide partition tolerance, then Database by default will either provide C(Consistency) or A(Availability) but not the both .</a:t>
            </a:r>
            <a:endParaRPr lang="en-US" altLang="en-US"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E3EE8282-31CA-4EA8-B2DE-D4C9FF18A9F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114924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CAP Theorem?</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graphicFrame>
        <p:nvGraphicFramePr>
          <p:cNvPr id="8" name="Object 5">
            <a:extLst>
              <a:ext uri="{FF2B5EF4-FFF2-40B4-BE49-F238E27FC236}">
                <a16:creationId xmlns:a16="http://schemas.microsoft.com/office/drawing/2014/main" id="{8DD580A1-1457-4D40-8B7B-21789924363D}"/>
              </a:ext>
            </a:extLst>
          </p:cNvPr>
          <p:cNvGraphicFramePr>
            <a:graphicFrameLocks noChangeAspect="1"/>
          </p:cNvGraphicFramePr>
          <p:nvPr/>
        </p:nvGraphicFramePr>
        <p:xfrm>
          <a:off x="457200" y="1676400"/>
          <a:ext cx="5715000" cy="4784725"/>
        </p:xfrm>
        <a:graphic>
          <a:graphicData uri="http://schemas.openxmlformats.org/presentationml/2006/ole">
            <mc:AlternateContent xmlns:mc="http://schemas.openxmlformats.org/markup-compatibility/2006">
              <mc:Choice xmlns:v="urn:schemas-microsoft-com:vml" Requires="v">
                <p:oleObj spid="_x0000_s1028" name="Visio" r:id="rId4" imgW="3791050" imgH="3171720" progId="Visio.Drawing.11">
                  <p:embed/>
                </p:oleObj>
              </mc:Choice>
              <mc:Fallback>
                <p:oleObj name="Visio" r:id="rId4" imgW="3791050" imgH="3171720" progId="Visio.Drawing.11">
                  <p:embed/>
                  <p:pic>
                    <p:nvPicPr>
                      <p:cNvPr id="4" name="Object 5">
                        <a:extLst>
                          <a:ext uri="{FF2B5EF4-FFF2-40B4-BE49-F238E27FC236}">
                            <a16:creationId xmlns:a16="http://schemas.microsoft.com/office/drawing/2014/main" id="{5ECDC022-E8B1-406B-A3BB-1FC0745017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676400"/>
                        <a:ext cx="5715000"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9">
            <a:extLst>
              <a:ext uri="{FF2B5EF4-FFF2-40B4-BE49-F238E27FC236}">
                <a16:creationId xmlns:a16="http://schemas.microsoft.com/office/drawing/2014/main" id="{C8E1F0A7-FA89-41BE-81FB-FE9DC11A1CEE}"/>
              </a:ext>
            </a:extLst>
          </p:cNvPr>
          <p:cNvSpPr txBox="1"/>
          <p:nvPr/>
        </p:nvSpPr>
        <p:spPr>
          <a:xfrm>
            <a:off x="4966519" y="1637327"/>
            <a:ext cx="6098458" cy="3385542"/>
          </a:xfrm>
          <a:prstGeom prst="rect">
            <a:avLst/>
          </a:prstGeom>
          <a:noFill/>
        </p:spPr>
        <p:txBody>
          <a:bodyPr wrap="square">
            <a:spAutoFit/>
          </a:bodyPr>
          <a:lstStyle/>
          <a:p>
            <a:pPr eaLnBrk="1" hangingPunct="1"/>
            <a:r>
              <a:rPr lang="en-US" altLang="en-US" sz="2400" b="1" dirty="0">
                <a:solidFill>
                  <a:srgbClr val="FF0000"/>
                </a:solidFill>
              </a:rPr>
              <a:t>C</a:t>
            </a:r>
            <a:r>
              <a:rPr lang="en-US" altLang="en-US" sz="2400" b="1" dirty="0"/>
              <a:t>onsistency</a:t>
            </a:r>
          </a:p>
          <a:p>
            <a:pPr eaLnBrk="1" hangingPunct="1"/>
            <a:r>
              <a:rPr lang="en-US" altLang="en-US" b="1" dirty="0"/>
              <a:t> </a:t>
            </a:r>
            <a:r>
              <a:rPr lang="en-US" altLang="zh-CN" sz="2400" dirty="0">
                <a:solidFill>
                  <a:schemeClr val="dk1"/>
                </a:solidFill>
                <a:latin typeface="Avenir"/>
              </a:rPr>
              <a:t>All client always have the same view of the data</a:t>
            </a:r>
            <a:endParaRPr lang="en-US" altLang="en-US" sz="2400" dirty="0">
              <a:solidFill>
                <a:schemeClr val="dk1"/>
              </a:solidFill>
              <a:latin typeface="Avenir"/>
            </a:endParaRPr>
          </a:p>
          <a:p>
            <a:pPr lvl="1" eaLnBrk="1" hangingPunct="1"/>
            <a:r>
              <a:rPr lang="en-US" altLang="zh-CN" sz="2400" dirty="0">
                <a:solidFill>
                  <a:schemeClr val="dk1"/>
                </a:solidFill>
                <a:latin typeface="Avenir"/>
              </a:rPr>
              <a:t>2 types of consistency:</a:t>
            </a:r>
          </a:p>
          <a:p>
            <a:pPr marL="1003300" lvl="2" indent="-457200" eaLnBrk="1" hangingPunct="1">
              <a:buFont typeface="Arial" panose="020B0604020202020204" pitchFamily="34" charset="0"/>
              <a:buAutoNum type="arabicPeriod"/>
            </a:pPr>
            <a:r>
              <a:rPr lang="en-US" altLang="zh-CN" sz="2400" dirty="0">
                <a:solidFill>
                  <a:schemeClr val="dk1"/>
                </a:solidFill>
                <a:latin typeface="Avenir"/>
              </a:rPr>
              <a:t>Strong consistency – ACID</a:t>
            </a:r>
            <a:r>
              <a:rPr lang="en-US" altLang="zh-CN" sz="2200" dirty="0">
                <a:cs typeface="方正舒体"/>
              </a:rPr>
              <a:t> (</a:t>
            </a:r>
            <a:r>
              <a:rPr lang="en-US" altLang="zh-CN" sz="2200" b="1" dirty="0">
                <a:cs typeface="方正舒体"/>
              </a:rPr>
              <a:t>A</a:t>
            </a:r>
            <a:r>
              <a:rPr lang="en-US" altLang="zh-CN" sz="2200" dirty="0">
                <a:cs typeface="方正舒体"/>
              </a:rPr>
              <a:t>tomicity, </a:t>
            </a:r>
            <a:r>
              <a:rPr lang="en-US" altLang="zh-CN" sz="2200" b="1" dirty="0">
                <a:cs typeface="方正舒体"/>
              </a:rPr>
              <a:t>C</a:t>
            </a:r>
            <a:r>
              <a:rPr lang="en-US" altLang="zh-CN" sz="2200" dirty="0">
                <a:cs typeface="方正舒体"/>
              </a:rPr>
              <a:t>onsistency, </a:t>
            </a:r>
            <a:r>
              <a:rPr lang="en-US" altLang="zh-CN" sz="2200" b="1" dirty="0">
                <a:cs typeface="方正舒体"/>
              </a:rPr>
              <a:t>I</a:t>
            </a:r>
            <a:r>
              <a:rPr lang="en-US" altLang="zh-CN" sz="2200" dirty="0">
                <a:cs typeface="方正舒体"/>
              </a:rPr>
              <a:t>solation, </a:t>
            </a:r>
            <a:r>
              <a:rPr lang="en-US" altLang="zh-CN" sz="2200" b="1" dirty="0">
                <a:cs typeface="方正舒体"/>
              </a:rPr>
              <a:t>D</a:t>
            </a:r>
            <a:r>
              <a:rPr lang="en-US" altLang="zh-CN" sz="2200" dirty="0">
                <a:cs typeface="方正舒体"/>
              </a:rPr>
              <a:t>urability)</a:t>
            </a:r>
          </a:p>
          <a:p>
            <a:pPr marL="1003300" lvl="2" indent="-457200" eaLnBrk="1" hangingPunct="1">
              <a:buFont typeface="Arial" panose="020B0604020202020204" pitchFamily="34" charset="0"/>
              <a:buAutoNum type="arabicPeriod"/>
            </a:pPr>
            <a:r>
              <a:rPr lang="en-US" altLang="zh-CN" sz="2400" dirty="0">
                <a:solidFill>
                  <a:schemeClr val="dk1"/>
                </a:solidFill>
                <a:latin typeface="Avenir"/>
              </a:rPr>
              <a:t>Weak consistency – BASE </a:t>
            </a:r>
            <a:r>
              <a:rPr lang="en-US" altLang="zh-CN" sz="2400" dirty="0">
                <a:cs typeface="方正舒体"/>
              </a:rPr>
              <a:t>(</a:t>
            </a:r>
            <a:r>
              <a:rPr lang="en-US" altLang="zh-CN" sz="2400" b="1" dirty="0">
                <a:cs typeface="方正舒体"/>
              </a:rPr>
              <a:t>B</a:t>
            </a:r>
            <a:r>
              <a:rPr lang="en-US" altLang="zh-CN" sz="2400" dirty="0">
                <a:cs typeface="方正舒体"/>
              </a:rPr>
              <a:t>asically </a:t>
            </a:r>
            <a:r>
              <a:rPr lang="en-US" altLang="zh-CN" sz="2400" b="1" dirty="0">
                <a:cs typeface="方正舒体"/>
              </a:rPr>
              <a:t>A</a:t>
            </a:r>
            <a:r>
              <a:rPr lang="en-US" altLang="zh-CN" sz="2400" dirty="0">
                <a:cs typeface="方正舒体"/>
              </a:rPr>
              <a:t>vailable </a:t>
            </a:r>
            <a:r>
              <a:rPr lang="en-US" altLang="zh-CN" sz="2400" b="1" dirty="0">
                <a:cs typeface="方正舒体"/>
              </a:rPr>
              <a:t>S</a:t>
            </a:r>
            <a:r>
              <a:rPr lang="en-US" altLang="zh-CN" sz="2400" dirty="0">
                <a:cs typeface="方正舒体"/>
              </a:rPr>
              <a:t>oft-state </a:t>
            </a:r>
            <a:r>
              <a:rPr lang="en-US" altLang="zh-CN" sz="2400" b="1" dirty="0">
                <a:cs typeface="方正舒体"/>
              </a:rPr>
              <a:t>E</a:t>
            </a:r>
            <a:r>
              <a:rPr lang="en-US" altLang="zh-CN" sz="2400" dirty="0">
                <a:cs typeface="方正舒体"/>
              </a:rPr>
              <a:t>ventual consistency)</a:t>
            </a:r>
          </a:p>
        </p:txBody>
      </p:sp>
      <p:sp>
        <p:nvSpPr>
          <p:cNvPr id="11" name="Text Box 8">
            <a:extLst>
              <a:ext uri="{FF2B5EF4-FFF2-40B4-BE49-F238E27FC236}">
                <a16:creationId xmlns:a16="http://schemas.microsoft.com/office/drawing/2014/main" id="{B38A9897-A1AE-4BDB-BEDB-997692D7F31E}"/>
              </a:ext>
            </a:extLst>
          </p:cNvPr>
          <p:cNvSpPr txBox="1">
            <a:spLocks noChangeArrowheads="1"/>
          </p:cNvSpPr>
          <p:nvPr/>
        </p:nvSpPr>
        <p:spPr bwMode="auto">
          <a:xfrm>
            <a:off x="2514600" y="25908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eaLnBrk="0" hangingPunct="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eaLnBrk="0" hangingPunct="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eaLnBrk="0" hangingPunct="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eaLnBrk="0" hangingPunct="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zh-CN" dirty="0">
                <a:solidFill>
                  <a:srgbClr val="FF3300"/>
                </a:solidFill>
                <a:cs typeface="方正舒体"/>
              </a:rPr>
              <a:t>A</a:t>
            </a:r>
            <a:r>
              <a:rPr lang="en-US" altLang="zh-CN" dirty="0">
                <a:cs typeface="方正舒体"/>
              </a:rPr>
              <a:t>vailability</a:t>
            </a:r>
          </a:p>
        </p:txBody>
      </p:sp>
      <p:sp>
        <p:nvSpPr>
          <p:cNvPr id="12" name="Text Box 6">
            <a:extLst>
              <a:ext uri="{FF2B5EF4-FFF2-40B4-BE49-F238E27FC236}">
                <a16:creationId xmlns:a16="http://schemas.microsoft.com/office/drawing/2014/main" id="{E51F98F7-2C29-4211-A01B-F1B0D6061556}"/>
              </a:ext>
            </a:extLst>
          </p:cNvPr>
          <p:cNvSpPr txBox="1">
            <a:spLocks noChangeArrowheads="1"/>
          </p:cNvSpPr>
          <p:nvPr/>
        </p:nvSpPr>
        <p:spPr bwMode="auto">
          <a:xfrm>
            <a:off x="685800" y="35052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eaLnBrk="0" hangingPunct="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eaLnBrk="0" hangingPunct="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eaLnBrk="0" hangingPunct="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eaLnBrk="0" hangingPunct="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zh-CN" dirty="0">
                <a:solidFill>
                  <a:srgbClr val="FF3300"/>
                </a:solidFill>
                <a:cs typeface="方正舒体"/>
              </a:rPr>
              <a:t>C</a:t>
            </a:r>
            <a:r>
              <a:rPr lang="en-US" altLang="zh-CN" dirty="0">
                <a:cs typeface="方正舒体"/>
              </a:rPr>
              <a:t>onsistency</a:t>
            </a:r>
          </a:p>
        </p:txBody>
      </p:sp>
      <p:sp>
        <p:nvSpPr>
          <p:cNvPr id="13" name="Text Box 7">
            <a:extLst>
              <a:ext uri="{FF2B5EF4-FFF2-40B4-BE49-F238E27FC236}">
                <a16:creationId xmlns:a16="http://schemas.microsoft.com/office/drawing/2014/main" id="{20589A97-39A7-4763-8A64-45810D0FFB00}"/>
              </a:ext>
            </a:extLst>
          </p:cNvPr>
          <p:cNvSpPr txBox="1">
            <a:spLocks noChangeArrowheads="1"/>
          </p:cNvSpPr>
          <p:nvPr/>
        </p:nvSpPr>
        <p:spPr bwMode="auto">
          <a:xfrm>
            <a:off x="2590800" y="4191000"/>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eaLnBrk="0" hangingPunct="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eaLnBrk="0" hangingPunct="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eaLnBrk="0" hangingPunct="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eaLnBrk="0" hangingPunct="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zh-CN" dirty="0">
                <a:solidFill>
                  <a:srgbClr val="FF3300"/>
                </a:solidFill>
                <a:cs typeface="方正舒体"/>
              </a:rPr>
              <a:t>P</a:t>
            </a:r>
            <a:r>
              <a:rPr lang="en-US" altLang="zh-CN" dirty="0">
                <a:cs typeface="方正舒体"/>
              </a:rPr>
              <a:t>artition tolerance</a:t>
            </a:r>
          </a:p>
        </p:txBody>
      </p:sp>
      <p:pic>
        <p:nvPicPr>
          <p:cNvPr id="14" name="Graphic 1">
            <a:extLst>
              <a:ext uri="{FF2B5EF4-FFF2-40B4-BE49-F238E27FC236}">
                <a16:creationId xmlns:a16="http://schemas.microsoft.com/office/drawing/2014/main" id="{1DA30F92-E5F0-4235-A00B-E82A0C37AC6C}"/>
              </a:ext>
            </a:extLst>
          </p:cNvPr>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554396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CAP</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Picture 4" descr="Visual Guide to NoSQL">
            <a:extLst>
              <a:ext uri="{FF2B5EF4-FFF2-40B4-BE49-F238E27FC236}">
                <a16:creationId xmlns:a16="http://schemas.microsoft.com/office/drawing/2014/main" id="{EC947CB9-AA17-4E17-9D34-51A96E26A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633" y="1533832"/>
            <a:ext cx="9692968" cy="471948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 name="Graphic 1">
            <a:extLst>
              <a:ext uri="{FF2B5EF4-FFF2-40B4-BE49-F238E27FC236}">
                <a16:creationId xmlns:a16="http://schemas.microsoft.com/office/drawing/2014/main" id="{B929C5B6-85D1-45EB-A447-A9C5D8C1D068}"/>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390330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sym typeface="Avenir"/>
              </a:rPr>
              <a:t>Key Value Databases</a:t>
            </a:r>
          </a:p>
        </p:txBody>
      </p:sp>
      <p:sp>
        <p:nvSpPr>
          <p:cNvPr id="74" name="Google Shape;74;p16"/>
          <p:cNvSpPr txBox="1"/>
          <p:nvPr/>
        </p:nvSpPr>
        <p:spPr>
          <a:xfrm>
            <a:off x="834800" y="1137134"/>
            <a:ext cx="11031200" cy="5878066"/>
          </a:xfrm>
          <a:prstGeom prst="rect">
            <a:avLst/>
          </a:prstGeom>
          <a:noFill/>
          <a:ln>
            <a:noFill/>
          </a:ln>
        </p:spPr>
        <p:txBody>
          <a:bodyPr spcFirstLastPara="1" wrap="square" lIns="121900" tIns="121900" rIns="121900" bIns="121900" anchor="t" anchorCtr="0">
            <a:noAutofit/>
          </a:bodyPr>
          <a:lstStyle/>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sz="2400" dirty="0">
                <a:solidFill>
                  <a:schemeClr val="dk1"/>
                </a:solidFill>
                <a:latin typeface="Avenir"/>
              </a:rPr>
              <a:t>Key-value stores are the simplest NoSQL databases.</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sz="2400" dirty="0">
                <a:solidFill>
                  <a:schemeClr val="dk1"/>
                </a:solidFill>
                <a:latin typeface="Avenir"/>
              </a:rPr>
              <a:t>They are like a dictionary, stores every  item as an attribute name (or "key"), together with its value. </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sz="2400" dirty="0">
                <a:solidFill>
                  <a:schemeClr val="dk1"/>
                </a:solidFill>
                <a:latin typeface="Avenir"/>
              </a:rPr>
              <a:t>Examples of key-value stores are </a:t>
            </a:r>
            <a:r>
              <a:rPr lang="en-US" sz="2400" dirty="0" err="1">
                <a:solidFill>
                  <a:schemeClr val="dk1"/>
                </a:solidFill>
                <a:latin typeface="Avenir"/>
              </a:rPr>
              <a:t>Riak</a:t>
            </a:r>
            <a:r>
              <a:rPr lang="en-US" sz="2400" dirty="0">
                <a:solidFill>
                  <a:schemeClr val="dk1"/>
                </a:solidFill>
                <a:latin typeface="Avenir"/>
              </a:rPr>
              <a:t> and Voldemort. </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sz="2400" dirty="0">
                <a:solidFill>
                  <a:schemeClr val="dk1"/>
                </a:solidFill>
                <a:latin typeface="Avenir"/>
              </a:rPr>
              <a:t>Some key-value stores, such as Redis, allow each value to have a type, such as "integer", which adds functionality.</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US" sz="2400" dirty="0">
                <a:solidFill>
                  <a:schemeClr val="dk1"/>
                </a:solidFill>
                <a:latin typeface="Avenir"/>
              </a:rPr>
              <a:t>Key-value NoSQL databases are ideal for database for lookup queries with extremely quick and optimized retrieval</a:t>
            </a:r>
          </a:p>
          <a:p>
            <a:pPr eaLnBrk="1" hangingPunct="1"/>
            <a:endParaRPr lang="en-US" altLang="en-US"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56629ABE-994B-48D2-84EB-DBDF635B2E2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85355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Document Databases</a:t>
            </a:r>
          </a:p>
        </p:txBody>
      </p:sp>
      <p:sp>
        <p:nvSpPr>
          <p:cNvPr id="74" name="Google Shape;74;p16"/>
          <p:cNvSpPr txBox="1"/>
          <p:nvPr/>
        </p:nvSpPr>
        <p:spPr>
          <a:xfrm>
            <a:off x="957600" y="979934"/>
            <a:ext cx="11031200" cy="4226247"/>
          </a:xfrm>
          <a:prstGeom prst="rect">
            <a:avLst/>
          </a:prstGeom>
          <a:noFill/>
          <a:ln>
            <a:noFill/>
          </a:ln>
        </p:spPr>
        <p:txBody>
          <a:bodyPr spcFirstLastPara="1" wrap="square" lIns="121900" tIns="121900" rIns="121900" bIns="121900" anchor="t" anchorCtr="0">
            <a:noAutofit/>
          </a:bodyPr>
          <a:lstStyle/>
          <a:p>
            <a:pPr lvl="1" eaLnBrk="1" hangingPunct="1"/>
            <a:endParaRPr lang="en-GB" altLang="en-US" dirty="0"/>
          </a:p>
          <a:p>
            <a:pPr marL="127000" lvl="1" indent="-285750"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a:t>
            </a:r>
            <a:r>
              <a:rPr lang="en-GB" altLang="en-US" sz="2400" dirty="0" err="1">
                <a:solidFill>
                  <a:schemeClr val="dk1"/>
                </a:solidFill>
                <a:latin typeface="Avenir"/>
              </a:rPr>
              <a:t>Name:“Michael</a:t>
            </a:r>
            <a:r>
              <a:rPr lang="en-GB" altLang="en-US" sz="2400" dirty="0">
                <a:solidFill>
                  <a:schemeClr val="dk1"/>
                </a:solidFill>
                <a:latin typeface="Avenir"/>
              </a:rPr>
              <a:t>", Address:“</a:t>
            </a:r>
            <a:r>
              <a:rPr lang="en-GB" altLang="en-US" sz="2400" dirty="0" err="1">
                <a:solidFill>
                  <a:schemeClr val="dk1"/>
                </a:solidFill>
                <a:latin typeface="Avenir"/>
              </a:rPr>
              <a:t>FlatNo</a:t>
            </a:r>
            <a:r>
              <a:rPr lang="en-GB" altLang="en-US" sz="2400" dirty="0">
                <a:solidFill>
                  <a:schemeClr val="dk1"/>
                </a:solidFill>
                <a:latin typeface="Avenir"/>
              </a:rPr>
              <a:t> 112,Waterfront </a:t>
            </a:r>
            <a:r>
              <a:rPr lang="en-GB" altLang="en-US" sz="2400" dirty="0" err="1">
                <a:solidFill>
                  <a:schemeClr val="dk1"/>
                </a:solidFill>
                <a:latin typeface="Avenir"/>
              </a:rPr>
              <a:t>Aparment</a:t>
            </a:r>
            <a:r>
              <a:rPr lang="en-GB" altLang="en-US" sz="2400" dirty="0">
                <a:solidFill>
                  <a:schemeClr val="dk1"/>
                </a:solidFill>
                <a:latin typeface="Avenir"/>
              </a:rPr>
              <a:t> ,</a:t>
            </a:r>
            <a:r>
              <a:rPr lang="en-GB" altLang="en-US" sz="2400" dirty="0" err="1">
                <a:solidFill>
                  <a:schemeClr val="dk1"/>
                </a:solidFill>
                <a:latin typeface="Avenir"/>
              </a:rPr>
              <a:t>NYK,USA”,Grandchildren</a:t>
            </a:r>
            <a:r>
              <a:rPr lang="en-GB" altLang="en-US" sz="2400" dirty="0">
                <a:solidFill>
                  <a:schemeClr val="dk1"/>
                </a:solidFill>
                <a:latin typeface="Avenir"/>
              </a:rPr>
              <a:t>: {Claire: "7", Barbara: "6", "Magda: "3", "Kirsten: "1", "Otis: "3", Richard: "1“} Phones: [ “123-456-7890”, “234-567-8963” ] }</a:t>
            </a:r>
          </a:p>
          <a:p>
            <a:pPr lvl="2" eaLnBrk="1" hangingPunct="1">
              <a:buFont typeface="Wingdings" panose="05000000000000000000" pitchFamily="2" charset="2"/>
              <a:buNone/>
            </a:pPr>
            <a:endParaRPr lang="en-GB" altLang="en-US" sz="2000" dirty="0"/>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Example: </a:t>
            </a:r>
            <a:r>
              <a:rPr lang="en-GB" altLang="en-US" sz="2400" dirty="0" err="1">
                <a:solidFill>
                  <a:schemeClr val="dk1"/>
                </a:solidFill>
                <a:latin typeface="Avenir"/>
              </a:rPr>
              <a:t>MongoDb,CouchBase</a:t>
            </a:r>
            <a:r>
              <a:rPr lang="en-GB" altLang="en-US" sz="2400" dirty="0">
                <a:solidFill>
                  <a:schemeClr val="dk1"/>
                </a:solidFill>
                <a:latin typeface="Avenir"/>
              </a:rPr>
              <a:t> etc</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endParaRPr lang="en-GB" altLang="en-US" sz="2400" dirty="0">
              <a:solidFill>
                <a:schemeClr val="dk1"/>
              </a:solidFill>
              <a:latin typeface="Avenir"/>
            </a:endParaRPr>
          </a:p>
          <a:p>
            <a:pPr eaLnBrk="1" hangingPunct="1"/>
            <a:endParaRPr lang="en-US" altLang="en-US"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FB2110E8-D820-4A67-9DCD-2C79CF04DD8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628412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Columnar Databases</a:t>
            </a:r>
          </a:p>
        </p:txBody>
      </p:sp>
      <p:sp>
        <p:nvSpPr>
          <p:cNvPr id="74" name="Google Shape;74;p16"/>
          <p:cNvSpPr txBox="1"/>
          <p:nvPr/>
        </p:nvSpPr>
        <p:spPr>
          <a:xfrm>
            <a:off x="703446" y="1371600"/>
            <a:ext cx="11031200" cy="5878066"/>
          </a:xfrm>
          <a:prstGeom prst="rect">
            <a:avLst/>
          </a:prstGeom>
          <a:noFill/>
          <a:ln>
            <a:noFill/>
          </a:ln>
        </p:spPr>
        <p:txBody>
          <a:bodyPr spcFirstLastPara="1" wrap="square" lIns="121900" tIns="121900" rIns="121900" bIns="121900" anchor="t" anchorCtr="0">
            <a:noAutofit/>
          </a:bodyPr>
          <a:lstStyle/>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Based on Google’s </a:t>
            </a:r>
            <a:r>
              <a:rPr lang="en-GB" altLang="en-US" sz="2400" dirty="0" err="1">
                <a:solidFill>
                  <a:schemeClr val="dk1"/>
                </a:solidFill>
                <a:latin typeface="Avenir"/>
              </a:rPr>
              <a:t>BigTable</a:t>
            </a:r>
            <a:r>
              <a:rPr lang="en-GB" altLang="en-US" sz="2400" dirty="0">
                <a:solidFill>
                  <a:schemeClr val="dk1"/>
                </a:solidFill>
                <a:latin typeface="Avenir"/>
              </a:rPr>
              <a:t> paper, they are like column oriented relational databases (store data in column order)</a:t>
            </a:r>
          </a:p>
          <a:p>
            <a:pPr marL="127000" lvl="1" indent="-285750" algn="just" fontAlgn="base">
              <a:lnSpc>
                <a:spcPct val="150000"/>
              </a:lnSpc>
              <a:spcBef>
                <a:spcPct val="20000"/>
              </a:spcBef>
              <a:spcAft>
                <a:spcPct val="0"/>
              </a:spcAft>
              <a:buClr>
                <a:schemeClr val="dk1"/>
              </a:buClr>
              <a:buSzPts val="1600"/>
              <a:buFont typeface="Arial" panose="020B0604020202020204" pitchFamily="34" charset="0"/>
              <a:buChar char="•"/>
              <a:defRPr/>
            </a:pPr>
            <a:r>
              <a:rPr lang="en-GB" altLang="en-US" sz="2400" dirty="0">
                <a:solidFill>
                  <a:schemeClr val="dk1"/>
                </a:solidFill>
                <a:latin typeface="Avenir"/>
              </a:rPr>
              <a:t>Tables similarly to RDBMS, but handle semi-structured</a:t>
            </a:r>
          </a:p>
          <a:p>
            <a:pPr marL="182880" indent="-182880" eaLnBrk="1" fontAlgn="auto" hangingPunct="1">
              <a:spcAft>
                <a:spcPts val="0"/>
              </a:spcAft>
              <a:defRPr/>
            </a:pPr>
            <a:r>
              <a:rPr lang="en-GB" altLang="en-US" sz="2400" b="1" dirty="0">
                <a:solidFill>
                  <a:schemeClr val="dk1"/>
                </a:solidFill>
                <a:latin typeface="Avenir"/>
              </a:rPr>
              <a:t>Data model: </a:t>
            </a:r>
          </a:p>
          <a:p>
            <a:pPr marL="617220" lvl="1" indent="-342900" eaLnBrk="1" fontAlgn="auto" hangingPunct="1">
              <a:spcAft>
                <a:spcPts val="0"/>
              </a:spcAft>
              <a:buFont typeface="Arial" panose="020B0604020202020204" pitchFamily="34" charset="0"/>
              <a:buChar char="•"/>
              <a:defRPr/>
            </a:pPr>
            <a:r>
              <a:rPr lang="en-GB" altLang="en-US" sz="2200" dirty="0"/>
              <a:t>Collection of Column Families</a:t>
            </a:r>
          </a:p>
          <a:p>
            <a:pPr marL="617220" lvl="1" indent="-342900" eaLnBrk="1" fontAlgn="auto" hangingPunct="1">
              <a:spcAft>
                <a:spcPts val="0"/>
              </a:spcAft>
              <a:buFont typeface="Arial" panose="020B0604020202020204" pitchFamily="34" charset="0"/>
              <a:buChar char="•"/>
              <a:defRPr/>
            </a:pPr>
            <a:r>
              <a:rPr lang="en-GB" altLang="en-US" sz="2200" dirty="0">
                <a:sym typeface="Wingdings" panose="05000000000000000000" pitchFamily="2" charset="2"/>
              </a:rPr>
              <a:t>Column family = (key, value) where value = set of </a:t>
            </a:r>
            <a:r>
              <a:rPr lang="en-GB" altLang="en-US" sz="2200" b="1" dirty="0">
                <a:sym typeface="Wingdings" panose="05000000000000000000" pitchFamily="2" charset="2"/>
              </a:rPr>
              <a:t>related</a:t>
            </a:r>
            <a:r>
              <a:rPr lang="en-GB" altLang="en-US" sz="2200" dirty="0">
                <a:sym typeface="Wingdings" panose="05000000000000000000" pitchFamily="2" charset="2"/>
              </a:rPr>
              <a:t> columns (standard, super) </a:t>
            </a:r>
          </a:p>
          <a:p>
            <a:pPr marL="617220" lvl="1" indent="-342900" eaLnBrk="1" fontAlgn="auto" hangingPunct="1">
              <a:spcAft>
                <a:spcPts val="0"/>
              </a:spcAft>
              <a:buFont typeface="Arial" panose="020B0604020202020204" pitchFamily="34" charset="0"/>
              <a:buChar char="•"/>
              <a:defRPr/>
            </a:pPr>
            <a:r>
              <a:rPr lang="en-US" altLang="en-US" sz="2200" dirty="0"/>
              <a:t>indexed by </a:t>
            </a:r>
            <a:r>
              <a:rPr lang="en-US" altLang="en-US" sz="2200" i="1" dirty="0"/>
              <a:t>row key</a:t>
            </a:r>
            <a:r>
              <a:rPr lang="en-US" altLang="en-US" sz="2200" dirty="0"/>
              <a:t>, </a:t>
            </a:r>
            <a:r>
              <a:rPr lang="en-US" altLang="en-US" sz="2200" i="1" dirty="0"/>
              <a:t>column key </a:t>
            </a:r>
            <a:r>
              <a:rPr lang="en-US" altLang="en-US" sz="2200" dirty="0"/>
              <a:t>and  </a:t>
            </a:r>
            <a:r>
              <a:rPr lang="en-US" altLang="en-US" sz="2200" i="1" dirty="0"/>
              <a:t>timestamp </a:t>
            </a:r>
            <a:endParaRPr lang="en-GB" altLang="en-US" sz="2200" i="1" dirty="0"/>
          </a:p>
          <a:p>
            <a:pPr eaLnBrk="1" hangingPunct="1"/>
            <a:endParaRPr lang="en-US" altLang="en-US"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Picture 2">
            <a:extLst>
              <a:ext uri="{FF2B5EF4-FFF2-40B4-BE49-F238E27FC236}">
                <a16:creationId xmlns:a16="http://schemas.microsoft.com/office/drawing/2014/main" id="{F0B0D22A-DCAF-4536-87D5-A11E08874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869" t="54167" r="25117" b="14224"/>
          <a:stretch>
            <a:fillRect/>
          </a:stretch>
        </p:blipFill>
        <p:spPr bwMode="auto">
          <a:xfrm>
            <a:off x="3581400" y="4981575"/>
            <a:ext cx="5108575" cy="1571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Graphic 1">
            <a:extLst>
              <a:ext uri="{FF2B5EF4-FFF2-40B4-BE49-F238E27FC236}">
                <a16:creationId xmlns:a16="http://schemas.microsoft.com/office/drawing/2014/main" id="{77C72071-AF12-4EBC-A641-54C32AB12479}"/>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079240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Columnar Databases</a:t>
            </a:r>
          </a:p>
        </p:txBody>
      </p:sp>
      <p:sp>
        <p:nvSpPr>
          <p:cNvPr id="74" name="Google Shape;74;p16"/>
          <p:cNvSpPr txBox="1"/>
          <p:nvPr/>
        </p:nvSpPr>
        <p:spPr>
          <a:xfrm>
            <a:off x="834800" y="1137134"/>
            <a:ext cx="11031200" cy="5878066"/>
          </a:xfrm>
          <a:prstGeom prst="rect">
            <a:avLst/>
          </a:prstGeom>
          <a:noFill/>
          <a:ln>
            <a:noFill/>
          </a:ln>
        </p:spPr>
        <p:txBody>
          <a:bodyPr spcFirstLastPara="1" wrap="square" lIns="121900" tIns="121900" rIns="121900" bIns="121900" anchor="t" anchorCtr="0">
            <a:noAutofit/>
          </a:bodyPr>
          <a:lstStyle/>
          <a:p>
            <a:pPr marL="342900" indent="-342900" eaLnBrk="1" hangingPunct="1">
              <a:buFont typeface="Arial" panose="020B0604020202020204" pitchFamily="34" charset="0"/>
              <a:buChar char="•"/>
            </a:pPr>
            <a:r>
              <a:rPr lang="en-GB" altLang="en-US" sz="2400" dirty="0">
                <a:solidFill>
                  <a:schemeClr val="dk1"/>
                </a:solidFill>
                <a:latin typeface="Avenir"/>
              </a:rPr>
              <a:t>One column family can have variable numbers of columns</a:t>
            </a:r>
          </a:p>
          <a:p>
            <a:pPr marL="342900" indent="-342900" eaLnBrk="1" hangingPunct="1">
              <a:buFont typeface="Arial" panose="020B0604020202020204" pitchFamily="34" charset="0"/>
              <a:buChar char="•"/>
            </a:pPr>
            <a:r>
              <a:rPr lang="en-GB" altLang="en-US" sz="2400" dirty="0">
                <a:solidFill>
                  <a:schemeClr val="dk1"/>
                </a:solidFill>
                <a:latin typeface="Avenir"/>
              </a:rPr>
              <a:t>Cells within a column family are sorted “physically”</a:t>
            </a:r>
          </a:p>
          <a:p>
            <a:pPr marL="342900" indent="-342900" eaLnBrk="1" hangingPunct="1">
              <a:buFont typeface="Arial" panose="020B0604020202020204" pitchFamily="34" charset="0"/>
              <a:buChar char="•"/>
            </a:pPr>
            <a:r>
              <a:rPr lang="en-GB" altLang="en-US" sz="2400" dirty="0">
                <a:solidFill>
                  <a:schemeClr val="dk1"/>
                </a:solidFill>
                <a:latin typeface="Avenir"/>
              </a:rPr>
              <a:t>Very sparse, most cells have null values</a:t>
            </a:r>
          </a:p>
          <a:p>
            <a:pPr marL="342900" indent="-342900" eaLnBrk="1" hangingPunct="1">
              <a:buFont typeface="Arial" panose="020B0604020202020204" pitchFamily="34" charset="0"/>
              <a:buChar char="•"/>
            </a:pPr>
            <a:endParaRPr lang="en-GB" altLang="en-US" sz="2400" dirty="0">
              <a:solidFill>
                <a:schemeClr val="dk1"/>
              </a:solidFill>
              <a:latin typeface="Avenir"/>
            </a:endParaRPr>
          </a:p>
          <a:p>
            <a:pPr eaLnBrk="1" hangingPunct="1"/>
            <a:endParaRPr lang="en-GB" altLang="en-US" sz="2400" dirty="0">
              <a:solidFill>
                <a:schemeClr val="dk1"/>
              </a:solidFill>
              <a:latin typeface="Avenir"/>
            </a:endParaRPr>
          </a:p>
          <a:p>
            <a:pPr eaLnBrk="1" hangingPunct="1"/>
            <a:r>
              <a:rPr lang="en-GB" altLang="en-US" sz="2600" b="1" dirty="0"/>
              <a:t>Comparison: </a:t>
            </a:r>
            <a:r>
              <a:rPr lang="en-GB" altLang="en-US" sz="2600" dirty="0"/>
              <a:t>RDBMS vs column-based NOSQL</a:t>
            </a:r>
          </a:p>
          <a:p>
            <a:pPr lvl="1" eaLnBrk="1" hangingPunct="1"/>
            <a:r>
              <a:rPr lang="en-GB" altLang="en-US" sz="2200" dirty="0"/>
              <a:t>Query on multiple tables</a:t>
            </a:r>
          </a:p>
          <a:p>
            <a:pPr lvl="2" eaLnBrk="1" hangingPunct="1"/>
            <a:r>
              <a:rPr lang="en-GB" altLang="en-US" b="1" dirty="0"/>
              <a:t>RDBMS: </a:t>
            </a:r>
            <a:r>
              <a:rPr lang="en-GB" altLang="en-US" dirty="0"/>
              <a:t>must fetch data from several places on disk and glue together</a:t>
            </a:r>
          </a:p>
          <a:p>
            <a:pPr lvl="2" eaLnBrk="1" hangingPunct="1"/>
            <a:r>
              <a:rPr lang="en-GB" altLang="en-US" b="1" dirty="0"/>
              <a:t>Column-based NOSQL: </a:t>
            </a:r>
            <a:r>
              <a:rPr lang="en-GB" altLang="en-US" dirty="0"/>
              <a:t>only fetch column families of those columns that are required by a query (all columns in a column family are stored together on the disk, so multiple rows can be retrieved in one read operation </a:t>
            </a:r>
            <a:r>
              <a:rPr lang="en-GB" altLang="en-US" dirty="0">
                <a:sym typeface="Wingdings" panose="05000000000000000000" pitchFamily="2" charset="2"/>
              </a:rPr>
              <a:t> data locality</a:t>
            </a:r>
            <a:r>
              <a:rPr lang="en-GB" altLang="en-US" dirty="0"/>
              <a:t>)</a:t>
            </a:r>
          </a:p>
          <a:p>
            <a:pPr lvl="2" eaLnBrk="1" hangingPunct="1"/>
            <a:endParaRPr lang="en-GB" altLang="en-US" dirty="0"/>
          </a:p>
          <a:p>
            <a:pPr lvl="2" eaLnBrk="1" hangingPunct="1"/>
            <a:r>
              <a:rPr lang="en-GB" altLang="en-US" b="1" dirty="0"/>
              <a:t>Example</a:t>
            </a:r>
            <a:r>
              <a:rPr lang="en-GB" altLang="en-US" dirty="0"/>
              <a:t> : </a:t>
            </a:r>
            <a:r>
              <a:rPr lang="en-GB" altLang="en-US" dirty="0" err="1"/>
              <a:t>Hbase</a:t>
            </a:r>
            <a:r>
              <a:rPr lang="en-GB" altLang="en-US" dirty="0"/>
              <a:t>, Cassandra, </a:t>
            </a:r>
            <a:r>
              <a:rPr lang="en-GB" altLang="en-US" dirty="0" err="1"/>
              <a:t>HyperTable</a:t>
            </a:r>
            <a:r>
              <a:rPr lang="en-GB" altLang="en-US" dirty="0"/>
              <a:t> etc</a:t>
            </a:r>
          </a:p>
          <a:p>
            <a:pPr lvl="2" eaLnBrk="1" hangingPunct="1"/>
            <a:endParaRPr lang="en-GB" altLang="en-US" dirty="0"/>
          </a:p>
          <a:p>
            <a:pPr eaLnBrk="1" hangingPunct="1"/>
            <a:endParaRPr lang="en-US" altLang="en-US"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6E2DE8BE-EA85-46B2-B4EB-6C776B6571E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35673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Graph Databases</a:t>
            </a:r>
          </a:p>
        </p:txBody>
      </p:sp>
      <p:sp>
        <p:nvSpPr>
          <p:cNvPr id="74" name="Google Shape;74;p16"/>
          <p:cNvSpPr txBox="1"/>
          <p:nvPr/>
        </p:nvSpPr>
        <p:spPr>
          <a:xfrm>
            <a:off x="834800" y="1137134"/>
            <a:ext cx="11031200" cy="5878066"/>
          </a:xfrm>
          <a:prstGeom prst="rect">
            <a:avLst/>
          </a:prstGeom>
          <a:noFill/>
          <a:ln>
            <a:noFill/>
          </a:ln>
        </p:spPr>
        <p:txBody>
          <a:bodyPr spcFirstLastPara="1" wrap="square" lIns="121900" tIns="121900" rIns="121900" bIns="121900" anchor="t" anchorCtr="0">
            <a:noAutofit/>
          </a:bodyPr>
          <a:lstStyle/>
          <a:p>
            <a:pPr marL="342900" indent="-342900">
              <a:buFont typeface="Arial" panose="020B0604020202020204" pitchFamily="34" charset="0"/>
              <a:buChar char="•"/>
            </a:pPr>
            <a:r>
              <a:rPr lang="en-US" altLang="en-US" sz="2400" dirty="0">
                <a:solidFill>
                  <a:schemeClr val="dk1"/>
                </a:solidFill>
                <a:latin typeface="Avenir"/>
              </a:rPr>
              <a:t>Focus on modeling the structure of data (interconnectivity)</a:t>
            </a:r>
          </a:p>
          <a:p>
            <a:pPr marL="342900" indent="-342900">
              <a:buFont typeface="Arial" panose="020B0604020202020204" pitchFamily="34" charset="0"/>
              <a:buChar char="•"/>
            </a:pPr>
            <a:r>
              <a:rPr lang="en-US" altLang="en-US" sz="2400" dirty="0">
                <a:solidFill>
                  <a:schemeClr val="dk1"/>
                </a:solidFill>
                <a:latin typeface="Avenir"/>
              </a:rPr>
              <a:t>Scales to the complexity of data</a:t>
            </a:r>
          </a:p>
          <a:p>
            <a:pPr marL="342900" indent="-342900">
              <a:buFont typeface="Arial" panose="020B0604020202020204" pitchFamily="34" charset="0"/>
              <a:buChar char="•"/>
            </a:pPr>
            <a:r>
              <a:rPr lang="en-US" altLang="en-US" sz="2400" dirty="0">
                <a:solidFill>
                  <a:schemeClr val="dk1"/>
                </a:solidFill>
                <a:latin typeface="Avenir"/>
              </a:rPr>
              <a:t>Inspired by mathematical Graph Theory (G=(E,V)) </a:t>
            </a:r>
          </a:p>
          <a:p>
            <a:endParaRPr lang="en-US" altLang="en-US" sz="2400" dirty="0">
              <a:solidFill>
                <a:schemeClr val="dk1"/>
              </a:solidFill>
              <a:latin typeface="Avenir"/>
            </a:endParaRPr>
          </a:p>
          <a:p>
            <a:pPr eaLnBrk="1" hangingPunct="1"/>
            <a:r>
              <a:rPr lang="en-US" altLang="en-US" sz="2400" b="1" dirty="0">
                <a:solidFill>
                  <a:schemeClr val="dk1"/>
                </a:solidFill>
                <a:latin typeface="Avenir"/>
              </a:rPr>
              <a:t>Data model: </a:t>
            </a:r>
          </a:p>
          <a:p>
            <a:pPr lvl="1" eaLnBrk="1" hangingPunct="1"/>
            <a:r>
              <a:rPr lang="en-US" altLang="en-US" sz="2400" dirty="0">
                <a:solidFill>
                  <a:schemeClr val="dk1"/>
                </a:solidFill>
                <a:latin typeface="Avenir"/>
              </a:rPr>
              <a:t>(Property Graph) nodes and edges</a:t>
            </a:r>
          </a:p>
          <a:p>
            <a:pPr lvl="2" eaLnBrk="1" hangingPunct="1"/>
            <a:r>
              <a:rPr lang="en-US" altLang="en-US" sz="2400" dirty="0">
                <a:solidFill>
                  <a:schemeClr val="dk1"/>
                </a:solidFill>
                <a:latin typeface="Avenir"/>
              </a:rPr>
              <a:t>Nodes may have properties  (including ID)</a:t>
            </a:r>
          </a:p>
          <a:p>
            <a:pPr lvl="2" eaLnBrk="1" hangingPunct="1"/>
            <a:r>
              <a:rPr lang="en-US" altLang="en-US" sz="2400" dirty="0">
                <a:solidFill>
                  <a:schemeClr val="dk1"/>
                </a:solidFill>
                <a:latin typeface="Avenir"/>
              </a:rPr>
              <a:t>Edges may have labels or roles</a:t>
            </a:r>
          </a:p>
          <a:p>
            <a:pPr marL="342900" lvl="1" indent="-342900">
              <a:buFont typeface="Arial" panose="020B0604020202020204" pitchFamily="34" charset="0"/>
              <a:buChar char="•"/>
            </a:pPr>
            <a:endParaRPr lang="en-US" altLang="en-US" sz="2400" dirty="0">
              <a:solidFill>
                <a:schemeClr val="dk1"/>
              </a:solidFill>
              <a:latin typeface="Avenir"/>
            </a:endParaRPr>
          </a:p>
          <a:p>
            <a:pPr marL="342900" indent="-342900">
              <a:buFont typeface="Arial" panose="020B0604020202020204" pitchFamily="34" charset="0"/>
              <a:buChar char="•"/>
            </a:pPr>
            <a:r>
              <a:rPr lang="en-US" altLang="en-US" sz="2400" dirty="0">
                <a:solidFill>
                  <a:schemeClr val="dk1"/>
                </a:solidFill>
                <a:latin typeface="Avenir"/>
              </a:rPr>
              <a:t>Single-step vs path expressions vs full recursion</a:t>
            </a:r>
          </a:p>
          <a:p>
            <a:endParaRPr lang="en-US" altLang="en-US" sz="2400" dirty="0">
              <a:solidFill>
                <a:schemeClr val="dk1"/>
              </a:solidFill>
              <a:latin typeface="Avenir"/>
            </a:endParaRPr>
          </a:p>
          <a:p>
            <a:pPr eaLnBrk="1" hangingPunct="1"/>
            <a:r>
              <a:rPr lang="en-US" altLang="en-US" sz="2400" b="1" dirty="0">
                <a:solidFill>
                  <a:schemeClr val="dk1"/>
                </a:solidFill>
                <a:latin typeface="Avenir"/>
              </a:rPr>
              <a:t>Example:</a:t>
            </a:r>
          </a:p>
          <a:p>
            <a:pPr lvl="1" eaLnBrk="1" hangingPunct="1"/>
            <a:r>
              <a:rPr lang="en-US" altLang="en-US" sz="2400" dirty="0">
                <a:solidFill>
                  <a:schemeClr val="dk1"/>
                </a:solidFill>
                <a:latin typeface="Avenir"/>
              </a:rPr>
              <a:t>Neo4j, </a:t>
            </a:r>
            <a:r>
              <a:rPr lang="en-US" altLang="en-US" sz="2400" dirty="0" err="1">
                <a:solidFill>
                  <a:schemeClr val="dk1"/>
                </a:solidFill>
                <a:latin typeface="Avenir"/>
              </a:rPr>
              <a:t>FlockDB</a:t>
            </a:r>
            <a:r>
              <a:rPr lang="en-US" altLang="en-US" sz="2400" dirty="0">
                <a:solidFill>
                  <a:schemeClr val="dk1"/>
                </a:solidFill>
                <a:latin typeface="Avenir"/>
              </a:rPr>
              <a:t>, Pregel, </a:t>
            </a:r>
            <a:r>
              <a:rPr lang="en-US" altLang="en-US" sz="2400" dirty="0" err="1">
                <a:solidFill>
                  <a:schemeClr val="dk1"/>
                </a:solidFill>
                <a:latin typeface="Avenir"/>
              </a:rPr>
              <a:t>InfoGrid</a:t>
            </a:r>
            <a:r>
              <a:rPr lang="en-US" altLang="en-US" sz="2400" dirty="0">
                <a:solidFill>
                  <a:schemeClr val="dk1"/>
                </a:solidFill>
                <a:latin typeface="Avenir"/>
              </a:rPr>
              <a:t> …</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Picture 3">
            <a:extLst>
              <a:ext uri="{FF2B5EF4-FFF2-40B4-BE49-F238E27FC236}">
                <a16:creationId xmlns:a16="http://schemas.microsoft.com/office/drawing/2014/main" id="{66D48E78-033C-4198-BAB4-B68581F13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0394" t="15366" r="24377" b="58333"/>
          <a:stretch>
            <a:fillRect/>
          </a:stretch>
        </p:blipFill>
        <p:spPr bwMode="auto">
          <a:xfrm>
            <a:off x="8858097" y="3787878"/>
            <a:ext cx="1804987"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Graphic 1">
            <a:extLst>
              <a:ext uri="{FF2B5EF4-FFF2-40B4-BE49-F238E27FC236}">
                <a16:creationId xmlns:a16="http://schemas.microsoft.com/office/drawing/2014/main" id="{B76E7800-884B-445E-AE70-0F250C589AF9}"/>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3411" y="475471"/>
            <a:ext cx="2447925" cy="762000"/>
          </a:xfrm>
          <a:prstGeom prst="rect">
            <a:avLst/>
          </a:prstGeom>
        </p:spPr>
      </p:pic>
    </p:spTree>
    <p:extLst>
      <p:ext uri="{BB962C8B-B14F-4D97-AF65-F5344CB8AC3E}">
        <p14:creationId xmlns:p14="http://schemas.microsoft.com/office/powerpoint/2010/main" val="3036900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What is </a:t>
            </a:r>
            <a:r>
              <a:rPr lang="en-IN" sz="3600" b="1" dirty="0">
                <a:solidFill>
                  <a:srgbClr val="434343"/>
                </a:solidFill>
                <a:latin typeface="Avenir"/>
                <a:ea typeface="Avenir"/>
                <a:cs typeface="Avenir"/>
                <a:sym typeface="Avenir"/>
              </a:rPr>
              <a:t>MongoDB</a:t>
            </a:r>
            <a:r>
              <a:rPr lang="en-IN" sz="3200" b="1" dirty="0">
                <a:solidFill>
                  <a:srgbClr val="434343"/>
                </a:solidFill>
                <a:latin typeface="Avenir"/>
                <a:ea typeface="Avenir"/>
                <a:cs typeface="Avenir"/>
                <a:sym typeface="Avenir"/>
              </a:rPr>
              <a:t>?</a:t>
            </a: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Arial" panose="020B0604020202020204" pitchFamily="34" charset="0"/>
              <a:buChar char="•"/>
            </a:pPr>
            <a:r>
              <a:rPr lang="en-IN" sz="2400" dirty="0">
                <a:solidFill>
                  <a:schemeClr val="dk1"/>
                </a:solidFill>
                <a:latin typeface="Avenir"/>
              </a:rPr>
              <a:t>MongoDB is a document-oriented database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MongoDB replaces the concept of a  “row” with a more flexible model, the “document.”</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altLang="en-US" sz="2400" dirty="0">
                <a:solidFill>
                  <a:schemeClr val="dk1"/>
                </a:solidFill>
                <a:latin typeface="Avenir"/>
              </a:rPr>
              <a:t>MongoDB stores data in the form of BSON(binary form of JSON) </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Document-oriented approach allows to store  complex hierarchical relationships with a single record in the form of nested JSON</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This approach suits application developers of modern object-oriented languages as Java, Java Script based framework(AngularJS, </a:t>
            </a:r>
            <a:r>
              <a:rPr lang="en-IN" sz="2400" dirty="0" err="1">
                <a:solidFill>
                  <a:schemeClr val="dk1"/>
                </a:solidFill>
                <a:latin typeface="Avenir"/>
              </a:rPr>
              <a:t>RectJS</a:t>
            </a:r>
            <a:r>
              <a:rPr lang="en-IN" sz="2400" dirty="0">
                <a:solidFill>
                  <a:schemeClr val="dk1"/>
                </a:solidFill>
                <a:latin typeface="Avenir"/>
              </a:rPr>
              <a:t>), C++ etc</a:t>
            </a:r>
          </a:p>
          <a:p>
            <a:pPr marL="285750" indent="-285750">
              <a:buFont typeface="Arial" panose="020B0604020202020204" pitchFamily="34" charset="0"/>
              <a:buChar char="•"/>
            </a:pPr>
            <a:r>
              <a:rPr lang="en-IN" sz="2400" dirty="0">
                <a:solidFill>
                  <a:schemeClr val="dk1"/>
                </a:solidFill>
                <a:latin typeface="Avenir"/>
              </a:rPr>
              <a:t> MongoDB is also schema-free: it is not necessary to define collection attributes before writing data into it.</a:t>
            </a:r>
          </a:p>
          <a:p>
            <a:pPr marL="285750" indent="-285750">
              <a:buFont typeface="Arial" panose="020B0604020202020204" pitchFamily="34" charset="0"/>
              <a:buChar char="•"/>
            </a:pPr>
            <a:r>
              <a:rPr lang="en-IN" sz="2400" dirty="0">
                <a:solidFill>
                  <a:schemeClr val="dk1"/>
                </a:solidFill>
                <a:latin typeface="Avenir"/>
              </a:rPr>
              <a:t>This provide developers a lot of flexibility  to handle evolving data models.</a:t>
            </a:r>
            <a:endParaRPr lang="en-US" sz="2400" dirty="0">
              <a:solidFill>
                <a:schemeClr val="dk1"/>
              </a:solidFill>
              <a:latin typeface="Avenir"/>
            </a:endParaRPr>
          </a:p>
          <a:p>
            <a:pPr marL="285750" indent="-285750">
              <a:buFont typeface="Arial" panose="020B0604020202020204" pitchFamily="34" charset="0"/>
              <a:buChar char="•"/>
            </a:pPr>
            <a:endParaRPr sz="2400" dirty="0">
              <a:solidFill>
                <a:schemeClr val="dk1"/>
              </a:solidFill>
              <a:latin typeface="Avenir"/>
              <a:sym typeface="Avenir"/>
            </a:endParaRPr>
          </a:p>
          <a:p>
            <a:pPr marL="1219170" algn="just"/>
            <a:endParaRPr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F7933A03-A374-48FF-AB20-26F9A8F3E783}"/>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954935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600" b="1" dirty="0">
                <a:solidFill>
                  <a:srgbClr val="434343"/>
                </a:solidFill>
                <a:latin typeface="Avenir"/>
                <a:ea typeface="Avenir"/>
                <a:cs typeface="Avenir"/>
                <a:sym typeface="Avenir"/>
              </a:rPr>
              <a:t>MongoDB Usecases</a:t>
            </a:r>
            <a:endParaRPr sz="3200" b="1" dirty="0">
              <a:solidFill>
                <a:srgbClr val="434343"/>
              </a:solidFill>
              <a:latin typeface="Avenir"/>
              <a:ea typeface="Avenir"/>
              <a:cs typeface="Avenir"/>
              <a:sym typeface="Avenir"/>
            </a:endParaRPr>
          </a:p>
        </p:txBody>
      </p:sp>
      <p:sp>
        <p:nvSpPr>
          <p:cNvPr id="74" name="Google Shape;74;p16"/>
          <p:cNvSpPr txBox="1"/>
          <p:nvPr/>
        </p:nvSpPr>
        <p:spPr>
          <a:xfrm>
            <a:off x="6528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Arial" panose="020B0604020202020204" pitchFamily="34" charset="0"/>
              <a:buChar char="•"/>
            </a:pPr>
            <a:r>
              <a:rPr lang="en-IN" sz="2400" dirty="0">
                <a:solidFill>
                  <a:schemeClr val="dk1"/>
                </a:solidFill>
                <a:latin typeface="Avenir"/>
              </a:rPr>
              <a:t>Personalization</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Mobile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Internet of things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Real time Analytics</a:t>
            </a:r>
          </a:p>
          <a:p>
            <a:pPr marL="285750" indent="-285750">
              <a:buFont typeface="Arial" panose="020B0604020202020204" pitchFamily="34" charset="0"/>
              <a:buChar char="•"/>
            </a:pPr>
            <a:r>
              <a:rPr lang="en-IN" sz="2400" dirty="0">
                <a:solidFill>
                  <a:schemeClr val="dk1"/>
                </a:solidFill>
                <a:latin typeface="Avenir"/>
              </a:rPr>
              <a:t>Web Applications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Content Management</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err="1">
                <a:solidFill>
                  <a:schemeClr val="dk1"/>
                </a:solidFill>
                <a:latin typeface="Avenir"/>
              </a:rPr>
              <a:t>Catalog</a:t>
            </a:r>
            <a:r>
              <a:rPr lang="en-IN" sz="2400" dirty="0">
                <a:solidFill>
                  <a:schemeClr val="dk1"/>
                </a:solidFill>
                <a:latin typeface="Avenir"/>
              </a:rPr>
              <a:t> </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Single View</a:t>
            </a:r>
          </a:p>
          <a:p>
            <a:endParaRPr sz="2400" dirty="0">
              <a:solidFill>
                <a:schemeClr val="dk1"/>
              </a:solidFill>
              <a:latin typeface="Avenir"/>
              <a:sym typeface="Avenir"/>
            </a:endParaRPr>
          </a:p>
          <a:p>
            <a:pPr marL="1219170" algn="just"/>
            <a:endParaRPr sz="2400" dirty="0">
              <a:solidFill>
                <a:srgbClr val="666666"/>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658D5A38-9861-4F22-8E83-2083B8D500E5}"/>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230947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What is JSON?</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Arial" panose="020B0604020202020204" pitchFamily="34" charset="0"/>
              <a:buChar char="•"/>
            </a:pPr>
            <a:r>
              <a:rPr lang="en-IN" sz="2400" dirty="0">
                <a:solidFill>
                  <a:schemeClr val="dk1"/>
                </a:solidFill>
                <a:latin typeface="Avenir"/>
              </a:rPr>
              <a:t>JSON : JSON (JavaScript Object Notation) is a lightweight data-interchange </a:t>
            </a:r>
            <a:r>
              <a:rPr lang="en-IN" sz="2400" dirty="0" err="1">
                <a:solidFill>
                  <a:schemeClr val="dk1"/>
                </a:solidFill>
                <a:latin typeface="Avenir"/>
              </a:rPr>
              <a:t>format.It</a:t>
            </a:r>
            <a:r>
              <a:rPr lang="en-IN" sz="2400" dirty="0">
                <a:solidFill>
                  <a:schemeClr val="dk1"/>
                </a:solidFill>
                <a:latin typeface="Avenir"/>
              </a:rPr>
              <a:t> is easy for humans to read and write.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 JSON is a text format and language independent, It also uses object concept that are familiar to programmers of different object oriented languages such as </a:t>
            </a:r>
            <a:r>
              <a:rPr lang="en-IN" sz="2400" dirty="0" err="1">
                <a:solidFill>
                  <a:schemeClr val="dk1"/>
                </a:solidFill>
                <a:latin typeface="Avenir"/>
              </a:rPr>
              <a:t>Java,C#,C</a:t>
            </a:r>
            <a:r>
              <a:rPr lang="en-IN" sz="2400" dirty="0">
                <a:solidFill>
                  <a:schemeClr val="dk1"/>
                </a:solidFill>
                <a:latin typeface="Avenir"/>
              </a:rPr>
              <a:t>++ etc</a:t>
            </a:r>
          </a:p>
          <a:p>
            <a:pPr marL="285750" indent="-285750">
              <a:buFont typeface="Arial" panose="020B0604020202020204" pitchFamily="34" charset="0"/>
              <a:buChar char="•"/>
            </a:pPr>
            <a:r>
              <a:rPr lang="en-IN" sz="2400" dirty="0">
                <a:solidFill>
                  <a:schemeClr val="dk1"/>
                </a:solidFill>
                <a:latin typeface="Avenir"/>
              </a:rPr>
              <a:t>JSON supports all the basic data types you’d expect: numbers, strings, and </a:t>
            </a:r>
            <a:r>
              <a:rPr lang="en-IN" sz="2400" dirty="0" err="1">
                <a:solidFill>
                  <a:schemeClr val="dk1"/>
                </a:solidFill>
                <a:latin typeface="Avenir"/>
              </a:rPr>
              <a:t>boolean</a:t>
            </a:r>
            <a:r>
              <a:rPr lang="en-IN" sz="2400" dirty="0">
                <a:solidFill>
                  <a:schemeClr val="dk1"/>
                </a:solidFill>
                <a:latin typeface="Avenir"/>
              </a:rPr>
              <a:t> values, as well as arrays and hashes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hlinkClick r:id="rId3">
                  <a:extLst>
                    <a:ext uri="{A12FA001-AC4F-418D-AE19-62706E023703}">
                      <ahyp:hlinkClr xmlns:ahyp="http://schemas.microsoft.com/office/drawing/2018/hyperlinkcolor" val="tx"/>
                    </a:ext>
                  </a:extLst>
                </a:hlinkClick>
              </a:rPr>
              <a:t>Document databases</a:t>
            </a:r>
            <a:r>
              <a:rPr lang="en-IN" sz="2400" dirty="0">
                <a:solidFill>
                  <a:schemeClr val="dk1"/>
                </a:solidFill>
                <a:latin typeface="Avenir"/>
              </a:rPr>
              <a:t> such as MongoDB use JSON documents in order to store records, just as tables and rows store records in a relational database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A JSON database returns query results that can be easily parsed, with little or no transformation, directly by JavaScript and most popular programming languages – reducing the amount of logic you need to build into your application layer</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 name="Graphic 1">
            <a:extLst>
              <a:ext uri="{FF2B5EF4-FFF2-40B4-BE49-F238E27FC236}">
                <a16:creationId xmlns:a16="http://schemas.microsoft.com/office/drawing/2014/main" id="{CE54B4FA-2147-4093-81C1-2B2AB159882C}"/>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0680" y="122420"/>
            <a:ext cx="2447925" cy="762000"/>
          </a:xfrm>
          <a:prstGeom prst="rect">
            <a:avLst/>
          </a:prstGeom>
        </p:spPr>
      </p:pic>
    </p:spTree>
    <p:extLst>
      <p:ext uri="{BB962C8B-B14F-4D97-AF65-F5344CB8AC3E}">
        <p14:creationId xmlns:p14="http://schemas.microsoft.com/office/powerpoint/2010/main" val="6655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Example of JSON</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Wingdings" panose="05000000000000000000" pitchFamily="2" charset="2"/>
              <a:buChar char="Ø"/>
            </a:pPr>
            <a:endParaRPr lang="en-IN" sz="24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B4D24390-1F10-47DA-AED3-F9343B070352}"/>
              </a:ext>
            </a:extLst>
          </p:cNvPr>
          <p:cNvSpPr txBox="1"/>
          <p:nvPr/>
        </p:nvSpPr>
        <p:spPr>
          <a:xfrm>
            <a:off x="1527974" y="1251801"/>
            <a:ext cx="7398487" cy="4354397"/>
          </a:xfrm>
          <a:prstGeom prst="rect">
            <a:avLst/>
          </a:prstGeom>
          <a:noFill/>
        </p:spPr>
        <p:txBody>
          <a:bodyPr wrap="square">
            <a:spAutoFit/>
          </a:bodyPr>
          <a:lstStyle/>
          <a:p>
            <a:r>
              <a:rPr lang="en-IN" sz="2000" dirty="0"/>
              <a:t>{</a:t>
            </a:r>
          </a:p>
          <a:p>
            <a:pPr marL="440624" lvl="1" indent="0">
              <a:buNone/>
            </a:pPr>
            <a:r>
              <a:rPr lang="en-IN" sz="2154" dirty="0"/>
              <a:t>"_id" : 1,</a:t>
            </a:r>
          </a:p>
          <a:p>
            <a:pPr marL="440624" lvl="1" indent="0">
              <a:buNone/>
            </a:pPr>
            <a:r>
              <a:rPr lang="en-IN" sz="2154" dirty="0"/>
              <a:t>"name" : { “</a:t>
            </a:r>
            <a:r>
              <a:rPr lang="en-IN" sz="2154" dirty="0" err="1"/>
              <a:t>GreatLearning</a:t>
            </a:r>
            <a:r>
              <a:rPr lang="en-IN" sz="2154" dirty="0"/>
              <a:t>"},</a:t>
            </a:r>
          </a:p>
          <a:p>
            <a:pPr marL="440624" lvl="1" indent="0">
              <a:buNone/>
            </a:pPr>
            <a:r>
              <a:rPr lang="en-IN" sz="2154" dirty="0"/>
              <a:t>"customers" : [ “Genpact", “Accenture", “Wipro", “Infosys" ],</a:t>
            </a:r>
          </a:p>
          <a:p>
            <a:pPr marL="440624" lvl="1" indent="0">
              <a:buNone/>
            </a:pPr>
            <a:r>
              <a:rPr lang="en-IN" sz="2154" dirty="0"/>
              <a:t>“courses" : [</a:t>
            </a:r>
          </a:p>
          <a:p>
            <a:pPr marL="440624" lvl="1" indent="0">
              <a:buNone/>
            </a:pPr>
            <a:r>
              <a:rPr lang="en-IN" sz="2154" dirty="0"/>
              <a:t>           {         "name"   : “Data Science with SAS",</a:t>
            </a:r>
          </a:p>
          <a:p>
            <a:pPr marL="440624" lvl="1" indent="0">
              <a:buNone/>
            </a:pPr>
            <a:r>
              <a:rPr lang="en-IN" sz="2154" dirty="0"/>
              <a:t>             	"domain" : “Statistics and Analytics "                 </a:t>
            </a:r>
          </a:p>
          <a:p>
            <a:pPr marL="440624" lvl="1" indent="0">
              <a:buNone/>
            </a:pPr>
            <a:r>
              <a:rPr lang="en-IN" sz="2154" dirty="0"/>
              <a:t>           },</a:t>
            </a:r>
          </a:p>
          <a:p>
            <a:pPr marL="440624" lvl="1" indent="0">
              <a:buNone/>
            </a:pPr>
            <a:r>
              <a:rPr lang="en-IN" sz="2154" dirty="0"/>
              <a:t>           { "name"   : “Big Data Specialization",</a:t>
            </a:r>
          </a:p>
          <a:p>
            <a:pPr marL="440624" lvl="1" indent="0">
              <a:buNone/>
            </a:pPr>
            <a:r>
              <a:rPr lang="en-IN" sz="2154" dirty="0"/>
              <a:t>             "domain" : “Hadoop eco-system analytics" </a:t>
            </a:r>
          </a:p>
          <a:p>
            <a:pPr marL="440624" lvl="1" indent="0">
              <a:buNone/>
            </a:pPr>
            <a:r>
              <a:rPr lang="en-IN" sz="2154" dirty="0"/>
              <a:t>           }</a:t>
            </a:r>
          </a:p>
          <a:p>
            <a:pPr marL="440624" lvl="1" indent="0">
              <a:buNone/>
            </a:pPr>
            <a:r>
              <a:rPr lang="en-IN" sz="2154" dirty="0"/>
              <a:t>]</a:t>
            </a:r>
          </a:p>
          <a:p>
            <a:r>
              <a:rPr lang="en-IN" sz="2000" dirty="0"/>
              <a:t>}</a:t>
            </a:r>
          </a:p>
        </p:txBody>
      </p:sp>
      <p:pic>
        <p:nvPicPr>
          <p:cNvPr id="9" name="Graphic 1">
            <a:extLst>
              <a:ext uri="{FF2B5EF4-FFF2-40B4-BE49-F238E27FC236}">
                <a16:creationId xmlns:a16="http://schemas.microsoft.com/office/drawing/2014/main" id="{ABAB3C12-4CE1-41EF-8F81-D5069AEC9A17}"/>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516411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Why MongoDB stores data as BSON</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Wingdings" panose="05000000000000000000" pitchFamily="2" charset="2"/>
              <a:buChar char="Ø"/>
            </a:pPr>
            <a:endParaRPr lang="en-IN" sz="24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B4D24390-1F10-47DA-AED3-F9343B070352}"/>
              </a:ext>
            </a:extLst>
          </p:cNvPr>
          <p:cNvSpPr txBox="1"/>
          <p:nvPr/>
        </p:nvSpPr>
        <p:spPr>
          <a:xfrm>
            <a:off x="819035" y="1314000"/>
            <a:ext cx="9312730" cy="5570756"/>
          </a:xfrm>
          <a:prstGeom prst="rect">
            <a:avLst/>
          </a:prstGeom>
          <a:noFill/>
        </p:spPr>
        <p:txBody>
          <a:bodyPr wrap="square">
            <a:spAutoFit/>
          </a:bodyPr>
          <a:lstStyle/>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MongoDB stores data or document in binary-encoded format called BSON.</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BSON is a bin­ary-en­coded seri­al­iz­a­tion of JSON-like doc­u­ments.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BSON sup­ports the em­bed­ding of doc­u­ments and ar­rays with­in oth­er doc­u­ments and ar­rays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BSON also supports additional data types that are not part of the JSON spec such as </a:t>
            </a:r>
            <a:r>
              <a:rPr lang="en-IN" sz="2400" dirty="0" err="1">
                <a:solidFill>
                  <a:schemeClr val="dk1"/>
                </a:solidFill>
                <a:latin typeface="Avenir"/>
              </a:rPr>
              <a:t>BinData</a:t>
            </a:r>
            <a:r>
              <a:rPr lang="en-IN" sz="2400" dirty="0">
                <a:solidFill>
                  <a:schemeClr val="dk1"/>
                </a:solidFill>
                <a:latin typeface="Avenir"/>
              </a:rPr>
              <a:t> and Date data type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BSON is designed to be lightweight , traversable and efficient </a:t>
            </a:r>
          </a:p>
          <a:p>
            <a:pPr marL="285750" indent="-285750">
              <a:buFont typeface="Arial" panose="020B0604020202020204" pitchFamily="34" charset="0"/>
              <a:buChar char="•"/>
            </a:pPr>
            <a:endParaRPr lang="en-IN" sz="2400" dirty="0">
              <a:solidFill>
                <a:schemeClr val="dk1"/>
              </a:solidFill>
              <a:latin typeface="Avenir"/>
            </a:endParaRPr>
          </a:p>
          <a:p>
            <a:endParaRPr lang="en-IN" sz="2000" dirty="0"/>
          </a:p>
        </p:txBody>
      </p:sp>
      <p:pic>
        <p:nvPicPr>
          <p:cNvPr id="9" name="Graphic 1">
            <a:extLst>
              <a:ext uri="{FF2B5EF4-FFF2-40B4-BE49-F238E27FC236}">
                <a16:creationId xmlns:a16="http://schemas.microsoft.com/office/drawing/2014/main" id="{4E384F40-4BE5-4063-9162-F299050D5D80}"/>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63741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MongoDB Structure</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Wingdings" panose="05000000000000000000" pitchFamily="2" charset="2"/>
              <a:buChar char="Ø"/>
            </a:pPr>
            <a:endParaRPr lang="en-IN" sz="24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B4D24390-1F10-47DA-AED3-F9343B070352}"/>
              </a:ext>
            </a:extLst>
          </p:cNvPr>
          <p:cNvSpPr txBox="1"/>
          <p:nvPr/>
        </p:nvSpPr>
        <p:spPr>
          <a:xfrm>
            <a:off x="1079670" y="914400"/>
            <a:ext cx="9312730" cy="400110"/>
          </a:xfrm>
          <a:prstGeom prst="rect">
            <a:avLst/>
          </a:prstGeom>
          <a:noFill/>
        </p:spPr>
        <p:txBody>
          <a:bodyPr wrap="square">
            <a:spAutoFit/>
          </a:bodyPr>
          <a:lstStyle/>
          <a:p>
            <a:endParaRPr lang="en-IN" sz="2000" dirty="0"/>
          </a:p>
        </p:txBody>
      </p:sp>
      <p:graphicFrame>
        <p:nvGraphicFramePr>
          <p:cNvPr id="9" name="Táblázat 1">
            <a:extLst>
              <a:ext uri="{FF2B5EF4-FFF2-40B4-BE49-F238E27FC236}">
                <a16:creationId xmlns:a16="http://schemas.microsoft.com/office/drawing/2014/main" id="{AF1E7B6B-4790-473D-A532-E18BE4ED7A73}"/>
              </a:ext>
            </a:extLst>
          </p:cNvPr>
          <p:cNvGraphicFramePr>
            <a:graphicFrameLocks noGrp="1"/>
          </p:cNvGraphicFramePr>
          <p:nvPr>
            <p:extLst>
              <p:ext uri="{D42A27DB-BD31-4B8C-83A1-F6EECF244321}">
                <p14:modId xmlns:p14="http://schemas.microsoft.com/office/powerpoint/2010/main" val="1629640554"/>
              </p:ext>
            </p:extLst>
          </p:nvPr>
        </p:nvGraphicFramePr>
        <p:xfrm>
          <a:off x="761999" y="1666568"/>
          <a:ext cx="9871588" cy="3875125"/>
        </p:xfrm>
        <a:graphic>
          <a:graphicData uri="http://schemas.openxmlformats.org/drawingml/2006/table">
            <a:tbl>
              <a:tblPr firstRow="1" bandRow="1">
                <a:tableStyleId>{5C22544A-7EE6-4342-B048-85BDC9FD1C3A}</a:tableStyleId>
              </a:tblPr>
              <a:tblGrid>
                <a:gridCol w="3047435">
                  <a:extLst>
                    <a:ext uri="{9D8B030D-6E8A-4147-A177-3AD203B41FA5}">
                      <a16:colId xmlns:a16="http://schemas.microsoft.com/office/drawing/2014/main" val="20000"/>
                    </a:ext>
                  </a:extLst>
                </a:gridCol>
                <a:gridCol w="993912">
                  <a:extLst>
                    <a:ext uri="{9D8B030D-6E8A-4147-A177-3AD203B41FA5}">
                      <a16:colId xmlns:a16="http://schemas.microsoft.com/office/drawing/2014/main" val="20001"/>
                    </a:ext>
                  </a:extLst>
                </a:gridCol>
                <a:gridCol w="5830241">
                  <a:extLst>
                    <a:ext uri="{9D8B030D-6E8A-4147-A177-3AD203B41FA5}">
                      <a16:colId xmlns:a16="http://schemas.microsoft.com/office/drawing/2014/main" val="20002"/>
                    </a:ext>
                  </a:extLst>
                </a:gridCol>
              </a:tblGrid>
              <a:tr h="425373">
                <a:tc>
                  <a:txBody>
                    <a:bodyPr/>
                    <a:lstStyle/>
                    <a:p>
                      <a:r>
                        <a:rPr lang="hu-HU" sz="1800" dirty="0"/>
                        <a:t>RDBMS</a:t>
                      </a:r>
                    </a:p>
                  </a:txBody>
                  <a:tcPr marL="121903" marR="121903" marT="45711" marB="45711"/>
                </a:tc>
                <a:tc>
                  <a:txBody>
                    <a:bodyPr/>
                    <a:lstStyle/>
                    <a:p>
                      <a:endParaRPr lang="hu-HU" sz="1800" dirty="0"/>
                    </a:p>
                  </a:txBody>
                  <a:tcPr marL="121903" marR="121903" marT="45711" marB="45711"/>
                </a:tc>
                <a:tc>
                  <a:txBody>
                    <a:bodyPr/>
                    <a:lstStyle/>
                    <a:p>
                      <a:r>
                        <a:rPr lang="hu-HU" sz="1800" dirty="0" err="1"/>
                        <a:t>MongoDB</a:t>
                      </a:r>
                      <a:endParaRPr lang="hu-HU" sz="1800" dirty="0"/>
                    </a:p>
                  </a:txBody>
                  <a:tcPr marL="121903" marR="121903" marT="45711" marB="45711"/>
                </a:tc>
                <a:extLst>
                  <a:ext uri="{0D108BD9-81ED-4DB2-BD59-A6C34878D82A}">
                    <a16:rowId xmlns:a16="http://schemas.microsoft.com/office/drawing/2014/main" val="10000"/>
                  </a:ext>
                </a:extLst>
              </a:tr>
              <a:tr h="431219">
                <a:tc>
                  <a:txBody>
                    <a:bodyPr/>
                    <a:lstStyle/>
                    <a:p>
                      <a:r>
                        <a:rPr lang="hu-HU" sz="1800" dirty="0" err="1"/>
                        <a:t>Database</a:t>
                      </a:r>
                      <a:endParaRPr lang="hu-HU" sz="1800" dirty="0"/>
                    </a:p>
                  </a:txBody>
                  <a:tcPr marL="121903" marR="121903" marT="45711" marB="45711"/>
                </a:tc>
                <a:tc>
                  <a:txBody>
                    <a:bodyPr/>
                    <a:lstStyle/>
                    <a:p>
                      <a:endParaRPr lang="hu-HU" sz="1800" dirty="0"/>
                    </a:p>
                  </a:txBody>
                  <a:tcPr marL="121903" marR="121903" marT="45711" marB="45711"/>
                </a:tc>
                <a:tc>
                  <a:txBody>
                    <a:bodyPr/>
                    <a:lstStyle/>
                    <a:p>
                      <a:r>
                        <a:rPr lang="hu-HU" sz="1800" dirty="0" err="1"/>
                        <a:t>Database</a:t>
                      </a:r>
                      <a:endParaRPr lang="hu-HU" sz="1800" dirty="0"/>
                    </a:p>
                  </a:txBody>
                  <a:tcPr marL="121903" marR="121903" marT="45711" marB="45711"/>
                </a:tc>
                <a:extLst>
                  <a:ext uri="{0D108BD9-81ED-4DB2-BD59-A6C34878D82A}">
                    <a16:rowId xmlns:a16="http://schemas.microsoft.com/office/drawing/2014/main" val="10001"/>
                  </a:ext>
                </a:extLst>
              </a:tr>
              <a:tr h="431219">
                <a:tc>
                  <a:txBody>
                    <a:bodyPr/>
                    <a:lstStyle/>
                    <a:p>
                      <a:r>
                        <a:rPr lang="hu-HU" sz="1800" dirty="0" err="1"/>
                        <a:t>Table</a:t>
                      </a:r>
                      <a:r>
                        <a:rPr lang="hu-HU" sz="1800" dirty="0"/>
                        <a:t>, </a:t>
                      </a:r>
                      <a:r>
                        <a:rPr lang="hu-HU" sz="1800" dirty="0" err="1"/>
                        <a:t>View</a:t>
                      </a:r>
                      <a:endParaRPr lang="hu-HU" sz="1800" dirty="0"/>
                    </a:p>
                  </a:txBody>
                  <a:tcPr marL="121903" marR="121903" marT="45711" marB="45711"/>
                </a:tc>
                <a:tc>
                  <a:txBody>
                    <a:bodyPr/>
                    <a:lstStyle/>
                    <a:p>
                      <a:endParaRPr lang="hu-HU" sz="1800" dirty="0"/>
                    </a:p>
                  </a:txBody>
                  <a:tcPr marL="121903" marR="121903" marT="45711" marB="45711"/>
                </a:tc>
                <a:tc>
                  <a:txBody>
                    <a:bodyPr/>
                    <a:lstStyle/>
                    <a:p>
                      <a:r>
                        <a:rPr lang="hu-HU" sz="1800" dirty="0" err="1"/>
                        <a:t>Collection</a:t>
                      </a:r>
                      <a:endParaRPr lang="hu-HU" sz="1800" dirty="0"/>
                    </a:p>
                  </a:txBody>
                  <a:tcPr marL="121903" marR="121903" marT="45711" marB="45711"/>
                </a:tc>
                <a:extLst>
                  <a:ext uri="{0D108BD9-81ED-4DB2-BD59-A6C34878D82A}">
                    <a16:rowId xmlns:a16="http://schemas.microsoft.com/office/drawing/2014/main" val="10002"/>
                  </a:ext>
                </a:extLst>
              </a:tr>
              <a:tr h="431219">
                <a:tc>
                  <a:txBody>
                    <a:bodyPr/>
                    <a:lstStyle/>
                    <a:p>
                      <a:r>
                        <a:rPr lang="hu-HU" sz="1800" dirty="0"/>
                        <a:t>Row</a:t>
                      </a:r>
                      <a:r>
                        <a:rPr lang="en-IN" sz="1800" dirty="0"/>
                        <a:t> or Record</a:t>
                      </a:r>
                      <a:endParaRPr lang="hu-HU" sz="1800" dirty="0"/>
                    </a:p>
                  </a:txBody>
                  <a:tcPr marL="121903" marR="121903" marT="45711" marB="45711"/>
                </a:tc>
                <a:tc>
                  <a:txBody>
                    <a:bodyPr/>
                    <a:lstStyle/>
                    <a:p>
                      <a:endParaRPr lang="hu-HU" sz="1800" dirty="0"/>
                    </a:p>
                  </a:txBody>
                  <a:tcPr marL="121903" marR="121903" marT="45711" marB="45711"/>
                </a:tc>
                <a:tc>
                  <a:txBody>
                    <a:bodyPr/>
                    <a:lstStyle/>
                    <a:p>
                      <a:r>
                        <a:rPr lang="hu-HU" sz="1800" dirty="0" err="1"/>
                        <a:t>Document</a:t>
                      </a:r>
                      <a:r>
                        <a:rPr lang="hu-HU" sz="1800" dirty="0"/>
                        <a:t> (JSON, BSON)</a:t>
                      </a:r>
                    </a:p>
                  </a:txBody>
                  <a:tcPr marL="121903" marR="121903" marT="45711" marB="45711"/>
                </a:tc>
                <a:extLst>
                  <a:ext uri="{0D108BD9-81ED-4DB2-BD59-A6C34878D82A}">
                    <a16:rowId xmlns:a16="http://schemas.microsoft.com/office/drawing/2014/main" val="10003"/>
                  </a:ext>
                </a:extLst>
              </a:tr>
              <a:tr h="431219">
                <a:tc>
                  <a:txBody>
                    <a:bodyPr/>
                    <a:lstStyle/>
                    <a:p>
                      <a:r>
                        <a:rPr lang="hu-HU" sz="1800" dirty="0" err="1"/>
                        <a:t>Column</a:t>
                      </a:r>
                      <a:endParaRPr lang="hu-HU" sz="1800" dirty="0"/>
                    </a:p>
                  </a:txBody>
                  <a:tcPr marL="121903" marR="121903" marT="45711" marB="45711"/>
                </a:tc>
                <a:tc>
                  <a:txBody>
                    <a:bodyPr/>
                    <a:lstStyle/>
                    <a:p>
                      <a:endParaRPr lang="hu-HU" sz="1800" dirty="0"/>
                    </a:p>
                  </a:txBody>
                  <a:tcPr marL="121903" marR="121903" marT="45711" marB="45711"/>
                </a:tc>
                <a:tc>
                  <a:txBody>
                    <a:bodyPr/>
                    <a:lstStyle/>
                    <a:p>
                      <a:r>
                        <a:rPr lang="hu-HU" sz="1800" dirty="0"/>
                        <a:t>Field</a:t>
                      </a:r>
                    </a:p>
                  </a:txBody>
                  <a:tcPr marL="121903" marR="121903" marT="45711" marB="45711"/>
                </a:tc>
                <a:extLst>
                  <a:ext uri="{0D108BD9-81ED-4DB2-BD59-A6C34878D82A}">
                    <a16:rowId xmlns:a16="http://schemas.microsoft.com/office/drawing/2014/main" val="10004"/>
                  </a:ext>
                </a:extLst>
              </a:tr>
              <a:tr h="431219">
                <a:tc>
                  <a:txBody>
                    <a:bodyPr/>
                    <a:lstStyle/>
                    <a:p>
                      <a:r>
                        <a:rPr lang="hu-HU" sz="1800" dirty="0"/>
                        <a:t>Index</a:t>
                      </a:r>
                    </a:p>
                  </a:txBody>
                  <a:tcPr marL="121903" marR="121903" marT="45711" marB="45711"/>
                </a:tc>
                <a:tc>
                  <a:txBody>
                    <a:bodyPr/>
                    <a:lstStyle/>
                    <a:p>
                      <a:endParaRPr lang="hu-HU" sz="1800" dirty="0"/>
                    </a:p>
                  </a:txBody>
                  <a:tcPr marL="121903" marR="121903" marT="45711" marB="45711"/>
                </a:tc>
                <a:tc>
                  <a:txBody>
                    <a:bodyPr/>
                    <a:lstStyle/>
                    <a:p>
                      <a:r>
                        <a:rPr lang="hu-HU" sz="1800" dirty="0"/>
                        <a:t>Index</a:t>
                      </a:r>
                    </a:p>
                  </a:txBody>
                  <a:tcPr marL="121903" marR="121903" marT="45711" marB="45711"/>
                </a:tc>
                <a:extLst>
                  <a:ext uri="{0D108BD9-81ED-4DB2-BD59-A6C34878D82A}">
                    <a16:rowId xmlns:a16="http://schemas.microsoft.com/office/drawing/2014/main" val="10005"/>
                  </a:ext>
                </a:extLst>
              </a:tr>
              <a:tr h="431219">
                <a:tc>
                  <a:txBody>
                    <a:bodyPr/>
                    <a:lstStyle/>
                    <a:p>
                      <a:r>
                        <a:rPr lang="hu-HU" sz="1800" b="0" dirty="0" err="1"/>
                        <a:t>Join</a:t>
                      </a:r>
                      <a:endParaRPr lang="hu-HU" sz="1800" b="0" dirty="0"/>
                    </a:p>
                  </a:txBody>
                  <a:tcPr marL="121903" marR="121903" marT="45711" marB="45711"/>
                </a:tc>
                <a:tc>
                  <a:txBody>
                    <a:bodyPr/>
                    <a:lstStyle/>
                    <a:p>
                      <a:endParaRPr lang="hu-HU" sz="1800" b="0" dirty="0"/>
                    </a:p>
                  </a:txBody>
                  <a:tcPr marL="121903" marR="121903" marT="45711" marB="45711"/>
                </a:tc>
                <a:tc>
                  <a:txBody>
                    <a:bodyPr/>
                    <a:lstStyle/>
                    <a:p>
                      <a:r>
                        <a:rPr lang="hu-HU" sz="1800" b="0" dirty="0" err="1"/>
                        <a:t>Embedded</a:t>
                      </a:r>
                      <a:r>
                        <a:rPr lang="hu-HU" sz="1800" b="0" dirty="0"/>
                        <a:t> </a:t>
                      </a:r>
                      <a:r>
                        <a:rPr lang="hu-HU" sz="1800" b="0" dirty="0" err="1"/>
                        <a:t>Document</a:t>
                      </a:r>
                      <a:endParaRPr lang="hu-HU" sz="1800" b="0" dirty="0"/>
                    </a:p>
                  </a:txBody>
                  <a:tcPr marL="121903" marR="121903" marT="45711" marB="45711"/>
                </a:tc>
                <a:extLst>
                  <a:ext uri="{0D108BD9-81ED-4DB2-BD59-A6C34878D82A}">
                    <a16:rowId xmlns:a16="http://schemas.microsoft.com/office/drawing/2014/main" val="10006"/>
                  </a:ext>
                </a:extLst>
              </a:tr>
              <a:tr h="431219">
                <a:tc>
                  <a:txBody>
                    <a:bodyPr/>
                    <a:lstStyle/>
                    <a:p>
                      <a:r>
                        <a:rPr lang="hu-HU" sz="1800" dirty="0" err="1"/>
                        <a:t>Foreign</a:t>
                      </a:r>
                      <a:r>
                        <a:rPr lang="hu-HU" sz="1800" dirty="0"/>
                        <a:t> Key</a:t>
                      </a:r>
                    </a:p>
                  </a:txBody>
                  <a:tcPr marL="121903" marR="121903" marT="45711" marB="45711"/>
                </a:tc>
                <a:tc>
                  <a:txBody>
                    <a:bodyPr/>
                    <a:lstStyle/>
                    <a:p>
                      <a:endParaRPr lang="hu-HU" sz="1800" dirty="0"/>
                    </a:p>
                  </a:txBody>
                  <a:tcPr marL="121903" marR="121903" marT="45711" marB="45711"/>
                </a:tc>
                <a:tc>
                  <a:txBody>
                    <a:bodyPr/>
                    <a:lstStyle/>
                    <a:p>
                      <a:r>
                        <a:rPr lang="hu-HU" sz="1800" dirty="0" err="1"/>
                        <a:t>Reference</a:t>
                      </a:r>
                      <a:endParaRPr lang="hu-HU" sz="1800" dirty="0"/>
                    </a:p>
                  </a:txBody>
                  <a:tcPr marL="121903" marR="121903" marT="45711" marB="45711"/>
                </a:tc>
                <a:extLst>
                  <a:ext uri="{0D108BD9-81ED-4DB2-BD59-A6C34878D82A}">
                    <a16:rowId xmlns:a16="http://schemas.microsoft.com/office/drawing/2014/main" val="10007"/>
                  </a:ext>
                </a:extLst>
              </a:tr>
              <a:tr h="431219">
                <a:tc>
                  <a:txBody>
                    <a:bodyPr/>
                    <a:lstStyle/>
                    <a:p>
                      <a:r>
                        <a:rPr lang="hu-HU" sz="1800" dirty="0" err="1"/>
                        <a:t>Partition</a:t>
                      </a:r>
                      <a:endParaRPr lang="hu-HU" sz="1800" dirty="0"/>
                    </a:p>
                  </a:txBody>
                  <a:tcPr marL="121903" marR="121903" marT="45711" marB="45711"/>
                </a:tc>
                <a:tc>
                  <a:txBody>
                    <a:bodyPr/>
                    <a:lstStyle/>
                    <a:p>
                      <a:endParaRPr lang="hu-HU" sz="1800" dirty="0"/>
                    </a:p>
                  </a:txBody>
                  <a:tcPr marL="121903" marR="121903" marT="45711" marB="45711"/>
                </a:tc>
                <a:tc>
                  <a:txBody>
                    <a:bodyPr/>
                    <a:lstStyle/>
                    <a:p>
                      <a:r>
                        <a:rPr lang="hu-HU" sz="1800" dirty="0" err="1"/>
                        <a:t>Shard</a:t>
                      </a:r>
                      <a:endParaRPr lang="hu-HU" sz="1800" dirty="0"/>
                    </a:p>
                  </a:txBody>
                  <a:tcPr marL="121903" marR="121903" marT="45711" marB="45711"/>
                </a:tc>
                <a:extLst>
                  <a:ext uri="{0D108BD9-81ED-4DB2-BD59-A6C34878D82A}">
                    <a16:rowId xmlns:a16="http://schemas.microsoft.com/office/drawing/2014/main" val="10008"/>
                  </a:ext>
                </a:extLst>
              </a:tr>
            </a:tbl>
          </a:graphicData>
        </a:graphic>
      </p:graphicFrame>
      <p:pic>
        <p:nvPicPr>
          <p:cNvPr id="10" name="Graphic 1">
            <a:extLst>
              <a:ext uri="{FF2B5EF4-FFF2-40B4-BE49-F238E27FC236}">
                <a16:creationId xmlns:a16="http://schemas.microsoft.com/office/drawing/2014/main" id="{7467DDF7-C22D-45E8-8830-6D89326AA7A7}"/>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836033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MongoDB is easy to use</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9" name="Content Placeholder 5">
            <a:extLst>
              <a:ext uri="{FF2B5EF4-FFF2-40B4-BE49-F238E27FC236}">
                <a16:creationId xmlns:a16="http://schemas.microsoft.com/office/drawing/2014/main" id="{35987CC0-FC64-426D-AFC7-779DB4B37CF2}"/>
              </a:ext>
            </a:extLst>
          </p:cNvPr>
          <p:cNvPicPr>
            <a:picLocks noChangeAspect="1"/>
          </p:cNvPicPr>
          <p:nvPr/>
        </p:nvPicPr>
        <p:blipFill>
          <a:blip r:embed="rId3">
            <a:extLst>
              <a:ext uri="{28A0092B-C50C-407E-A947-70E740481C1C}">
                <a14:useLocalDpi xmlns:a14="http://schemas.microsoft.com/office/drawing/2010/main" val="0"/>
              </a:ext>
            </a:extLst>
          </a:blip>
          <a:srcRect l="20885" r="20885"/>
          <a:stretch>
            <a:fillRect/>
          </a:stretch>
        </p:blipFill>
        <p:spPr>
          <a:xfrm>
            <a:off x="1080867" y="1622826"/>
            <a:ext cx="4110565" cy="4001790"/>
          </a:xfrm>
          <a:prstGeom prst="rect">
            <a:avLst/>
          </a:prstGeom>
          <a:noFill/>
        </p:spPr>
      </p:pic>
      <p:sp>
        <p:nvSpPr>
          <p:cNvPr id="12" name="Content Placeholder 4">
            <a:extLst>
              <a:ext uri="{FF2B5EF4-FFF2-40B4-BE49-F238E27FC236}">
                <a16:creationId xmlns:a16="http://schemas.microsoft.com/office/drawing/2014/main" id="{363C02A2-E20B-47AF-B8F3-AAF801B10364}"/>
              </a:ext>
            </a:extLst>
          </p:cNvPr>
          <p:cNvSpPr txBox="1">
            <a:spLocks/>
          </p:cNvSpPr>
          <p:nvPr/>
        </p:nvSpPr>
        <p:spPr>
          <a:xfrm>
            <a:off x="7000570" y="1977304"/>
            <a:ext cx="3017710" cy="4110396"/>
          </a:xfrm>
          <a:prstGeom prst="rect">
            <a:avLst/>
          </a:prstGeom>
        </p:spPr>
        <p:txBody>
          <a:bodyPr lIns="64291" tIns="32146" rIns="64291" bIns="32146">
            <a:normAutofit fontScale="4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905" indent="0">
              <a:buFont typeface="Arial"/>
              <a:buNone/>
              <a:defRPr/>
            </a:pPr>
            <a:r>
              <a:rPr lang="en-US" dirty="0">
                <a:latin typeface="Helvetica"/>
                <a:cs typeface="Helvetica"/>
              </a:rPr>
              <a:t>{ </a:t>
            </a:r>
          </a:p>
          <a:p>
            <a:pPr marL="27905" indent="0">
              <a:buFont typeface="Arial"/>
              <a:buNone/>
              <a:defRPr/>
            </a:pPr>
            <a:r>
              <a:rPr lang="en-US" dirty="0">
                <a:solidFill>
                  <a:srgbClr val="008000"/>
                </a:solidFill>
                <a:latin typeface="Helvetica"/>
                <a:cs typeface="Helvetica"/>
              </a:rPr>
              <a:t>  </a:t>
            </a:r>
            <a:r>
              <a:rPr lang="en-US" dirty="0">
                <a:solidFill>
                  <a:schemeClr val="accent1"/>
                </a:solidFill>
                <a:latin typeface="Helvetica"/>
                <a:cs typeface="Helvetica"/>
              </a:rPr>
              <a:t>title</a:t>
            </a:r>
            <a:r>
              <a:rPr lang="en-US" dirty="0">
                <a:latin typeface="Helvetica"/>
                <a:cs typeface="Helvetica"/>
              </a:rPr>
              <a:t>: ‘</a:t>
            </a:r>
            <a:r>
              <a:rPr lang="en-US" dirty="0" err="1">
                <a:latin typeface="Helvetica"/>
                <a:cs typeface="Helvetica"/>
              </a:rPr>
              <a:t>MongoDB</a:t>
            </a:r>
            <a:r>
              <a:rPr lang="en-US" dirty="0">
                <a:latin typeface="Helvetica"/>
                <a:cs typeface="Helvetica"/>
              </a:rPr>
              <a:t>’,</a:t>
            </a:r>
          </a:p>
          <a:p>
            <a:pPr marL="27905" indent="0">
              <a:buFont typeface="Arial"/>
              <a:buNone/>
              <a:defRPr/>
            </a:pPr>
            <a:r>
              <a:rPr lang="en-US" dirty="0">
                <a:solidFill>
                  <a:srgbClr val="008000"/>
                </a:solidFill>
                <a:latin typeface="Helvetica"/>
                <a:cs typeface="Helvetica"/>
              </a:rPr>
              <a:t> </a:t>
            </a:r>
            <a:r>
              <a:rPr lang="en-US" dirty="0">
                <a:solidFill>
                  <a:srgbClr val="032381"/>
                </a:solidFill>
                <a:latin typeface="Helvetica"/>
                <a:cs typeface="Helvetica"/>
              </a:rPr>
              <a:t> contributors: </a:t>
            </a:r>
            <a:r>
              <a:rPr lang="en-US" dirty="0">
                <a:latin typeface="Helvetica"/>
                <a:cs typeface="Helvetica"/>
              </a:rPr>
              <a:t>[ </a:t>
            </a:r>
          </a:p>
          <a:p>
            <a:pPr marL="27905" indent="0">
              <a:buFont typeface="Arial"/>
              <a:buNone/>
              <a:defRPr/>
            </a:pPr>
            <a:r>
              <a:rPr lang="en-US" dirty="0">
                <a:latin typeface="Helvetica"/>
                <a:cs typeface="Helvetica"/>
              </a:rPr>
              <a:t>    { </a:t>
            </a:r>
            <a:r>
              <a:rPr lang="en-US" dirty="0">
                <a:solidFill>
                  <a:srgbClr val="032381"/>
                </a:solidFill>
                <a:latin typeface="Helvetica"/>
                <a:cs typeface="Helvetica"/>
              </a:rPr>
              <a:t>name</a:t>
            </a:r>
            <a:r>
              <a:rPr lang="en-US" dirty="0">
                <a:latin typeface="Helvetica"/>
                <a:cs typeface="Helvetica"/>
              </a:rPr>
              <a:t>: ‘Mukesh Kumar’,</a:t>
            </a:r>
          </a:p>
          <a:p>
            <a:pPr marL="27905" indent="0">
              <a:buFont typeface="Arial"/>
              <a:buNone/>
              <a:defRPr/>
            </a:pPr>
            <a:r>
              <a:rPr lang="en-US" dirty="0">
                <a:latin typeface="Helvetica"/>
                <a:cs typeface="Helvetica"/>
              </a:rPr>
              <a:t>      </a:t>
            </a:r>
            <a:r>
              <a:rPr lang="en-US" dirty="0">
                <a:solidFill>
                  <a:srgbClr val="032381"/>
                </a:solidFill>
                <a:latin typeface="Helvetica"/>
                <a:cs typeface="Helvetica"/>
              </a:rPr>
              <a:t>email</a:t>
            </a:r>
            <a:r>
              <a:rPr lang="en-US" dirty="0">
                <a:latin typeface="Helvetica"/>
                <a:cs typeface="Helvetica"/>
              </a:rPr>
              <a:t>: ‘mukesh@greatlearning.com’ },</a:t>
            </a:r>
          </a:p>
          <a:p>
            <a:pPr marL="27905" indent="0">
              <a:buFont typeface="Arial"/>
              <a:buNone/>
              <a:defRPr/>
            </a:pPr>
            <a:r>
              <a:rPr lang="en-US" dirty="0">
                <a:latin typeface="Helvetica"/>
                <a:cs typeface="Helvetica"/>
              </a:rPr>
              <a:t>    { </a:t>
            </a:r>
            <a:r>
              <a:rPr lang="en-US" dirty="0">
                <a:solidFill>
                  <a:srgbClr val="032381"/>
                </a:solidFill>
                <a:latin typeface="Helvetica"/>
                <a:cs typeface="Helvetica"/>
              </a:rPr>
              <a:t>name</a:t>
            </a:r>
            <a:r>
              <a:rPr lang="en-US" dirty="0">
                <a:latin typeface="Helvetica"/>
                <a:cs typeface="Helvetica"/>
              </a:rPr>
              <a:t>: ‘Laxman L’,</a:t>
            </a:r>
          </a:p>
          <a:p>
            <a:pPr marL="27905" indent="0">
              <a:buFont typeface="Arial"/>
              <a:buNone/>
              <a:defRPr/>
            </a:pPr>
            <a:r>
              <a:rPr lang="en-US" dirty="0">
                <a:latin typeface="Helvetica"/>
                <a:cs typeface="Helvetica"/>
              </a:rPr>
              <a:t>      </a:t>
            </a:r>
            <a:r>
              <a:rPr lang="en-US" dirty="0">
                <a:solidFill>
                  <a:srgbClr val="032381"/>
                </a:solidFill>
                <a:latin typeface="Helvetica"/>
                <a:cs typeface="Helvetica"/>
              </a:rPr>
              <a:t>email</a:t>
            </a:r>
            <a:r>
              <a:rPr lang="en-US" dirty="0">
                <a:latin typeface="Helvetica"/>
                <a:cs typeface="Helvetica"/>
              </a:rPr>
              <a:t>: ‘laxman@gmail.com’ }</a:t>
            </a:r>
          </a:p>
          <a:p>
            <a:pPr marL="27905" indent="0">
              <a:buFont typeface="Arial"/>
              <a:buNone/>
              <a:defRPr/>
            </a:pPr>
            <a:r>
              <a:rPr lang="en-US" dirty="0">
                <a:latin typeface="Helvetica"/>
                <a:cs typeface="Helvetica"/>
              </a:rPr>
              <a:t>  ],</a:t>
            </a:r>
          </a:p>
          <a:p>
            <a:pPr marL="27905" indent="0">
              <a:buFont typeface="Arial"/>
              <a:buNone/>
              <a:defRPr/>
            </a:pPr>
            <a:r>
              <a:rPr lang="en-US" dirty="0">
                <a:solidFill>
                  <a:srgbClr val="008000"/>
                </a:solidFill>
                <a:latin typeface="Helvetica"/>
                <a:cs typeface="Helvetica"/>
              </a:rPr>
              <a:t>  </a:t>
            </a:r>
            <a:r>
              <a:rPr lang="en-US" dirty="0">
                <a:solidFill>
                  <a:srgbClr val="032381"/>
                </a:solidFill>
                <a:latin typeface="Helvetica"/>
                <a:cs typeface="Helvetica"/>
              </a:rPr>
              <a:t>model</a:t>
            </a:r>
            <a:r>
              <a:rPr lang="en-US" dirty="0">
                <a:latin typeface="Helvetica"/>
                <a:cs typeface="Helvetica"/>
              </a:rPr>
              <a:t>: { </a:t>
            </a:r>
          </a:p>
          <a:p>
            <a:pPr marL="27905" indent="0">
              <a:buFont typeface="Arial"/>
              <a:buNone/>
              <a:defRPr/>
            </a:pPr>
            <a:r>
              <a:rPr lang="en-US" dirty="0">
                <a:latin typeface="Helvetica"/>
                <a:cs typeface="Helvetica"/>
              </a:rPr>
              <a:t>     </a:t>
            </a:r>
            <a:r>
              <a:rPr lang="en-US" dirty="0">
                <a:solidFill>
                  <a:srgbClr val="032381"/>
                </a:solidFill>
                <a:latin typeface="Helvetica"/>
                <a:cs typeface="Helvetica"/>
              </a:rPr>
              <a:t>relational</a:t>
            </a:r>
            <a:r>
              <a:rPr lang="en-US" dirty="0">
                <a:latin typeface="Helvetica"/>
                <a:cs typeface="Helvetica"/>
              </a:rPr>
              <a:t>: false, </a:t>
            </a:r>
          </a:p>
          <a:p>
            <a:pPr marL="27905" indent="0">
              <a:buFont typeface="Arial"/>
              <a:buNone/>
              <a:defRPr/>
            </a:pPr>
            <a:r>
              <a:rPr lang="en-US" dirty="0">
                <a:latin typeface="Helvetica"/>
                <a:cs typeface="Helvetica"/>
              </a:rPr>
              <a:t>     </a:t>
            </a:r>
            <a:r>
              <a:rPr lang="en-US" dirty="0">
                <a:solidFill>
                  <a:srgbClr val="032381"/>
                </a:solidFill>
                <a:latin typeface="Helvetica"/>
                <a:cs typeface="Helvetica"/>
              </a:rPr>
              <a:t>awesome</a:t>
            </a:r>
            <a:r>
              <a:rPr lang="en-US" dirty="0">
                <a:latin typeface="Helvetica"/>
                <a:cs typeface="Helvetica"/>
              </a:rPr>
              <a:t>: true</a:t>
            </a:r>
          </a:p>
          <a:p>
            <a:pPr marL="27905" indent="0">
              <a:buFont typeface="Arial"/>
              <a:buNone/>
              <a:defRPr/>
            </a:pPr>
            <a:r>
              <a:rPr lang="en-US" dirty="0">
                <a:latin typeface="Helvetica"/>
                <a:cs typeface="Helvetica"/>
              </a:rPr>
              <a:t>  }</a:t>
            </a:r>
          </a:p>
          <a:p>
            <a:pPr marL="27905" indent="0">
              <a:buFont typeface="Arial"/>
              <a:buNone/>
              <a:defRPr/>
            </a:pPr>
            <a:r>
              <a:rPr lang="en-US" dirty="0">
                <a:latin typeface="Helvetica"/>
                <a:cs typeface="Helvetica"/>
              </a:rPr>
              <a:t>}</a:t>
            </a:r>
          </a:p>
          <a:p>
            <a:pPr marL="27905" indent="0">
              <a:buFont typeface="Arial"/>
              <a:buNone/>
              <a:defRPr/>
            </a:pPr>
            <a:endParaRPr lang="en-US" dirty="0">
              <a:latin typeface="Helvetica"/>
              <a:cs typeface="Helvetica"/>
            </a:endParaRPr>
          </a:p>
          <a:p>
            <a:pPr marL="27905" indent="0">
              <a:buFont typeface="Arial"/>
              <a:buNone/>
              <a:defRPr/>
            </a:pPr>
            <a:r>
              <a:rPr lang="en-US" dirty="0">
                <a:latin typeface="Helvetica"/>
                <a:cs typeface="Helvetica"/>
              </a:rPr>
              <a:t>  </a:t>
            </a:r>
          </a:p>
          <a:p>
            <a:pPr marL="27905" indent="0">
              <a:buFont typeface="Arial"/>
              <a:buNone/>
              <a:defRPr/>
            </a:pPr>
            <a:endParaRPr lang="en-US" dirty="0">
              <a:latin typeface="Helvetica"/>
              <a:cs typeface="Helvetica"/>
            </a:endParaRPr>
          </a:p>
        </p:txBody>
      </p:sp>
      <p:pic>
        <p:nvPicPr>
          <p:cNvPr id="3" name="Graphic 2" descr="Play with solid fill">
            <a:extLst>
              <a:ext uri="{FF2B5EF4-FFF2-40B4-BE49-F238E27FC236}">
                <a16:creationId xmlns:a16="http://schemas.microsoft.com/office/drawing/2014/main" id="{AA800D35-9C1A-430B-9C8F-75DEDAA789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38799" y="2971800"/>
            <a:ext cx="1189703" cy="914400"/>
          </a:xfrm>
          <a:prstGeom prst="rect">
            <a:avLst/>
          </a:prstGeom>
        </p:spPr>
      </p:pic>
      <p:pic>
        <p:nvPicPr>
          <p:cNvPr id="10" name="Graphic 1">
            <a:extLst>
              <a:ext uri="{FF2B5EF4-FFF2-40B4-BE49-F238E27FC236}">
                <a16:creationId xmlns:a16="http://schemas.microsoft.com/office/drawing/2014/main" id="{57587C19-839D-410B-9926-C460F36754AC}"/>
              </a:ext>
            </a:extLst>
          </p:cNvPr>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0798" y="609600"/>
            <a:ext cx="2447925" cy="762000"/>
          </a:xfrm>
          <a:prstGeom prst="rect">
            <a:avLst/>
          </a:prstGeom>
        </p:spPr>
      </p:pic>
      <p:sp>
        <p:nvSpPr>
          <p:cNvPr id="2" name="Rectangle: Rounded Corners 1">
            <a:extLst>
              <a:ext uri="{FF2B5EF4-FFF2-40B4-BE49-F238E27FC236}">
                <a16:creationId xmlns:a16="http://schemas.microsoft.com/office/drawing/2014/main" id="{A02310F1-69EC-4742-9AA3-0332FE75C463}"/>
              </a:ext>
            </a:extLst>
          </p:cNvPr>
          <p:cNvSpPr/>
          <p:nvPr/>
        </p:nvSpPr>
        <p:spPr>
          <a:xfrm>
            <a:off x="1887794" y="5810865"/>
            <a:ext cx="2286000" cy="909368"/>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RDBMS ER Diagram</a:t>
            </a:r>
          </a:p>
        </p:txBody>
      </p:sp>
      <p:sp>
        <p:nvSpPr>
          <p:cNvPr id="11" name="Rectangle: Rounded Corners 10">
            <a:extLst>
              <a:ext uri="{FF2B5EF4-FFF2-40B4-BE49-F238E27FC236}">
                <a16:creationId xmlns:a16="http://schemas.microsoft.com/office/drawing/2014/main" id="{AC70BFE6-DEC5-46B0-8D96-B90F5AE0FE48}"/>
              </a:ext>
            </a:extLst>
          </p:cNvPr>
          <p:cNvSpPr/>
          <p:nvPr/>
        </p:nvSpPr>
        <p:spPr>
          <a:xfrm>
            <a:off x="7000570" y="5633016"/>
            <a:ext cx="2286000" cy="909368"/>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MongoDB’s nested model</a:t>
            </a:r>
          </a:p>
        </p:txBody>
      </p:sp>
    </p:spTree>
    <p:extLst>
      <p:ext uri="{BB962C8B-B14F-4D97-AF65-F5344CB8AC3E}">
        <p14:creationId xmlns:p14="http://schemas.microsoft.com/office/powerpoint/2010/main" val="2008629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137767"/>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Schema Free</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11" name="Content Placeholder 2">
            <a:extLst>
              <a:ext uri="{FF2B5EF4-FFF2-40B4-BE49-F238E27FC236}">
                <a16:creationId xmlns:a16="http://schemas.microsoft.com/office/drawing/2014/main" id="{95336704-78B3-40AB-B3B3-2B2A7C7515D6}"/>
              </a:ext>
            </a:extLst>
          </p:cNvPr>
          <p:cNvSpPr txBox="1">
            <a:spLocks/>
          </p:cNvSpPr>
          <p:nvPr/>
        </p:nvSpPr>
        <p:spPr>
          <a:xfrm>
            <a:off x="834800" y="1106129"/>
            <a:ext cx="8229600" cy="1047135"/>
          </a:xfrm>
          <a:prstGeom prst="rect">
            <a:avLst/>
          </a:prstGeom>
        </p:spPr>
        <p:txBody>
          <a:bodyPr vert="horz" lIns="48218" tIns="24110" rIns="48218" bIns="2411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sz="2400" dirty="0">
                <a:solidFill>
                  <a:schemeClr val="dk1"/>
                </a:solidFill>
                <a:latin typeface="Avenir"/>
              </a:rPr>
              <a:t>MongoDB does not need any pre-defined data schema</a:t>
            </a:r>
          </a:p>
          <a:p>
            <a:pPr marL="285750" indent="-285750"/>
            <a:r>
              <a:rPr lang="en-US" sz="2400" dirty="0">
                <a:solidFill>
                  <a:schemeClr val="dk1"/>
                </a:solidFill>
                <a:latin typeface="Avenir"/>
              </a:rPr>
              <a:t>Every document could have different data!</a:t>
            </a:r>
          </a:p>
        </p:txBody>
      </p:sp>
      <p:grpSp>
        <p:nvGrpSpPr>
          <p:cNvPr id="13" name="Group 3">
            <a:extLst>
              <a:ext uri="{FF2B5EF4-FFF2-40B4-BE49-F238E27FC236}">
                <a16:creationId xmlns:a16="http://schemas.microsoft.com/office/drawing/2014/main" id="{CAA2E447-74A6-473F-B5A9-C2D88FAFD787}"/>
              </a:ext>
            </a:extLst>
          </p:cNvPr>
          <p:cNvGrpSpPr>
            <a:grpSpLocks/>
          </p:cNvGrpSpPr>
          <p:nvPr/>
        </p:nvGrpSpPr>
        <p:grpSpPr bwMode="auto">
          <a:xfrm>
            <a:off x="685799" y="2256503"/>
            <a:ext cx="10331245" cy="3952568"/>
            <a:chOff x="685800" y="2404533"/>
            <a:chExt cx="7620000" cy="3352800"/>
          </a:xfrm>
        </p:grpSpPr>
        <p:sp>
          <p:nvSpPr>
            <p:cNvPr id="14" name="Rounded Rectangle 45">
              <a:extLst>
                <a:ext uri="{FF2B5EF4-FFF2-40B4-BE49-F238E27FC236}">
                  <a16:creationId xmlns:a16="http://schemas.microsoft.com/office/drawing/2014/main" id="{98831D1D-3972-4848-8C2F-6F4F0BE3596B}"/>
                </a:ext>
              </a:extLst>
            </p:cNvPr>
            <p:cNvSpPr/>
            <p:nvPr/>
          </p:nvSpPr>
          <p:spPr bwMode="auto">
            <a:xfrm>
              <a:off x="685800" y="2404533"/>
              <a:ext cx="7620000" cy="3352800"/>
            </a:xfrm>
            <a:prstGeom prst="roundRect">
              <a:avLst/>
            </a:prstGeom>
            <a:solidFill>
              <a:schemeClr val="tx2"/>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pic>
          <p:nvPicPr>
            <p:cNvPr id="15" name="Picture 2">
              <a:extLst>
                <a:ext uri="{FF2B5EF4-FFF2-40B4-BE49-F238E27FC236}">
                  <a16:creationId xmlns:a16="http://schemas.microsoft.com/office/drawing/2014/main" id="{C0985622-0DE2-4374-A26E-549CC350DD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962" r="2962"/>
            <a:stretch>
              <a:fillRect/>
            </a:stretch>
          </p:blipFill>
          <p:spPr bwMode="auto">
            <a:xfrm>
              <a:off x="1219200" y="5257800"/>
              <a:ext cx="1107941" cy="39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16" name="Group 47">
              <a:extLst>
                <a:ext uri="{FF2B5EF4-FFF2-40B4-BE49-F238E27FC236}">
                  <a16:creationId xmlns:a16="http://schemas.microsoft.com/office/drawing/2014/main" id="{C410A188-2F6C-4130-942E-60B856C8A8A1}"/>
                </a:ext>
              </a:extLst>
            </p:cNvPr>
            <p:cNvGrpSpPr>
              <a:grpSpLocks/>
            </p:cNvGrpSpPr>
            <p:nvPr/>
          </p:nvGrpSpPr>
          <p:grpSpPr bwMode="auto">
            <a:xfrm>
              <a:off x="1003300" y="2658534"/>
              <a:ext cx="5417119" cy="2608263"/>
              <a:chOff x="-1949844" y="1594521"/>
              <a:chExt cx="5051821" cy="1523497"/>
            </a:xfrm>
          </p:grpSpPr>
          <p:sp>
            <p:nvSpPr>
              <p:cNvPr id="30" name="Document 60">
                <a:extLst>
                  <a:ext uri="{FF2B5EF4-FFF2-40B4-BE49-F238E27FC236}">
                    <a16:creationId xmlns:a16="http://schemas.microsoft.com/office/drawing/2014/main" id="{F9BD5886-2518-4004-A6BC-B61AB6E1D4C0}"/>
                  </a:ext>
                </a:extLst>
              </p:cNvPr>
              <p:cNvSpPr/>
              <p:nvPr/>
            </p:nvSpPr>
            <p:spPr bwMode="auto">
              <a:xfrm>
                <a:off x="-1949844" y="1594521"/>
                <a:ext cx="1905338" cy="1523497"/>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31" name="Rectangle 30">
                <a:extLst>
                  <a:ext uri="{FF2B5EF4-FFF2-40B4-BE49-F238E27FC236}">
                    <a16:creationId xmlns:a16="http://schemas.microsoft.com/office/drawing/2014/main" id="{81EF6D9E-24D6-4368-9977-770CE9BB1E15}"/>
                  </a:ext>
                </a:extLst>
              </p:cNvPr>
              <p:cNvSpPr/>
              <p:nvPr/>
            </p:nvSpPr>
            <p:spPr>
              <a:xfrm>
                <a:off x="1158683" y="2743074"/>
                <a:ext cx="1943294" cy="325559"/>
              </a:xfrm>
              <a:prstGeom prst="rect">
                <a:avLst/>
              </a:prstGeom>
              <a:ln>
                <a:noFill/>
              </a:ln>
            </p:spPr>
            <p:txBody>
              <a:bodyPr lIns="48218" tIns="24110" rIns="48218" bIns="24110">
                <a:spAutoFit/>
              </a:bodyPr>
              <a:lstStyle/>
              <a:p>
                <a:pPr marL="20929">
                  <a:defRPr/>
                </a:pPr>
                <a:endParaRPr lang="hu-HU" sz="1350" dirty="0">
                  <a:ln>
                    <a:solidFill>
                      <a:schemeClr val="tx2">
                        <a:lumMod val="10000"/>
                      </a:schemeClr>
                    </a:solidFill>
                  </a:ln>
                  <a:solidFill>
                    <a:srgbClr val="000000"/>
                  </a:solidFill>
                </a:endParaRPr>
              </a:p>
              <a:p>
                <a:pPr marL="20929">
                  <a:defRPr/>
                </a:pPr>
                <a:endParaRPr lang="hu-HU" sz="1050" dirty="0"/>
              </a:p>
            </p:txBody>
          </p:sp>
        </p:grpSp>
        <p:grpSp>
          <p:nvGrpSpPr>
            <p:cNvPr id="17" name="Group 48">
              <a:extLst>
                <a:ext uri="{FF2B5EF4-FFF2-40B4-BE49-F238E27FC236}">
                  <a16:creationId xmlns:a16="http://schemas.microsoft.com/office/drawing/2014/main" id="{F99AD514-799E-4513-90A5-B7B16EF5EAB7}"/>
                </a:ext>
              </a:extLst>
            </p:cNvPr>
            <p:cNvGrpSpPr>
              <a:grpSpLocks/>
            </p:cNvGrpSpPr>
            <p:nvPr/>
          </p:nvGrpSpPr>
          <p:grpSpPr bwMode="auto">
            <a:xfrm>
              <a:off x="3160713" y="2658534"/>
              <a:ext cx="2590433" cy="1531093"/>
              <a:chOff x="3200685" y="2895003"/>
              <a:chExt cx="2011324" cy="1448481"/>
            </a:xfrm>
          </p:grpSpPr>
          <p:sp>
            <p:nvSpPr>
              <p:cNvPr id="28" name="Document 58">
                <a:extLst>
                  <a:ext uri="{FF2B5EF4-FFF2-40B4-BE49-F238E27FC236}">
                    <a16:creationId xmlns:a16="http://schemas.microsoft.com/office/drawing/2014/main" id="{D59506A4-E0B4-4BAB-A99D-F9167EF60DA7}"/>
                  </a:ext>
                </a:extLst>
              </p:cNvPr>
              <p:cNvSpPr/>
              <p:nvPr/>
            </p:nvSpPr>
            <p:spPr bwMode="auto">
              <a:xfrm>
                <a:off x="3200685" y="2895003"/>
                <a:ext cx="1905605" cy="1434262"/>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29" name="Rectangle 28">
                <a:extLst>
                  <a:ext uri="{FF2B5EF4-FFF2-40B4-BE49-F238E27FC236}">
                    <a16:creationId xmlns:a16="http://schemas.microsoft.com/office/drawing/2014/main" id="{5AC6BA3B-5FCC-42D4-A7E8-2BA0645BA9AF}"/>
                  </a:ext>
                </a:extLst>
              </p:cNvPr>
              <p:cNvSpPr>
                <a:spLocks noChangeAspect="1"/>
              </p:cNvSpPr>
              <p:nvPr/>
            </p:nvSpPr>
            <p:spPr>
              <a:xfrm>
                <a:off x="3276604" y="2971800"/>
                <a:ext cx="1935405" cy="1371684"/>
              </a:xfrm>
              <a:prstGeom prst="rect">
                <a:avLst/>
              </a:prstGeom>
              <a:ln>
                <a:noFill/>
              </a:ln>
            </p:spPr>
            <p:txBody>
              <a:bodyPr lIns="48218" tIns="24110" rIns="48218" bIns="24110">
                <a:spAutoFit/>
              </a:bodyPr>
              <a:lstStyle/>
              <a:p>
                <a:pPr marL="20929">
                  <a:defRPr/>
                </a:pPr>
                <a:r>
                  <a:rPr lang="en-US" sz="1350" dirty="0">
                    <a:ln>
                      <a:solidFill>
                        <a:schemeClr val="tx2">
                          <a:lumMod val="10000"/>
                        </a:schemeClr>
                      </a:solidFill>
                    </a:ln>
                    <a:solidFill>
                      <a:srgbClr val="000000"/>
                    </a:solidFill>
                  </a:rPr>
                  <a:t>{</a:t>
                </a:r>
                <a:r>
                  <a:rPr lang="en-US" sz="1350" dirty="0">
                    <a:solidFill>
                      <a:srgbClr val="E4F0F7"/>
                    </a:solidFill>
                  </a:rPr>
                  <a:t>name:</a:t>
                </a:r>
                <a:r>
                  <a:rPr lang="en-US" sz="1350" dirty="0">
                    <a:solidFill>
                      <a:srgbClr val="000000"/>
                    </a:solidFill>
                  </a:rPr>
                  <a:t> “Jim”,</a:t>
                </a:r>
              </a:p>
              <a:p>
                <a:pPr marL="20929">
                  <a:defRPr/>
                </a:pPr>
                <a:r>
                  <a:rPr lang="en-US" sz="1350" dirty="0">
                    <a:solidFill>
                      <a:srgbClr val="000000"/>
                    </a:solidFill>
                  </a:rPr>
                  <a:t>  </a:t>
                </a:r>
                <a:r>
                  <a:rPr lang="en-US" sz="1350" dirty="0">
                    <a:solidFill>
                      <a:schemeClr val="bg1"/>
                    </a:solidFill>
                  </a:rPr>
                  <a:t>eyes:</a:t>
                </a:r>
                <a:r>
                  <a:rPr lang="en-US" sz="1350" dirty="0">
                    <a:solidFill>
                      <a:srgbClr val="000000"/>
                    </a:solidFill>
                  </a:rPr>
                  <a:t> “blue”,</a:t>
                </a:r>
              </a:p>
              <a:p>
                <a:pPr marL="20929">
                  <a:defRPr/>
                </a:pPr>
                <a:r>
                  <a:rPr lang="hu-HU" sz="1350" dirty="0">
                    <a:solidFill>
                      <a:srgbClr val="003F75"/>
                    </a:solidFill>
                  </a:rPr>
                  <a:t>  </a:t>
                </a:r>
                <a:r>
                  <a:rPr lang="hu-HU" sz="1350" dirty="0">
                    <a:solidFill>
                      <a:srgbClr val="E4F0F7"/>
                    </a:solidFill>
                  </a:rPr>
                  <a:t>loc: </a:t>
                </a:r>
                <a:r>
                  <a:rPr lang="hu-HU" sz="1350" dirty="0">
                    <a:solidFill>
                      <a:srgbClr val="191918"/>
                    </a:solidFill>
                  </a:rPr>
                  <a:t>[4</a:t>
                </a:r>
                <a:r>
                  <a:rPr lang="en-IN" sz="1350" dirty="0">
                    <a:solidFill>
                      <a:srgbClr val="191918"/>
                    </a:solidFill>
                  </a:rPr>
                  <a:t>3.2</a:t>
                </a:r>
                <a:r>
                  <a:rPr lang="hu-HU" sz="1350" dirty="0">
                    <a:solidFill>
                      <a:srgbClr val="191918"/>
                    </a:solidFill>
                  </a:rPr>
                  <a:t>, 73.4],</a:t>
                </a:r>
                <a:endParaRPr lang="en-US" sz="1350" dirty="0">
                  <a:solidFill>
                    <a:srgbClr val="191918"/>
                  </a:solidFill>
                </a:endParaRPr>
              </a:p>
              <a:p>
                <a:pPr marL="20929">
                  <a:defRPr/>
                </a:pPr>
                <a:r>
                  <a:rPr lang="hu-HU" sz="1350" dirty="0">
                    <a:solidFill>
                      <a:srgbClr val="000000"/>
                    </a:solidFill>
                  </a:rPr>
                  <a:t>  </a:t>
                </a:r>
                <a:r>
                  <a:rPr lang="en-US" sz="1350" dirty="0">
                    <a:solidFill>
                      <a:srgbClr val="EAEAEA"/>
                    </a:solidFill>
                  </a:rPr>
                  <a:t>boss: </a:t>
                </a:r>
                <a:r>
                  <a:rPr lang="en-US" sz="1350" dirty="0">
                    <a:solidFill>
                      <a:srgbClr val="000000"/>
                    </a:solidFill>
                  </a:rPr>
                  <a:t>“bill”</a:t>
                </a:r>
                <a:r>
                  <a:rPr lang="hu-HU" sz="1350" dirty="0">
                    <a:solidFill>
                      <a:srgbClr val="000000"/>
                    </a:solidFill>
                  </a:rPr>
                  <a:t>}</a:t>
                </a:r>
              </a:p>
              <a:p>
                <a:pPr marL="20929">
                  <a:defRPr/>
                </a:pPr>
                <a:endParaRPr lang="hu-HU" sz="1350" dirty="0">
                  <a:solidFill>
                    <a:srgbClr val="000000"/>
                  </a:solidFill>
                </a:endParaRPr>
              </a:p>
            </p:txBody>
          </p:sp>
        </p:grpSp>
        <p:grpSp>
          <p:nvGrpSpPr>
            <p:cNvPr id="18" name="Group 49">
              <a:extLst>
                <a:ext uri="{FF2B5EF4-FFF2-40B4-BE49-F238E27FC236}">
                  <a16:creationId xmlns:a16="http://schemas.microsoft.com/office/drawing/2014/main" id="{C63DF845-86EA-4142-A978-9FAE3B75353F}"/>
                </a:ext>
              </a:extLst>
            </p:cNvPr>
            <p:cNvGrpSpPr>
              <a:grpSpLocks/>
            </p:cNvGrpSpPr>
            <p:nvPr/>
          </p:nvGrpSpPr>
          <p:grpSpPr bwMode="auto">
            <a:xfrm>
              <a:off x="5746752" y="2658531"/>
              <a:ext cx="2406650" cy="1017588"/>
              <a:chOff x="5333723" y="2895109"/>
              <a:chExt cx="1968971" cy="787950"/>
            </a:xfrm>
          </p:grpSpPr>
          <p:sp>
            <p:nvSpPr>
              <p:cNvPr id="26" name="Document 56">
                <a:extLst>
                  <a:ext uri="{FF2B5EF4-FFF2-40B4-BE49-F238E27FC236}">
                    <a16:creationId xmlns:a16="http://schemas.microsoft.com/office/drawing/2014/main" id="{2AF24CBB-4FC3-4C09-8C1B-56154B9A9119}"/>
                  </a:ext>
                </a:extLst>
              </p:cNvPr>
              <p:cNvSpPr/>
              <p:nvPr/>
            </p:nvSpPr>
            <p:spPr bwMode="auto">
              <a:xfrm>
                <a:off x="5333723" y="2895109"/>
                <a:ext cx="1905331" cy="787950"/>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27" name="Rectangle 26">
                <a:extLst>
                  <a:ext uri="{FF2B5EF4-FFF2-40B4-BE49-F238E27FC236}">
                    <a16:creationId xmlns:a16="http://schemas.microsoft.com/office/drawing/2014/main" id="{4C801663-47A5-4A58-9CE6-EB36B3F72879}"/>
                  </a:ext>
                </a:extLst>
              </p:cNvPr>
              <p:cNvSpPr/>
              <p:nvPr/>
            </p:nvSpPr>
            <p:spPr>
              <a:xfrm>
                <a:off x="5359699" y="2971323"/>
                <a:ext cx="1942995" cy="693737"/>
              </a:xfrm>
              <a:prstGeom prst="rect">
                <a:avLst/>
              </a:prstGeom>
              <a:ln>
                <a:noFill/>
              </a:ln>
            </p:spPr>
            <p:txBody>
              <a:bodyPr lIns="48218" tIns="24110" rIns="48218" bIns="24110">
                <a:spAutoFit/>
              </a:bodyPr>
              <a:lstStyle/>
              <a:p>
                <a:pPr marL="20929">
                  <a:defRPr/>
                </a:pPr>
                <a:r>
                  <a:rPr lang="en-US" sz="1350" dirty="0">
                    <a:solidFill>
                      <a:srgbClr val="000000"/>
                    </a:solidFill>
                  </a:rPr>
                  <a:t>{</a:t>
                </a:r>
                <a:r>
                  <a:rPr lang="en-US" sz="1350" dirty="0">
                    <a:solidFill>
                      <a:srgbClr val="EAEAEA"/>
                    </a:solidFill>
                  </a:rPr>
                  <a:t>name:</a:t>
                </a:r>
                <a:r>
                  <a:rPr lang="en-US" sz="1350" dirty="0">
                    <a:solidFill>
                      <a:schemeClr val="accent6"/>
                    </a:solidFill>
                  </a:rPr>
                  <a:t> </a:t>
                </a:r>
                <a:r>
                  <a:rPr lang="en-US" sz="1350" dirty="0">
                    <a:solidFill>
                      <a:srgbClr val="000000"/>
                    </a:solidFill>
                  </a:rPr>
                  <a:t>“Mike”,</a:t>
                </a:r>
              </a:p>
              <a:p>
                <a:pPr marL="20929">
                  <a:defRPr/>
                </a:pPr>
                <a:r>
                  <a:rPr lang="hu-HU" sz="1350" dirty="0">
                    <a:solidFill>
                      <a:srgbClr val="000000"/>
                    </a:solidFill>
                  </a:rPr>
                  <a:t> </a:t>
                </a:r>
                <a:r>
                  <a:rPr lang="hu-HU" sz="1350" dirty="0">
                    <a:solidFill>
                      <a:schemeClr val="accent6"/>
                    </a:solidFill>
                  </a:rPr>
                  <a:t> </a:t>
                </a:r>
                <a:r>
                  <a:rPr lang="en-US" sz="1350" dirty="0">
                    <a:solidFill>
                      <a:srgbClr val="EAEAEA"/>
                    </a:solidFill>
                  </a:rPr>
                  <a:t>aliases</a:t>
                </a:r>
                <a:r>
                  <a:rPr lang="en-US" sz="1350" dirty="0">
                    <a:solidFill>
                      <a:schemeClr val="accent6"/>
                    </a:solidFill>
                  </a:rPr>
                  <a:t>: </a:t>
                </a:r>
                <a:r>
                  <a:rPr lang="hu-HU" sz="1350" dirty="0">
                    <a:solidFill>
                      <a:srgbClr val="000000"/>
                    </a:solidFill>
                  </a:rPr>
                  <a:t>[“el diablo”]}</a:t>
                </a:r>
              </a:p>
              <a:p>
                <a:pPr marL="20929">
                  <a:defRPr/>
                </a:pPr>
                <a:endParaRPr lang="hu-HU" sz="1350" dirty="0">
                  <a:solidFill>
                    <a:srgbClr val="000000"/>
                  </a:solidFill>
                </a:endParaRPr>
              </a:p>
            </p:txBody>
          </p:sp>
        </p:grpSp>
        <p:grpSp>
          <p:nvGrpSpPr>
            <p:cNvPr id="19" name="Group 50">
              <a:extLst>
                <a:ext uri="{FF2B5EF4-FFF2-40B4-BE49-F238E27FC236}">
                  <a16:creationId xmlns:a16="http://schemas.microsoft.com/office/drawing/2014/main" id="{26C6AA4D-43BE-4E08-8571-A97B8691C24E}"/>
                </a:ext>
              </a:extLst>
            </p:cNvPr>
            <p:cNvGrpSpPr>
              <a:grpSpLocks/>
            </p:cNvGrpSpPr>
            <p:nvPr/>
          </p:nvGrpSpPr>
          <p:grpSpPr bwMode="auto">
            <a:xfrm>
              <a:off x="3173411" y="4368270"/>
              <a:ext cx="2541587" cy="1016000"/>
              <a:chOff x="5333690" y="2896032"/>
              <a:chExt cx="1969004" cy="786721"/>
            </a:xfrm>
          </p:grpSpPr>
          <p:sp>
            <p:nvSpPr>
              <p:cNvPr id="24" name="Document 54">
                <a:extLst>
                  <a:ext uri="{FF2B5EF4-FFF2-40B4-BE49-F238E27FC236}">
                    <a16:creationId xmlns:a16="http://schemas.microsoft.com/office/drawing/2014/main" id="{414677C0-2360-48FA-AF46-36D2EF14C2F7}"/>
                  </a:ext>
                </a:extLst>
              </p:cNvPr>
              <p:cNvSpPr/>
              <p:nvPr/>
            </p:nvSpPr>
            <p:spPr bwMode="auto">
              <a:xfrm>
                <a:off x="5333690" y="2896032"/>
                <a:ext cx="1905051" cy="786721"/>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25" name="Rectangle 24">
                <a:extLst>
                  <a:ext uri="{FF2B5EF4-FFF2-40B4-BE49-F238E27FC236}">
                    <a16:creationId xmlns:a16="http://schemas.microsoft.com/office/drawing/2014/main" id="{FD2E84DA-FDE6-49EF-AB81-BF17132D072E}"/>
                  </a:ext>
                </a:extLst>
              </p:cNvPr>
              <p:cNvSpPr/>
              <p:nvPr/>
            </p:nvSpPr>
            <p:spPr>
              <a:xfrm>
                <a:off x="5359400" y="2971800"/>
                <a:ext cx="1943294" cy="693737"/>
              </a:xfrm>
              <a:prstGeom prst="rect">
                <a:avLst/>
              </a:prstGeom>
              <a:ln>
                <a:noFill/>
              </a:ln>
            </p:spPr>
            <p:txBody>
              <a:bodyPr lIns="48218" tIns="24110" rIns="48218" bIns="24110">
                <a:spAutoFit/>
              </a:bodyPr>
              <a:lstStyle/>
              <a:p>
                <a:pPr marL="20929">
                  <a:defRPr/>
                </a:pPr>
                <a:r>
                  <a:rPr lang="en-US" sz="1350" dirty="0">
                    <a:ln>
                      <a:solidFill>
                        <a:schemeClr val="tx2">
                          <a:lumMod val="10000"/>
                        </a:schemeClr>
                      </a:solidFill>
                    </a:ln>
                    <a:solidFill>
                      <a:srgbClr val="000000"/>
                    </a:solidFill>
                  </a:rPr>
                  <a:t>{</a:t>
                </a:r>
                <a:r>
                  <a:rPr lang="en-US" sz="1350" dirty="0">
                    <a:solidFill>
                      <a:srgbClr val="EAEAEA"/>
                    </a:solidFill>
                  </a:rPr>
                  <a:t>name:</a:t>
                </a:r>
                <a:r>
                  <a:rPr lang="en-US" sz="1350" dirty="0">
                    <a:solidFill>
                      <a:schemeClr val="accent6"/>
                    </a:solidFill>
                  </a:rPr>
                  <a:t> </a:t>
                </a:r>
                <a:r>
                  <a:rPr lang="en-US" sz="1350" dirty="0">
                    <a:solidFill>
                      <a:srgbClr val="000000"/>
                    </a:solidFill>
                  </a:rPr>
                  <a:t>“Venus”,</a:t>
                </a:r>
              </a:p>
              <a:p>
                <a:pPr marL="20929">
                  <a:defRPr/>
                </a:pPr>
                <a:r>
                  <a:rPr lang="hu-HU" sz="1350" dirty="0">
                    <a:solidFill>
                      <a:srgbClr val="000000"/>
                    </a:solidFill>
                  </a:rPr>
                  <a:t>  </a:t>
                </a:r>
                <a:r>
                  <a:rPr lang="en-US" sz="1350" dirty="0">
                    <a:solidFill>
                      <a:srgbClr val="EAEAEA"/>
                    </a:solidFill>
                  </a:rPr>
                  <a:t>hat:</a:t>
                </a:r>
                <a:r>
                  <a:rPr lang="en-US" sz="1350" dirty="0">
                    <a:solidFill>
                      <a:schemeClr val="accent6"/>
                    </a:solidFill>
                  </a:rPr>
                  <a:t> </a:t>
                </a:r>
                <a:r>
                  <a:rPr lang="hu-HU" sz="1350" dirty="0">
                    <a:solidFill>
                      <a:srgbClr val="000000"/>
                    </a:solidFill>
                  </a:rPr>
                  <a:t>”yes”}</a:t>
                </a:r>
              </a:p>
              <a:p>
                <a:pPr marL="20929">
                  <a:defRPr/>
                </a:pPr>
                <a:endParaRPr lang="hu-HU" sz="1350" dirty="0">
                  <a:solidFill>
                    <a:srgbClr val="000000"/>
                  </a:solidFill>
                </a:endParaRPr>
              </a:p>
            </p:txBody>
          </p:sp>
        </p:grpSp>
        <p:grpSp>
          <p:nvGrpSpPr>
            <p:cNvPr id="20" name="Group 51">
              <a:extLst>
                <a:ext uri="{FF2B5EF4-FFF2-40B4-BE49-F238E27FC236}">
                  <a16:creationId xmlns:a16="http://schemas.microsoft.com/office/drawing/2014/main" id="{BD8F933E-3268-4E61-92FC-9028A26FD0B8}"/>
                </a:ext>
              </a:extLst>
            </p:cNvPr>
            <p:cNvGrpSpPr>
              <a:grpSpLocks/>
            </p:cNvGrpSpPr>
            <p:nvPr/>
          </p:nvGrpSpPr>
          <p:grpSpPr bwMode="auto">
            <a:xfrm>
              <a:off x="5746750" y="3869797"/>
              <a:ext cx="2514600" cy="1514475"/>
              <a:chOff x="3200129" y="2972457"/>
              <a:chExt cx="2011609" cy="1432759"/>
            </a:xfrm>
          </p:grpSpPr>
          <p:sp>
            <p:nvSpPr>
              <p:cNvPr id="22" name="Document 52">
                <a:extLst>
                  <a:ext uri="{FF2B5EF4-FFF2-40B4-BE49-F238E27FC236}">
                    <a16:creationId xmlns:a16="http://schemas.microsoft.com/office/drawing/2014/main" id="{62528F99-0B41-434A-9A33-9214387E8239}"/>
                  </a:ext>
                </a:extLst>
              </p:cNvPr>
              <p:cNvSpPr/>
              <p:nvPr/>
            </p:nvSpPr>
            <p:spPr bwMode="auto">
              <a:xfrm>
                <a:off x="3200129" y="2972457"/>
                <a:ext cx="1904933" cy="1432759"/>
              </a:xfrm>
              <a:prstGeom prst="flowChartDocument">
                <a:avLst/>
              </a:prstGeom>
              <a:ln>
                <a:solidFill>
                  <a:schemeClr val="tx2"/>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48218" tIns="24110" rIns="48218" bIns="24110"/>
              <a:lstStyle/>
              <a:p>
                <a:pPr algn="ctr" defTabSz="482186">
                  <a:defRPr/>
                </a:pPr>
                <a:endParaRPr lang="en-US" sz="2250">
                  <a:solidFill>
                    <a:srgbClr val="FFFFFF"/>
                  </a:solidFill>
                  <a:latin typeface="Gill Sans" pitchFamily="-65" charset="0"/>
                  <a:ea typeface="ヒラギノ角ゴ ProN W3" pitchFamily="-65" charset="-128"/>
                  <a:cs typeface="ヒラギノ角ゴ ProN W3" pitchFamily="-65" charset="-128"/>
                  <a:sym typeface="Gill Sans" pitchFamily="-65" charset="0"/>
                </a:endParaRPr>
              </a:p>
            </p:txBody>
          </p:sp>
          <p:sp>
            <p:nvSpPr>
              <p:cNvPr id="23" name="Rectangle 22">
                <a:extLst>
                  <a:ext uri="{FF2B5EF4-FFF2-40B4-BE49-F238E27FC236}">
                    <a16:creationId xmlns:a16="http://schemas.microsoft.com/office/drawing/2014/main" id="{AA77DD9F-E430-4676-A215-C8084DEC97D3}"/>
                  </a:ext>
                </a:extLst>
              </p:cNvPr>
              <p:cNvSpPr>
                <a:spLocks noChangeAspect="1"/>
              </p:cNvSpPr>
              <p:nvPr/>
            </p:nvSpPr>
            <p:spPr>
              <a:xfrm>
                <a:off x="3276326" y="2972457"/>
                <a:ext cx="1935412" cy="1371684"/>
              </a:xfrm>
              <a:prstGeom prst="rect">
                <a:avLst/>
              </a:prstGeom>
              <a:ln>
                <a:noFill/>
              </a:ln>
            </p:spPr>
            <p:txBody>
              <a:bodyPr lIns="48218" tIns="24110" rIns="48218" bIns="24110">
                <a:spAutoFit/>
              </a:bodyPr>
              <a:lstStyle/>
              <a:p>
                <a:pPr marL="20929">
                  <a:defRPr/>
                </a:pPr>
                <a:r>
                  <a:rPr lang="en-US" sz="1350" dirty="0">
                    <a:solidFill>
                      <a:srgbClr val="000000"/>
                    </a:solidFill>
                  </a:rPr>
                  <a:t>{</a:t>
                </a:r>
                <a:r>
                  <a:rPr lang="en-US" sz="1350" dirty="0">
                    <a:solidFill>
                      <a:srgbClr val="EAEAEA"/>
                    </a:solidFill>
                  </a:rPr>
                  <a:t>name:</a:t>
                </a:r>
                <a:r>
                  <a:rPr lang="en-US" sz="1350" dirty="0">
                    <a:solidFill>
                      <a:srgbClr val="000000"/>
                    </a:solidFill>
                  </a:rPr>
                  <a:t> “Michael”,</a:t>
                </a:r>
              </a:p>
              <a:p>
                <a:pPr marL="20929">
                  <a:defRPr/>
                </a:pPr>
                <a:r>
                  <a:rPr lang="en-US" sz="1350" dirty="0">
                    <a:solidFill>
                      <a:srgbClr val="000000"/>
                    </a:solidFill>
                  </a:rPr>
                  <a:t> </a:t>
                </a:r>
                <a:r>
                  <a:rPr lang="en-US" sz="1350" dirty="0">
                    <a:solidFill>
                      <a:schemeClr val="accent6"/>
                    </a:solidFill>
                  </a:rPr>
                  <a:t> </a:t>
                </a:r>
                <a:r>
                  <a:rPr lang="en-US" sz="1350" dirty="0">
                    <a:solidFill>
                      <a:srgbClr val="EAEAEA"/>
                    </a:solidFill>
                  </a:rPr>
                  <a:t>pizza:</a:t>
                </a:r>
                <a:r>
                  <a:rPr lang="en-US" sz="1350" dirty="0">
                    <a:solidFill>
                      <a:schemeClr val="accent6"/>
                    </a:solidFill>
                  </a:rPr>
                  <a:t> </a:t>
                </a:r>
                <a:r>
                  <a:rPr lang="en-US" sz="1350" dirty="0">
                    <a:solidFill>
                      <a:srgbClr val="000000"/>
                    </a:solidFill>
                  </a:rPr>
                  <a:t>“</a:t>
                </a:r>
                <a:r>
                  <a:rPr lang="en-US" sz="1350" dirty="0" err="1">
                    <a:solidFill>
                      <a:srgbClr val="000000"/>
                    </a:solidFill>
                  </a:rPr>
                  <a:t>DiGiorno</a:t>
                </a:r>
                <a:r>
                  <a:rPr lang="en-US" sz="1350" dirty="0">
                    <a:solidFill>
                      <a:srgbClr val="000000"/>
                    </a:solidFill>
                  </a:rPr>
                  <a:t>”,</a:t>
                </a:r>
              </a:p>
              <a:p>
                <a:pPr marL="20929">
                  <a:defRPr/>
                </a:pPr>
                <a:r>
                  <a:rPr lang="en-US" sz="1350" dirty="0">
                    <a:solidFill>
                      <a:srgbClr val="000000"/>
                    </a:solidFill>
                  </a:rPr>
                  <a:t>  </a:t>
                </a:r>
                <a:r>
                  <a:rPr lang="en-US" sz="1350" dirty="0">
                    <a:solidFill>
                      <a:srgbClr val="EAEAEA"/>
                    </a:solidFill>
                  </a:rPr>
                  <a:t>height:</a:t>
                </a:r>
                <a:r>
                  <a:rPr lang="en-US" sz="1350" dirty="0">
                    <a:solidFill>
                      <a:srgbClr val="000000"/>
                    </a:solidFill>
                  </a:rPr>
                  <a:t> 56,</a:t>
                </a:r>
              </a:p>
              <a:p>
                <a:pPr marL="20929">
                  <a:defRPr/>
                </a:pPr>
                <a:r>
                  <a:rPr lang="hu-HU" sz="1350" dirty="0">
                    <a:solidFill>
                      <a:srgbClr val="000000"/>
                    </a:solidFill>
                  </a:rPr>
                  <a:t> </a:t>
                </a:r>
                <a:r>
                  <a:rPr lang="hu-HU" sz="1350" dirty="0">
                    <a:solidFill>
                      <a:srgbClr val="EAEAEA"/>
                    </a:solidFill>
                  </a:rPr>
                  <a:t> </a:t>
                </a:r>
                <a:r>
                  <a:rPr lang="hu-HU" sz="1350" dirty="0">
                    <a:solidFill>
                      <a:srgbClr val="E4F0F7"/>
                    </a:solidFill>
                  </a:rPr>
                  <a:t>loc: </a:t>
                </a:r>
                <a:r>
                  <a:rPr lang="hu-HU" sz="1350" dirty="0">
                    <a:solidFill>
                      <a:srgbClr val="191918"/>
                    </a:solidFill>
                  </a:rPr>
                  <a:t>[44.6, 71.3]</a:t>
                </a:r>
                <a:r>
                  <a:rPr lang="hu-HU" sz="1350" dirty="0">
                    <a:solidFill>
                      <a:srgbClr val="000000"/>
                    </a:solidFill>
                  </a:rPr>
                  <a:t>}</a:t>
                </a:r>
              </a:p>
              <a:p>
                <a:pPr marL="20929">
                  <a:defRPr/>
                </a:pPr>
                <a:endParaRPr lang="hu-HU" sz="1350" dirty="0">
                  <a:solidFill>
                    <a:srgbClr val="000000"/>
                  </a:solidFill>
                </a:endParaRPr>
              </a:p>
            </p:txBody>
          </p:sp>
        </p:grpSp>
        <p:sp>
          <p:nvSpPr>
            <p:cNvPr id="21" name="Rectangle 15">
              <a:extLst>
                <a:ext uri="{FF2B5EF4-FFF2-40B4-BE49-F238E27FC236}">
                  <a16:creationId xmlns:a16="http://schemas.microsoft.com/office/drawing/2014/main" id="{6145C966-6F32-458D-99F4-1854B20DA2F5}"/>
                </a:ext>
              </a:extLst>
            </p:cNvPr>
            <p:cNvSpPr>
              <a:spLocks noChangeArrowheads="1"/>
            </p:cNvSpPr>
            <p:nvPr/>
          </p:nvSpPr>
          <p:spPr bwMode="auto">
            <a:xfrm>
              <a:off x="990600" y="2757576"/>
              <a:ext cx="2494033" cy="1135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0241"/>
              <a:r>
                <a:rPr lang="en-US" sz="1350" dirty="0">
                  <a:solidFill>
                    <a:srgbClr val="191918"/>
                  </a:solidFill>
                </a:rPr>
                <a:t>{</a:t>
              </a:r>
              <a:r>
                <a:rPr lang="en-US" sz="1350" dirty="0">
                  <a:solidFill>
                    <a:schemeClr val="bg2"/>
                  </a:solidFill>
                </a:rPr>
                <a:t>name:</a:t>
              </a:r>
              <a:r>
                <a:rPr lang="en-US" sz="1350" dirty="0">
                  <a:solidFill>
                    <a:srgbClr val="003F75"/>
                  </a:solidFill>
                </a:rPr>
                <a:t> </a:t>
              </a:r>
              <a:r>
                <a:rPr lang="en-US" sz="1350" dirty="0"/>
                <a:t>“</a:t>
              </a:r>
              <a:r>
                <a:rPr lang="en-US" sz="1350" dirty="0" err="1"/>
                <a:t>Mar</a:t>
              </a:r>
              <a:r>
                <a:rPr lang="en-US" sz="1350" dirty="0" err="1">
                  <a:solidFill>
                    <a:srgbClr val="191918"/>
                  </a:solidFill>
                </a:rPr>
                <a:t>blue</a:t>
              </a:r>
              <a:r>
                <a:rPr lang="en-US" sz="1350" dirty="0" err="1"/>
                <a:t>tin</a:t>
              </a:r>
              <a:r>
                <a:rPr lang="en-US" sz="1350" dirty="0"/>
                <a:t>”</a:t>
              </a:r>
              <a:r>
                <a:rPr lang="en-US" sz="1350" dirty="0">
                  <a:solidFill>
                    <a:srgbClr val="003F75"/>
                  </a:solidFill>
                </a:rPr>
                <a:t>,</a:t>
              </a:r>
            </a:p>
            <a:p>
              <a:pPr marL="20241"/>
              <a:r>
                <a:rPr lang="en-US" sz="1350" dirty="0">
                  <a:solidFill>
                    <a:srgbClr val="003F75"/>
                  </a:solidFill>
                </a:rPr>
                <a:t>  </a:t>
              </a:r>
              <a:r>
                <a:rPr lang="en-US" sz="1350" dirty="0">
                  <a:solidFill>
                    <a:schemeClr val="bg2"/>
                  </a:solidFill>
                </a:rPr>
                <a:t>eyes:</a:t>
              </a:r>
              <a:r>
                <a:rPr lang="en-US" sz="1350" dirty="0">
                  <a:solidFill>
                    <a:srgbClr val="003F75"/>
                  </a:solidFill>
                </a:rPr>
                <a:t> </a:t>
              </a:r>
              <a:r>
                <a:rPr lang="en-US" sz="1350" dirty="0">
                  <a:solidFill>
                    <a:srgbClr val="191918"/>
                  </a:solidFill>
                </a:rPr>
                <a:t>“black”,</a:t>
              </a:r>
            </a:p>
            <a:p>
              <a:pPr marL="20241"/>
              <a:r>
                <a:rPr lang="en-US" sz="1350" dirty="0">
                  <a:solidFill>
                    <a:srgbClr val="003F75"/>
                  </a:solidFill>
                </a:rPr>
                <a:t>  </a:t>
              </a:r>
              <a:r>
                <a:rPr lang="en-US" sz="1350" dirty="0">
                  <a:solidFill>
                    <a:srgbClr val="E4F0F7"/>
                  </a:solidFill>
                </a:rPr>
                <a:t>birthplace:</a:t>
              </a:r>
              <a:r>
                <a:rPr lang="en-US" sz="1350" dirty="0">
                  <a:solidFill>
                    <a:srgbClr val="003F75"/>
                  </a:solidFill>
                </a:rPr>
                <a:t> </a:t>
              </a:r>
              <a:r>
                <a:rPr lang="en-US" sz="1350" dirty="0">
                  <a:solidFill>
                    <a:srgbClr val="191918"/>
                  </a:solidFill>
                </a:rPr>
                <a:t>“Bangalore”,</a:t>
              </a:r>
            </a:p>
            <a:p>
              <a:pPr marL="20241"/>
              <a:r>
                <a:rPr lang="hu-HU" sz="1350" dirty="0">
                  <a:solidFill>
                    <a:srgbClr val="003F75"/>
                  </a:solidFill>
                </a:rPr>
                <a:t> </a:t>
              </a:r>
              <a:r>
                <a:rPr lang="hu-HU" sz="1350" dirty="0">
                  <a:solidFill>
                    <a:srgbClr val="E4F0F7"/>
                  </a:solidFill>
                </a:rPr>
                <a:t> aliases</a:t>
              </a:r>
              <a:r>
                <a:rPr lang="hu-HU" sz="1350" dirty="0">
                  <a:solidFill>
                    <a:srgbClr val="191918"/>
                  </a:solidFill>
                </a:rPr>
                <a:t>: [“</a:t>
              </a:r>
              <a:r>
                <a:rPr lang="en-IN" sz="1350" dirty="0">
                  <a:solidFill>
                    <a:srgbClr val="191918"/>
                  </a:solidFill>
                </a:rPr>
                <a:t>Raju</a:t>
              </a:r>
              <a:r>
                <a:rPr lang="hu-HU" sz="1350" dirty="0">
                  <a:solidFill>
                    <a:srgbClr val="191918"/>
                  </a:solidFill>
                </a:rPr>
                <a:t>”, “</a:t>
              </a:r>
              <a:r>
                <a:rPr lang="en-IN" sz="1350" dirty="0" err="1">
                  <a:solidFill>
                    <a:srgbClr val="191918"/>
                  </a:solidFill>
                </a:rPr>
                <a:t>Mukku</a:t>
              </a:r>
              <a:r>
                <a:rPr lang="hu-HU" sz="1350" dirty="0">
                  <a:solidFill>
                    <a:srgbClr val="191918"/>
                  </a:solidFill>
                </a:rPr>
                <a:t>”],</a:t>
              </a:r>
            </a:p>
            <a:p>
              <a:pPr marL="20241"/>
              <a:r>
                <a:rPr lang="hu-HU" sz="1350" dirty="0">
                  <a:solidFill>
                    <a:srgbClr val="003F75"/>
                  </a:solidFill>
                </a:rPr>
                <a:t>  </a:t>
              </a:r>
              <a:r>
                <a:rPr lang="hu-HU" sz="1350" dirty="0">
                  <a:solidFill>
                    <a:srgbClr val="E4F0F7"/>
                  </a:solidFill>
                </a:rPr>
                <a:t>loc: </a:t>
              </a:r>
              <a:r>
                <a:rPr lang="hu-HU" sz="1350" dirty="0">
                  <a:solidFill>
                    <a:srgbClr val="191918"/>
                  </a:solidFill>
                </a:rPr>
                <a:t>[3</a:t>
              </a:r>
              <a:r>
                <a:rPr lang="en-IN" sz="1350" dirty="0">
                  <a:solidFill>
                    <a:srgbClr val="191918"/>
                  </a:solidFill>
                </a:rPr>
                <a:t>1</a:t>
              </a:r>
              <a:r>
                <a:rPr lang="hu-HU" sz="1350" dirty="0">
                  <a:solidFill>
                    <a:srgbClr val="191918"/>
                  </a:solidFill>
                </a:rPr>
                <a:t>.7, </a:t>
              </a:r>
              <a:r>
                <a:rPr lang="en-IN" sz="1350" dirty="0">
                  <a:solidFill>
                    <a:srgbClr val="191918"/>
                  </a:solidFill>
                </a:rPr>
                <a:t>5</a:t>
              </a:r>
              <a:r>
                <a:rPr lang="hu-HU" sz="1350" dirty="0">
                  <a:solidFill>
                    <a:srgbClr val="191918"/>
                  </a:solidFill>
                </a:rPr>
                <a:t>3.4]</a:t>
              </a:r>
            </a:p>
            <a:p>
              <a:pPr marL="20241"/>
              <a:r>
                <a:rPr lang="hu-HU" sz="1350" dirty="0">
                  <a:solidFill>
                    <a:srgbClr val="003F75"/>
                  </a:solidFill>
                </a:rPr>
                <a:t>  </a:t>
              </a:r>
              <a:r>
                <a:rPr lang="hu-HU" sz="1350" dirty="0">
                  <a:solidFill>
                    <a:srgbClr val="E4F0F7"/>
                  </a:solidFill>
                </a:rPr>
                <a:t>boss: </a:t>
              </a:r>
              <a:r>
                <a:rPr lang="hu-HU" sz="1350" dirty="0">
                  <a:solidFill>
                    <a:srgbClr val="191918"/>
                  </a:solidFill>
                </a:rPr>
                <a:t>”</a:t>
              </a:r>
              <a:r>
                <a:rPr lang="en-IN" sz="1350" dirty="0">
                  <a:solidFill>
                    <a:srgbClr val="191918"/>
                  </a:solidFill>
                </a:rPr>
                <a:t>bill</a:t>
              </a:r>
              <a:r>
                <a:rPr lang="hu-HU" sz="1350" dirty="0">
                  <a:solidFill>
                    <a:srgbClr val="191918"/>
                  </a:solidFill>
                </a:rPr>
                <a:t>”}</a:t>
              </a:r>
            </a:p>
          </p:txBody>
        </p:sp>
      </p:grpSp>
      <p:pic>
        <p:nvPicPr>
          <p:cNvPr id="32" name="Graphic 1">
            <a:extLst>
              <a:ext uri="{FF2B5EF4-FFF2-40B4-BE49-F238E27FC236}">
                <a16:creationId xmlns:a16="http://schemas.microsoft.com/office/drawing/2014/main" id="{B24CCD41-0A7F-410B-89A3-F8220EA7328A}"/>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615651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80400" y="-42209"/>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3200" b="1" dirty="0">
                <a:solidFill>
                  <a:srgbClr val="434343"/>
                </a:solidFill>
                <a:latin typeface="Avenir"/>
                <a:ea typeface="Avenir"/>
                <a:cs typeface="Avenir"/>
                <a:sym typeface="Avenir"/>
              </a:rPr>
              <a:t>How to scale database?</a:t>
            </a:r>
            <a:endParaRPr sz="3200" b="1" dirty="0">
              <a:solidFill>
                <a:srgbClr val="434343"/>
              </a:solidFill>
              <a:latin typeface="Avenir"/>
              <a:ea typeface="Avenir"/>
              <a:cs typeface="Avenir"/>
              <a:sym typeface="Avenir"/>
            </a:endParaRPr>
          </a:p>
        </p:txBody>
      </p:sp>
      <p:sp>
        <p:nvSpPr>
          <p:cNvPr id="74" name="Google Shape;74;p16"/>
          <p:cNvSpPr txBox="1"/>
          <p:nvPr/>
        </p:nvSpPr>
        <p:spPr>
          <a:xfrm>
            <a:off x="580400" y="842167"/>
            <a:ext cx="11031200" cy="5878066"/>
          </a:xfrm>
          <a:prstGeom prst="rect">
            <a:avLst/>
          </a:prstGeom>
          <a:noFill/>
          <a:ln>
            <a:noFill/>
          </a:ln>
        </p:spPr>
        <p:txBody>
          <a:bodyPr spcFirstLastPara="1" wrap="square" lIns="121900" tIns="121900" rIns="121900" bIns="121900" anchor="t" anchorCtr="0">
            <a:noAutofit/>
          </a:bodyPr>
          <a:lstStyle/>
          <a:p>
            <a:pPr marL="285750" indent="-285750">
              <a:buFont typeface="Wingdings" panose="05000000000000000000" pitchFamily="2" charset="2"/>
              <a:buChar char="Ø"/>
            </a:pPr>
            <a:endParaRPr lang="en-IN" sz="2400" dirty="0"/>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B4D24390-1F10-47DA-AED3-F9343B070352}"/>
              </a:ext>
            </a:extLst>
          </p:cNvPr>
          <p:cNvSpPr txBox="1"/>
          <p:nvPr/>
        </p:nvSpPr>
        <p:spPr>
          <a:xfrm>
            <a:off x="1079670" y="914400"/>
            <a:ext cx="9312730" cy="4832092"/>
          </a:xfrm>
          <a:prstGeom prst="rect">
            <a:avLst/>
          </a:prstGeom>
          <a:noFill/>
        </p:spPr>
        <p:txBody>
          <a:bodyPr wrap="square">
            <a:spAutoFit/>
          </a:bodyPr>
          <a:lstStyle/>
          <a:p>
            <a:pPr marL="285750" indent="-285750">
              <a:buFont typeface="Arial" panose="020B0604020202020204" pitchFamily="34" charset="0"/>
              <a:buChar char="•"/>
            </a:pPr>
            <a:r>
              <a:rPr lang="en-IN" sz="2400" dirty="0">
                <a:solidFill>
                  <a:schemeClr val="dk1"/>
                </a:solidFill>
                <a:latin typeface="Avenir"/>
              </a:rPr>
              <a:t>Applications data are growing at an incredible pace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Due to Rapid pace of digitalization ,Advances in sensor technology, increases in available bandwidth, and the popularity of smart devices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where even small scale applications need to store more data than many databases were meant to handle</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A terabyte of data, once considered huge data, is now commonplace</a:t>
            </a:r>
          </a:p>
          <a:p>
            <a:pPr marL="285750" indent="-285750">
              <a:buFont typeface="Arial" panose="020B0604020202020204" pitchFamily="34" charset="0"/>
              <a:buChar char="•"/>
            </a:pPr>
            <a:r>
              <a:rPr lang="en-IN" sz="2400" dirty="0">
                <a:solidFill>
                  <a:schemeClr val="dk1"/>
                </a:solidFill>
                <a:latin typeface="Avenir"/>
              </a:rPr>
              <a:t>Application developers face a difficult decision: how should they scale their databases to make their application scalable</a:t>
            </a:r>
          </a:p>
          <a:p>
            <a:endParaRPr lang="en-IN" sz="2400" dirty="0">
              <a:solidFill>
                <a:schemeClr val="dk1"/>
              </a:solidFill>
              <a:latin typeface="Avenir"/>
            </a:endParaRPr>
          </a:p>
          <a:p>
            <a:endParaRPr lang="en-IN" sz="2000" dirty="0"/>
          </a:p>
        </p:txBody>
      </p:sp>
      <p:pic>
        <p:nvPicPr>
          <p:cNvPr id="9" name="Graphic 1">
            <a:extLst>
              <a:ext uri="{FF2B5EF4-FFF2-40B4-BE49-F238E27FC236}">
                <a16:creationId xmlns:a16="http://schemas.microsoft.com/office/drawing/2014/main" id="{4133775D-900C-423D-A37F-6E440E41FB88}"/>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975525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MongoDB is designed for scale out</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3693319"/>
          </a:xfrm>
          <a:prstGeom prst="rect">
            <a:avLst/>
          </a:prstGeom>
          <a:noFill/>
        </p:spPr>
        <p:txBody>
          <a:bodyPr wrap="square">
            <a:spAutoFit/>
          </a:bodyPr>
          <a:lstStyle/>
          <a:p>
            <a:pPr marL="285750" indent="-285750">
              <a:buFont typeface="Arial" panose="020B0604020202020204" pitchFamily="34" charset="0"/>
              <a:buChar char="•"/>
            </a:pPr>
            <a:r>
              <a:rPr lang="en-IN" sz="2400" dirty="0">
                <a:solidFill>
                  <a:schemeClr val="dk1"/>
                </a:solidFill>
                <a:latin typeface="Avenir"/>
              </a:rPr>
              <a:t>MongoDB is designed to scale out from the beginning.</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Using </a:t>
            </a:r>
            <a:r>
              <a:rPr lang="en-IN" sz="2400" dirty="0" err="1">
                <a:solidFill>
                  <a:schemeClr val="dk1"/>
                </a:solidFill>
                <a:latin typeface="Avenir"/>
              </a:rPr>
              <a:t>Sharding</a:t>
            </a:r>
            <a:r>
              <a:rPr lang="en-IN" sz="2400" dirty="0">
                <a:solidFill>
                  <a:schemeClr val="dk1"/>
                </a:solidFill>
                <a:latin typeface="Avenir"/>
              </a:rPr>
              <a:t>, it can split up data across multiple servers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err="1">
                <a:solidFill>
                  <a:schemeClr val="dk1"/>
                </a:solidFill>
                <a:latin typeface="Avenir"/>
              </a:rPr>
              <a:t>Sharding</a:t>
            </a:r>
            <a:r>
              <a:rPr lang="en-IN" sz="2400" dirty="0">
                <a:solidFill>
                  <a:schemeClr val="dk1"/>
                </a:solidFill>
                <a:latin typeface="Avenir"/>
              </a:rPr>
              <a:t>  in MongoDB, can balance data and load across a cluster, redistributing documents automatically</a:t>
            </a:r>
          </a:p>
          <a:p>
            <a:pPr marL="285750" indent="-285750">
              <a:buFont typeface="Arial" panose="020B0604020202020204" pitchFamily="34" charset="0"/>
              <a:buChar char="•"/>
            </a:pPr>
            <a:r>
              <a:rPr lang="en-IN" sz="2400" dirty="0">
                <a:solidFill>
                  <a:schemeClr val="dk1"/>
                </a:solidFill>
                <a:latin typeface="Avenir"/>
              </a:rPr>
              <a:t>This helps developers to focus on programming the application, not scaling it</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When they need more capacity, they can just add new shards to the cluster</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5944B91E-F2CC-43C0-B3F2-A2E78D59DB5E}"/>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859869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MongoDB Features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83303" y="1019400"/>
            <a:ext cx="10167497" cy="5909310"/>
          </a:xfrm>
          <a:prstGeom prst="rect">
            <a:avLst/>
          </a:prstGeom>
          <a:noFill/>
        </p:spPr>
        <p:txBody>
          <a:bodyPr wrap="square">
            <a:spAutoFit/>
          </a:bodyPr>
          <a:lstStyle/>
          <a:p>
            <a:pPr marL="285750" indent="-285750">
              <a:buFont typeface="Arial" panose="020B0604020202020204" pitchFamily="34" charset="0"/>
              <a:buChar char="•"/>
            </a:pPr>
            <a:r>
              <a:rPr lang="en-IN" sz="2400" dirty="0">
                <a:solidFill>
                  <a:schemeClr val="dk1"/>
                </a:solidFill>
                <a:latin typeface="Avenir"/>
              </a:rPr>
              <a:t>Ad hoc queries </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Secondary Indexes</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Replication </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hu-HU" sz="2400" dirty="0">
                <a:solidFill>
                  <a:schemeClr val="dk1"/>
                </a:solidFill>
                <a:latin typeface="Avenir"/>
              </a:rPr>
              <a:t>Auto-Sharding</a:t>
            </a:r>
            <a:endParaRPr lang="en-IN" sz="2400" dirty="0">
              <a:solidFill>
                <a:schemeClr val="dk1"/>
              </a:solidFill>
              <a:latin typeface="Avenir"/>
            </a:endParaRPr>
          </a:p>
          <a:p>
            <a:pPr marL="285750" indent="-285750">
              <a:buFont typeface="Arial" panose="020B0604020202020204" pitchFamily="34" charset="0"/>
              <a:buChar char="•"/>
            </a:pPr>
            <a:endParaRPr lang="hu-HU" sz="2400" dirty="0">
              <a:solidFill>
                <a:schemeClr val="dk1"/>
              </a:solidFill>
              <a:latin typeface="Avenir"/>
            </a:endParaRPr>
          </a:p>
          <a:p>
            <a:pPr marL="285750" indent="-285750">
              <a:buFont typeface="Arial" panose="020B0604020202020204" pitchFamily="34" charset="0"/>
              <a:buChar char="•"/>
            </a:pPr>
            <a:r>
              <a:rPr lang="hu-HU" sz="2400" dirty="0">
                <a:solidFill>
                  <a:schemeClr val="dk1"/>
                </a:solidFill>
                <a:latin typeface="Avenir"/>
              </a:rPr>
              <a:t>Querying</a:t>
            </a:r>
            <a:endParaRPr lang="en-IN" sz="2400" dirty="0">
              <a:solidFill>
                <a:schemeClr val="dk1"/>
              </a:solidFill>
              <a:latin typeface="Avenir"/>
            </a:endParaRPr>
          </a:p>
          <a:p>
            <a:pPr marL="285750" indent="-285750">
              <a:buFont typeface="Arial" panose="020B0604020202020204" pitchFamily="34" charset="0"/>
              <a:buChar char="•"/>
            </a:pPr>
            <a:endParaRPr lang="hu-HU" sz="2400" dirty="0">
              <a:solidFill>
                <a:schemeClr val="dk1"/>
              </a:solidFill>
              <a:latin typeface="Avenir"/>
            </a:endParaRPr>
          </a:p>
          <a:p>
            <a:pPr marL="285750" indent="-285750">
              <a:buFont typeface="Arial" panose="020B0604020202020204" pitchFamily="34" charset="0"/>
              <a:buChar char="•"/>
            </a:pPr>
            <a:r>
              <a:rPr lang="hu-HU" sz="2400" dirty="0">
                <a:solidFill>
                  <a:schemeClr val="dk1"/>
                </a:solidFill>
                <a:latin typeface="Avenir"/>
              </a:rPr>
              <a:t>Fast In-Place Updates</a:t>
            </a:r>
            <a:endParaRPr lang="en-IN" sz="2400" dirty="0">
              <a:solidFill>
                <a:schemeClr val="dk1"/>
              </a:solidFill>
              <a:latin typeface="Avenir"/>
            </a:endParaRPr>
          </a:p>
          <a:p>
            <a:pPr marL="285750" indent="-285750">
              <a:buFont typeface="Arial" panose="020B0604020202020204" pitchFamily="34" charset="0"/>
              <a:buChar char="•"/>
            </a:pPr>
            <a:endParaRPr lang="hu-HU"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Aggregation</a:t>
            </a:r>
          </a:p>
          <a:p>
            <a:pPr marL="285750" indent="-285750">
              <a:buFont typeface="Arial" panose="020B0604020202020204" pitchFamily="34" charset="0"/>
              <a:buChar char="•"/>
            </a:pPr>
            <a:endParaRPr lang="en-IN" sz="2400" dirty="0">
              <a:solidFill>
                <a:schemeClr val="dk1"/>
              </a:solidFill>
              <a:latin typeface="Avenir"/>
            </a:endParaRPr>
          </a:p>
          <a:p>
            <a:pPr marL="285750" indent="-285750">
              <a:buFont typeface="Arial" panose="020B0604020202020204" pitchFamily="34" charset="0"/>
              <a:buChar char="•"/>
            </a:pPr>
            <a:r>
              <a:rPr lang="en-IN" sz="2400" dirty="0">
                <a:solidFill>
                  <a:schemeClr val="dk1"/>
                </a:solidFill>
                <a:latin typeface="Avenir"/>
              </a:rPr>
              <a:t>Capped Collection</a:t>
            </a:r>
            <a:endParaRPr lang="hu-HU" sz="2400" dirty="0">
              <a:solidFill>
                <a:schemeClr val="dk1"/>
              </a:solidFill>
              <a:latin typeface="Avenir"/>
            </a:endParaRP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7C6755F3-38E9-44A6-A298-2439A659B7FA}"/>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132667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Collection and Database </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33874"/>
            <a:ext cx="9934800" cy="5442516"/>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A collection is a group of documents.</a:t>
            </a:r>
          </a:p>
          <a:p>
            <a:pPr marL="285750" indent="-285750">
              <a:spcBef>
                <a:spcPts val="963"/>
              </a:spcBef>
              <a:buFont typeface="Arial" panose="020B0604020202020204" pitchFamily="34" charset="0"/>
              <a:buChar char="•"/>
            </a:pPr>
            <a:r>
              <a:rPr lang="en-IN" sz="2400" dirty="0">
                <a:solidFill>
                  <a:schemeClr val="dk1"/>
                </a:solidFill>
                <a:latin typeface="Avenir"/>
              </a:rPr>
              <a:t>Collections are schema-free, documents within a single collection can have different attributes or fields</a:t>
            </a:r>
          </a:p>
          <a:p>
            <a:pPr marL="285750" indent="-285750">
              <a:spcBef>
                <a:spcPts val="963"/>
              </a:spcBef>
              <a:buFont typeface="Arial" panose="020B0604020202020204" pitchFamily="34" charset="0"/>
              <a:buChar char="•"/>
            </a:pPr>
            <a:r>
              <a:rPr lang="en-IN" sz="2400" dirty="0">
                <a:solidFill>
                  <a:schemeClr val="dk1"/>
                </a:solidFill>
                <a:latin typeface="Avenir"/>
              </a:rPr>
              <a:t>However, Keeping different kinds of documents within the same collection can be a nightmare for developers and admins.</a:t>
            </a:r>
          </a:p>
          <a:p>
            <a:pPr marL="285750" indent="-285750">
              <a:spcBef>
                <a:spcPts val="963"/>
              </a:spcBef>
              <a:buFont typeface="Arial" panose="020B0604020202020204" pitchFamily="34" charset="0"/>
              <a:buChar char="•"/>
            </a:pPr>
            <a:r>
              <a:rPr lang="en-IN" sz="2400" dirty="0">
                <a:solidFill>
                  <a:schemeClr val="dk1"/>
                </a:solidFill>
                <a:latin typeface="Avenir"/>
              </a:rPr>
              <a:t>Grouping  similar documents together in the same collection is recommended for application development</a:t>
            </a:r>
          </a:p>
          <a:p>
            <a:pPr marL="285750" indent="-285750">
              <a:spcBef>
                <a:spcPts val="963"/>
              </a:spcBef>
              <a:buFont typeface="Arial" panose="020B0604020202020204" pitchFamily="34" charset="0"/>
              <a:buChar char="•"/>
            </a:pPr>
            <a:r>
              <a:rPr lang="en-IN" sz="2400" dirty="0">
                <a:solidFill>
                  <a:schemeClr val="dk1"/>
                </a:solidFill>
                <a:latin typeface="Avenir"/>
              </a:rPr>
              <a:t>MongoDB groups collections into databases. A MongoDB  database or cluster can host several databases, each of which can be thought of as completely independent.</a:t>
            </a:r>
          </a:p>
          <a:p>
            <a:pPr marL="285750" indent="-285750">
              <a:spcBef>
                <a:spcPts val="963"/>
              </a:spcBef>
              <a:buFont typeface="Arial" panose="020B0604020202020204" pitchFamily="34" charset="0"/>
              <a:buChar char="•"/>
            </a:pPr>
            <a:r>
              <a:rPr lang="en-IN" sz="2400" dirty="0">
                <a:solidFill>
                  <a:schemeClr val="dk1"/>
                </a:solidFill>
                <a:latin typeface="Avenir"/>
              </a:rPr>
              <a:t>A good rule of thumb is to store all data for a single application in the same database</a:t>
            </a:r>
            <a:endParaRPr lang="en-US" sz="2400" dirty="0">
              <a:solidFill>
                <a:schemeClr val="dk1"/>
              </a:solidFill>
              <a:latin typeface="Avenir"/>
            </a:endParaRPr>
          </a:p>
          <a:p>
            <a:endParaRPr lang="en-IN" dirty="0"/>
          </a:p>
        </p:txBody>
      </p:sp>
      <p:pic>
        <p:nvPicPr>
          <p:cNvPr id="10" name="Graphic 1">
            <a:extLst>
              <a:ext uri="{FF2B5EF4-FFF2-40B4-BE49-F238E27FC236}">
                <a16:creationId xmlns:a16="http://schemas.microsoft.com/office/drawing/2014/main" id="{11213B20-59B2-460F-95CF-E3DD8D1C981A}"/>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798938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Insert Operation </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446406"/>
            <a:ext cx="9934800" cy="4334520"/>
          </a:xfrm>
          <a:prstGeom prst="rect">
            <a:avLst/>
          </a:prstGeom>
        </p:spPr>
        <p:txBody>
          <a:bodyPr wrap="square">
            <a:spAutoFit/>
          </a:bodyPr>
          <a:lstStyle/>
          <a:p>
            <a:pPr marL="285750" indent="-285750">
              <a:spcBef>
                <a:spcPts val="963"/>
              </a:spcBef>
              <a:spcAft>
                <a:spcPts val="0"/>
              </a:spcAft>
              <a:buFont typeface="Arial" panose="020B0604020202020204" pitchFamily="34" charset="0"/>
              <a:buChar char="•"/>
            </a:pPr>
            <a:endParaRPr lang="en-IN" sz="2400" dirty="0">
              <a:solidFill>
                <a:schemeClr val="dk1"/>
              </a:solidFill>
              <a:latin typeface="Avenir"/>
            </a:endParaRPr>
          </a:p>
          <a:p>
            <a:pPr marL="285750" indent="-285750">
              <a:spcBef>
                <a:spcPts val="963"/>
              </a:spcBef>
              <a:spcAft>
                <a:spcPts val="0"/>
              </a:spcAft>
              <a:buFont typeface="Arial" panose="020B0604020202020204" pitchFamily="34" charset="0"/>
              <a:buChar char="•"/>
            </a:pPr>
            <a:r>
              <a:rPr lang="en-IN" sz="2400" dirty="0">
                <a:solidFill>
                  <a:schemeClr val="dk1"/>
                </a:solidFill>
                <a:latin typeface="Avenir"/>
              </a:rPr>
              <a:t>When we perform an insert, the application driver in the application code converts the data structure into BSON then sends to the database </a:t>
            </a:r>
          </a:p>
          <a:p>
            <a:pPr>
              <a:spcBef>
                <a:spcPts val="963"/>
              </a:spcBef>
              <a:spcAft>
                <a:spcPts val="0"/>
              </a:spcAft>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database accepts BSON and checks for an "_id" key and validate that the document’s size does not exceed 16MB</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All  the data validation will be performed by application Drivers at the client side</a:t>
            </a:r>
          </a:p>
          <a:p>
            <a:endParaRPr lang="en-IN" dirty="0"/>
          </a:p>
        </p:txBody>
      </p:sp>
      <p:pic>
        <p:nvPicPr>
          <p:cNvPr id="10" name="Graphic 1">
            <a:extLst>
              <a:ext uri="{FF2B5EF4-FFF2-40B4-BE49-F238E27FC236}">
                <a16:creationId xmlns:a16="http://schemas.microsoft.com/office/drawing/2014/main" id="{AF764372-EBEF-45FC-BDB2-A6C75A43C094}"/>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8741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Retrieval Operation </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7" name="Google Shape;77;p16"/>
          <p:cNvPicPr preferRelativeResize="0"/>
          <p:nvPr/>
        </p:nvPicPr>
        <p:blipFill rotWithShape="1">
          <a:blip r:embed="rId3">
            <a:alphaModFix/>
          </a:blip>
          <a:srcRect/>
          <a:stretch/>
        </p:blipFill>
        <p:spPr>
          <a:xfrm>
            <a:off x="10769600" y="137767"/>
            <a:ext cx="1219200" cy="1219200"/>
          </a:xfrm>
          <a:prstGeom prst="rect">
            <a:avLst/>
          </a:prstGeom>
          <a:noFill/>
          <a:ln>
            <a:noFill/>
          </a:ln>
        </p:spPr>
      </p:pic>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33874"/>
            <a:ext cx="9934800" cy="5827236"/>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dirty="0" err="1">
                <a:solidFill>
                  <a:schemeClr val="dk1"/>
                </a:solidFill>
                <a:latin typeface="Avenir"/>
              </a:rPr>
              <a:t>db.collection.find</a:t>
            </a:r>
            <a:r>
              <a:rPr lang="en-IN" sz="2400" dirty="0">
                <a:solidFill>
                  <a:schemeClr val="dk1"/>
                </a:solidFill>
                <a:latin typeface="Avenir"/>
              </a:rPr>
              <a:t>() method retrieves documents from a collection &amp; it returns a cursor to the retrieved documents.</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The method takes both the query criteria and projections and returns a cursor  to the matching documents.</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We can change the query to impose limits, skips, and sort orders</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The order of documents returned by a query is random unless we specify a sort().</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err="1">
                <a:solidFill>
                  <a:schemeClr val="dk1"/>
                </a:solidFill>
                <a:latin typeface="Avenir"/>
              </a:rPr>
              <a:t>db.items.find</a:t>
            </a:r>
            <a:r>
              <a:rPr lang="en-IN" sz="2400" dirty="0">
                <a:solidFill>
                  <a:schemeClr val="dk1"/>
                </a:solidFill>
                <a:latin typeface="Avenir"/>
              </a:rPr>
              <a:t>( {available: true },{item:1,} ).limit(5)</a:t>
            </a:r>
          </a:p>
          <a:p>
            <a:endParaRPr lang="en-IN" dirty="0"/>
          </a:p>
        </p:txBody>
      </p:sp>
    </p:spTree>
    <p:extLst>
      <p:ext uri="{BB962C8B-B14F-4D97-AF65-F5344CB8AC3E}">
        <p14:creationId xmlns:p14="http://schemas.microsoft.com/office/powerpoint/2010/main" val="104047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Retrieval Operation </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33874"/>
            <a:ext cx="9934800" cy="5863144"/>
          </a:xfrm>
          <a:prstGeom prst="rect">
            <a:avLst/>
          </a:prstGeom>
        </p:spPr>
        <p:txBody>
          <a:bodyPr wrap="square">
            <a:spAutoFit/>
          </a:bodyPr>
          <a:lstStyle/>
          <a:p>
            <a:endParaRPr lang="en-IN" dirty="0"/>
          </a:p>
          <a:p>
            <a:pPr marL="285750" indent="-285750">
              <a:spcBef>
                <a:spcPts val="963"/>
              </a:spcBef>
              <a:buFont typeface="Arial" panose="020B0604020202020204" pitchFamily="34" charset="0"/>
              <a:buChar char="•"/>
            </a:pPr>
            <a:r>
              <a:rPr lang="en-IN" sz="2400" b="1" dirty="0">
                <a:solidFill>
                  <a:schemeClr val="dk1"/>
                </a:solidFill>
                <a:latin typeface="Avenir"/>
              </a:rPr>
              <a:t> </a:t>
            </a:r>
            <a:r>
              <a:rPr lang="en-IN" sz="2400" b="1" dirty="0" err="1">
                <a:solidFill>
                  <a:schemeClr val="dk1"/>
                </a:solidFill>
                <a:latin typeface="Avenir"/>
              </a:rPr>
              <a:t>findOne</a:t>
            </a:r>
            <a:r>
              <a:rPr lang="en-IN" sz="2400" b="1" dirty="0">
                <a:solidFill>
                  <a:schemeClr val="dk1"/>
                </a:solidFill>
                <a:latin typeface="Avenir"/>
              </a:rPr>
              <a:t>()</a:t>
            </a:r>
            <a:r>
              <a:rPr lang="en-US" sz="2400" b="1" dirty="0">
                <a:solidFill>
                  <a:schemeClr val="dk1"/>
                </a:solidFill>
                <a:latin typeface="Avenir"/>
              </a:rPr>
              <a:t> </a:t>
            </a:r>
            <a:r>
              <a:rPr lang="en-US" sz="2400" dirty="0">
                <a:solidFill>
                  <a:schemeClr val="dk1"/>
                </a:solidFill>
                <a:latin typeface="Avenir"/>
              </a:rPr>
              <a:t>: Find the first record in the document</a:t>
            </a:r>
          </a:p>
          <a:p>
            <a:pPr marL="285750" indent="-285750">
              <a:spcBef>
                <a:spcPts val="963"/>
              </a:spcBef>
              <a:buFont typeface="Arial" panose="020B0604020202020204" pitchFamily="34" charset="0"/>
              <a:buChar char="•"/>
            </a:pPr>
            <a:endParaRPr lang="en-US"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pretty() method  can be used to display the output in a formatted manner</a:t>
            </a:r>
          </a:p>
          <a:p>
            <a:pPr marL="285750" indent="-285750">
              <a:spcBef>
                <a:spcPts val="963"/>
              </a:spcBef>
              <a:buFont typeface="Arial" panose="020B0604020202020204" pitchFamily="34" charset="0"/>
              <a:buChar char="•"/>
            </a:pPr>
            <a:r>
              <a:rPr lang="en-IN" sz="2400" dirty="0" err="1">
                <a:solidFill>
                  <a:schemeClr val="dk1"/>
                </a:solidFill>
                <a:latin typeface="Avenir"/>
              </a:rPr>
              <a:t>db.collection.find</a:t>
            </a:r>
            <a:r>
              <a:rPr lang="en-IN" sz="2400" dirty="0">
                <a:solidFill>
                  <a:schemeClr val="dk1"/>
                </a:solidFill>
                <a:latin typeface="Avenir"/>
              </a:rPr>
              <a:t>().pretty()</a:t>
            </a:r>
          </a:p>
          <a:p>
            <a:pPr>
              <a:spcBef>
                <a:spcPts val="963"/>
              </a:spcBef>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err="1">
                <a:solidFill>
                  <a:schemeClr val="dk1"/>
                </a:solidFill>
                <a:latin typeface="Avenir"/>
              </a:rPr>
              <a:t>db.collection.find</a:t>
            </a:r>
            <a:r>
              <a:rPr lang="en-IN" sz="2400" dirty="0">
                <a:solidFill>
                  <a:schemeClr val="dk1"/>
                </a:solidFill>
                <a:latin typeface="Avenir"/>
              </a:rPr>
              <a:t>() or </a:t>
            </a:r>
            <a:r>
              <a:rPr lang="en-IN" sz="2400" dirty="0" err="1">
                <a:solidFill>
                  <a:schemeClr val="dk1"/>
                </a:solidFill>
                <a:latin typeface="Avenir"/>
              </a:rPr>
              <a:t>db.collection.find</a:t>
            </a:r>
            <a:r>
              <a:rPr lang="en-IN" sz="2400" dirty="0">
                <a:solidFill>
                  <a:schemeClr val="dk1"/>
                </a:solidFill>
                <a:latin typeface="Avenir"/>
              </a:rPr>
              <a:t>({}) selects all documents in the collection:</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b="1" dirty="0">
                <a:solidFill>
                  <a:schemeClr val="dk1"/>
                </a:solidFill>
                <a:latin typeface="Avenir"/>
              </a:rPr>
              <a:t>Specify Equality Condition </a:t>
            </a:r>
            <a:r>
              <a:rPr lang="en-IN" sz="2400" dirty="0">
                <a:solidFill>
                  <a:schemeClr val="dk1"/>
                </a:solidFill>
                <a:latin typeface="Avenir"/>
              </a:rPr>
              <a:t>: use the query document { &lt;field&gt;: &lt;value&gt; } to select all documents that contain the &lt;field&gt; with the specified &lt;value&gt;.</a:t>
            </a:r>
          </a:p>
          <a:p>
            <a:pPr marL="285750" indent="-285750">
              <a:spcBef>
                <a:spcPts val="963"/>
              </a:spcBef>
              <a:buFont typeface="Arial" panose="020B0604020202020204" pitchFamily="34" charset="0"/>
              <a:buChar char="•"/>
            </a:pPr>
            <a:r>
              <a:rPr lang="en-IN" sz="2400" dirty="0" err="1">
                <a:solidFill>
                  <a:schemeClr val="dk1"/>
                </a:solidFill>
                <a:latin typeface="Avenir"/>
              </a:rPr>
              <a:t>db.items.find</a:t>
            </a:r>
            <a:r>
              <a:rPr lang="en-IN" sz="2400" dirty="0">
                <a:solidFill>
                  <a:schemeClr val="dk1"/>
                </a:solidFill>
                <a:latin typeface="Avenir"/>
              </a:rPr>
              <a:t>( {available: true } )</a:t>
            </a:r>
          </a:p>
          <a:p>
            <a:endParaRPr lang="en-IN" dirty="0"/>
          </a:p>
        </p:txBody>
      </p:sp>
      <p:pic>
        <p:nvPicPr>
          <p:cNvPr id="10" name="Graphic 1">
            <a:extLst>
              <a:ext uri="{FF2B5EF4-FFF2-40B4-BE49-F238E27FC236}">
                <a16:creationId xmlns:a16="http://schemas.microsoft.com/office/drawing/2014/main" id="{6BBCAD84-4B6F-47B7-8675-11696589745A}"/>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4081479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Query Operators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33874"/>
            <a:ext cx="9934800" cy="5827236"/>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b="1" dirty="0">
                <a:solidFill>
                  <a:schemeClr val="dk1"/>
                </a:solidFill>
                <a:latin typeface="Avenir"/>
              </a:rPr>
              <a:t>Specify Conditions Using Query Operators</a:t>
            </a:r>
            <a:r>
              <a:rPr lang="en-IN" sz="2400" dirty="0">
                <a:solidFill>
                  <a:schemeClr val="dk1"/>
                </a:solidFill>
                <a:latin typeface="Avenir"/>
              </a:rPr>
              <a:t>: A query document can use the query operators to specify conditions in a MongoDB query.</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If you have more than one possible value to match for a single key, use an array of criteria with "$in".</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db.items.find</a:t>
            </a:r>
            <a:r>
              <a:rPr lang="en-IN" sz="2400" dirty="0">
                <a:solidFill>
                  <a:schemeClr val="dk1"/>
                </a:solidFill>
                <a:latin typeface="Avenir"/>
              </a:rPr>
              <a:t>( {available : { $in: [true, false ] } }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b="1" dirty="0">
                <a:solidFill>
                  <a:schemeClr val="dk1"/>
                </a:solidFill>
                <a:latin typeface="Avenir"/>
              </a:rPr>
              <a:t>Specify AND Conditions</a:t>
            </a:r>
            <a:r>
              <a:rPr lang="en-IN" sz="2400" dirty="0">
                <a:solidFill>
                  <a:schemeClr val="dk1"/>
                </a:solidFill>
                <a:latin typeface="Avenir"/>
              </a:rPr>
              <a:t>: A compound query can specify conditions for multiple fields</a:t>
            </a:r>
          </a:p>
          <a:p>
            <a:pPr marL="285750" indent="-285750">
              <a:spcBef>
                <a:spcPts val="963"/>
              </a:spcBef>
              <a:buFont typeface="Arial" panose="020B0604020202020204" pitchFamily="34" charset="0"/>
              <a:buChar char="•"/>
            </a:pPr>
            <a:r>
              <a:rPr lang="en-IN" sz="2400" dirty="0" err="1">
                <a:solidFill>
                  <a:schemeClr val="dk1"/>
                </a:solidFill>
                <a:latin typeface="Avenir"/>
              </a:rPr>
              <a:t>db.items.find</a:t>
            </a:r>
            <a:r>
              <a:rPr lang="en-IN" sz="2400" dirty="0">
                <a:solidFill>
                  <a:schemeClr val="dk1"/>
                </a:solidFill>
                <a:latin typeface="Avenir"/>
              </a:rPr>
              <a:t>( {available: true, </a:t>
            </a:r>
            <a:r>
              <a:rPr lang="en-IN" sz="2400" dirty="0" err="1">
                <a:solidFill>
                  <a:schemeClr val="dk1"/>
                </a:solidFill>
                <a:latin typeface="Avenir"/>
              </a:rPr>
              <a:t>soldQty</a:t>
            </a:r>
            <a:r>
              <a:rPr lang="en-IN" sz="2400" dirty="0">
                <a:solidFill>
                  <a:schemeClr val="dk1"/>
                </a:solidFill>
                <a:latin typeface="Avenir"/>
              </a:rPr>
              <a:t>: { $</a:t>
            </a:r>
            <a:r>
              <a:rPr lang="en-IN" sz="2400" dirty="0" err="1">
                <a:solidFill>
                  <a:schemeClr val="dk1"/>
                </a:solidFill>
                <a:latin typeface="Avenir"/>
              </a:rPr>
              <a:t>lt</a:t>
            </a:r>
            <a:r>
              <a:rPr lang="en-IN" sz="2400" dirty="0">
                <a:solidFill>
                  <a:schemeClr val="dk1"/>
                </a:solidFill>
                <a:latin typeface="Avenir"/>
              </a:rPr>
              <a:t>: 900 } } )</a:t>
            </a:r>
          </a:p>
          <a:p>
            <a:endParaRPr lang="en-IN" dirty="0"/>
          </a:p>
        </p:txBody>
      </p:sp>
      <p:pic>
        <p:nvPicPr>
          <p:cNvPr id="10" name="Graphic 1">
            <a:extLst>
              <a:ext uri="{FF2B5EF4-FFF2-40B4-BE49-F238E27FC236}">
                <a16:creationId xmlns:a16="http://schemas.microsoft.com/office/drawing/2014/main" id="{5C5BFDEC-9772-408A-8DC4-ACDAE74E82FC}"/>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933409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OR, AND Operators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33874"/>
            <a:ext cx="9934800" cy="6083717"/>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b="1" dirty="0">
                <a:solidFill>
                  <a:schemeClr val="dk1"/>
                </a:solidFill>
                <a:latin typeface="Avenir"/>
              </a:rPr>
              <a:t>Specify OR Conditions</a:t>
            </a:r>
          </a:p>
          <a:p>
            <a:pPr marL="285750" indent="-285750">
              <a:spcBef>
                <a:spcPts val="963"/>
              </a:spcBef>
              <a:buFont typeface="Arial" panose="020B0604020202020204" pitchFamily="34" charset="0"/>
              <a:buChar char="•"/>
            </a:pPr>
            <a:r>
              <a:rPr lang="en-IN" sz="2400" dirty="0">
                <a:solidFill>
                  <a:schemeClr val="dk1"/>
                </a:solidFill>
                <a:latin typeface="Avenir"/>
              </a:rPr>
              <a:t>Using the $or operator, you can specify a compound query that joins each clause with a logical OR conjunction</a:t>
            </a: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db.items.find</a:t>
            </a:r>
            <a:r>
              <a:rPr lang="en-IN" sz="2400" dirty="0">
                <a:solidFill>
                  <a:schemeClr val="dk1"/>
                </a:solidFill>
                <a:latin typeface="Avenir"/>
              </a:rPr>
              <a:t>({ $or: [ {</a:t>
            </a:r>
            <a:r>
              <a:rPr lang="en-IN" sz="2400" dirty="0" err="1">
                <a:solidFill>
                  <a:schemeClr val="dk1"/>
                </a:solidFill>
                <a:latin typeface="Avenir"/>
              </a:rPr>
              <a:t>soldQty</a:t>
            </a:r>
            <a:r>
              <a:rPr lang="en-IN" sz="2400" dirty="0">
                <a:solidFill>
                  <a:schemeClr val="dk1"/>
                </a:solidFill>
                <a:latin typeface="Avenir"/>
              </a:rPr>
              <a:t> : { $</a:t>
            </a:r>
            <a:r>
              <a:rPr lang="en-IN" sz="2400" dirty="0" err="1">
                <a:solidFill>
                  <a:schemeClr val="dk1"/>
                </a:solidFill>
                <a:latin typeface="Avenir"/>
              </a:rPr>
              <a:t>gt</a:t>
            </a:r>
            <a:r>
              <a:rPr lang="en-IN" sz="2400" dirty="0">
                <a:solidFill>
                  <a:schemeClr val="dk1"/>
                </a:solidFill>
                <a:latin typeface="Avenir"/>
              </a:rPr>
              <a:t>: 500 } }, { </a:t>
            </a:r>
            <a:r>
              <a:rPr lang="en-IN" sz="2400" dirty="0" err="1">
                <a:solidFill>
                  <a:schemeClr val="dk1"/>
                </a:solidFill>
                <a:latin typeface="Avenir"/>
              </a:rPr>
              <a:t>available:true</a:t>
            </a:r>
            <a:r>
              <a:rPr lang="en-IN" sz="2400" dirty="0">
                <a:solidFill>
                  <a:schemeClr val="dk1"/>
                </a:solidFill>
                <a:latin typeface="Avenir"/>
              </a:rPr>
              <a:t> } ] }).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b="1" dirty="0">
                <a:solidFill>
                  <a:schemeClr val="dk1"/>
                </a:solidFill>
                <a:latin typeface="Avenir"/>
              </a:rPr>
              <a:t>Specify AND as well as OR Conditions</a:t>
            </a: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db.items.find</a:t>
            </a:r>
            <a:r>
              <a:rPr lang="en-IN" sz="2400" dirty="0">
                <a:solidFill>
                  <a:schemeClr val="dk1"/>
                </a:solidFill>
                <a:latin typeface="Avenir"/>
              </a:rPr>
              <a:t>({ </a:t>
            </a:r>
            <a:r>
              <a:rPr lang="en-IN" sz="2400" dirty="0" err="1">
                <a:solidFill>
                  <a:schemeClr val="dk1"/>
                </a:solidFill>
                <a:latin typeface="Avenir"/>
              </a:rPr>
              <a:t>available:true</a:t>
            </a:r>
            <a:r>
              <a:rPr lang="en-IN" sz="2400" dirty="0">
                <a:solidFill>
                  <a:schemeClr val="dk1"/>
                </a:solidFill>
                <a:latin typeface="Avenir"/>
              </a:rPr>
              <a:t>,$or: [ {</a:t>
            </a:r>
            <a:r>
              <a:rPr lang="en-IN" sz="2400" dirty="0" err="1">
                <a:solidFill>
                  <a:schemeClr val="dk1"/>
                </a:solidFill>
                <a:latin typeface="Avenir"/>
              </a:rPr>
              <a:t>soldQty</a:t>
            </a:r>
            <a:r>
              <a:rPr lang="en-IN" sz="2400" dirty="0">
                <a:solidFill>
                  <a:schemeClr val="dk1"/>
                </a:solidFill>
                <a:latin typeface="Avenir"/>
              </a:rPr>
              <a:t> : { $</a:t>
            </a:r>
            <a:r>
              <a:rPr lang="en-IN" sz="2400" dirty="0" err="1">
                <a:solidFill>
                  <a:schemeClr val="dk1"/>
                </a:solidFill>
                <a:latin typeface="Avenir"/>
              </a:rPr>
              <a:t>gt</a:t>
            </a:r>
            <a:r>
              <a:rPr lang="en-IN" sz="2400" dirty="0">
                <a:solidFill>
                  <a:schemeClr val="dk1"/>
                </a:solidFill>
                <a:latin typeface="Avenir"/>
              </a:rPr>
              <a:t>: 200 } }, {item: “Book” }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"$not" is a </a:t>
            </a:r>
            <a:r>
              <a:rPr lang="en-IN" sz="2400" dirty="0" err="1">
                <a:solidFill>
                  <a:schemeClr val="dk1"/>
                </a:solidFill>
                <a:latin typeface="Avenir"/>
              </a:rPr>
              <a:t>metaconditional</a:t>
            </a:r>
            <a:r>
              <a:rPr lang="en-IN" sz="2400" dirty="0">
                <a:solidFill>
                  <a:schemeClr val="dk1"/>
                </a:solidFill>
                <a:latin typeface="Avenir"/>
              </a:rPr>
              <a:t>: it can be applied on top of any other criteria.</a:t>
            </a:r>
          </a:p>
          <a:p>
            <a:pPr marL="285750" indent="-285750">
              <a:spcBef>
                <a:spcPts val="963"/>
              </a:spcBef>
              <a:buFont typeface="Arial" panose="020B0604020202020204" pitchFamily="34" charset="0"/>
              <a:buChar char="•"/>
            </a:pPr>
            <a:r>
              <a:rPr lang="en-IN" sz="2400" dirty="0">
                <a:solidFill>
                  <a:schemeClr val="dk1"/>
                </a:solidFill>
                <a:latin typeface="Avenir"/>
              </a:rPr>
              <a:t>&gt; </a:t>
            </a:r>
            <a:r>
              <a:rPr lang="en-IN" sz="2400" dirty="0" err="1">
                <a:solidFill>
                  <a:schemeClr val="dk1"/>
                </a:solidFill>
                <a:latin typeface="Avenir"/>
              </a:rPr>
              <a:t>db.items.find</a:t>
            </a:r>
            <a:r>
              <a:rPr lang="en-IN" sz="2400" dirty="0">
                <a:solidFill>
                  <a:schemeClr val="dk1"/>
                </a:solidFill>
                <a:latin typeface="Avenir"/>
              </a:rPr>
              <a:t>({“_id" : {"$not" : {"$mod" : [4, 1]}}})</a:t>
            </a:r>
          </a:p>
          <a:p>
            <a:pPr>
              <a:spcBef>
                <a:spcPts val="963"/>
              </a:spcBef>
            </a:pPr>
            <a:endParaRPr lang="en-IN" dirty="0"/>
          </a:p>
        </p:txBody>
      </p:sp>
      <p:pic>
        <p:nvPicPr>
          <p:cNvPr id="10" name="Graphic 1">
            <a:extLst>
              <a:ext uri="{FF2B5EF4-FFF2-40B4-BE49-F238E27FC236}">
                <a16:creationId xmlns:a16="http://schemas.microsoft.com/office/drawing/2014/main" id="{948284DA-C485-411B-B987-317F8CE6E73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967200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Regular expression</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TextBox 9">
            <a:extLst>
              <a:ext uri="{FF2B5EF4-FFF2-40B4-BE49-F238E27FC236}">
                <a16:creationId xmlns:a16="http://schemas.microsoft.com/office/drawing/2014/main" id="{B739AC9B-320A-4192-9D9C-4307C80F00ED}"/>
              </a:ext>
            </a:extLst>
          </p:cNvPr>
          <p:cNvSpPr txBox="1"/>
          <p:nvPr/>
        </p:nvSpPr>
        <p:spPr>
          <a:xfrm>
            <a:off x="1441653" y="1518809"/>
            <a:ext cx="8498759" cy="4555093"/>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b="1" dirty="0">
                <a:solidFill>
                  <a:schemeClr val="dk1"/>
                </a:solidFill>
                <a:latin typeface="Avenir"/>
              </a:rPr>
              <a:t>Regular Expressions</a:t>
            </a:r>
            <a:r>
              <a:rPr lang="en-IN" sz="2400" dirty="0">
                <a:solidFill>
                  <a:schemeClr val="dk1"/>
                </a:solidFill>
                <a:latin typeface="Avenir"/>
              </a:rPr>
              <a:t>: Regular expressions are useful for flexible string matching</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For example, if we want to find all  items whose </a:t>
            </a:r>
            <a:r>
              <a:rPr lang="en-IN" sz="2400" dirty="0" err="1">
                <a:solidFill>
                  <a:schemeClr val="dk1"/>
                </a:solidFill>
                <a:latin typeface="Avenir"/>
              </a:rPr>
              <a:t>whose</a:t>
            </a:r>
            <a:r>
              <a:rPr lang="en-IN" sz="2400" dirty="0">
                <a:solidFill>
                  <a:schemeClr val="dk1"/>
                </a:solidFill>
                <a:latin typeface="Avenir"/>
              </a:rPr>
              <a:t> value starts with “Pe” </a:t>
            </a:r>
            <a:r>
              <a:rPr lang="en-IN" sz="2400" dirty="0" err="1">
                <a:solidFill>
                  <a:schemeClr val="dk1"/>
                </a:solidFill>
                <a:latin typeface="Avenir"/>
              </a:rPr>
              <a:t>i.e</a:t>
            </a:r>
            <a:r>
              <a:rPr lang="en-IN" sz="2400" dirty="0">
                <a:solidFill>
                  <a:schemeClr val="dk1"/>
                </a:solidFill>
                <a:latin typeface="Avenir"/>
              </a:rPr>
              <a:t> Pen and Pencil</a:t>
            </a:r>
          </a:p>
          <a:p>
            <a:pPr marL="285750" indent="-285750">
              <a:spcBef>
                <a:spcPts val="963"/>
              </a:spcBef>
              <a:buFont typeface="Arial" panose="020B0604020202020204" pitchFamily="34" charset="0"/>
              <a:buChar char="•"/>
            </a:pPr>
            <a:r>
              <a:rPr lang="en-IN" sz="2400" dirty="0" err="1">
                <a:solidFill>
                  <a:schemeClr val="dk1"/>
                </a:solidFill>
                <a:latin typeface="Avenir"/>
              </a:rPr>
              <a:t>db.items.find</a:t>
            </a:r>
            <a:r>
              <a:rPr lang="en-IN" sz="2400" dirty="0">
                <a:solidFill>
                  <a:schemeClr val="dk1"/>
                </a:solidFill>
                <a:latin typeface="Avenir"/>
              </a:rPr>
              <a:t>({item:/pe/</a:t>
            </a:r>
            <a:r>
              <a:rPr lang="en-IN" sz="2400" dirty="0" err="1">
                <a:solidFill>
                  <a:schemeClr val="dk1"/>
                </a:solidFill>
                <a:latin typeface="Avenir"/>
              </a:rPr>
              <a:t>i</a:t>
            </a:r>
            <a:r>
              <a:rPr lang="en-IN" sz="2400" dirty="0">
                <a:solidFill>
                  <a:schemeClr val="dk1"/>
                </a:solidFill>
                <a:latin typeface="Avenir"/>
              </a:rPr>
              <a:t>})</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If we want to match not only various capitalizations of  Pen, but also for Pencil</a:t>
            </a:r>
          </a:p>
          <a:p>
            <a:pPr marL="285750" indent="-285750">
              <a:spcBef>
                <a:spcPts val="963"/>
              </a:spcBef>
              <a:buFont typeface="Arial" panose="020B0604020202020204" pitchFamily="34" charset="0"/>
              <a:buChar char="•"/>
            </a:pPr>
            <a:r>
              <a:rPr lang="en-IN" sz="2400" dirty="0" err="1">
                <a:solidFill>
                  <a:schemeClr val="dk1"/>
                </a:solidFill>
                <a:latin typeface="Avenir"/>
              </a:rPr>
              <a:t>db.items.find</a:t>
            </a:r>
            <a:r>
              <a:rPr lang="en-IN" sz="2400" dirty="0">
                <a:solidFill>
                  <a:schemeClr val="dk1"/>
                </a:solidFill>
                <a:latin typeface="Avenir"/>
              </a:rPr>
              <a:t>({item: /Pen?/</a:t>
            </a:r>
            <a:r>
              <a:rPr lang="en-IN" sz="2400" dirty="0" err="1">
                <a:solidFill>
                  <a:schemeClr val="dk1"/>
                </a:solidFill>
                <a:latin typeface="Avenir"/>
              </a:rPr>
              <a:t>i</a:t>
            </a:r>
            <a:r>
              <a:rPr lang="en-IN" sz="2400" dirty="0">
                <a:solidFill>
                  <a:schemeClr val="dk1"/>
                </a:solidFill>
                <a:latin typeface="Avenir"/>
              </a:rPr>
              <a:t>})</a:t>
            </a:r>
          </a:p>
        </p:txBody>
      </p:sp>
      <p:pic>
        <p:nvPicPr>
          <p:cNvPr id="11" name="Graphic 1">
            <a:extLst>
              <a:ext uri="{FF2B5EF4-FFF2-40B4-BE49-F238E27FC236}">
                <a16:creationId xmlns:a16="http://schemas.microsoft.com/office/drawing/2014/main" id="{2269D976-93C7-49EB-B3C4-7409C9FCF70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60951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Limit , Skip and Sorting</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TextBox 9">
            <a:extLst>
              <a:ext uri="{FF2B5EF4-FFF2-40B4-BE49-F238E27FC236}">
                <a16:creationId xmlns:a16="http://schemas.microsoft.com/office/drawing/2014/main" id="{B739AC9B-320A-4192-9D9C-4307C80F00ED}"/>
              </a:ext>
            </a:extLst>
          </p:cNvPr>
          <p:cNvSpPr txBox="1"/>
          <p:nvPr/>
        </p:nvSpPr>
        <p:spPr>
          <a:xfrm>
            <a:off x="834800" y="1163951"/>
            <a:ext cx="10300232" cy="4683333"/>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To set a limit, chain the limit function onto your call to find</a:t>
            </a:r>
          </a:p>
          <a:p>
            <a:pPr>
              <a:spcBef>
                <a:spcPts val="963"/>
              </a:spcBef>
            </a:pPr>
            <a:r>
              <a:rPr lang="en-IN" sz="2400" dirty="0">
                <a:solidFill>
                  <a:schemeClr val="dk1"/>
                </a:solidFill>
                <a:latin typeface="Avenir"/>
              </a:rPr>
              <a:t>        </a:t>
            </a:r>
            <a:r>
              <a:rPr lang="en-IN" sz="2400" dirty="0" err="1">
                <a:solidFill>
                  <a:schemeClr val="dk1"/>
                </a:solidFill>
                <a:latin typeface="Avenir"/>
              </a:rPr>
              <a:t>db.c.find</a:t>
            </a:r>
            <a:r>
              <a:rPr lang="en-IN" sz="2400" dirty="0">
                <a:solidFill>
                  <a:schemeClr val="dk1"/>
                </a:solidFill>
                <a:latin typeface="Avenir"/>
              </a:rPr>
              <a:t>().limit(3)</a:t>
            </a:r>
          </a:p>
          <a:p>
            <a:pPr marL="285750" indent="-285750">
              <a:spcBef>
                <a:spcPts val="963"/>
              </a:spcBef>
              <a:buFont typeface="Arial" panose="020B0604020202020204" pitchFamily="34" charset="0"/>
              <a:buChar char="•"/>
            </a:pPr>
            <a:r>
              <a:rPr lang="en-IN" sz="2400" dirty="0">
                <a:solidFill>
                  <a:schemeClr val="dk1"/>
                </a:solidFill>
                <a:latin typeface="Avenir"/>
              </a:rPr>
              <a:t>If we want to skip the first three matching documents and return the rest of the matches</a:t>
            </a:r>
          </a:p>
          <a:p>
            <a:pPr>
              <a:spcBef>
                <a:spcPts val="963"/>
              </a:spcBef>
            </a:pPr>
            <a:r>
              <a:rPr lang="en-IN" sz="2400" dirty="0">
                <a:solidFill>
                  <a:schemeClr val="dk1"/>
                </a:solidFill>
                <a:latin typeface="Avenir"/>
              </a:rPr>
              <a:t>         </a:t>
            </a:r>
            <a:r>
              <a:rPr lang="en-IN" sz="2400" dirty="0" err="1">
                <a:solidFill>
                  <a:schemeClr val="dk1"/>
                </a:solidFill>
                <a:latin typeface="Avenir"/>
              </a:rPr>
              <a:t>db.c.find</a:t>
            </a:r>
            <a:r>
              <a:rPr lang="en-IN" sz="2400" dirty="0">
                <a:solidFill>
                  <a:schemeClr val="dk1"/>
                </a:solidFill>
                <a:latin typeface="Avenir"/>
              </a:rPr>
              <a:t>().skip(3)</a:t>
            </a:r>
          </a:p>
          <a:p>
            <a:pPr marL="285750" indent="-285750">
              <a:spcBef>
                <a:spcPts val="963"/>
              </a:spcBef>
              <a:buFont typeface="Arial" panose="020B0604020202020204" pitchFamily="34" charset="0"/>
              <a:buChar char="•"/>
            </a:pPr>
            <a:r>
              <a:rPr lang="en-IN" sz="2400" dirty="0">
                <a:solidFill>
                  <a:schemeClr val="dk1"/>
                </a:solidFill>
                <a:latin typeface="Avenir"/>
              </a:rPr>
              <a:t>Sort takes an object: a set of key/value pairs where the keys are key names and the values are the sort directions. </a:t>
            </a:r>
          </a:p>
          <a:p>
            <a:pPr marL="285750" indent="-285750">
              <a:spcBef>
                <a:spcPts val="963"/>
              </a:spcBef>
              <a:buFont typeface="Arial" panose="020B0604020202020204" pitchFamily="34" charset="0"/>
              <a:buChar char="•"/>
            </a:pPr>
            <a:r>
              <a:rPr lang="en-IN" sz="2400" dirty="0">
                <a:solidFill>
                  <a:schemeClr val="dk1"/>
                </a:solidFill>
                <a:latin typeface="Avenir"/>
              </a:rPr>
              <a:t>Sort direction can be 1 (ascending) or -1 (descending).</a:t>
            </a:r>
          </a:p>
          <a:p>
            <a:pPr>
              <a:spcBef>
                <a:spcPts val="963"/>
              </a:spcBef>
            </a:pPr>
            <a:r>
              <a:rPr lang="en-IN" sz="2400" dirty="0">
                <a:solidFill>
                  <a:schemeClr val="dk1"/>
                </a:solidFill>
                <a:latin typeface="Avenir"/>
              </a:rPr>
              <a:t>     </a:t>
            </a:r>
            <a:r>
              <a:rPr lang="en-IN" sz="2400" dirty="0" err="1">
                <a:solidFill>
                  <a:schemeClr val="dk1"/>
                </a:solidFill>
                <a:latin typeface="Avenir"/>
              </a:rPr>
              <a:t>db.c.find</a:t>
            </a:r>
            <a:r>
              <a:rPr lang="en-IN" sz="2400" dirty="0">
                <a:solidFill>
                  <a:schemeClr val="dk1"/>
                </a:solidFill>
                <a:latin typeface="Avenir"/>
              </a:rPr>
              <a:t>().sort({username : 1, age : -1})</a:t>
            </a:r>
          </a:p>
          <a:p>
            <a:pPr marL="285750" indent="-285750">
              <a:spcBef>
                <a:spcPts val="963"/>
              </a:spcBef>
              <a:buFont typeface="Arial" panose="020B0604020202020204" pitchFamily="34" charset="0"/>
              <a:buChar char="•"/>
            </a:pPr>
            <a:endParaRPr lang="en-IN" sz="2400" dirty="0">
              <a:solidFill>
                <a:schemeClr val="dk1"/>
              </a:solidFill>
              <a:latin typeface="Avenir"/>
            </a:endParaRPr>
          </a:p>
        </p:txBody>
      </p:sp>
      <p:pic>
        <p:nvPicPr>
          <p:cNvPr id="11" name="Graphic 1">
            <a:extLst>
              <a:ext uri="{FF2B5EF4-FFF2-40B4-BE49-F238E27FC236}">
                <a16:creationId xmlns:a16="http://schemas.microsoft.com/office/drawing/2014/main" id="{B2DC0497-1B07-4E95-B4A0-34B9719B84B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8176906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Update</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1" name="TextBox 10">
            <a:extLst>
              <a:ext uri="{FF2B5EF4-FFF2-40B4-BE49-F238E27FC236}">
                <a16:creationId xmlns:a16="http://schemas.microsoft.com/office/drawing/2014/main" id="{AFAAEE20-E5CC-49AF-9D17-5FB83517CF56}"/>
              </a:ext>
            </a:extLst>
          </p:cNvPr>
          <p:cNvSpPr txBox="1"/>
          <p:nvPr/>
        </p:nvSpPr>
        <p:spPr>
          <a:xfrm>
            <a:off x="834799" y="1031215"/>
            <a:ext cx="10680441" cy="5421997"/>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err="1">
                <a:solidFill>
                  <a:schemeClr val="dk1"/>
                </a:solidFill>
                <a:latin typeface="Avenir"/>
              </a:rPr>
              <a:t>db.collection.update</a:t>
            </a:r>
            <a:r>
              <a:rPr lang="en-IN" sz="2400" dirty="0">
                <a:solidFill>
                  <a:schemeClr val="dk1"/>
                </a:solidFill>
                <a:latin typeface="Avenir"/>
              </a:rPr>
              <a:t>() method modifies existing documents in a collection</a:t>
            </a:r>
          </a:p>
          <a:p>
            <a:pPr marL="285750" indent="-285750">
              <a:spcBef>
                <a:spcPts val="963"/>
              </a:spcBef>
              <a:buFont typeface="Arial" panose="020B0604020202020204" pitchFamily="34" charset="0"/>
              <a:buChar char="•"/>
            </a:pPr>
            <a:r>
              <a:rPr lang="en-IN" sz="2400" dirty="0" err="1">
                <a:solidFill>
                  <a:schemeClr val="dk1"/>
                </a:solidFill>
                <a:latin typeface="Avenir"/>
              </a:rPr>
              <a:t>db.collection.update</a:t>
            </a:r>
            <a:r>
              <a:rPr lang="en-IN" sz="2400" dirty="0">
                <a:solidFill>
                  <a:schemeClr val="dk1"/>
                </a:solidFill>
                <a:latin typeface="Avenir"/>
              </a:rPr>
              <a:t>() method can accept query criteria to determine which documents to update </a:t>
            </a:r>
          </a:p>
          <a:p>
            <a:pPr marL="285750" indent="-285750">
              <a:spcBef>
                <a:spcPts val="963"/>
              </a:spcBef>
              <a:buFont typeface="Arial" panose="020B0604020202020204" pitchFamily="34" charset="0"/>
              <a:buChar char="•"/>
            </a:pPr>
            <a:r>
              <a:rPr lang="en-IN" sz="2400" dirty="0" err="1">
                <a:solidFill>
                  <a:schemeClr val="dk1"/>
                </a:solidFill>
                <a:latin typeface="Avenir"/>
              </a:rPr>
              <a:t>db.collection.update</a:t>
            </a:r>
            <a:r>
              <a:rPr lang="en-IN" sz="2400" dirty="0">
                <a:solidFill>
                  <a:schemeClr val="dk1"/>
                </a:solidFill>
                <a:latin typeface="Avenir"/>
              </a:rPr>
              <a:t>() method either updates specific fields in the existing document or replaces the document</a:t>
            </a:r>
          </a:p>
          <a:p>
            <a:pPr marL="285750" indent="-285750">
              <a:spcBef>
                <a:spcPts val="963"/>
              </a:spcBef>
              <a:buFont typeface="Arial" panose="020B0604020202020204" pitchFamily="34" charset="0"/>
              <a:buChar char="•"/>
            </a:pPr>
            <a:r>
              <a:rPr lang="en-IN" sz="2400" dirty="0">
                <a:solidFill>
                  <a:schemeClr val="dk1"/>
                </a:solidFill>
                <a:latin typeface="Avenir"/>
              </a:rPr>
              <a:t>By default, the </a:t>
            </a:r>
            <a:r>
              <a:rPr lang="en-IN" sz="2400" dirty="0" err="1">
                <a:solidFill>
                  <a:schemeClr val="dk1"/>
                </a:solidFill>
                <a:latin typeface="Avenir"/>
              </a:rPr>
              <a:t>db.collection.update</a:t>
            </a:r>
            <a:r>
              <a:rPr lang="en-IN" sz="2400" dirty="0">
                <a:solidFill>
                  <a:schemeClr val="dk1"/>
                </a:solidFill>
                <a:latin typeface="Avenir"/>
              </a:rPr>
              <a:t>() method updates a single document</a:t>
            </a:r>
          </a:p>
          <a:p>
            <a:pPr marL="285750" indent="-285750">
              <a:spcBef>
                <a:spcPts val="963"/>
              </a:spcBef>
              <a:buFont typeface="Arial" panose="020B0604020202020204" pitchFamily="34" charset="0"/>
              <a:buChar char="•"/>
            </a:pPr>
            <a:r>
              <a:rPr lang="en-IN" sz="2400" dirty="0">
                <a:solidFill>
                  <a:schemeClr val="dk1"/>
                </a:solidFill>
                <a:latin typeface="Avenir"/>
              </a:rPr>
              <a:t>To change a field value, MongoDB provides update operators, such as $set to modify values.</a:t>
            </a:r>
          </a:p>
          <a:p>
            <a:pPr marL="285750" indent="-285750">
              <a:spcBef>
                <a:spcPts val="963"/>
              </a:spcBef>
              <a:buFont typeface="Arial" panose="020B0604020202020204" pitchFamily="34" charset="0"/>
              <a:buChar char="•"/>
            </a:pPr>
            <a:r>
              <a:rPr lang="en-IN" sz="2400" dirty="0">
                <a:solidFill>
                  <a:schemeClr val="dk1"/>
                </a:solidFill>
                <a:latin typeface="Avenir"/>
              </a:rPr>
              <a:t>The following updates the model field within the embedded details document.</a:t>
            </a:r>
          </a:p>
          <a:p>
            <a:pPr marL="285750" indent="-285750">
              <a:spcBef>
                <a:spcPts val="963"/>
              </a:spcBef>
              <a:buFont typeface="Arial" panose="020B0604020202020204" pitchFamily="34" charset="0"/>
              <a:buChar char="•"/>
            </a:pPr>
            <a:r>
              <a:rPr lang="en-IN" sz="2400" dirty="0" err="1">
                <a:solidFill>
                  <a:schemeClr val="dk1"/>
                </a:solidFill>
                <a:latin typeface="Avenir"/>
              </a:rPr>
              <a:t>db.inventory.update</a:t>
            </a:r>
            <a:r>
              <a:rPr lang="en-IN" sz="2400" dirty="0">
                <a:solidFill>
                  <a:schemeClr val="dk1"/>
                </a:solidFill>
                <a:latin typeface="Avenir"/>
              </a:rPr>
              <a:t>({ item: "ABC1" },{ $set: { "</a:t>
            </a:r>
            <a:r>
              <a:rPr lang="en-IN" sz="2400" dirty="0" err="1">
                <a:solidFill>
                  <a:schemeClr val="dk1"/>
                </a:solidFill>
                <a:latin typeface="Avenir"/>
              </a:rPr>
              <a:t>details.model</a:t>
            </a:r>
            <a:r>
              <a:rPr lang="en-IN" sz="2400" dirty="0">
                <a:solidFill>
                  <a:schemeClr val="dk1"/>
                </a:solidFill>
                <a:latin typeface="Avenir"/>
              </a:rPr>
              <a:t>": "14Q2" }},{</a:t>
            </a:r>
            <a:r>
              <a:rPr lang="en-IN" sz="2400" dirty="0" err="1">
                <a:solidFill>
                  <a:schemeClr val="dk1"/>
                </a:solidFill>
                <a:latin typeface="Avenir"/>
              </a:rPr>
              <a:t>multi:true</a:t>
            </a:r>
            <a:r>
              <a:rPr lang="en-IN" sz="2400" dirty="0">
                <a:solidFill>
                  <a:schemeClr val="dk1"/>
                </a:solidFill>
                <a:latin typeface="Avenir"/>
              </a:rPr>
              <a:t>})</a:t>
            </a:r>
          </a:p>
          <a:p>
            <a:pPr marL="285750" indent="-285750">
              <a:spcBef>
                <a:spcPts val="963"/>
              </a:spcBef>
              <a:buFont typeface="Arial" panose="020B0604020202020204" pitchFamily="34" charset="0"/>
              <a:buChar char="•"/>
            </a:pPr>
            <a:endParaRPr lang="en-IN" sz="2400" dirty="0">
              <a:solidFill>
                <a:schemeClr val="dk1"/>
              </a:solidFill>
              <a:latin typeface="Avenir"/>
            </a:endParaRPr>
          </a:p>
        </p:txBody>
      </p:sp>
      <p:pic>
        <p:nvPicPr>
          <p:cNvPr id="10" name="Graphic 1">
            <a:extLst>
              <a:ext uri="{FF2B5EF4-FFF2-40B4-BE49-F238E27FC236}">
                <a16:creationId xmlns:a16="http://schemas.microsoft.com/office/drawing/2014/main" id="{BD43C145-B7A4-49ED-B4DB-4A3D3CB45278}"/>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3023812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err="1">
                <a:solidFill>
                  <a:srgbClr val="434343"/>
                </a:solidFill>
                <a:latin typeface="Avenir"/>
                <a:ea typeface="Avenir"/>
                <a:cs typeface="Avenir"/>
                <a:sym typeface="Avenir"/>
              </a:rPr>
              <a:t>Upsert</a:t>
            </a:r>
            <a:endParaRPr lang="en-IN"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1" name="TextBox 10">
            <a:extLst>
              <a:ext uri="{FF2B5EF4-FFF2-40B4-BE49-F238E27FC236}">
                <a16:creationId xmlns:a16="http://schemas.microsoft.com/office/drawing/2014/main" id="{AFAAEE20-E5CC-49AF-9D17-5FB83517CF56}"/>
              </a:ext>
            </a:extLst>
          </p:cNvPr>
          <p:cNvSpPr txBox="1"/>
          <p:nvPr/>
        </p:nvSpPr>
        <p:spPr>
          <a:xfrm>
            <a:off x="834800" y="1031215"/>
            <a:ext cx="10116000" cy="4796185"/>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An </a:t>
            </a:r>
            <a:r>
              <a:rPr lang="en-IN" sz="2400" dirty="0" err="1">
                <a:solidFill>
                  <a:schemeClr val="dk1"/>
                </a:solidFill>
                <a:latin typeface="Avenir"/>
              </a:rPr>
              <a:t>upsert</a:t>
            </a:r>
            <a:r>
              <a:rPr lang="en-IN" sz="2400" dirty="0">
                <a:solidFill>
                  <a:schemeClr val="dk1"/>
                </a:solidFill>
                <a:latin typeface="Avenir"/>
              </a:rPr>
              <a:t> is a special type of update. If no document is found that matches the update criteria, a new document will be created by combining the criteria and update documents.</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err="1">
                <a:solidFill>
                  <a:schemeClr val="dk1"/>
                </a:solidFill>
                <a:latin typeface="Avenir"/>
              </a:rPr>
              <a:t>db.items.update</a:t>
            </a:r>
            <a:r>
              <a:rPr lang="en-IN" sz="2400" dirty="0">
                <a:solidFill>
                  <a:schemeClr val="dk1"/>
                </a:solidFill>
                <a:latin typeface="Avenir"/>
              </a:rPr>
              <a:t>({“item" : “Bag"}, {"$</a:t>
            </a:r>
            <a:r>
              <a:rPr lang="en-IN" sz="2400" dirty="0" err="1">
                <a:solidFill>
                  <a:schemeClr val="dk1"/>
                </a:solidFill>
                <a:latin typeface="Avenir"/>
              </a:rPr>
              <a:t>inc</a:t>
            </a:r>
            <a:r>
              <a:rPr lang="en-IN" sz="2400" dirty="0">
                <a:solidFill>
                  <a:schemeClr val="dk1"/>
                </a:solidFill>
                <a:latin typeface="Avenir"/>
              </a:rPr>
              <a:t>" : {“</a:t>
            </a:r>
            <a:r>
              <a:rPr lang="en-IN" sz="2400" dirty="0" err="1">
                <a:solidFill>
                  <a:schemeClr val="dk1"/>
                </a:solidFill>
                <a:latin typeface="Avenir"/>
              </a:rPr>
              <a:t>soldQty</a:t>
            </a:r>
            <a:r>
              <a:rPr lang="en-IN" sz="2400" dirty="0">
                <a:solidFill>
                  <a:schemeClr val="dk1"/>
                </a:solidFill>
                <a:latin typeface="Avenir"/>
              </a:rPr>
              <a:t>" : 1}}, {</a:t>
            </a:r>
            <a:r>
              <a:rPr lang="en-IN" sz="2400" dirty="0" err="1">
                <a:solidFill>
                  <a:schemeClr val="dk1"/>
                </a:solidFill>
                <a:latin typeface="Avenir"/>
              </a:rPr>
              <a:t>upsert:true</a:t>
            </a:r>
            <a:r>
              <a:rPr lang="en-IN" sz="2400" dirty="0">
                <a:solidFill>
                  <a:schemeClr val="dk1"/>
                </a:solidFill>
                <a:latin typeface="Avenir"/>
              </a:rPr>
              <a:t>})                                                                                                  </a:t>
            </a:r>
          </a:p>
          <a:p>
            <a:pPr marL="285750" indent="-285750">
              <a:spcBef>
                <a:spcPts val="963"/>
              </a:spcBef>
              <a:buFont typeface="Arial" panose="020B0604020202020204" pitchFamily="34" charset="0"/>
              <a:buChar char="•"/>
            </a:pPr>
            <a:r>
              <a:rPr lang="en-IN" sz="2400" dirty="0">
                <a:solidFill>
                  <a:schemeClr val="dk1"/>
                </a:solidFill>
                <a:latin typeface="Avenir"/>
              </a:rPr>
              <a:t>Updates, by default, update only the first document found that matches the criteria</a:t>
            </a:r>
          </a:p>
          <a:p>
            <a:pPr marL="285750" indent="-285750">
              <a:spcBef>
                <a:spcPts val="963"/>
              </a:spcBef>
              <a:buFont typeface="Arial" panose="020B0604020202020204" pitchFamily="34" charset="0"/>
              <a:buChar char="•"/>
            </a:pPr>
            <a:r>
              <a:rPr lang="en-IN" sz="2400" dirty="0">
                <a:solidFill>
                  <a:schemeClr val="dk1"/>
                </a:solidFill>
                <a:latin typeface="Avenir"/>
              </a:rPr>
              <a:t>To modify all of the documents matching the criteria, we need to pass true as the fourth parameter to update.</a:t>
            </a: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db.users.update</a:t>
            </a:r>
            <a:r>
              <a:rPr lang="en-IN" sz="2400" dirty="0">
                <a:solidFill>
                  <a:schemeClr val="dk1"/>
                </a:solidFill>
                <a:latin typeface="Avenir"/>
              </a:rPr>
              <a:t>({item: "10/22/1978"},{$set : {gift : "Happy Birthday!"}}, false, true)</a:t>
            </a:r>
          </a:p>
        </p:txBody>
      </p:sp>
      <p:pic>
        <p:nvPicPr>
          <p:cNvPr id="10" name="Graphic 1">
            <a:extLst>
              <a:ext uri="{FF2B5EF4-FFF2-40B4-BE49-F238E27FC236}">
                <a16:creationId xmlns:a16="http://schemas.microsoft.com/office/drawing/2014/main" id="{95FD46ED-CA71-4A91-8A79-6F90EE3BAA92}"/>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29348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Remove Operation</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1" name="TextBox 10">
            <a:extLst>
              <a:ext uri="{FF2B5EF4-FFF2-40B4-BE49-F238E27FC236}">
                <a16:creationId xmlns:a16="http://schemas.microsoft.com/office/drawing/2014/main" id="{AFAAEE20-E5CC-49AF-9D17-5FB83517CF56}"/>
              </a:ext>
            </a:extLst>
          </p:cNvPr>
          <p:cNvSpPr txBox="1"/>
          <p:nvPr/>
        </p:nvSpPr>
        <p:spPr>
          <a:xfrm>
            <a:off x="834800" y="1031215"/>
            <a:ext cx="10116000" cy="5180905"/>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err="1">
                <a:solidFill>
                  <a:schemeClr val="dk1"/>
                </a:solidFill>
                <a:latin typeface="Avenir"/>
              </a:rPr>
              <a:t>db.courses.remove</a:t>
            </a:r>
            <a:r>
              <a:rPr lang="en-IN" sz="2400" dirty="0">
                <a:solidFill>
                  <a:schemeClr val="dk1"/>
                </a:solidFill>
                <a:latin typeface="Avenir"/>
              </a:rPr>
              <a:t>() removes all the documents from the collection</a:t>
            </a:r>
          </a:p>
          <a:p>
            <a:pPr marL="285750" indent="-285750">
              <a:spcBef>
                <a:spcPts val="963"/>
              </a:spcBef>
              <a:buFont typeface="Arial" panose="020B0604020202020204" pitchFamily="34" charset="0"/>
              <a:buChar char="•"/>
            </a:pPr>
            <a:r>
              <a:rPr lang="en-IN" sz="2400" dirty="0">
                <a:solidFill>
                  <a:schemeClr val="dk1"/>
                </a:solidFill>
                <a:latin typeface="Avenir"/>
              </a:rPr>
              <a:t>This doesn’t remove the collection and any indexes created on it.</a:t>
            </a:r>
          </a:p>
          <a:p>
            <a:pPr marL="285750" indent="-285750">
              <a:spcBef>
                <a:spcPts val="963"/>
              </a:spcBef>
              <a:buFont typeface="Arial" panose="020B0604020202020204" pitchFamily="34" charset="0"/>
              <a:buChar char="•"/>
            </a:pPr>
            <a:r>
              <a:rPr lang="en-IN" sz="2400" dirty="0">
                <a:solidFill>
                  <a:schemeClr val="dk1"/>
                </a:solidFill>
                <a:latin typeface="Avenir"/>
              </a:rPr>
              <a:t>The remove function optionally takes a query document as a parameter </a:t>
            </a: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db.items.remove</a:t>
            </a:r>
            <a:r>
              <a:rPr lang="en-IN" sz="2400" dirty="0">
                <a:solidFill>
                  <a:schemeClr val="dk1"/>
                </a:solidFill>
                <a:latin typeface="Avenir"/>
              </a:rPr>
              <a:t>({“item" : “Bag”)</a:t>
            </a:r>
          </a:p>
          <a:p>
            <a:pPr marL="285750" indent="-285750">
              <a:spcBef>
                <a:spcPts val="963"/>
              </a:spcBef>
              <a:buFont typeface="Arial" panose="020B0604020202020204" pitchFamily="34" charset="0"/>
              <a:buChar char="•"/>
            </a:pPr>
            <a:r>
              <a:rPr lang="en-IN" sz="2400" dirty="0">
                <a:solidFill>
                  <a:schemeClr val="dk1"/>
                </a:solidFill>
                <a:latin typeface="Avenir"/>
              </a:rPr>
              <a:t>By default, </a:t>
            </a:r>
            <a:r>
              <a:rPr lang="en-IN" sz="2400" dirty="0" err="1">
                <a:solidFill>
                  <a:schemeClr val="dk1"/>
                </a:solidFill>
                <a:latin typeface="Avenir"/>
              </a:rPr>
              <a:t>db.collection.remove</a:t>
            </a:r>
            <a:r>
              <a:rPr lang="en-IN" sz="2400" dirty="0">
                <a:solidFill>
                  <a:schemeClr val="dk1"/>
                </a:solidFill>
                <a:latin typeface="Avenir"/>
              </a:rPr>
              <a:t>() method removes all documents that match its query</a:t>
            </a:r>
          </a:p>
          <a:p>
            <a:pPr marL="285750" indent="-285750">
              <a:spcBef>
                <a:spcPts val="963"/>
              </a:spcBef>
              <a:buFont typeface="Arial" panose="020B0604020202020204" pitchFamily="34" charset="0"/>
              <a:buChar char="•"/>
            </a:pPr>
            <a:r>
              <a:rPr lang="en-IN" sz="2400" dirty="0">
                <a:solidFill>
                  <a:schemeClr val="dk1"/>
                </a:solidFill>
                <a:latin typeface="Avenir"/>
              </a:rPr>
              <a:t>However, the method can accept a flag to limit the delete operation to a single document</a:t>
            </a:r>
          </a:p>
          <a:p>
            <a:pPr marL="285750" indent="-28575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db.items.remove</a:t>
            </a:r>
            <a:r>
              <a:rPr lang="en-IN" sz="2400" dirty="0">
                <a:solidFill>
                  <a:schemeClr val="dk1"/>
                </a:solidFill>
                <a:latin typeface="Avenir"/>
              </a:rPr>
              <a:t>({" item" : “Bag},1)			</a:t>
            </a:r>
          </a:p>
          <a:p>
            <a:pPr marL="285750" indent="-285750">
              <a:spcBef>
                <a:spcPts val="963"/>
              </a:spcBef>
              <a:buFont typeface="Arial" panose="020B0604020202020204" pitchFamily="34" charset="0"/>
              <a:buChar char="•"/>
            </a:pPr>
            <a:r>
              <a:rPr lang="en-IN" sz="2400" dirty="0" err="1">
                <a:solidFill>
                  <a:schemeClr val="dk1"/>
                </a:solidFill>
                <a:latin typeface="Avenir"/>
              </a:rPr>
              <a:t>db.courses.drop</a:t>
            </a:r>
            <a:r>
              <a:rPr lang="en-IN" sz="2400" dirty="0">
                <a:solidFill>
                  <a:schemeClr val="dk1"/>
                </a:solidFill>
                <a:latin typeface="Avenir"/>
              </a:rPr>
              <a:t>() will drop  whole collection and indexes created on it.</a:t>
            </a:r>
          </a:p>
          <a:p>
            <a:pPr marL="285750" indent="-285750">
              <a:spcBef>
                <a:spcPts val="963"/>
              </a:spcBef>
              <a:buFont typeface="Arial" panose="020B0604020202020204" pitchFamily="34" charset="0"/>
              <a:buChar char="•"/>
            </a:pPr>
            <a:endParaRPr lang="en-IN" sz="2400" dirty="0">
              <a:solidFill>
                <a:schemeClr val="dk1"/>
              </a:solidFill>
              <a:latin typeface="Avenir"/>
            </a:endParaRPr>
          </a:p>
        </p:txBody>
      </p:sp>
      <p:pic>
        <p:nvPicPr>
          <p:cNvPr id="10" name="Graphic 1">
            <a:extLst>
              <a:ext uri="{FF2B5EF4-FFF2-40B4-BE49-F238E27FC236}">
                <a16:creationId xmlns:a16="http://schemas.microsoft.com/office/drawing/2014/main" id="{C48D5EF2-387A-4AA8-96C8-5B668FA700BA}"/>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715160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Schema Design</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48622"/>
            <a:ext cx="9934800" cy="5073184"/>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By-default, MongoDB’s  do not enforce any kind of structure on the  documents of the collection</a:t>
            </a:r>
          </a:p>
          <a:p>
            <a:pPr marL="285750" indent="-285750">
              <a:spcBef>
                <a:spcPts val="963"/>
              </a:spcBef>
              <a:buFont typeface="Arial" panose="020B0604020202020204" pitchFamily="34" charset="0"/>
              <a:buChar char="•"/>
            </a:pPr>
            <a:r>
              <a:rPr lang="en-IN" sz="2400" dirty="0">
                <a:solidFill>
                  <a:schemeClr val="dk1"/>
                </a:solidFill>
                <a:latin typeface="Avenir"/>
              </a:rPr>
              <a:t>This flexibility helps the mapping of documents to an entity or an object.</a:t>
            </a:r>
          </a:p>
          <a:p>
            <a:pPr marL="285750" indent="-285750">
              <a:spcBef>
                <a:spcPts val="963"/>
              </a:spcBef>
              <a:buFont typeface="Arial" panose="020B0604020202020204" pitchFamily="34" charset="0"/>
              <a:buChar char="•"/>
            </a:pPr>
            <a:r>
              <a:rPr lang="en-IN" sz="2400" dirty="0">
                <a:solidFill>
                  <a:schemeClr val="dk1"/>
                </a:solidFill>
                <a:latin typeface="Avenir"/>
              </a:rPr>
              <a:t>Different document in the collection can have different keys and types</a:t>
            </a:r>
          </a:p>
          <a:p>
            <a:pPr marL="285750" indent="-285750">
              <a:spcBef>
                <a:spcPts val="963"/>
              </a:spcBef>
              <a:buFont typeface="Arial" panose="020B0604020202020204" pitchFamily="34" charset="0"/>
              <a:buChar char="•"/>
            </a:pPr>
            <a:r>
              <a:rPr lang="en-IN" sz="2400" dirty="0">
                <a:solidFill>
                  <a:schemeClr val="dk1"/>
                </a:solidFill>
                <a:latin typeface="Avenir"/>
              </a:rPr>
              <a:t>In general, however, the documents in a collection share  a similar structure.</a:t>
            </a:r>
          </a:p>
          <a:p>
            <a:pPr marL="285750" indent="-285750">
              <a:spcBef>
                <a:spcPts val="963"/>
              </a:spcBef>
              <a:buFont typeface="Arial" panose="020B0604020202020204" pitchFamily="34" charset="0"/>
              <a:buChar char="•"/>
            </a:pPr>
            <a:r>
              <a:rPr lang="en-IN" sz="2400" dirty="0">
                <a:solidFill>
                  <a:schemeClr val="dk1"/>
                </a:solidFill>
                <a:latin typeface="Avenir"/>
              </a:rPr>
              <a:t>We should data  balance the needs of the application, the performance characteristics of the database engine, and the data retrieval patterns while doing data modelling.</a:t>
            </a:r>
          </a:p>
          <a:p>
            <a:pPr marL="285750" indent="-285750">
              <a:spcBef>
                <a:spcPts val="963"/>
              </a:spcBef>
              <a:buFont typeface="Arial" panose="020B0604020202020204" pitchFamily="34" charset="0"/>
              <a:buChar char="•"/>
            </a:pPr>
            <a:r>
              <a:rPr lang="en-IN" sz="2400" dirty="0">
                <a:solidFill>
                  <a:schemeClr val="dk1"/>
                </a:solidFill>
                <a:latin typeface="Avenir"/>
              </a:rPr>
              <a:t>The application usage pattern of the data (i.e. queries, updates, and processing of the data) as well as the inherent structure of the data itself matters most in designing data model.</a:t>
            </a:r>
          </a:p>
          <a:p>
            <a:endParaRPr lang="en-IN" dirty="0"/>
          </a:p>
        </p:txBody>
      </p:sp>
      <p:pic>
        <p:nvPicPr>
          <p:cNvPr id="10" name="Graphic 1">
            <a:extLst>
              <a:ext uri="{FF2B5EF4-FFF2-40B4-BE49-F238E27FC236}">
                <a16:creationId xmlns:a16="http://schemas.microsoft.com/office/drawing/2014/main" id="{7465027D-F2CF-47CE-8CBA-6510246C37E4}"/>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972168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Reference data model</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800" y="1048622"/>
            <a:ext cx="9934800" cy="3970318"/>
          </a:xfrm>
          <a:prstGeom prst="rect">
            <a:avLst/>
          </a:prstGeom>
        </p:spPr>
        <p:txBody>
          <a:bodyPr wrap="square">
            <a:spAutoFit/>
          </a:bodyPr>
          <a:lstStyle/>
          <a:p>
            <a:pPr marL="285750" indent="-285750">
              <a:buFont typeface="Wingdings" panose="05000000000000000000" pitchFamily="2" charset="2"/>
              <a:buChar char="Ø"/>
            </a:pPr>
            <a:r>
              <a:rPr lang="en-IN" dirty="0"/>
              <a:t>The key decision in designing data models for MongoDB applications revolves around the structure of documents and how the application represents relationships between data</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There are two tools that allow applications to represent these relationships: references and embedded documents.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References: References store the relationships between data by including links or references from one document to another.</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 Applications can resolve these </a:t>
            </a:r>
            <a:r>
              <a:rPr lang="en-IN" dirty="0">
                <a:hlinkClick r:id="rId3"/>
              </a:rPr>
              <a:t>references</a:t>
            </a:r>
            <a:r>
              <a:rPr lang="en-IN" dirty="0"/>
              <a:t> to access the related data. Broadly, these are normalized data models.</a:t>
            </a:r>
          </a:p>
          <a:p>
            <a:endParaRPr lang="en-IN" dirty="0"/>
          </a:p>
        </p:txBody>
      </p:sp>
      <p:pic>
        <p:nvPicPr>
          <p:cNvPr id="10" name="Graphic 1">
            <a:extLst>
              <a:ext uri="{FF2B5EF4-FFF2-40B4-BE49-F238E27FC236}">
                <a16:creationId xmlns:a16="http://schemas.microsoft.com/office/drawing/2014/main" id="{2287D8B0-A6DC-444C-8F60-33FE00EE5BBA}"/>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4211627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Reference data model example</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Rectangle 9">
            <a:extLst>
              <a:ext uri="{FF2B5EF4-FFF2-40B4-BE49-F238E27FC236}">
                <a16:creationId xmlns:a16="http://schemas.microsoft.com/office/drawing/2014/main" id="{69681B6F-030A-4F99-BFF1-8E67F6768AD4}"/>
              </a:ext>
            </a:extLst>
          </p:cNvPr>
          <p:cNvSpPr/>
          <p:nvPr/>
        </p:nvSpPr>
        <p:spPr>
          <a:xfrm>
            <a:off x="3805085" y="1461789"/>
            <a:ext cx="3581400" cy="15520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t>
            </a:r>
          </a:p>
          <a:p>
            <a:r>
              <a:rPr lang="en-IN" dirty="0"/>
              <a:t>	 _id: “12”,</a:t>
            </a:r>
          </a:p>
          <a:p>
            <a:pPr algn="ctr"/>
            <a:r>
              <a:rPr lang="en-IN" dirty="0"/>
              <a:t>Name:  “Apple”,</a:t>
            </a:r>
          </a:p>
          <a:p>
            <a:r>
              <a:rPr lang="en-IN" dirty="0"/>
              <a:t>	“Camera type”:   13MP</a:t>
            </a:r>
          </a:p>
          <a:p>
            <a:pPr algn="ctr"/>
            <a:endParaRPr lang="en-IN" dirty="0"/>
          </a:p>
          <a:p>
            <a:r>
              <a:rPr lang="en-IN" dirty="0"/>
              <a:t>}</a:t>
            </a:r>
          </a:p>
        </p:txBody>
      </p:sp>
      <p:sp>
        <p:nvSpPr>
          <p:cNvPr id="11" name="Rectangle 10">
            <a:extLst>
              <a:ext uri="{FF2B5EF4-FFF2-40B4-BE49-F238E27FC236}">
                <a16:creationId xmlns:a16="http://schemas.microsoft.com/office/drawing/2014/main" id="{27C34C6C-2CF4-4046-AE07-DA166D8E1C3C}"/>
              </a:ext>
            </a:extLst>
          </p:cNvPr>
          <p:cNvSpPr/>
          <p:nvPr/>
        </p:nvSpPr>
        <p:spPr>
          <a:xfrm>
            <a:off x="3975618" y="3884784"/>
            <a:ext cx="3200400" cy="1502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 </a:t>
            </a:r>
          </a:p>
          <a:p>
            <a:r>
              <a:rPr lang="en-IN" dirty="0"/>
              <a:t>	_id: “13”,</a:t>
            </a:r>
          </a:p>
          <a:p>
            <a:r>
              <a:rPr lang="en-IN" dirty="0"/>
              <a:t>	Name: “</a:t>
            </a:r>
            <a:r>
              <a:rPr lang="en-IN" dirty="0" err="1"/>
              <a:t>SamSung</a:t>
            </a:r>
            <a:r>
              <a:rPr lang="en-IN" dirty="0"/>
              <a:t>”,</a:t>
            </a:r>
          </a:p>
          <a:p>
            <a:r>
              <a:rPr lang="en-IN" dirty="0"/>
              <a:t>	“Bluetooth”:  “Yes”;</a:t>
            </a:r>
          </a:p>
          <a:p>
            <a:pPr algn="ctr"/>
            <a:endParaRPr lang="en-IN" dirty="0"/>
          </a:p>
          <a:p>
            <a:r>
              <a:rPr lang="en-IN" dirty="0"/>
              <a:t>}</a:t>
            </a:r>
          </a:p>
        </p:txBody>
      </p:sp>
      <p:sp>
        <p:nvSpPr>
          <p:cNvPr id="12" name="Rounded Rectangle 10">
            <a:extLst>
              <a:ext uri="{FF2B5EF4-FFF2-40B4-BE49-F238E27FC236}">
                <a16:creationId xmlns:a16="http://schemas.microsoft.com/office/drawing/2014/main" id="{264986E9-EC39-4F9F-A95B-DF9C30B2CCEF}"/>
              </a:ext>
            </a:extLst>
          </p:cNvPr>
          <p:cNvSpPr/>
          <p:nvPr/>
        </p:nvSpPr>
        <p:spPr>
          <a:xfrm>
            <a:off x="508164" y="4430854"/>
            <a:ext cx="2008003" cy="9144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err="1"/>
              <a:t>MobilePhones</a:t>
            </a:r>
            <a:endParaRPr lang="en-IN" dirty="0"/>
          </a:p>
        </p:txBody>
      </p:sp>
      <p:sp>
        <p:nvSpPr>
          <p:cNvPr id="13" name="Rectangle 12">
            <a:extLst>
              <a:ext uri="{FF2B5EF4-FFF2-40B4-BE49-F238E27FC236}">
                <a16:creationId xmlns:a16="http://schemas.microsoft.com/office/drawing/2014/main" id="{48B02665-7067-424A-9D98-54548BD97867}"/>
              </a:ext>
            </a:extLst>
          </p:cNvPr>
          <p:cNvSpPr/>
          <p:nvPr/>
        </p:nvSpPr>
        <p:spPr>
          <a:xfrm>
            <a:off x="508164" y="2711670"/>
            <a:ext cx="2590800" cy="15870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           _id:  &lt;ObjectId1&gt;,</a:t>
            </a:r>
          </a:p>
          <a:p>
            <a:r>
              <a:rPr lang="en-IN" dirty="0" err="1"/>
              <a:t>Phone_ids</a:t>
            </a:r>
            <a:r>
              <a:rPr lang="en-IN" dirty="0"/>
              <a:t>: [“12”,”13”],</a:t>
            </a:r>
          </a:p>
          <a:p>
            <a:endParaRPr lang="en-IN" dirty="0"/>
          </a:p>
          <a:p>
            <a:pPr algn="ctr"/>
            <a:endParaRPr lang="en-IN" dirty="0"/>
          </a:p>
          <a:p>
            <a:r>
              <a:rPr lang="en-IN" dirty="0"/>
              <a:t>}</a:t>
            </a:r>
          </a:p>
          <a:p>
            <a:pPr algn="ctr"/>
            <a:endParaRPr lang="en-IN" dirty="0"/>
          </a:p>
        </p:txBody>
      </p:sp>
      <p:cxnSp>
        <p:nvCxnSpPr>
          <p:cNvPr id="14" name="Straight Arrow Connector 13">
            <a:extLst>
              <a:ext uri="{FF2B5EF4-FFF2-40B4-BE49-F238E27FC236}">
                <a16:creationId xmlns:a16="http://schemas.microsoft.com/office/drawing/2014/main" id="{FA90EEBF-DF8E-4FCE-B718-553E8250DDA2}"/>
              </a:ext>
            </a:extLst>
          </p:cNvPr>
          <p:cNvCxnSpPr>
            <a:cxnSpLocks/>
          </p:cNvCxnSpPr>
          <p:nvPr/>
        </p:nvCxnSpPr>
        <p:spPr>
          <a:xfrm flipV="1">
            <a:off x="3098964" y="2297824"/>
            <a:ext cx="706121" cy="1028322"/>
          </a:xfrm>
          <a:prstGeom prst="straightConnector1">
            <a:avLst/>
          </a:prstGeom>
          <a:ln>
            <a:headEnd type="arrow"/>
            <a:tailEnd type="arrow"/>
          </a:ln>
        </p:spPr>
        <p:style>
          <a:lnRef idx="1">
            <a:schemeClr val="accent4"/>
          </a:lnRef>
          <a:fillRef idx="0">
            <a:schemeClr val="accent4"/>
          </a:fillRef>
          <a:effectRef idx="0">
            <a:schemeClr val="accent4"/>
          </a:effectRef>
          <a:fontRef idx="minor">
            <a:schemeClr val="tx1"/>
          </a:fontRef>
        </p:style>
      </p:cxnSp>
      <p:cxnSp>
        <p:nvCxnSpPr>
          <p:cNvPr id="15" name="Straight Arrow Connector 14">
            <a:extLst>
              <a:ext uri="{FF2B5EF4-FFF2-40B4-BE49-F238E27FC236}">
                <a16:creationId xmlns:a16="http://schemas.microsoft.com/office/drawing/2014/main" id="{98C554B5-60D2-42A7-89AD-8CEE0DDD709F}"/>
              </a:ext>
            </a:extLst>
          </p:cNvPr>
          <p:cNvCxnSpPr/>
          <p:nvPr/>
        </p:nvCxnSpPr>
        <p:spPr>
          <a:xfrm>
            <a:off x="2836757" y="4035095"/>
            <a:ext cx="1139606" cy="1015564"/>
          </a:xfrm>
          <a:prstGeom prst="straightConnector1">
            <a:avLst/>
          </a:prstGeom>
          <a:ln>
            <a:headEnd type="arrow"/>
            <a:tailEnd type="arrow"/>
          </a:ln>
        </p:spPr>
        <p:style>
          <a:lnRef idx="1">
            <a:schemeClr val="accent4"/>
          </a:lnRef>
          <a:fillRef idx="0">
            <a:schemeClr val="accent4"/>
          </a:fillRef>
          <a:effectRef idx="0">
            <a:schemeClr val="accent4"/>
          </a:effectRef>
          <a:fontRef idx="minor">
            <a:schemeClr val="tx1"/>
          </a:fontRef>
        </p:style>
      </p:cxnSp>
      <p:sp>
        <p:nvSpPr>
          <p:cNvPr id="16" name="Rounded Rectangle 15">
            <a:extLst>
              <a:ext uri="{FF2B5EF4-FFF2-40B4-BE49-F238E27FC236}">
                <a16:creationId xmlns:a16="http://schemas.microsoft.com/office/drawing/2014/main" id="{C08A6273-67CE-47E7-A0F0-37BCBE81982B}"/>
              </a:ext>
            </a:extLst>
          </p:cNvPr>
          <p:cNvSpPr/>
          <p:nvPr/>
        </p:nvSpPr>
        <p:spPr>
          <a:xfrm>
            <a:off x="7492836" y="2073319"/>
            <a:ext cx="1627003" cy="9144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SMART</a:t>
            </a:r>
          </a:p>
        </p:txBody>
      </p:sp>
      <p:sp>
        <p:nvSpPr>
          <p:cNvPr id="17" name="Rounded Rectangle 17">
            <a:extLst>
              <a:ext uri="{FF2B5EF4-FFF2-40B4-BE49-F238E27FC236}">
                <a16:creationId xmlns:a16="http://schemas.microsoft.com/office/drawing/2014/main" id="{0FAF21DC-6C6B-4920-9099-A788874780E4}"/>
              </a:ext>
            </a:extLst>
          </p:cNvPr>
          <p:cNvSpPr/>
          <p:nvPr/>
        </p:nvSpPr>
        <p:spPr>
          <a:xfrm>
            <a:off x="7496608" y="4179074"/>
            <a:ext cx="1266392"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Basic</a:t>
            </a:r>
          </a:p>
        </p:txBody>
      </p:sp>
      <p:pic>
        <p:nvPicPr>
          <p:cNvPr id="18" name="Graphic 1">
            <a:extLst>
              <a:ext uri="{FF2B5EF4-FFF2-40B4-BE49-F238E27FC236}">
                <a16:creationId xmlns:a16="http://schemas.microsoft.com/office/drawing/2014/main" id="{B455D744-5A6E-4F8C-804C-D8C5C9972332}"/>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6434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Embedded data model</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799" y="1048624"/>
            <a:ext cx="10860671" cy="6181179"/>
          </a:xfrm>
          <a:prstGeom prst="rect">
            <a:avLst/>
          </a:prstGeom>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Embedded documents capture relationships between data by storing related data in a single document structure.</a:t>
            </a:r>
          </a:p>
          <a:p>
            <a:pPr marL="285750" indent="-285750">
              <a:spcBef>
                <a:spcPts val="963"/>
              </a:spcBef>
              <a:buFont typeface="Arial" panose="020B0604020202020204" pitchFamily="34" charset="0"/>
              <a:buChar char="•"/>
            </a:pPr>
            <a:r>
              <a:rPr lang="en-IN" sz="2400" dirty="0">
                <a:solidFill>
                  <a:schemeClr val="dk1"/>
                </a:solidFill>
                <a:latin typeface="Avenir"/>
              </a:rPr>
              <a:t>MongoDB documents make it possible to embed document structures in a field or array within a document</a:t>
            </a:r>
          </a:p>
          <a:p>
            <a:pPr marL="285750" indent="-285750">
              <a:spcBef>
                <a:spcPts val="963"/>
              </a:spcBef>
              <a:buFont typeface="Arial" panose="020B0604020202020204" pitchFamily="34" charset="0"/>
              <a:buChar char="•"/>
            </a:pPr>
            <a:r>
              <a:rPr lang="en-IN" sz="2400" dirty="0">
                <a:solidFill>
                  <a:schemeClr val="dk1"/>
                </a:solidFill>
                <a:latin typeface="Avenir"/>
              </a:rPr>
              <a:t>Grouping documents of the same kind together in the same collection allows for data locality</a:t>
            </a:r>
          </a:p>
          <a:p>
            <a:pPr marL="285750" indent="-285750">
              <a:spcBef>
                <a:spcPts val="963"/>
              </a:spcBef>
              <a:buFont typeface="Arial" panose="020B0604020202020204" pitchFamily="34" charset="0"/>
              <a:buChar char="•"/>
            </a:pPr>
            <a:r>
              <a:rPr lang="en-IN" sz="2400" dirty="0">
                <a:solidFill>
                  <a:schemeClr val="dk1"/>
                </a:solidFill>
                <a:latin typeface="Avenir"/>
              </a:rPr>
              <a:t>In general, use embedded data models when one-to-one, one-to-many relationships between entities. In these relationships the “many” or child documents always appear with or are viewed in the context of the “one” or parent documents</a:t>
            </a:r>
          </a:p>
          <a:p>
            <a:pPr marL="285750" indent="-285750">
              <a:spcBef>
                <a:spcPts val="963"/>
              </a:spcBef>
              <a:buFont typeface="Arial" panose="020B0604020202020204" pitchFamily="34" charset="0"/>
              <a:buChar char="•"/>
            </a:pPr>
            <a:r>
              <a:rPr lang="en-IN" sz="2400" dirty="0">
                <a:solidFill>
                  <a:schemeClr val="dk1"/>
                </a:solidFill>
                <a:latin typeface="Avenir"/>
              </a:rPr>
              <a:t>In general, embedding provides better performance for read operations, as well as the ability to request and retrieve related data in a single database operation.</a:t>
            </a:r>
          </a:p>
          <a:p>
            <a:pPr marL="285750" indent="-285750">
              <a:spcBef>
                <a:spcPts val="963"/>
              </a:spcBef>
              <a:buFont typeface="Arial" panose="020B0604020202020204" pitchFamily="34" charset="0"/>
              <a:buChar char="•"/>
            </a:pPr>
            <a:r>
              <a:rPr lang="en-IN" sz="2400" dirty="0">
                <a:solidFill>
                  <a:schemeClr val="dk1"/>
                </a:solidFill>
                <a:latin typeface="Avenir"/>
              </a:rPr>
              <a:t>Embedded data models make it possible to update related data in a single atomic write operation</a:t>
            </a:r>
          </a:p>
          <a:p>
            <a:endParaRPr lang="en-IN" dirty="0"/>
          </a:p>
        </p:txBody>
      </p:sp>
      <p:pic>
        <p:nvPicPr>
          <p:cNvPr id="10" name="Graphic 1">
            <a:extLst>
              <a:ext uri="{FF2B5EF4-FFF2-40B4-BE49-F238E27FC236}">
                <a16:creationId xmlns:a16="http://schemas.microsoft.com/office/drawing/2014/main" id="{3B0ADD3A-041E-44A7-9ED2-50B3A3E6D12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7957327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Embedded data model</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8" name="Rectangle 7">
            <a:extLst>
              <a:ext uri="{FF2B5EF4-FFF2-40B4-BE49-F238E27FC236}">
                <a16:creationId xmlns:a16="http://schemas.microsoft.com/office/drawing/2014/main" id="{707D2F66-9A79-488B-9AD7-7D31036F3363}"/>
              </a:ext>
            </a:extLst>
          </p:cNvPr>
          <p:cNvSpPr/>
          <p:nvPr/>
        </p:nvSpPr>
        <p:spPr>
          <a:xfrm>
            <a:off x="834799" y="1048624"/>
            <a:ext cx="10860671" cy="5909310"/>
          </a:xfrm>
          <a:prstGeom prst="rect">
            <a:avLst/>
          </a:prstGeom>
        </p:spPr>
        <p:txBody>
          <a:bodyPr wrap="square">
            <a:spAutoFit/>
          </a:bodyPr>
          <a:lstStyle/>
          <a:p>
            <a:r>
              <a:rPr lang="en-IN" sz="2400" dirty="0">
                <a:solidFill>
                  <a:schemeClr val="dk1"/>
                </a:solidFill>
                <a:latin typeface="Avenir"/>
              </a:rPr>
              <a:t>{</a:t>
            </a:r>
          </a:p>
          <a:p>
            <a:r>
              <a:rPr lang="en-IN" sz="2400" dirty="0">
                <a:solidFill>
                  <a:schemeClr val="dk1"/>
                </a:solidFill>
                <a:latin typeface="Avenir"/>
              </a:rPr>
              <a:t>	 </a:t>
            </a:r>
            <a:r>
              <a:rPr lang="en-IN" sz="2400" dirty="0" err="1">
                <a:solidFill>
                  <a:schemeClr val="dk1"/>
                </a:solidFill>
                <a:latin typeface="Avenir"/>
              </a:rPr>
              <a:t>productdetail</a:t>
            </a:r>
            <a:r>
              <a:rPr lang="en-IN" sz="2400" dirty="0">
                <a:solidFill>
                  <a:schemeClr val="dk1"/>
                </a:solidFill>
                <a:latin typeface="Avenir"/>
              </a:rPr>
              <a:t>: [</a:t>
            </a:r>
          </a:p>
          <a:p>
            <a:r>
              <a:rPr lang="en-IN" sz="2400" dirty="0">
                <a:solidFill>
                  <a:schemeClr val="dk1"/>
                </a:solidFill>
                <a:latin typeface="Avenir"/>
              </a:rPr>
              <a:t>	{</a:t>
            </a:r>
          </a:p>
          <a:p>
            <a:r>
              <a:rPr lang="en-IN" sz="2400" dirty="0">
                <a:solidFill>
                  <a:schemeClr val="dk1"/>
                </a:solidFill>
                <a:latin typeface="Avenir"/>
              </a:rPr>
              <a:t>		_id: 12,</a:t>
            </a:r>
          </a:p>
          <a:p>
            <a:r>
              <a:rPr lang="en-IN" sz="2400" dirty="0">
                <a:solidFill>
                  <a:schemeClr val="dk1"/>
                </a:solidFill>
                <a:latin typeface="Avenir"/>
              </a:rPr>
              <a:t>		Name:  “Apple”,</a:t>
            </a:r>
          </a:p>
          <a:p>
            <a:r>
              <a:rPr lang="en-IN" sz="2400" dirty="0">
                <a:solidFill>
                  <a:schemeClr val="dk1"/>
                </a:solidFill>
                <a:latin typeface="Avenir"/>
              </a:rPr>
              <a:t>		Price: “45,000”</a:t>
            </a:r>
          </a:p>
          <a:p>
            <a:endParaRPr lang="en-IN" sz="2400" dirty="0">
              <a:solidFill>
                <a:schemeClr val="dk1"/>
              </a:solidFill>
              <a:latin typeface="Avenir"/>
            </a:endParaRPr>
          </a:p>
          <a:p>
            <a:r>
              <a:rPr lang="en-IN" sz="2400" dirty="0">
                <a:solidFill>
                  <a:schemeClr val="dk1"/>
                </a:solidFill>
                <a:latin typeface="Avenir"/>
              </a:rPr>
              <a:t>	},</a:t>
            </a:r>
          </a:p>
          <a:p>
            <a:r>
              <a:rPr lang="en-IN" sz="2400" dirty="0">
                <a:solidFill>
                  <a:schemeClr val="dk1"/>
                </a:solidFill>
                <a:latin typeface="Avenir"/>
              </a:rPr>
              <a:t>	 {</a:t>
            </a:r>
          </a:p>
          <a:p>
            <a:r>
              <a:rPr lang="en-IN" sz="2400" dirty="0">
                <a:solidFill>
                  <a:schemeClr val="dk1"/>
                </a:solidFill>
                <a:latin typeface="Avenir"/>
              </a:rPr>
              <a:t>		_id: 13,</a:t>
            </a:r>
          </a:p>
          <a:p>
            <a:r>
              <a:rPr lang="en-IN" sz="2400" dirty="0">
                <a:solidFill>
                  <a:schemeClr val="dk1"/>
                </a:solidFill>
                <a:latin typeface="Avenir"/>
              </a:rPr>
              <a:t>		Name: “</a:t>
            </a:r>
            <a:r>
              <a:rPr lang="en-IN" sz="2400" dirty="0" err="1">
                <a:solidFill>
                  <a:schemeClr val="dk1"/>
                </a:solidFill>
                <a:latin typeface="Avenir"/>
              </a:rPr>
              <a:t>SamSung</a:t>
            </a:r>
            <a:r>
              <a:rPr lang="en-IN" sz="2400" dirty="0">
                <a:solidFill>
                  <a:schemeClr val="dk1"/>
                </a:solidFill>
                <a:latin typeface="Avenir"/>
              </a:rPr>
              <a:t>”,</a:t>
            </a:r>
          </a:p>
          <a:p>
            <a:r>
              <a:rPr lang="en-IN" sz="2400" dirty="0">
                <a:solidFill>
                  <a:schemeClr val="dk1"/>
                </a:solidFill>
                <a:latin typeface="Avenir"/>
              </a:rPr>
              <a:t>		Price: “40,000”</a:t>
            </a:r>
          </a:p>
          <a:p>
            <a:r>
              <a:rPr lang="en-IN" sz="2400" dirty="0">
                <a:solidFill>
                  <a:schemeClr val="dk1"/>
                </a:solidFill>
                <a:latin typeface="Avenir"/>
              </a:rPr>
              <a:t>	}</a:t>
            </a:r>
          </a:p>
          <a:p>
            <a:r>
              <a:rPr lang="en-IN" sz="2400" dirty="0">
                <a:solidFill>
                  <a:schemeClr val="dk1"/>
                </a:solidFill>
                <a:latin typeface="Avenir"/>
              </a:rPr>
              <a:t>] 	</a:t>
            </a:r>
          </a:p>
          <a:p>
            <a:r>
              <a:rPr lang="en-IN" sz="2400" dirty="0">
                <a:solidFill>
                  <a:schemeClr val="dk1"/>
                </a:solidFill>
                <a:latin typeface="Avenir"/>
              </a:rPr>
              <a:t>}</a:t>
            </a:r>
          </a:p>
          <a:p>
            <a:endParaRPr lang="en-IN" dirty="0"/>
          </a:p>
        </p:txBody>
      </p:sp>
      <p:pic>
        <p:nvPicPr>
          <p:cNvPr id="10" name="Graphic 1">
            <a:extLst>
              <a:ext uri="{FF2B5EF4-FFF2-40B4-BE49-F238E27FC236}">
                <a16:creationId xmlns:a16="http://schemas.microsoft.com/office/drawing/2014/main" id="{8405D3AA-817D-4EA3-8DCF-F148B041150C}"/>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867480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sym typeface="Avenir"/>
              </a:rPr>
              <a:t>Data Types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TextBox 9">
            <a:extLst>
              <a:ext uri="{FF2B5EF4-FFF2-40B4-BE49-F238E27FC236}">
                <a16:creationId xmlns:a16="http://schemas.microsoft.com/office/drawing/2014/main" id="{B6727884-4073-4B1C-8A99-3797295F9429}"/>
              </a:ext>
            </a:extLst>
          </p:cNvPr>
          <p:cNvSpPr txBox="1"/>
          <p:nvPr/>
        </p:nvSpPr>
        <p:spPr>
          <a:xfrm>
            <a:off x="744201" y="928874"/>
            <a:ext cx="10115999" cy="6545382"/>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US" sz="2400" b="1" dirty="0">
                <a:solidFill>
                  <a:schemeClr val="dk1"/>
                </a:solidFill>
                <a:latin typeface="Avenir"/>
              </a:rPr>
              <a:t>Null</a:t>
            </a:r>
            <a:r>
              <a:rPr lang="en-US" sz="2400" dirty="0">
                <a:solidFill>
                  <a:schemeClr val="dk1"/>
                </a:solidFill>
                <a:latin typeface="Avenir"/>
              </a:rPr>
              <a:t> : Null can be used to represent both a null value and a nonexistent field:{"x”: null}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US" sz="2400" b="1" dirty="0">
                <a:solidFill>
                  <a:schemeClr val="dk1"/>
                </a:solidFill>
                <a:latin typeface="Avenir"/>
              </a:rPr>
              <a:t>Undefined</a:t>
            </a:r>
            <a:r>
              <a:rPr lang="en-US" sz="2400" dirty="0">
                <a:solidFill>
                  <a:schemeClr val="dk1"/>
                </a:solidFill>
                <a:latin typeface="Avenir"/>
              </a:rPr>
              <a:t> : Undefined can be used in documents as well (JavaScript has distinct types for null and undefined): </a:t>
            </a: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US" sz="2400" dirty="0">
                <a:solidFill>
                  <a:schemeClr val="dk1"/>
                </a:solidFill>
                <a:latin typeface="Avenir"/>
              </a:rPr>
              <a:t>	{"x" : undefined}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US" sz="2400" b="1" dirty="0">
                <a:solidFill>
                  <a:schemeClr val="dk1"/>
                </a:solidFill>
                <a:latin typeface="Avenir"/>
              </a:rPr>
              <a:t>Boolean</a:t>
            </a:r>
            <a:r>
              <a:rPr lang="en-US" sz="2400" dirty="0">
                <a:solidFill>
                  <a:schemeClr val="dk1"/>
                </a:solidFill>
                <a:latin typeface="Avenir"/>
              </a:rPr>
              <a:t>: There is a </a:t>
            </a:r>
            <a:r>
              <a:rPr lang="en-US" sz="2400" dirty="0" err="1">
                <a:solidFill>
                  <a:schemeClr val="dk1"/>
                </a:solidFill>
                <a:latin typeface="Avenir"/>
              </a:rPr>
              <a:t>boolean</a:t>
            </a:r>
            <a:r>
              <a:rPr lang="en-US" sz="2400" dirty="0">
                <a:solidFill>
                  <a:schemeClr val="dk1"/>
                </a:solidFill>
                <a:latin typeface="Avenir"/>
              </a:rPr>
              <a:t> type, which will be used for the values 'true' and 'false’: {"x" : true} </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US" sz="2400" dirty="0">
                <a:solidFill>
                  <a:schemeClr val="dk1"/>
                </a:solidFill>
                <a:latin typeface="Avenir"/>
              </a:rPr>
              <a:t>32-bit integer : This cannot be represented on the shell.  </a:t>
            </a:r>
            <a:endParaRPr lang="en-IN" sz="2400" b="1" dirty="0">
              <a:solidFill>
                <a:schemeClr val="dk1"/>
              </a:solidFill>
              <a:latin typeface="Avenir"/>
            </a:endParaRPr>
          </a:p>
          <a:p>
            <a:pPr marL="285750" indent="-285750">
              <a:spcBef>
                <a:spcPts val="963"/>
              </a:spcBef>
              <a:buFont typeface="Arial" panose="020B0604020202020204" pitchFamily="34" charset="0"/>
              <a:buChar char="•"/>
            </a:pPr>
            <a:r>
              <a:rPr lang="en-US" sz="2400" b="1" dirty="0">
                <a:solidFill>
                  <a:schemeClr val="dk1"/>
                </a:solidFill>
                <a:latin typeface="Avenir"/>
              </a:rPr>
              <a:t>64-bit integer : Again, the shell cannot represent these.  </a:t>
            </a:r>
          </a:p>
          <a:p>
            <a:pPr marL="285750" indent="-285750">
              <a:spcBef>
                <a:spcPts val="963"/>
              </a:spcBef>
              <a:buFont typeface="Arial" panose="020B0604020202020204" pitchFamily="34" charset="0"/>
              <a:buChar char="•"/>
            </a:pPr>
            <a:endParaRPr lang="en-IN" sz="2400" b="1" dirty="0">
              <a:solidFill>
                <a:schemeClr val="dk1"/>
              </a:solidFill>
              <a:latin typeface="Avenir"/>
            </a:endParaRPr>
          </a:p>
          <a:p>
            <a:pPr marL="285750" indent="-285750">
              <a:spcBef>
                <a:spcPts val="963"/>
              </a:spcBef>
              <a:buFont typeface="Arial" panose="020B0604020202020204" pitchFamily="34" charset="0"/>
              <a:buChar char="•"/>
            </a:pPr>
            <a:r>
              <a:rPr lang="en-US" sz="2400" b="1" dirty="0">
                <a:solidFill>
                  <a:schemeClr val="dk1"/>
                </a:solidFill>
                <a:latin typeface="Avenir"/>
              </a:rPr>
              <a:t>64-bit floating point number : All numbers in the shell will be of this type</a:t>
            </a:r>
            <a:endParaRPr lang="en-IN" sz="2400" b="1" dirty="0">
              <a:solidFill>
                <a:schemeClr val="dk1"/>
              </a:solidFill>
              <a:latin typeface="Avenir"/>
            </a:endParaRPr>
          </a:p>
        </p:txBody>
      </p:sp>
      <p:pic>
        <p:nvPicPr>
          <p:cNvPr id="11" name="Graphic 1">
            <a:extLst>
              <a:ext uri="{FF2B5EF4-FFF2-40B4-BE49-F238E27FC236}">
                <a16:creationId xmlns:a16="http://schemas.microsoft.com/office/drawing/2014/main" id="{67B0D02B-AA1E-46EE-BC31-7A98CDBC69D4}"/>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4150496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dirty="0">
                <a:solidFill>
                  <a:srgbClr val="434343"/>
                </a:solidFill>
                <a:latin typeface="Avenir"/>
                <a:ea typeface="Avenir"/>
                <a:cs typeface="Avenir"/>
                <a:sym typeface="Avenir"/>
              </a:rPr>
              <a:t>Data Types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TextBox 9">
            <a:extLst>
              <a:ext uri="{FF2B5EF4-FFF2-40B4-BE49-F238E27FC236}">
                <a16:creationId xmlns:a16="http://schemas.microsoft.com/office/drawing/2014/main" id="{B6727884-4073-4B1C-8A99-3797295F9429}"/>
              </a:ext>
            </a:extLst>
          </p:cNvPr>
          <p:cNvSpPr txBox="1"/>
          <p:nvPr/>
        </p:nvSpPr>
        <p:spPr>
          <a:xfrm>
            <a:off x="580800" y="1019400"/>
            <a:ext cx="11030399" cy="5865195"/>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US" sz="2400" b="1" dirty="0">
                <a:solidFill>
                  <a:schemeClr val="dk1"/>
                </a:solidFill>
                <a:latin typeface="Avenir"/>
              </a:rPr>
              <a:t>maximum value</a:t>
            </a:r>
            <a:r>
              <a:rPr lang="en-US" sz="2400" dirty="0">
                <a:solidFill>
                  <a:schemeClr val="dk1"/>
                </a:solidFill>
                <a:latin typeface="Avenir"/>
              </a:rPr>
              <a:t>: BSON contains a special type representing the largest possible value. </a:t>
            </a: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US" sz="2400" b="1" dirty="0">
                <a:solidFill>
                  <a:schemeClr val="dk1"/>
                </a:solidFill>
                <a:latin typeface="Avenir"/>
              </a:rPr>
              <a:t>minimum value </a:t>
            </a:r>
            <a:r>
              <a:rPr lang="en-US" sz="2400" dirty="0">
                <a:solidFill>
                  <a:schemeClr val="dk1"/>
                </a:solidFill>
                <a:latin typeface="Avenir"/>
              </a:rPr>
              <a:t>: BSON contains a special type representing the smallest possible value. </a:t>
            </a:r>
          </a:p>
          <a:p>
            <a:pPr marL="285750" indent="-285750">
              <a:spcBef>
                <a:spcPts val="963"/>
              </a:spcBef>
              <a:buFont typeface="Arial" panose="020B0604020202020204" pitchFamily="34" charset="0"/>
              <a:buChar char="•"/>
            </a:pPr>
            <a:r>
              <a:rPr lang="en-US" sz="2400" b="1" dirty="0" err="1">
                <a:solidFill>
                  <a:schemeClr val="dk1"/>
                </a:solidFill>
                <a:latin typeface="Avenir"/>
              </a:rPr>
              <a:t>ObjectId</a:t>
            </a:r>
            <a:r>
              <a:rPr lang="en-US" sz="2400" b="1" dirty="0">
                <a:solidFill>
                  <a:schemeClr val="dk1"/>
                </a:solidFill>
                <a:latin typeface="Avenir"/>
              </a:rPr>
              <a:t> </a:t>
            </a:r>
            <a:r>
              <a:rPr lang="en-US" sz="2400" dirty="0">
                <a:solidFill>
                  <a:schemeClr val="dk1"/>
                </a:solidFill>
                <a:latin typeface="Avenir"/>
              </a:rPr>
              <a:t>: These values consists of 12-bytes</a:t>
            </a:r>
          </a:p>
          <a:p>
            <a:pPr marL="285750" indent="-285750">
              <a:spcBef>
                <a:spcPts val="963"/>
              </a:spcBef>
              <a:buFont typeface="Arial" panose="020B0604020202020204" pitchFamily="34" charset="0"/>
              <a:buChar char="•"/>
            </a:pPr>
            <a:r>
              <a:rPr lang="en-US" sz="2400" b="1" dirty="0">
                <a:solidFill>
                  <a:schemeClr val="dk1"/>
                </a:solidFill>
                <a:latin typeface="Avenir"/>
              </a:rPr>
              <a:t>String</a:t>
            </a:r>
            <a:r>
              <a:rPr lang="en-US" sz="2400" dirty="0">
                <a:solidFill>
                  <a:schemeClr val="dk1"/>
                </a:solidFill>
                <a:latin typeface="Avenir"/>
              </a:rPr>
              <a:t>: BSON strings are UTF-8. </a:t>
            </a:r>
          </a:p>
          <a:p>
            <a:pPr marL="285750" indent="-285750">
              <a:spcBef>
                <a:spcPts val="963"/>
              </a:spcBef>
              <a:buFont typeface="Arial" panose="020B0604020202020204" pitchFamily="34" charset="0"/>
              <a:buChar char="•"/>
            </a:pPr>
            <a:r>
              <a:rPr lang="en-US" sz="2400" b="1" dirty="0">
                <a:solidFill>
                  <a:schemeClr val="dk1"/>
                </a:solidFill>
                <a:latin typeface="Avenir"/>
              </a:rPr>
              <a:t>Symbol: </a:t>
            </a:r>
            <a:r>
              <a:rPr lang="en-US" sz="2400" dirty="0">
                <a:solidFill>
                  <a:schemeClr val="dk1"/>
                </a:solidFill>
                <a:latin typeface="Avenir"/>
              </a:rPr>
              <a:t>This type is not supported in the Mongo shell</a:t>
            </a:r>
            <a:endParaRPr lang="en-IN" sz="2400" dirty="0">
              <a:solidFill>
                <a:schemeClr val="dk1"/>
              </a:solidFill>
              <a:latin typeface="Avenir"/>
            </a:endParaRPr>
          </a:p>
          <a:p>
            <a:pPr marL="285750" indent="-285750">
              <a:lnSpc>
                <a:spcPct val="115000"/>
              </a:lnSpc>
              <a:spcBef>
                <a:spcPts val="963"/>
              </a:spcBef>
              <a:buFont typeface="Arial" panose="020B0604020202020204" pitchFamily="34" charset="0"/>
              <a:buChar char="•"/>
            </a:pPr>
            <a:r>
              <a:rPr lang="en-US" sz="2400" b="1" dirty="0">
                <a:solidFill>
                  <a:schemeClr val="dk1"/>
                </a:solidFill>
                <a:latin typeface="Avenir"/>
              </a:rPr>
              <a:t>Timestamps</a:t>
            </a:r>
            <a:r>
              <a:rPr lang="en-US" sz="2400" dirty="0">
                <a:solidFill>
                  <a:schemeClr val="dk1"/>
                </a:solidFill>
                <a:latin typeface="Avenir"/>
              </a:rPr>
              <a:t>: BSON has a special timestamp type for internal MongoDB use and is not associated with the regular </a:t>
            </a:r>
            <a:r>
              <a:rPr lang="en-US" sz="2400" dirty="0">
                <a:solidFill>
                  <a:schemeClr val="dk1"/>
                </a:solidFill>
                <a:latin typeface="Avenir"/>
                <a:hlinkClick r:id="rId3">
                  <a:extLst>
                    <a:ext uri="{A12FA001-AC4F-418D-AE19-62706E023703}">
                      <ahyp:hlinkClr xmlns:ahyp="http://schemas.microsoft.com/office/drawing/2018/hyperlinkcolor" val="tx"/>
                    </a:ext>
                  </a:extLst>
                </a:hlinkClick>
              </a:rPr>
              <a:t>Date</a:t>
            </a:r>
            <a:r>
              <a:rPr lang="en-US" sz="2400" dirty="0">
                <a:solidFill>
                  <a:schemeClr val="dk1"/>
                </a:solidFill>
                <a:latin typeface="Avenir"/>
              </a:rPr>
              <a:t> type</a:t>
            </a:r>
          </a:p>
          <a:p>
            <a:pPr marL="285750" indent="-285750">
              <a:lnSpc>
                <a:spcPct val="115000"/>
              </a:lnSpc>
              <a:spcBef>
                <a:spcPts val="963"/>
              </a:spcBef>
              <a:buFont typeface="Arial" panose="020B0604020202020204" pitchFamily="34" charset="0"/>
              <a:buChar char="•"/>
            </a:pPr>
            <a:r>
              <a:rPr lang="en-US" sz="2400" b="1" dirty="0">
                <a:solidFill>
                  <a:schemeClr val="dk1"/>
                </a:solidFill>
                <a:latin typeface="Avenir"/>
              </a:rPr>
              <a:t>Date</a:t>
            </a:r>
            <a:r>
              <a:rPr lang="en-US" sz="2400" dirty="0">
                <a:solidFill>
                  <a:schemeClr val="dk1"/>
                </a:solidFill>
                <a:latin typeface="Avenir"/>
              </a:rPr>
              <a:t> : BSON Date is a 64-bit integer that represents as the Unix epoch (Jan 1, 1970)</a:t>
            </a:r>
          </a:p>
          <a:p>
            <a:pPr marL="285750" indent="-285750">
              <a:spcBef>
                <a:spcPts val="963"/>
              </a:spcBef>
              <a:buFont typeface="Arial" panose="020B0604020202020204" pitchFamily="34" charset="0"/>
              <a:buChar char="•"/>
            </a:pPr>
            <a:r>
              <a:rPr lang="en-US" sz="2400" b="1" dirty="0">
                <a:solidFill>
                  <a:schemeClr val="dk1"/>
                </a:solidFill>
                <a:latin typeface="Avenir"/>
              </a:rPr>
              <a:t>regular expression</a:t>
            </a:r>
            <a:r>
              <a:rPr lang="en-US" sz="2400" dirty="0">
                <a:solidFill>
                  <a:schemeClr val="dk1"/>
                </a:solidFill>
                <a:latin typeface="Avenir"/>
              </a:rPr>
              <a:t>: Documents can contain regular expressions as value of the field using JavaScript’s regular expression syntax:  {"x" : /learn/</a:t>
            </a:r>
            <a:r>
              <a:rPr lang="en-US" sz="2400" dirty="0" err="1">
                <a:solidFill>
                  <a:schemeClr val="dk1"/>
                </a:solidFill>
                <a:latin typeface="Avenir"/>
              </a:rPr>
              <a:t>i</a:t>
            </a:r>
            <a:r>
              <a:rPr lang="en-US" sz="2400" dirty="0">
                <a:solidFill>
                  <a:schemeClr val="dk1"/>
                </a:solidFill>
                <a:latin typeface="Avenir"/>
              </a:rPr>
              <a:t>}</a:t>
            </a:r>
            <a:endParaRPr lang="en-IN" sz="2400" dirty="0">
              <a:solidFill>
                <a:schemeClr val="dk1"/>
              </a:solidFill>
              <a:latin typeface="Avenir"/>
            </a:endParaRPr>
          </a:p>
          <a:p>
            <a:pPr marL="285750" indent="-285750">
              <a:buFont typeface="Wingdings" panose="05000000000000000000" pitchFamily="2" charset="2"/>
              <a:buChar char="Ø"/>
            </a:pPr>
            <a:endParaRPr lang="en-IN" dirty="0"/>
          </a:p>
        </p:txBody>
      </p:sp>
      <p:pic>
        <p:nvPicPr>
          <p:cNvPr id="11" name="Graphic 1">
            <a:extLst>
              <a:ext uri="{FF2B5EF4-FFF2-40B4-BE49-F238E27FC236}">
                <a16:creationId xmlns:a16="http://schemas.microsoft.com/office/drawing/2014/main" id="{6B5C0478-9690-4D22-AA1D-DAE2CAF504A9}"/>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9815268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Data Types</a:t>
            </a: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834800" y="1149477"/>
            <a:ext cx="10116000" cy="369332"/>
          </a:xfrm>
          <a:prstGeom prst="rect">
            <a:avLst/>
          </a:prstGeom>
          <a:noFill/>
        </p:spPr>
        <p:txBody>
          <a:bodyPr wrap="square">
            <a:spAutoFit/>
          </a:bodyPr>
          <a:lstStyle/>
          <a:p>
            <a:pPr marL="285750" indent="-285750">
              <a:buFont typeface="Arial" panose="020B0604020202020204" pitchFamily="34" charset="0"/>
              <a:buChar char="•"/>
            </a:pPr>
            <a:endParaRPr lang="en-IN" sz="1800" dirty="0">
              <a:solidFill>
                <a:schemeClr val="dk1"/>
              </a:solidFill>
              <a:latin typeface="Avenir"/>
            </a:endParaRPr>
          </a:p>
        </p:txBody>
      </p:sp>
      <p:sp>
        <p:nvSpPr>
          <p:cNvPr id="7" name="Rectangle 4">
            <a:extLst>
              <a:ext uri="{FF2B5EF4-FFF2-40B4-BE49-F238E27FC236}">
                <a16:creationId xmlns:a16="http://schemas.microsoft.com/office/drawing/2014/main" id="{4EB558CE-85E3-4529-964E-49E52E089B4D}"/>
              </a:ext>
            </a:extLst>
          </p:cNvPr>
          <p:cNvSpPr txBox="1">
            <a:spLocks noChangeArrowheads="1"/>
          </p:cNvSpPr>
          <p:nvPr/>
        </p:nvSpPr>
        <p:spPr>
          <a:xfrm>
            <a:off x="1214285" y="1648886"/>
            <a:ext cx="7177547" cy="36692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defTabSz="914400">
              <a:spcBef>
                <a:spcPts val="963"/>
              </a:spcBef>
              <a:buFont typeface="Wingdings" panose="05000000000000000000" pitchFamily="2" charset="2"/>
              <a:buChar char="Ø"/>
            </a:pPr>
            <a:endParaRPr lang="hu-HU" sz="1800" dirty="0"/>
          </a:p>
        </p:txBody>
      </p:sp>
      <p:sp>
        <p:nvSpPr>
          <p:cNvPr id="10" name="TextBox 9">
            <a:extLst>
              <a:ext uri="{FF2B5EF4-FFF2-40B4-BE49-F238E27FC236}">
                <a16:creationId xmlns:a16="http://schemas.microsoft.com/office/drawing/2014/main" id="{B6727884-4073-4B1C-8A99-3797295F9429}"/>
              </a:ext>
            </a:extLst>
          </p:cNvPr>
          <p:cNvSpPr txBox="1"/>
          <p:nvPr/>
        </p:nvSpPr>
        <p:spPr>
          <a:xfrm>
            <a:off x="834799" y="1491074"/>
            <a:ext cx="10115999" cy="4664867"/>
          </a:xfrm>
          <a:prstGeom prst="rect">
            <a:avLst/>
          </a:prstGeom>
          <a:noFill/>
        </p:spPr>
        <p:txBody>
          <a:bodyPr wrap="square">
            <a:spAutoFit/>
          </a:bodyPr>
          <a:lstStyle/>
          <a:p>
            <a:pPr marL="285750" indent="-285750">
              <a:lnSpc>
                <a:spcPct val="115000"/>
              </a:lnSpc>
              <a:spcBef>
                <a:spcPts val="963"/>
              </a:spcBef>
              <a:spcAft>
                <a:spcPts val="0"/>
              </a:spcAft>
              <a:buFont typeface="Arial" panose="020B0604020202020204" pitchFamily="34" charset="0"/>
              <a:buChar char="•"/>
            </a:pPr>
            <a:r>
              <a:rPr lang="en-US" sz="2400" b="1" dirty="0">
                <a:solidFill>
                  <a:schemeClr val="dk1"/>
                </a:solidFill>
                <a:latin typeface="Avenir"/>
              </a:rPr>
              <a:t>Code</a:t>
            </a:r>
            <a:r>
              <a:rPr lang="en-US" sz="2400" dirty="0">
                <a:solidFill>
                  <a:schemeClr val="dk1"/>
                </a:solidFill>
                <a:latin typeface="Avenir"/>
              </a:rPr>
              <a:t> :  Documents can also contain JavaScript code as field value:</a:t>
            </a:r>
            <a:endParaRPr lang="en-IN" sz="2400" dirty="0">
              <a:solidFill>
                <a:schemeClr val="dk1"/>
              </a:solidFill>
              <a:latin typeface="Avenir"/>
            </a:endParaRPr>
          </a:p>
          <a:p>
            <a:pPr>
              <a:lnSpc>
                <a:spcPct val="115000"/>
              </a:lnSpc>
              <a:spcBef>
                <a:spcPts val="963"/>
              </a:spcBef>
              <a:spcAft>
                <a:spcPts val="1000"/>
              </a:spcAft>
            </a:pPr>
            <a:r>
              <a:rPr lang="en-US" sz="2400" dirty="0">
                <a:solidFill>
                  <a:schemeClr val="dk1"/>
                </a:solidFill>
                <a:latin typeface="Avenir"/>
              </a:rPr>
              <a:t>          {“y" : function() { /* java script code ... */ }}</a:t>
            </a:r>
            <a:endParaRPr lang="en-IN" sz="2400" dirty="0">
              <a:solidFill>
                <a:schemeClr val="dk1"/>
              </a:solidFill>
              <a:latin typeface="Avenir"/>
            </a:endParaRPr>
          </a:p>
          <a:p>
            <a:pPr marL="285750" indent="-285750">
              <a:lnSpc>
                <a:spcPct val="115000"/>
              </a:lnSpc>
              <a:spcBef>
                <a:spcPts val="963"/>
              </a:spcBef>
              <a:buFont typeface="Arial" panose="020B0604020202020204" pitchFamily="34" charset="0"/>
              <a:buChar char="•"/>
            </a:pPr>
            <a:r>
              <a:rPr lang="en-US" sz="2400" b="1" dirty="0">
                <a:solidFill>
                  <a:schemeClr val="dk1"/>
                </a:solidFill>
                <a:latin typeface="Avenir"/>
              </a:rPr>
              <a:t>Binary data</a:t>
            </a:r>
            <a:r>
              <a:rPr lang="en-US" sz="2400" dirty="0">
                <a:solidFill>
                  <a:schemeClr val="dk1"/>
                </a:solidFill>
                <a:latin typeface="Avenir"/>
              </a:rPr>
              <a:t>: Binary data is a string of arbitrary bytes. </a:t>
            </a:r>
            <a:endParaRPr lang="en-IN" sz="2400" dirty="0">
              <a:solidFill>
                <a:schemeClr val="dk1"/>
              </a:solidFill>
              <a:latin typeface="Avenir"/>
            </a:endParaRPr>
          </a:p>
          <a:p>
            <a:pPr marL="285750" indent="-285750">
              <a:lnSpc>
                <a:spcPct val="115000"/>
              </a:lnSpc>
              <a:spcBef>
                <a:spcPts val="963"/>
              </a:spcBef>
              <a:spcAft>
                <a:spcPts val="0"/>
              </a:spcAft>
              <a:buFont typeface="Arial" panose="020B0604020202020204" pitchFamily="34" charset="0"/>
              <a:buChar char="•"/>
            </a:pPr>
            <a:r>
              <a:rPr lang="en-IN" sz="2400" dirty="0">
                <a:solidFill>
                  <a:schemeClr val="dk1"/>
                </a:solidFill>
                <a:latin typeface="Avenir"/>
              </a:rPr>
              <a:t> </a:t>
            </a:r>
            <a:r>
              <a:rPr lang="en-US" sz="2400" b="1" dirty="0">
                <a:solidFill>
                  <a:schemeClr val="dk1"/>
                </a:solidFill>
                <a:latin typeface="Avenir"/>
              </a:rPr>
              <a:t>Array: </a:t>
            </a:r>
            <a:r>
              <a:rPr lang="en-US" sz="2400" dirty="0">
                <a:solidFill>
                  <a:schemeClr val="dk1"/>
                </a:solidFill>
                <a:latin typeface="Avenir"/>
              </a:rPr>
              <a:t>Sets or lists can be represented as arrays:</a:t>
            </a:r>
            <a:endParaRPr lang="en-IN" sz="2400" dirty="0">
              <a:solidFill>
                <a:schemeClr val="dk1"/>
              </a:solidFill>
              <a:latin typeface="Avenir"/>
            </a:endParaRPr>
          </a:p>
          <a:p>
            <a:pPr marL="285750" indent="-285750">
              <a:lnSpc>
                <a:spcPct val="115000"/>
              </a:lnSpc>
              <a:spcBef>
                <a:spcPts val="963"/>
              </a:spcBef>
              <a:spcAft>
                <a:spcPts val="0"/>
              </a:spcAft>
              <a:buFont typeface="Arial" panose="020B0604020202020204" pitchFamily="34" charset="0"/>
              <a:buChar char="•"/>
            </a:pPr>
            <a:r>
              <a:rPr lang="en-US" sz="2400" dirty="0">
                <a:solidFill>
                  <a:schemeClr val="dk1"/>
                </a:solidFill>
                <a:latin typeface="Avenir"/>
              </a:rPr>
              <a:t>{“courses" : [“Big Data Specialist", “Data Science with R", “HR Analytics"]}</a:t>
            </a:r>
            <a:endParaRPr lang="en-IN" sz="2400" dirty="0">
              <a:solidFill>
                <a:schemeClr val="dk1"/>
              </a:solidFill>
              <a:latin typeface="Avenir"/>
            </a:endParaRPr>
          </a:p>
          <a:p>
            <a:pPr marL="285750" indent="-285750">
              <a:lnSpc>
                <a:spcPct val="115000"/>
              </a:lnSpc>
              <a:spcBef>
                <a:spcPts val="963"/>
              </a:spcBef>
              <a:spcAft>
                <a:spcPts val="0"/>
              </a:spcAft>
              <a:buFont typeface="Arial" panose="020B0604020202020204" pitchFamily="34" charset="0"/>
              <a:buChar char="•"/>
            </a:pPr>
            <a:r>
              <a:rPr lang="en-US" sz="2400" b="1" dirty="0">
                <a:solidFill>
                  <a:schemeClr val="dk1"/>
                </a:solidFill>
                <a:latin typeface="Avenir"/>
              </a:rPr>
              <a:t> embedded document</a:t>
            </a:r>
            <a:endParaRPr lang="en-IN" sz="2400" b="1" dirty="0">
              <a:solidFill>
                <a:schemeClr val="dk1"/>
              </a:solidFill>
              <a:latin typeface="Avenir"/>
            </a:endParaRPr>
          </a:p>
          <a:p>
            <a:pPr marL="285750" indent="-285750">
              <a:lnSpc>
                <a:spcPct val="115000"/>
              </a:lnSpc>
              <a:spcBef>
                <a:spcPts val="963"/>
              </a:spcBef>
              <a:buFont typeface="Arial" panose="020B0604020202020204" pitchFamily="34" charset="0"/>
              <a:buChar char="•"/>
            </a:pPr>
            <a:r>
              <a:rPr lang="en-US" sz="2400" dirty="0">
                <a:solidFill>
                  <a:schemeClr val="dk1"/>
                </a:solidFill>
                <a:latin typeface="Avenir"/>
              </a:rPr>
              <a:t>Documents can contain nested documents, embedded as values in a parent or outer document:  {"</a:t>
            </a:r>
            <a:r>
              <a:rPr lang="en-US" sz="2400" dirty="0" err="1">
                <a:solidFill>
                  <a:schemeClr val="dk1"/>
                </a:solidFill>
                <a:latin typeface="Avenir"/>
              </a:rPr>
              <a:t>course_duration</a:t>
            </a:r>
            <a:r>
              <a:rPr lang="en-US" sz="2400" dirty="0">
                <a:solidFill>
                  <a:schemeClr val="dk1"/>
                </a:solidFill>
                <a:latin typeface="Avenir"/>
              </a:rPr>
              <a:t>" : {" Big Data Specialist " : “72 </a:t>
            </a:r>
            <a:r>
              <a:rPr lang="en-US" sz="2400" dirty="0" err="1">
                <a:solidFill>
                  <a:schemeClr val="dk1"/>
                </a:solidFill>
                <a:latin typeface="Avenir"/>
              </a:rPr>
              <a:t>Hrs</a:t>
            </a:r>
            <a:r>
              <a:rPr lang="en-US" sz="2400" dirty="0">
                <a:solidFill>
                  <a:schemeClr val="dk1"/>
                </a:solidFill>
                <a:latin typeface="Avenir"/>
              </a:rPr>
              <a:t>"}}</a:t>
            </a:r>
            <a:endParaRPr lang="en-IN" sz="2400" dirty="0">
              <a:solidFill>
                <a:schemeClr val="dk1"/>
              </a:solidFill>
              <a:latin typeface="Avenir"/>
            </a:endParaRPr>
          </a:p>
          <a:p>
            <a:endParaRPr lang="en-IN" dirty="0"/>
          </a:p>
        </p:txBody>
      </p:sp>
      <p:pic>
        <p:nvPicPr>
          <p:cNvPr id="11" name="Graphic 1">
            <a:extLst>
              <a:ext uri="{FF2B5EF4-FFF2-40B4-BE49-F238E27FC236}">
                <a16:creationId xmlns:a16="http://schemas.microsoft.com/office/drawing/2014/main" id="{805F9B82-7AF1-4AAE-AAB1-84273EC4175E}"/>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4183748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377" name="Google Shape;377;p3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379" name="Google Shape;379;p36"/>
          <p:cNvPicPr preferRelativeResize="0"/>
          <p:nvPr/>
        </p:nvPicPr>
        <p:blipFill rotWithShape="1">
          <a:blip r:embed="rId3">
            <a:alphaModFix/>
          </a:blip>
          <a:srcRect/>
          <a:stretch/>
        </p:blipFill>
        <p:spPr>
          <a:xfrm>
            <a:off x="685400" y="273700"/>
            <a:ext cx="2251733" cy="879400"/>
          </a:xfrm>
          <a:prstGeom prst="rect">
            <a:avLst/>
          </a:prstGeom>
          <a:noFill/>
          <a:ln>
            <a:noFill/>
          </a:ln>
        </p:spPr>
      </p:pic>
      <p:sp>
        <p:nvSpPr>
          <p:cNvPr id="380" name="Google Shape;380;p36"/>
          <p:cNvSpPr txBox="1"/>
          <p:nvPr/>
        </p:nvSpPr>
        <p:spPr>
          <a:xfrm>
            <a:off x="1140425" y="2085755"/>
            <a:ext cx="9010000" cy="2686489"/>
          </a:xfrm>
          <a:prstGeom prst="rect">
            <a:avLst/>
          </a:prstGeom>
          <a:noFill/>
          <a:ln>
            <a:noFill/>
          </a:ln>
        </p:spPr>
        <p:txBody>
          <a:bodyPr spcFirstLastPara="1" wrap="square" lIns="121900" tIns="121900" rIns="121900" bIns="121900" anchor="t" anchorCtr="0">
            <a:noAutofit/>
          </a:bodyPr>
          <a:lstStyle/>
          <a:p>
            <a:pPr>
              <a:lnSpc>
                <a:spcPct val="150000"/>
              </a:lnSpc>
              <a:spcAft>
                <a:spcPts val="1333"/>
              </a:spcAft>
            </a:pPr>
            <a:r>
              <a:rPr lang="en-IN" sz="2400" dirty="0"/>
              <a:t>Mongo name has come “</a:t>
            </a:r>
            <a:r>
              <a:rPr lang="en-IN" sz="2400" b="1" dirty="0"/>
              <a:t>humongous</a:t>
            </a:r>
            <a:r>
              <a:rPr lang="en-IN" sz="2400" dirty="0"/>
              <a:t>”</a:t>
            </a:r>
            <a:endParaRPr sz="2400" dirty="0"/>
          </a:p>
        </p:txBody>
      </p:sp>
      <p:pic>
        <p:nvPicPr>
          <p:cNvPr id="7" name="Graphic 1">
            <a:extLst>
              <a:ext uri="{FF2B5EF4-FFF2-40B4-BE49-F238E27FC236}">
                <a16:creationId xmlns:a16="http://schemas.microsoft.com/office/drawing/2014/main" id="{FBDBD495-4FB7-470B-A255-237C164CE01F}"/>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552972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Secondary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3836948"/>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Secondary indexes in MongoDB are implemented as B-trees.</a:t>
            </a:r>
          </a:p>
          <a:p>
            <a:pPr marL="285750" indent="-285750">
              <a:spcBef>
                <a:spcPts val="963"/>
              </a:spcBef>
              <a:buFont typeface="Arial" panose="020B0604020202020204" pitchFamily="34" charset="0"/>
              <a:buChar char="•"/>
            </a:pPr>
            <a:r>
              <a:rPr lang="en-IN" sz="2400" dirty="0">
                <a:solidFill>
                  <a:schemeClr val="dk1"/>
                </a:solidFill>
                <a:latin typeface="Avenir"/>
              </a:rPr>
              <a:t>B-tree indexes are optimized for a variety of queries, including  range scans and queries with sort clauses</a:t>
            </a:r>
          </a:p>
          <a:p>
            <a:pPr marL="285750" indent="-285750">
              <a:spcBef>
                <a:spcPts val="963"/>
              </a:spcBef>
              <a:buFont typeface="Arial" panose="020B0604020202020204" pitchFamily="34" charset="0"/>
              <a:buChar char="•"/>
            </a:pPr>
            <a:r>
              <a:rPr lang="en-IN" sz="2400" dirty="0">
                <a:solidFill>
                  <a:schemeClr val="dk1"/>
                </a:solidFill>
                <a:latin typeface="Avenir"/>
              </a:rPr>
              <a:t>By permitting multiple secondary indexes, MongoDB allows users to optimize for a wide variety of queries</a:t>
            </a:r>
          </a:p>
          <a:p>
            <a:pPr marL="285750" indent="-285750">
              <a:spcBef>
                <a:spcPts val="963"/>
              </a:spcBef>
              <a:buFont typeface="Arial" panose="020B0604020202020204" pitchFamily="34" charset="0"/>
              <a:buChar char="•"/>
            </a:pPr>
            <a:r>
              <a:rPr lang="en-IN" sz="2400" dirty="0">
                <a:solidFill>
                  <a:schemeClr val="dk1"/>
                </a:solidFill>
                <a:latin typeface="Avenir"/>
              </a:rPr>
              <a:t>With MongoDB, you can create up to 64 indexes per collection</a:t>
            </a:r>
          </a:p>
          <a:p>
            <a:pPr marL="285750" indent="-285750">
              <a:spcBef>
                <a:spcPts val="963"/>
              </a:spcBef>
              <a:buFont typeface="Arial" panose="020B0604020202020204" pitchFamily="34" charset="0"/>
              <a:buChar char="•"/>
            </a:pPr>
            <a:r>
              <a:rPr lang="en-IN" sz="2400" dirty="0">
                <a:solidFill>
                  <a:schemeClr val="dk1"/>
                </a:solidFill>
                <a:latin typeface="Avenir"/>
              </a:rPr>
              <a:t>ascending, descending, unique, compound-key, and even geospatial indexes are supported</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2642E45F-6DEA-4B7D-A958-2170FF1D08E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883115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Different Indexes Types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5088573"/>
          </a:xfrm>
          <a:prstGeom prst="rect">
            <a:avLst/>
          </a:prstGeom>
          <a:noFill/>
        </p:spPr>
        <p:txBody>
          <a:bodyPr wrap="square">
            <a:spAutoFit/>
          </a:bodyPr>
          <a:lstStyle/>
          <a:p>
            <a:pPr marL="285750" indent="-285750">
              <a:spcBef>
                <a:spcPts val="963"/>
              </a:spcBef>
              <a:buFont typeface="Arial" panose="020B0604020202020204" pitchFamily="34" charset="0"/>
              <a:buChar char="•"/>
            </a:pPr>
            <a:r>
              <a:rPr lang="en-IN" sz="2400" dirty="0">
                <a:solidFill>
                  <a:schemeClr val="dk1"/>
                </a:solidFill>
                <a:latin typeface="Avenir"/>
              </a:rPr>
              <a:t>MongoDB provide support for different kinds of </a:t>
            </a:r>
            <a:r>
              <a:rPr lang="en-IN" sz="2400" dirty="0" err="1">
                <a:solidFill>
                  <a:schemeClr val="dk1"/>
                </a:solidFill>
                <a:latin typeface="Avenir"/>
              </a:rPr>
              <a:t>ndexes</a:t>
            </a:r>
            <a:r>
              <a:rPr lang="en-IN" sz="2400" dirty="0">
                <a:solidFill>
                  <a:schemeClr val="dk1"/>
                </a:solidFill>
                <a:latin typeface="Avenir"/>
              </a:rPr>
              <a:t> to support specific types of data and queries.</a:t>
            </a:r>
          </a:p>
          <a:p>
            <a:pPr marL="285750" indent="-285750">
              <a:spcBef>
                <a:spcPts val="963"/>
              </a:spcBef>
              <a:buFont typeface="Arial" panose="020B0604020202020204" pitchFamily="34" charset="0"/>
              <a:buChar char="•"/>
            </a:pPr>
            <a:endParaRPr lang="en-IN" sz="2400" dirty="0">
              <a:solidFill>
                <a:schemeClr val="dk1"/>
              </a:solidFill>
              <a:latin typeface="Avenir"/>
            </a:endParaRPr>
          </a:p>
          <a:p>
            <a:pPr marL="285750" indent="-285750">
              <a:spcBef>
                <a:spcPts val="963"/>
              </a:spcBef>
              <a:buFont typeface="Arial" panose="020B0604020202020204" pitchFamily="34" charset="0"/>
              <a:buChar char="•"/>
            </a:pPr>
            <a:r>
              <a:rPr lang="en-IN" sz="2400" dirty="0">
                <a:solidFill>
                  <a:schemeClr val="dk1"/>
                </a:solidFill>
                <a:latin typeface="Avenir"/>
              </a:rPr>
              <a:t>Default _id</a:t>
            </a:r>
          </a:p>
          <a:p>
            <a:pPr marL="285750" indent="-285750">
              <a:spcBef>
                <a:spcPts val="963"/>
              </a:spcBef>
              <a:buFont typeface="Arial" panose="020B0604020202020204" pitchFamily="34" charset="0"/>
              <a:buChar char="•"/>
            </a:pPr>
            <a:r>
              <a:rPr lang="en-IN" sz="2400" dirty="0">
                <a:solidFill>
                  <a:schemeClr val="dk1"/>
                </a:solidFill>
                <a:latin typeface="Avenir"/>
              </a:rPr>
              <a:t>Single Field</a:t>
            </a:r>
          </a:p>
          <a:p>
            <a:pPr marL="285750" indent="-285750">
              <a:spcBef>
                <a:spcPts val="963"/>
              </a:spcBef>
              <a:buFont typeface="Arial" panose="020B0604020202020204" pitchFamily="34" charset="0"/>
              <a:buChar char="•"/>
            </a:pPr>
            <a:r>
              <a:rPr lang="en-IN" sz="2400" dirty="0">
                <a:solidFill>
                  <a:schemeClr val="dk1"/>
                </a:solidFill>
                <a:latin typeface="Avenir"/>
              </a:rPr>
              <a:t>Compound Index</a:t>
            </a:r>
          </a:p>
          <a:p>
            <a:pPr marL="285750" indent="-285750">
              <a:spcBef>
                <a:spcPts val="963"/>
              </a:spcBef>
              <a:buFont typeface="Arial" panose="020B0604020202020204" pitchFamily="34" charset="0"/>
              <a:buChar char="•"/>
            </a:pPr>
            <a:r>
              <a:rPr lang="en-IN" sz="2400" dirty="0">
                <a:solidFill>
                  <a:schemeClr val="dk1"/>
                </a:solidFill>
                <a:latin typeface="Avenir"/>
              </a:rPr>
              <a:t>Multikey Index</a:t>
            </a:r>
          </a:p>
          <a:p>
            <a:pPr marL="285750" indent="-285750">
              <a:spcBef>
                <a:spcPts val="963"/>
              </a:spcBef>
              <a:buFont typeface="Arial" panose="020B0604020202020204" pitchFamily="34" charset="0"/>
              <a:buChar char="•"/>
            </a:pPr>
            <a:r>
              <a:rPr lang="en-IN" sz="2400" dirty="0">
                <a:solidFill>
                  <a:schemeClr val="dk1"/>
                </a:solidFill>
                <a:latin typeface="Avenir"/>
              </a:rPr>
              <a:t>Geospatial Index</a:t>
            </a:r>
          </a:p>
          <a:p>
            <a:pPr marL="285750" indent="-285750">
              <a:spcBef>
                <a:spcPts val="963"/>
              </a:spcBef>
              <a:buFont typeface="Arial" panose="020B0604020202020204" pitchFamily="34" charset="0"/>
              <a:buChar char="•"/>
            </a:pPr>
            <a:r>
              <a:rPr lang="en-IN" sz="2400" dirty="0">
                <a:solidFill>
                  <a:schemeClr val="dk1"/>
                </a:solidFill>
                <a:latin typeface="Avenir"/>
              </a:rPr>
              <a:t>Text Indexes</a:t>
            </a:r>
          </a:p>
          <a:p>
            <a:pPr marL="285750" indent="-285750">
              <a:spcBef>
                <a:spcPts val="963"/>
              </a:spcBef>
              <a:buFont typeface="Arial" panose="020B0604020202020204" pitchFamily="34" charset="0"/>
              <a:buChar char="•"/>
            </a:pPr>
            <a:r>
              <a:rPr lang="en-IN" sz="2400" dirty="0">
                <a:solidFill>
                  <a:schemeClr val="dk1"/>
                </a:solidFill>
                <a:latin typeface="Avenir"/>
              </a:rPr>
              <a:t>Hashed Indexes</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65A6B274-C9D8-42F1-BC6D-67B42D84B63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047916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Single field Index</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5442516"/>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MongoDB provides complete support for indexes on any field in a collection of documents</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By default, all collections have an index on the _id field</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Applications and users may add additional indexes to support important queries and operations.</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buFont typeface="Arial" panose="020B0604020202020204" pitchFamily="34" charset="0"/>
              <a:buChar char="•"/>
            </a:pPr>
            <a:endParaRPr lang="en-IN" sz="2400" dirty="0">
              <a:solidFill>
                <a:schemeClr val="dk1"/>
              </a:solidFill>
              <a:latin typeface="Avenir"/>
            </a:endParaRPr>
          </a:p>
          <a:p>
            <a:pPr marL="342900" indent="-342900">
              <a:buFont typeface="Arial" panose="020B0604020202020204" pitchFamily="34" charset="0"/>
              <a:buChar char="•"/>
            </a:pPr>
            <a:r>
              <a:rPr lang="en-IN" sz="2400" dirty="0">
                <a:solidFill>
                  <a:schemeClr val="dk1"/>
                </a:solidFill>
                <a:latin typeface="Avenir"/>
              </a:rPr>
              <a:t>The following command creates an index on the name field for the users collection </a:t>
            </a:r>
          </a:p>
          <a:p>
            <a:r>
              <a:rPr lang="en-IN" sz="2400" dirty="0"/>
              <a:t>	</a:t>
            </a:r>
            <a:r>
              <a:rPr lang="en-IN" sz="2400" b="1" dirty="0" err="1"/>
              <a:t>db.users.createIndex</a:t>
            </a:r>
            <a:r>
              <a:rPr lang="en-IN" sz="2400" b="1" dirty="0"/>
              <a:t>( { “name" : 1 } )</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634E97BA-E102-4D4F-BEAC-DD554A68A0A2}"/>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814830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Compound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3595856"/>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MongoDB supports creating compound indexes by combing multiple fields</a:t>
            </a:r>
          </a:p>
          <a:p>
            <a:pPr marL="342900" indent="-342900">
              <a:spcBef>
                <a:spcPts val="963"/>
              </a:spcBef>
              <a:buFont typeface="Arial" panose="020B0604020202020204" pitchFamily="34" charset="0"/>
              <a:buChar char="•"/>
            </a:pPr>
            <a:r>
              <a:rPr lang="en-IN" sz="2400" dirty="0">
                <a:solidFill>
                  <a:schemeClr val="dk1"/>
                </a:solidFill>
                <a:latin typeface="Avenir"/>
              </a:rPr>
              <a:t>Compound indexes can support queries that match on multiple fields.</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b="1" dirty="0" err="1">
                <a:solidFill>
                  <a:schemeClr val="dk1"/>
                </a:solidFill>
                <a:latin typeface="Avenir"/>
              </a:rPr>
              <a:t>db.productsInfo.createIndex</a:t>
            </a:r>
            <a:r>
              <a:rPr lang="en-IN" sz="2400" b="1" dirty="0">
                <a:solidFill>
                  <a:schemeClr val="dk1"/>
                </a:solidFill>
                <a:latin typeface="Avenir"/>
              </a:rPr>
              <a:t>( { "</a:t>
            </a:r>
            <a:r>
              <a:rPr lang="en-IN" sz="2400" b="1" dirty="0" err="1">
                <a:solidFill>
                  <a:schemeClr val="dk1"/>
                </a:solidFill>
                <a:latin typeface="Avenir"/>
              </a:rPr>
              <a:t>itemName</a:t>
            </a:r>
            <a:r>
              <a:rPr lang="en-IN" sz="2400" b="1" dirty="0">
                <a:solidFill>
                  <a:schemeClr val="dk1"/>
                </a:solidFill>
                <a:latin typeface="Avenir"/>
              </a:rPr>
              <a:t>": 1, “</a:t>
            </a:r>
            <a:r>
              <a:rPr lang="en-IN" sz="2400" b="1" dirty="0" err="1">
                <a:solidFill>
                  <a:schemeClr val="dk1"/>
                </a:solidFill>
                <a:latin typeface="Avenir"/>
              </a:rPr>
              <a:t>noOfItems</a:t>
            </a:r>
            <a:r>
              <a:rPr lang="en-IN" sz="2400" b="1" dirty="0">
                <a:solidFill>
                  <a:schemeClr val="dk1"/>
                </a:solidFill>
                <a:latin typeface="Avenir"/>
              </a:rPr>
              <a:t>": 1 } )</a:t>
            </a:r>
          </a:p>
          <a:p>
            <a:pPr marL="342900" indent="-342900">
              <a:spcBef>
                <a:spcPts val="963"/>
              </a:spcBef>
              <a:buFont typeface="Arial" panose="020B0604020202020204" pitchFamily="34" charset="0"/>
              <a:buChar char="•"/>
            </a:pPr>
            <a:r>
              <a:rPr lang="en-IN" sz="2400" dirty="0">
                <a:solidFill>
                  <a:schemeClr val="dk1"/>
                </a:solidFill>
                <a:latin typeface="Avenir"/>
              </a:rPr>
              <a:t>The order of the fields in a compound index is very important.</a:t>
            </a:r>
          </a:p>
          <a:p>
            <a:pPr marL="342900" indent="-342900">
              <a:spcBef>
                <a:spcPts val="963"/>
              </a:spcBef>
              <a:buFont typeface="Arial" panose="020B0604020202020204" pitchFamily="34" charset="0"/>
              <a:buChar char="•"/>
            </a:pPr>
            <a:r>
              <a:rPr lang="en-IN" sz="2400" dirty="0">
                <a:solidFill>
                  <a:schemeClr val="dk1"/>
                </a:solidFill>
                <a:latin typeface="Avenir"/>
              </a:rPr>
              <a:t>Documents sorted first by the values of the first field and, within each value of the first field, sorted by values of the second field</a:t>
            </a:r>
          </a:p>
          <a:p>
            <a:pPr marL="342900" indent="-342900">
              <a:spcBef>
                <a:spcPts val="963"/>
              </a:spcBef>
              <a:buFont typeface="Arial" panose="020B0604020202020204" pitchFamily="34" charset="0"/>
              <a:buChar char="•"/>
            </a:pPr>
            <a:r>
              <a:rPr lang="en-IN" sz="2400" dirty="0">
                <a:solidFill>
                  <a:schemeClr val="dk1"/>
                </a:solidFill>
                <a:latin typeface="Avenir"/>
              </a:rPr>
              <a:t>MongoDB imposes a limit of 31 fields for any compound index</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62D64470-3D62-4DD4-A243-592E5B6E80E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1872788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Multikey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EA3A7847-893E-4F94-AB76-A25392390FBB}"/>
              </a:ext>
            </a:extLst>
          </p:cNvPr>
          <p:cNvSpPr txBox="1"/>
          <p:nvPr/>
        </p:nvSpPr>
        <p:spPr>
          <a:xfrm>
            <a:off x="761058" y="1415961"/>
            <a:ext cx="10116000" cy="4960332"/>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Multikey index is supported on a field that holds an array value</a:t>
            </a:r>
          </a:p>
          <a:p>
            <a:pPr marL="342900" indent="-342900">
              <a:spcBef>
                <a:spcPts val="963"/>
              </a:spcBef>
              <a:buFont typeface="Arial" panose="020B0604020202020204" pitchFamily="34" charset="0"/>
              <a:buChar char="•"/>
            </a:pPr>
            <a:r>
              <a:rPr lang="en-IN" sz="2400" dirty="0">
                <a:solidFill>
                  <a:schemeClr val="dk1"/>
                </a:solidFill>
                <a:latin typeface="Avenir"/>
              </a:rPr>
              <a:t>MongoDB creates an index key for each element in the array</a:t>
            </a:r>
          </a:p>
          <a:p>
            <a:pPr marL="342900" indent="-342900">
              <a:spcBef>
                <a:spcPts val="963"/>
              </a:spcBef>
              <a:buFont typeface="Arial" panose="020B0604020202020204" pitchFamily="34" charset="0"/>
              <a:buChar char="•"/>
            </a:pPr>
            <a:r>
              <a:rPr lang="en-IN" sz="2400" dirty="0">
                <a:solidFill>
                  <a:schemeClr val="dk1"/>
                </a:solidFill>
                <a:latin typeface="Avenir"/>
              </a:rPr>
              <a:t>Multikey indexes helps running efficient queries against array fields</a:t>
            </a:r>
          </a:p>
          <a:p>
            <a:pPr>
              <a:spcBef>
                <a:spcPts val="963"/>
              </a:spcBef>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Multikey indexes can be generated over arrays that hold both scalar values (e.g. strings, numbers) and nested documents.</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db.collectionName.createIndex</a:t>
            </a:r>
            <a:r>
              <a:rPr lang="en-IN" sz="2400" dirty="0">
                <a:solidFill>
                  <a:schemeClr val="dk1"/>
                </a:solidFill>
                <a:latin typeface="Avenir"/>
              </a:rPr>
              <a:t>( { &lt;field&gt;: &lt; 1 or -1 &gt; } )</a:t>
            </a:r>
          </a:p>
          <a:p>
            <a:pPr>
              <a:spcBef>
                <a:spcPts val="963"/>
              </a:spcBef>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if any indexed field is an array then MongoDB automatically creates a multikey index</a:t>
            </a:r>
          </a:p>
          <a:p>
            <a:pPr marL="285750" indent="-285750">
              <a:buFont typeface="Arial" panose="020B0604020202020204" pitchFamily="34" charset="0"/>
              <a:buChar char="•"/>
            </a:pPr>
            <a:endParaRPr lang="en-IN" sz="1800" dirty="0">
              <a:solidFill>
                <a:schemeClr val="dk1"/>
              </a:solidFill>
              <a:latin typeface="Avenir"/>
            </a:endParaRPr>
          </a:p>
        </p:txBody>
      </p:sp>
      <p:pic>
        <p:nvPicPr>
          <p:cNvPr id="7" name="Graphic 1">
            <a:extLst>
              <a:ext uri="{FF2B5EF4-FFF2-40B4-BE49-F238E27FC236}">
                <a16:creationId xmlns:a16="http://schemas.microsoft.com/office/drawing/2014/main" id="{56D82C81-140C-447B-98D5-D68394F2A844}"/>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896706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Hashed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1C2ED8B7-C832-46D0-902C-AAC1E216E7E7}"/>
              </a:ext>
            </a:extLst>
          </p:cNvPr>
          <p:cNvSpPr txBox="1"/>
          <p:nvPr/>
        </p:nvSpPr>
        <p:spPr>
          <a:xfrm>
            <a:off x="834799" y="1019400"/>
            <a:ext cx="10359227" cy="5678478"/>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Hashed indexes stores hash values of the indexed field.</a:t>
            </a:r>
          </a:p>
          <a:p>
            <a:pPr marL="342900" indent="-342900">
              <a:spcBef>
                <a:spcPts val="963"/>
              </a:spcBef>
              <a:buFont typeface="Arial" panose="020B0604020202020204" pitchFamily="34" charset="0"/>
              <a:buChar char="•"/>
            </a:pPr>
            <a:r>
              <a:rPr lang="en-IN" sz="2400" dirty="0">
                <a:solidFill>
                  <a:schemeClr val="dk1"/>
                </a:solidFill>
                <a:latin typeface="Avenir"/>
              </a:rPr>
              <a:t>Hash Index can’t be created on multi-key (i.e. arrays) field</a:t>
            </a:r>
          </a:p>
          <a:p>
            <a:pPr marL="342900" indent="-342900">
              <a:spcBef>
                <a:spcPts val="963"/>
              </a:spcBef>
              <a:buFont typeface="Arial" panose="020B0604020202020204" pitchFamily="34" charset="0"/>
              <a:buChar char="•"/>
            </a:pPr>
            <a:r>
              <a:rPr lang="en-IN" sz="2400" dirty="0">
                <a:solidFill>
                  <a:schemeClr val="dk1"/>
                </a:solidFill>
                <a:latin typeface="Avenir"/>
              </a:rPr>
              <a:t>The hashing function flattens embedded documents and generate the hash value</a:t>
            </a:r>
          </a:p>
          <a:p>
            <a:pPr marL="342900" indent="-342900">
              <a:spcBef>
                <a:spcPts val="963"/>
              </a:spcBef>
              <a:buFont typeface="Arial" panose="020B0604020202020204" pitchFamily="34" charset="0"/>
              <a:buChar char="•"/>
            </a:pPr>
            <a:r>
              <a:rPr lang="en-IN" sz="2400" dirty="0">
                <a:solidFill>
                  <a:schemeClr val="dk1"/>
                </a:solidFill>
                <a:latin typeface="Avenir"/>
              </a:rPr>
              <a:t>MongoDB can use the hashed index to support equality queries</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Hashed indexes do not support range queries</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Hashed indexes support </a:t>
            </a:r>
            <a:r>
              <a:rPr lang="en-IN" sz="2400" dirty="0" err="1">
                <a:solidFill>
                  <a:schemeClr val="dk1"/>
                </a:solidFill>
                <a:latin typeface="Avenir"/>
              </a:rPr>
              <a:t>sharding</a:t>
            </a:r>
            <a:r>
              <a:rPr lang="en-IN" sz="2400" dirty="0">
                <a:solidFill>
                  <a:schemeClr val="dk1"/>
                </a:solidFill>
                <a:latin typeface="Avenir"/>
              </a:rPr>
              <a:t>  a collection using a hashed shard key</a:t>
            </a:r>
          </a:p>
          <a:p>
            <a:pPr marL="342900" indent="-342900">
              <a:spcBef>
                <a:spcPts val="963"/>
              </a:spcBef>
              <a:buFont typeface="Arial" panose="020B0604020202020204" pitchFamily="34" charset="0"/>
              <a:buChar char="•"/>
            </a:pPr>
            <a:r>
              <a:rPr lang="en-IN" sz="2400" dirty="0">
                <a:solidFill>
                  <a:schemeClr val="dk1"/>
                </a:solidFill>
                <a:latin typeface="Avenir"/>
              </a:rPr>
              <a:t>Using a hashed shard key to shard a collection ensures a more even distribution of data.</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db.items.createIndex</a:t>
            </a:r>
            <a:r>
              <a:rPr lang="en-IN" sz="2400" dirty="0">
                <a:solidFill>
                  <a:schemeClr val="dk1"/>
                </a:solidFill>
                <a:latin typeface="Avenir"/>
              </a:rPr>
              <a:t>( { item: "hashed" } )</a:t>
            </a:r>
          </a:p>
        </p:txBody>
      </p:sp>
      <p:pic>
        <p:nvPicPr>
          <p:cNvPr id="7" name="Graphic 1">
            <a:extLst>
              <a:ext uri="{FF2B5EF4-FFF2-40B4-BE49-F238E27FC236}">
                <a16:creationId xmlns:a16="http://schemas.microsoft.com/office/drawing/2014/main" id="{E0FCA47F-CFA3-4039-9A1E-4B8CF1CF03C3}"/>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347850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TTL(Time to Live)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2DE7B9BC-DAD6-4466-84E4-4865DDCFC292}"/>
              </a:ext>
            </a:extLst>
          </p:cNvPr>
          <p:cNvSpPr txBox="1"/>
          <p:nvPr/>
        </p:nvSpPr>
        <p:spPr>
          <a:xfrm>
            <a:off x="838548" y="1172081"/>
            <a:ext cx="10665194" cy="5293757"/>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TTL indexes are special single-field indexes to automatically remove documents from a collection after a certain amount of time.</a:t>
            </a:r>
          </a:p>
          <a:p>
            <a:pPr marL="342900" indent="-342900">
              <a:spcBef>
                <a:spcPts val="963"/>
              </a:spcBef>
              <a:buFont typeface="Arial" panose="020B0604020202020204" pitchFamily="34" charset="0"/>
              <a:buChar char="•"/>
            </a:pPr>
            <a:r>
              <a:rPr lang="en-IN" sz="2400" dirty="0">
                <a:solidFill>
                  <a:schemeClr val="dk1"/>
                </a:solidFill>
                <a:latin typeface="Avenir"/>
              </a:rPr>
              <a:t>It is useful for certain types of data such as application and server logs, and session information that only need to persist in a database for a finite amount of time.</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Use the </a:t>
            </a:r>
            <a:r>
              <a:rPr lang="en-IN" sz="2400" dirty="0" err="1">
                <a:solidFill>
                  <a:schemeClr val="dk1"/>
                </a:solidFill>
                <a:latin typeface="Avenir"/>
              </a:rPr>
              <a:t>db.collection.createIndex</a:t>
            </a:r>
            <a:r>
              <a:rPr lang="en-IN" sz="2400" dirty="0">
                <a:solidFill>
                  <a:schemeClr val="dk1"/>
                </a:solidFill>
                <a:latin typeface="Avenir"/>
              </a:rPr>
              <a:t>() method with the </a:t>
            </a:r>
            <a:r>
              <a:rPr lang="en-IN" sz="2400" dirty="0" err="1">
                <a:solidFill>
                  <a:schemeClr val="dk1"/>
                </a:solidFill>
                <a:latin typeface="Avenir"/>
              </a:rPr>
              <a:t>expireAfterSeconds</a:t>
            </a:r>
            <a:r>
              <a:rPr lang="en-IN" sz="2400" dirty="0">
                <a:solidFill>
                  <a:schemeClr val="dk1"/>
                </a:solidFill>
                <a:latin typeface="Avenir"/>
              </a:rPr>
              <a:t> option on a field whose value is either a date or an array that contains date values</a:t>
            </a:r>
          </a:p>
          <a:p>
            <a:pPr>
              <a:spcBef>
                <a:spcPts val="963"/>
              </a:spcBef>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db.eventlog.createIndex</a:t>
            </a:r>
            <a:r>
              <a:rPr lang="en-IN" sz="2400" dirty="0">
                <a:solidFill>
                  <a:schemeClr val="dk1"/>
                </a:solidFill>
                <a:latin typeface="Avenir"/>
              </a:rPr>
              <a:t>( { "</a:t>
            </a:r>
            <a:r>
              <a:rPr lang="en-IN" sz="2400" dirty="0" err="1">
                <a:solidFill>
                  <a:schemeClr val="dk1"/>
                </a:solidFill>
                <a:latin typeface="Avenir"/>
              </a:rPr>
              <a:t>lastModifiedDate</a:t>
            </a:r>
            <a:r>
              <a:rPr lang="en-IN" sz="2400" dirty="0">
                <a:solidFill>
                  <a:schemeClr val="dk1"/>
                </a:solidFill>
                <a:latin typeface="Avenir"/>
              </a:rPr>
              <a:t>": 1 }, { </a:t>
            </a:r>
            <a:r>
              <a:rPr lang="en-IN" sz="2400" dirty="0" err="1">
                <a:solidFill>
                  <a:schemeClr val="dk1"/>
                </a:solidFill>
                <a:latin typeface="Avenir"/>
              </a:rPr>
              <a:t>expireAfterSeconds</a:t>
            </a:r>
            <a:r>
              <a:rPr lang="en-IN" sz="2400" dirty="0">
                <a:solidFill>
                  <a:schemeClr val="dk1"/>
                </a:solidFill>
                <a:latin typeface="Avenir"/>
              </a:rPr>
              <a:t>: 3600 } )</a:t>
            </a:r>
          </a:p>
          <a:p>
            <a:pPr marL="342900" indent="-342900">
              <a:spcBef>
                <a:spcPts val="963"/>
              </a:spcBef>
              <a:buFont typeface="Arial" panose="020B0604020202020204" pitchFamily="34" charset="0"/>
              <a:buChar char="•"/>
            </a:pPr>
            <a:r>
              <a:rPr lang="en-IN" sz="2400" dirty="0">
                <a:solidFill>
                  <a:schemeClr val="dk1"/>
                </a:solidFill>
                <a:latin typeface="Avenir"/>
              </a:rPr>
              <a:t>TTL indexes are a single-field indexes. Compound indexes  do not support TTL</a:t>
            </a:r>
          </a:p>
        </p:txBody>
      </p:sp>
      <p:pic>
        <p:nvPicPr>
          <p:cNvPr id="7" name="Graphic 1">
            <a:extLst>
              <a:ext uri="{FF2B5EF4-FFF2-40B4-BE49-F238E27FC236}">
                <a16:creationId xmlns:a16="http://schemas.microsoft.com/office/drawing/2014/main" id="{F025DE13-3D8C-4CB7-B99C-3116DE9EBBE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989755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Unique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350E50BA-BF2D-48AC-AE90-B886CDA45402}"/>
              </a:ext>
            </a:extLst>
          </p:cNvPr>
          <p:cNvSpPr txBox="1"/>
          <p:nvPr/>
        </p:nvSpPr>
        <p:spPr>
          <a:xfrm>
            <a:off x="659990" y="1019400"/>
            <a:ext cx="10290809" cy="5663089"/>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Using unique index, MongoDB rejects all documents that contain a duplicate value for the indexed field</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db.items.createIndex</a:t>
            </a:r>
            <a:r>
              <a:rPr lang="en-IN" sz="2400" dirty="0">
                <a:solidFill>
                  <a:schemeClr val="dk1"/>
                </a:solidFill>
                <a:latin typeface="Avenir"/>
              </a:rPr>
              <a:t>( { “item": 1 }, { unique: true } )</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If you use the unique constraint on a compound index, then MongoDB will enforce uniqueness on the combination of values rather than the individual value for any or all values of the key.</a:t>
            </a:r>
          </a:p>
          <a:p>
            <a:pPr marL="342900" indent="-342900">
              <a:spcBef>
                <a:spcPts val="963"/>
              </a:spcBef>
              <a:buFont typeface="Arial" panose="020B0604020202020204" pitchFamily="34" charset="0"/>
              <a:buChar char="•"/>
            </a:pPr>
            <a:r>
              <a:rPr lang="en-IN" sz="2400" dirty="0">
                <a:solidFill>
                  <a:schemeClr val="dk1"/>
                </a:solidFill>
                <a:latin typeface="Avenir"/>
              </a:rPr>
              <a:t>It stores a null value for the document, If a document does not have a value for the indexed field in a unique index</a:t>
            </a:r>
          </a:p>
          <a:p>
            <a:pPr marL="342900" indent="-342900">
              <a:spcBef>
                <a:spcPts val="963"/>
              </a:spcBef>
              <a:buFont typeface="Arial" panose="020B0604020202020204" pitchFamily="34" charset="0"/>
              <a:buChar char="•"/>
            </a:pPr>
            <a:r>
              <a:rPr lang="en-IN" sz="2400" dirty="0">
                <a:solidFill>
                  <a:schemeClr val="dk1"/>
                </a:solidFill>
                <a:latin typeface="Avenir"/>
              </a:rPr>
              <a:t>Because of the unique constraint, MongoDB will only permit one document that lacks the indexed field</a:t>
            </a:r>
          </a:p>
          <a:p>
            <a:pPr marL="342900" indent="-342900">
              <a:spcBef>
                <a:spcPts val="963"/>
              </a:spcBef>
              <a:buFont typeface="Arial" panose="020B0604020202020204" pitchFamily="34" charset="0"/>
              <a:buChar char="•"/>
            </a:pPr>
            <a:r>
              <a:rPr lang="en-IN" sz="2400" dirty="0">
                <a:solidFill>
                  <a:schemeClr val="dk1"/>
                </a:solidFill>
                <a:latin typeface="Avenir"/>
              </a:rPr>
              <a:t>we can also combine the unique constraint with the sparse index to filter these null values from the unique index and avoid the error</a:t>
            </a:r>
            <a:endParaRPr lang="en-US" sz="2400" dirty="0">
              <a:solidFill>
                <a:schemeClr val="dk1"/>
              </a:solidFill>
              <a:latin typeface="Avenir"/>
            </a:endParaRPr>
          </a:p>
        </p:txBody>
      </p:sp>
      <p:pic>
        <p:nvPicPr>
          <p:cNvPr id="7" name="Graphic 1">
            <a:extLst>
              <a:ext uri="{FF2B5EF4-FFF2-40B4-BE49-F238E27FC236}">
                <a16:creationId xmlns:a16="http://schemas.microsoft.com/office/drawing/2014/main" id="{73932624-10E1-4070-AD3B-312DCB57628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4730139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Text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350E50BA-BF2D-48AC-AE90-B886CDA45402}"/>
              </a:ext>
            </a:extLst>
          </p:cNvPr>
          <p:cNvSpPr txBox="1"/>
          <p:nvPr/>
        </p:nvSpPr>
        <p:spPr>
          <a:xfrm>
            <a:off x="659990" y="1019400"/>
            <a:ext cx="10290809" cy="6417141"/>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A MongoDB provides text indexes to support text search of string content in documents of a collection</a:t>
            </a:r>
          </a:p>
          <a:p>
            <a:pPr marL="342900" indent="-342900">
              <a:spcBef>
                <a:spcPts val="963"/>
              </a:spcBef>
              <a:buFont typeface="Arial" panose="020B0604020202020204" pitchFamily="34" charset="0"/>
              <a:buChar char="•"/>
            </a:pPr>
            <a:r>
              <a:rPr lang="en-IN" sz="2400" dirty="0">
                <a:solidFill>
                  <a:schemeClr val="dk1"/>
                </a:solidFill>
                <a:latin typeface="Avenir"/>
              </a:rPr>
              <a:t>Text indexes can be created on any field whose value is a string or an array of string elements</a:t>
            </a:r>
          </a:p>
          <a:p>
            <a:pPr marL="342900" indent="-342900">
              <a:spcBef>
                <a:spcPts val="963"/>
              </a:spcBef>
              <a:buFont typeface="Arial" panose="020B0604020202020204" pitchFamily="34" charset="0"/>
              <a:buChar char="•"/>
            </a:pPr>
            <a:r>
              <a:rPr lang="en-IN" sz="2400" dirty="0">
                <a:solidFill>
                  <a:schemeClr val="dk1"/>
                </a:solidFill>
                <a:latin typeface="Avenir"/>
              </a:rPr>
              <a:t>To perform queries that access the text index, use the $text query operator.</a:t>
            </a:r>
          </a:p>
          <a:p>
            <a:pPr marL="342900" indent="-342900">
              <a:spcBef>
                <a:spcPts val="963"/>
              </a:spcBef>
              <a:buFont typeface="Arial" panose="020B0604020202020204" pitchFamily="34" charset="0"/>
              <a:buChar char="•"/>
            </a:pPr>
            <a:r>
              <a:rPr lang="en-IN" sz="2400" dirty="0">
                <a:solidFill>
                  <a:schemeClr val="dk1"/>
                </a:solidFill>
                <a:latin typeface="Avenir"/>
              </a:rPr>
              <a:t>To  create a text index on a field “</a:t>
            </a:r>
            <a:r>
              <a:rPr lang="en-IN" sz="2400" dirty="0" err="1">
                <a:solidFill>
                  <a:schemeClr val="dk1"/>
                </a:solidFill>
                <a:latin typeface="Avenir"/>
              </a:rPr>
              <a:t>customer_name</a:t>
            </a:r>
            <a:r>
              <a:rPr lang="en-IN" sz="2400" dirty="0">
                <a:solidFill>
                  <a:schemeClr val="dk1"/>
                </a:solidFill>
                <a:latin typeface="Avenir"/>
              </a:rPr>
              <a:t>” that contains a string or an array of string elements of the </a:t>
            </a:r>
            <a:r>
              <a:rPr lang="en-IN" sz="2400" dirty="0" err="1">
                <a:solidFill>
                  <a:schemeClr val="dk1"/>
                </a:solidFill>
                <a:latin typeface="Avenir"/>
              </a:rPr>
              <a:t>customer_info</a:t>
            </a:r>
            <a:r>
              <a:rPr lang="en-IN" sz="2400" dirty="0">
                <a:solidFill>
                  <a:schemeClr val="dk1"/>
                </a:solidFill>
                <a:latin typeface="Avenir"/>
              </a:rPr>
              <a:t> collection: </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db.customer_info.createIndex</a:t>
            </a:r>
            <a:r>
              <a:rPr lang="en-IN" sz="2400" dirty="0">
                <a:solidFill>
                  <a:schemeClr val="dk1"/>
                </a:solidFill>
                <a:latin typeface="Avenir"/>
              </a:rPr>
              <a:t>({”</a:t>
            </a:r>
            <a:r>
              <a:rPr lang="en-IN" sz="2400" dirty="0" err="1">
                <a:solidFill>
                  <a:schemeClr val="dk1"/>
                </a:solidFill>
                <a:latin typeface="Avenir"/>
              </a:rPr>
              <a:t>customer_name</a:t>
            </a:r>
            <a:r>
              <a:rPr lang="en-IN" sz="2400" dirty="0">
                <a:solidFill>
                  <a:schemeClr val="dk1"/>
                </a:solidFill>
                <a:latin typeface="Avenir"/>
              </a:rPr>
              <a:t>”: “text”})</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To perform the text search      </a:t>
            </a:r>
          </a:p>
          <a:p>
            <a:pPr>
              <a:spcBef>
                <a:spcPts val="963"/>
              </a:spcBef>
            </a:pPr>
            <a:r>
              <a:rPr lang="en-IN" sz="2400" b="1" dirty="0">
                <a:solidFill>
                  <a:schemeClr val="dk1"/>
                </a:solidFill>
                <a:latin typeface="Avenir"/>
              </a:rPr>
              <a:t>       </a:t>
            </a:r>
            <a:r>
              <a:rPr lang="en-IN" sz="2400" b="1" dirty="0" err="1">
                <a:solidFill>
                  <a:schemeClr val="dk1"/>
                </a:solidFill>
                <a:latin typeface="Avenir"/>
              </a:rPr>
              <a:t>db.customer_info.find</a:t>
            </a:r>
            <a:r>
              <a:rPr lang="en-IN" sz="2400" b="1" dirty="0">
                <a:solidFill>
                  <a:schemeClr val="dk1"/>
                </a:solidFill>
                <a:latin typeface="Avenir"/>
              </a:rPr>
              <a:t>({$text:{$</a:t>
            </a:r>
            <a:r>
              <a:rPr lang="en-IN" sz="2400" b="1" dirty="0" err="1">
                <a:solidFill>
                  <a:schemeClr val="dk1"/>
                </a:solidFill>
                <a:latin typeface="Avenir"/>
              </a:rPr>
              <a:t>search:”John</a:t>
            </a:r>
            <a:r>
              <a:rPr lang="en-IN" sz="2400" b="1" dirty="0">
                <a:solidFill>
                  <a:schemeClr val="dk1"/>
                </a:solidFill>
                <a:latin typeface="Avenir"/>
              </a:rPr>
              <a:t>”}})</a:t>
            </a:r>
          </a:p>
          <a:p>
            <a:pPr marL="342900" indent="-342900">
              <a:spcBef>
                <a:spcPts val="963"/>
              </a:spcBef>
              <a:buFont typeface="Arial" panose="020B0604020202020204" pitchFamily="34" charset="0"/>
              <a:buChar char="•"/>
            </a:pPr>
            <a:r>
              <a:rPr lang="en-IN" sz="2400" dirty="0">
                <a:solidFill>
                  <a:schemeClr val="dk1"/>
                </a:solidFill>
                <a:latin typeface="Avenir"/>
              </a:rPr>
              <a:t>A collection can have at most one text index</a:t>
            </a:r>
            <a:r>
              <a:rPr lang="en-IN" sz="2400" dirty="0"/>
              <a:t>.</a:t>
            </a:r>
          </a:p>
          <a:p>
            <a:r>
              <a:rPr lang="en-IN" sz="2400" dirty="0"/>
              <a:t>.</a:t>
            </a:r>
            <a:endParaRPr lang="en-US" sz="2400" b="1" dirty="0"/>
          </a:p>
          <a:p>
            <a:pPr marL="342900" indent="-342900">
              <a:spcBef>
                <a:spcPts val="963"/>
              </a:spcBef>
              <a:buFont typeface="Arial" panose="020B0604020202020204" pitchFamily="34" charset="0"/>
              <a:buChar char="•"/>
            </a:pPr>
            <a:endParaRPr lang="en-US" sz="2400" dirty="0">
              <a:solidFill>
                <a:schemeClr val="dk1"/>
              </a:solidFill>
              <a:latin typeface="Avenir"/>
            </a:endParaRPr>
          </a:p>
        </p:txBody>
      </p:sp>
      <p:pic>
        <p:nvPicPr>
          <p:cNvPr id="7" name="Graphic 1">
            <a:extLst>
              <a:ext uri="{FF2B5EF4-FFF2-40B4-BE49-F238E27FC236}">
                <a16:creationId xmlns:a16="http://schemas.microsoft.com/office/drawing/2014/main" id="{0D470C62-DBD3-4C61-B8B4-F32B28554E3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39004543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Multi Languages Text Search</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200FA0C8-07DB-42F5-98C7-13CE41F3F147}"/>
              </a:ext>
            </a:extLst>
          </p:cNvPr>
          <p:cNvSpPr txBox="1"/>
          <p:nvPr/>
        </p:nvSpPr>
        <p:spPr>
          <a:xfrm>
            <a:off x="645242" y="1019400"/>
            <a:ext cx="10305558" cy="4426853"/>
          </a:xfrm>
          <a:prstGeom prst="rect">
            <a:avLst/>
          </a:prstGeom>
          <a:noFill/>
        </p:spPr>
        <p:txBody>
          <a:bodyPr wrap="square">
            <a:spAutoFit/>
          </a:bodyPr>
          <a:lstStyle/>
          <a:p>
            <a:r>
              <a:rPr lang="en-IN" sz="2400" b="1" dirty="0"/>
              <a:t>Supported Languages and Stop Words</a:t>
            </a:r>
          </a:p>
          <a:p>
            <a:pPr marL="342900" indent="-342900">
              <a:spcBef>
                <a:spcPts val="963"/>
              </a:spcBef>
              <a:buFont typeface="Arial" panose="020B0604020202020204" pitchFamily="34" charset="0"/>
              <a:buChar char="•"/>
            </a:pPr>
            <a:r>
              <a:rPr lang="en-IN" sz="2400" dirty="0">
                <a:solidFill>
                  <a:schemeClr val="dk1"/>
                </a:solidFill>
                <a:latin typeface="Avenir"/>
              </a:rPr>
              <a:t> Mongo DB supports text search for various languages and drop language-specific stop words </a:t>
            </a:r>
          </a:p>
          <a:p>
            <a:pPr marL="342900" indent="-342900">
              <a:spcBef>
                <a:spcPts val="963"/>
              </a:spcBef>
              <a:buFont typeface="Arial" panose="020B0604020202020204" pitchFamily="34" charset="0"/>
              <a:buChar char="•"/>
            </a:pPr>
            <a:r>
              <a:rPr lang="en-IN" sz="2400" dirty="0">
                <a:solidFill>
                  <a:schemeClr val="dk1"/>
                </a:solidFill>
                <a:latin typeface="Avenir"/>
              </a:rPr>
              <a:t>For English language it uses simple language-specific suffix stemming and drop stop words like “the”, “an”, “a”, “and”, etc.)</a:t>
            </a:r>
          </a:p>
          <a:p>
            <a:pPr marL="342900" indent="-342900">
              <a:spcBef>
                <a:spcPts val="963"/>
              </a:spcBef>
              <a:buFont typeface="Arial" panose="020B0604020202020204" pitchFamily="34" charset="0"/>
              <a:buChar char="•"/>
            </a:pPr>
            <a:r>
              <a:rPr lang="en-IN" sz="2400" dirty="0" err="1">
                <a:solidFill>
                  <a:schemeClr val="dk1"/>
                </a:solidFill>
                <a:latin typeface="Avenir"/>
              </a:rPr>
              <a:t>db.quotes.createIndex</a:t>
            </a:r>
            <a:r>
              <a:rPr lang="en-IN" sz="2400" dirty="0">
                <a:solidFill>
                  <a:schemeClr val="dk1"/>
                </a:solidFill>
                <a:latin typeface="Avenir"/>
              </a:rPr>
              <a:t>({ content : "text" }, </a:t>
            </a:r>
            <a:r>
              <a:rPr lang="en-IN" sz="2400" dirty="0" err="1">
                <a:solidFill>
                  <a:schemeClr val="dk1"/>
                </a:solidFill>
                <a:latin typeface="Avenir"/>
              </a:rPr>
              <a:t>default_language</a:t>
            </a:r>
            <a:r>
              <a:rPr lang="en-IN" sz="2400" dirty="0">
                <a:solidFill>
                  <a:schemeClr val="dk1"/>
                </a:solidFill>
                <a:latin typeface="Avenir"/>
              </a:rPr>
              <a:t>: "</a:t>
            </a:r>
            <a:r>
              <a:rPr lang="en-IN" sz="2400" dirty="0" err="1">
                <a:solidFill>
                  <a:schemeClr val="dk1"/>
                </a:solidFill>
                <a:latin typeface="Avenir"/>
              </a:rPr>
              <a:t>spanish</a:t>
            </a:r>
            <a:r>
              <a:rPr lang="en-IN" sz="2400" dirty="0">
                <a:solidFill>
                  <a:schemeClr val="dk1"/>
                </a:solidFill>
                <a:latin typeface="Avenir"/>
              </a:rPr>
              <a:t>" })</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Text Search Languages:  </a:t>
            </a:r>
            <a:r>
              <a:rPr lang="en-IN" sz="2400" dirty="0" err="1">
                <a:solidFill>
                  <a:schemeClr val="dk1"/>
                </a:solidFill>
                <a:latin typeface="Avenir"/>
              </a:rPr>
              <a:t>Danish,dutch,English,finish</a:t>
            </a:r>
            <a:r>
              <a:rPr lang="en-IN" sz="2400" dirty="0">
                <a:solidFill>
                  <a:schemeClr val="dk1"/>
                </a:solidFill>
                <a:latin typeface="Avenir"/>
              </a:rPr>
              <a:t>, French, </a:t>
            </a:r>
            <a:r>
              <a:rPr lang="en-IN" sz="2400" dirty="0" err="1">
                <a:solidFill>
                  <a:schemeClr val="dk1"/>
                </a:solidFill>
                <a:latin typeface="Avenir"/>
              </a:rPr>
              <a:t>German,Italian</a:t>
            </a:r>
            <a:r>
              <a:rPr lang="en-IN" sz="2400" dirty="0">
                <a:solidFill>
                  <a:schemeClr val="dk1"/>
                </a:solidFill>
                <a:latin typeface="Avenir"/>
              </a:rPr>
              <a:t>, Norwegian, Portuguese, Romanian, Russian, Spanish. </a:t>
            </a:r>
            <a:r>
              <a:rPr lang="en-IN" sz="2400" dirty="0" err="1">
                <a:solidFill>
                  <a:schemeClr val="dk1"/>
                </a:solidFill>
                <a:latin typeface="Avenir"/>
              </a:rPr>
              <a:t>Swedish,Turkish</a:t>
            </a:r>
            <a:r>
              <a:rPr lang="en-IN" sz="2400" dirty="0">
                <a:solidFill>
                  <a:schemeClr val="dk1"/>
                </a:solidFill>
                <a:latin typeface="Avenir"/>
              </a:rPr>
              <a:t>, Hungarian, Portuguese</a:t>
            </a:r>
          </a:p>
        </p:txBody>
      </p:sp>
      <p:pic>
        <p:nvPicPr>
          <p:cNvPr id="7" name="Graphic 1">
            <a:extLst>
              <a:ext uri="{FF2B5EF4-FFF2-40B4-BE49-F238E27FC236}">
                <a16:creationId xmlns:a16="http://schemas.microsoft.com/office/drawing/2014/main" id="{8D82ED88-7B06-4D73-942E-E8E19FE53314}"/>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713616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Geospatial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1C01E580-7250-4059-B6AD-C113A0DD002F}"/>
              </a:ext>
            </a:extLst>
          </p:cNvPr>
          <p:cNvSpPr txBox="1"/>
          <p:nvPr/>
        </p:nvSpPr>
        <p:spPr>
          <a:xfrm>
            <a:off x="634182" y="1019401"/>
            <a:ext cx="11149780" cy="5904180"/>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MongoDB provides a special type of index for coordinate plane queries, called a geospatial index</a:t>
            </a:r>
          </a:p>
          <a:p>
            <a:pPr marL="342900" indent="-342900">
              <a:spcBef>
                <a:spcPts val="963"/>
              </a:spcBef>
              <a:buFont typeface="Arial" panose="020B0604020202020204" pitchFamily="34" charset="0"/>
              <a:buChar char="•"/>
            </a:pPr>
            <a:r>
              <a:rPr lang="en-IN" sz="2400" b="1" dirty="0" err="1">
                <a:solidFill>
                  <a:schemeClr val="dk1"/>
                </a:solidFill>
                <a:latin typeface="Avenir"/>
              </a:rPr>
              <a:t>db.collection.createIndex</a:t>
            </a:r>
            <a:r>
              <a:rPr lang="en-IN" sz="2400" b="1" dirty="0">
                <a:solidFill>
                  <a:schemeClr val="dk1"/>
                </a:solidFill>
                <a:latin typeface="Avenir"/>
              </a:rPr>
              <a:t>( { &lt;location field&gt; : "2dsphere" } )</a:t>
            </a:r>
          </a:p>
          <a:p>
            <a:endParaRPr lang="en-IN" sz="2400" b="1" dirty="0">
              <a:latin typeface="Fontin Sans Bold"/>
            </a:endParaRPr>
          </a:p>
          <a:p>
            <a:r>
              <a:rPr lang="en-IN" sz="2400" b="1" dirty="0">
                <a:latin typeface="Fontin Sans Bold"/>
              </a:rPr>
              <a:t>Geospatial Query  Operators </a:t>
            </a:r>
          </a:p>
          <a:p>
            <a:pPr marL="285750" indent="-285750">
              <a:buFont typeface="Wingdings" panose="05000000000000000000" pitchFamily="2" charset="2"/>
              <a:buChar char="Ø"/>
            </a:pPr>
            <a:endParaRPr lang="en-IN" sz="2400" b="1" dirty="0"/>
          </a:p>
          <a:p>
            <a:pPr marL="342900" indent="-342900">
              <a:spcBef>
                <a:spcPts val="963"/>
              </a:spcBef>
              <a:buFont typeface="Arial" panose="020B0604020202020204" pitchFamily="34" charset="0"/>
              <a:buChar char="•"/>
            </a:pPr>
            <a:r>
              <a:rPr lang="en-IN" sz="2400" b="1" dirty="0">
                <a:solidFill>
                  <a:schemeClr val="dk1"/>
                </a:solidFill>
                <a:latin typeface="Avenir"/>
              </a:rPr>
              <a:t>Inclusion</a:t>
            </a:r>
            <a:r>
              <a:rPr lang="en-IN" sz="2400" dirty="0">
                <a:solidFill>
                  <a:schemeClr val="dk1"/>
                </a:solidFill>
                <a:latin typeface="Avenir"/>
              </a:rPr>
              <a:t>:  MongoDB can query for locations contained entirely within a specified polygon. Inclusion queries use the $</a:t>
            </a:r>
            <a:r>
              <a:rPr lang="en-IN" sz="2400" dirty="0" err="1">
                <a:solidFill>
                  <a:schemeClr val="dk1"/>
                </a:solidFill>
                <a:latin typeface="Avenir"/>
              </a:rPr>
              <a:t>geoWithin</a:t>
            </a:r>
            <a:r>
              <a:rPr lang="en-IN" sz="2400" dirty="0">
                <a:solidFill>
                  <a:schemeClr val="dk1"/>
                </a:solidFill>
                <a:latin typeface="Avenir"/>
              </a:rPr>
              <a:t> operator.</a:t>
            </a:r>
          </a:p>
          <a:p>
            <a:pPr marL="342900" indent="-342900">
              <a:spcBef>
                <a:spcPts val="963"/>
              </a:spcBef>
              <a:buFont typeface="Arial" panose="020B0604020202020204" pitchFamily="34" charset="0"/>
              <a:buChar char="•"/>
            </a:pPr>
            <a:r>
              <a:rPr lang="en-IN" sz="2400" b="1" dirty="0">
                <a:solidFill>
                  <a:schemeClr val="dk1"/>
                </a:solidFill>
                <a:latin typeface="Avenir"/>
              </a:rPr>
              <a:t>Intersection</a:t>
            </a:r>
            <a:r>
              <a:rPr lang="en-IN" sz="2400" dirty="0">
                <a:solidFill>
                  <a:schemeClr val="dk1"/>
                </a:solidFill>
                <a:latin typeface="Avenir"/>
              </a:rPr>
              <a:t> : MongoDB can query for locations that intersect with a specified geometry. These queries apply only to data on a spherical surface. These queries use the $</a:t>
            </a:r>
            <a:r>
              <a:rPr lang="en-IN" sz="2400" dirty="0" err="1">
                <a:solidFill>
                  <a:schemeClr val="dk1"/>
                </a:solidFill>
                <a:latin typeface="Avenir"/>
              </a:rPr>
              <a:t>geoIntersects</a:t>
            </a:r>
            <a:r>
              <a:rPr lang="en-IN" sz="2400" dirty="0">
                <a:solidFill>
                  <a:schemeClr val="dk1"/>
                </a:solidFill>
                <a:latin typeface="Avenir"/>
              </a:rPr>
              <a:t> operator.</a:t>
            </a:r>
          </a:p>
          <a:p>
            <a:pPr marL="342900" indent="-342900">
              <a:spcBef>
                <a:spcPts val="963"/>
              </a:spcBef>
              <a:buFont typeface="Arial" panose="020B0604020202020204" pitchFamily="34" charset="0"/>
              <a:buChar char="•"/>
            </a:pPr>
            <a:r>
              <a:rPr lang="en-IN" sz="2400" b="1" dirty="0">
                <a:solidFill>
                  <a:schemeClr val="dk1"/>
                </a:solidFill>
                <a:latin typeface="Avenir"/>
              </a:rPr>
              <a:t>Proximity</a:t>
            </a:r>
            <a:r>
              <a:rPr lang="en-IN" sz="2400" dirty="0">
                <a:solidFill>
                  <a:schemeClr val="dk1"/>
                </a:solidFill>
                <a:latin typeface="Avenir"/>
              </a:rPr>
              <a:t> MongoDB can query for the points nearest to another point. Proximity queries use the $near operator</a:t>
            </a:r>
            <a:r>
              <a:rPr lang="en-IN" sz="2400" dirty="0"/>
              <a:t>.</a:t>
            </a:r>
          </a:p>
          <a:p>
            <a:pPr marL="342900" indent="-342900">
              <a:spcBef>
                <a:spcPts val="963"/>
              </a:spcBef>
              <a:buFont typeface="Arial" panose="020B0604020202020204" pitchFamily="34" charset="0"/>
              <a:buChar char="•"/>
            </a:pPr>
            <a:endParaRPr lang="en-IN" sz="2400" dirty="0">
              <a:solidFill>
                <a:schemeClr val="dk1"/>
              </a:solidFill>
              <a:latin typeface="Avenir"/>
            </a:endParaRPr>
          </a:p>
        </p:txBody>
      </p:sp>
      <p:pic>
        <p:nvPicPr>
          <p:cNvPr id="7" name="Graphic 1">
            <a:extLst>
              <a:ext uri="{FF2B5EF4-FFF2-40B4-BE49-F238E27FC236}">
                <a16:creationId xmlns:a16="http://schemas.microsoft.com/office/drawing/2014/main" id="{2E9C00B1-7A2B-4603-84AB-08F3ABAFC0B8}"/>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9081684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Geospatial </a:t>
            </a:r>
            <a:r>
              <a:rPr lang="en-IN" sz="3200" b="1" dirty="0">
                <a:solidFill>
                  <a:srgbClr val="434343"/>
                </a:solidFill>
                <a:latin typeface="Avenir"/>
              </a:rPr>
              <a:t>$</a:t>
            </a:r>
            <a:r>
              <a:rPr lang="en-IN" sz="3200" b="1" dirty="0" err="1">
                <a:solidFill>
                  <a:srgbClr val="434343"/>
                </a:solidFill>
                <a:latin typeface="Avenir"/>
              </a:rPr>
              <a:t>geoWithin</a:t>
            </a:r>
            <a:r>
              <a:rPr lang="en-IN" sz="3200" dirty="0"/>
              <a:t> </a:t>
            </a:r>
            <a:r>
              <a:rPr lang="en-IN" sz="3200" b="1" dirty="0">
                <a:solidFill>
                  <a:srgbClr val="434343"/>
                </a:solidFill>
                <a:latin typeface="Avenir"/>
                <a:ea typeface="Avenir"/>
                <a:cs typeface="Avenir"/>
                <a:sym typeface="Avenir"/>
              </a:rPr>
              <a:t>Query </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77" name="Google Shape;77;p16"/>
          <p:cNvPicPr preferRelativeResize="0"/>
          <p:nvPr/>
        </p:nvPicPr>
        <p:blipFill rotWithShape="1">
          <a:blip r:embed="rId3">
            <a:alphaModFix/>
          </a:blip>
          <a:srcRect/>
          <a:stretch/>
        </p:blipFill>
        <p:spPr>
          <a:xfrm>
            <a:off x="10769600" y="137767"/>
            <a:ext cx="1219200" cy="1219200"/>
          </a:xfrm>
          <a:prstGeom prst="rect">
            <a:avLst/>
          </a:prstGeom>
          <a:noFill/>
          <a:ln>
            <a:noFill/>
          </a:ln>
        </p:spPr>
      </p:pic>
      <p:sp>
        <p:nvSpPr>
          <p:cNvPr id="9" name="TextBox 8">
            <a:extLst>
              <a:ext uri="{FF2B5EF4-FFF2-40B4-BE49-F238E27FC236}">
                <a16:creationId xmlns:a16="http://schemas.microsoft.com/office/drawing/2014/main" id="{C14AE3B6-B266-4F7B-A953-723BB2659337}"/>
              </a:ext>
            </a:extLst>
          </p:cNvPr>
          <p:cNvSpPr txBox="1"/>
          <p:nvPr/>
        </p:nvSpPr>
        <p:spPr>
          <a:xfrm>
            <a:off x="752168" y="1582341"/>
            <a:ext cx="10663084" cy="4596130"/>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The $</a:t>
            </a:r>
            <a:r>
              <a:rPr lang="en-IN" sz="2400" dirty="0" err="1">
                <a:solidFill>
                  <a:schemeClr val="dk1"/>
                </a:solidFill>
                <a:latin typeface="Avenir"/>
              </a:rPr>
              <a:t>geoWithin</a:t>
            </a:r>
            <a:r>
              <a:rPr lang="en-IN" sz="2400" dirty="0">
                <a:solidFill>
                  <a:schemeClr val="dk1"/>
                </a:solidFill>
                <a:latin typeface="Avenir"/>
              </a:rPr>
              <a:t> operator queries for location data found within a </a:t>
            </a:r>
            <a:r>
              <a:rPr lang="en-IN" sz="2400" dirty="0" err="1">
                <a:solidFill>
                  <a:schemeClr val="dk1"/>
                </a:solidFill>
                <a:latin typeface="Avenir"/>
              </a:rPr>
              <a:t>GeoJSON</a:t>
            </a:r>
            <a:r>
              <a:rPr lang="en-IN" sz="2400" dirty="0">
                <a:solidFill>
                  <a:schemeClr val="dk1"/>
                </a:solidFill>
                <a:latin typeface="Avenir"/>
              </a:rPr>
              <a:t> polygon. Your location data must be stored in </a:t>
            </a:r>
            <a:r>
              <a:rPr lang="en-IN" sz="2400" dirty="0" err="1">
                <a:solidFill>
                  <a:schemeClr val="dk1"/>
                </a:solidFill>
                <a:latin typeface="Avenir"/>
              </a:rPr>
              <a:t>GeoJSON</a:t>
            </a:r>
            <a:r>
              <a:rPr lang="en-IN" sz="2400" dirty="0">
                <a:solidFill>
                  <a:schemeClr val="dk1"/>
                </a:solidFill>
                <a:latin typeface="Avenir"/>
              </a:rPr>
              <a:t> format. Use the following syntax:</a:t>
            </a:r>
          </a:p>
          <a:p>
            <a:endParaRPr lang="en-IN" dirty="0"/>
          </a:p>
          <a:p>
            <a:r>
              <a:rPr lang="en-IN" sz="2400" b="1" dirty="0"/>
              <a:t>db.&lt;collection&gt;.find( { &lt;location field&gt; : { $</a:t>
            </a:r>
            <a:r>
              <a:rPr lang="en-IN" sz="2400" b="1" dirty="0" err="1">
                <a:solidFill>
                  <a:schemeClr val="accent4"/>
                </a:solidFill>
              </a:rPr>
              <a:t>geoWithin</a:t>
            </a:r>
            <a:r>
              <a:rPr lang="en-IN" sz="2400" b="1" dirty="0">
                <a:solidFill>
                  <a:schemeClr val="accent4"/>
                </a:solidFill>
              </a:rPr>
              <a:t> </a:t>
            </a:r>
            <a:r>
              <a:rPr lang="en-IN" sz="2400" b="1" dirty="0"/>
              <a:t>:{ $geometry :{ type : "Polygon" ,coordinates : [ &lt;coordinates&gt; ]} } } } </a:t>
            </a:r>
            <a:r>
              <a:rPr lang="en-IN" b="1" dirty="0"/>
              <a:t>)</a:t>
            </a:r>
          </a:p>
          <a:p>
            <a:endParaRPr lang="en-IN" dirty="0"/>
          </a:p>
          <a:p>
            <a:pPr marL="342900" indent="-342900">
              <a:spcBef>
                <a:spcPts val="963"/>
              </a:spcBef>
              <a:buFont typeface="Arial" panose="020B0604020202020204" pitchFamily="34" charset="0"/>
              <a:buChar char="•"/>
            </a:pPr>
            <a:r>
              <a:rPr lang="en-IN" sz="2400" dirty="0">
                <a:solidFill>
                  <a:schemeClr val="dk1"/>
                </a:solidFill>
                <a:latin typeface="Avenir"/>
              </a:rPr>
              <a:t>The following example selects all points and shapes that exist entirely within a </a:t>
            </a:r>
            <a:r>
              <a:rPr lang="en-IN" sz="2400" dirty="0" err="1">
                <a:solidFill>
                  <a:schemeClr val="dk1"/>
                </a:solidFill>
                <a:latin typeface="Avenir"/>
              </a:rPr>
              <a:t>GeoJSON</a:t>
            </a:r>
            <a:r>
              <a:rPr lang="en-IN" sz="2400" dirty="0">
                <a:solidFill>
                  <a:schemeClr val="dk1"/>
                </a:solidFill>
                <a:latin typeface="Avenir"/>
              </a:rPr>
              <a:t> polygon:</a:t>
            </a:r>
          </a:p>
          <a:p>
            <a:pPr>
              <a:spcBef>
                <a:spcPts val="963"/>
              </a:spcBef>
            </a:pPr>
            <a:endParaRPr lang="en-IN" sz="2400" dirty="0">
              <a:solidFill>
                <a:schemeClr val="dk1"/>
              </a:solidFill>
              <a:latin typeface="Avenir"/>
            </a:endParaRPr>
          </a:p>
          <a:p>
            <a:r>
              <a:rPr lang="en-IN" sz="2400" b="1" dirty="0" err="1"/>
              <a:t>db.places.find</a:t>
            </a:r>
            <a:r>
              <a:rPr lang="en-IN" sz="2400" b="1" dirty="0"/>
              <a:t>( { </a:t>
            </a:r>
            <a:r>
              <a:rPr lang="en-IN" sz="2400" b="1" dirty="0" err="1"/>
              <a:t>loc</a:t>
            </a:r>
            <a:r>
              <a:rPr lang="en-IN" sz="2400" b="1" dirty="0"/>
              <a:t> :{ $</a:t>
            </a:r>
            <a:r>
              <a:rPr lang="en-IN" sz="2400" b="1" dirty="0" err="1"/>
              <a:t>geoWithin</a:t>
            </a:r>
            <a:r>
              <a:rPr lang="en-IN" sz="2400" b="1" dirty="0"/>
              <a:t> :{ $</a:t>
            </a:r>
            <a:r>
              <a:rPr lang="en-IN" sz="2400" b="1" dirty="0">
                <a:solidFill>
                  <a:schemeClr val="accent4"/>
                </a:solidFill>
              </a:rPr>
              <a:t>geometry</a:t>
            </a:r>
            <a:r>
              <a:rPr lang="en-IN" sz="2400" b="1" dirty="0"/>
              <a:t> :{ type : "Polygon" ,coordinates : [ [[ 0 , 0 ] ,[ 3 , 6 ] ,[ 6 , 1 ] ,[ 0 , 0 ]] ]} } } } )</a:t>
            </a:r>
          </a:p>
        </p:txBody>
      </p:sp>
    </p:spTree>
    <p:extLst>
      <p:ext uri="{BB962C8B-B14F-4D97-AF65-F5344CB8AC3E}">
        <p14:creationId xmlns:p14="http://schemas.microsoft.com/office/powerpoint/2010/main" val="24038458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Geospatial </a:t>
            </a:r>
            <a:r>
              <a:rPr lang="en-IN" sz="3200" b="1" dirty="0">
                <a:solidFill>
                  <a:srgbClr val="434343"/>
                </a:solidFill>
                <a:latin typeface="Avenir"/>
              </a:rPr>
              <a:t>Proximity</a:t>
            </a:r>
            <a:r>
              <a:rPr lang="en-IN" sz="3200" dirty="0"/>
              <a:t>  </a:t>
            </a:r>
            <a:r>
              <a:rPr lang="en-IN" sz="3200" b="1" dirty="0">
                <a:solidFill>
                  <a:srgbClr val="434343"/>
                </a:solidFill>
                <a:latin typeface="Avenir"/>
                <a:ea typeface="Avenir"/>
                <a:cs typeface="Avenir"/>
                <a:sym typeface="Avenir"/>
              </a:rPr>
              <a:t>Query </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9" name="TextBox 8">
            <a:extLst>
              <a:ext uri="{FF2B5EF4-FFF2-40B4-BE49-F238E27FC236}">
                <a16:creationId xmlns:a16="http://schemas.microsoft.com/office/drawing/2014/main" id="{C14AE3B6-B266-4F7B-A953-723BB2659337}"/>
              </a:ext>
            </a:extLst>
          </p:cNvPr>
          <p:cNvSpPr txBox="1"/>
          <p:nvPr/>
        </p:nvSpPr>
        <p:spPr>
          <a:xfrm>
            <a:off x="752168" y="1582341"/>
            <a:ext cx="10663084" cy="5109091"/>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Proximity queries return the points closest to the defined point and sorts the results by distance. A proximity query on </a:t>
            </a:r>
            <a:r>
              <a:rPr lang="en-IN" sz="2400" dirty="0" err="1">
                <a:solidFill>
                  <a:schemeClr val="dk1"/>
                </a:solidFill>
                <a:latin typeface="Avenir"/>
              </a:rPr>
              <a:t>GeoJSON</a:t>
            </a:r>
            <a:r>
              <a:rPr lang="en-IN" sz="2400" dirty="0">
                <a:solidFill>
                  <a:schemeClr val="dk1"/>
                </a:solidFill>
                <a:latin typeface="Avenir"/>
              </a:rPr>
              <a:t> data requires a 2dsphere index</a:t>
            </a:r>
          </a:p>
          <a:p>
            <a:pPr marL="342900" indent="-342900">
              <a:spcBef>
                <a:spcPts val="963"/>
              </a:spcBef>
              <a:buFont typeface="Arial" panose="020B0604020202020204" pitchFamily="34" charset="0"/>
              <a:buChar char="•"/>
            </a:pPr>
            <a:r>
              <a:rPr lang="en-IN" sz="2400" dirty="0">
                <a:solidFill>
                  <a:schemeClr val="dk1"/>
                </a:solidFill>
                <a:latin typeface="Avenir"/>
              </a:rPr>
              <a:t>To query for proximity to a </a:t>
            </a:r>
            <a:r>
              <a:rPr lang="en-IN" sz="2400" dirty="0" err="1">
                <a:solidFill>
                  <a:schemeClr val="dk1"/>
                </a:solidFill>
                <a:latin typeface="Avenir"/>
              </a:rPr>
              <a:t>GeoJSON</a:t>
            </a:r>
            <a:r>
              <a:rPr lang="en-IN" sz="2400" dirty="0">
                <a:solidFill>
                  <a:schemeClr val="dk1"/>
                </a:solidFill>
                <a:latin typeface="Avenir"/>
              </a:rPr>
              <a:t> point, use either the $near operator or </a:t>
            </a:r>
            <a:r>
              <a:rPr lang="en-IN" sz="2400" dirty="0" err="1">
                <a:solidFill>
                  <a:schemeClr val="dk1"/>
                </a:solidFill>
                <a:latin typeface="Avenir"/>
              </a:rPr>
              <a:t>geoNear</a:t>
            </a:r>
            <a:r>
              <a:rPr lang="en-IN" sz="2400" dirty="0">
                <a:solidFill>
                  <a:schemeClr val="dk1"/>
                </a:solidFill>
                <a:latin typeface="Avenir"/>
              </a:rPr>
              <a:t> command. Distance is in meters.</a:t>
            </a:r>
          </a:p>
          <a:p>
            <a:pPr lvl="1" defTabSz="881249">
              <a:spcBef>
                <a:spcPts val="963"/>
              </a:spcBef>
            </a:pPr>
            <a:r>
              <a:rPr lang="en-IN" b="1" dirty="0"/>
              <a:t>db.&lt;collection&gt;.find( { &lt;location field&gt; :{ $near :{ $geometry :{ type : "Point" ,coordinates : [ &lt;longitude&gt; , &lt;latitude&gt; ] } ,$</a:t>
            </a:r>
            <a:r>
              <a:rPr lang="en-IN" b="1" dirty="0" err="1"/>
              <a:t>maxDistance</a:t>
            </a:r>
            <a:r>
              <a:rPr lang="en-IN" b="1" dirty="0"/>
              <a:t> : &lt;distance in meters&gt;} } } )</a:t>
            </a:r>
          </a:p>
          <a:p>
            <a:pPr marL="342900" indent="-342900">
              <a:spcBef>
                <a:spcPts val="963"/>
              </a:spcBef>
              <a:buFont typeface="Arial" panose="020B0604020202020204" pitchFamily="34" charset="0"/>
              <a:buChar char="•"/>
            </a:pPr>
            <a:r>
              <a:rPr lang="en-IN" sz="2400" dirty="0">
                <a:solidFill>
                  <a:schemeClr val="dk1"/>
                </a:solidFill>
                <a:latin typeface="Avenir"/>
              </a:rPr>
              <a:t>The </a:t>
            </a:r>
            <a:r>
              <a:rPr lang="en-IN" sz="2400" dirty="0" err="1">
                <a:solidFill>
                  <a:schemeClr val="dk1"/>
                </a:solidFill>
                <a:latin typeface="Avenir"/>
              </a:rPr>
              <a:t>geoNear</a:t>
            </a:r>
            <a:r>
              <a:rPr lang="en-IN" sz="2400" dirty="0">
                <a:solidFill>
                  <a:schemeClr val="dk1"/>
                </a:solidFill>
                <a:latin typeface="Avenir"/>
              </a:rPr>
              <a:t> command uses the following syntax:</a:t>
            </a:r>
          </a:p>
          <a:p>
            <a:pPr lvl="1" defTabSz="881249">
              <a:spcBef>
                <a:spcPts val="963"/>
              </a:spcBef>
            </a:pPr>
            <a:r>
              <a:rPr lang="en-IN" b="1" dirty="0" err="1"/>
              <a:t>db.runCommand</a:t>
            </a:r>
            <a:r>
              <a:rPr lang="en-IN" b="1" dirty="0"/>
              <a:t>( { </a:t>
            </a:r>
            <a:r>
              <a:rPr lang="en-IN" b="1" dirty="0" err="1"/>
              <a:t>geoNear</a:t>
            </a:r>
            <a:r>
              <a:rPr lang="en-IN" b="1" dirty="0"/>
              <a:t> : &lt;collection&gt; ,near : { type : "Point" ,coordinates: [ &lt;longitude&gt;, &lt;latitude&gt; ] } ,spherical : true } )</a:t>
            </a:r>
          </a:p>
          <a:p>
            <a:pPr marL="342900" indent="-342900">
              <a:spcBef>
                <a:spcPts val="963"/>
              </a:spcBef>
              <a:buFont typeface="Arial" panose="020B0604020202020204" pitchFamily="34" charset="0"/>
              <a:buChar char="•"/>
            </a:pPr>
            <a:r>
              <a:rPr lang="en-IN" sz="2400" dirty="0">
                <a:solidFill>
                  <a:schemeClr val="dk1"/>
                </a:solidFill>
                <a:latin typeface="Avenir"/>
              </a:rPr>
              <a:t>To select all grid coordinates in a “spherical cap” on a sphere, use $</a:t>
            </a:r>
            <a:r>
              <a:rPr lang="en-IN" sz="2400" dirty="0" err="1">
                <a:solidFill>
                  <a:schemeClr val="dk1"/>
                </a:solidFill>
                <a:latin typeface="Avenir"/>
              </a:rPr>
              <a:t>geoWithin</a:t>
            </a:r>
            <a:r>
              <a:rPr lang="en-IN" sz="2400" dirty="0">
                <a:solidFill>
                  <a:schemeClr val="dk1"/>
                </a:solidFill>
                <a:latin typeface="Avenir"/>
              </a:rPr>
              <a:t> with the $</a:t>
            </a:r>
            <a:r>
              <a:rPr lang="en-IN" sz="2400" dirty="0" err="1">
                <a:solidFill>
                  <a:schemeClr val="dk1"/>
                </a:solidFill>
                <a:latin typeface="Avenir"/>
              </a:rPr>
              <a:t>centerSphere</a:t>
            </a:r>
            <a:r>
              <a:rPr lang="en-IN" sz="2400" dirty="0">
                <a:solidFill>
                  <a:schemeClr val="dk1"/>
                </a:solidFill>
                <a:latin typeface="Avenir"/>
              </a:rPr>
              <a:t> operator.</a:t>
            </a:r>
          </a:p>
          <a:p>
            <a:pPr marL="342900" indent="-342900">
              <a:spcBef>
                <a:spcPts val="963"/>
              </a:spcBef>
              <a:buFont typeface="Arial" panose="020B0604020202020204" pitchFamily="34" charset="0"/>
              <a:buChar char="•"/>
            </a:pPr>
            <a:r>
              <a:rPr lang="en-IN" b="1" dirty="0">
                <a:solidFill>
                  <a:schemeClr val="dk1"/>
                </a:solidFill>
                <a:latin typeface="Avenir"/>
              </a:rPr>
              <a:t>db.&lt;collection&gt;.find( { &lt;location field&gt; :{ $</a:t>
            </a:r>
            <a:r>
              <a:rPr lang="en-IN" b="1" dirty="0" err="1">
                <a:solidFill>
                  <a:schemeClr val="dk1"/>
                </a:solidFill>
                <a:latin typeface="Avenir"/>
              </a:rPr>
              <a:t>geoWithin</a:t>
            </a:r>
            <a:r>
              <a:rPr lang="en-IN" b="1" dirty="0">
                <a:solidFill>
                  <a:schemeClr val="dk1"/>
                </a:solidFill>
                <a:latin typeface="Avenir"/>
              </a:rPr>
              <a:t> :{ $</a:t>
            </a:r>
            <a:r>
              <a:rPr lang="en-IN" b="1" dirty="0" err="1">
                <a:solidFill>
                  <a:schemeClr val="dk1"/>
                </a:solidFill>
                <a:latin typeface="Avenir"/>
              </a:rPr>
              <a:t>centerSphere</a:t>
            </a:r>
            <a:r>
              <a:rPr lang="en-IN" b="1" dirty="0">
                <a:solidFill>
                  <a:schemeClr val="dk1"/>
                </a:solidFill>
                <a:latin typeface="Avenir"/>
              </a:rPr>
              <a:t> :[ [ &lt;x&gt;, &lt;y&gt; ] , &lt;radius&gt; ] }} }</a:t>
            </a:r>
          </a:p>
          <a:p>
            <a:endParaRPr lang="en-IN" b="1" dirty="0"/>
          </a:p>
        </p:txBody>
      </p:sp>
      <p:pic>
        <p:nvPicPr>
          <p:cNvPr id="7" name="Graphic 1">
            <a:extLst>
              <a:ext uri="{FF2B5EF4-FFF2-40B4-BE49-F238E27FC236}">
                <a16:creationId xmlns:a16="http://schemas.microsoft.com/office/drawing/2014/main" id="{9AD60941-D2A0-4407-B0F2-788D1338894D}"/>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3630176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Sparse Indexes</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350B893D-C6D8-48C6-AC70-DC7F5947EB46}"/>
              </a:ext>
            </a:extLst>
          </p:cNvPr>
          <p:cNvSpPr txBox="1"/>
          <p:nvPr/>
        </p:nvSpPr>
        <p:spPr>
          <a:xfrm>
            <a:off x="682236" y="1019400"/>
            <a:ext cx="10674022" cy="5421997"/>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Sparse indexes only contain entries for documents that have the indexed field, even if the index field contains a null value.</a:t>
            </a:r>
          </a:p>
          <a:p>
            <a:pPr marL="342900" indent="-342900">
              <a:spcBef>
                <a:spcPts val="963"/>
              </a:spcBef>
              <a:buFont typeface="Arial" panose="020B0604020202020204" pitchFamily="34" charset="0"/>
              <a:buChar char="•"/>
            </a:pPr>
            <a:r>
              <a:rPr lang="en-IN" sz="2400" dirty="0">
                <a:solidFill>
                  <a:schemeClr val="dk1"/>
                </a:solidFill>
                <a:latin typeface="Avenir"/>
              </a:rPr>
              <a:t>It ignores and skips over those document which don’t have the indexed field.</a:t>
            </a:r>
          </a:p>
          <a:p>
            <a:pPr marL="342900" indent="-342900">
              <a:spcBef>
                <a:spcPts val="963"/>
              </a:spcBef>
              <a:buFont typeface="Arial" panose="020B0604020202020204" pitchFamily="34" charset="0"/>
              <a:buChar char="•"/>
            </a:pPr>
            <a:r>
              <a:rPr lang="en-IN" sz="2400" dirty="0">
                <a:solidFill>
                  <a:schemeClr val="dk1"/>
                </a:solidFill>
                <a:latin typeface="Avenir"/>
              </a:rPr>
              <a:t>The index is called as “sparse” because it does not include all documents of a collection.</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db.sales.createIndex</a:t>
            </a:r>
            <a:r>
              <a:rPr lang="en-IN" sz="2400" dirty="0">
                <a:solidFill>
                  <a:schemeClr val="dk1"/>
                </a:solidFill>
                <a:latin typeface="Avenir"/>
              </a:rPr>
              <a:t>( { “</a:t>
            </a:r>
            <a:r>
              <a:rPr lang="en-IN" sz="2400" dirty="0" err="1">
                <a:solidFill>
                  <a:schemeClr val="dk1"/>
                </a:solidFill>
                <a:latin typeface="Avenir"/>
              </a:rPr>
              <a:t>sales_id</a:t>
            </a:r>
            <a:r>
              <a:rPr lang="en-IN" sz="2400" dirty="0">
                <a:solidFill>
                  <a:schemeClr val="dk1"/>
                </a:solidFill>
                <a:latin typeface="Avenir"/>
              </a:rPr>
              <a:t>": 1 }, { sparse: true } )</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2d (geospatial) and text indexes are sparse by Default </a:t>
            </a:r>
          </a:p>
          <a:p>
            <a:pPr marL="342900" indent="-342900">
              <a:spcBef>
                <a:spcPts val="963"/>
              </a:spcBef>
              <a:buFont typeface="Arial" panose="020B0604020202020204" pitchFamily="34" charset="0"/>
              <a:buChar char="•"/>
            </a:pPr>
            <a:endParaRPr lang="en-IN" sz="2400"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Sparse and unique Properties: An index that has both sparse and unique  properties </a:t>
            </a:r>
            <a:r>
              <a:rPr lang="en-IN" sz="2400" dirty="0" err="1">
                <a:solidFill>
                  <a:schemeClr val="dk1"/>
                </a:solidFill>
                <a:latin typeface="Avenir"/>
              </a:rPr>
              <a:t>defined,prevents</a:t>
            </a:r>
            <a:r>
              <a:rPr lang="en-IN" sz="2400" dirty="0">
                <a:solidFill>
                  <a:schemeClr val="dk1"/>
                </a:solidFill>
                <a:latin typeface="Avenir"/>
              </a:rPr>
              <a:t> collection from having documents with duplicate values for a field but allows multiple documents that omit the key.</a:t>
            </a:r>
            <a:endParaRPr lang="en-US" sz="2400" dirty="0">
              <a:solidFill>
                <a:schemeClr val="dk1"/>
              </a:solidFill>
              <a:latin typeface="Avenir"/>
            </a:endParaRPr>
          </a:p>
        </p:txBody>
      </p:sp>
      <p:pic>
        <p:nvPicPr>
          <p:cNvPr id="7" name="Graphic 1">
            <a:extLst>
              <a:ext uri="{FF2B5EF4-FFF2-40B4-BE49-F238E27FC236}">
                <a16:creationId xmlns:a16="http://schemas.microsoft.com/office/drawing/2014/main" id="{1DEDA51F-B063-4D31-A5AB-910BB83579F0}"/>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93073" y="189875"/>
            <a:ext cx="2447925" cy="762000"/>
          </a:xfrm>
          <a:prstGeom prst="rect">
            <a:avLst/>
          </a:prstGeom>
        </p:spPr>
      </p:pic>
    </p:spTree>
    <p:extLst>
      <p:ext uri="{BB962C8B-B14F-4D97-AF65-F5344CB8AC3E}">
        <p14:creationId xmlns:p14="http://schemas.microsoft.com/office/powerpoint/2010/main" val="34038906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Index Creation</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350B893D-C6D8-48C6-AC70-DC7F5947EB46}"/>
              </a:ext>
            </a:extLst>
          </p:cNvPr>
          <p:cNvSpPr txBox="1"/>
          <p:nvPr/>
        </p:nvSpPr>
        <p:spPr>
          <a:xfrm>
            <a:off x="682236" y="1019400"/>
            <a:ext cx="10674022" cy="5550237"/>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By default, creating an index blocks all other operations by holding X exclusive lock on that collection</a:t>
            </a:r>
          </a:p>
          <a:p>
            <a:pPr marL="342900" indent="-342900">
              <a:spcBef>
                <a:spcPts val="963"/>
              </a:spcBef>
              <a:buFont typeface="Arial" panose="020B0604020202020204" pitchFamily="34" charset="0"/>
              <a:buChar char="•"/>
            </a:pPr>
            <a:r>
              <a:rPr lang="en-IN" sz="2400" dirty="0">
                <a:solidFill>
                  <a:schemeClr val="dk1"/>
                </a:solidFill>
                <a:latin typeface="Avenir"/>
              </a:rPr>
              <a:t>The Collection that holds the collection is unavailable for read or write operations until the index build completes.</a:t>
            </a:r>
          </a:p>
          <a:p>
            <a:pPr marL="342900" indent="-342900">
              <a:spcBef>
                <a:spcPts val="963"/>
              </a:spcBef>
              <a:buFont typeface="Arial" panose="020B0604020202020204" pitchFamily="34" charset="0"/>
              <a:buChar char="•"/>
            </a:pPr>
            <a:r>
              <a:rPr lang="en-IN" sz="2400" dirty="0">
                <a:solidFill>
                  <a:schemeClr val="dk1"/>
                </a:solidFill>
                <a:latin typeface="Avenir"/>
              </a:rPr>
              <a:t>For potentially long running index building operations, consider the creating the indexes in the background</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b="1" dirty="0" err="1">
                <a:solidFill>
                  <a:schemeClr val="dk1"/>
                </a:solidFill>
                <a:latin typeface="Avenir"/>
              </a:rPr>
              <a:t>db.people.createIndex</a:t>
            </a:r>
            <a:r>
              <a:rPr lang="en-IN" sz="2400" b="1" dirty="0">
                <a:solidFill>
                  <a:schemeClr val="dk1"/>
                </a:solidFill>
                <a:latin typeface="Avenir"/>
              </a:rPr>
              <a:t>( { </a:t>
            </a:r>
            <a:r>
              <a:rPr lang="en-IN" sz="2400" b="1" dirty="0" err="1">
                <a:solidFill>
                  <a:schemeClr val="dk1"/>
                </a:solidFill>
                <a:latin typeface="Avenir"/>
              </a:rPr>
              <a:t>zipcode</a:t>
            </a:r>
            <a:r>
              <a:rPr lang="en-IN" sz="2400" b="1" dirty="0">
                <a:solidFill>
                  <a:schemeClr val="dk1"/>
                </a:solidFill>
                <a:latin typeface="Avenir"/>
              </a:rPr>
              <a:t>: 1}, {background: true} )</a:t>
            </a:r>
          </a:p>
          <a:p>
            <a:pPr>
              <a:spcBef>
                <a:spcPts val="963"/>
              </a:spcBef>
            </a:pPr>
            <a:endParaRPr lang="en-IN" sz="2400" b="1" dirty="0">
              <a:solidFill>
                <a:schemeClr val="dk1"/>
              </a:solidFill>
              <a:latin typeface="Avenir"/>
            </a:endParaRPr>
          </a:p>
          <a:p>
            <a:pPr marL="342900" indent="-342900">
              <a:spcBef>
                <a:spcPts val="963"/>
              </a:spcBef>
              <a:buFont typeface="Arial" panose="020B0604020202020204" pitchFamily="34" charset="0"/>
              <a:buChar char="•"/>
            </a:pPr>
            <a:r>
              <a:rPr lang="en-IN" sz="2400" dirty="0">
                <a:solidFill>
                  <a:schemeClr val="dk1"/>
                </a:solidFill>
                <a:latin typeface="Avenir"/>
              </a:rPr>
              <a:t> By default, background is false for building MongoDB indexes.</a:t>
            </a:r>
          </a:p>
          <a:p>
            <a:pPr marL="342900" indent="-342900">
              <a:spcBef>
                <a:spcPts val="963"/>
              </a:spcBef>
              <a:buFont typeface="Arial" panose="020B0604020202020204" pitchFamily="34" charset="0"/>
              <a:buChar char="•"/>
            </a:pPr>
            <a:r>
              <a:rPr lang="en-IN" sz="2400" dirty="0">
                <a:solidFill>
                  <a:schemeClr val="dk1"/>
                </a:solidFill>
                <a:latin typeface="Avenir"/>
              </a:rPr>
              <a:t>You can combine the background option with other options, as in the following:</a:t>
            </a:r>
          </a:p>
          <a:p>
            <a:pPr marL="342900" indent="-342900">
              <a:spcBef>
                <a:spcPts val="963"/>
              </a:spcBef>
              <a:buFont typeface="Arial" panose="020B0604020202020204" pitchFamily="34" charset="0"/>
              <a:buChar char="•"/>
            </a:pPr>
            <a:r>
              <a:rPr lang="en-IN" sz="2400" dirty="0">
                <a:solidFill>
                  <a:schemeClr val="dk1"/>
                </a:solidFill>
                <a:latin typeface="Avenir"/>
              </a:rPr>
              <a:t>       </a:t>
            </a:r>
            <a:r>
              <a:rPr lang="en-IN" sz="2400" dirty="0" err="1">
                <a:solidFill>
                  <a:schemeClr val="dk1"/>
                </a:solidFill>
                <a:latin typeface="Avenir"/>
              </a:rPr>
              <a:t>db.people.createIndex</a:t>
            </a:r>
            <a:r>
              <a:rPr lang="en-IN" sz="2400" dirty="0">
                <a:solidFill>
                  <a:schemeClr val="dk1"/>
                </a:solidFill>
                <a:latin typeface="Avenir"/>
              </a:rPr>
              <a:t>( { </a:t>
            </a:r>
            <a:r>
              <a:rPr lang="en-IN" sz="2400" dirty="0" err="1">
                <a:solidFill>
                  <a:schemeClr val="dk1"/>
                </a:solidFill>
                <a:latin typeface="Avenir"/>
              </a:rPr>
              <a:t>zipcode</a:t>
            </a:r>
            <a:r>
              <a:rPr lang="en-IN" sz="2400" dirty="0">
                <a:solidFill>
                  <a:schemeClr val="dk1"/>
                </a:solidFill>
                <a:latin typeface="Avenir"/>
              </a:rPr>
              <a:t>: 1}, {background: true, sparse: true } )</a:t>
            </a:r>
            <a:endParaRPr lang="en-US" sz="2400" dirty="0">
              <a:solidFill>
                <a:schemeClr val="dk1"/>
              </a:solidFill>
              <a:latin typeface="Avenir"/>
            </a:endParaRPr>
          </a:p>
          <a:p>
            <a:pPr marL="342900" indent="-342900">
              <a:spcBef>
                <a:spcPts val="963"/>
              </a:spcBef>
              <a:buFont typeface="Arial" panose="020B0604020202020204" pitchFamily="34" charset="0"/>
              <a:buChar char="•"/>
            </a:pPr>
            <a:endParaRPr lang="en-US" sz="2400" dirty="0">
              <a:solidFill>
                <a:schemeClr val="dk1"/>
              </a:solidFill>
              <a:latin typeface="Avenir"/>
            </a:endParaRPr>
          </a:p>
        </p:txBody>
      </p:sp>
      <p:pic>
        <p:nvPicPr>
          <p:cNvPr id="7" name="Graphic 1">
            <a:extLst>
              <a:ext uri="{FF2B5EF4-FFF2-40B4-BE49-F238E27FC236}">
                <a16:creationId xmlns:a16="http://schemas.microsoft.com/office/drawing/2014/main" id="{B8697878-7ED7-4FF4-AF6D-3A0A99DBF4FE}"/>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7396552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508000" y="315000"/>
            <a:ext cx="9934800" cy="7044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IN" sz="3200" b="1" dirty="0">
                <a:solidFill>
                  <a:srgbClr val="434343"/>
                </a:solidFill>
                <a:latin typeface="Avenir"/>
                <a:ea typeface="Avenir"/>
                <a:cs typeface="Avenir"/>
                <a:sym typeface="Avenir"/>
              </a:rPr>
              <a:t>Removing an Index</a:t>
            </a:r>
            <a:endParaRPr sz="3200" b="1" dirty="0">
              <a:solidFill>
                <a:srgbClr val="434343"/>
              </a:solidFill>
              <a:latin typeface="Avenir"/>
              <a:ea typeface="Avenir"/>
              <a:cs typeface="Avenir"/>
              <a:sym typeface="Avenir"/>
            </a:endParaRPr>
          </a:p>
        </p:txBody>
      </p:sp>
      <p:sp>
        <p:nvSpPr>
          <p:cNvPr id="75" name="Google Shape;75;p16"/>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6" name="Google Shape;76;p16"/>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8" name="TextBox 7">
            <a:extLst>
              <a:ext uri="{FF2B5EF4-FFF2-40B4-BE49-F238E27FC236}">
                <a16:creationId xmlns:a16="http://schemas.microsoft.com/office/drawing/2014/main" id="{350B893D-C6D8-48C6-AC70-DC7F5947EB46}"/>
              </a:ext>
            </a:extLst>
          </p:cNvPr>
          <p:cNvSpPr txBox="1"/>
          <p:nvPr/>
        </p:nvSpPr>
        <p:spPr>
          <a:xfrm>
            <a:off x="682236" y="1019400"/>
            <a:ext cx="10674022" cy="2934137"/>
          </a:xfrm>
          <a:prstGeom prst="rect">
            <a:avLst/>
          </a:prstGeom>
          <a:noFill/>
        </p:spPr>
        <p:txBody>
          <a:bodyPr wrap="square">
            <a:spAutoFit/>
          </a:bodyPr>
          <a:lstStyle/>
          <a:p>
            <a:pPr marL="342900" indent="-342900">
              <a:spcBef>
                <a:spcPts val="963"/>
              </a:spcBef>
              <a:buFont typeface="Arial" panose="020B0604020202020204" pitchFamily="34" charset="0"/>
              <a:buChar char="•"/>
            </a:pPr>
            <a:r>
              <a:rPr lang="en-IN" sz="2400" dirty="0">
                <a:solidFill>
                  <a:schemeClr val="dk1"/>
                </a:solidFill>
                <a:latin typeface="Avenir"/>
              </a:rPr>
              <a:t>To remove an index from a collection use the </a:t>
            </a:r>
            <a:r>
              <a:rPr lang="en-IN" sz="2400" dirty="0" err="1">
                <a:solidFill>
                  <a:schemeClr val="dk1"/>
                </a:solidFill>
                <a:latin typeface="Avenir"/>
              </a:rPr>
              <a:t>dropIndex</a:t>
            </a:r>
            <a:r>
              <a:rPr lang="en-IN" sz="2400" dirty="0">
                <a:solidFill>
                  <a:schemeClr val="dk1"/>
                </a:solidFill>
                <a:latin typeface="Avenir"/>
              </a:rPr>
              <a:t>() method</a:t>
            </a:r>
          </a:p>
          <a:p>
            <a:r>
              <a:rPr lang="en-IN" sz="2400" b="1" dirty="0"/>
              <a:t>           </a:t>
            </a:r>
            <a:r>
              <a:rPr lang="en-IN" sz="2400" b="1" dirty="0" err="1"/>
              <a:t>db.accounts.dropIndex</a:t>
            </a:r>
            <a:r>
              <a:rPr lang="en-IN" sz="2400" b="1" dirty="0"/>
              <a:t>( { "tax-id": 1 } )</a:t>
            </a:r>
          </a:p>
          <a:p>
            <a:endParaRPr lang="en-IN" sz="2400" dirty="0"/>
          </a:p>
          <a:p>
            <a:pPr marL="342900" indent="-342900">
              <a:spcBef>
                <a:spcPts val="963"/>
              </a:spcBef>
              <a:buFont typeface="Arial" panose="020B0604020202020204" pitchFamily="34" charset="0"/>
              <a:buChar char="•"/>
            </a:pPr>
            <a:r>
              <a:rPr lang="en-IN" sz="2400" dirty="0">
                <a:solidFill>
                  <a:schemeClr val="dk1"/>
                </a:solidFill>
                <a:latin typeface="Avenir"/>
              </a:rPr>
              <a:t>You can also use the </a:t>
            </a:r>
            <a:r>
              <a:rPr lang="en-IN" sz="2400" dirty="0" err="1">
                <a:solidFill>
                  <a:schemeClr val="dk1"/>
                </a:solidFill>
                <a:latin typeface="Avenir"/>
              </a:rPr>
              <a:t>db.collection.dropIndexes</a:t>
            </a:r>
            <a:r>
              <a:rPr lang="en-IN" sz="2400" dirty="0">
                <a:solidFill>
                  <a:schemeClr val="dk1"/>
                </a:solidFill>
                <a:latin typeface="Avenir"/>
              </a:rPr>
              <a:t>() to remove all indexes, except for the _id index</a:t>
            </a:r>
          </a:p>
          <a:p>
            <a:r>
              <a:rPr lang="en-IN" sz="2400" dirty="0"/>
              <a:t>	</a:t>
            </a:r>
            <a:r>
              <a:rPr lang="en-IN" sz="2400" b="1" dirty="0" err="1"/>
              <a:t>db.items.dropIndexes</a:t>
            </a:r>
            <a:r>
              <a:rPr lang="en-IN" sz="2400" b="1" dirty="0"/>
              <a:t>()</a:t>
            </a:r>
          </a:p>
          <a:p>
            <a:pPr marL="342900" indent="-342900">
              <a:spcBef>
                <a:spcPts val="963"/>
              </a:spcBef>
              <a:buFont typeface="Arial" panose="020B0604020202020204" pitchFamily="34" charset="0"/>
              <a:buChar char="•"/>
            </a:pPr>
            <a:endParaRPr lang="en-US" sz="2400" dirty="0">
              <a:solidFill>
                <a:schemeClr val="dk1"/>
              </a:solidFill>
              <a:latin typeface="Avenir"/>
            </a:endParaRPr>
          </a:p>
        </p:txBody>
      </p:sp>
      <p:pic>
        <p:nvPicPr>
          <p:cNvPr id="7" name="Graphic 1">
            <a:extLst>
              <a:ext uri="{FF2B5EF4-FFF2-40B4-BE49-F238E27FC236}">
                <a16:creationId xmlns:a16="http://schemas.microsoft.com/office/drawing/2014/main" id="{6BB9BD4F-7BC5-4CCD-9130-E06E4F89795A}"/>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9045323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70"/>
          <p:cNvSpPr txBox="1"/>
          <p:nvPr/>
        </p:nvSpPr>
        <p:spPr>
          <a:xfrm>
            <a:off x="513633" y="2488300"/>
            <a:ext cx="9888400" cy="2237200"/>
          </a:xfrm>
          <a:prstGeom prst="rect">
            <a:avLst/>
          </a:prstGeom>
          <a:noFill/>
          <a:ln>
            <a:noFill/>
          </a:ln>
        </p:spPr>
        <p:txBody>
          <a:bodyPr spcFirstLastPara="1" wrap="square" lIns="45733" tIns="22867" rIns="45733" bIns="22867" anchor="t" anchorCtr="0">
            <a:noAutofit/>
          </a:bodyPr>
          <a:lstStyle/>
          <a:p>
            <a:pPr marL="152396">
              <a:lnSpc>
                <a:spcPct val="115000"/>
              </a:lnSpc>
              <a:spcAft>
                <a:spcPts val="600"/>
              </a:spcAft>
              <a:buClr>
                <a:srgbClr val="666666"/>
              </a:buClr>
              <a:buSzPts val="1800"/>
            </a:pPr>
            <a:r>
              <a:rPr lang="en-IN" sz="2400" b="1" dirty="0">
                <a:latin typeface="Avenir"/>
              </a:rPr>
              <a:t>References:</a:t>
            </a:r>
          </a:p>
          <a:p>
            <a:pPr marL="152396">
              <a:lnSpc>
                <a:spcPct val="115000"/>
              </a:lnSpc>
              <a:spcAft>
                <a:spcPts val="600"/>
              </a:spcAft>
              <a:buClr>
                <a:srgbClr val="666666"/>
              </a:buClr>
              <a:buSzPts val="1800"/>
            </a:pPr>
            <a:r>
              <a:rPr lang="en-IN" sz="7200" dirty="0">
                <a:latin typeface="Avenir"/>
              </a:rPr>
              <a:t> </a:t>
            </a:r>
            <a:r>
              <a:rPr lang="en-IN" sz="2400" dirty="0">
                <a:latin typeface="Avenir"/>
                <a:hlinkClick r:id="rId3">
                  <a:extLst>
                    <a:ext uri="{A12FA001-AC4F-418D-AE19-62706E023703}">
                      <ahyp:hlinkClr xmlns:ahyp="http://schemas.microsoft.com/office/drawing/2018/hyperlinkcolor" val="tx"/>
                    </a:ext>
                  </a:extLst>
                </a:hlinkClick>
              </a:rPr>
              <a:t>https://docs.mongodb.com/manual/tutorial/</a:t>
            </a:r>
            <a:endParaRPr lang="en-IN" sz="2400" dirty="0">
              <a:latin typeface="Avenir"/>
            </a:endParaRPr>
          </a:p>
        </p:txBody>
      </p:sp>
      <p:sp>
        <p:nvSpPr>
          <p:cNvPr id="708" name="Google Shape;708;p70"/>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09" name="Google Shape;709;p70"/>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6" name="Graphic 1">
            <a:extLst>
              <a:ext uri="{FF2B5EF4-FFF2-40B4-BE49-F238E27FC236}">
                <a16:creationId xmlns:a16="http://schemas.microsoft.com/office/drawing/2014/main" id="{F983F861-B407-4CB5-8966-F14DEAA708B5}"/>
              </a:ext>
            </a:extLst>
          </p:cNvPr>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13911651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70"/>
          <p:cNvSpPr txBox="1"/>
          <p:nvPr/>
        </p:nvSpPr>
        <p:spPr>
          <a:xfrm>
            <a:off x="513633" y="2488300"/>
            <a:ext cx="9888400" cy="2237200"/>
          </a:xfrm>
          <a:prstGeom prst="rect">
            <a:avLst/>
          </a:prstGeom>
          <a:noFill/>
          <a:ln>
            <a:noFill/>
          </a:ln>
        </p:spPr>
        <p:txBody>
          <a:bodyPr spcFirstLastPara="1" wrap="square" lIns="45733" tIns="22867" rIns="45733" bIns="22867" anchor="t" anchorCtr="0">
            <a:noAutofit/>
          </a:bodyPr>
          <a:lstStyle/>
          <a:p>
            <a:pPr>
              <a:buClr>
                <a:srgbClr val="000000"/>
              </a:buClr>
              <a:buSzPts val="2400"/>
            </a:pPr>
            <a:r>
              <a:rPr lang="en" sz="6667">
                <a:solidFill>
                  <a:srgbClr val="7F7F7F"/>
                </a:solidFill>
                <a:highlight>
                  <a:srgbClr val="FFFFFF"/>
                </a:highlight>
                <a:latin typeface="Calibri"/>
                <a:ea typeface="Calibri"/>
                <a:cs typeface="Calibri"/>
                <a:sym typeface="Calibri"/>
              </a:rPr>
              <a:t>Thank You</a:t>
            </a:r>
            <a:endParaRPr sz="6667">
              <a:solidFill>
                <a:srgbClr val="7F7F7F"/>
              </a:solidFill>
              <a:latin typeface="Calibri"/>
              <a:ea typeface="Calibri"/>
              <a:cs typeface="Calibri"/>
              <a:sym typeface="Calibri"/>
            </a:endParaRPr>
          </a:p>
        </p:txBody>
      </p:sp>
      <p:sp>
        <p:nvSpPr>
          <p:cNvPr id="708" name="Google Shape;708;p70"/>
          <p:cNvSpPr/>
          <p:nvPr/>
        </p:nvSpPr>
        <p:spPr>
          <a:xfrm>
            <a:off x="0" y="0"/>
            <a:ext cx="508000" cy="914400"/>
          </a:xfrm>
          <a:prstGeom prst="rect">
            <a:avLst/>
          </a:prstGeom>
          <a:solidFill>
            <a:srgbClr val="0F75BD"/>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sp>
        <p:nvSpPr>
          <p:cNvPr id="709" name="Google Shape;709;p70"/>
          <p:cNvSpPr/>
          <p:nvPr/>
        </p:nvSpPr>
        <p:spPr>
          <a:xfrm>
            <a:off x="0" y="914400"/>
            <a:ext cx="508000" cy="914400"/>
          </a:xfrm>
          <a:prstGeom prst="rect">
            <a:avLst/>
          </a:prstGeom>
          <a:solidFill>
            <a:srgbClr val="25AAE2"/>
          </a:solidFill>
          <a:ln>
            <a:noFill/>
          </a:ln>
        </p:spPr>
        <p:txBody>
          <a:bodyPr spcFirstLastPara="1" wrap="square" lIns="121900" tIns="60933" rIns="121900" bIns="60933" anchor="ctr" anchorCtr="0">
            <a:noAutofit/>
          </a:bodyPr>
          <a:lstStyle/>
          <a:p>
            <a:pPr algn="ctr">
              <a:buClr>
                <a:srgbClr val="000000"/>
              </a:buClr>
              <a:buSzPts val="1800"/>
            </a:pPr>
            <a:endParaRPr sz="2400">
              <a:solidFill>
                <a:srgbClr val="FFFFFF"/>
              </a:solidFill>
              <a:latin typeface="Calibri"/>
              <a:ea typeface="Calibri"/>
              <a:cs typeface="Calibri"/>
              <a:sym typeface="Calibri"/>
            </a:endParaRPr>
          </a:p>
        </p:txBody>
      </p:sp>
      <p:pic>
        <p:nvPicPr>
          <p:cNvPr id="6" name="Graphic 1">
            <a:extLst>
              <a:ext uri="{FF2B5EF4-FFF2-40B4-BE49-F238E27FC236}">
                <a16:creationId xmlns:a16="http://schemas.microsoft.com/office/drawing/2014/main" id="{F983F861-B407-4CB5-8966-F14DEAA708B5}"/>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40798" y="609600"/>
            <a:ext cx="2447925" cy="762000"/>
          </a:xfrm>
          <a:prstGeom prst="rect">
            <a:avLst/>
          </a:prstGeom>
        </p:spPr>
      </p:pic>
    </p:spTree>
    <p:extLst>
      <p:ext uri="{BB962C8B-B14F-4D97-AF65-F5344CB8AC3E}">
        <p14:creationId xmlns:p14="http://schemas.microsoft.com/office/powerpoint/2010/main" val="238240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48079</TotalTime>
  <Words>5999</Words>
  <Application>Microsoft Office PowerPoint</Application>
  <PresentationFormat>Widescreen</PresentationFormat>
  <Paragraphs>658</Paragraphs>
  <Slides>71</Slides>
  <Notes>71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2" baseType="lpstr">
      <vt:lpstr>Arial</vt:lpstr>
      <vt:lpstr>Avenir</vt:lpstr>
      <vt:lpstr>Calibri</vt:lpstr>
      <vt:lpstr>Calibri Light</vt:lpstr>
      <vt:lpstr>Fontin Sans Bold</vt:lpstr>
      <vt:lpstr>Gill Sans</vt:lpstr>
      <vt:lpstr>Helvetica</vt:lpstr>
      <vt:lpstr>urw-din</vt:lpstr>
      <vt:lpstr>Wingdings</vt:lpstr>
      <vt:lpstr>Office Theme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Deepali Gatade</dc:creator>
  <cp:lastModifiedBy>Mukesh Kumar</cp:lastModifiedBy>
  <cp:revision>1437</cp:revision>
  <dcterms:created xsi:type="dcterms:W3CDTF">2020-07-28T08:25:01Z</dcterms:created>
  <dcterms:modified xsi:type="dcterms:W3CDTF">2021-11-20T18:18:19Z</dcterms:modified>
</cp:coreProperties>
</file>